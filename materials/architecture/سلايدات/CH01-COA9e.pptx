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K0wT0ph5CDUGCkk1Fd/wynYYH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Lecture slides prepared for “Computer Organization and Architecture”, 9/e, by William Stallings, Chapter 1 “Introduction”.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6" name="Google Shape;21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book is about the structure and function of computers. Its purpose is to present,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clearly and completely as possible, the nature and characteristics of modern-day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computers. This task is a challenging one for two reasons.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t/>
            </a:r>
            <a:endParaRPr sz="11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there is a tremendous variety of products, from single-chip microcomputers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costing a few dollars to supercomputers costing tens of millions of dollars, that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rightly claim the name </a:t>
            </a:r>
            <a:r>
              <a:rPr i="1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computer. </a:t>
            </a:r>
            <a:r>
              <a:rPr i="0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Variety is exhibited not only in cost, but also 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size, performance, and application. Second, the rapid pace of change that has always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characterized computer technology continues with no letup. These changes cover all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aspects of computer technology, from the underlying integrated circuit technology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construct computer components to the increasing use of parallel organization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 in combining those components.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t/>
            </a:r>
            <a:endParaRPr sz="11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spite of the variety and pace of change in the computer field, certain fundamental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 apply consistently throughout. To be sure, the application of these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 depends on the current state of technology and the price/performance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designer. The intent of this book is to provide a thorough discussion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fundamentals of computer organization and architecture and to relate these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contemporary computer design issues. This chapter introduces the descriptive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 to be taken.</a:t>
            </a:r>
            <a:endParaRPr sz="1110"/>
          </a:p>
        </p:txBody>
      </p:sp>
      <p:sp>
        <p:nvSpPr>
          <p:cNvPr id="217" name="Google Shape;217;p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describing computers, a distinction is often made between </a:t>
            </a: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architecture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organization. </a:t>
            </a:r>
            <a:r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it is difficult to give precise definitions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these terms, a consensus exists about the general areas covered by each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(e.g., see [VRAN80], [SIEW82], and [BELL78a]); an interesting alternative view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presented in [REDD76].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architecture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refers to those attributes of a system visible to 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programmer or, put another way, those attributes that have a direct impact 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logical execution of a program.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organization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refers to the operational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units and their interconnections that realize the architectural specifications.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architectural attributes include the instruction set, the number of bits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represent various data types (e.g., numbers, characters), I/O mechanisms,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techniques for addressing memory. Organizational attributes include those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details transparent to the programmer, such as control signals; interfaces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the computer and peripherals; and the memory technology used.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it is an architectural design issue whether a computer will have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multiply instruction. It is an organizational issue whether that instruction will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implemented by a special multiply unit or by a mechanism that makes repeated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 the add unit of the system. The organizational decision may be based on the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anticipated frequency of use of the multiply instruction, the relative speed of the two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approaches, and the cost and physical size of a special multiply unit.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Historically, and still today, the distinction between architecture and organization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been an important one. Many computer manufacturers offer a family of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models, all with the same architecture but with differences in organization.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Consequently, the different models in the family have different price and performance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characteristics. Furthermore, a particular architecture may span many years and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encompass a number of different computer models, its organization changing with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technology.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prominent example of both these phenomena is the IBM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System/370 architecture. This architecture was first introduced in 1970 and included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number of models. The customer with modest requirements could buy a cheaper,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slower model and, if demand increased, later upgrade to a more expensive, faster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without having to abandon software that had already been developed. Over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years, IBM has introduced many new models with improved technology to replace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older models, offering the customer greater speed, lower cost, or both. These newer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retained the same architecture so that the customer’s software investment was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protected. Remarkably, the System/370 architecture, with a few enhancements, has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survived to this day as the architecture of IBM’s mainframe product line.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computer is a complex system; contemporary computers contain millions of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Elementary electronic components. How, then, can one clearly describe them?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key is to recognize the hierarchical nature of most complex systems, including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computer [SIMO96]. A hierarchical system is a set of interrelated subsystems,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of the latter, in turn, hierarchical in structure until we reach some lowest level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elementary subsystem.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hierarchical nature of complex systems is essential to both their design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their description. The designer need only deal with a particular level of the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at a time. At each level, the system consists of a set of components and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their interrelationships. The behavior at each level depends only on a simplified,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abstracted characterization of the system at the next lower level. At each level, the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designer is concerned with structure and function:</a:t>
            </a:r>
            <a:endParaRPr/>
          </a:p>
          <a:p>
            <a:pPr indent="0" lvl="0" marL="0" rtl="0" algn="l">
              <a:spcBef>
                <a:spcPts val="1320"/>
              </a:spcBef>
              <a:spcAft>
                <a:spcPts val="0"/>
              </a:spcAft>
              <a:buNone/>
            </a:pPr>
            <a:r>
              <a:t/>
            </a:r>
            <a:endParaRPr b="0" sz="4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Structure: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way in which the components are interrelated.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Function: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operation of each individual component as part of the structure.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terms of description, we have two choices: starting at the bottom and building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 to a complete description, or beginning with a top view and decomposing the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into its subparts. Evidence from a number of fields suggests that the top-down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 is the clearest and most effective [WEIN75].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approach taken in this book follows from this viewpoint. The computer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will be described from the top down. We begin with the major components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computer, describing their structure and function, and proceed to successively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layers of the hierarchy. The remainder of this section provides a very brief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this plan of attack.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the structure and functioning of a computer are, in essence, simple. Figure 1.1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depicts the basic functions that a computer can perform. In general terms, there are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four: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Data processing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Data storage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Data movement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Control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computer, of course, must be able to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data.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may take a wide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variety of forms, and the range of processing requirements is broad. However, we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shall see that there are only a few fundamental methods or types of data processing.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also essential that a computer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data.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if the computer is processing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on the fly (i.e., data come in and get processed, and the results go out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immediately), the computer must temporarily store at least those pieces of data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are being worked on at any given moment. Thus, there is at least a short-term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storage function. Equally important, the computer performs a long-term data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function. Files of data are stored on the computer for subsequent retrieval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update.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computer must be able to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data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between itself and the outside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world. The computer’s operating environment consists of devices that serve as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sources or destinations of data. When data are received from or delivered to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device that is directly connected to the computer, the process is known as </a:t>
            </a: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input–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(I/O), and the device is referred to as a peripheral. When data are moved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longer distances, to or from a remote device, the process is known as </a:t>
            </a: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Finally, there must be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these three functions. Ultimately, this control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exercised by the individual(s) who provides the computer with instructions. Within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computer, a control unit manages the computer’s resources and orchestrates the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of its functional parts in response to those instructions.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this general level of discussion, the number of possible operations that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performed is few. Figure 1.2 depicts the four possible types of operations.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computer can function as a data movement device (Figure 1.2a), simply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transferring data from one peripheral or communication line to another.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also function as a data storage device (Figure 1.2b), with data transferred from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external environment to computer storage (read) and vice versa (write).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two diagrams show operations involving data processing, on data either in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(Figure 1.2c)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route between storage and the external environment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(Figure 1.2d).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1.3 is the simplest possible depiction of a computer. The computer interacts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some fashion with its external environment. In general, all of its linkages to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external environment can be classified as peripheral devices or communication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lines. We will have something to say about both types of linkages.</a:t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of greater concern in this book is the internal structure of the computer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itself, which is shown in Figure 1.4. There are four main structural components: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Processing Unit (CPU)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Memory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Interconnection</a:t>
            </a:r>
            <a:endParaRPr/>
          </a:p>
        </p:txBody>
      </p:sp>
      <p:sp>
        <p:nvSpPr>
          <p:cNvPr id="321" name="Google Shape;321;p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four main structural components: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processing unit (CPU):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 the operation of the computer and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its data processing functions; often simply referred to as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memory: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data.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I/O: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Moves data between the computer and its external environment.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interconnection: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mechanism that provides for communication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among CPU, main memory, and I/O. A common example of system interconnection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by means of a 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bus, </a:t>
            </a: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consisting of a number of conducting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wires to which all the other components attach.</a:t>
            </a:r>
            <a:endParaRPr/>
          </a:p>
        </p:txBody>
      </p:sp>
      <p:sp>
        <p:nvSpPr>
          <p:cNvPr id="328" name="Google Shape;328;p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5" name="Google Shape;335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may be one or more of each of the aforementioned components.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Traditionally, there has been just a single processor. In recent years, there has been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use of multiple processors in a single computer. Some design issues relating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multiple processors crop up and are discussed as the text proceeds; Part Five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such computers.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t/>
            </a:r>
            <a:endParaRPr sz="11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of these components will be examined in some detail in Part Two.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for our purposes, the most interesting and in some ways the most complex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is the CPU. Its major structural components are as follows: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t/>
            </a:r>
            <a:endParaRPr sz="11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unit: </a:t>
            </a:r>
            <a:r>
              <a:rPr b="0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Controls the operation of the CPU and hence the computer.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t/>
            </a:r>
            <a:endParaRPr sz="11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and logic unit (ALU): </a:t>
            </a:r>
            <a:r>
              <a:rPr b="0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the computer’s data processing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b="0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t/>
            </a:r>
            <a:endParaRPr sz="11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Registers: </a:t>
            </a:r>
            <a:r>
              <a:rPr b="0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storage internal to the CPU.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t/>
            </a:r>
            <a:endParaRPr sz="11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interconnection: </a:t>
            </a:r>
            <a:r>
              <a:rPr b="0"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mechanism that provides for communication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33"/>
              </a:spcBef>
              <a:spcAft>
                <a:spcPts val="0"/>
              </a:spcAft>
              <a:buNone/>
            </a:pPr>
            <a:r>
              <a:rPr lang="en-US" sz="11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among the control unit, ALU, and registers.</a:t>
            </a:r>
            <a:endParaRPr sz="1110"/>
          </a:p>
        </p:txBody>
      </p:sp>
      <p:sp>
        <p:nvSpPr>
          <p:cNvPr id="336" name="Google Shape;336;p1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1 summary.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Internet resources.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4800600" y="4624668"/>
            <a:ext cx="40386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4800600" y="5562599"/>
            <a:ext cx="4038600" cy="7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800600" y="6425640"/>
            <a:ext cx="1232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6311153" y="6425640"/>
            <a:ext cx="2617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18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8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" name="Google Shape;23;p1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24" name="Google Shape;24;p18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1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bove Caption" type="picTx">
  <p:cSld name="PICTURE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506505" y="4424082"/>
            <a:ext cx="6191157" cy="8337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/>
          <p:nvPr>
            <p:ph idx="2" type="pic"/>
          </p:nvPr>
        </p:nvSpPr>
        <p:spPr>
          <a:xfrm>
            <a:off x="277905" y="228600"/>
            <a:ext cx="6378389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506505" y="5257799"/>
            <a:ext cx="619115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1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49" name="Google Shape;49;p2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22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22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54" name="Google Shape;54;p22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" type="body"/>
          </p:nvPr>
        </p:nvSpPr>
        <p:spPr>
          <a:xfrm>
            <a:off x="49851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439987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23"/>
          <p:cNvSpPr txBox="1"/>
          <p:nvPr>
            <p:ph type="title"/>
          </p:nvPr>
        </p:nvSpPr>
        <p:spPr>
          <a:xfrm>
            <a:off x="380555" y="2571750"/>
            <a:ext cx="325526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168775" y="273050"/>
            <a:ext cx="459739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381093" y="3733800"/>
            <a:ext cx="3255264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859305" y="6423585"/>
            <a:ext cx="33169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24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71" name="Google Shape;71;p24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>
            <a:off x="497541" y="2447365"/>
            <a:ext cx="36576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3" name="Google Shape;73;p24"/>
          <p:cNvSpPr txBox="1"/>
          <p:nvPr>
            <p:ph idx="2" type="body"/>
          </p:nvPr>
        </p:nvSpPr>
        <p:spPr>
          <a:xfrm>
            <a:off x="4399878" y="2447365"/>
            <a:ext cx="36576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24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24"/>
          <p:cNvSpPr txBox="1"/>
          <p:nvPr>
            <p:ph idx="3" type="body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35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24"/>
          <p:cNvSpPr txBox="1"/>
          <p:nvPr>
            <p:ph idx="4" type="body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rgbClr val="A2A2C1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35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, Alt.">
  <p:cSld name="Title and Content, Alt.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25"/>
          <p:cNvSpPr txBox="1"/>
          <p:nvPr>
            <p:ph type="title"/>
          </p:nvPr>
        </p:nvSpPr>
        <p:spPr>
          <a:xfrm>
            <a:off x="498474" y="134471"/>
            <a:ext cx="7556313" cy="9950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25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87" name="Google Shape;87;p25"/>
          <p:cNvSpPr txBox="1"/>
          <p:nvPr>
            <p:ph idx="2" type="body"/>
          </p:nvPr>
        </p:nvSpPr>
        <p:spPr>
          <a:xfrm>
            <a:off x="498518" y="1129553"/>
            <a:ext cx="7558960" cy="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800"/>
              <a:buNone/>
              <a:defRPr b="0" i="0" sz="2400" u="none" cap="none" strike="noStrike">
                <a:solidFill>
                  <a:schemeClr val="accent3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2 Pictures">
  <p:cSld name="Title Slide with 2 Picture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6"/>
          <p:cNvSpPr txBox="1"/>
          <p:nvPr>
            <p:ph type="ctrTitle"/>
          </p:nvPr>
        </p:nvSpPr>
        <p:spPr>
          <a:xfrm>
            <a:off x="4800600" y="4624668"/>
            <a:ext cx="40386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" type="subTitle"/>
          </p:nvPr>
        </p:nvSpPr>
        <p:spPr>
          <a:xfrm>
            <a:off x="4800600" y="5562599"/>
            <a:ext cx="4038600" cy="748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35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26"/>
          <p:cNvSpPr txBox="1"/>
          <p:nvPr>
            <p:ph idx="10" type="dt"/>
          </p:nvPr>
        </p:nvSpPr>
        <p:spPr>
          <a:xfrm>
            <a:off x="4800600" y="6425640"/>
            <a:ext cx="1232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1" type="ftr"/>
          </p:nvPr>
        </p:nvSpPr>
        <p:spPr>
          <a:xfrm>
            <a:off x="6311153" y="6425640"/>
            <a:ext cx="2617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6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6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6"/>
          <p:cNvSpPr/>
          <p:nvPr>
            <p:ph idx="2" type="pic"/>
          </p:nvPr>
        </p:nvSpPr>
        <p:spPr>
          <a:xfrm>
            <a:off x="4624388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26"/>
          <p:cNvSpPr/>
          <p:nvPr>
            <p:ph idx="3" type="pic"/>
          </p:nvPr>
        </p:nvSpPr>
        <p:spPr>
          <a:xfrm>
            <a:off x="6802438" y="237744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26"/>
          <p:cNvSpPr txBox="1"/>
          <p:nvPr>
            <p:ph idx="4" type="body"/>
          </p:nvPr>
        </p:nvSpPr>
        <p:spPr>
          <a:xfrm>
            <a:off x="857250" y="1779494"/>
            <a:ext cx="3086100" cy="2040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spcBef>
                <a:spcPts val="2000"/>
              </a:spcBef>
              <a:spcAft>
                <a:spcPts val="0"/>
              </a:spcAft>
              <a:buSzPts val="3450"/>
              <a:buNone/>
              <a:defRPr sz="4600">
                <a:solidFill>
                  <a:schemeClr val="lt1"/>
                </a:solidFill>
              </a:defRPr>
            </a:lvl1pPr>
            <a:lvl2pPr indent="-285750" lvl="1" marL="914400" algn="l">
              <a:spcBef>
                <a:spcPts val="600"/>
              </a:spcBef>
              <a:spcAft>
                <a:spcPts val="0"/>
              </a:spcAft>
              <a:buSzPts val="900"/>
              <a:buChar char="■"/>
              <a:defRPr sz="1200"/>
            </a:lvl2pPr>
            <a:lvl3pPr indent="-276225" lvl="2" marL="1371600" algn="l">
              <a:spcBef>
                <a:spcPts val="600"/>
              </a:spcBef>
              <a:spcAft>
                <a:spcPts val="0"/>
              </a:spcAft>
              <a:buSzPts val="750"/>
              <a:buChar char="■"/>
              <a:defRPr sz="1000"/>
            </a:lvl3pPr>
            <a:lvl4pPr indent="-271462" lvl="3" marL="1828800" algn="l">
              <a:spcBef>
                <a:spcPts val="600"/>
              </a:spcBef>
              <a:spcAft>
                <a:spcPts val="0"/>
              </a:spcAft>
              <a:buSzPts val="675"/>
              <a:buChar char="■"/>
              <a:defRPr sz="900"/>
            </a:lvl4pPr>
            <a:lvl5pPr indent="-271462" lvl="4" marL="2286000" algn="l">
              <a:spcBef>
                <a:spcPts val="600"/>
              </a:spcBef>
              <a:spcAft>
                <a:spcPts val="0"/>
              </a:spcAft>
              <a:buSzPts val="675"/>
              <a:buChar char="■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6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7"/>
          <p:cNvSpPr txBox="1"/>
          <p:nvPr>
            <p:ph type="title"/>
          </p:nvPr>
        </p:nvSpPr>
        <p:spPr>
          <a:xfrm>
            <a:off x="2286000" y="3124200"/>
            <a:ext cx="56388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  <a:defRPr b="0" sz="3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7"/>
          <p:cNvSpPr txBox="1"/>
          <p:nvPr>
            <p:ph idx="1" type="body"/>
          </p:nvPr>
        </p:nvSpPr>
        <p:spPr>
          <a:xfrm>
            <a:off x="2286000" y="4495800"/>
            <a:ext cx="56388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050"/>
              <a:buNone/>
              <a:defRPr sz="1400" cap="none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27"/>
          <p:cNvSpPr txBox="1"/>
          <p:nvPr>
            <p:ph idx="10" type="dt"/>
          </p:nvPr>
        </p:nvSpPr>
        <p:spPr>
          <a:xfrm>
            <a:off x="658906" y="6248774"/>
            <a:ext cx="14746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1" type="ftr"/>
          </p:nvPr>
        </p:nvSpPr>
        <p:spPr>
          <a:xfrm>
            <a:off x="2286000" y="6248774"/>
            <a:ext cx="563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305800" y="624877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108" name="Google Shape;108;p27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ntent, Top and Bottom">
  <p:cSld name="2 Content, Top and Bottom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111" name="Google Shape;111;p28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" type="body"/>
          </p:nvPr>
        </p:nvSpPr>
        <p:spPr>
          <a:xfrm>
            <a:off x="498517" y="1985963"/>
            <a:ext cx="756915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p28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2" type="body"/>
          </p:nvPr>
        </p:nvSpPr>
        <p:spPr>
          <a:xfrm>
            <a:off x="498517" y="4164965"/>
            <a:ext cx="756915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28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ntent">
  <p:cSld name="3 Conte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121" name="Google Shape;121;p29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4410075" y="1985963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p29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9"/>
          <p:cNvSpPr txBox="1"/>
          <p:nvPr>
            <p:ph idx="2" type="body"/>
          </p:nvPr>
        </p:nvSpPr>
        <p:spPr>
          <a:xfrm>
            <a:off x="498518" y="1985963"/>
            <a:ext cx="3657600" cy="4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7" name="Google Shape;127;p29"/>
          <p:cNvSpPr txBox="1"/>
          <p:nvPr>
            <p:ph idx="3" type="body"/>
          </p:nvPr>
        </p:nvSpPr>
        <p:spPr>
          <a:xfrm>
            <a:off x="4410075" y="4169664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ntent">
  <p:cSld name="4 Conten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30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131" name="Google Shape;131;p30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502920" y="1985963"/>
            <a:ext cx="3657413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6" name="Google Shape;136;p30"/>
          <p:cNvSpPr txBox="1"/>
          <p:nvPr>
            <p:ph idx="2" type="body"/>
          </p:nvPr>
        </p:nvSpPr>
        <p:spPr>
          <a:xfrm>
            <a:off x="502920" y="4164965"/>
            <a:ext cx="3657413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7" name="Google Shape;137;p30"/>
          <p:cNvSpPr txBox="1"/>
          <p:nvPr>
            <p:ph idx="3" type="body"/>
          </p:nvPr>
        </p:nvSpPr>
        <p:spPr>
          <a:xfrm>
            <a:off x="4410075" y="1985963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8" name="Google Shape;138;p30"/>
          <p:cNvSpPr txBox="1"/>
          <p:nvPr>
            <p:ph idx="4" type="body"/>
          </p:nvPr>
        </p:nvSpPr>
        <p:spPr>
          <a:xfrm>
            <a:off x="4410075" y="4169664"/>
            <a:ext cx="36576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 sz="1800"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3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142" name="Google Shape;142;p31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32"/>
          <p:cNvSpPr txBox="1"/>
          <p:nvPr>
            <p:ph type="title"/>
          </p:nvPr>
        </p:nvSpPr>
        <p:spPr>
          <a:xfrm>
            <a:off x="4169404" y="3124200"/>
            <a:ext cx="3898272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2"/>
          <p:cNvSpPr/>
          <p:nvPr>
            <p:ph idx="2" type="pic"/>
          </p:nvPr>
        </p:nvSpPr>
        <p:spPr>
          <a:xfrm>
            <a:off x="277906" y="228600"/>
            <a:ext cx="3460658" cy="6345238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4169404" y="3995737"/>
            <a:ext cx="3898272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1" name="Google Shape;151;p32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1" type="ftr"/>
          </p:nvPr>
        </p:nvSpPr>
        <p:spPr>
          <a:xfrm>
            <a:off x="4191000" y="6423585"/>
            <a:ext cx="30051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2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ictures with Caption">
  <p:cSld name="2 Pictures with Ca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33"/>
          <p:cNvSpPr txBox="1"/>
          <p:nvPr>
            <p:ph type="title"/>
          </p:nvPr>
        </p:nvSpPr>
        <p:spPr>
          <a:xfrm>
            <a:off x="380554" y="2571750"/>
            <a:ext cx="6181611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381094" y="3733800"/>
            <a:ext cx="6179566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33"/>
          <p:cNvSpPr txBox="1"/>
          <p:nvPr>
            <p:ph idx="10" type="dt"/>
          </p:nvPr>
        </p:nvSpPr>
        <p:spPr>
          <a:xfrm>
            <a:off x="5212262" y="6235607"/>
            <a:ext cx="13483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1" type="ftr"/>
          </p:nvPr>
        </p:nvSpPr>
        <p:spPr>
          <a:xfrm>
            <a:off x="381095" y="6235607"/>
            <a:ext cx="46481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33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163" name="Google Shape;163;p33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33"/>
          <p:cNvSpPr/>
          <p:nvPr>
            <p:ph idx="2" type="pic"/>
          </p:nvPr>
        </p:nvSpPr>
        <p:spPr>
          <a:xfrm>
            <a:off x="6802438" y="237494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3"/>
          <p:cNvSpPr/>
          <p:nvPr>
            <p:ph idx="3" type="pic"/>
          </p:nvPr>
        </p:nvSpPr>
        <p:spPr>
          <a:xfrm>
            <a:off x="6802438" y="4535424"/>
            <a:ext cx="2057400" cy="20391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">
  <p:cSld name="3 Pictures with Caption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4"/>
          <p:cNvSpPr txBox="1"/>
          <p:nvPr>
            <p:ph type="title"/>
          </p:nvPr>
        </p:nvSpPr>
        <p:spPr>
          <a:xfrm>
            <a:off x="380554" y="2571750"/>
            <a:ext cx="401663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  <a:defRPr b="0"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4"/>
          <p:cNvSpPr txBox="1"/>
          <p:nvPr>
            <p:ph idx="1" type="body"/>
          </p:nvPr>
        </p:nvSpPr>
        <p:spPr>
          <a:xfrm>
            <a:off x="381094" y="3733800"/>
            <a:ext cx="4015304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0" name="Google Shape;170;p34"/>
          <p:cNvSpPr txBox="1"/>
          <p:nvPr>
            <p:ph idx="10" type="dt"/>
          </p:nvPr>
        </p:nvSpPr>
        <p:spPr>
          <a:xfrm>
            <a:off x="3048000" y="6235607"/>
            <a:ext cx="134839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1" type="ftr"/>
          </p:nvPr>
        </p:nvSpPr>
        <p:spPr>
          <a:xfrm>
            <a:off x="381095" y="6235607"/>
            <a:ext cx="25907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3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174" name="Google Shape;174;p34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34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34"/>
          <p:cNvSpPr/>
          <p:nvPr>
            <p:ph idx="2" type="pic"/>
          </p:nvPr>
        </p:nvSpPr>
        <p:spPr>
          <a:xfrm>
            <a:off x="4624388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4"/>
          <p:cNvSpPr/>
          <p:nvPr>
            <p:ph idx="3" type="pic"/>
          </p:nvPr>
        </p:nvSpPr>
        <p:spPr>
          <a:xfrm>
            <a:off x="4624388" y="2381663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4"/>
          <p:cNvSpPr/>
          <p:nvPr>
            <p:ph idx="4" type="pic"/>
          </p:nvPr>
        </p:nvSpPr>
        <p:spPr>
          <a:xfrm>
            <a:off x="6803136" y="2381662"/>
            <a:ext cx="2057400" cy="41879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s with Caption, Alt.">
  <p:cSld name="3 Pictures with Caption, Alt.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35"/>
          <p:cNvSpPr txBox="1"/>
          <p:nvPr>
            <p:ph type="title"/>
          </p:nvPr>
        </p:nvSpPr>
        <p:spPr>
          <a:xfrm>
            <a:off x="4953000" y="3124200"/>
            <a:ext cx="310896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ckwell"/>
              <a:buNone/>
              <a:defRPr b="0"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5"/>
          <p:cNvSpPr/>
          <p:nvPr>
            <p:ph idx="2" type="pic"/>
          </p:nvPr>
        </p:nvSpPr>
        <p:spPr>
          <a:xfrm>
            <a:off x="277905" y="2365248"/>
            <a:ext cx="4240119" cy="4187952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4953000" y="3995737"/>
            <a:ext cx="3108960" cy="2147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00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4" name="Google Shape;184;p35"/>
          <p:cNvSpPr txBox="1"/>
          <p:nvPr>
            <p:ph idx="10" type="dt"/>
          </p:nvPr>
        </p:nvSpPr>
        <p:spPr>
          <a:xfrm>
            <a:off x="7391399" y="6423585"/>
            <a:ext cx="15374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5"/>
          <p:cNvSpPr txBox="1"/>
          <p:nvPr>
            <p:ph idx="11" type="ftr"/>
          </p:nvPr>
        </p:nvSpPr>
        <p:spPr>
          <a:xfrm>
            <a:off x="4191000" y="6423585"/>
            <a:ext cx="30051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35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endParaRPr/>
          </a:p>
        </p:txBody>
      </p:sp>
      <p:sp>
        <p:nvSpPr>
          <p:cNvPr id="188" name="Google Shape;188;p35"/>
          <p:cNvSpPr/>
          <p:nvPr>
            <p:ph idx="3" type="pic"/>
          </p:nvPr>
        </p:nvSpPr>
        <p:spPr>
          <a:xfrm>
            <a:off x="277905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35"/>
          <p:cNvSpPr/>
          <p:nvPr>
            <p:ph idx="4" type="pic"/>
          </p:nvPr>
        </p:nvSpPr>
        <p:spPr>
          <a:xfrm>
            <a:off x="2460625" y="228600"/>
            <a:ext cx="2057400" cy="20391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36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  <p:sp>
        <p:nvSpPr>
          <p:cNvPr id="193" name="Google Shape;193;p36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 rot="5400000">
            <a:off x="2204149" y="275525"/>
            <a:ext cx="4144963" cy="755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7"/>
          <p:cNvSpPr txBox="1"/>
          <p:nvPr>
            <p:ph type="title"/>
          </p:nvPr>
        </p:nvSpPr>
        <p:spPr>
          <a:xfrm rot="5400000">
            <a:off x="5750720" y="3199794"/>
            <a:ext cx="5171422" cy="681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 rot="5400000">
            <a:off x="1293765" y="122191"/>
            <a:ext cx="5184869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spcBef>
                <a:spcPts val="2000"/>
              </a:spcBef>
              <a:spcAft>
                <a:spcPts val="0"/>
              </a:spcAft>
              <a:buSzPts val="1350"/>
              <a:buChar char="■"/>
              <a:defRPr/>
            </a:lvl1pPr>
            <a:lvl2pPr indent="-314325" lvl="1" marL="9144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2pPr>
            <a:lvl3pPr indent="-314325" lvl="2" marL="13716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4pPr>
            <a:lvl5pPr indent="-314325" lvl="4" marL="2286000" algn="l">
              <a:spcBef>
                <a:spcPts val="600"/>
              </a:spcBef>
              <a:spcAft>
                <a:spcPts val="0"/>
              </a:spcAft>
              <a:buSzPts val="1350"/>
              <a:buChar char="■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37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7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7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37"/>
          <p:cNvSpPr txBox="1"/>
          <p:nvPr/>
        </p:nvSpPr>
        <p:spPr>
          <a:xfrm rot="-5400000">
            <a:off x="8593111" y="561668"/>
            <a:ext cx="26090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6E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 amt="70000"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  <a:defRPr b="0" i="0" sz="36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14325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325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325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B86EB8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32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  <a:defRPr b="0" i="0" sz="1800" u="none" cap="none" strike="noStrike">
                <a:solidFill>
                  <a:srgbClr val="595959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305800" y="242234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illiamstallings.com/COA/COA9e.html" TargetMode="External"/><Relationship Id="rId4" Type="http://schemas.openxmlformats.org/officeDocument/2006/relationships/hyperlink" Target="http://williamstallings.com/StudentSuppor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"/>
          <p:cNvSpPr txBox="1"/>
          <p:nvPr>
            <p:ph type="ctrTitle"/>
          </p:nvPr>
        </p:nvSpPr>
        <p:spPr>
          <a:xfrm>
            <a:off x="4800600" y="4624668"/>
            <a:ext cx="40386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Rockwell"/>
              <a:buNone/>
            </a:pPr>
            <a:r>
              <a:rPr lang="en-US"/>
              <a:t>William Stallings </a:t>
            </a:r>
            <a:br>
              <a:rPr lang="en-US"/>
            </a:br>
            <a:r>
              <a:rPr lang="en-US"/>
              <a:t>Computer Organization </a:t>
            </a:r>
            <a:br>
              <a:rPr lang="en-US"/>
            </a:br>
            <a:r>
              <a:rPr lang="en-US"/>
              <a:t>and Architecture</a:t>
            </a:r>
            <a:br>
              <a:rPr lang="en-US"/>
            </a:br>
            <a:r>
              <a:rPr lang="en-US"/>
              <a:t>9</a:t>
            </a:r>
            <a:r>
              <a:rPr baseline="30000" lang="en-US"/>
              <a:t>th</a:t>
            </a:r>
            <a:r>
              <a:rPr lang="en-US"/>
              <a:t> Edition</a:t>
            </a:r>
            <a:endParaRPr/>
          </a:p>
        </p:txBody>
      </p:sp>
      <p:pic>
        <p:nvPicPr>
          <p:cNvPr descr="Snapshot 2012-06-08 00-57-47.jpg" id="212" name="Google Shape;2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990600"/>
            <a:ext cx="3649579" cy="2667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chemeClr val="dk1">
                <a:alpha val="42745"/>
              </a:schemeClr>
            </a:outerShdw>
            <a:reflection blurRad="0" dir="5400000" dist="12700" endA="0" endPos="75000" kx="0" rotWithShape="0" algn="bl" stA="50000" stPos="0" sy="-100000" ky="0"/>
          </a:effectLst>
        </p:spPr>
      </p:pic>
      <p:sp>
        <p:nvSpPr>
          <p:cNvPr id="213" name="Google Shape;213;p1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"/>
          <p:cNvSpPr txBox="1"/>
          <p:nvPr>
            <p:ph type="title"/>
          </p:nvPr>
        </p:nvSpPr>
        <p:spPr>
          <a:xfrm>
            <a:off x="506505" y="4424082"/>
            <a:ext cx="6191157" cy="8337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Rockwell"/>
              <a:buNone/>
            </a:pPr>
            <a:r>
              <a:rPr lang="en-US" sz="5400"/>
              <a:t>Chapter 1</a:t>
            </a:r>
            <a:endParaRPr sz="5400"/>
          </a:p>
        </p:txBody>
      </p:sp>
      <p:sp>
        <p:nvSpPr>
          <p:cNvPr id="220" name="Google Shape;220;p2"/>
          <p:cNvSpPr txBox="1"/>
          <p:nvPr>
            <p:ph idx="1" type="body"/>
          </p:nvPr>
        </p:nvSpPr>
        <p:spPr>
          <a:xfrm>
            <a:off x="506505" y="5257799"/>
            <a:ext cx="6191157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 sz="4400"/>
              <a:t>Introduction</a:t>
            </a:r>
            <a:endParaRPr sz="4400"/>
          </a:p>
        </p:txBody>
      </p:sp>
      <p:sp>
        <p:nvSpPr>
          <p:cNvPr id="221" name="Google Shape;221;p2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/>
          <p:nvPr>
            <p:ph idx="4294967295" type="title"/>
          </p:nvPr>
        </p:nvSpPr>
        <p:spPr>
          <a:xfrm>
            <a:off x="381000" y="228600"/>
            <a:ext cx="7556500" cy="99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n-US"/>
              <a:t>Computer Architecture</a:t>
            </a:r>
            <a:endParaRPr/>
          </a:p>
        </p:txBody>
      </p:sp>
      <p:grpSp>
        <p:nvGrpSpPr>
          <p:cNvPr id="228" name="Google Shape;228;p3"/>
          <p:cNvGrpSpPr/>
          <p:nvPr/>
        </p:nvGrpSpPr>
        <p:grpSpPr>
          <a:xfrm>
            <a:off x="1309374" y="1600200"/>
            <a:ext cx="6905161" cy="5029199"/>
            <a:chOff x="1004570" y="0"/>
            <a:chExt cx="6813855" cy="5029199"/>
          </a:xfrm>
        </p:grpSpPr>
        <p:sp>
          <p:nvSpPr>
            <p:cNvPr id="229" name="Google Shape;229;p3"/>
            <p:cNvSpPr/>
            <p:nvPr/>
          </p:nvSpPr>
          <p:spPr>
            <a:xfrm>
              <a:off x="5334000" y="3419855"/>
              <a:ext cx="2484424" cy="160934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64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"/>
            <p:cNvSpPr txBox="1"/>
            <p:nvPr/>
          </p:nvSpPr>
          <p:spPr>
            <a:xfrm>
              <a:off x="6079328" y="3822191"/>
              <a:ext cx="1739097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9525" spcFirstLastPara="1" rIns="49525" wrap="square" tIns="49525">
              <a:noAutofit/>
            </a:bodyPr>
            <a:lstStyle/>
            <a:p>
              <a:pPr indent="-825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operational units and their interconnections that realize the architectural specifications</a:t>
              </a:r>
              <a:endPara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1004570" y="3419855"/>
              <a:ext cx="2484424" cy="160934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64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"/>
            <p:cNvSpPr txBox="1"/>
            <p:nvPr/>
          </p:nvSpPr>
          <p:spPr>
            <a:xfrm>
              <a:off x="1004570" y="3535516"/>
              <a:ext cx="1739100" cy="120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9525" spcFirstLastPara="1" rIns="49525" wrap="square" tIns="49525">
              <a:noAutofit/>
            </a:bodyPr>
            <a:lstStyle/>
            <a:p>
              <a:pPr indent="-825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Hardware details transparent to the programmer, control signals, interfaces between the computer and peripherals, memory technology used</a:t>
              </a:r>
              <a:endPara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058104" y="0"/>
              <a:ext cx="2760300" cy="160950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64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"/>
            <p:cNvSpPr txBox="1"/>
            <p:nvPr/>
          </p:nvSpPr>
          <p:spPr>
            <a:xfrm>
              <a:off x="5790125" y="12700"/>
              <a:ext cx="2028300" cy="14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9525" spcFirstLastPara="1" rIns="49525" wrap="square" tIns="49525">
              <a:noAutofit/>
            </a:bodyPr>
            <a:lstStyle/>
            <a:p>
              <a:pPr indent="-825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Instruction set, number of bits used to represent various data types,   I/O mechanisms, techniques for addressing memory</a:t>
              </a:r>
              <a:endPara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1004570" y="0"/>
              <a:ext cx="2484424" cy="1609344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6433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 txBox="1"/>
            <p:nvPr/>
          </p:nvSpPr>
          <p:spPr>
            <a:xfrm>
              <a:off x="1004570" y="0"/>
              <a:ext cx="1739097" cy="120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9525" spcFirstLastPara="1" rIns="49525" wrap="square" tIns="49525">
              <a:noAutofit/>
            </a:bodyPr>
            <a:lstStyle/>
            <a:p>
              <a:pPr indent="-825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Attributes of a system visible to the programmer</a:t>
              </a:r>
              <a:endPara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8255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•"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Have a direct impact on the logical execution of a program</a:t>
              </a:r>
              <a:endPara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045614" y="286664"/>
              <a:ext cx="2177643" cy="217764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47174B"/>
                </a:gs>
                <a:gs pos="100000">
                  <a:srgbClr val="AC90AE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25400">
                <a:srgbClr val="80808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"/>
            <p:cNvSpPr txBox="1"/>
            <p:nvPr/>
          </p:nvSpPr>
          <p:spPr>
            <a:xfrm>
              <a:off x="2146177" y="538101"/>
              <a:ext cx="2177700" cy="217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Computer Architecture</a:t>
              </a:r>
              <a:endParaRPr b="1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 rot="5400000">
              <a:off x="4323842" y="286664"/>
              <a:ext cx="2177643" cy="217764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47174B"/>
                </a:gs>
                <a:gs pos="100000">
                  <a:srgbClr val="AC90AE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25400">
                <a:srgbClr val="80808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 txBox="1"/>
            <p:nvPr/>
          </p:nvSpPr>
          <p:spPr>
            <a:xfrm>
              <a:off x="4223242" y="538082"/>
              <a:ext cx="2177700" cy="217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Architectural attributes include:</a:t>
              </a:r>
              <a:endParaRPr b="1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3"/>
            <p:cNvSpPr/>
            <p:nvPr/>
          </p:nvSpPr>
          <p:spPr>
            <a:xfrm rot="10800000">
              <a:off x="4323842" y="2564892"/>
              <a:ext cx="2177643" cy="217764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47174B"/>
                </a:gs>
                <a:gs pos="100000">
                  <a:srgbClr val="AC90AE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25400">
                <a:srgbClr val="80808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"/>
            <p:cNvSpPr txBox="1"/>
            <p:nvPr/>
          </p:nvSpPr>
          <p:spPr>
            <a:xfrm>
              <a:off x="4223242" y="2313429"/>
              <a:ext cx="2177700" cy="217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Computer Organization </a:t>
              </a:r>
              <a:endParaRPr b="1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3"/>
            <p:cNvSpPr/>
            <p:nvPr/>
          </p:nvSpPr>
          <p:spPr>
            <a:xfrm rot="-5400000">
              <a:off x="2045614" y="2564892"/>
              <a:ext cx="2177643" cy="217764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rgbClr val="47174B"/>
                </a:gs>
                <a:gs pos="100000">
                  <a:srgbClr val="AC90AE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25400">
                <a:srgbClr val="80808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 txBox="1"/>
            <p:nvPr/>
          </p:nvSpPr>
          <p:spPr>
            <a:xfrm>
              <a:off x="2146139" y="2313417"/>
              <a:ext cx="2177700" cy="217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Organizational attributes include:</a:t>
              </a:r>
              <a:endParaRPr b="1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97617" y="2061972"/>
              <a:ext cx="751865" cy="653795"/>
            </a:xfrm>
            <a:custGeom>
              <a:rect b="b" l="l" r="r" t="t"/>
              <a:pathLst>
                <a:path extrusionOk="0" h="120000" w="120000">
                  <a:moveTo>
                    <a:pt x="6435" y="60000"/>
                  </a:moveTo>
                  <a:lnTo>
                    <a:pt x="6435" y="60000"/>
                  </a:lnTo>
                  <a:cubicBezTo>
                    <a:pt x="6435" y="34424"/>
                    <a:pt x="25239" y="12570"/>
                    <a:pt x="50960" y="8253"/>
                  </a:cubicBezTo>
                  <a:cubicBezTo>
                    <a:pt x="76680" y="3937"/>
                    <a:pt x="101831" y="18414"/>
                    <a:pt x="110513" y="42533"/>
                  </a:cubicBezTo>
                  <a:lnTo>
                    <a:pt x="116305" y="42533"/>
                  </a:lnTo>
                  <a:lnTo>
                    <a:pt x="107129" y="60000"/>
                  </a:lnTo>
                  <a:lnTo>
                    <a:pt x="90563" y="42533"/>
                  </a:lnTo>
                  <a:lnTo>
                    <a:pt x="96009" y="42533"/>
                  </a:lnTo>
                  <a:lnTo>
                    <a:pt x="96009" y="42533"/>
                  </a:lnTo>
                  <a:cubicBezTo>
                    <a:pt x="87292" y="27272"/>
                    <a:pt x="68405" y="19458"/>
                    <a:pt x="50237" y="23595"/>
                  </a:cubicBezTo>
                  <a:cubicBezTo>
                    <a:pt x="32070" y="27732"/>
                    <a:pt x="19306" y="42755"/>
                    <a:pt x="19306" y="60000"/>
                  </a:cubicBezTo>
                  <a:close/>
                </a:path>
              </a:pathLst>
            </a:custGeom>
            <a:gradFill>
              <a:gsLst>
                <a:gs pos="0">
                  <a:srgbClr val="796D79"/>
                </a:gs>
                <a:gs pos="100000">
                  <a:srgbClr val="D3C5D3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25400">
                <a:srgbClr val="80808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 rot="10800000">
              <a:off x="3897617" y="2313432"/>
              <a:ext cx="751865" cy="653795"/>
            </a:xfrm>
            <a:custGeom>
              <a:rect b="b" l="l" r="r" t="t"/>
              <a:pathLst>
                <a:path extrusionOk="0" h="120000" w="120000">
                  <a:moveTo>
                    <a:pt x="6435" y="60000"/>
                  </a:moveTo>
                  <a:lnTo>
                    <a:pt x="6435" y="60000"/>
                  </a:lnTo>
                  <a:cubicBezTo>
                    <a:pt x="6435" y="34424"/>
                    <a:pt x="25239" y="12570"/>
                    <a:pt x="50960" y="8253"/>
                  </a:cubicBezTo>
                  <a:cubicBezTo>
                    <a:pt x="76680" y="3937"/>
                    <a:pt x="101831" y="18414"/>
                    <a:pt x="110513" y="42533"/>
                  </a:cubicBezTo>
                  <a:lnTo>
                    <a:pt x="116305" y="42533"/>
                  </a:lnTo>
                  <a:lnTo>
                    <a:pt x="107129" y="60000"/>
                  </a:lnTo>
                  <a:lnTo>
                    <a:pt x="90563" y="42533"/>
                  </a:lnTo>
                  <a:lnTo>
                    <a:pt x="96009" y="42533"/>
                  </a:lnTo>
                  <a:lnTo>
                    <a:pt x="96009" y="42533"/>
                  </a:lnTo>
                  <a:cubicBezTo>
                    <a:pt x="87292" y="27272"/>
                    <a:pt x="68405" y="19458"/>
                    <a:pt x="50237" y="23595"/>
                  </a:cubicBezTo>
                  <a:cubicBezTo>
                    <a:pt x="32070" y="27732"/>
                    <a:pt x="19306" y="42755"/>
                    <a:pt x="19306" y="60000"/>
                  </a:cubicBezTo>
                  <a:close/>
                </a:path>
              </a:pathLst>
            </a:custGeom>
            <a:gradFill>
              <a:gsLst>
                <a:gs pos="0">
                  <a:srgbClr val="796D79"/>
                </a:gs>
                <a:gs pos="100000">
                  <a:srgbClr val="D3C5D3"/>
                </a:gs>
              </a:gsLst>
              <a:lin ang="5400000" scaled="0"/>
            </a:gradFill>
            <a:ln>
              <a:noFill/>
            </a:ln>
            <a:effectLst>
              <a:outerShdw blurRad="63500" rotWithShape="0" dir="5400000" dist="25400">
                <a:srgbClr val="80808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" name="Google Shape;247;p3"/>
          <p:cNvSpPr txBox="1"/>
          <p:nvPr>
            <p:ph idx="4294967295" type="body"/>
          </p:nvPr>
        </p:nvSpPr>
        <p:spPr>
          <a:xfrm>
            <a:off x="1219200" y="838200"/>
            <a:ext cx="7559675" cy="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3600">
                <a:solidFill>
                  <a:schemeClr val="accent1"/>
                </a:solidFill>
              </a:rPr>
              <a:t>Computer Organization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"/>
          <p:cNvSpPr txBox="1"/>
          <p:nvPr>
            <p:ph type="title"/>
          </p:nvPr>
        </p:nvSpPr>
        <p:spPr>
          <a:xfrm>
            <a:off x="609600" y="457200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n-US">
                <a:latin typeface="Rockwell"/>
                <a:ea typeface="Rockwell"/>
                <a:cs typeface="Rockwell"/>
                <a:sym typeface="Rockwell"/>
              </a:rPr>
              <a:t>IBM System</a:t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4" name="Google Shape;254;p4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/>
              <a:t>IBM System/370 architecture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228"/>
              <a:buChar char="■"/>
            </a:pPr>
            <a:r>
              <a:rPr lang="en-US" sz="1637"/>
              <a:t>Was introduced in 1970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228"/>
              <a:buChar char="■"/>
            </a:pPr>
            <a:r>
              <a:rPr lang="en-US" sz="1637"/>
              <a:t>Included a number of models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228"/>
              <a:buChar char="■"/>
            </a:pPr>
            <a:r>
              <a:rPr lang="en-US" sz="1637"/>
              <a:t>Could upgrade to a more expensive, faster model without having to abandon original software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228"/>
              <a:buChar char="■"/>
            </a:pPr>
            <a:r>
              <a:rPr lang="en-US" sz="1637"/>
              <a:t>New models are introduced with improved technology, but retain the same architecture so that the customer’s software investment is protected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228"/>
              <a:buChar char="■"/>
            </a:pPr>
            <a:r>
              <a:rPr lang="en-US" sz="1637"/>
              <a:t>Architecture has survived to this day as the architecture of IBM’s mainframe product line</a:t>
            </a:r>
            <a:endParaRPr/>
          </a:p>
        </p:txBody>
      </p:sp>
      <p:sp>
        <p:nvSpPr>
          <p:cNvPr id="255" name="Google Shape;255;p4"/>
          <p:cNvSpPr txBox="1"/>
          <p:nvPr>
            <p:ph idx="4294967295" type="body"/>
          </p:nvPr>
        </p:nvSpPr>
        <p:spPr>
          <a:xfrm>
            <a:off x="-1066800" y="914400"/>
            <a:ext cx="7559675" cy="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r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3600">
                <a:solidFill>
                  <a:schemeClr val="accent1"/>
                </a:solidFill>
              </a:rPr>
              <a:t>370 Architecture</a:t>
            </a:r>
            <a:endParaRPr/>
          </a:p>
        </p:txBody>
      </p:sp>
      <p:pic>
        <p:nvPicPr>
          <p:cNvPr id="256" name="Google Shape;2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5029200"/>
            <a:ext cx="204377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n-US">
                <a:latin typeface="Rockwell"/>
                <a:ea typeface="Rockwell"/>
                <a:cs typeface="Rockwell"/>
                <a:sym typeface="Rockwell"/>
              </a:rPr>
              <a:t>Structure and Function</a:t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63" name="Google Shape;263;p5"/>
          <p:cNvSpPr txBox="1"/>
          <p:nvPr>
            <p:ph idx="1" type="body"/>
          </p:nvPr>
        </p:nvSpPr>
        <p:spPr>
          <a:xfrm>
            <a:off x="685800" y="1981200"/>
            <a:ext cx="3657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Hierarchical system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Set of interrelated subsystems</a:t>
            </a:r>
            <a:endParaRPr/>
          </a:p>
          <a:p>
            <a:pPr indent="-228600" lvl="1" marL="2286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Hierarchical nature of complex systems is essential to both their design and their description</a:t>
            </a:r>
            <a:endParaRPr/>
          </a:p>
          <a:p>
            <a:pPr indent="-228600" lvl="1" marL="2286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Designer need only deal with a particular level of the system at a time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Concerned with structure and function at each level</a:t>
            </a:r>
            <a:endParaRPr/>
          </a:p>
        </p:txBody>
      </p:sp>
      <p:sp>
        <p:nvSpPr>
          <p:cNvPr id="264" name="Google Shape;264;p5"/>
          <p:cNvSpPr txBox="1"/>
          <p:nvPr>
            <p:ph idx="2" type="body"/>
          </p:nvPr>
        </p:nvSpPr>
        <p:spPr>
          <a:xfrm>
            <a:off x="4876800" y="2133600"/>
            <a:ext cx="36576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Structure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The way in which components relate to each other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Function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The operation of individual components as part of the structure</a:t>
            </a:r>
            <a:endParaRPr/>
          </a:p>
        </p:txBody>
      </p:sp>
      <p:pic>
        <p:nvPicPr>
          <p:cNvPr id="265" name="Google Shape;2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0" y="5181600"/>
            <a:ext cx="1371600" cy="1450731"/>
          </a:xfrm>
          <a:prstGeom prst="rect">
            <a:avLst/>
          </a:prstGeom>
          <a:solidFill>
            <a:srgbClr val="6666CC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"/>
          <p:cNvSpPr txBox="1"/>
          <p:nvPr>
            <p:ph type="title"/>
          </p:nvPr>
        </p:nvSpPr>
        <p:spPr>
          <a:xfrm>
            <a:off x="381000" y="762000"/>
            <a:ext cx="32552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</a:pPr>
            <a:r>
              <a:rPr lang="en-US"/>
              <a:t>Function</a:t>
            </a:r>
            <a:endParaRPr/>
          </a:p>
        </p:txBody>
      </p:sp>
      <p:sp>
        <p:nvSpPr>
          <p:cNvPr id="272" name="Google Shape;272;p6"/>
          <p:cNvSpPr txBox="1"/>
          <p:nvPr>
            <p:ph idx="2" type="body"/>
          </p:nvPr>
        </p:nvSpPr>
        <p:spPr>
          <a:xfrm>
            <a:off x="381093" y="2057400"/>
            <a:ext cx="3255264" cy="406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350"/>
              <a:buFont typeface="Noto Sans Symbols"/>
              <a:buChar char="■"/>
            </a:pPr>
            <a:r>
              <a:rPr lang="en-US" sz="1800"/>
              <a:t>A computer can perform four basic functions:</a:t>
            </a:r>
            <a:endParaRPr sz="900"/>
          </a:p>
          <a:p>
            <a:pPr indent="-200025" lvl="0" marL="228600" rtl="0" algn="l">
              <a:spcBef>
                <a:spcPts val="2000"/>
              </a:spcBef>
              <a:spcAft>
                <a:spcPts val="0"/>
              </a:spcAft>
              <a:buSzPts val="450"/>
              <a:buFont typeface="Noto Sans Symbols"/>
              <a:buNone/>
            </a:pPr>
            <a:r>
              <a:t/>
            </a:r>
            <a:endParaRPr sz="600"/>
          </a:p>
          <a:p>
            <a:pPr indent="-76200" lvl="1" marL="457200" rtl="0" algn="l">
              <a:spcBef>
                <a:spcPts val="600"/>
              </a:spcBef>
              <a:spcAft>
                <a:spcPts val="0"/>
              </a:spcAft>
              <a:buClr>
                <a:srgbClr val="E6CFE6"/>
              </a:buClr>
              <a:buSzPts val="1200"/>
              <a:buFont typeface="Merriweather Sans"/>
              <a:buChar char="●"/>
            </a:pPr>
            <a:r>
              <a:rPr lang="en-US" sz="1600"/>
              <a:t>  </a:t>
            </a:r>
            <a:r>
              <a:rPr lang="en-US" sz="1600">
                <a:solidFill>
                  <a:srgbClr val="FFFFFF"/>
                </a:solidFill>
              </a:rPr>
              <a:t>Data processing</a:t>
            </a:r>
            <a:endParaRPr/>
          </a:p>
          <a:p>
            <a:pPr indent="-76200" lvl="1" marL="457200" rtl="0" algn="l">
              <a:spcBef>
                <a:spcPts val="600"/>
              </a:spcBef>
              <a:spcAft>
                <a:spcPts val="0"/>
              </a:spcAft>
              <a:buClr>
                <a:srgbClr val="E6CFE6"/>
              </a:buClr>
              <a:buSzPts val="1200"/>
              <a:buFont typeface="Merriweather Sans"/>
              <a:buChar char="●"/>
            </a:pPr>
            <a:r>
              <a:rPr lang="en-US" sz="1600">
                <a:solidFill>
                  <a:srgbClr val="FFFFFF"/>
                </a:solidFill>
              </a:rPr>
              <a:t>  Data storage</a:t>
            </a:r>
            <a:endParaRPr/>
          </a:p>
          <a:p>
            <a:pPr indent="-76200" lvl="1" marL="457200" rtl="0" algn="l">
              <a:spcBef>
                <a:spcPts val="600"/>
              </a:spcBef>
              <a:spcAft>
                <a:spcPts val="0"/>
              </a:spcAft>
              <a:buClr>
                <a:srgbClr val="E6CFE6"/>
              </a:buClr>
              <a:buSzPts val="1200"/>
              <a:buFont typeface="Merriweather Sans"/>
              <a:buChar char="●"/>
            </a:pPr>
            <a:r>
              <a:rPr lang="en-US" sz="1600">
                <a:solidFill>
                  <a:srgbClr val="FFFFFF"/>
                </a:solidFill>
              </a:rPr>
              <a:t>  Data movement</a:t>
            </a:r>
            <a:endParaRPr/>
          </a:p>
          <a:p>
            <a:pPr indent="-76200" lvl="1" marL="457200" rtl="0" algn="l">
              <a:spcBef>
                <a:spcPts val="600"/>
              </a:spcBef>
              <a:spcAft>
                <a:spcPts val="0"/>
              </a:spcAft>
              <a:buClr>
                <a:srgbClr val="E6CFE6"/>
              </a:buClr>
              <a:buSzPts val="1200"/>
              <a:buFont typeface="Merriweather Sans"/>
              <a:buChar char="●"/>
            </a:pPr>
            <a:r>
              <a:rPr lang="en-US" sz="1600">
                <a:solidFill>
                  <a:srgbClr val="FFFFFF"/>
                </a:solidFill>
              </a:rPr>
              <a:t>  Control</a:t>
            </a:r>
            <a:endParaRPr sz="1600">
              <a:solidFill>
                <a:srgbClr val="FFFFFF"/>
              </a:solidFill>
            </a:endParaRPr>
          </a:p>
        </p:txBody>
      </p:sp>
      <p:pic>
        <p:nvPicPr>
          <p:cNvPr descr="f1.pdf" id="273" name="Google Shape;273;p6"/>
          <p:cNvPicPr preferRelativeResize="0"/>
          <p:nvPr/>
        </p:nvPicPr>
        <p:blipFill rotWithShape="1">
          <a:blip r:embed="rId3">
            <a:alphaModFix/>
          </a:blip>
          <a:srcRect b="2727" l="18824" r="16470" t="10000"/>
          <a:stretch/>
        </p:blipFill>
        <p:spPr>
          <a:xfrm>
            <a:off x="4648200" y="0"/>
            <a:ext cx="3962400" cy="691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"/>
          <p:cNvSpPr/>
          <p:nvPr/>
        </p:nvSpPr>
        <p:spPr>
          <a:xfrm>
            <a:off x="228600" y="1600200"/>
            <a:ext cx="1828800" cy="13716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 cap="flat" cmpd="sng" w="12700">
            <a:solidFill>
              <a:srgbClr val="642F6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5400000" dist="25400">
              <a:srgbClr val="808080">
                <a:alpha val="7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split orient="ver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"/>
          <p:cNvSpPr txBox="1"/>
          <p:nvPr>
            <p:ph type="title"/>
          </p:nvPr>
        </p:nvSpPr>
        <p:spPr>
          <a:xfrm>
            <a:off x="380555" y="1676400"/>
            <a:ext cx="325526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</a:pPr>
            <a:r>
              <a:rPr lang="en-US"/>
              <a:t>Operations 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	   (a) </a:t>
            </a:r>
            <a:br>
              <a:rPr lang="en-US"/>
            </a:br>
            <a:r>
              <a:rPr lang="en-US"/>
              <a:t>   Data movement</a:t>
            </a:r>
            <a:endParaRPr/>
          </a:p>
        </p:txBody>
      </p:sp>
      <p:pic>
        <p:nvPicPr>
          <p:cNvPr descr="f2.pdf" id="281" name="Google Shape;281;p7"/>
          <p:cNvPicPr preferRelativeResize="0"/>
          <p:nvPr/>
        </p:nvPicPr>
        <p:blipFill rotWithShape="1">
          <a:blip r:embed="rId3">
            <a:alphaModFix/>
          </a:blip>
          <a:srcRect b="50909" l="4706" r="49412" t="0"/>
          <a:stretch/>
        </p:blipFill>
        <p:spPr>
          <a:xfrm>
            <a:off x="3733800" y="-609600"/>
            <a:ext cx="5638800" cy="78078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7"/>
          <p:cNvCxnSpPr/>
          <p:nvPr/>
        </p:nvCxnSpPr>
        <p:spPr>
          <a:xfrm>
            <a:off x="533400" y="2286000"/>
            <a:ext cx="16002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f2.pdf" id="283" name="Google Shape;283;p7"/>
          <p:cNvPicPr preferRelativeResize="0"/>
          <p:nvPr/>
        </p:nvPicPr>
        <p:blipFill rotWithShape="1">
          <a:blip r:embed="rId3">
            <a:alphaModFix/>
          </a:blip>
          <a:srcRect b="3636" l="21176" r="20000" t="88182"/>
          <a:stretch/>
        </p:blipFill>
        <p:spPr>
          <a:xfrm>
            <a:off x="4876800" y="6296907"/>
            <a:ext cx="3117307" cy="561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split orient="ver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2.pdf" id="289" name="Google Shape;289;p8"/>
          <p:cNvPicPr preferRelativeResize="0"/>
          <p:nvPr/>
        </p:nvPicPr>
        <p:blipFill rotWithShape="1">
          <a:blip r:embed="rId3">
            <a:alphaModFix/>
          </a:blip>
          <a:srcRect b="52727" l="49412" r="4705" t="2727"/>
          <a:stretch/>
        </p:blipFill>
        <p:spPr>
          <a:xfrm>
            <a:off x="3581401" y="0"/>
            <a:ext cx="5562599" cy="698910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 txBox="1"/>
          <p:nvPr>
            <p:ph type="title"/>
          </p:nvPr>
        </p:nvSpPr>
        <p:spPr>
          <a:xfrm>
            <a:off x="380555" y="1676400"/>
            <a:ext cx="325526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</a:pPr>
            <a:r>
              <a:rPr lang="en-US"/>
              <a:t>Operations 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	   (b) </a:t>
            </a:r>
            <a:br>
              <a:rPr lang="en-US"/>
            </a:br>
            <a:r>
              <a:rPr lang="en-US"/>
              <a:t>      Data storage</a:t>
            </a:r>
            <a:endParaRPr/>
          </a:p>
        </p:txBody>
      </p:sp>
      <p:cxnSp>
        <p:nvCxnSpPr>
          <p:cNvPr id="291" name="Google Shape;291;p8"/>
          <p:cNvCxnSpPr/>
          <p:nvPr/>
        </p:nvCxnSpPr>
        <p:spPr>
          <a:xfrm>
            <a:off x="533400" y="2286000"/>
            <a:ext cx="16002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f2.pdf" id="292" name="Google Shape;292;p8"/>
          <p:cNvPicPr preferRelativeResize="0"/>
          <p:nvPr/>
        </p:nvPicPr>
        <p:blipFill rotWithShape="1">
          <a:blip r:embed="rId3">
            <a:alphaModFix/>
          </a:blip>
          <a:srcRect b="3636" l="21176" r="20000" t="88182"/>
          <a:stretch/>
        </p:blipFill>
        <p:spPr>
          <a:xfrm>
            <a:off x="4495800" y="6296907"/>
            <a:ext cx="3117307" cy="561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split orient="ver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 txBox="1"/>
          <p:nvPr>
            <p:ph type="title"/>
          </p:nvPr>
        </p:nvSpPr>
        <p:spPr>
          <a:xfrm>
            <a:off x="380555" y="1066800"/>
            <a:ext cx="3255264" cy="304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ckwell"/>
              <a:buNone/>
            </a:pP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br>
              <a:rPr lang="en-US" sz="2889"/>
            </a:br>
            <a:r>
              <a:rPr lang="en-US" sz="2889"/>
              <a:t>Operations</a:t>
            </a:r>
            <a:r>
              <a:rPr lang="en-US"/>
              <a:t>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 sz="2889"/>
            </a:br>
            <a:r>
              <a:rPr lang="en-US" sz="2889"/>
              <a:t>               (c) </a:t>
            </a:r>
            <a:br>
              <a:rPr lang="en-US" sz="2889"/>
            </a:br>
            <a:r>
              <a:rPr lang="en-US" sz="2889"/>
              <a:t>    Data movement</a:t>
            </a:r>
            <a:endParaRPr sz="2889"/>
          </a:p>
        </p:txBody>
      </p:sp>
      <p:pic>
        <p:nvPicPr>
          <p:cNvPr descr="f2.pdf" id="299" name="Google Shape;299;p9"/>
          <p:cNvPicPr preferRelativeResize="0"/>
          <p:nvPr/>
        </p:nvPicPr>
        <p:blipFill rotWithShape="1">
          <a:blip r:embed="rId3">
            <a:alphaModFix/>
          </a:blip>
          <a:srcRect b="10909" l="3528" r="50587" t="46363"/>
          <a:stretch/>
        </p:blipFill>
        <p:spPr>
          <a:xfrm>
            <a:off x="3354876" y="-381000"/>
            <a:ext cx="5789124" cy="69766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9"/>
          <p:cNvCxnSpPr/>
          <p:nvPr/>
        </p:nvCxnSpPr>
        <p:spPr>
          <a:xfrm>
            <a:off x="533400" y="2286000"/>
            <a:ext cx="16002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f2.pdf" id="301" name="Google Shape;301;p9"/>
          <p:cNvPicPr preferRelativeResize="0"/>
          <p:nvPr/>
        </p:nvPicPr>
        <p:blipFill rotWithShape="1">
          <a:blip r:embed="rId3">
            <a:alphaModFix/>
          </a:blip>
          <a:srcRect b="3636" l="21176" r="20000" t="88182"/>
          <a:stretch/>
        </p:blipFill>
        <p:spPr>
          <a:xfrm>
            <a:off x="4724400" y="6296907"/>
            <a:ext cx="3117307" cy="561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split orient="vert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 txBox="1"/>
          <p:nvPr>
            <p:ph type="title"/>
          </p:nvPr>
        </p:nvSpPr>
        <p:spPr>
          <a:xfrm>
            <a:off x="380555" y="838200"/>
            <a:ext cx="3255264" cy="31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</a:pPr>
            <a:r>
              <a:rPr lang="en-US"/>
              <a:t>Operations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	    (d)</a:t>
            </a:r>
            <a:br>
              <a:rPr lang="en-US"/>
            </a:br>
            <a:r>
              <a:rPr lang="en-US"/>
              <a:t>	Control</a:t>
            </a:r>
            <a:endParaRPr/>
          </a:p>
        </p:txBody>
      </p:sp>
      <p:pic>
        <p:nvPicPr>
          <p:cNvPr descr="f2.pdf" id="308" name="Google Shape;308;p10"/>
          <p:cNvPicPr preferRelativeResize="0"/>
          <p:nvPr/>
        </p:nvPicPr>
        <p:blipFill rotWithShape="1">
          <a:blip r:embed="rId3">
            <a:alphaModFix/>
          </a:blip>
          <a:srcRect b="10000" l="52941" r="4705" t="47273"/>
          <a:stretch/>
        </p:blipFill>
        <p:spPr>
          <a:xfrm>
            <a:off x="3650974" y="-313569"/>
            <a:ext cx="5493026" cy="71715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10"/>
          <p:cNvCxnSpPr/>
          <p:nvPr/>
        </p:nvCxnSpPr>
        <p:spPr>
          <a:xfrm>
            <a:off x="533400" y="2438400"/>
            <a:ext cx="16002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f2.pdf" id="310" name="Google Shape;310;p10"/>
          <p:cNvPicPr preferRelativeResize="0"/>
          <p:nvPr/>
        </p:nvPicPr>
        <p:blipFill rotWithShape="1">
          <a:blip r:embed="rId3">
            <a:alphaModFix/>
          </a:blip>
          <a:srcRect b="3636" l="21176" r="20000" t="88182"/>
          <a:stretch/>
        </p:blipFill>
        <p:spPr>
          <a:xfrm>
            <a:off x="4495800" y="6296907"/>
            <a:ext cx="3117307" cy="561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/>
          <p:nvPr>
            <p:ph idx="4294967295" type="title"/>
          </p:nvPr>
        </p:nvSpPr>
        <p:spPr>
          <a:xfrm>
            <a:off x="6629400" y="2895600"/>
            <a:ext cx="2514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n-US"/>
              <a:t>The </a:t>
            </a:r>
            <a:br>
              <a:rPr lang="en-US"/>
            </a:br>
            <a:r>
              <a:rPr lang="en-US"/>
              <a:t>Computer</a:t>
            </a:r>
            <a:br>
              <a:rPr lang="en-US"/>
            </a:br>
            <a:endParaRPr/>
          </a:p>
        </p:txBody>
      </p:sp>
      <p:pic>
        <p:nvPicPr>
          <p:cNvPr descr="f3.pdf" id="317" name="Google Shape;317;p11"/>
          <p:cNvPicPr preferRelativeResize="0"/>
          <p:nvPr/>
        </p:nvPicPr>
        <p:blipFill rotWithShape="1">
          <a:blip r:embed="rId3">
            <a:alphaModFix/>
          </a:blip>
          <a:srcRect b="14544" l="11765" r="0" t="21818"/>
          <a:stretch/>
        </p:blipFill>
        <p:spPr>
          <a:xfrm>
            <a:off x="0" y="0"/>
            <a:ext cx="734792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lus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 txBox="1"/>
          <p:nvPr>
            <p:ph idx="4294967295" type="title"/>
          </p:nvPr>
        </p:nvSpPr>
        <p:spPr>
          <a:xfrm>
            <a:off x="381000" y="2438400"/>
            <a:ext cx="7556500" cy="1116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Rockwell"/>
              <a:buNone/>
            </a:pPr>
            <a:r>
              <a:rPr lang="en-US" sz="4000"/>
              <a:t>Structure</a:t>
            </a:r>
            <a:endParaRPr sz="4000"/>
          </a:p>
        </p:txBody>
      </p:sp>
      <p:pic>
        <p:nvPicPr>
          <p:cNvPr descr="f4.pdf" id="324" name="Google Shape;324;p12"/>
          <p:cNvPicPr preferRelativeResize="0"/>
          <p:nvPr/>
        </p:nvPicPr>
        <p:blipFill rotWithShape="1">
          <a:blip r:embed="rId3">
            <a:alphaModFix/>
          </a:blip>
          <a:srcRect b="5455" l="7058" r="3529" t="4544"/>
          <a:stretch/>
        </p:blipFill>
        <p:spPr>
          <a:xfrm>
            <a:off x="3048000" y="0"/>
            <a:ext cx="5340911" cy="6957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lus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>
            <p:ph idx="1" type="body"/>
          </p:nvPr>
        </p:nvSpPr>
        <p:spPr>
          <a:xfrm>
            <a:off x="3962400" y="990600"/>
            <a:ext cx="48768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rgbClr val="4C264C"/>
              </a:buClr>
              <a:buSzPts val="2688"/>
              <a:buFont typeface="Noto Sans Symbols"/>
              <a:buChar char="✦"/>
            </a:pPr>
            <a:r>
              <a:rPr lang="en-US" sz="21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CPU – controls the operation of the computer and performs its data processing functions 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Clr>
                <a:srgbClr val="4C264C"/>
              </a:buClr>
              <a:buSzPts val="3072"/>
              <a:buFont typeface="Noto Sans Symbols"/>
              <a:buChar char="✦"/>
            </a:pPr>
            <a:r>
              <a:rPr lang="en-US" sz="2400">
                <a:solidFill>
                  <a:schemeClr val="dk1"/>
                </a:solidFill>
              </a:rPr>
              <a:t> Main Memory – stores data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Clr>
                <a:srgbClr val="4C264C"/>
              </a:buClr>
              <a:buSzPts val="3072"/>
              <a:buFont typeface="Noto Sans Symbols"/>
              <a:buChar char="✦"/>
            </a:pPr>
            <a:r>
              <a:rPr lang="en-US" sz="2400">
                <a:solidFill>
                  <a:schemeClr val="dk1"/>
                </a:solidFill>
              </a:rPr>
              <a:t> I/O – moves data between the computer and its external environment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Clr>
                <a:srgbClr val="4C264C"/>
              </a:buClr>
              <a:buSzPts val="3072"/>
              <a:buFont typeface="Noto Sans Symbols"/>
              <a:buChar char="✦"/>
            </a:pPr>
            <a:r>
              <a:rPr lang="en-US" sz="2400">
                <a:solidFill>
                  <a:schemeClr val="dk1"/>
                </a:solidFill>
              </a:rPr>
              <a:t> System Interconnection – some mechanism that provides for communication among CPU, main memory, and I/O</a:t>
            </a:r>
            <a:endParaRPr sz="2400"/>
          </a:p>
        </p:txBody>
      </p:sp>
      <p:sp>
        <p:nvSpPr>
          <p:cNvPr id="331" name="Google Shape;331;p13"/>
          <p:cNvSpPr txBox="1"/>
          <p:nvPr/>
        </p:nvSpPr>
        <p:spPr>
          <a:xfrm>
            <a:off x="533400" y="1524000"/>
            <a:ext cx="2911224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four main structural components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computer: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962400"/>
            <a:ext cx="2146980" cy="21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"/>
          <p:cNvSpPr txBox="1"/>
          <p:nvPr>
            <p:ph type="title"/>
          </p:nvPr>
        </p:nvSpPr>
        <p:spPr>
          <a:xfrm>
            <a:off x="381000" y="228600"/>
            <a:ext cx="325526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Rockwell"/>
              <a:buNone/>
            </a:pPr>
            <a:r>
              <a:rPr lang="en-US"/>
              <a:t>CPU</a:t>
            </a:r>
            <a:endParaRPr/>
          </a:p>
        </p:txBody>
      </p:sp>
      <p:sp>
        <p:nvSpPr>
          <p:cNvPr id="339" name="Google Shape;339;p14"/>
          <p:cNvSpPr txBox="1"/>
          <p:nvPr>
            <p:ph idx="1" type="body"/>
          </p:nvPr>
        </p:nvSpPr>
        <p:spPr>
          <a:xfrm>
            <a:off x="4168775" y="838200"/>
            <a:ext cx="4597399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Control Unit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Controls the operation of the CPU and hence the computer</a:t>
            </a:r>
            <a:endParaRPr/>
          </a:p>
          <a:p>
            <a:pPr indent="-228600" lvl="1" marL="2286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Arithmetic and Logic Unit (ALU)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Performs the computer’s data processing function</a:t>
            </a:r>
            <a:endParaRPr/>
          </a:p>
          <a:p>
            <a:pPr indent="-228600" lvl="1" marL="2286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Registers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Provide storage internal to the CPU</a:t>
            </a:r>
            <a:endParaRPr/>
          </a:p>
          <a:p>
            <a:pPr indent="-228600" lvl="1" marL="2286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CPU Interconnection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>
                <a:solidFill>
                  <a:srgbClr val="000000"/>
                </a:solidFill>
              </a:rPr>
              <a:t>Some mechanism that provides for communication among the control unit, ALU, and registers</a:t>
            </a:r>
            <a:endParaRPr/>
          </a:p>
        </p:txBody>
      </p:sp>
      <p:sp>
        <p:nvSpPr>
          <p:cNvPr id="340" name="Google Shape;340;p14"/>
          <p:cNvSpPr txBox="1"/>
          <p:nvPr>
            <p:ph idx="2" type="body"/>
          </p:nvPr>
        </p:nvSpPr>
        <p:spPr>
          <a:xfrm>
            <a:off x="381000" y="1676400"/>
            <a:ext cx="3255264" cy="239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en-US" sz="2600">
                <a:latin typeface="Rockwell"/>
                <a:ea typeface="Rockwell"/>
                <a:cs typeface="Rockwell"/>
                <a:sym typeface="Rockwell"/>
              </a:rPr>
              <a:t>Major structural components:</a:t>
            </a:r>
            <a:endParaRPr/>
          </a:p>
        </p:txBody>
      </p:sp>
      <p:pic>
        <p:nvPicPr>
          <p:cNvPr id="341" name="Google Shape;3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55404">
            <a:off x="1752600" y="4724400"/>
            <a:ext cx="1599971" cy="1599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677974">
            <a:off x="588811" y="2951012"/>
            <a:ext cx="1612900" cy="16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"/>
          <p:cNvSpPr txBox="1"/>
          <p:nvPr>
            <p:ph type="title"/>
          </p:nvPr>
        </p:nvSpPr>
        <p:spPr>
          <a:xfrm>
            <a:off x="762000" y="228600"/>
            <a:ext cx="4073526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ckwell"/>
              <a:buNone/>
            </a:pPr>
            <a:r>
              <a:rPr lang="en-US" sz="4400"/>
              <a:t>Summary</a:t>
            </a:r>
            <a:endParaRPr sz="4400"/>
          </a:p>
        </p:txBody>
      </p:sp>
      <p:sp>
        <p:nvSpPr>
          <p:cNvPr id="349" name="Google Shape;349;p15"/>
          <p:cNvSpPr txBox="1"/>
          <p:nvPr>
            <p:ph idx="1" type="body"/>
          </p:nvPr>
        </p:nvSpPr>
        <p:spPr>
          <a:xfrm>
            <a:off x="497541" y="2447365"/>
            <a:ext cx="3657600" cy="367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Computer Organization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Computer Architecture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Function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Data processing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Data storage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Data movement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Control</a:t>
            </a:r>
            <a:endParaRPr/>
          </a:p>
          <a:p>
            <a:pPr indent="-142875" lvl="0" marL="228600" rtl="0" algn="l">
              <a:spcBef>
                <a:spcPts val="20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 txBox="1"/>
          <p:nvPr>
            <p:ph idx="2" type="body"/>
          </p:nvPr>
        </p:nvSpPr>
        <p:spPr>
          <a:xfrm>
            <a:off x="4495800" y="2362200"/>
            <a:ext cx="3657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Structure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CPU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Main memory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I/O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50"/>
              <a:buChar char="■"/>
            </a:pPr>
            <a:r>
              <a:rPr lang="en-US"/>
              <a:t>System interconnection</a:t>
            </a:r>
            <a:endParaRPr/>
          </a:p>
          <a:p>
            <a:pPr indent="-228600" lvl="1" marL="228600" rtl="0" algn="l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350"/>
              <a:buChar char="■"/>
            </a:pPr>
            <a:r>
              <a:rPr lang="en-US"/>
              <a:t>CPU structural components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24"/>
              <a:buChar char="■"/>
            </a:pPr>
            <a:r>
              <a:rPr lang="en-US" sz="1765"/>
              <a:t>Control unit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24"/>
              <a:buChar char="■"/>
            </a:pPr>
            <a:r>
              <a:rPr lang="en-US" sz="1765"/>
              <a:t>ALU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24"/>
              <a:buChar char="■"/>
            </a:pPr>
            <a:r>
              <a:rPr lang="en-US" sz="1765"/>
              <a:t>Registers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324"/>
              <a:buChar char="■"/>
            </a:pPr>
            <a:r>
              <a:rPr lang="en-US" sz="1765"/>
              <a:t>CPU interconnection</a:t>
            </a:r>
            <a:endParaRPr/>
          </a:p>
        </p:txBody>
      </p:sp>
      <p:sp>
        <p:nvSpPr>
          <p:cNvPr id="351" name="Google Shape;351;p15"/>
          <p:cNvSpPr txBox="1"/>
          <p:nvPr>
            <p:ph idx="3" type="body"/>
          </p:nvPr>
        </p:nvSpPr>
        <p:spPr>
          <a:xfrm>
            <a:off x="497541" y="1295400"/>
            <a:ext cx="3657600" cy="10981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lang="en-US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/>
              <a:t>Chapter 1 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3200"/>
          </a:p>
        </p:txBody>
      </p:sp>
      <p:sp>
        <p:nvSpPr>
          <p:cNvPr id="352" name="Google Shape;352;p15"/>
          <p:cNvSpPr txBox="1"/>
          <p:nvPr>
            <p:ph idx="4" type="body"/>
          </p:nvPr>
        </p:nvSpPr>
        <p:spPr>
          <a:xfrm>
            <a:off x="4419600" y="304800"/>
            <a:ext cx="3657600" cy="1707776"/>
          </a:xfrm>
          <a:prstGeom prst="rect">
            <a:avLst/>
          </a:prstGeom>
          <a:solidFill>
            <a:srgbClr val="A2A2C1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800">
                <a:solidFill>
                  <a:srgbClr val="321933"/>
                </a:solidFill>
              </a:rPr>
              <a:t>Introduction  </a:t>
            </a:r>
            <a:r>
              <a:rPr lang="en-US">
                <a:solidFill>
                  <a:srgbClr val="321933"/>
                </a:solidFill>
              </a:rPr>
              <a:t>  </a:t>
            </a:r>
            <a:r>
              <a:rPr lang="en-US">
                <a:solidFill>
                  <a:srgbClr val="6666CC"/>
                </a:solidFill>
              </a:rPr>
              <a:t>  </a:t>
            </a:r>
            <a:endParaRPr>
              <a:solidFill>
                <a:srgbClr val="6666CC"/>
              </a:solidFill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"/>
          <p:cNvSpPr txBox="1"/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ckwell"/>
              <a:buNone/>
            </a:pPr>
            <a:r>
              <a:rPr lang="en-US"/>
              <a:t>Internet Resources</a:t>
            </a:r>
            <a:br>
              <a:rPr lang="en-US"/>
            </a:br>
            <a:r>
              <a:rPr lang="en-US"/>
              <a:t>- Web site for book</a:t>
            </a:r>
            <a:endParaRPr/>
          </a:p>
        </p:txBody>
      </p:sp>
      <p:sp>
        <p:nvSpPr>
          <p:cNvPr id="359" name="Google Shape;359;p16"/>
          <p:cNvSpPr txBox="1"/>
          <p:nvPr>
            <p:ph idx="1" type="body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http://WilliamStallings.com/COA/COA9e.html</a:t>
            </a:r>
            <a:endParaRPr sz="2400"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■"/>
            </a:pPr>
            <a:r>
              <a:rPr lang="en-US" sz="2000"/>
              <a:t>Links to sites of interest</a:t>
            </a:r>
            <a:endParaRPr sz="2000"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■"/>
            </a:pPr>
            <a:r>
              <a:rPr lang="en-US" sz="2000"/>
              <a:t>Links to sites for courses that use the book</a:t>
            </a:r>
            <a:endParaRPr sz="2000"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■"/>
            </a:pPr>
            <a:r>
              <a:rPr lang="en-US" sz="2000"/>
              <a:t>Errata list for book</a:t>
            </a:r>
            <a:endParaRPr sz="2000"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■"/>
            </a:pPr>
            <a:r>
              <a:rPr lang="en-US" sz="2000"/>
              <a:t>Information on other books by W. Stallings</a:t>
            </a:r>
            <a:endParaRPr/>
          </a:p>
          <a:p>
            <a:pPr indent="-228600" lvl="0" marL="228600" rtl="0" algn="l">
              <a:spcBef>
                <a:spcPts val="2000"/>
              </a:spcBef>
              <a:spcAft>
                <a:spcPts val="0"/>
              </a:spcAft>
              <a:buSzPts val="1800"/>
              <a:buChar char="■"/>
            </a:pPr>
            <a:r>
              <a:rPr lang="en-US" sz="2400" u="sng">
                <a:solidFill>
                  <a:schemeClr val="hlink"/>
                </a:solidFill>
                <a:hlinkClick r:id="rId4"/>
              </a:rPr>
              <a:t>http://WilliamStallings.com/StudentSupport.html</a:t>
            </a:r>
            <a:endParaRPr sz="2400"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■"/>
            </a:pPr>
            <a:r>
              <a:rPr lang="en-US" sz="2000"/>
              <a:t>Math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■"/>
            </a:pPr>
            <a:r>
              <a:rPr lang="en-US" sz="2000"/>
              <a:t>How-to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■"/>
            </a:pPr>
            <a:r>
              <a:rPr lang="en-US" sz="2000"/>
              <a:t>Research resources</a:t>
            </a:r>
            <a:endParaRPr/>
          </a:p>
          <a:p>
            <a:pPr indent="-228600" lvl="1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■"/>
            </a:pPr>
            <a:r>
              <a:rPr lang="en-US" sz="2000"/>
              <a:t>Misc</a:t>
            </a:r>
            <a:endParaRPr/>
          </a:p>
          <a:p>
            <a:pPr indent="-133350" lvl="1" marL="457200" rtl="0" algn="l"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vantage">
  <a:themeElements>
    <a:clrScheme name="Advantage">
      <a:dk1>
        <a:srgbClr val="000000"/>
      </a:dk1>
      <a:lt1>
        <a:srgbClr val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2012-06-10T02:41:24Z</dcterms:created>
  <dc:creator>Adrian J Pullin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a.j.pullin@newi.ac.uk</vt:lpwstr>
  </property>
  <property fmtid="{D5CDD505-2E9C-101B-9397-08002B2CF9AE}" pid="8" name="HomePage">
    <vt:lpwstr>http://www.newi.ac.uk/pullina/default.htm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H:\Data\Networks\Notes\HTML</vt:lpwstr>
  </property>
</Properties>
</file>