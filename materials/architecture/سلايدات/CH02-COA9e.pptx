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xml" Extension="xml"/>
  <Default ContentType="image/png" Extension="png"/>
  <Default ContentType="application/vnd.openxmlformats-officedocument.wordprocessingml.document" Extension="docx"/>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wordprocessingml.document" PartName="/ppt/embeddings/Microsoft_Office_Word_Document2.docx"/>
  <Override ContentType="application/vnd.openxmlformats-officedocument.wordprocessingml.document" PartName="/ppt/embeddings/Microsoft_Office_Word_Document1.docx"/>
  <Override ContentType="application/vnd.openxmlformats-officedocument.wordprocessingml.document" PartName="/ppt/embeddings/Microsoft_Office_Word_Document3.docx"/>
  <Override ContentType="application/vnd.openxmlformats-officedocument.wordprocessingml.document" PartName="/ppt/embeddings/Microsoft_Office_Word_Document4.docx"/>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9144000"/>
  <p:notesSz cx="6858000" cy="9144000"/>
  <p:embeddedFontLst>
    <p:embeddedFont>
      <p:font typeface="Constantia"/>
      <p:regular r:id="rId70"/>
      <p:bold r:id="rId71"/>
      <p:italic r:id="rId72"/>
      <p:boldItalic r:id="rId7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4" roundtripDataSignature="AMtx7min4LgvbOzeyA4iA9oe8VGyk4cDo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Constantia-boldItalic.fntdata"/><Relationship Id="rId72" Type="http://schemas.openxmlformats.org/officeDocument/2006/relationships/font" Target="fonts/Constantia-italic.fntdata"/><Relationship Id="rId31" Type="http://schemas.openxmlformats.org/officeDocument/2006/relationships/slide" Target="slides/slide25.xml"/><Relationship Id="rId30" Type="http://schemas.openxmlformats.org/officeDocument/2006/relationships/slide" Target="slides/slide24.xml"/><Relationship Id="rId74" Type="http://customschemas.google.com/relationships/presentationmetadata" Target="metadata"/><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Constantia-bold.fntdata"/><Relationship Id="rId70" Type="http://schemas.openxmlformats.org/officeDocument/2006/relationships/font" Target="fonts/Constantia-regular.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ctr" bIns="46800" lIns="90000" spcFirstLastPara="1" rIns="90000" wrap="square" tIns="468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ctr" bIns="46800" lIns="90000" spcFirstLastPara="1" rIns="90000" wrap="square" tIns="468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6800" lIns="90000" spcFirstLastPara="1" rIns="90000" wrap="square" tIns="468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167" name="Google Shape;167;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p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marR="0" rtl="0" algn="l">
              <a:lnSpc>
                <a:spcPct val="100000"/>
              </a:lnSpc>
              <a:spcBef>
                <a:spcPts val="0"/>
              </a:spcBef>
              <a:spcAft>
                <a:spcPts val="0"/>
              </a:spcAft>
              <a:buClr>
                <a:schemeClr val="lt1"/>
              </a:buClr>
              <a:buSzPts val="1200"/>
              <a:buFont typeface="Times New Roman"/>
              <a:buNone/>
            </a:pPr>
            <a:r>
              <a:rPr lang="en-US">
                <a:latin typeface="Times New Roman"/>
                <a:ea typeface="Times New Roman"/>
                <a:cs typeface="Times New Roman"/>
                <a:sym typeface="Times New Roman"/>
              </a:rPr>
              <a:t>Lecture slides prepared for “Computer Organization and Architecture”, 9/e, by William Stallings, Chapter 2 “Computer Evolution and Performance”.</a:t>
            </a:r>
            <a:endParaRPr>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5" name="Google Shape;175;p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110">
                <a:solidFill>
                  <a:schemeClr val="dk1"/>
                </a:solidFill>
                <a:latin typeface="Times New Roman"/>
                <a:ea typeface="Times New Roman"/>
                <a:cs typeface="Times New Roman"/>
                <a:sym typeface="Times New Roman"/>
              </a:rPr>
              <a:t>We begin our study of computers with a brief history. This history is itself interesting</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and also serves the purpose of providing an overview of computer structure</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and function. Next, we address the issue of performance. A consideration of the</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need for balanced utilization of computer resources provides a context that is useful</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throughout the book. Finally, we look briefly at the evolution of the two systems</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that serve as key examples throughout the book: the Intel x86 and ARM processor</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families.</a:t>
            </a:r>
            <a:endParaRPr sz="1110"/>
          </a:p>
          <a:p>
            <a:pPr indent="0" lvl="0" marL="0" rtl="0" algn="l">
              <a:lnSpc>
                <a:spcPct val="90000"/>
              </a:lnSpc>
              <a:spcBef>
                <a:spcPts val="333"/>
              </a:spcBef>
              <a:spcAft>
                <a:spcPts val="0"/>
              </a:spcAft>
              <a:buNone/>
            </a:pPr>
            <a:r>
              <a:t/>
            </a:r>
            <a:endParaRPr sz="1110"/>
          </a:p>
        </p:txBody>
      </p:sp>
      <p:sp>
        <p:nvSpPr>
          <p:cNvPr id="176" name="Google Shape;176;p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183" name="Google Shape;18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4" name="Google Shape;184;p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b="1" i="1" lang="en-US" sz="1200">
                <a:solidFill>
                  <a:schemeClr val="dk1"/>
                </a:solidFill>
                <a:latin typeface="Times New Roman"/>
                <a:ea typeface="Times New Roman"/>
                <a:cs typeface="Times New Roman"/>
                <a:sym typeface="Times New Roman"/>
              </a:rPr>
              <a:t>The ENIAC (Electronic Numerical Integrator And Computer), </a:t>
            </a:r>
            <a:r>
              <a:rPr b="0" i="1" lang="en-US" sz="1200">
                <a:solidFill>
                  <a:schemeClr val="dk1"/>
                </a:solidFill>
                <a:latin typeface="Times New Roman"/>
                <a:ea typeface="Times New Roman"/>
                <a:cs typeface="Times New Roman"/>
                <a:sym typeface="Times New Roman"/>
              </a:rPr>
              <a:t>designed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constructed at the University of Pennsylvania, was the world’s first general purpose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electronic digital computer. The project was a response to U.S. needs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during World War II. The Army’s Ballistics Research Laboratory (BRL), an agency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responsible for developing range and trajectory tables for new weapons, was having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difficulty supplying these tables accurately and within a reasonable time frame.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Without these firing tables, the new weapons and artillery were useless to gunners.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BRL employed more than 200 people who, using desktop calculators, solved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necessary ballistics equations. Preparation of the tables for a single weapon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would take one person many hours, even days.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John Mauchly, a professor of electrical engineering at the University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Pennsylvania, and John Eckert, one of his graduate students, proposed to build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general-purpose computer using vacuum tubes for the BRL’s application. In 1943,</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Army accepted this proposal, and work began on the ENIAC.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192" name="Google Shape;19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3" name="Google Shape;193;p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resulting machine was enormous, weighing 30 tons, occupying 1500 square feet of floor space,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containing more than 18,000 vacuum tubes. When operating, it consumed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140 kilowatts of power. It was also substantially faster than any electromechanical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computer, capable of 5000 additions per second.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ENIAC was a decimal rather than a binary machine. That is, numbers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were represented in decimal form, and arithmetic was performed in the decimal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system. Its memory consisted of 20 </a:t>
            </a:r>
            <a:r>
              <a:rPr i="1" lang="en-US" sz="1200">
                <a:solidFill>
                  <a:schemeClr val="dk1"/>
                </a:solidFill>
                <a:latin typeface="Times New Roman"/>
                <a:ea typeface="Times New Roman"/>
                <a:cs typeface="Times New Roman"/>
                <a:sym typeface="Times New Roman"/>
              </a:rPr>
              <a:t>accumulators, </a:t>
            </a:r>
            <a:r>
              <a:rPr i="0" lang="en-US" sz="1200">
                <a:solidFill>
                  <a:schemeClr val="dk1"/>
                </a:solidFill>
                <a:latin typeface="Times New Roman"/>
                <a:ea typeface="Times New Roman"/>
                <a:cs typeface="Times New Roman"/>
                <a:sym typeface="Times New Roman"/>
              </a:rPr>
              <a:t>each capable of holding a 10-digit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decimal number. A ring of 10 vacuum tubes represented each digit. At any time,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only one vacuum tube was in the ON state, representing one of the 10 digits.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major drawback of the ENIAC was that it had to be programmed manually by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setting switches and plugging and unplugging cables.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ENIAC was completed in 1946, too late to be used in the war effort.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Instead, its first task was to perform a series of complex calculations that were used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help determine the feasibility of the hydrogen bomb. The use of the ENIAC for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purpose other than that for which it was built demonstrated its general-purpose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nature. The ENIAC continued to operate under BRL management until 1955,</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when it was disassembled.</a:t>
            </a:r>
            <a:endParaRPr/>
          </a:p>
          <a:p>
            <a:pPr indent="0" lvl="0" marL="0" rtl="0" algn="l">
              <a:spcBef>
                <a:spcPts val="36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17" name="Google Shape;217;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8" name="Google Shape;218;p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task of entering and altering programs for the ENIAC was extremely tedious.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But suppose a program could be represented in a form suitable for storing in memory </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alongside the data. Then, a computer could get its instructions by reading them from</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memory, and a program could be set or altered by setting the values of a portion of memory.</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This idea, known as the </a:t>
            </a:r>
            <a:r>
              <a:rPr b="1" lang="en-US" sz="1200">
                <a:solidFill>
                  <a:schemeClr val="dk1"/>
                </a:solidFill>
                <a:latin typeface="Times New Roman"/>
                <a:ea typeface="Times New Roman"/>
                <a:cs typeface="Times New Roman"/>
                <a:sym typeface="Times New Roman"/>
              </a:rPr>
              <a:t>stored-program concept, </a:t>
            </a:r>
            <a:r>
              <a:rPr b="0" lang="en-US" sz="1200">
                <a:solidFill>
                  <a:schemeClr val="dk1"/>
                </a:solidFill>
                <a:latin typeface="Times New Roman"/>
                <a:ea typeface="Times New Roman"/>
                <a:cs typeface="Times New Roman"/>
                <a:sym typeface="Times New Roman"/>
              </a:rPr>
              <a:t>is usually attributed to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ENIAC designers, most notably the mathematician John von Neumann, who was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consultant on the ENIAC project. Alan Turing developed the idea at about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same time. The first publication of the idea was in a 1945 proposal by von Neumann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a new computer, the EDVAC (Electronic Discrete Variable Computer).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1946, von Neumann and his colleagues began the design of a new stored program</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computer, referred to as the IAS computer, at the Princeton Institute for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Advanced Studies. The IAS computer, although not completed until 1952, is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prototype of all subsequent general-purpose computers.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25" name="Google Shape;225;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6" name="Google Shape;226;p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Figure 2.1 shows the general structure of the IAS computer (compare to middle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portion of Figure 1.4). It consists of</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 </a:t>
            </a:r>
            <a:r>
              <a:rPr b="1" lang="en-US" sz="1200">
                <a:solidFill>
                  <a:schemeClr val="dk1"/>
                </a:solidFill>
                <a:latin typeface="Times New Roman"/>
                <a:ea typeface="Times New Roman"/>
                <a:cs typeface="Times New Roman"/>
                <a:sym typeface="Times New Roman"/>
              </a:rPr>
              <a:t>main memory, </a:t>
            </a:r>
            <a:r>
              <a:rPr b="0" lang="en-US" sz="1200">
                <a:solidFill>
                  <a:schemeClr val="dk1"/>
                </a:solidFill>
                <a:latin typeface="Times New Roman"/>
                <a:ea typeface="Times New Roman"/>
                <a:cs typeface="Times New Roman"/>
                <a:sym typeface="Times New Roman"/>
              </a:rPr>
              <a:t>which stores both data and instructions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An </a:t>
            </a:r>
            <a:r>
              <a:rPr b="1" lang="en-US" sz="1200">
                <a:solidFill>
                  <a:schemeClr val="dk1"/>
                </a:solidFill>
                <a:latin typeface="Times New Roman"/>
                <a:ea typeface="Times New Roman"/>
                <a:cs typeface="Times New Roman"/>
                <a:sym typeface="Times New Roman"/>
              </a:rPr>
              <a:t>arithmetic and logic unit (ALU) </a:t>
            </a:r>
            <a:r>
              <a:rPr b="0" lang="en-US" sz="1200">
                <a:solidFill>
                  <a:schemeClr val="dk1"/>
                </a:solidFill>
                <a:latin typeface="Times New Roman"/>
                <a:ea typeface="Times New Roman"/>
                <a:cs typeface="Times New Roman"/>
                <a:sym typeface="Times New Roman"/>
              </a:rPr>
              <a:t>capable of operating on binary data</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 </a:t>
            </a:r>
            <a:r>
              <a:rPr b="1" lang="en-US" sz="1200">
                <a:solidFill>
                  <a:schemeClr val="dk1"/>
                </a:solidFill>
                <a:latin typeface="Times New Roman"/>
                <a:ea typeface="Times New Roman"/>
                <a:cs typeface="Times New Roman"/>
                <a:sym typeface="Times New Roman"/>
              </a:rPr>
              <a:t>control unit, </a:t>
            </a:r>
            <a:r>
              <a:rPr b="0" lang="en-US" sz="1200">
                <a:solidFill>
                  <a:schemeClr val="dk1"/>
                </a:solidFill>
                <a:latin typeface="Times New Roman"/>
                <a:ea typeface="Times New Roman"/>
                <a:cs typeface="Times New Roman"/>
                <a:sym typeface="Times New Roman"/>
              </a:rPr>
              <a:t>which interprets the instructions in memory and causes them</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be executed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Input/output (I/O) </a:t>
            </a:r>
            <a:r>
              <a:rPr b="0" lang="en-US" sz="1200">
                <a:solidFill>
                  <a:schemeClr val="dk1"/>
                </a:solidFill>
                <a:latin typeface="Times New Roman"/>
                <a:ea typeface="Times New Roman"/>
                <a:cs typeface="Times New Roman"/>
                <a:sym typeface="Times New Roman"/>
              </a:rPr>
              <a:t>equipment operated by the control unit</a:t>
            </a:r>
            <a:endParaRPr b="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32" name="Google Shape;232;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p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memory of the IAS consists of 1000 storage locations, called </a:t>
            </a:r>
            <a:r>
              <a:rPr b="1" lang="en-US" sz="1200">
                <a:solidFill>
                  <a:schemeClr val="dk1"/>
                </a:solidFill>
                <a:latin typeface="Times New Roman"/>
                <a:ea typeface="Times New Roman"/>
                <a:cs typeface="Times New Roman"/>
                <a:sym typeface="Times New Roman"/>
              </a:rPr>
              <a:t>words, </a:t>
            </a:r>
            <a:r>
              <a:rPr b="0" lang="en-US" sz="1200">
                <a:solidFill>
                  <a:schemeClr val="dk1"/>
                </a:solidFill>
                <a:latin typeface="Times New Roman"/>
                <a:ea typeface="Times New Roman"/>
                <a:cs typeface="Times New Roman"/>
                <a:sym typeface="Times New Roman"/>
              </a:rPr>
              <a:t>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40 binary digits (bits) each. Both data and instructions are stored there. Numbers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are represented in binary form, and each instruction is a binary code. Figure 2.2</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illustrates these formats. Each number is represented by a sign bit and a 39-bit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value. A word may also contain two 20-bit instructions, with each instruction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Consisting of an 8-bit operation code </a:t>
            </a:r>
            <a:r>
              <a:rPr b="1" lang="en-US" sz="1200">
                <a:solidFill>
                  <a:schemeClr val="dk1"/>
                </a:solidFill>
                <a:latin typeface="Times New Roman"/>
                <a:ea typeface="Times New Roman"/>
                <a:cs typeface="Times New Roman"/>
                <a:sym typeface="Times New Roman"/>
              </a:rPr>
              <a:t>(opcode) </a:t>
            </a:r>
            <a:r>
              <a:rPr b="0" lang="en-US" sz="1200">
                <a:solidFill>
                  <a:schemeClr val="dk1"/>
                </a:solidFill>
                <a:latin typeface="Times New Roman"/>
                <a:ea typeface="Times New Roman"/>
                <a:cs typeface="Times New Roman"/>
                <a:sym typeface="Times New Roman"/>
              </a:rPr>
              <a:t>specifying the operation to be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Performed and a 12-bit address designating one of the words in memory (numbered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0 to 999).</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241" name="Google Shape;24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2" name="Google Shape;242;p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control unit operates the IAS by fetching instructions from memory and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executing them one at a time. To explain this, a more detailed structure diagram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needed, as indicated in Figure 2.3. This figure reveals that both the control unit and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ALU contain storage locations, called </a:t>
            </a:r>
            <a:r>
              <a:rPr i="1" lang="en-US" sz="1200">
                <a:solidFill>
                  <a:schemeClr val="dk1"/>
                </a:solidFill>
                <a:latin typeface="Times New Roman"/>
                <a:ea typeface="Times New Roman"/>
                <a:cs typeface="Times New Roman"/>
                <a:sym typeface="Times New Roman"/>
              </a:rPr>
              <a:t>registers.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txBox="1"/>
          <p:nvPr>
            <p:ph idx="1" type="body"/>
          </p:nvPr>
        </p:nvSpPr>
        <p:spPr>
          <a:xfrm>
            <a:off x="914400" y="4343400"/>
            <a:ext cx="5029200" cy="4114800"/>
          </a:xfrm>
          <a:prstGeom prst="rect">
            <a:avLst/>
          </a:prstGeom>
        </p:spPr>
        <p:txBody>
          <a:bodyPr anchorCtr="0" anchor="ctr" bIns="46800" lIns="90000" spcFirstLastPara="1" rIns="90000" wrap="square" tIns="46800">
            <a:noAutofit/>
          </a:bodyPr>
          <a:lstStyle/>
          <a:p>
            <a:pPr indent="0" lvl="0" marL="0" rtl="0" algn="l">
              <a:spcBef>
                <a:spcPts val="360"/>
              </a:spcBef>
              <a:spcAft>
                <a:spcPts val="0"/>
              </a:spcAft>
              <a:buNone/>
            </a:pPr>
            <a:r>
              <a:t/>
            </a:r>
            <a:endParaRPr/>
          </a:p>
        </p:txBody>
      </p:sp>
      <p:sp>
        <p:nvSpPr>
          <p:cNvPr id="248" name="Google Shape;248;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3" name="Google Shape;253;p1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a:t> </a:t>
            </a:r>
            <a:r>
              <a:rPr b="1" lang="en-US" sz="1200">
                <a:solidFill>
                  <a:schemeClr val="dk1"/>
                </a:solidFill>
                <a:latin typeface="Times New Roman"/>
                <a:ea typeface="Times New Roman"/>
                <a:cs typeface="Times New Roman"/>
                <a:sym typeface="Times New Roman"/>
              </a:rPr>
              <a:t>Memory buffer register (MBR): </a:t>
            </a:r>
            <a:r>
              <a:rPr b="0" lang="en-US" sz="1200">
                <a:solidFill>
                  <a:schemeClr val="dk1"/>
                </a:solidFill>
                <a:latin typeface="Times New Roman"/>
                <a:ea typeface="Times New Roman"/>
                <a:cs typeface="Times New Roman"/>
                <a:sym typeface="Times New Roman"/>
              </a:rPr>
              <a:t>Contains a word to be stored in memory or sent</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to the I/O unit, or is used to receive a word from memory or from the I/O unit.</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Memory address register (MAR): </a:t>
            </a:r>
            <a:r>
              <a:rPr b="0" lang="en-US" sz="1200">
                <a:solidFill>
                  <a:schemeClr val="dk1"/>
                </a:solidFill>
                <a:latin typeface="Times New Roman"/>
                <a:ea typeface="Times New Roman"/>
                <a:cs typeface="Times New Roman"/>
                <a:sym typeface="Times New Roman"/>
              </a:rPr>
              <a:t>Specifies the address in memory of the word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to be written from or read into the MBR.</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Instruction register (IR ): </a:t>
            </a:r>
            <a:r>
              <a:rPr b="0" lang="en-US" sz="1200">
                <a:solidFill>
                  <a:schemeClr val="dk1"/>
                </a:solidFill>
                <a:latin typeface="Times New Roman"/>
                <a:ea typeface="Times New Roman"/>
                <a:cs typeface="Times New Roman"/>
                <a:sym typeface="Times New Roman"/>
              </a:rPr>
              <a:t>Contains the 8-bit opcode instruction being executed.</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Instruction buffer register (IBR): </a:t>
            </a:r>
            <a:r>
              <a:rPr b="0" lang="en-US" sz="1200">
                <a:solidFill>
                  <a:schemeClr val="dk1"/>
                </a:solidFill>
                <a:latin typeface="Times New Roman"/>
                <a:ea typeface="Times New Roman"/>
                <a:cs typeface="Times New Roman"/>
                <a:sym typeface="Times New Roman"/>
              </a:rPr>
              <a:t>Employed to hold temporarily the right-hand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instruction from a word in memory.</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Program counter (PC): </a:t>
            </a:r>
            <a:r>
              <a:rPr b="0" lang="en-US" sz="1200">
                <a:solidFill>
                  <a:schemeClr val="dk1"/>
                </a:solidFill>
                <a:latin typeface="Times New Roman"/>
                <a:ea typeface="Times New Roman"/>
                <a:cs typeface="Times New Roman"/>
                <a:sym typeface="Times New Roman"/>
              </a:rPr>
              <a:t>Contains the address of the next instruction pair to be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fetched from memory.</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Accumulator (AC) and multiplier quotient (MQ): </a:t>
            </a:r>
            <a:r>
              <a:rPr b="0" lang="en-US" sz="1200">
                <a:solidFill>
                  <a:schemeClr val="dk1"/>
                </a:solidFill>
                <a:latin typeface="Times New Roman"/>
                <a:ea typeface="Times New Roman"/>
                <a:cs typeface="Times New Roman"/>
                <a:sym typeface="Times New Roman"/>
              </a:rPr>
              <a:t>Employed to hold temporarily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operands and results of ALU operations. For example, the result of</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multiplying two 40-bit numbers is an 80-bit number; the most significant 40 bits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are stored in the AC and the least significant in the MQ.</a:t>
            </a:r>
            <a:endParaRPr/>
          </a:p>
        </p:txBody>
      </p:sp>
      <p:sp>
        <p:nvSpPr>
          <p:cNvPr id="254" name="Google Shape;254;p1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4" name="Google Shape;284;p1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The IAS operates by repetitively performing an </a:t>
            </a:r>
            <a:r>
              <a:rPr b="1" lang="en-US" sz="1110">
                <a:solidFill>
                  <a:schemeClr val="dk1"/>
                </a:solidFill>
                <a:latin typeface="Times New Roman"/>
                <a:ea typeface="Times New Roman"/>
                <a:cs typeface="Times New Roman"/>
                <a:sym typeface="Times New Roman"/>
              </a:rPr>
              <a:t>instruction cycle, </a:t>
            </a:r>
            <a:r>
              <a:rPr b="0" lang="en-US" sz="1110">
                <a:solidFill>
                  <a:schemeClr val="dk1"/>
                </a:solidFill>
                <a:latin typeface="Times New Roman"/>
                <a:ea typeface="Times New Roman"/>
                <a:cs typeface="Times New Roman"/>
                <a:sym typeface="Times New Roman"/>
              </a:rPr>
              <a:t>as shown in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Figure 2.4. Each instruction cycle consists of two sub-cycles. During the </a:t>
            </a:r>
            <a:r>
              <a:rPr b="1" lang="en-US" sz="1110">
                <a:solidFill>
                  <a:schemeClr val="dk1"/>
                </a:solidFill>
                <a:latin typeface="Times New Roman"/>
                <a:ea typeface="Times New Roman"/>
                <a:cs typeface="Times New Roman"/>
                <a:sym typeface="Times New Roman"/>
              </a:rPr>
              <a:t>fetch cycle,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opcode of the next instruction is loaded into the IR and the address portion is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loaded into the MAR. This instruction may be taken from the IBR, or it can be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obtained from memory by loading a word into the MBR, and then down to the IBR,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IR, and MAR.</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Why the indirection? These operations are controlled by electronic circuitry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and result in the use of data paths. To simplify the electronics, there is only one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register that is used to specify the address in memory for a read or write and only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one register used for the source or destination.</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Once the opcode is in the IR, the </a:t>
            </a:r>
            <a:r>
              <a:rPr b="1" lang="en-US" sz="1110">
                <a:solidFill>
                  <a:schemeClr val="dk1"/>
                </a:solidFill>
                <a:latin typeface="Times New Roman"/>
                <a:ea typeface="Times New Roman"/>
                <a:cs typeface="Times New Roman"/>
                <a:sym typeface="Times New Roman"/>
              </a:rPr>
              <a:t>execute cycle </a:t>
            </a:r>
            <a:r>
              <a:rPr b="0" lang="en-US" sz="1110">
                <a:solidFill>
                  <a:schemeClr val="dk1"/>
                </a:solidFill>
                <a:latin typeface="Times New Roman"/>
                <a:ea typeface="Times New Roman"/>
                <a:cs typeface="Times New Roman"/>
                <a:sym typeface="Times New Roman"/>
              </a:rPr>
              <a:t>is performed</a:t>
            </a:r>
            <a:r>
              <a:rPr b="1" lang="en-US" sz="1110">
                <a:solidFill>
                  <a:schemeClr val="dk1"/>
                </a:solidFill>
                <a:latin typeface="Times New Roman"/>
                <a:ea typeface="Times New Roman"/>
                <a:cs typeface="Times New Roman"/>
                <a:sym typeface="Times New Roman"/>
              </a:rPr>
              <a:t>. Control circuitry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interprets the opcode and executes the instruction by sending out the appropriate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control signals to cause data to be moved or an operation to be performed by the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ALU.</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Figure 2.4 shows several examples of instruction execution by the control unit.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Note that each operation requires several steps. Some of these are quite elaborate.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multiplication operation requires 39 suboperations, one for each bit position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except that of the sign bit.</a:t>
            </a:r>
            <a:endParaRPr sz="1110"/>
          </a:p>
        </p:txBody>
      </p:sp>
      <p:sp>
        <p:nvSpPr>
          <p:cNvPr id="285" name="Google Shape;285;p1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2" name="Google Shape;292;p1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The IAS computer had a total of 21 instructions, which are listed in Table 2.1.</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These can be grouped as follows: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Data transfer: </a:t>
            </a:r>
            <a:r>
              <a:rPr b="0" lang="en-US" sz="1200">
                <a:solidFill>
                  <a:schemeClr val="dk1"/>
                </a:solidFill>
                <a:latin typeface="Times New Roman"/>
                <a:ea typeface="Times New Roman"/>
                <a:cs typeface="Times New Roman"/>
                <a:sym typeface="Times New Roman"/>
              </a:rPr>
              <a:t>Move data between memory and ALU registers or between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two ALU registers.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b="1" lang="en-US" sz="1200">
                <a:solidFill>
                  <a:schemeClr val="dk1"/>
                </a:solidFill>
                <a:latin typeface="Times New Roman"/>
                <a:ea typeface="Times New Roman"/>
                <a:cs typeface="Times New Roman"/>
                <a:sym typeface="Times New Roman"/>
              </a:rPr>
              <a:t>Unconditional branch: </a:t>
            </a:r>
            <a:r>
              <a:rPr b="0" lang="en-US" sz="1200">
                <a:solidFill>
                  <a:schemeClr val="dk1"/>
                </a:solidFill>
                <a:latin typeface="Times New Roman"/>
                <a:ea typeface="Times New Roman"/>
                <a:cs typeface="Times New Roman"/>
                <a:sym typeface="Times New Roman"/>
              </a:rPr>
              <a:t>Normally, the control unit executes instructions in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sequence from memory. This sequence can be changed by a branch instruction,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which facilitates repetitive operations.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Conditional branch: </a:t>
            </a:r>
            <a:r>
              <a:rPr b="0" lang="en-US" sz="1200">
                <a:solidFill>
                  <a:schemeClr val="dk1"/>
                </a:solidFill>
                <a:latin typeface="Times New Roman"/>
                <a:ea typeface="Times New Roman"/>
                <a:cs typeface="Times New Roman"/>
                <a:sym typeface="Times New Roman"/>
              </a:rPr>
              <a:t>The branch can be made dependent on a condition, thus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allowing decision points.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Arithmetic: </a:t>
            </a:r>
            <a:r>
              <a:rPr b="0" lang="en-US" sz="1200">
                <a:solidFill>
                  <a:schemeClr val="dk1"/>
                </a:solidFill>
                <a:latin typeface="Times New Roman"/>
                <a:ea typeface="Times New Roman"/>
                <a:cs typeface="Times New Roman"/>
                <a:sym typeface="Times New Roman"/>
              </a:rPr>
              <a:t>Operations performed by the ALU.</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Address modify: </a:t>
            </a:r>
            <a:r>
              <a:rPr b="0" lang="en-US" sz="1200">
                <a:solidFill>
                  <a:schemeClr val="dk1"/>
                </a:solidFill>
                <a:latin typeface="Times New Roman"/>
                <a:ea typeface="Times New Roman"/>
                <a:cs typeface="Times New Roman"/>
                <a:sym typeface="Times New Roman"/>
              </a:rPr>
              <a:t>Permits addresses to be computed in the ALU and then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inserted into instructions stored in memory. This allows a program considerable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addressing flexibility.</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Table 2.1 presents instructions in a symbolic, easy-to-read form. Actually,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each instruction must conform to the format of Figure 2.2b. The opcode portion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(first 8 bits) specifies which of the 21 instructions is to be executed. The address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portion (remaining 12 bits) specifies which of the 1000 memory locations is to be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involved in the execution of the instruction.</a:t>
            </a:r>
            <a:endParaRPr/>
          </a:p>
        </p:txBody>
      </p:sp>
      <p:sp>
        <p:nvSpPr>
          <p:cNvPr id="293" name="Google Shape;293;p1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02" name="Google Shape;302;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3" name="Google Shape;303;p1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1950s saw the birth of the computer industry with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two companies, Sperry and IBM, dominating the marketplace.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1947, Eckert and Mauchly formed the Eckert-Mauchly Computer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Corporation to manufacture computers commercially. Their first successful machine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was the UNIVAC I (Universal Automatic Computer), which was commissioned by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Bureau of the Census for the 1950 calculations. The Eckert-Mauchly Computer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Corporation became part of the UNIVAC division of Sperry-Rand Corporation,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which went on to build a series of successor machines.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UNIVAC I was the first successful commercial computer. It was intended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both scientific and commercial applications. The first paper describing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system listed matrix algebraic computations, statistical problems, premium billings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a life insurance company, and logistical problems as a sample of the tasks it could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perform.</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UNIVAC II, which had greater memory capacity and higher performance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than the UNIVAC I, was delivered in the late 1950s and illustrates several trends that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have remained characteristic of the computer industry. First, advances in technology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allow companies to continue to build larger, more powerful computers. Second,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each company tries to make its new machines </a:t>
            </a:r>
            <a:r>
              <a:rPr i="1" lang="en-US" sz="1200">
                <a:solidFill>
                  <a:schemeClr val="dk1"/>
                </a:solidFill>
                <a:latin typeface="Times New Roman"/>
                <a:ea typeface="Times New Roman"/>
                <a:cs typeface="Times New Roman"/>
                <a:sym typeface="Times New Roman"/>
              </a:rPr>
              <a:t>backward compatible with the older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machines. This means that the programs written for the older machines can be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executed on the new machine. This strategy is adopted in the hopes of retaining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customer base; that is, when a customer decides to buy a newer machine, he or she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likely to get it from the same company to avoid losing the investment in programs.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UNIVAC division also began development of the 1100 series of computers,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which was to be its major source of revenue. This series illustrates a distinction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that existed at one time. The first model, the UNIVAC 1103, and its successors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many years were primarily intended for scientific applications, involving long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complex calculations. Other companies concentrated on business applications,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which involved processing large amounts of text data. This split has largely disappeared,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but it was evident for a number of years.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11" name="Google Shape;31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1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IBM, then the major manufacturer of punched-card processing equipment,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delivered its first electronic stored-program computer, the 701, in 1953. The 701 was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intended primarily for scientific applications [BASH81]. In 1955, IBM introduced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companion 702 product, which had a number of hardware features that suited it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business applications. These were the first of a long series of 700/7000 computers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that established IBM as the overwhelmingly dominant computer manufacturer.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20" name="Google Shape;320;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first major change in the electronic computer came with the replacement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vacuum tube by the transistor. The transistor is smaller, cheaper, and dissipates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less heat than a vacuum tube but can be used in the same way as a vacuum tube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construct computers. Unlike the vacuum tube, which requires wires, metal plates,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glass capsule, and a vacuum, the transistor is a </a:t>
            </a:r>
            <a:r>
              <a:rPr i="1" lang="en-US" sz="1200">
                <a:solidFill>
                  <a:schemeClr val="dk1"/>
                </a:solidFill>
                <a:latin typeface="Times New Roman"/>
                <a:ea typeface="Times New Roman"/>
                <a:cs typeface="Times New Roman"/>
                <a:sym typeface="Times New Roman"/>
              </a:rPr>
              <a:t>solid-state device, made from silicon.</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transistor was invented at Bell Labs in 1947 and by the 1950s had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launched an electronic revolution. It was not until the late 1950s, however, that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fully transistorized computers were commercially available. IBM again was not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first company to deliver the new technology. NCR and, more successfully, RCA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were the front-runners with some small transistor machines. IBM followed shortly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 the 7000 series.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use of the transistor defines the </a:t>
            </a:r>
            <a:r>
              <a:rPr i="1" lang="en-US" sz="1200">
                <a:solidFill>
                  <a:schemeClr val="dk1"/>
                </a:solidFill>
                <a:latin typeface="Times New Roman"/>
                <a:ea typeface="Times New Roman"/>
                <a:cs typeface="Times New Roman"/>
                <a:sym typeface="Times New Roman"/>
              </a:rPr>
              <a:t>second generation of computers.</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29" name="Google Shape;32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0" name="Google Shape;330;p1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lt1"/>
                </a:solidFill>
                <a:latin typeface="Times New Roman"/>
                <a:ea typeface="Times New Roman"/>
                <a:cs typeface="Times New Roman"/>
                <a:sym typeface="Times New Roman"/>
              </a:rPr>
              <a:t>It has become widely accepted to classify computers into generations based on the fundamental</a:t>
            </a:r>
            <a:endParaRPr/>
          </a:p>
          <a:p>
            <a:pPr indent="0" lvl="0" marL="0" rtl="0" algn="l">
              <a:spcBef>
                <a:spcPts val="360"/>
              </a:spcBef>
              <a:spcAft>
                <a:spcPts val="0"/>
              </a:spcAft>
              <a:buNone/>
            </a:pPr>
            <a:r>
              <a:rPr lang="en-US" sz="1200">
                <a:solidFill>
                  <a:schemeClr val="lt1"/>
                </a:solidFill>
                <a:latin typeface="Times New Roman"/>
                <a:ea typeface="Times New Roman"/>
                <a:cs typeface="Times New Roman"/>
                <a:sym typeface="Times New Roman"/>
              </a:rPr>
              <a:t>hardware technology employed (Table 2.2). Each new generation is characterized</a:t>
            </a:r>
            <a:endParaRPr/>
          </a:p>
          <a:p>
            <a:pPr indent="0" lvl="0" marL="0" rtl="0" algn="l">
              <a:spcBef>
                <a:spcPts val="360"/>
              </a:spcBef>
              <a:spcAft>
                <a:spcPts val="0"/>
              </a:spcAft>
              <a:buNone/>
            </a:pPr>
            <a:r>
              <a:rPr lang="en-US" sz="1200">
                <a:solidFill>
                  <a:schemeClr val="lt1"/>
                </a:solidFill>
                <a:latin typeface="Times New Roman"/>
                <a:ea typeface="Times New Roman"/>
                <a:cs typeface="Times New Roman"/>
                <a:sym typeface="Times New Roman"/>
              </a:rPr>
              <a:t>by greater processing performance, larger memory capacity, and smaller</a:t>
            </a:r>
            <a:endParaRPr/>
          </a:p>
          <a:p>
            <a:pPr indent="0" lvl="0" marL="0" rtl="0" algn="l">
              <a:spcBef>
                <a:spcPts val="360"/>
              </a:spcBef>
              <a:spcAft>
                <a:spcPts val="0"/>
              </a:spcAft>
              <a:buNone/>
            </a:pPr>
            <a:r>
              <a:rPr lang="en-US" sz="1200">
                <a:solidFill>
                  <a:schemeClr val="lt1"/>
                </a:solidFill>
                <a:latin typeface="Times New Roman"/>
                <a:ea typeface="Times New Roman"/>
                <a:cs typeface="Times New Roman"/>
                <a:sym typeface="Times New Roman"/>
              </a:rPr>
              <a:t>size than the previous one.</a:t>
            </a:r>
            <a:endParaRPr/>
          </a:p>
          <a:p>
            <a:pPr indent="0" lvl="0" marL="0" rtl="0" algn="l">
              <a:spcBef>
                <a:spcPts val="360"/>
              </a:spcBef>
              <a:spcAft>
                <a:spcPts val="0"/>
              </a:spcAft>
              <a:buNone/>
            </a:pPr>
            <a:r>
              <a:t/>
            </a:r>
            <a:endParaRPr sz="1200">
              <a:solidFill>
                <a:schemeClr val="lt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1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37" name="Google Shape;337;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8" name="Google Shape;338;p1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But there are other changes as well. The second generation saw the introduction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more complex arithmetic and logic units and control units, the use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high-level programming languages, and the provision of </a:t>
            </a:r>
            <a:r>
              <a:rPr i="1" lang="en-US" sz="1200">
                <a:solidFill>
                  <a:schemeClr val="dk1"/>
                </a:solidFill>
                <a:latin typeface="Times New Roman"/>
                <a:ea typeface="Times New Roman"/>
                <a:cs typeface="Times New Roman"/>
                <a:sym typeface="Times New Roman"/>
              </a:rPr>
              <a:t>system software </a:t>
            </a:r>
            <a:r>
              <a:rPr i="0" lang="en-US" sz="1200">
                <a:solidFill>
                  <a:schemeClr val="dk1"/>
                </a:solidFill>
                <a:latin typeface="Times New Roman"/>
                <a:ea typeface="Times New Roman"/>
                <a:cs typeface="Times New Roman"/>
                <a:sym typeface="Times New Roman"/>
              </a:rPr>
              <a:t>with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computer. In broad terms, system software provided the ability to load programs,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move data to peripherals, and libraries to perform common computations, similar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what modern OSes like Windows and Linux do.</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second generation is noteworthy also for the appearance of the Digital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Equipment Corporation (DEC). DEC was founded in 1957 and, in that year, delivered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its first computer, the PDP-1. This computer and this company began the minicomputer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phenomenon that would become so prominent in the third generation.</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0" name="Google Shape;350;p1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From the introduction of the 700 series in 1952 to the introduction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of the last member of the 7000 series in 1964, this IBM product line underwent an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evolution that is typical of computer products. Successive members of the product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line show increased performance, increased capacity, and/or lower cost.</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Table 2.3 illustrates this trend. The size of main memory, in multiples of 2</a:t>
            </a:r>
            <a:r>
              <a:rPr baseline="30000" lang="en-US" sz="1110">
                <a:solidFill>
                  <a:schemeClr val="dk1"/>
                </a:solidFill>
                <a:latin typeface="Times New Roman"/>
                <a:ea typeface="Times New Roman"/>
                <a:cs typeface="Times New Roman"/>
                <a:sym typeface="Times New Roman"/>
              </a:rPr>
              <a:t>10</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36-bit words, grew from 2K (1K = 2</a:t>
            </a:r>
            <a:r>
              <a:rPr baseline="30000" lang="en-US" sz="1110">
                <a:solidFill>
                  <a:schemeClr val="dk1"/>
                </a:solidFill>
                <a:latin typeface="Times New Roman"/>
                <a:ea typeface="Times New Roman"/>
                <a:cs typeface="Times New Roman"/>
                <a:sym typeface="Times New Roman"/>
              </a:rPr>
              <a:t>10</a:t>
            </a:r>
            <a:r>
              <a:rPr lang="en-US" sz="1110">
                <a:solidFill>
                  <a:schemeClr val="dk1"/>
                </a:solidFill>
                <a:latin typeface="Times New Roman"/>
                <a:ea typeface="Times New Roman"/>
                <a:cs typeface="Times New Roman"/>
                <a:sym typeface="Times New Roman"/>
              </a:rPr>
              <a:t>) to 32K words, while the time to access one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word of memory, the </a:t>
            </a:r>
            <a:r>
              <a:rPr i="1" lang="en-US" sz="1110">
                <a:solidFill>
                  <a:schemeClr val="dk1"/>
                </a:solidFill>
                <a:latin typeface="Times New Roman"/>
                <a:ea typeface="Times New Roman"/>
                <a:cs typeface="Times New Roman"/>
                <a:sym typeface="Times New Roman"/>
              </a:rPr>
              <a:t>memory cycle time, fell from 30 μs to 1.4 μs. </a:t>
            </a:r>
            <a:r>
              <a:rPr b="0" i="0" lang="en-US" sz="1110">
                <a:solidFill>
                  <a:schemeClr val="dk1"/>
                </a:solidFill>
                <a:latin typeface="Times New Roman"/>
                <a:ea typeface="Times New Roman"/>
                <a:cs typeface="Times New Roman"/>
                <a:sym typeface="Times New Roman"/>
              </a:rPr>
              <a:t>The number of</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opcodes grew from a modest 24 to 185.</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final column indicates the relative execution speed of the central processing</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unit (CPU). Speed improvements are achieved by improved electronics (e.g., a</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transistor implementation is faster than a vacuum tube implementation) and more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complex circuitry. For example, the IBM 7094 includes an Instruction Backup</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Register, used to buffer the next instruction. The control unit fetches two adjacent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words from memory for an instruction fetch. Except for the occurrence of a branching</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instruction, which is relatively infrequent (perhaps 10 to 15%), this means that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control unit has to access memory for an instruction on only half the instruction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cycles. This prefetching significantly reduces the average instruction cycle time.</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remainder of the columns of Table 2.3 will become clear as the text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proceeds.</a:t>
            </a:r>
            <a:endParaRPr sz="1110"/>
          </a:p>
        </p:txBody>
      </p:sp>
      <p:sp>
        <p:nvSpPr>
          <p:cNvPr id="351" name="Google Shape;351;p1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2" name="Google Shape;362;p1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Figure 2.5 shows a large (many peripherals) configuration for an IBM 7094,</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which is representative of second-generation computers [BELL71]. Several differences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the IAS computer are worth noting. The most important of these is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use of </a:t>
            </a:r>
            <a:r>
              <a:rPr b="0" lang="en-US" sz="1200">
                <a:solidFill>
                  <a:schemeClr val="dk1"/>
                </a:solidFill>
                <a:latin typeface="Times New Roman"/>
                <a:ea typeface="Times New Roman"/>
                <a:cs typeface="Times New Roman"/>
                <a:sym typeface="Times New Roman"/>
              </a:rPr>
              <a:t>data channels</a:t>
            </a:r>
            <a:r>
              <a:rPr b="1" lang="en-US" sz="1200">
                <a:solidFill>
                  <a:schemeClr val="dk1"/>
                </a:solidFill>
                <a:latin typeface="Times New Roman"/>
                <a:ea typeface="Times New Roman"/>
                <a:cs typeface="Times New Roman"/>
                <a:sym typeface="Times New Roman"/>
              </a:rPr>
              <a:t>. </a:t>
            </a:r>
            <a:r>
              <a:rPr b="0" lang="en-US" sz="1200">
                <a:solidFill>
                  <a:schemeClr val="dk1"/>
                </a:solidFill>
                <a:latin typeface="Times New Roman"/>
                <a:ea typeface="Times New Roman"/>
                <a:cs typeface="Times New Roman"/>
                <a:sym typeface="Times New Roman"/>
              </a:rPr>
              <a:t>A</a:t>
            </a:r>
            <a:r>
              <a:rPr b="1" lang="en-US" sz="1200">
                <a:solidFill>
                  <a:schemeClr val="dk1"/>
                </a:solidFill>
                <a:latin typeface="Times New Roman"/>
                <a:ea typeface="Times New Roman"/>
                <a:cs typeface="Times New Roman"/>
                <a:sym typeface="Times New Roman"/>
              </a:rPr>
              <a:t> data channel </a:t>
            </a:r>
            <a:r>
              <a:rPr b="0" lang="en-US" sz="1200">
                <a:solidFill>
                  <a:schemeClr val="dk1"/>
                </a:solidFill>
                <a:latin typeface="Times New Roman"/>
                <a:ea typeface="Times New Roman"/>
                <a:cs typeface="Times New Roman"/>
                <a:sym typeface="Times New Roman"/>
              </a:rPr>
              <a:t>is an independent I/O module with its own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 and instruction set. In a computer system with such devices, the CPU</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does not execute detailed I/O instructions. Such instructions are stored in a main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memory to be executed by a special-purpose processor in the data channel itself.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CPU initiates an I/O transfer by sending a control signal to the data channel,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instructing it to execute a sequence of instructions in memory. The data channel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performs its task independently of the CPU and signals the CPU when the operation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is complete. This arrangement relieves the CPU of a considerable processing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burden.</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Another new feature is the </a:t>
            </a:r>
            <a:r>
              <a:rPr b="1" lang="en-US" sz="1200">
                <a:solidFill>
                  <a:schemeClr val="dk1"/>
                </a:solidFill>
                <a:latin typeface="Times New Roman"/>
                <a:ea typeface="Times New Roman"/>
                <a:cs typeface="Times New Roman"/>
                <a:sym typeface="Times New Roman"/>
              </a:rPr>
              <a:t>multiplexor, </a:t>
            </a:r>
            <a:r>
              <a:rPr b="0" lang="en-US" sz="1200">
                <a:solidFill>
                  <a:schemeClr val="dk1"/>
                </a:solidFill>
                <a:latin typeface="Times New Roman"/>
                <a:ea typeface="Times New Roman"/>
                <a:cs typeface="Times New Roman"/>
                <a:sym typeface="Times New Roman"/>
              </a:rPr>
              <a:t>which is the central termination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point for data channels, the CPU, and memory. The multiplexor schedules access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the memory from the CPU and data channels, allowing these devices to act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independently.</a:t>
            </a:r>
            <a:endParaRPr/>
          </a:p>
        </p:txBody>
      </p:sp>
      <p:sp>
        <p:nvSpPr>
          <p:cNvPr id="363" name="Google Shape;363;p1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69" name="Google Shape;369;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0" name="Google Shape;370;p2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 single, self-contained transistor is called a </a:t>
            </a:r>
            <a:r>
              <a:rPr i="1" lang="en-US" sz="1200">
                <a:solidFill>
                  <a:schemeClr val="dk1"/>
                </a:solidFill>
                <a:latin typeface="Times New Roman"/>
                <a:ea typeface="Times New Roman"/>
                <a:cs typeface="Times New Roman"/>
                <a:sym typeface="Times New Roman"/>
              </a:rPr>
              <a:t>discrete component. </a:t>
            </a:r>
            <a:r>
              <a:rPr i="0" lang="en-US" sz="1200">
                <a:solidFill>
                  <a:schemeClr val="dk1"/>
                </a:solidFill>
                <a:latin typeface="Times New Roman"/>
                <a:ea typeface="Times New Roman"/>
                <a:cs typeface="Times New Roman"/>
                <a:sym typeface="Times New Roman"/>
              </a:rPr>
              <a:t>Throughout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1950s and early 1960s, electronic equipment was composed largely of discrete components—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transistors, resistors, capacitors, and so on. Discrete components were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manufactured separately, packaged in their own containers, and soldered or wired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together onto masonite-like circuit boards, which were then installed in computers,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oscilloscopes, and other electronic equipment. Whenever an electronic device called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a transistor, a little tube of metal containing a pinhead-sized piece of silicon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had to be soldered to a circuit board. The entire manufacturing process, from transistor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circuit board, was expensive and cumbersome.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These facts of life were beginning to create problems in the computer industry.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Early second-generation computers contained about 10,000 transistors. This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figure grew to the hundreds of thousands, making the manufacture of newer, more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powerful machines increasingly difficult.</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1958 came the achievement that revolutionized electronics and started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era of microelectronics: the invention of the integrated circuit. It is the </a:t>
            </a:r>
            <a:r>
              <a:rPr b="1" lang="en-US" sz="1200">
                <a:solidFill>
                  <a:schemeClr val="dk1"/>
                </a:solidFill>
                <a:latin typeface="Times New Roman"/>
                <a:ea typeface="Times New Roman"/>
                <a:cs typeface="Times New Roman"/>
                <a:sym typeface="Times New Roman"/>
              </a:rPr>
              <a:t>integrated</a:t>
            </a:r>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circuit </a:t>
            </a:r>
            <a:r>
              <a:rPr b="0" lang="en-US" sz="1200">
                <a:solidFill>
                  <a:schemeClr val="dk1"/>
                </a:solidFill>
                <a:latin typeface="Times New Roman"/>
                <a:ea typeface="Times New Roman"/>
                <a:cs typeface="Times New Roman"/>
                <a:sym typeface="Times New Roman"/>
              </a:rPr>
              <a:t>that defines the third generation of computers. In this section, we provide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brief introduction to the technology of integrated circuits. Then we look at perhaps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two most important members of the third generation, both of which were introduced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at the beginning of that era: the IBM System/360 and the DEC PDP-8.</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378" name="Google Shape;378;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Microelectronics means, literally, “small electronics.” Since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beginnings of digital electronics and the computer industry, there has been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persistent and consistent trend toward the reduction in size of digital electronic</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circuits. Before examining the implications and benefits of this trend, we need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say something about the nature of digital electronics. A more detailed discussion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found in Chapter 11.</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basic elements of a digital computer, as we know, must perform storage,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movement, processing, and control functions. Only two fundamental types of components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are required (Figure 2.6): gates and memory cells. A gate is a device that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implements a simple Boolean or logical function, such as IF </a:t>
            </a:r>
            <a:r>
              <a:rPr i="1" lang="en-US" sz="1200">
                <a:solidFill>
                  <a:schemeClr val="dk1"/>
                </a:solidFill>
                <a:latin typeface="Times New Roman"/>
                <a:ea typeface="Times New Roman"/>
                <a:cs typeface="Times New Roman"/>
                <a:sym typeface="Times New Roman"/>
              </a:rPr>
              <a:t>A AND B ARE TRUE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THEN </a:t>
            </a:r>
            <a:r>
              <a:rPr i="1" lang="en-US" sz="1200">
                <a:solidFill>
                  <a:schemeClr val="dk1"/>
                </a:solidFill>
                <a:latin typeface="Times New Roman"/>
                <a:ea typeface="Times New Roman"/>
                <a:cs typeface="Times New Roman"/>
                <a:sym typeface="Times New Roman"/>
              </a:rPr>
              <a:t>C IS TRUE (AND gate). Such devices are called gates because they control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data flow in much the same way that canal gates control the flow of water.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memory cell is a device that can store one bit of data; that is, the device can be in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one of two stable states at any time. By interconnecting large numbers of these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fundamental devices, we can construct a computer.</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5" name="Google Shape;385;p2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020">
                <a:solidFill>
                  <a:schemeClr val="dk1"/>
                </a:solidFill>
                <a:latin typeface="Times New Roman"/>
                <a:ea typeface="Times New Roman"/>
                <a:cs typeface="Times New Roman"/>
                <a:sym typeface="Times New Roman"/>
              </a:rPr>
              <a:t>We can relate this to our four</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basic functions as follows: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 </a:t>
            </a:r>
            <a:r>
              <a:rPr b="1" lang="en-US" sz="1020">
                <a:solidFill>
                  <a:schemeClr val="dk1"/>
                </a:solidFill>
                <a:latin typeface="Times New Roman"/>
                <a:ea typeface="Times New Roman"/>
                <a:cs typeface="Times New Roman"/>
                <a:sym typeface="Times New Roman"/>
              </a:rPr>
              <a:t>Data storage: </a:t>
            </a:r>
            <a:r>
              <a:rPr b="0" lang="en-US" sz="1020">
                <a:solidFill>
                  <a:schemeClr val="dk1"/>
                </a:solidFill>
                <a:latin typeface="Times New Roman"/>
                <a:ea typeface="Times New Roman"/>
                <a:cs typeface="Times New Roman"/>
                <a:sym typeface="Times New Roman"/>
              </a:rPr>
              <a:t>Provided by memory cells.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 </a:t>
            </a:r>
            <a:r>
              <a:rPr b="1" lang="en-US" sz="1020">
                <a:solidFill>
                  <a:schemeClr val="dk1"/>
                </a:solidFill>
                <a:latin typeface="Times New Roman"/>
                <a:ea typeface="Times New Roman"/>
                <a:cs typeface="Times New Roman"/>
                <a:sym typeface="Times New Roman"/>
              </a:rPr>
              <a:t>Data processing: </a:t>
            </a:r>
            <a:r>
              <a:rPr b="0" lang="en-US" sz="1020">
                <a:solidFill>
                  <a:schemeClr val="dk1"/>
                </a:solidFill>
                <a:latin typeface="Times New Roman"/>
                <a:ea typeface="Times New Roman"/>
                <a:cs typeface="Times New Roman"/>
                <a:sym typeface="Times New Roman"/>
              </a:rPr>
              <a:t>Provided by gates.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 </a:t>
            </a:r>
            <a:r>
              <a:rPr b="1" lang="en-US" sz="1020">
                <a:solidFill>
                  <a:schemeClr val="dk1"/>
                </a:solidFill>
                <a:latin typeface="Times New Roman"/>
                <a:ea typeface="Times New Roman"/>
                <a:cs typeface="Times New Roman"/>
                <a:sym typeface="Times New Roman"/>
              </a:rPr>
              <a:t>Data movement: </a:t>
            </a:r>
            <a:r>
              <a:rPr b="0" lang="en-US" sz="1020">
                <a:solidFill>
                  <a:schemeClr val="dk1"/>
                </a:solidFill>
                <a:latin typeface="Times New Roman"/>
                <a:ea typeface="Times New Roman"/>
                <a:cs typeface="Times New Roman"/>
                <a:sym typeface="Times New Roman"/>
              </a:rPr>
              <a:t>The paths among components are used to move data from</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memory to memory and from memory through gates to memory.</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 </a:t>
            </a:r>
            <a:r>
              <a:rPr b="1" lang="en-US" sz="1020">
                <a:solidFill>
                  <a:schemeClr val="dk1"/>
                </a:solidFill>
                <a:latin typeface="Times New Roman"/>
                <a:ea typeface="Times New Roman"/>
                <a:cs typeface="Times New Roman"/>
                <a:sym typeface="Times New Roman"/>
              </a:rPr>
              <a:t>Control: </a:t>
            </a:r>
            <a:r>
              <a:rPr b="0" lang="en-US" sz="1020">
                <a:solidFill>
                  <a:schemeClr val="dk1"/>
                </a:solidFill>
                <a:latin typeface="Times New Roman"/>
                <a:ea typeface="Times New Roman"/>
                <a:cs typeface="Times New Roman"/>
                <a:sym typeface="Times New Roman"/>
              </a:rPr>
              <a:t>The paths among components can carry control signals. For example,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 gate will have one or two data inputs plus a control signal input that activates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 gate. When the control signal is ON, the gate performs its function on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data inputs and produces a data output. Similarly, the memory cell will store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 bit that is on its input lead when the WRITE control signal is ON and will</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place the bit that is in the cell on its output lead when the READ control signal</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is ON.</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Thus, a computer consists of gates, memory cells, and interconnections among these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elements. The gates and memory cells are, in turn, constructed of simple digital</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electronic components.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 integrated circuit exploits the fact that such components as transistors,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resistors, and conductors can be fabricated from a semiconductor such as silicon.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It is merely an extension of the solid-state art to fabricate an entire circuit in a tiny</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piece of silicon rather than assemble discrete components made from separate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pieces of silicon into the same circuit. Many transistors can be produced at the same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time on a single wafer of silicon. Equally important, these transistors can be connected</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with a process of metallization to form circuits.</a:t>
            </a:r>
            <a:endParaRPr sz="1020"/>
          </a:p>
        </p:txBody>
      </p:sp>
      <p:sp>
        <p:nvSpPr>
          <p:cNvPr id="386" name="Google Shape;386;p2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4" name="Google Shape;394;p2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Figure 2.7 depicts the key concepts in an integrated circuit. A thin </a:t>
            </a:r>
            <a:r>
              <a:rPr b="1" lang="en-US" sz="1200">
                <a:solidFill>
                  <a:schemeClr val="dk1"/>
                </a:solidFill>
                <a:latin typeface="Times New Roman"/>
                <a:ea typeface="Times New Roman"/>
                <a:cs typeface="Times New Roman"/>
                <a:sym typeface="Times New Roman"/>
              </a:rPr>
              <a:t>wafer </a:t>
            </a:r>
            <a:r>
              <a:rPr b="0" lang="en-US" sz="1200">
                <a:solidFill>
                  <a:schemeClr val="dk1"/>
                </a:solidFill>
                <a:latin typeface="Times New Roman"/>
                <a:ea typeface="Times New Roman"/>
                <a:cs typeface="Times New Roman"/>
                <a:sym typeface="Times New Roman"/>
              </a:rPr>
              <a:t>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silicon is divided into a matrix of small areas, each a few millimeters square.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identical circuit pattern is fabricated in each area, and the wafer is broken up into</a:t>
            </a:r>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chips. </a:t>
            </a:r>
            <a:r>
              <a:rPr b="0" lang="en-US" sz="1200">
                <a:solidFill>
                  <a:schemeClr val="dk1"/>
                </a:solidFill>
                <a:latin typeface="Times New Roman"/>
                <a:ea typeface="Times New Roman"/>
                <a:cs typeface="Times New Roman"/>
                <a:sym typeface="Times New Roman"/>
              </a:rPr>
              <a:t>Each chip consists of many gates and/or memory cells plus a number of input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output attachment points. This chip is then packaged in housing that protects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it and provides pins for attachment to devices beyond the chip. A number of these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packages can then be interconnected on a printed circuit board to produce larger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more complex circuits.</a:t>
            </a:r>
            <a:endParaRPr/>
          </a:p>
        </p:txBody>
      </p:sp>
      <p:sp>
        <p:nvSpPr>
          <p:cNvPr id="395" name="Google Shape;395;p2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1" name="Google Shape;401;p2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Initially, only a few gates or memory cells could be reliably manufactured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packaged together. These early integrated circuits are referred to as </a:t>
            </a:r>
            <a:r>
              <a:rPr i="1" lang="en-US" sz="1200">
                <a:solidFill>
                  <a:schemeClr val="dk1"/>
                </a:solidFill>
                <a:latin typeface="Times New Roman"/>
                <a:ea typeface="Times New Roman"/>
                <a:cs typeface="Times New Roman"/>
                <a:sym typeface="Times New Roman"/>
              </a:rPr>
              <a:t>small scale</a:t>
            </a:r>
            <a:endParaRPr/>
          </a:p>
          <a:p>
            <a:pPr indent="0" lvl="0" marL="0" rtl="0" algn="l">
              <a:spcBef>
                <a:spcPts val="360"/>
              </a:spcBef>
              <a:spcAft>
                <a:spcPts val="0"/>
              </a:spcAft>
              <a:buNone/>
            </a:pPr>
            <a:r>
              <a:rPr i="1" lang="en-US" sz="1200">
                <a:solidFill>
                  <a:schemeClr val="dk1"/>
                </a:solidFill>
                <a:latin typeface="Times New Roman"/>
                <a:ea typeface="Times New Roman"/>
                <a:cs typeface="Times New Roman"/>
                <a:sym typeface="Times New Roman"/>
              </a:rPr>
              <a:t>Integration </a:t>
            </a:r>
            <a:r>
              <a:rPr lang="en-US" sz="1200">
                <a:solidFill>
                  <a:schemeClr val="dk1"/>
                </a:solidFill>
                <a:latin typeface="Times New Roman"/>
                <a:ea typeface="Times New Roman"/>
                <a:cs typeface="Times New Roman"/>
                <a:sym typeface="Times New Roman"/>
              </a:rPr>
              <a:t>(SSI). As time went on, it became possible to pack more and more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Components on the same chip. This growth in density is illustrated in Figure 2.8; it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one of the most remarkable technological trends ever recorded. </a:t>
            </a:r>
            <a:endParaRPr/>
          </a:p>
        </p:txBody>
      </p:sp>
      <p:sp>
        <p:nvSpPr>
          <p:cNvPr id="402" name="Google Shape;402;p2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p2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408" name="Google Shape;408;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2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Figure 2.8 reflects the famous Moore’s law, which was propounded by Gordon Moore, cofounder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Intel, in 1965 [MOOR65]. Moore observed that the number of transistors that could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be put on a single chip was doubling every year and correctly predicted that this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pace would continue into the near future. To the surprise of many, including Moore,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pace continued year after year and decade after decade. The pace slowed to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doubling every 18 months in the 1970s but has sustained that rate ever since.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consequences of Moore’s law are profound: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1. The cost of a chip has remained virtually unchanged during this period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rapid growth in density. This means that the cost of computer logic and memory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circuitry has fallen at a dramatic rate.</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2. Because logic and memory elements are placed closer together on more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densely packed chips, the electrical path length is shortened, increasing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operating speed.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3. The computer becomes smaller, making it more convenient to place in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variety of environments.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4. There is a reduction in power and cooling requirements.</a:t>
            </a:r>
            <a:endParaRPr/>
          </a:p>
          <a:p>
            <a:pPr indent="0" lvl="0" marL="0" rtl="0" algn="l">
              <a:spcBef>
                <a:spcPts val="360"/>
              </a:spcBef>
              <a:spcAft>
                <a:spcPts val="0"/>
              </a:spcAft>
              <a:buNone/>
            </a:pPr>
            <a:r>
              <a:t/>
            </a:r>
            <a:endParaRPr b="0"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5. The interconnections on the integrated circuit are much more reliable than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solder connections. With more circuitry on each chip, there are fewer interchip</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connections.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3" name="Google Shape;433;p2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930">
                <a:solidFill>
                  <a:schemeClr val="dk1"/>
                </a:solidFill>
                <a:latin typeface="Times New Roman"/>
                <a:ea typeface="Times New Roman"/>
                <a:cs typeface="Times New Roman"/>
                <a:sym typeface="Times New Roman"/>
              </a:rPr>
              <a:t>By 1964, IBM had a firm grip on the computer market with</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its 7000 series of machines. In that year, IBM announced the System/360, a new</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family of computer products. Although the announcement itself was no surprise, it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contained some unpleasant news for current IBM customers: the 360 product line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was incompatible with older IBM machines. Thus, the transition to the 360 would be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difficult for the current customer base. This was a bold step by IBM, but one IBM felt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was necessary to break out of some of the constraints of the 7000 architecture and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to produce a system capable of evolving with the new integrated circuit technology</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[PADE81, GIFF87]. The strategy paid off both financially and technically. The 360</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was the success of the decade and cemented IBM as the overwhelmingly dominant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computer vendor, with a market share above 70%. And, with some modifications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and extensions, the architecture of the 360 remains to this day the architecture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of IBM’s mainframe computers. Examples using this architecture can be found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throughout this text.</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 System/360 was the industry’s first planned family of computers. The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family covered a wide range of performance and cost. Table 2.4 indicates some of</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 key characteristics of the various models in 1965 (each member of the family is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distinguished by a model number). The models were compatible in the sense that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a program written for one model should be capable of being executed by another</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model in the series, with only a difference in the time it takes to execute.</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 concept of a family of compatible computers was both novel and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extremely successful. A customer with modest requirements and a budget to match</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could start with the relatively inexpensive Model 30. Later, if the customer’s needs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grew, it was possible to upgrade to a faster machine with more memory without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sacrificing the investment in already-developed software. The characteristics of a</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family are as follows: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Similar or identical instruction set: </a:t>
            </a:r>
            <a:r>
              <a:rPr b="0" lang="en-US" sz="930">
                <a:solidFill>
                  <a:schemeClr val="dk1"/>
                </a:solidFill>
                <a:latin typeface="Times New Roman"/>
                <a:ea typeface="Times New Roman"/>
                <a:cs typeface="Times New Roman"/>
                <a:sym typeface="Times New Roman"/>
              </a:rPr>
              <a:t>In many cases, the exact same set of machine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instructions is supported on all members of the family. Thus, a program that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executes on one machine will also execute on any other. In some cases, the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lower end of the family has an instruction set that is a subset of that of the top</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end of the family. This means that programs can move up but not down.</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Similar or identical operating system: </a:t>
            </a:r>
            <a:r>
              <a:rPr b="0" lang="en-US" sz="930">
                <a:solidFill>
                  <a:schemeClr val="dk1"/>
                </a:solidFill>
                <a:latin typeface="Times New Roman"/>
                <a:ea typeface="Times New Roman"/>
                <a:cs typeface="Times New Roman"/>
                <a:sym typeface="Times New Roman"/>
              </a:rPr>
              <a:t>The same basic operating system is</a:t>
            </a:r>
            <a:endParaRPr/>
          </a:p>
          <a:p>
            <a:pPr indent="0" lvl="0" marL="0" rtl="0" algn="l">
              <a:lnSpc>
                <a:spcPct val="80000"/>
              </a:lnSpc>
              <a:spcBef>
                <a:spcPts val="279"/>
              </a:spcBef>
              <a:spcAft>
                <a:spcPts val="0"/>
              </a:spcAft>
              <a:buNone/>
            </a:pPr>
            <a:r>
              <a:rPr b="0" lang="en-US" sz="930">
                <a:solidFill>
                  <a:schemeClr val="dk1"/>
                </a:solidFill>
                <a:latin typeface="Times New Roman"/>
                <a:ea typeface="Times New Roman"/>
                <a:cs typeface="Times New Roman"/>
                <a:sym typeface="Times New Roman"/>
              </a:rPr>
              <a:t>available for all family members. In some cases, additional features are added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to the higher-end members.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Increasing speed: </a:t>
            </a:r>
            <a:r>
              <a:rPr b="0" lang="en-US" sz="930">
                <a:solidFill>
                  <a:schemeClr val="dk1"/>
                </a:solidFill>
                <a:latin typeface="Times New Roman"/>
                <a:ea typeface="Times New Roman"/>
                <a:cs typeface="Times New Roman"/>
                <a:sym typeface="Times New Roman"/>
              </a:rPr>
              <a:t>The rate of instruction execution increases in going from</a:t>
            </a:r>
            <a:endParaRPr/>
          </a:p>
          <a:p>
            <a:pPr indent="0" lvl="0" marL="0" rtl="0" algn="l">
              <a:lnSpc>
                <a:spcPct val="80000"/>
              </a:lnSpc>
              <a:spcBef>
                <a:spcPts val="279"/>
              </a:spcBef>
              <a:spcAft>
                <a:spcPts val="0"/>
              </a:spcAft>
              <a:buNone/>
            </a:pPr>
            <a:r>
              <a:rPr b="0" lang="en-US" sz="930">
                <a:solidFill>
                  <a:schemeClr val="dk1"/>
                </a:solidFill>
                <a:latin typeface="Times New Roman"/>
                <a:ea typeface="Times New Roman"/>
                <a:cs typeface="Times New Roman"/>
                <a:sym typeface="Times New Roman"/>
              </a:rPr>
              <a:t>lower to higher family members.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Increasing number of I /O ports: </a:t>
            </a:r>
            <a:r>
              <a:rPr b="0" lang="en-US" sz="930">
                <a:solidFill>
                  <a:schemeClr val="dk1"/>
                </a:solidFill>
                <a:latin typeface="Times New Roman"/>
                <a:ea typeface="Times New Roman"/>
                <a:cs typeface="Times New Roman"/>
                <a:sym typeface="Times New Roman"/>
              </a:rPr>
              <a:t>The number of I/O ports increases in going</a:t>
            </a:r>
            <a:endParaRPr/>
          </a:p>
          <a:p>
            <a:pPr indent="0" lvl="0" marL="0" rtl="0" algn="l">
              <a:lnSpc>
                <a:spcPct val="80000"/>
              </a:lnSpc>
              <a:spcBef>
                <a:spcPts val="279"/>
              </a:spcBef>
              <a:spcAft>
                <a:spcPts val="0"/>
              </a:spcAft>
              <a:buNone/>
            </a:pPr>
            <a:r>
              <a:rPr b="0" lang="en-US" sz="930">
                <a:solidFill>
                  <a:schemeClr val="dk1"/>
                </a:solidFill>
                <a:latin typeface="Times New Roman"/>
                <a:ea typeface="Times New Roman"/>
                <a:cs typeface="Times New Roman"/>
                <a:sym typeface="Times New Roman"/>
              </a:rPr>
              <a:t>from lower to higher family members.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Increasing memory size: </a:t>
            </a:r>
            <a:r>
              <a:rPr b="0" lang="en-US" sz="930">
                <a:solidFill>
                  <a:schemeClr val="dk1"/>
                </a:solidFill>
                <a:latin typeface="Times New Roman"/>
                <a:ea typeface="Times New Roman"/>
                <a:cs typeface="Times New Roman"/>
                <a:sym typeface="Times New Roman"/>
              </a:rPr>
              <a:t>The size of main memory increases in going from</a:t>
            </a:r>
            <a:endParaRPr/>
          </a:p>
          <a:p>
            <a:pPr indent="0" lvl="0" marL="0" rtl="0" algn="l">
              <a:lnSpc>
                <a:spcPct val="80000"/>
              </a:lnSpc>
              <a:spcBef>
                <a:spcPts val="279"/>
              </a:spcBef>
              <a:spcAft>
                <a:spcPts val="0"/>
              </a:spcAft>
              <a:buNone/>
            </a:pPr>
            <a:r>
              <a:rPr b="0" lang="en-US" sz="930">
                <a:solidFill>
                  <a:schemeClr val="dk1"/>
                </a:solidFill>
                <a:latin typeface="Times New Roman"/>
                <a:ea typeface="Times New Roman"/>
                <a:cs typeface="Times New Roman"/>
                <a:sym typeface="Times New Roman"/>
              </a:rPr>
              <a:t>lower to higher family members.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a:t>
            </a:r>
            <a:r>
              <a:rPr b="1" lang="en-US" sz="930">
                <a:solidFill>
                  <a:schemeClr val="dk1"/>
                </a:solidFill>
                <a:latin typeface="Times New Roman"/>
                <a:ea typeface="Times New Roman"/>
                <a:cs typeface="Times New Roman"/>
                <a:sym typeface="Times New Roman"/>
              </a:rPr>
              <a:t>Increasing cost: </a:t>
            </a:r>
            <a:r>
              <a:rPr b="0" lang="en-US" sz="930">
                <a:solidFill>
                  <a:schemeClr val="dk1"/>
                </a:solidFill>
                <a:latin typeface="Times New Roman"/>
                <a:ea typeface="Times New Roman"/>
                <a:cs typeface="Times New Roman"/>
                <a:sym typeface="Times New Roman"/>
              </a:rPr>
              <a:t>At a given point in time, the cost of a system increases in going</a:t>
            </a:r>
            <a:endParaRPr/>
          </a:p>
          <a:p>
            <a:pPr indent="0" lvl="0" marL="0" rtl="0" algn="l">
              <a:lnSpc>
                <a:spcPct val="80000"/>
              </a:lnSpc>
              <a:spcBef>
                <a:spcPts val="279"/>
              </a:spcBef>
              <a:spcAft>
                <a:spcPts val="0"/>
              </a:spcAft>
              <a:buNone/>
            </a:pPr>
            <a:r>
              <a:rPr b="0" lang="en-US" sz="930">
                <a:solidFill>
                  <a:schemeClr val="dk1"/>
                </a:solidFill>
                <a:latin typeface="Times New Roman"/>
                <a:ea typeface="Times New Roman"/>
                <a:cs typeface="Times New Roman"/>
                <a:sym typeface="Times New Roman"/>
              </a:rPr>
              <a:t>from lower to higher family members.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How could such a family concept be implemented? Differences were achieved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based on three factors: basic speed, size, and degree of simultaneity [STEV64]. For</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example, greater speed in the execution of a given instruction could be gained by</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 use of more complex circuitry in the ALU, allowing suboperations to be carried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out in parallel. Another way of increasing speed was to increase the width of the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data path between main memory and the CPU. On the Model 30, only 1 byte (8 bits)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could be fetched from main memory at a time, whereas 8 bytes could be fetched at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a time on the Model 75.</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 System/360 not only dictated the future course of IBM but also had a</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profound impact on the entire industry. Many of its features have become standard</a:t>
            </a:r>
            <a:endParaRPr sz="930"/>
          </a:p>
        </p:txBody>
      </p:sp>
      <p:sp>
        <p:nvSpPr>
          <p:cNvPr id="434" name="Google Shape;434;p2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42" name="Google Shape;442;p2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020">
                <a:solidFill>
                  <a:schemeClr val="dk1"/>
                </a:solidFill>
                <a:latin typeface="Times New Roman"/>
                <a:ea typeface="Times New Roman"/>
                <a:cs typeface="Times New Roman"/>
                <a:sym typeface="Times New Roman"/>
              </a:rPr>
              <a:t>In the same year that IBM shipped its first System/360,</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another momentous first shipment occurred: PDP-8 from Digital Equipment</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Corporation (DEC). At a time when the average computer required an air conditioned</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room, the PDP-8 (dubbed a minicomputer by the industry, after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miniskirt of the day) was small enough that it could be placed on top of a lab</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bench or be built into other equipment. It could not do everything the mainframe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could, but at $16,000, it was cheap enough for each lab technician to have one.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In contrast, the System/360 series of mainframe computers introduced just a few</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months before cost hundreds of thousands of dollars.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 low cost and small size of the PDP-8 enabled another manufacturer to</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purchase a PDP-8 and integrate it into a total system for resale. These other manufacturers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came to be known as </a:t>
            </a:r>
            <a:r>
              <a:rPr b="1" lang="en-US" sz="1020">
                <a:solidFill>
                  <a:schemeClr val="dk1"/>
                </a:solidFill>
                <a:latin typeface="Times New Roman"/>
                <a:ea typeface="Times New Roman"/>
                <a:cs typeface="Times New Roman"/>
                <a:sym typeface="Times New Roman"/>
              </a:rPr>
              <a:t>original equipment manufacturers (OEMs), </a:t>
            </a:r>
            <a:r>
              <a:rPr b="0" lang="en-US" sz="1020">
                <a:solidFill>
                  <a:schemeClr val="dk1"/>
                </a:solidFill>
                <a:latin typeface="Times New Roman"/>
                <a:ea typeface="Times New Roman"/>
                <a:cs typeface="Times New Roman"/>
                <a:sym typeface="Times New Roman"/>
              </a:rPr>
              <a:t>and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OEM market became and remains a major segment of the computer marketplace.</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 PDP-8 was an immediate hit and made DEC’s fortune. This machine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and other members of the PDP-8 family that followed it (see Table 2.5) achieved</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 production status formerly reserved for IBM computers, with about 50,000</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machines sold over the next dozen years. As DEC’s official history puts it,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PDP-8 “ established the concept of minicomputers, leading the way to a multibillion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dollar industry.” It also established DEC as the number one minicomputer vendor,</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and, by the time the PDP-8 had reached the end of its useful life, DEC was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number two computer manufacturer, behind IBM.</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t/>
            </a:r>
            <a:endParaRPr sz="1020"/>
          </a:p>
        </p:txBody>
      </p:sp>
      <p:sp>
        <p:nvSpPr>
          <p:cNvPr id="443" name="Google Shape;443;p2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452" name="Google Shape;452;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p2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In contrast to the central-switched architecture (Figure 2.5) used by IBM 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its 700/7000 and 360 systems, later models of the PDP-8 used a structure that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now virtually universal for microcomputers: the bus structure. This is illustrated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Figure 2.9. The PDP-8 bus, called the Omnibus, consists of 96 separate signal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paths, used to carry control, address, and data signals. Because all system components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share a common set of signal paths, their use can be controlled by the CPU.</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This architecture is highly flexible, allowing modules to be plugged into the bus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create various configurations.</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59" name="Google Shape;459;p2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Beyond the third generation there is less general agreement on defining generations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computers. Table 2.2 suggests that there have been a number of later generations,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based on advances in integrated circuit technology. With the introduction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large-scale integration (LSI), more than 1000 components can be placed on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single integrated circuit chip. Very-large-scale integration (VLSI) achieved more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than 10,000 components per chip, while current ultra-large-scale integration (ULSI)</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chips can contain more than one billion components.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With the rapid pace of technology, the high rate of introduction of new products,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the importance of software and communications as well as hardware,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classification by generation becomes less clear and less meaningful. It could be said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that the commercial application of new developments resulted in a major change in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early 1970s and that the results of these changes are still being worked out. In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this section, we mention two of the most important of these results.</a:t>
            </a:r>
            <a:endParaRPr/>
          </a:p>
        </p:txBody>
      </p:sp>
      <p:sp>
        <p:nvSpPr>
          <p:cNvPr id="460" name="Google Shape;460;p2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470" name="Google Shape;470;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first application of integrated circuit technology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computers was construction of the processor (the control unit and the arithmetic</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logic unit) out of integrated circuit chips. But it was also found that this same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technology could be used to construct memories.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the 1950s and 1960s, most computer memory was constructed from tiny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rings of ferromagnetic material, each about a sixteenth of an inch in diameter. These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rings were strung up on grids of fine wires suspended on small screens inside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computer. Magnetized one way, a ring (called a </a:t>
            </a:r>
            <a:r>
              <a:rPr i="1" lang="en-US" sz="1200">
                <a:solidFill>
                  <a:schemeClr val="dk1"/>
                </a:solidFill>
                <a:latin typeface="Times New Roman"/>
                <a:ea typeface="Times New Roman"/>
                <a:cs typeface="Times New Roman"/>
                <a:sym typeface="Times New Roman"/>
              </a:rPr>
              <a:t>core) represented a one; magnetized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other way, it stood for a zero. Magnetic-core memory was rather fast; it took 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little as a millionth of a second to read a bit stored in memory. But it was expensive,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bulky, and used destructive readout: The simple act of reading a core erased the data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stored in it. It was therefore necessary to install circuits to restore the data as soon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as it had been extracted.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Then, in 1970, Fairchild produced the first relatively capacious semiconductor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memory. This chip, about the size of a single core, could hold 256 bits of memory. It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was nondestructive and much faster than core. It took only 70 billionths of a second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read a bit. However, the cost per bit was higher than for that of core.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1974, a seminal event occurred: The price per bit of semiconductor memory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dropped below the price per bit of core memory. Following this, there has been a continuing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rapid decline in memory cost accompanied by a corresponding increase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physical memory density. This has led the way to smaller, faster machines with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memory sizes of larger and more expensive machines from just a few years earlier.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Developments in memory technology, together with developments in processor technology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be discussed next, changed the nature of computers in less than a decade.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Although bulky, expensive computers remain a part of the landscape, the computer has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also been brought out to the “end user,” with office machines and personal computers.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Since 1970, semiconductor memory has been through 13 generations: 1K, 4K,</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16K, 64K, 256K, 1M, 4M, 16M, 64M, 256M, 1G, 4G, and, as of this writing, 16 Gbits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 a single chip (1K = 2</a:t>
            </a:r>
            <a:r>
              <a:rPr baseline="30000" lang="en-US" sz="1200">
                <a:solidFill>
                  <a:schemeClr val="dk1"/>
                </a:solidFill>
                <a:latin typeface="Times New Roman"/>
                <a:ea typeface="Times New Roman"/>
                <a:cs typeface="Times New Roman"/>
                <a:sym typeface="Times New Roman"/>
              </a:rPr>
              <a:t>10</a:t>
            </a:r>
            <a:r>
              <a:rPr lang="en-US" sz="1200">
                <a:solidFill>
                  <a:schemeClr val="dk1"/>
                </a:solidFill>
                <a:latin typeface="Times New Roman"/>
                <a:ea typeface="Times New Roman"/>
                <a:cs typeface="Times New Roman"/>
                <a:sym typeface="Times New Roman"/>
              </a:rPr>
              <a:t>, 1M = 2</a:t>
            </a:r>
            <a:r>
              <a:rPr baseline="30000" lang="en-US" sz="1200">
                <a:solidFill>
                  <a:schemeClr val="dk1"/>
                </a:solidFill>
                <a:latin typeface="Times New Roman"/>
                <a:ea typeface="Times New Roman"/>
                <a:cs typeface="Times New Roman"/>
                <a:sym typeface="Times New Roman"/>
              </a:rPr>
              <a:t>20</a:t>
            </a:r>
            <a:r>
              <a:rPr lang="en-US" sz="1200">
                <a:solidFill>
                  <a:schemeClr val="dk1"/>
                </a:solidFill>
                <a:latin typeface="Times New Roman"/>
                <a:ea typeface="Times New Roman"/>
                <a:cs typeface="Times New Roman"/>
                <a:sym typeface="Times New Roman"/>
              </a:rPr>
              <a:t>, 1G = 2</a:t>
            </a:r>
            <a:r>
              <a:rPr baseline="30000" lang="en-US" sz="1200">
                <a:solidFill>
                  <a:schemeClr val="dk1"/>
                </a:solidFill>
                <a:latin typeface="Times New Roman"/>
                <a:ea typeface="Times New Roman"/>
                <a:cs typeface="Times New Roman"/>
                <a:sym typeface="Times New Roman"/>
              </a:rPr>
              <a:t>30</a:t>
            </a:r>
            <a:r>
              <a:rPr lang="en-US" sz="1200">
                <a:solidFill>
                  <a:schemeClr val="dk1"/>
                </a:solidFill>
                <a:latin typeface="Times New Roman"/>
                <a:ea typeface="Times New Roman"/>
                <a:cs typeface="Times New Roman"/>
                <a:sym typeface="Times New Roman"/>
              </a:rPr>
              <a:t>). Each generation has provided four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times the storage density of the previous generation, accompanied by declining cost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 bit and declining access time.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499" name="Google Shape;499;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p3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Just as the density of elements on memory chips has continued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rise, so has the density of elements on processor chips. As time went on, more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more elements were placed on each chip, so that fewer and fewer chips were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needed to construct a single computer processor.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breakthrough was achieved in 1971, when Intel developed its 4004.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4004 was the first chip to contain </a:t>
            </a:r>
            <a:r>
              <a:rPr i="1" lang="en-US" sz="1200">
                <a:solidFill>
                  <a:schemeClr val="dk1"/>
                </a:solidFill>
                <a:latin typeface="Times New Roman"/>
                <a:ea typeface="Times New Roman"/>
                <a:cs typeface="Times New Roman"/>
                <a:sym typeface="Times New Roman"/>
              </a:rPr>
              <a:t>all of the components of a CPU on a single chip:</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microprocessor was born.</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4004 can add two 4-bit numbers and can multiply only by repeated addition.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By today’s standards, the 4004 is hopelessly primitive, but it marked the beginning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continuing evolution of microprocessor capability and power.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This evolution can be seen most easily in the number of bits that the processor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deals with at a time. There is no clear-cut measure of this, but perhaps the best measure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is the data bus width: the number of bits of data that can be brought into or sent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out of the processor at a time. Another measure is the number of bits in the accumulator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or in the set of general-purpose registers. Often, these measures coincide, but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not always. For example, a number of microprocessors were developed that operate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 16-bit numbers in registers but can only read and write 8 bits at a time.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next major step in the evolution of the microprocessor was the introduction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1972 of the Intel 8008. This was the first 8-bit microprocessor and was almost twice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as complex as the 4004.</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Neither of these steps was to have the impact of the next major event: the introduction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1974 of the Intel 8080. This was the first general-purpose microprocessor.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Whereas the 4004 and the 8008 had been designed for specific applications, the 8080</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was designed to be the CPU of a general-purpose microcomputer. Like the 8008,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8080 is an 8-bit microprocessor. The 8080, however, is faster, has a richer instruction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set, and has a large addressing capability.</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07" name="Google Shape;507;p3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About the same time, 16-bit microprocessors began to be developed. However, it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was not until the end of the 1970s that powerful, general-purpose 16-bit microprocessors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appeared. One of these was the 8086. The next step in this trend occurred in 1981,</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when both Bell Labs and Hewlett-Packard developed 32-bit, single-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chip microprocessors. Intel introduced its own 32-bit microprocessor, the 80386, in 1985 (Table 2.6).</a:t>
            </a:r>
            <a:endParaRPr/>
          </a:p>
        </p:txBody>
      </p:sp>
      <p:sp>
        <p:nvSpPr>
          <p:cNvPr id="508" name="Google Shape;508;p3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17" name="Google Shape;517;p3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a:t>Table 2.6 (continued)</a:t>
            </a:r>
            <a:endParaRPr/>
          </a:p>
          <a:p>
            <a:pPr indent="0" lvl="0" marL="0" rtl="0" algn="l">
              <a:spcBef>
                <a:spcPts val="360"/>
              </a:spcBef>
              <a:spcAft>
                <a:spcPts val="0"/>
              </a:spcAft>
              <a:buNone/>
            </a:pPr>
            <a:r>
              <a:t/>
            </a:r>
            <a:endParaRPr/>
          </a:p>
        </p:txBody>
      </p:sp>
      <p:sp>
        <p:nvSpPr>
          <p:cNvPr id="518" name="Google Shape;518;p3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527" name="Google Shape;527;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8" name="Google Shape;528;p3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What gives Intel x86 processors or IBM mainframe computers such mind-boggling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power is the relentless pursuit of speed by processor chip manufacturers. The evolution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these machines continues to bear out Moore’s law, mentioned previously. So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long as this law holds, chipmakers can unleash a new generation of chips every three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years—with four times as many transistors. In memory chips, this has quadrupled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capacity of dynamic random-access memory (DRAM), still the basic technology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computer main memory, every three years. In microprocessors, the addition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new circuits, and the speed boost that comes from reducing the distances between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them, has improved performance four- or fivefold every three years or so since Intel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launched its x86 family in 1978.</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But the raw speed of the microprocessor will not achieve its potential unless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it is fed a constant stream of work to do in the form of computer instructions.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Anything that gets in the way of that smooth flow undermines the power of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 Accordingly, while the chipmakers have been busy learning how to fabricate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chips of greater and greater density, the processor designers must come up with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ever more elaborate techniques for feeding the monster. Among the techniques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built into contemporary processors are the following:</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1" lang="en-US" sz="1200">
                <a:solidFill>
                  <a:schemeClr val="dk1"/>
                </a:solidFill>
                <a:latin typeface="Times New Roman"/>
                <a:ea typeface="Times New Roman"/>
                <a:cs typeface="Times New Roman"/>
                <a:sym typeface="Times New Roman"/>
              </a:rPr>
              <a:t>Pipelining: With pipelining, a processor can simultaneously work on multiple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instructions. The processor overlaps operations by moving data or instructions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into a conceptual pipe with all stages of the pipe processing simultaneously.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For example, while one instruction is being executed, the computer is decoding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next instruction.</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Branch prediction: The processor looks ahead in the instruction code fetched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from memory and predicts which branches, or groups of instructions, are likely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be processed next. If the processor guesses right most of the time, it can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prefetch the correct instructions and buffer them so that the processor is kept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busy. The more sophisticated examples of this strategy predict not just the</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next branch but multiple branches ahead. Thus, branch prediction increases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amount of work available for the processor to execute.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Data flow analysis: The processor analyzes which instructions are dependent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on each other’s results, or data, to create an optimized schedule of instructions.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fact, instructions are scheduled to be executed when ready, independent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original program order. This prevents unnecessary delay.</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Speculative execution: Using branch prediction and data flow analysis, some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processors speculatively execute instructions ahead of their actual appearance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the program execution, holding the results in temporary locations.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This enables the processor to keep its execution engines as busy as possible by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Executing instructions that are likely to be needed.</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These and other sophisticated techniques are made necessary by the sheer power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the processor. They make it possible to exploit the raw speed of the processor.</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3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555" name="Google Shape;555;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6" name="Google Shape;556;p3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While processor power has raced ahead at breakneck speed, other critical components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of the computer have not kept up. The result is a need to look for performance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balance: an adjusting of the organization and architecture to compensate for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mismatch among the capabilities of the various components.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Nowhere is the problem created by such mismatches more critical than in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interface between processor and main memory. While processor speed has grown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rapidly, the speed with which data can be transferred between main memory and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 has lagged badly. The interface between processor and main memory 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most crucial pathway in the entire computer because it is responsible for carrying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constant flow of program instructions and data between memory chips and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 If memory or the pathway fails to keep pace with the processor’s insistent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demands, the processor stalls in a wait state, and valuable processing time is lost.</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system architect can attack this problem in a number of ways, all of which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are reflected in contemporary computer designs. Consider the following examples: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Increase the number of bits that are retrieved at one time by making DRAMs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“wider” rather than “deeper” and by using wide bus data paths.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Change the DRAM interface to make it more efficient by including a cache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or other buffering scheme on the DRAM chip.</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Reduce the frequency of memory access by incorporating increasingly complex</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efficient cache structures between the processor and main memory. This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includes the incorporation of one or more caches on the processor chip as well</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as on an off-chip cache close to the processor chip.</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Increase the interconnect bandwidth between processors and memory by using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higher-speed buses and a hierarchy of buses to buffer and structure data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flow.</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3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571" name="Google Shape;571;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2" name="Google Shape;572;p3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Another area of design focus is the handling of I/O devices. As computers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become faster and more capable, more sophisticated applications are developed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that support the use of peripherals with intensive I/O demands. Figure 2.10 gives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some examples of typical peripheral devices in use on personal computers and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workstations. These devices create tremendous data throughput demands. While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current generation of processors can handle the data pumped out by these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devices, there remains the problem of getting that data moved between processor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peripheral. Strategies here include caching and buffering schemes plus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use of higher-speed interconnection buses and more elaborate structures of buses.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addition, the use of multiple-processor configurations can aid in satisfying I/O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demands.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key in all this is balance. Designers constantly strive to balance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throughput and processing demands of the processor components, main memory,</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I/O devices, and the interconnection structures. This design must constantly be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rethought to cope with two constantly evolving factors: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The rate at which performance is changing in the various technology areas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(processor, buses, memory, peripherals) differs greatly from one type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element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to another.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New applications and new peripheral devices constantly change the nature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demand on the system in terms of typical instruction profile and the data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access patterns.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Thus, computer design is a constantly evolving art form. This book attempts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present the fundamentals on which this art form is based and to present a survey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current state of that art.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78" name="Google Shape;578;p3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As designers wrestle with the challenge of balancing processor performance with that</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of main memory and other computer components, the need to increase processor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speed remains. There are three approaches to achieving increased processor speed:</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Increase the hardware speed of the processor. This increase is fundamentally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due to shrinking the size of the logic gates on the processor chip, so that more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gates can be packed together more tightly and to increasing the clock rate.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With gates closer together, the propagation time for signals is significantly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reduced, enabling a speeding up of the processor. An increase in clock rate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means that individual operations are executed more rapidly.</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Increase the size and speed of caches that are interposed between the processor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and main memory. In particular, by dedicating a portion of the processor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chip itself to the cache, cache access times drop significantly.</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Make changes to the processor organization and architecture that increase the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effective speed of instruction execution. Typically, this involves using parallelism</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 one form or another.</a:t>
            </a:r>
            <a:endParaRPr/>
          </a:p>
        </p:txBody>
      </p:sp>
      <p:sp>
        <p:nvSpPr>
          <p:cNvPr id="579" name="Google Shape;579;p3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85" name="Google Shape;585;p3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Traditionally, the dominant factor in performance gains has been in increases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 clock speed due and logic density. However, as clock speed and logic density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increase, a number of obstacles become more significant [INTE04b]:</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Power: </a:t>
            </a:r>
            <a:r>
              <a:rPr b="0" lang="en-US" sz="1200">
                <a:solidFill>
                  <a:schemeClr val="dk1"/>
                </a:solidFill>
                <a:latin typeface="Times New Roman"/>
                <a:ea typeface="Times New Roman"/>
                <a:cs typeface="Times New Roman"/>
                <a:sym typeface="Times New Roman"/>
              </a:rPr>
              <a:t>As the density of logic and the clock speed on a chip increase, so does</a:t>
            </a:r>
            <a:endParaRPr/>
          </a:p>
          <a:p>
            <a:pPr indent="0" lvl="0" marL="0" rtl="0" algn="l">
              <a:lnSpc>
                <a:spcPct val="90000"/>
              </a:lnSpc>
              <a:spcBef>
                <a:spcPts val="360"/>
              </a:spcBef>
              <a:spcAft>
                <a:spcPts val="0"/>
              </a:spcAft>
              <a:buNone/>
            </a:pPr>
            <a:r>
              <a:rPr b="0" lang="en-US" sz="1200">
                <a:solidFill>
                  <a:schemeClr val="dk1"/>
                </a:solidFill>
                <a:latin typeface="Times New Roman"/>
                <a:ea typeface="Times New Roman"/>
                <a:cs typeface="Times New Roman"/>
                <a:sym typeface="Times New Roman"/>
              </a:rPr>
              <a:t>the power density (Watts/cm2). The difficulty of dissipating the heat generated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on high-density, high-speed chips is becoming a serious design issue [GIBB04,</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BORK03].</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RC delay: </a:t>
            </a:r>
            <a:r>
              <a:rPr b="0" lang="en-US" sz="1200">
                <a:solidFill>
                  <a:schemeClr val="dk1"/>
                </a:solidFill>
                <a:latin typeface="Times New Roman"/>
                <a:ea typeface="Times New Roman"/>
                <a:cs typeface="Times New Roman"/>
                <a:sym typeface="Times New Roman"/>
              </a:rPr>
              <a:t>The speed at which electrons can flow on a chip between transistors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is limited by the resistance and capacitance of the metal wires connecting</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them; specifically, delay increases as the RC product increases. As components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on the chip decrease in size, the wire interconnects become thinner, increasing</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resistance. Also, the wires are closer together, increasing capacitance.</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Memory latency: </a:t>
            </a:r>
            <a:r>
              <a:rPr b="0" lang="en-US" sz="1200">
                <a:solidFill>
                  <a:schemeClr val="dk1"/>
                </a:solidFill>
                <a:latin typeface="Times New Roman"/>
                <a:ea typeface="Times New Roman"/>
                <a:cs typeface="Times New Roman"/>
                <a:sym typeface="Times New Roman"/>
              </a:rPr>
              <a:t>Memory speeds lag processor speeds, as previously discussed.</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Thus, there will be more emphasis on organization and architectural approaches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to improving performance. These techniques are discussed in later chapters of the book.</a:t>
            </a:r>
            <a:endParaRPr/>
          </a:p>
        </p:txBody>
      </p:sp>
      <p:sp>
        <p:nvSpPr>
          <p:cNvPr id="586" name="Google Shape;586;p3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p3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592" name="Google Shape;592;p3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660">
                <a:solidFill>
                  <a:schemeClr val="dk1"/>
                </a:solidFill>
                <a:latin typeface="Times New Roman"/>
                <a:ea typeface="Times New Roman"/>
                <a:cs typeface="Times New Roman"/>
                <a:sym typeface="Times New Roman"/>
              </a:rPr>
              <a:t>Beginning in the late 1980s, and continuing for about 15 years, two main</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strategies have been used to increase performance beyond what can be achieved</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simply by increasing clock speed. First, there has been an increase in cache capacity.</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There are now typically two or three levels of cache between the processor and</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main memory. As chip density has increased, more of the cache memory has been</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incorporated on the chip, enabling faster cache access. For example, the original</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Pentium chip devoted about 10% of on-chip area to a cache. Contemporary chips</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devote over half of the chip area to caches.</a:t>
            </a:r>
            <a:endParaRPr/>
          </a:p>
          <a:p>
            <a:pPr indent="0" lvl="0" marL="0" rtl="0" algn="l">
              <a:lnSpc>
                <a:spcPct val="80000"/>
              </a:lnSpc>
              <a:spcBef>
                <a:spcPts val="198"/>
              </a:spcBef>
              <a:spcAft>
                <a:spcPts val="0"/>
              </a:spcAft>
              <a:buNone/>
            </a:pPr>
            <a:r>
              <a:t/>
            </a:r>
            <a:endParaRPr sz="660">
              <a:solidFill>
                <a:schemeClr val="dk1"/>
              </a:solidFill>
              <a:latin typeface="Times New Roman"/>
              <a:ea typeface="Times New Roman"/>
              <a:cs typeface="Times New Roman"/>
              <a:sym typeface="Times New Roman"/>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Second, the instruction execution logic within a processor has become increasingly</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complex to enable parallel execution of instructions within the processor. Two</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noteworthy design approaches have been pipelining and superscalar. A pipeline</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works much as an assembly line in a manufacturing plant enabling different stages</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of execution of different instructions to occur at the same time along the pipeline. A</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superscalar approach in essence allows multiple pipelines within a single processor</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so that instructions that do not depend on one another can be executed in parallel.</a:t>
            </a:r>
            <a:endParaRPr/>
          </a:p>
          <a:p>
            <a:pPr indent="0" lvl="0" marL="0" rtl="0" algn="l">
              <a:lnSpc>
                <a:spcPct val="80000"/>
              </a:lnSpc>
              <a:spcBef>
                <a:spcPts val="198"/>
              </a:spcBef>
              <a:spcAft>
                <a:spcPts val="0"/>
              </a:spcAft>
              <a:buNone/>
            </a:pPr>
            <a:r>
              <a:t/>
            </a:r>
            <a:endParaRPr sz="660">
              <a:solidFill>
                <a:schemeClr val="dk1"/>
              </a:solidFill>
              <a:latin typeface="Times New Roman"/>
              <a:ea typeface="Times New Roman"/>
              <a:cs typeface="Times New Roman"/>
              <a:sym typeface="Times New Roman"/>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By the mid to late 90s, both of these approaches were reaching a point of</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diminishing returns. The internal organization of contemporary processors is</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exceedingly complex and is able to squeeze a great deal of parallelism out of the</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instruction stream. It seems likely that further significant increases in this direction</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will be relatively modest [GIBB04]. With three levels of cache on the processor</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chip, each level providing substantial capacity, it also seems that the benefits from</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the cache are reaching a limit.</a:t>
            </a:r>
            <a:endParaRPr/>
          </a:p>
          <a:p>
            <a:pPr indent="0" lvl="0" marL="0" rtl="0" algn="l">
              <a:lnSpc>
                <a:spcPct val="80000"/>
              </a:lnSpc>
              <a:spcBef>
                <a:spcPts val="198"/>
              </a:spcBef>
              <a:spcAft>
                <a:spcPts val="0"/>
              </a:spcAft>
              <a:buNone/>
            </a:pPr>
            <a:r>
              <a:t/>
            </a:r>
            <a:endParaRPr sz="660">
              <a:solidFill>
                <a:schemeClr val="dk1"/>
              </a:solidFill>
              <a:latin typeface="Times New Roman"/>
              <a:ea typeface="Times New Roman"/>
              <a:cs typeface="Times New Roman"/>
              <a:sym typeface="Times New Roman"/>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However, simply relying on increasing clock rate for increased performance</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runs into the power dissipation problem already referred to. The faster the clock</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rate, the greater the amount of power to be dissipated, and some fundamental physical</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limits are being reached.</a:t>
            </a:r>
            <a:endParaRPr/>
          </a:p>
          <a:p>
            <a:pPr indent="0" lvl="0" marL="0" rtl="0" algn="l">
              <a:lnSpc>
                <a:spcPct val="80000"/>
              </a:lnSpc>
              <a:spcBef>
                <a:spcPts val="198"/>
              </a:spcBef>
              <a:spcAft>
                <a:spcPts val="0"/>
              </a:spcAft>
              <a:buNone/>
            </a:pPr>
            <a:r>
              <a:t/>
            </a:r>
            <a:endParaRPr sz="660">
              <a:solidFill>
                <a:schemeClr val="dk1"/>
              </a:solidFill>
              <a:latin typeface="Times New Roman"/>
              <a:ea typeface="Times New Roman"/>
              <a:cs typeface="Times New Roman"/>
              <a:sym typeface="Times New Roman"/>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Figure 2.11 illustrates the concepts we have been discussing. The top line</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shows that, as per Moore’s Law, the number of transistors on a single chip continues</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to grow exponentially. Meanwhile, the clock speed has leveled off, in order</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to prevent a further rise in power. To continue to increase performance, designers</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have had to find ways of exploiting the growing number of transistors other than</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simply building a more complex processor. The response in recent years has been</a:t>
            </a:r>
            <a:endParaRPr/>
          </a:p>
          <a:p>
            <a:pPr indent="0" lvl="0" marL="0" rtl="0" algn="l">
              <a:lnSpc>
                <a:spcPct val="80000"/>
              </a:lnSpc>
              <a:spcBef>
                <a:spcPts val="198"/>
              </a:spcBef>
              <a:spcAft>
                <a:spcPts val="0"/>
              </a:spcAft>
              <a:buNone/>
            </a:pPr>
            <a:r>
              <a:rPr lang="en-US" sz="660">
                <a:solidFill>
                  <a:schemeClr val="dk1"/>
                </a:solidFill>
                <a:latin typeface="Times New Roman"/>
                <a:ea typeface="Times New Roman"/>
                <a:cs typeface="Times New Roman"/>
                <a:sym typeface="Times New Roman"/>
              </a:rPr>
              <a:t>the development of the multicore computer chip.</a:t>
            </a:r>
            <a:endParaRPr sz="660"/>
          </a:p>
        </p:txBody>
      </p:sp>
      <p:sp>
        <p:nvSpPr>
          <p:cNvPr id="593" name="Google Shape;593;p3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00" name="Google Shape;600;p4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020">
                <a:solidFill>
                  <a:schemeClr val="dk1"/>
                </a:solidFill>
                <a:latin typeface="Times New Roman"/>
                <a:ea typeface="Times New Roman"/>
                <a:cs typeface="Times New Roman"/>
                <a:sym typeface="Times New Roman"/>
              </a:rPr>
              <a:t>With all of the difficulties cited in the preceding paragraphs in mind, designers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have turned to a fundamentally new approach to improving performance: placing</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multiple processors on the same chip, with a large shared cache. The use of multiple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processors on the same chip, also referred to as multiple cores, or </a:t>
            </a:r>
            <a:r>
              <a:rPr b="1" lang="en-US" sz="1020">
                <a:solidFill>
                  <a:schemeClr val="dk1"/>
                </a:solidFill>
                <a:latin typeface="Times New Roman"/>
                <a:ea typeface="Times New Roman"/>
                <a:cs typeface="Times New Roman"/>
                <a:sym typeface="Times New Roman"/>
              </a:rPr>
              <a:t>multicore,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provides the potential to increase performance without increasing the clock rate.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Studies indicate that, within a processor, the increase in performance is roughly</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proportional to the square root of the increase in complexity [BORK03]. But if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software can support the effective use of multiple processors, then doubling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number of processors almost doubles performance. Thus, the strategy is to use two</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simpler processors on the chip rather than one more complex processor.</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In addition, with two processors, larger caches are justified. This is important</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because the power consumption of memory logic on a chip is much less than that of</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processing logic.</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As the logic density on chips continues to rise, the trend to both more cores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and more cache on a single chip continues. Two-core chips were quickly followed</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by four-core chips, then 8, then 16, and so on. As the caches became larger, it made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performance sense to create two and then three levels of cache on a chip, with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first-level cache dedicated to an individual processor and levels two and three being</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shared by all the processors.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t/>
            </a:r>
            <a:endParaRPr sz="1020"/>
          </a:p>
        </p:txBody>
      </p:sp>
      <p:sp>
        <p:nvSpPr>
          <p:cNvPr id="601" name="Google Shape;601;p4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41:notes"/>
          <p:cNvSpPr txBox="1"/>
          <p:nvPr>
            <p:ph idx="1" type="body"/>
          </p:nvPr>
        </p:nvSpPr>
        <p:spPr>
          <a:xfrm>
            <a:off x="914400" y="4343400"/>
            <a:ext cx="5029200" cy="4114800"/>
          </a:xfrm>
          <a:prstGeom prst="rect">
            <a:avLst/>
          </a:prstGeom>
        </p:spPr>
        <p:txBody>
          <a:bodyPr anchorCtr="0" anchor="ctr" bIns="46800" lIns="90000" spcFirstLastPara="1" rIns="90000" wrap="square" tIns="46800">
            <a:noAutofit/>
          </a:bodyPr>
          <a:lstStyle/>
          <a:p>
            <a:pPr indent="0" lvl="0" marL="0" rtl="0" algn="l">
              <a:spcBef>
                <a:spcPts val="360"/>
              </a:spcBef>
              <a:spcAft>
                <a:spcPts val="0"/>
              </a:spcAft>
              <a:buNone/>
            </a:pPr>
            <a:r>
              <a:t/>
            </a:r>
            <a:endParaRPr/>
          </a:p>
        </p:txBody>
      </p:sp>
      <p:sp>
        <p:nvSpPr>
          <p:cNvPr id="629" name="Google Shape;629;p4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35" name="Google Shape;635;p4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Chip manufacturers are now in the process of making a huge leap forward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 the number of cores per chip, with more than 50 cores per chip. The leap in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performance as well as the challenges in developing software to exploit such a large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number of cores have led to the introduction of a new term: </a:t>
            </a:r>
            <a:r>
              <a:rPr b="1" lang="en-US" sz="1110">
                <a:solidFill>
                  <a:schemeClr val="dk1"/>
                </a:solidFill>
                <a:latin typeface="Times New Roman"/>
                <a:ea typeface="Times New Roman"/>
                <a:cs typeface="Times New Roman"/>
                <a:sym typeface="Times New Roman"/>
              </a:rPr>
              <a:t>many integrated core</a:t>
            </a:r>
            <a:endParaRPr/>
          </a:p>
          <a:p>
            <a:pPr indent="0" lvl="0" marL="0" rtl="0" algn="l">
              <a:lnSpc>
                <a:spcPct val="80000"/>
              </a:lnSpc>
              <a:spcBef>
                <a:spcPts val="333"/>
              </a:spcBef>
              <a:spcAft>
                <a:spcPts val="0"/>
              </a:spcAft>
              <a:buNone/>
            </a:pPr>
            <a:r>
              <a:rPr b="1" lang="en-US" sz="1110">
                <a:solidFill>
                  <a:schemeClr val="dk1"/>
                </a:solidFill>
                <a:latin typeface="Times New Roman"/>
                <a:ea typeface="Times New Roman"/>
                <a:cs typeface="Times New Roman"/>
                <a:sym typeface="Times New Roman"/>
              </a:rPr>
              <a:t>(MIC).</a:t>
            </a:r>
            <a:endParaRPr/>
          </a:p>
          <a:p>
            <a:pPr indent="0" lvl="0" marL="0" rtl="0" algn="l">
              <a:lnSpc>
                <a:spcPct val="80000"/>
              </a:lnSpc>
              <a:spcBef>
                <a:spcPts val="333"/>
              </a:spcBef>
              <a:spcAft>
                <a:spcPts val="0"/>
              </a:spcAft>
              <a:buNone/>
            </a:pPr>
            <a:r>
              <a:t/>
            </a:r>
            <a:endParaRPr b="1"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multicore and MIC strategy involves a homogeneous collection of</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general-purpose processors on a single chip. At the same time, chip manufacturers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are pursuing another design option: a chip with multiple general-purpose processors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plus </a:t>
            </a:r>
            <a:r>
              <a:rPr b="1" lang="en-US" sz="1110">
                <a:solidFill>
                  <a:schemeClr val="dk1"/>
                </a:solidFill>
                <a:latin typeface="Times New Roman"/>
                <a:ea typeface="Times New Roman"/>
                <a:cs typeface="Times New Roman"/>
                <a:sym typeface="Times New Roman"/>
              </a:rPr>
              <a:t>graphics processing units (GPUs) </a:t>
            </a:r>
            <a:r>
              <a:rPr b="0" lang="en-US" sz="1110">
                <a:solidFill>
                  <a:schemeClr val="dk1"/>
                </a:solidFill>
                <a:latin typeface="Times New Roman"/>
                <a:ea typeface="Times New Roman"/>
                <a:cs typeface="Times New Roman"/>
                <a:sym typeface="Times New Roman"/>
              </a:rPr>
              <a:t>and specialized cores for video processing</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and other tasks. In broad terms, a GPU is a core designed to perform parallel</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operations on graphics data. Traditionally found on a plug-in graphics card (display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adapter), it is used to encode and render 2D and 3D graphics as well as process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video.</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Since GPUs perform parallel operations on multiple sets of data, they are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increasingly being used as vector processors for a variety of applications that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require repetitive computations. This blurs the line between the GPU and the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CPU [FATA08, PROP11]. When a broad range of applications are supported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by such a processor, the term </a:t>
            </a:r>
            <a:r>
              <a:rPr b="1" lang="en-US" sz="1110">
                <a:solidFill>
                  <a:schemeClr val="dk1"/>
                </a:solidFill>
                <a:latin typeface="Times New Roman"/>
                <a:ea typeface="Times New Roman"/>
                <a:cs typeface="Times New Roman"/>
                <a:sym typeface="Times New Roman"/>
              </a:rPr>
              <a:t>general-purpose computing on GPUs (GPGPU)</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is used.</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We explore design characteristics of multicore computers in Chapter 18.</a:t>
            </a:r>
            <a:endParaRPr sz="1110"/>
          </a:p>
        </p:txBody>
      </p:sp>
      <p:sp>
        <p:nvSpPr>
          <p:cNvPr id="636" name="Google Shape;636;p4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45" name="Google Shape;645;p4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Throughout this book, we rely on many concrete examples of computer design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and implementation to illustrate concepts and to illuminate trade-offs. Numerous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systems, both contemporary and historical, provide examples of important computer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architecture design features. But the book relies on examples from two processor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families: the Intel x86 and the ARM architecture. The current x86 offerings represent</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the results of decades of design effort on complex instruction set computers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(CISCs). The x86 incorporates the sophisticated design principles once found only 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mainframes and supercomputers and serves as an excellent example of CISC design.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An alternative approach to processor design in the reduced instruction set computer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(RISC). The ARM architecture is used in a wide variety of embedded systems and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is one of the most powerful and best-designed RISC-based systems on the market.</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 this section and the next, we provide a brief overview of these two systems.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 terms of market share, Intel has ranked as the number one maker of microprocessors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for non-embedded systems for decades, a position it seems unlikely to</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yield. The evolution of its flagship microprocessor product serves as a good indicator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of the evolution of computer technology in general.</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Table 2.6 shows that evolution. Interestingly, as microprocessors have grown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faster and much more complex, Intel has actually picked up the pace. Intel used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to develop microprocessors one after another, every four years. But Intel hopes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to keep rivals at bay by trimming a year or two off this development time, and has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done so with the most recent x86 generations.</a:t>
            </a:r>
            <a:endParaRPr/>
          </a:p>
        </p:txBody>
      </p:sp>
      <p:sp>
        <p:nvSpPr>
          <p:cNvPr id="646" name="Google Shape;646;p4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57" name="Google Shape;657;p4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110">
                <a:solidFill>
                  <a:schemeClr val="dk1"/>
                </a:solidFill>
                <a:latin typeface="Times New Roman"/>
                <a:ea typeface="Times New Roman"/>
                <a:cs typeface="Times New Roman"/>
                <a:sym typeface="Times New Roman"/>
              </a:rPr>
              <a:t>It is worthwhile to list some of the highlights of the evolution of the Intel</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product line:</a:t>
            </a:r>
            <a:endParaRPr/>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 </a:t>
            </a:r>
            <a:r>
              <a:rPr b="1" lang="en-US" sz="1110">
                <a:solidFill>
                  <a:schemeClr val="dk1"/>
                </a:solidFill>
                <a:latin typeface="Times New Roman"/>
                <a:ea typeface="Times New Roman"/>
                <a:cs typeface="Times New Roman"/>
                <a:sym typeface="Times New Roman"/>
              </a:rPr>
              <a:t>8080: </a:t>
            </a:r>
            <a:r>
              <a:rPr b="0" lang="en-US" sz="1110">
                <a:solidFill>
                  <a:schemeClr val="dk1"/>
                </a:solidFill>
                <a:latin typeface="Times New Roman"/>
                <a:ea typeface="Times New Roman"/>
                <a:cs typeface="Times New Roman"/>
                <a:sym typeface="Times New Roman"/>
              </a:rPr>
              <a:t>The world’s first general-purpose microprocessor. This was an 8-bit</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machine, with an 8-bit data path to memory. The 8080 was used in the first</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personal computer, the Altair.</a:t>
            </a:r>
            <a:endParaRPr/>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 </a:t>
            </a:r>
            <a:r>
              <a:rPr b="1" lang="en-US" sz="1110">
                <a:solidFill>
                  <a:schemeClr val="dk1"/>
                </a:solidFill>
                <a:latin typeface="Times New Roman"/>
                <a:ea typeface="Times New Roman"/>
                <a:cs typeface="Times New Roman"/>
                <a:sym typeface="Times New Roman"/>
              </a:rPr>
              <a:t>8086: </a:t>
            </a:r>
            <a:r>
              <a:rPr b="0" lang="en-US" sz="1110">
                <a:solidFill>
                  <a:schemeClr val="dk1"/>
                </a:solidFill>
                <a:latin typeface="Times New Roman"/>
                <a:ea typeface="Times New Roman"/>
                <a:cs typeface="Times New Roman"/>
                <a:sym typeface="Times New Roman"/>
              </a:rPr>
              <a:t>A far more powerful, 16-bit machine. In addition to a wider data path</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and larger registers, the 8086 sported an instruction cache, or queue, that</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prefetches a few instructions before they are executed. A variant of this</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processor, the 8088, was used in IBM’s first personal computer, securing the</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success of Intel. The 8086 is the first appearance of the x86 architecture.</a:t>
            </a:r>
            <a:endParaRPr/>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 </a:t>
            </a:r>
            <a:r>
              <a:rPr b="1" lang="en-US" sz="1110">
                <a:solidFill>
                  <a:schemeClr val="dk1"/>
                </a:solidFill>
                <a:latin typeface="Times New Roman"/>
                <a:ea typeface="Times New Roman"/>
                <a:cs typeface="Times New Roman"/>
                <a:sym typeface="Times New Roman"/>
              </a:rPr>
              <a:t>80286: </a:t>
            </a:r>
            <a:r>
              <a:rPr b="0" lang="en-US" sz="1110">
                <a:solidFill>
                  <a:schemeClr val="dk1"/>
                </a:solidFill>
                <a:latin typeface="Times New Roman"/>
                <a:ea typeface="Times New Roman"/>
                <a:cs typeface="Times New Roman"/>
                <a:sym typeface="Times New Roman"/>
              </a:rPr>
              <a:t>This extension of the 8086 enabled addressing a 16-MByte memory</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instead of just 1 MByte.</a:t>
            </a:r>
            <a:endParaRPr/>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 </a:t>
            </a:r>
            <a:r>
              <a:rPr b="1" lang="en-US" sz="1110">
                <a:solidFill>
                  <a:schemeClr val="dk1"/>
                </a:solidFill>
                <a:latin typeface="Times New Roman"/>
                <a:ea typeface="Times New Roman"/>
                <a:cs typeface="Times New Roman"/>
                <a:sym typeface="Times New Roman"/>
              </a:rPr>
              <a:t>80386: </a:t>
            </a:r>
            <a:r>
              <a:rPr b="0" lang="en-US" sz="1110">
                <a:solidFill>
                  <a:schemeClr val="dk1"/>
                </a:solidFill>
                <a:latin typeface="Times New Roman"/>
                <a:ea typeface="Times New Roman"/>
                <a:cs typeface="Times New Roman"/>
                <a:sym typeface="Times New Roman"/>
              </a:rPr>
              <a:t>Intel’s first 32-bit machine, and a major overhaul of the product.</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With a 32-bit architecture, the 80386 rivaled the complexity and power of</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minicomputers and mainframes introduced just a few years earlier. This was</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the first Intel processor to support multitasking, meaning it could run multiple</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programs at the same time.</a:t>
            </a:r>
            <a:endParaRPr/>
          </a:p>
          <a:p>
            <a:pPr indent="0" lvl="0" marL="0" rtl="0" algn="l">
              <a:lnSpc>
                <a:spcPct val="9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90000"/>
              </a:lnSpc>
              <a:spcBef>
                <a:spcPts val="333"/>
              </a:spcBef>
              <a:spcAft>
                <a:spcPts val="0"/>
              </a:spcAft>
              <a:buNone/>
            </a:pPr>
            <a:r>
              <a:rPr b="1" lang="en-US" sz="1110">
                <a:solidFill>
                  <a:schemeClr val="dk1"/>
                </a:solidFill>
                <a:latin typeface="Times New Roman"/>
                <a:ea typeface="Times New Roman"/>
                <a:cs typeface="Times New Roman"/>
                <a:sym typeface="Times New Roman"/>
              </a:rPr>
              <a:t>80486: </a:t>
            </a:r>
            <a:r>
              <a:rPr b="0" lang="en-US" sz="1110">
                <a:solidFill>
                  <a:schemeClr val="dk1"/>
                </a:solidFill>
                <a:latin typeface="Times New Roman"/>
                <a:ea typeface="Times New Roman"/>
                <a:cs typeface="Times New Roman"/>
                <a:sym typeface="Times New Roman"/>
              </a:rPr>
              <a:t>The 80486 introduced the use of much more sophisticated and powerful</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cache technology and sophisticated instruction pipelining. The 80486 also</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offered a built-in math coprocessor, offloading complex math operations from</a:t>
            </a:r>
            <a:endParaRPr/>
          </a:p>
          <a:p>
            <a:pPr indent="0" lvl="0" marL="0" rtl="0" algn="l">
              <a:lnSpc>
                <a:spcPct val="90000"/>
              </a:lnSpc>
              <a:spcBef>
                <a:spcPts val="333"/>
              </a:spcBef>
              <a:spcAft>
                <a:spcPts val="0"/>
              </a:spcAft>
              <a:buNone/>
            </a:pPr>
            <a:r>
              <a:rPr lang="en-US" sz="1110">
                <a:solidFill>
                  <a:schemeClr val="dk1"/>
                </a:solidFill>
                <a:latin typeface="Times New Roman"/>
                <a:ea typeface="Times New Roman"/>
                <a:cs typeface="Times New Roman"/>
                <a:sym typeface="Times New Roman"/>
              </a:rPr>
              <a:t>the main CPU.</a:t>
            </a:r>
            <a:endParaRPr sz="1110"/>
          </a:p>
        </p:txBody>
      </p:sp>
      <p:sp>
        <p:nvSpPr>
          <p:cNvPr id="658" name="Google Shape;658;p4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4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67" name="Google Shape;667;p4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lt1"/>
                </a:solidFill>
                <a:latin typeface="Times New Roman"/>
                <a:ea typeface="Times New Roman"/>
                <a:cs typeface="Times New Roman"/>
                <a:sym typeface="Times New Roman"/>
              </a:rPr>
              <a:t>• </a:t>
            </a:r>
            <a:r>
              <a:rPr b="1" lang="en-US" sz="1110">
                <a:solidFill>
                  <a:schemeClr val="lt1"/>
                </a:solidFill>
                <a:latin typeface="Times New Roman"/>
                <a:ea typeface="Times New Roman"/>
                <a:cs typeface="Times New Roman"/>
                <a:sym typeface="Times New Roman"/>
              </a:rPr>
              <a:t>Pentium: </a:t>
            </a:r>
            <a:r>
              <a:rPr b="0" lang="en-US" sz="1110">
                <a:solidFill>
                  <a:schemeClr val="lt1"/>
                </a:solidFill>
                <a:latin typeface="Times New Roman"/>
                <a:ea typeface="Times New Roman"/>
                <a:cs typeface="Times New Roman"/>
                <a:sym typeface="Times New Roman"/>
              </a:rPr>
              <a:t>With the Pentium, Intel introduced the use of superscalar techniques,</a:t>
            </a:r>
            <a:endParaRPr/>
          </a:p>
          <a:p>
            <a:pPr indent="0" lvl="0" marL="0" rtl="0" algn="l">
              <a:lnSpc>
                <a:spcPct val="80000"/>
              </a:lnSpc>
              <a:spcBef>
                <a:spcPts val="333"/>
              </a:spcBef>
              <a:spcAft>
                <a:spcPts val="0"/>
              </a:spcAft>
              <a:buNone/>
            </a:pPr>
            <a:r>
              <a:rPr b="0" lang="en-US" sz="1110">
                <a:solidFill>
                  <a:schemeClr val="lt1"/>
                </a:solidFill>
                <a:latin typeface="Times New Roman"/>
                <a:ea typeface="Times New Roman"/>
                <a:cs typeface="Times New Roman"/>
                <a:sym typeface="Times New Roman"/>
              </a:rPr>
              <a:t>which allow multiple instructions to execute in parallel.</a:t>
            </a:r>
            <a:endParaRPr/>
          </a:p>
          <a:p>
            <a:pPr indent="0" lvl="0" marL="0" rtl="0" algn="l">
              <a:lnSpc>
                <a:spcPct val="80000"/>
              </a:lnSpc>
              <a:spcBef>
                <a:spcPts val="333"/>
              </a:spcBef>
              <a:spcAft>
                <a:spcPts val="0"/>
              </a:spcAft>
              <a:buNone/>
            </a:pPr>
            <a:r>
              <a:t/>
            </a:r>
            <a:endParaRPr sz="1110">
              <a:solidFill>
                <a:schemeClr val="lt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 </a:t>
            </a:r>
            <a:r>
              <a:rPr b="1" lang="en-US" sz="1110">
                <a:solidFill>
                  <a:schemeClr val="lt1"/>
                </a:solidFill>
                <a:latin typeface="Times New Roman"/>
                <a:ea typeface="Times New Roman"/>
                <a:cs typeface="Times New Roman"/>
                <a:sym typeface="Times New Roman"/>
              </a:rPr>
              <a:t>Pentium Pro: </a:t>
            </a:r>
            <a:r>
              <a:rPr b="0" lang="en-US" sz="1110">
                <a:solidFill>
                  <a:schemeClr val="lt1"/>
                </a:solidFill>
                <a:latin typeface="Times New Roman"/>
                <a:ea typeface="Times New Roman"/>
                <a:cs typeface="Times New Roman"/>
                <a:sym typeface="Times New Roman"/>
              </a:rPr>
              <a:t>The Pentium Pro continued the move into superscalar organization</a:t>
            </a:r>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begun with the Pentium, with aggressive use of register renaming, branch</a:t>
            </a:r>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prediction, data flow analysis, and speculative execution.</a:t>
            </a:r>
            <a:endParaRPr/>
          </a:p>
          <a:p>
            <a:pPr indent="0" lvl="0" marL="0" rtl="0" algn="l">
              <a:lnSpc>
                <a:spcPct val="80000"/>
              </a:lnSpc>
              <a:spcBef>
                <a:spcPts val="333"/>
              </a:spcBef>
              <a:spcAft>
                <a:spcPts val="0"/>
              </a:spcAft>
              <a:buNone/>
            </a:pPr>
            <a:r>
              <a:t/>
            </a:r>
            <a:endParaRPr sz="1110">
              <a:solidFill>
                <a:schemeClr val="lt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 </a:t>
            </a:r>
            <a:r>
              <a:rPr b="1" lang="en-US" sz="1110">
                <a:solidFill>
                  <a:schemeClr val="lt1"/>
                </a:solidFill>
                <a:latin typeface="Times New Roman"/>
                <a:ea typeface="Times New Roman"/>
                <a:cs typeface="Times New Roman"/>
                <a:sym typeface="Times New Roman"/>
              </a:rPr>
              <a:t>Pentium II : </a:t>
            </a:r>
            <a:r>
              <a:rPr b="0" lang="en-US" sz="1110">
                <a:solidFill>
                  <a:schemeClr val="lt1"/>
                </a:solidFill>
                <a:latin typeface="Times New Roman"/>
                <a:ea typeface="Times New Roman"/>
                <a:cs typeface="Times New Roman"/>
                <a:sym typeface="Times New Roman"/>
              </a:rPr>
              <a:t>The Pentium II incorporated Intel MMX technology, which is</a:t>
            </a:r>
            <a:endParaRPr/>
          </a:p>
          <a:p>
            <a:pPr indent="0" lvl="0" marL="0" rtl="0" algn="l">
              <a:lnSpc>
                <a:spcPct val="80000"/>
              </a:lnSpc>
              <a:spcBef>
                <a:spcPts val="333"/>
              </a:spcBef>
              <a:spcAft>
                <a:spcPts val="0"/>
              </a:spcAft>
              <a:buNone/>
            </a:pPr>
            <a:r>
              <a:rPr b="0" lang="en-US" sz="1110">
                <a:solidFill>
                  <a:schemeClr val="lt1"/>
                </a:solidFill>
                <a:latin typeface="Times New Roman"/>
                <a:ea typeface="Times New Roman"/>
                <a:cs typeface="Times New Roman"/>
                <a:sym typeface="Times New Roman"/>
              </a:rPr>
              <a:t>designed specifically to process video, audio, and graphics data efficiently.</a:t>
            </a:r>
            <a:endParaRPr/>
          </a:p>
          <a:p>
            <a:pPr indent="0" lvl="0" marL="0" rtl="0" algn="l">
              <a:lnSpc>
                <a:spcPct val="80000"/>
              </a:lnSpc>
              <a:spcBef>
                <a:spcPts val="333"/>
              </a:spcBef>
              <a:spcAft>
                <a:spcPts val="0"/>
              </a:spcAft>
              <a:buNone/>
            </a:pPr>
            <a:r>
              <a:t/>
            </a:r>
            <a:endParaRPr sz="1110">
              <a:solidFill>
                <a:schemeClr val="lt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 </a:t>
            </a:r>
            <a:r>
              <a:rPr b="1" lang="en-US" sz="1110">
                <a:solidFill>
                  <a:schemeClr val="lt1"/>
                </a:solidFill>
                <a:latin typeface="Times New Roman"/>
                <a:ea typeface="Times New Roman"/>
                <a:cs typeface="Times New Roman"/>
                <a:sym typeface="Times New Roman"/>
              </a:rPr>
              <a:t>Pentium III : </a:t>
            </a:r>
            <a:r>
              <a:rPr b="0" lang="en-US" sz="1110">
                <a:solidFill>
                  <a:schemeClr val="lt1"/>
                </a:solidFill>
                <a:latin typeface="Times New Roman"/>
                <a:ea typeface="Times New Roman"/>
                <a:cs typeface="Times New Roman"/>
                <a:sym typeface="Times New Roman"/>
              </a:rPr>
              <a:t>The Pentium III incorporates additional floating-point instructions</a:t>
            </a:r>
            <a:endParaRPr/>
          </a:p>
          <a:p>
            <a:pPr indent="0" lvl="0" marL="0" rtl="0" algn="l">
              <a:lnSpc>
                <a:spcPct val="80000"/>
              </a:lnSpc>
              <a:spcBef>
                <a:spcPts val="333"/>
              </a:spcBef>
              <a:spcAft>
                <a:spcPts val="0"/>
              </a:spcAft>
              <a:buNone/>
            </a:pPr>
            <a:r>
              <a:rPr b="0" lang="en-US" sz="1110">
                <a:solidFill>
                  <a:schemeClr val="lt1"/>
                </a:solidFill>
                <a:latin typeface="Times New Roman"/>
                <a:ea typeface="Times New Roman"/>
                <a:cs typeface="Times New Roman"/>
                <a:sym typeface="Times New Roman"/>
              </a:rPr>
              <a:t>to support 3D graphics software.</a:t>
            </a:r>
            <a:endParaRPr/>
          </a:p>
          <a:p>
            <a:pPr indent="0" lvl="0" marL="0" rtl="0" algn="l">
              <a:lnSpc>
                <a:spcPct val="80000"/>
              </a:lnSpc>
              <a:spcBef>
                <a:spcPts val="333"/>
              </a:spcBef>
              <a:spcAft>
                <a:spcPts val="0"/>
              </a:spcAft>
              <a:buNone/>
            </a:pPr>
            <a:r>
              <a:t/>
            </a:r>
            <a:endParaRPr sz="1110">
              <a:solidFill>
                <a:schemeClr val="lt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 </a:t>
            </a:r>
            <a:r>
              <a:rPr b="1" lang="en-US" sz="1110">
                <a:solidFill>
                  <a:schemeClr val="lt1"/>
                </a:solidFill>
                <a:latin typeface="Times New Roman"/>
                <a:ea typeface="Times New Roman"/>
                <a:cs typeface="Times New Roman"/>
                <a:sym typeface="Times New Roman"/>
              </a:rPr>
              <a:t>Pentium 4: </a:t>
            </a:r>
            <a:r>
              <a:rPr b="0" lang="en-US" sz="1110">
                <a:solidFill>
                  <a:schemeClr val="lt1"/>
                </a:solidFill>
                <a:latin typeface="Times New Roman"/>
                <a:ea typeface="Times New Roman"/>
                <a:cs typeface="Times New Roman"/>
                <a:sym typeface="Times New Roman"/>
              </a:rPr>
              <a:t>The Pentium 4 includes additional floating-point and other</a:t>
            </a:r>
            <a:endParaRPr/>
          </a:p>
          <a:p>
            <a:pPr indent="0" lvl="0" marL="0" rtl="0" algn="l">
              <a:lnSpc>
                <a:spcPct val="80000"/>
              </a:lnSpc>
              <a:spcBef>
                <a:spcPts val="333"/>
              </a:spcBef>
              <a:spcAft>
                <a:spcPts val="0"/>
              </a:spcAft>
              <a:buNone/>
            </a:pPr>
            <a:r>
              <a:rPr lang="en-US" sz="1110">
                <a:solidFill>
                  <a:schemeClr val="lt1"/>
                </a:solidFill>
                <a:latin typeface="Times New Roman"/>
                <a:ea typeface="Times New Roman"/>
                <a:cs typeface="Times New Roman"/>
                <a:sym typeface="Times New Roman"/>
              </a:rPr>
              <a:t>enhancements for multimedia.</a:t>
            </a:r>
            <a:endParaRPr sz="1110"/>
          </a:p>
        </p:txBody>
      </p:sp>
      <p:sp>
        <p:nvSpPr>
          <p:cNvPr id="668" name="Google Shape;668;p4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95" name="Google Shape;695;p4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b="1" lang="en-US" sz="1110">
                <a:solidFill>
                  <a:schemeClr val="dk1"/>
                </a:solidFill>
                <a:latin typeface="Times New Roman"/>
                <a:ea typeface="Times New Roman"/>
                <a:cs typeface="Times New Roman"/>
                <a:sym typeface="Times New Roman"/>
              </a:rPr>
              <a:t>Core: </a:t>
            </a:r>
            <a:r>
              <a:rPr b="0" lang="en-US" sz="1110">
                <a:solidFill>
                  <a:schemeClr val="dk1"/>
                </a:solidFill>
                <a:latin typeface="Times New Roman"/>
                <a:ea typeface="Times New Roman"/>
                <a:cs typeface="Times New Roman"/>
                <a:sym typeface="Times New Roman"/>
              </a:rPr>
              <a:t>This is the first Intel x86 microprocessor with a dual core, referring to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implementation of two processors on a single chip.</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 </a:t>
            </a:r>
            <a:r>
              <a:rPr b="1" lang="en-US" sz="1110">
                <a:solidFill>
                  <a:schemeClr val="dk1"/>
                </a:solidFill>
                <a:latin typeface="Times New Roman"/>
                <a:ea typeface="Times New Roman"/>
                <a:cs typeface="Times New Roman"/>
                <a:sym typeface="Times New Roman"/>
              </a:rPr>
              <a:t>Core 2: </a:t>
            </a:r>
            <a:r>
              <a:rPr b="0" lang="en-US" sz="1110">
                <a:solidFill>
                  <a:schemeClr val="dk1"/>
                </a:solidFill>
                <a:latin typeface="Times New Roman"/>
                <a:ea typeface="Times New Roman"/>
                <a:cs typeface="Times New Roman"/>
                <a:sym typeface="Times New Roman"/>
              </a:rPr>
              <a:t>The Core 2 extends the architecture to 64 bits. The Core 2 Quad provides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four processors on a single chip. More recent Core offerings have up to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10 processors per chip.</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Over 30 years after its introduction in 1978, the x86 architecture continues to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dominate the processor market outside of embedded systems. Although the organization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and technology of the x86 machines have changed dramatically over the decades,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instruction set architecture has evolved to remain backward compatible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with earlier versions. Thus, any program written on an older version of the x86 architecture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can execute on newer versions. All changes to the instruction set architecture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have involved additions to the instruction set, with no subtractions. The rate of</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change has been the addition of roughly one instruction per month added to the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architecture over the 30 years [ANTH08], so that there are now over 500 instructions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 the instruction set.</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x86 provides an excellent illustration of the advances in computer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hardware over the past 30 years. The 1978 8086 was introduced with a clock speed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of 5 MHz and had 29,000 transistors. A quad-core Intel Core 2 introduced in 2008</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operates at 3 GHz, a speedup of a factor of 600, and has 820 million transistors,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about 28,000 times as many as the 8086. Yet the Core 2 is in only a slightly larger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package than the 8086 and has a comparable cost.</a:t>
            </a:r>
            <a:endParaRPr sz="1110"/>
          </a:p>
        </p:txBody>
      </p:sp>
      <p:sp>
        <p:nvSpPr>
          <p:cNvPr id="696" name="Google Shape;696;p4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4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07" name="Google Shape;707;p4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The term </a:t>
            </a:r>
            <a:r>
              <a:rPr i="1" lang="en-US" sz="1110">
                <a:solidFill>
                  <a:schemeClr val="dk1"/>
                </a:solidFill>
                <a:latin typeface="Times New Roman"/>
                <a:ea typeface="Times New Roman"/>
                <a:cs typeface="Times New Roman"/>
                <a:sym typeface="Times New Roman"/>
              </a:rPr>
              <a:t>embedded system </a:t>
            </a:r>
            <a:r>
              <a:rPr i="0" lang="en-US" sz="1110">
                <a:solidFill>
                  <a:schemeClr val="dk1"/>
                </a:solidFill>
                <a:latin typeface="Times New Roman"/>
                <a:ea typeface="Times New Roman"/>
                <a:cs typeface="Times New Roman"/>
                <a:sym typeface="Times New Roman"/>
              </a:rPr>
              <a:t>refers to the use of </a:t>
            </a:r>
            <a:r>
              <a:rPr i="1" lang="en-US" sz="1110">
                <a:solidFill>
                  <a:schemeClr val="dk1"/>
                </a:solidFill>
                <a:latin typeface="Times New Roman"/>
                <a:ea typeface="Times New Roman"/>
                <a:cs typeface="Times New Roman"/>
                <a:sym typeface="Times New Roman"/>
              </a:rPr>
              <a:t>electronics and software within a</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product, as opposed to a general-purpose computer, such as a laptop or desktop</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system. The following is a good general definition:</a:t>
            </a:r>
            <a:endParaRPr/>
          </a:p>
          <a:p>
            <a:pPr indent="0" lvl="0" marL="0" rtl="0" algn="l">
              <a:lnSpc>
                <a:spcPct val="80000"/>
              </a:lnSpc>
              <a:spcBef>
                <a:spcPts val="333"/>
              </a:spcBef>
              <a:spcAft>
                <a:spcPts val="0"/>
              </a:spcAft>
              <a:buNone/>
            </a:pPr>
            <a:r>
              <a:t/>
            </a:r>
            <a:endParaRPr b="1"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b="1" lang="en-US" sz="1110">
                <a:solidFill>
                  <a:schemeClr val="dk1"/>
                </a:solidFill>
                <a:latin typeface="Times New Roman"/>
                <a:ea typeface="Times New Roman"/>
                <a:cs typeface="Times New Roman"/>
                <a:sym typeface="Times New Roman"/>
              </a:rPr>
              <a:t>Embedded system. </a:t>
            </a:r>
            <a:r>
              <a:rPr b="0" lang="en-US" sz="1110">
                <a:solidFill>
                  <a:schemeClr val="dk1"/>
                </a:solidFill>
                <a:latin typeface="Times New Roman"/>
                <a:ea typeface="Times New Roman"/>
                <a:cs typeface="Times New Roman"/>
                <a:sym typeface="Times New Roman"/>
              </a:rPr>
              <a:t>A combination of computer hardware and software, and perhaps</a:t>
            </a:r>
            <a:endParaRPr/>
          </a:p>
          <a:p>
            <a:pPr indent="0" lvl="0" marL="0" rtl="0" algn="l">
              <a:lnSpc>
                <a:spcPct val="80000"/>
              </a:lnSpc>
              <a:spcBef>
                <a:spcPts val="333"/>
              </a:spcBef>
              <a:spcAft>
                <a:spcPts val="0"/>
              </a:spcAft>
              <a:buNone/>
            </a:pPr>
            <a:r>
              <a:rPr b="0" lang="en-US" sz="1110">
                <a:solidFill>
                  <a:schemeClr val="dk1"/>
                </a:solidFill>
                <a:latin typeface="Times New Roman"/>
                <a:ea typeface="Times New Roman"/>
                <a:cs typeface="Times New Roman"/>
                <a:sym typeface="Times New Roman"/>
              </a:rPr>
              <a:t>additional mechanical or other parts, designed to perform a dedicated function. In many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cases, embedded systems are part of a larger system or product, as in the case of an antilock</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braking system in a car.</a:t>
            </a:r>
            <a:endParaRPr sz="1110"/>
          </a:p>
        </p:txBody>
      </p:sp>
      <p:sp>
        <p:nvSpPr>
          <p:cNvPr id="708" name="Google Shape;708;p4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p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17" name="Google Shape;717;p4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Embedded systems far outnumber general-purpose computer systems, encompassing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broad range of applications (Table 2.7).</a:t>
            </a:r>
            <a:endParaRPr/>
          </a:p>
        </p:txBody>
      </p:sp>
      <p:sp>
        <p:nvSpPr>
          <p:cNvPr id="718" name="Google Shape;718;p4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p4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26" name="Google Shape;726;p4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930">
                <a:solidFill>
                  <a:schemeClr val="dk1"/>
                </a:solidFill>
                <a:latin typeface="Times New Roman"/>
                <a:ea typeface="Times New Roman"/>
                <a:cs typeface="Times New Roman"/>
                <a:sym typeface="Times New Roman"/>
              </a:rPr>
              <a:t>These systems have widely varying</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requirements and constraints, such as the following [GRIM05]:</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Small to large systems, implying very different cost constraints, thus different</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needs for optimization and reuse</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Relaxed to very strict requirements and combinations of different quality</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requirements, for example, with respect to safety, reliability, real-time, and</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flexibility</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Short to long life times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Different environmental conditions in terms of, for example, radiation, vibrations,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and humidity</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Different application characteristics resulting in static versus dynamic loads,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slow to fast speed, compute versus interface intensive tasks, and/or combinations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thereof</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 Different models of computation ranging from discrete-event systems to those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involving continuous time dynamics (usually referred to as hybrid systems)</a:t>
            </a:r>
            <a:endParaRPr/>
          </a:p>
          <a:p>
            <a:pPr indent="0" lvl="0" marL="0" rtl="0" algn="l">
              <a:lnSpc>
                <a:spcPct val="80000"/>
              </a:lnSpc>
              <a:spcBef>
                <a:spcPts val="279"/>
              </a:spcBef>
              <a:spcAft>
                <a:spcPts val="0"/>
              </a:spcAft>
              <a:buNone/>
            </a:pPr>
            <a:r>
              <a:t/>
            </a:r>
            <a:endParaRPr sz="930">
              <a:solidFill>
                <a:schemeClr val="dk1"/>
              </a:solidFill>
              <a:latin typeface="Times New Roman"/>
              <a:ea typeface="Times New Roman"/>
              <a:cs typeface="Times New Roman"/>
              <a:sym typeface="Times New Roman"/>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Often, embedded systems are tightly coupled to their environment. This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can give rise to real-time constraints imposed by the need to interact with the</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environment. Constraints, such as required speeds of motion, required precision of</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measurement, and required time durations, dictate the timing of software operations.</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If multiple activities must be managed simultaneously, this imposes more complex</a:t>
            </a:r>
            <a:endParaRPr/>
          </a:p>
          <a:p>
            <a:pPr indent="0" lvl="0" marL="0" rtl="0" algn="l">
              <a:lnSpc>
                <a:spcPct val="80000"/>
              </a:lnSpc>
              <a:spcBef>
                <a:spcPts val="279"/>
              </a:spcBef>
              <a:spcAft>
                <a:spcPts val="0"/>
              </a:spcAft>
              <a:buNone/>
            </a:pPr>
            <a:r>
              <a:rPr lang="en-US" sz="930">
                <a:solidFill>
                  <a:schemeClr val="dk1"/>
                </a:solidFill>
                <a:latin typeface="Times New Roman"/>
                <a:ea typeface="Times New Roman"/>
                <a:cs typeface="Times New Roman"/>
                <a:sym typeface="Times New Roman"/>
              </a:rPr>
              <a:t>real-time constraints.</a:t>
            </a:r>
            <a:endParaRPr sz="930"/>
          </a:p>
        </p:txBody>
      </p:sp>
      <p:sp>
        <p:nvSpPr>
          <p:cNvPr id="727" name="Google Shape;727;p4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1" name="Shape 751"/>
        <p:cNvGrpSpPr/>
        <p:nvPr/>
      </p:nvGrpSpPr>
      <p:grpSpPr>
        <a:xfrm>
          <a:off x="0" y="0"/>
          <a:ext cx="0" cy="0"/>
          <a:chOff x="0" y="0"/>
          <a:chExt cx="0" cy="0"/>
        </a:xfrm>
      </p:grpSpPr>
      <p:sp>
        <p:nvSpPr>
          <p:cNvPr id="752" name="Google Shape;75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53" name="Google Shape;753;p5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Figure 2.12, based on [KOOP96], shows in general terms an embedded system</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organization. In addition to the processor and memory, there are a number of</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elements that differ from the typical desktop or laptop computer: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There may be a variety of interfaces that enable the system to measure,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Manipulate, and otherwise interact with the external environment.</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The human interface may be as simple as a flashing light or as complicated 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real-time robotic vision.</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76200" lvl="0" marL="0" rtl="0" algn="l">
              <a:spcBef>
                <a:spcPts val="360"/>
              </a:spcBef>
              <a:spcAft>
                <a:spcPts val="0"/>
              </a:spcAft>
              <a:buClr>
                <a:schemeClr val="dk1"/>
              </a:buClr>
              <a:buSzPts val="1200"/>
              <a:buFont typeface="Arial"/>
              <a:buChar char="•"/>
            </a:pPr>
            <a:r>
              <a:rPr lang="en-US" sz="1200">
                <a:solidFill>
                  <a:schemeClr val="dk1"/>
                </a:solidFill>
                <a:latin typeface="Times New Roman"/>
                <a:ea typeface="Times New Roman"/>
                <a:cs typeface="Times New Roman"/>
                <a:sym typeface="Times New Roman"/>
              </a:rPr>
              <a:t>The diagnostic port may be used for diagnosing the system that is being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controlled—not just for diagnosing the computer.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Special-purpose field programmable (FPGA), application specific (ASIC), 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even non-digital hardware may be used to increase performance or safety.</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Software often has a fixed function and is specific to the application.</a:t>
            </a:r>
            <a:endParaRPr/>
          </a:p>
        </p:txBody>
      </p:sp>
      <p:sp>
        <p:nvSpPr>
          <p:cNvPr id="754" name="Google Shape;754;p5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60" name="Google Shape;760;p5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ARM is a family of RISC-based microprocessors and microcontrollers designed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by ARM Inc., Cambridge, England. The company doesn’t make processors but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instead designs microprocessor and multicore architectures and licenses them to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manufacturers. ARM chips are high-speed processors that are known for their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small die size and low power requirements. They are widely used in PDAs and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other handheld devices, including games and phones as well as a large variety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of consumer products. ARM chips are the processors in Apple’s popular iPod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and iPhone devices. ARM is probably the most widely used embedded processor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architecture and indeed the most widely used processor architecture of any kind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 the world.</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origins of ARM technology can be traced back to the British-based Acorn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Computers company. In the early 1980s, Acorn was awarded a contract by the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British Broadcasting Corporation (BBC) to develop a new microcomputer architecture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for the BBC Computer Literacy Project. The success of this contract enabled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Acorn to go on to develop the first commercial RISC processor, the Acorn RISC</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Machine (ARM). The first version, ARM1, became operational in 1985 and was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used for internal research and development as well as being used as a coprocessor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 the BBC machine. Also in 1985, Acorn released the ARM2, which had greater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functionality and speed within the same physical space. Further improvements were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achieved with the release in 1989 of the ARM3.</a:t>
            </a:r>
            <a:endParaRPr sz="1110"/>
          </a:p>
        </p:txBody>
      </p:sp>
      <p:sp>
        <p:nvSpPr>
          <p:cNvPr id="761" name="Google Shape;761;p5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70" name="Google Shape;770;p5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Throughout this period, Acorn used the company VLSI Technology to do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actual fabrication of the processor chips. VLSI was licensed to market the chip 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its own and had some success in getting other companies to use the ARM in their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products, particularly as an embedded processor.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ARM design matched a growing commercial need for a high-performance,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low-power-consumption, small-size, and low-cost processor for embedded applications.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But further development was beyond the scope of Acorn’s capabilities.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Accordingly, a new company was organized, with Acorn, VLSI, and Apple Computer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as founding partners, known as ARM Ltd. The Acorn RISC Machine became the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Advanced RISC Machine. The new company’s first offering, an improvement on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the ARM3, was designated ARM6. Subsequently, the company has introduced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number of new families, with increasing functionality and performance.</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Table 2.8 shows some characteristics of the various ARM architecture families. The numbers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 this table are only approximate guides; actual values vary widely for different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implementations.</a:t>
            </a:r>
            <a:endParaRPr/>
          </a:p>
        </p:txBody>
      </p:sp>
      <p:sp>
        <p:nvSpPr>
          <p:cNvPr id="771" name="Google Shape;771;p5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78" name="Google Shape;778;p5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According to the ARM Web site arm.com, ARM processors are designed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meet the needs of three system categories: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Embedded real-time systems</a:t>
            </a:r>
            <a:r>
              <a:rPr b="0" lang="en-US" sz="1200">
                <a:solidFill>
                  <a:schemeClr val="dk1"/>
                </a:solidFill>
                <a:latin typeface="Times New Roman"/>
                <a:ea typeface="Times New Roman"/>
                <a:cs typeface="Times New Roman"/>
                <a:sym typeface="Times New Roman"/>
              </a:rPr>
              <a:t>: Systems for storage, automotive body and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power-train, industrial, and networking applications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Application platforms: </a:t>
            </a:r>
            <a:r>
              <a:rPr b="0" lang="en-US" sz="1200">
                <a:solidFill>
                  <a:schemeClr val="dk1"/>
                </a:solidFill>
                <a:latin typeface="Times New Roman"/>
                <a:ea typeface="Times New Roman"/>
                <a:cs typeface="Times New Roman"/>
                <a:sym typeface="Times New Roman"/>
              </a:rPr>
              <a:t>Devices running open operating systems including</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Linux, Palm OS, Symbian OS, and Windows CE in wireless, consumer entertainment</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digital imaging applications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Secure applications: </a:t>
            </a:r>
            <a:r>
              <a:rPr b="0" lang="en-US" sz="1200">
                <a:solidFill>
                  <a:schemeClr val="dk1"/>
                </a:solidFill>
                <a:latin typeface="Times New Roman"/>
                <a:ea typeface="Times New Roman"/>
                <a:cs typeface="Times New Roman"/>
                <a:sym typeface="Times New Roman"/>
              </a:rPr>
              <a:t>Smart cards, SIM cards, and payment terminals</a:t>
            </a:r>
            <a:endParaRPr b="0"/>
          </a:p>
        </p:txBody>
      </p:sp>
      <p:sp>
        <p:nvSpPr>
          <p:cNvPr id="779" name="Google Shape;779;p5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5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88" name="Google Shape;788;p54: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110">
                <a:solidFill>
                  <a:schemeClr val="dk1"/>
                </a:solidFill>
                <a:latin typeface="Times New Roman"/>
                <a:ea typeface="Times New Roman"/>
                <a:cs typeface="Times New Roman"/>
                <a:sym typeface="Times New Roman"/>
              </a:rPr>
              <a:t>Operations performed by a processor, such as fetching an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instruction, decoding the instruction, performing an arithmetic operation, and so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on, are governed by a system clock. Typically, all operations begin with the pulse of</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clock. Thus, at the most fundamental level, the speed of a processor is dictated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by the pulse frequency produced by the clock, measured in cycles per second, or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Hertz (Hz).</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Typically, clock signals are generated by a quartz crystal, which generates a</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constant signal wave while power is applied. This wave is converted into a digital</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voltage pulse stream that is provided in a constant flow to the processor circuitry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(Figure 2.13). For example, a 1-GHz processor receives 1 billion pulses per second.</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rate of pulses is known as the </a:t>
            </a:r>
            <a:r>
              <a:rPr b="1" lang="en-US" sz="1110">
                <a:solidFill>
                  <a:schemeClr val="dk1"/>
                </a:solidFill>
                <a:latin typeface="Times New Roman"/>
                <a:ea typeface="Times New Roman"/>
                <a:cs typeface="Times New Roman"/>
                <a:sym typeface="Times New Roman"/>
              </a:rPr>
              <a:t>clock rate, or clock speed. </a:t>
            </a:r>
            <a:r>
              <a:rPr b="0" lang="en-US" sz="1110">
                <a:solidFill>
                  <a:schemeClr val="dk1"/>
                </a:solidFill>
                <a:latin typeface="Times New Roman"/>
                <a:ea typeface="Times New Roman"/>
                <a:cs typeface="Times New Roman"/>
                <a:sym typeface="Times New Roman"/>
              </a:rPr>
              <a:t>One increment, or</a:t>
            </a:r>
            <a:endParaRPr/>
          </a:p>
          <a:p>
            <a:pPr indent="0" lvl="0" marL="0" rtl="0" algn="l">
              <a:lnSpc>
                <a:spcPct val="80000"/>
              </a:lnSpc>
              <a:spcBef>
                <a:spcPts val="333"/>
              </a:spcBef>
              <a:spcAft>
                <a:spcPts val="0"/>
              </a:spcAft>
              <a:buNone/>
            </a:pPr>
            <a:r>
              <a:rPr b="0" lang="en-US" sz="1110">
                <a:solidFill>
                  <a:schemeClr val="dk1"/>
                </a:solidFill>
                <a:latin typeface="Times New Roman"/>
                <a:ea typeface="Times New Roman"/>
                <a:cs typeface="Times New Roman"/>
                <a:sym typeface="Times New Roman"/>
              </a:rPr>
              <a:t>pulse, of the clock is referred to as a clock cycle, or a clock tick. The time between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pulses is the </a:t>
            </a:r>
            <a:r>
              <a:rPr b="1" lang="en-US" sz="1110">
                <a:solidFill>
                  <a:schemeClr val="dk1"/>
                </a:solidFill>
                <a:latin typeface="Times New Roman"/>
                <a:ea typeface="Times New Roman"/>
                <a:cs typeface="Times New Roman"/>
                <a:sym typeface="Times New Roman"/>
              </a:rPr>
              <a:t>cycle time.</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clock rate is not arbitrary, but must be appropriate for the physical layout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of the processor. Actions in the processor require signals to be sent from one processor</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element to another. When a signal is placed on a line inside the processor, it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takes some finite amount of time for the voltage levels to settle down so that an</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accurate value (1 or 0) is available. Furthermore, depending on the physical layout</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of the processor circuits, some signals may change more rapidly than others. Thus,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operations must be synchronized and paced so that the proper electrical signal</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(voltage) values are available for each operation.</a:t>
            </a:r>
            <a:endParaRPr/>
          </a:p>
          <a:p>
            <a:pPr indent="0" lvl="0" marL="0" rtl="0" algn="l">
              <a:lnSpc>
                <a:spcPct val="80000"/>
              </a:lnSpc>
              <a:spcBef>
                <a:spcPts val="333"/>
              </a:spcBef>
              <a:spcAft>
                <a:spcPts val="0"/>
              </a:spcAft>
              <a:buNone/>
            </a:pPr>
            <a:r>
              <a:t/>
            </a:r>
            <a:endParaRPr sz="1110">
              <a:solidFill>
                <a:schemeClr val="dk1"/>
              </a:solidFill>
              <a:latin typeface="Times New Roman"/>
              <a:ea typeface="Times New Roman"/>
              <a:cs typeface="Times New Roman"/>
              <a:sym typeface="Times New Roman"/>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The execution of an instruction involves a number of discrete steps, such</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as fetching the instruction from memory, decoding the various portions of the</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instruction, loading and storing data, and performing arithmetic and logical operations.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Thus, most instructions on most processors require multiple clock cycles to</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complete. Some instructions may take only a few cycles, while others require dozens.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In addition, when pipelining is used, multiple instructions are being executed simultaneously.</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Thus, a straight comparison of clock speeds on different processors does</a:t>
            </a:r>
            <a:endParaRPr/>
          </a:p>
          <a:p>
            <a:pPr indent="0" lvl="0" marL="0" rtl="0" algn="l">
              <a:lnSpc>
                <a:spcPct val="80000"/>
              </a:lnSpc>
              <a:spcBef>
                <a:spcPts val="333"/>
              </a:spcBef>
              <a:spcAft>
                <a:spcPts val="0"/>
              </a:spcAft>
              <a:buNone/>
            </a:pPr>
            <a:r>
              <a:rPr lang="en-US" sz="1110">
                <a:solidFill>
                  <a:schemeClr val="dk1"/>
                </a:solidFill>
                <a:latin typeface="Times New Roman"/>
                <a:ea typeface="Times New Roman"/>
                <a:cs typeface="Times New Roman"/>
                <a:sym typeface="Times New Roman"/>
              </a:rPr>
              <a:t>not tell the whole story about performance.</a:t>
            </a:r>
            <a:endParaRPr sz="1110"/>
          </a:p>
        </p:txBody>
      </p:sp>
      <p:sp>
        <p:nvSpPr>
          <p:cNvPr id="789" name="Google Shape;789;p54: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p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795" name="Google Shape;795;p55: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Table 2.9 is a matrix in which one dimension shows the five</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performance factors and the other dimension shows the four system attributes. An</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X in a cell indicates a system attribute that affects a performance factor.</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 common measure of performance for a processor is the rate at which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instructions are executed, expressed as millions of instructions per second (MIPS),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referred to as the </a:t>
            </a:r>
            <a:r>
              <a:rPr b="1" lang="en-US" sz="1200">
                <a:solidFill>
                  <a:schemeClr val="dk1"/>
                </a:solidFill>
                <a:latin typeface="Times New Roman"/>
                <a:ea typeface="Times New Roman"/>
                <a:cs typeface="Times New Roman"/>
                <a:sym typeface="Times New Roman"/>
              </a:rPr>
              <a:t>MIPS rate.</a:t>
            </a:r>
            <a:endParaRPr/>
          </a:p>
        </p:txBody>
      </p:sp>
      <p:sp>
        <p:nvSpPr>
          <p:cNvPr id="796" name="Google Shape;796;p55: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5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06" name="Google Shape;806;p56: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Measures such as MIPS and MFLOPS have proven inadequate to evaluating the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performance of processors. Because of differences in instruction sets, the instruction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execution rate is not a valid means of comparing the performance of different</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architectures.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For example, consider this high-level language statement:</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 = B + C /* assume all quantities in main memory */</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With a traditional instruction set architecture, referred to as a complex instruction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set computer (CISC), this instruction can be compiled into one processor</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instruction:</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add mem(B), mem(C), mem (A)</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On a typical RISC machine, the compilation would look something like this: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load mem(B), reg(1);</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load mem(C), reg(2);</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add reg(1), reg(2), reg(3);</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store reg(3), mem (A)</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Because of the nature of the RISC architecture (discussed in Chapter 15),</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both machines may execute the original high-level language instruction in about the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same time. If this example is representative of the two machines, then if the CISC</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machine is rated at 1 MIPS, the RISC machine would be rated at 4 MIPS. But both</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do the same amount of high-level language work in the same amount of time.</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Further, the performance of a given processor on a given program may not be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useful in determining how that processor will perform on a very different type of</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application. Accordingly, beginning in the late 1980s and early 1990s, industry and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academic interest shifted to measuring the performance of systems using a set of</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benchmark programs. The same set of programs can be run on different machines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and the execution times compared.</a:t>
            </a:r>
            <a:endParaRPr/>
          </a:p>
        </p:txBody>
      </p:sp>
      <p:sp>
        <p:nvSpPr>
          <p:cNvPr id="807" name="Google Shape;807;p56: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p5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15" name="Google Shape;815;p57: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[WEIC90] lists the following as desirable characteristics of a benchmark</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program:</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1. It is written in a high-level language, making it portable across different</a:t>
            </a:r>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machines.</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2. It is representative of a particular kind of programming style, such as systems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programming, numerical programming, or commercial programming.</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3. It can be measured easily.</a:t>
            </a:r>
            <a:endParaRPr/>
          </a:p>
          <a:p>
            <a:pPr indent="0" lvl="0" marL="0" rtl="0" algn="l">
              <a:spcBef>
                <a:spcPts val="360"/>
              </a:spcBef>
              <a:spcAft>
                <a:spcPts val="0"/>
              </a:spcAft>
              <a:buNone/>
            </a:pPr>
            <a:r>
              <a:t/>
            </a:r>
            <a:endParaRPr b="1" sz="1200">
              <a:solidFill>
                <a:schemeClr val="dk1"/>
              </a:solidFill>
              <a:latin typeface="Times New Roman"/>
              <a:ea typeface="Times New Roman"/>
              <a:cs typeface="Times New Roman"/>
              <a:sym typeface="Times New Roman"/>
            </a:endParaRPr>
          </a:p>
          <a:p>
            <a:pPr indent="0" lvl="0" marL="0" rtl="0" algn="l">
              <a:spcBef>
                <a:spcPts val="360"/>
              </a:spcBef>
              <a:spcAft>
                <a:spcPts val="0"/>
              </a:spcAft>
              <a:buNone/>
            </a:pPr>
            <a:r>
              <a:rPr b="0" lang="en-US" sz="1200">
                <a:solidFill>
                  <a:schemeClr val="dk1"/>
                </a:solidFill>
                <a:latin typeface="Times New Roman"/>
                <a:ea typeface="Times New Roman"/>
                <a:cs typeface="Times New Roman"/>
                <a:sym typeface="Times New Roman"/>
              </a:rPr>
              <a:t>4. It has wide distribution.</a:t>
            </a:r>
            <a:endParaRPr/>
          </a:p>
          <a:p>
            <a:pPr indent="0" lvl="0" marL="0" rtl="0" algn="l">
              <a:spcBef>
                <a:spcPts val="360"/>
              </a:spcBef>
              <a:spcAft>
                <a:spcPts val="0"/>
              </a:spcAft>
              <a:buNone/>
            </a:pPr>
            <a:r>
              <a:t/>
            </a:r>
            <a:endParaRPr/>
          </a:p>
        </p:txBody>
      </p:sp>
      <p:sp>
        <p:nvSpPr>
          <p:cNvPr id="816" name="Google Shape;816;p57: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p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36" name="Google Shape;836;p58: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spcBef>
                <a:spcPts val="0"/>
              </a:spcBef>
              <a:spcAft>
                <a:spcPts val="0"/>
              </a:spcAft>
              <a:buNone/>
            </a:pPr>
            <a:r>
              <a:rPr lang="en-US" sz="1200">
                <a:solidFill>
                  <a:schemeClr val="dk1"/>
                </a:solidFill>
                <a:latin typeface="Times New Roman"/>
                <a:ea typeface="Times New Roman"/>
                <a:cs typeface="Times New Roman"/>
                <a:sym typeface="Times New Roman"/>
              </a:rPr>
              <a:t>The common need in industry and academic and research</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communities for generally accepted computer performance measurements has</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led to the development of standardized benchmark suites. A benchmark suite is a</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collection of programs, defined in a high-level language, that together attempt to</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provide a representative test of a computer in a particular application or system</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programming area. The best known such collection of benchmark suites is defined</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and maintained by the System Performance Evaluation Corporation (SPEC),</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an industry consortium. SPEC performance measurements are widely used for</a:t>
            </a:r>
            <a:endParaRPr/>
          </a:p>
          <a:p>
            <a:pPr indent="0" lvl="0" marL="0" rtl="0" algn="l">
              <a:spcBef>
                <a:spcPts val="360"/>
              </a:spcBef>
              <a:spcAft>
                <a:spcPts val="0"/>
              </a:spcAft>
              <a:buNone/>
            </a:pPr>
            <a:r>
              <a:rPr lang="en-US" sz="1200">
                <a:solidFill>
                  <a:schemeClr val="dk1"/>
                </a:solidFill>
                <a:latin typeface="Times New Roman"/>
                <a:ea typeface="Times New Roman"/>
                <a:cs typeface="Times New Roman"/>
                <a:sym typeface="Times New Roman"/>
              </a:rPr>
              <a:t>comparison and research purposes.</a:t>
            </a:r>
            <a:endParaRPr/>
          </a:p>
          <a:p>
            <a:pPr indent="0" lvl="0" marL="0" rtl="0" algn="l">
              <a:spcBef>
                <a:spcPts val="360"/>
              </a:spcBef>
              <a:spcAft>
                <a:spcPts val="0"/>
              </a:spcAft>
              <a:buNone/>
            </a:pPr>
            <a:r>
              <a:t/>
            </a:r>
            <a:endParaRPr sz="1200">
              <a:solidFill>
                <a:schemeClr val="dk1"/>
              </a:solidFill>
              <a:latin typeface="Times New Roman"/>
              <a:ea typeface="Times New Roman"/>
              <a:cs typeface="Times New Roman"/>
              <a:sym typeface="Times New Roman"/>
            </a:endParaRPr>
          </a:p>
        </p:txBody>
      </p:sp>
      <p:sp>
        <p:nvSpPr>
          <p:cNvPr id="837" name="Google Shape;837;p58: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1" name="Shape 841"/>
        <p:cNvGrpSpPr/>
        <p:nvPr/>
      </p:nvGrpSpPr>
      <p:grpSpPr>
        <a:xfrm>
          <a:off x="0" y="0"/>
          <a:ext cx="0" cy="0"/>
          <a:chOff x="0" y="0"/>
          <a:chExt cx="0" cy="0"/>
        </a:xfrm>
      </p:grpSpPr>
      <p:sp>
        <p:nvSpPr>
          <p:cNvPr id="842" name="Google Shape;842;p5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43" name="Google Shape;843;p59: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90000"/>
              </a:lnSpc>
              <a:spcBef>
                <a:spcPts val="0"/>
              </a:spcBef>
              <a:spcAft>
                <a:spcPts val="0"/>
              </a:spcAft>
              <a:buNone/>
            </a:pPr>
            <a:r>
              <a:rPr lang="en-US" sz="1200">
                <a:solidFill>
                  <a:schemeClr val="dk1"/>
                </a:solidFill>
                <a:latin typeface="Times New Roman"/>
                <a:ea typeface="Times New Roman"/>
                <a:cs typeface="Times New Roman"/>
                <a:sym typeface="Times New Roman"/>
              </a:rPr>
              <a:t>The best known of the SPEC benchmark suites is SPEC CPU2006. This is the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industry standard suite for processor-intensive applications. That is, SPEC CPU2006 is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appropriate for measuring performance for applications that spend most of their time</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doing computation rather than I/O. The CPU2006 suite is based on existing applications</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that have already been ported to a wide variety of platforms by SPEC industry</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members. It consists of 17 floating-point programs written in C, C++, and Fortran; and</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12 integer programs written in C and C++. The suite contains over 3 million lines of</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code. This is the fifth generation of processor-intensive suites from SPEC, replacing</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SPEC CPU2000, SPEC CPU95, SPEC CPU92, and SPEC CPU89 [HENN07].</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Other SPEC suites include the following:</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SPECjvm98: </a:t>
            </a:r>
            <a:r>
              <a:rPr b="0" lang="en-US" sz="1200">
                <a:solidFill>
                  <a:schemeClr val="dk1"/>
                </a:solidFill>
                <a:latin typeface="Times New Roman"/>
                <a:ea typeface="Times New Roman"/>
                <a:cs typeface="Times New Roman"/>
                <a:sym typeface="Times New Roman"/>
              </a:rPr>
              <a:t>Intended to evaluate performance of the combined hardware</a:t>
            </a:r>
            <a:endParaRPr/>
          </a:p>
          <a:p>
            <a:pPr indent="0" lvl="0" marL="0" rtl="0" algn="l">
              <a:lnSpc>
                <a:spcPct val="90000"/>
              </a:lnSpc>
              <a:spcBef>
                <a:spcPts val="360"/>
              </a:spcBef>
              <a:spcAft>
                <a:spcPts val="0"/>
              </a:spcAft>
              <a:buNone/>
            </a:pPr>
            <a:r>
              <a:rPr b="0" lang="en-US" sz="1200">
                <a:solidFill>
                  <a:schemeClr val="dk1"/>
                </a:solidFill>
                <a:latin typeface="Times New Roman"/>
                <a:ea typeface="Times New Roman"/>
                <a:cs typeface="Times New Roman"/>
                <a:sym typeface="Times New Roman"/>
              </a:rPr>
              <a:t>and software aspects of the Java Virtual Machine (JVM) client platform</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SPECjbb2000 (Java Business Benchmark): </a:t>
            </a:r>
            <a:r>
              <a:rPr b="0" lang="en-US" sz="1200">
                <a:solidFill>
                  <a:schemeClr val="dk1"/>
                </a:solidFill>
                <a:latin typeface="Times New Roman"/>
                <a:ea typeface="Times New Roman"/>
                <a:cs typeface="Times New Roman"/>
                <a:sym typeface="Times New Roman"/>
              </a:rPr>
              <a:t>A benchmark for evaluating</a:t>
            </a:r>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server-side Java-based electronic commerce applications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SPECweb99: </a:t>
            </a:r>
            <a:r>
              <a:rPr b="0" lang="en-US" sz="1200">
                <a:solidFill>
                  <a:schemeClr val="dk1"/>
                </a:solidFill>
                <a:latin typeface="Times New Roman"/>
                <a:ea typeface="Times New Roman"/>
                <a:cs typeface="Times New Roman"/>
                <a:sym typeface="Times New Roman"/>
              </a:rPr>
              <a:t>Evaluates the performance of World Wide Web (WWW) servers</a:t>
            </a:r>
            <a:endParaRPr/>
          </a:p>
          <a:p>
            <a:pPr indent="0" lvl="0" marL="0" rtl="0" algn="l">
              <a:lnSpc>
                <a:spcPct val="90000"/>
              </a:lnSpc>
              <a:spcBef>
                <a:spcPts val="360"/>
              </a:spcBef>
              <a:spcAft>
                <a:spcPts val="0"/>
              </a:spcAft>
              <a:buNone/>
            </a:pPr>
            <a:r>
              <a:t/>
            </a:r>
            <a:endParaRPr sz="1200">
              <a:solidFill>
                <a:schemeClr val="dk1"/>
              </a:solidFill>
              <a:latin typeface="Times New Roman"/>
              <a:ea typeface="Times New Roman"/>
              <a:cs typeface="Times New Roman"/>
              <a:sym typeface="Times New Roman"/>
            </a:endParaRPr>
          </a:p>
          <a:p>
            <a:pPr indent="0" lvl="0" marL="0" rtl="0" algn="l">
              <a:lnSpc>
                <a:spcPct val="90000"/>
              </a:lnSpc>
              <a:spcBef>
                <a:spcPts val="360"/>
              </a:spcBef>
              <a:spcAft>
                <a:spcPts val="0"/>
              </a:spcAft>
              <a:buNone/>
            </a:pPr>
            <a:r>
              <a:rPr lang="en-US" sz="1200">
                <a:solidFill>
                  <a:schemeClr val="dk1"/>
                </a:solidFill>
                <a:latin typeface="Times New Roman"/>
                <a:ea typeface="Times New Roman"/>
                <a:cs typeface="Times New Roman"/>
                <a:sym typeface="Times New Roman"/>
              </a:rPr>
              <a:t>• </a:t>
            </a:r>
            <a:r>
              <a:rPr b="1" lang="en-US" sz="1200">
                <a:solidFill>
                  <a:schemeClr val="dk1"/>
                </a:solidFill>
                <a:latin typeface="Times New Roman"/>
                <a:ea typeface="Times New Roman"/>
                <a:cs typeface="Times New Roman"/>
                <a:sym typeface="Times New Roman"/>
              </a:rPr>
              <a:t>SPECmail2001: </a:t>
            </a:r>
            <a:r>
              <a:rPr b="0" lang="en-US" sz="1200">
                <a:solidFill>
                  <a:schemeClr val="dk1"/>
                </a:solidFill>
                <a:latin typeface="Times New Roman"/>
                <a:ea typeface="Times New Roman"/>
                <a:cs typeface="Times New Roman"/>
                <a:sym typeface="Times New Roman"/>
              </a:rPr>
              <a:t>Designed to measure a system’s performance acting as a mail</a:t>
            </a:r>
            <a:endParaRPr/>
          </a:p>
          <a:p>
            <a:pPr indent="0" lvl="0" marL="0" rtl="0" algn="l">
              <a:lnSpc>
                <a:spcPct val="90000"/>
              </a:lnSpc>
              <a:spcBef>
                <a:spcPts val="360"/>
              </a:spcBef>
              <a:spcAft>
                <a:spcPts val="0"/>
              </a:spcAft>
              <a:buNone/>
            </a:pPr>
            <a:r>
              <a:rPr b="0" lang="en-US" sz="1200">
                <a:solidFill>
                  <a:schemeClr val="dk1"/>
                </a:solidFill>
                <a:latin typeface="Times New Roman"/>
                <a:ea typeface="Times New Roman"/>
                <a:cs typeface="Times New Roman"/>
                <a:sym typeface="Times New Roman"/>
              </a:rPr>
              <a:t>server</a:t>
            </a:r>
            <a:endParaRPr b="0"/>
          </a:p>
        </p:txBody>
      </p:sp>
      <p:sp>
        <p:nvSpPr>
          <p:cNvPr id="844" name="Google Shape;844;p59: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1" name="Google Shape;851;p60: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480">
                <a:solidFill>
                  <a:schemeClr val="dk1"/>
                </a:solidFill>
                <a:latin typeface="Times New Roman"/>
                <a:ea typeface="Times New Roman"/>
                <a:cs typeface="Times New Roman"/>
                <a:sym typeface="Times New Roman"/>
              </a:rPr>
              <a:t>When considering system performance, computer system designers look for</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ways to improve performance by improvement in technology or change in</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design. Examples include the use of parallel processors, the use of a memory</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cache hierarchy, and speedup in memory access time and I/O transfer rate</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due to technology improvements. In all of these cases, it is important to note</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that a speedup in one aspect of the technology or design does not result in a</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corresponding improvement in performance. This limitation is succinctly</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expressed by Amdahl’s law.</a:t>
            </a:r>
            <a:endParaRPr/>
          </a:p>
          <a:p>
            <a:pPr indent="0" lvl="0" marL="0" rtl="0" algn="l">
              <a:lnSpc>
                <a:spcPct val="80000"/>
              </a:lnSpc>
              <a:spcBef>
                <a:spcPts val="144"/>
              </a:spcBef>
              <a:spcAft>
                <a:spcPts val="0"/>
              </a:spcAft>
              <a:buNone/>
            </a:pPr>
            <a:r>
              <a:t/>
            </a:r>
            <a:endParaRPr sz="480">
              <a:solidFill>
                <a:schemeClr val="dk1"/>
              </a:solidFill>
              <a:latin typeface="Times New Roman"/>
              <a:ea typeface="Times New Roman"/>
              <a:cs typeface="Times New Roman"/>
              <a:sym typeface="Times New Roman"/>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Amdahl’s law was first proposed by Gene Amdahl in [AMDA67] and deals</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with the potential speedup of a program using multiple processors compared to a</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single processor.</a:t>
            </a:r>
            <a:endParaRPr/>
          </a:p>
          <a:p>
            <a:pPr indent="0" lvl="0" marL="0" rtl="0" algn="l">
              <a:lnSpc>
                <a:spcPct val="80000"/>
              </a:lnSpc>
              <a:spcBef>
                <a:spcPts val="144"/>
              </a:spcBef>
              <a:spcAft>
                <a:spcPts val="0"/>
              </a:spcAft>
              <a:buNone/>
            </a:pPr>
            <a:r>
              <a:t/>
            </a:r>
            <a:endParaRPr sz="480">
              <a:solidFill>
                <a:schemeClr val="dk1"/>
              </a:solidFill>
              <a:latin typeface="Times New Roman"/>
              <a:ea typeface="Times New Roman"/>
              <a:cs typeface="Times New Roman"/>
              <a:sym typeface="Times New Roman"/>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Amdahl’s law illustrates the problems facing industry in the development of multi-core</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machines with an ever-growing number of cores: The software that runs on such</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machines must be adapted to a highly parallel execution environment to exploit the</a:t>
            </a:r>
            <a:endParaRPr/>
          </a:p>
          <a:p>
            <a:pPr indent="0" lvl="0" marL="0" rtl="0" algn="l">
              <a:lnSpc>
                <a:spcPct val="80000"/>
              </a:lnSpc>
              <a:spcBef>
                <a:spcPts val="144"/>
              </a:spcBef>
              <a:spcAft>
                <a:spcPts val="0"/>
              </a:spcAft>
              <a:buNone/>
            </a:pPr>
            <a:r>
              <a:rPr lang="en-US" sz="480">
                <a:solidFill>
                  <a:schemeClr val="dk1"/>
                </a:solidFill>
                <a:latin typeface="Times New Roman"/>
                <a:ea typeface="Times New Roman"/>
                <a:cs typeface="Times New Roman"/>
                <a:sym typeface="Times New Roman"/>
              </a:rPr>
              <a:t>power of parallel processing.</a:t>
            </a:r>
            <a:endParaRPr sz="480">
              <a:latin typeface="Times"/>
              <a:ea typeface="Times"/>
              <a:cs typeface="Times"/>
              <a:sym typeface="Times"/>
            </a:endParaRPr>
          </a:p>
        </p:txBody>
      </p:sp>
      <p:sp>
        <p:nvSpPr>
          <p:cNvPr id="852" name="Google Shape;852;p60: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p6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59" name="Google Shape;859;p61: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1020">
                <a:solidFill>
                  <a:schemeClr val="dk1"/>
                </a:solidFill>
                <a:latin typeface="Times New Roman"/>
                <a:ea typeface="Times New Roman"/>
                <a:cs typeface="Times New Roman"/>
                <a:sym typeface="Times New Roman"/>
              </a:rPr>
              <a:t>Consider a program running on a single processor such that a fraction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(1 – </a:t>
            </a:r>
            <a:r>
              <a:rPr i="1" lang="en-US" sz="1020">
                <a:solidFill>
                  <a:schemeClr val="dk1"/>
                </a:solidFill>
                <a:latin typeface="Times New Roman"/>
                <a:ea typeface="Times New Roman"/>
                <a:cs typeface="Times New Roman"/>
                <a:sym typeface="Times New Roman"/>
              </a:rPr>
              <a:t>f) </a:t>
            </a:r>
            <a:r>
              <a:rPr i="0" lang="en-US" sz="1020">
                <a:solidFill>
                  <a:schemeClr val="dk1"/>
                </a:solidFill>
                <a:latin typeface="Times New Roman"/>
                <a:ea typeface="Times New Roman"/>
                <a:cs typeface="Times New Roman"/>
                <a:sym typeface="Times New Roman"/>
              </a:rPr>
              <a:t>of the execution time involves code that is inherently serial and a fraction</a:t>
            </a:r>
            <a:endParaRPr/>
          </a:p>
          <a:p>
            <a:pPr indent="0" lvl="0" marL="0" rtl="0" algn="l">
              <a:lnSpc>
                <a:spcPct val="80000"/>
              </a:lnSpc>
              <a:spcBef>
                <a:spcPts val="306"/>
              </a:spcBef>
              <a:spcAft>
                <a:spcPts val="0"/>
              </a:spcAft>
              <a:buNone/>
            </a:pPr>
            <a:r>
              <a:rPr i="0" lang="en-US" sz="1020">
                <a:solidFill>
                  <a:schemeClr val="dk1"/>
                </a:solidFill>
                <a:latin typeface="Times New Roman"/>
                <a:ea typeface="Times New Roman"/>
                <a:cs typeface="Times New Roman"/>
                <a:sym typeface="Times New Roman"/>
              </a:rPr>
              <a:t>f that involves code that is infinitely parallelizable with no scheduling overhead</a:t>
            </a:r>
            <a:r>
              <a:rPr i="1" lang="en-US" sz="1020">
                <a:solidFill>
                  <a:schemeClr val="dk1"/>
                </a:solidFill>
                <a:latin typeface="Times New Roman"/>
                <a:ea typeface="Times New Roman"/>
                <a:cs typeface="Times New Roman"/>
                <a:sym typeface="Times New Roman"/>
              </a:rPr>
              <a:t>.</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Let </a:t>
            </a:r>
            <a:r>
              <a:rPr i="1" lang="en-US" sz="1020">
                <a:solidFill>
                  <a:schemeClr val="dk1"/>
                </a:solidFill>
                <a:latin typeface="Times New Roman"/>
                <a:ea typeface="Times New Roman"/>
                <a:cs typeface="Times New Roman"/>
                <a:sym typeface="Times New Roman"/>
              </a:rPr>
              <a:t>T </a:t>
            </a:r>
            <a:r>
              <a:rPr i="0" lang="en-US" sz="1020">
                <a:solidFill>
                  <a:schemeClr val="dk1"/>
                </a:solidFill>
                <a:latin typeface="Times New Roman"/>
                <a:ea typeface="Times New Roman"/>
                <a:cs typeface="Times New Roman"/>
                <a:sym typeface="Times New Roman"/>
              </a:rPr>
              <a:t>be the total execution time of the program using a single processor. Then the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speedup using a parallel processor with </a:t>
            </a:r>
            <a:r>
              <a:rPr i="1" lang="en-US" sz="1020">
                <a:solidFill>
                  <a:schemeClr val="dk1"/>
                </a:solidFill>
                <a:latin typeface="Times New Roman"/>
                <a:ea typeface="Times New Roman"/>
                <a:cs typeface="Times New Roman"/>
                <a:sym typeface="Times New Roman"/>
              </a:rPr>
              <a:t>N </a:t>
            </a:r>
            <a:r>
              <a:rPr i="0" lang="en-US" sz="1020">
                <a:solidFill>
                  <a:schemeClr val="dk1"/>
                </a:solidFill>
                <a:latin typeface="Times New Roman"/>
                <a:ea typeface="Times New Roman"/>
                <a:cs typeface="Times New Roman"/>
                <a:sym typeface="Times New Roman"/>
              </a:rPr>
              <a:t>processors that fully exploits the parallel</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portion of the program is as follows: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Speedup =</a:t>
            </a:r>
            <a:endParaRPr/>
          </a:p>
          <a:p>
            <a:pPr indent="0" lvl="0" marL="0" rtl="0" algn="l">
              <a:lnSpc>
                <a:spcPct val="80000"/>
              </a:lnSpc>
              <a:spcBef>
                <a:spcPts val="306"/>
              </a:spcBef>
              <a:spcAft>
                <a:spcPts val="0"/>
              </a:spcAft>
              <a:buNone/>
            </a:pPr>
            <a:r>
              <a:rPr lang="en-US" sz="1020" u="sng">
                <a:solidFill>
                  <a:schemeClr val="dk1"/>
                </a:solidFill>
                <a:latin typeface="Times New Roman"/>
                <a:ea typeface="Times New Roman"/>
                <a:cs typeface="Times New Roman"/>
                <a:sym typeface="Times New Roman"/>
              </a:rPr>
              <a:t>Time to execute program on a single processor</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Time to execute program on </a:t>
            </a:r>
            <a:r>
              <a:rPr i="1" lang="en-US" sz="1020">
                <a:solidFill>
                  <a:schemeClr val="dk1"/>
                </a:solidFill>
                <a:latin typeface="Times New Roman"/>
                <a:ea typeface="Times New Roman"/>
                <a:cs typeface="Times New Roman"/>
                <a:sym typeface="Times New Roman"/>
              </a:rPr>
              <a:t>N parallel processors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a:t>
            </a:r>
            <a:r>
              <a:rPr i="1" lang="en-US" sz="1020" u="sng">
                <a:solidFill>
                  <a:schemeClr val="dk1"/>
                </a:solidFill>
                <a:latin typeface="Times New Roman"/>
                <a:ea typeface="Times New Roman"/>
                <a:cs typeface="Times New Roman"/>
                <a:sym typeface="Times New Roman"/>
              </a:rPr>
              <a:t>T(1 - f) + Tf</a:t>
            </a:r>
            <a:endParaRPr/>
          </a:p>
          <a:p>
            <a:pPr indent="0" lvl="0" marL="0" rtl="0" algn="l">
              <a:lnSpc>
                <a:spcPct val="80000"/>
              </a:lnSpc>
              <a:spcBef>
                <a:spcPts val="306"/>
              </a:spcBef>
              <a:spcAft>
                <a:spcPts val="0"/>
              </a:spcAft>
              <a:buNone/>
            </a:pPr>
            <a:r>
              <a:rPr i="1" lang="en-US" sz="1020">
                <a:solidFill>
                  <a:schemeClr val="dk1"/>
                </a:solidFill>
                <a:latin typeface="Times New Roman"/>
                <a:ea typeface="Times New Roman"/>
                <a:cs typeface="Times New Roman"/>
                <a:sym typeface="Times New Roman"/>
              </a:rPr>
              <a:t>T(1 - f) +</a:t>
            </a:r>
            <a:r>
              <a:rPr i="1" lang="en-US" sz="1020" u="sng">
                <a:solidFill>
                  <a:schemeClr val="dk1"/>
                </a:solidFill>
                <a:latin typeface="Times New Roman"/>
                <a:ea typeface="Times New Roman"/>
                <a:cs typeface="Times New Roman"/>
                <a:sym typeface="Times New Roman"/>
              </a:rPr>
              <a:t>Tf</a:t>
            </a:r>
            <a:endParaRPr/>
          </a:p>
          <a:p>
            <a:pPr indent="0" lvl="0" marL="0" rtl="0" algn="l">
              <a:lnSpc>
                <a:spcPct val="80000"/>
              </a:lnSpc>
              <a:spcBef>
                <a:spcPts val="306"/>
              </a:spcBef>
              <a:spcAft>
                <a:spcPts val="0"/>
              </a:spcAft>
              <a:buNone/>
            </a:pPr>
            <a:r>
              <a:rPr i="1" lang="en-US" sz="1020">
                <a:solidFill>
                  <a:schemeClr val="dk1"/>
                </a:solidFill>
                <a:latin typeface="Times New Roman"/>
                <a:ea typeface="Times New Roman"/>
                <a:cs typeface="Times New Roman"/>
                <a:sym typeface="Times New Roman"/>
              </a:rPr>
              <a:t>              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  </a:t>
            </a:r>
            <a:r>
              <a:rPr lang="en-US" sz="1020" u="sng">
                <a:solidFill>
                  <a:schemeClr val="dk1"/>
                </a:solidFill>
                <a:latin typeface="Times New Roman"/>
                <a:ea typeface="Times New Roman"/>
                <a:cs typeface="Times New Roman"/>
                <a:sym typeface="Times New Roman"/>
              </a:rPr>
              <a:t>   1          </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(1 - </a:t>
            </a:r>
            <a:r>
              <a:rPr i="1" lang="en-US" sz="1020">
                <a:solidFill>
                  <a:schemeClr val="dk1"/>
                </a:solidFill>
                <a:latin typeface="Times New Roman"/>
                <a:ea typeface="Times New Roman"/>
                <a:cs typeface="Times New Roman"/>
                <a:sym typeface="Times New Roman"/>
              </a:rPr>
              <a:t>f) +</a:t>
            </a:r>
            <a:r>
              <a:rPr i="1" lang="en-US" sz="1020" u="sng">
                <a:solidFill>
                  <a:schemeClr val="dk1"/>
                </a:solidFill>
                <a:latin typeface="Times New Roman"/>
                <a:ea typeface="Times New Roman"/>
                <a:cs typeface="Times New Roman"/>
                <a:sym typeface="Times New Roman"/>
              </a:rPr>
              <a:t>f</a:t>
            </a:r>
            <a:endParaRPr/>
          </a:p>
          <a:p>
            <a:pPr indent="0" lvl="0" marL="0" rtl="0" algn="l">
              <a:lnSpc>
                <a:spcPct val="80000"/>
              </a:lnSpc>
              <a:spcBef>
                <a:spcPts val="306"/>
              </a:spcBef>
              <a:spcAft>
                <a:spcPts val="0"/>
              </a:spcAft>
              <a:buNone/>
            </a:pPr>
            <a:r>
              <a:rPr i="1" lang="en-US" sz="1020">
                <a:solidFill>
                  <a:schemeClr val="dk1"/>
                </a:solidFill>
                <a:latin typeface="Times New Roman"/>
                <a:ea typeface="Times New Roman"/>
                <a:cs typeface="Times New Roman"/>
                <a:sym typeface="Times New Roman"/>
              </a:rPr>
              <a:t>          N</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This equation is illustrated in Figure 2.14. Two important conclusions can be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drawn:</a:t>
            </a:r>
            <a:endParaRPr/>
          </a:p>
          <a:p>
            <a:pPr indent="0" lvl="0" marL="0" rtl="0" algn="l">
              <a:lnSpc>
                <a:spcPct val="80000"/>
              </a:lnSpc>
              <a:spcBef>
                <a:spcPts val="306"/>
              </a:spcBef>
              <a:spcAft>
                <a:spcPts val="0"/>
              </a:spcAft>
              <a:buNone/>
            </a:pPr>
            <a:r>
              <a:t/>
            </a:r>
            <a:endParaRPr b="1"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b="0" lang="en-US" sz="1020">
                <a:solidFill>
                  <a:schemeClr val="dk1"/>
                </a:solidFill>
                <a:latin typeface="Times New Roman"/>
                <a:ea typeface="Times New Roman"/>
                <a:cs typeface="Times New Roman"/>
                <a:sym typeface="Times New Roman"/>
              </a:rPr>
              <a:t>1. When </a:t>
            </a:r>
            <a:r>
              <a:rPr b="0" i="1" lang="en-US" sz="1020">
                <a:solidFill>
                  <a:schemeClr val="dk1"/>
                </a:solidFill>
                <a:latin typeface="Times New Roman"/>
                <a:ea typeface="Times New Roman"/>
                <a:cs typeface="Times New Roman"/>
                <a:sym typeface="Times New Roman"/>
              </a:rPr>
              <a:t>f is small, the use of parallel processors has little effect.</a:t>
            </a:r>
            <a:endParaRPr/>
          </a:p>
          <a:p>
            <a:pPr indent="0" lvl="0" marL="0" rtl="0" algn="l">
              <a:lnSpc>
                <a:spcPct val="80000"/>
              </a:lnSpc>
              <a:spcBef>
                <a:spcPts val="306"/>
              </a:spcBef>
              <a:spcAft>
                <a:spcPts val="0"/>
              </a:spcAft>
              <a:buNone/>
            </a:pPr>
            <a:r>
              <a:t/>
            </a:r>
            <a:endParaRPr b="0"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b="0" lang="en-US" sz="1020">
                <a:solidFill>
                  <a:schemeClr val="dk1"/>
                </a:solidFill>
                <a:latin typeface="Times New Roman"/>
                <a:ea typeface="Times New Roman"/>
                <a:cs typeface="Times New Roman"/>
                <a:sym typeface="Times New Roman"/>
              </a:rPr>
              <a:t>2. As </a:t>
            </a:r>
            <a:r>
              <a:rPr b="0" i="1" lang="en-US" sz="1020">
                <a:solidFill>
                  <a:schemeClr val="dk1"/>
                </a:solidFill>
                <a:latin typeface="Times New Roman"/>
                <a:ea typeface="Times New Roman"/>
                <a:cs typeface="Times New Roman"/>
                <a:sym typeface="Times New Roman"/>
              </a:rPr>
              <a:t>N approaches infinity, speedup is bound by 1/(1 – f), so that there are</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diminishing returns for using more processors.</a:t>
            </a:r>
            <a:endParaRPr/>
          </a:p>
          <a:p>
            <a:pPr indent="0" lvl="0" marL="0" rtl="0" algn="l">
              <a:lnSpc>
                <a:spcPct val="80000"/>
              </a:lnSpc>
              <a:spcBef>
                <a:spcPts val="306"/>
              </a:spcBef>
              <a:spcAft>
                <a:spcPts val="0"/>
              </a:spcAft>
              <a:buNone/>
            </a:pPr>
            <a:r>
              <a:t/>
            </a:r>
            <a:endParaRPr sz="1020">
              <a:solidFill>
                <a:schemeClr val="dk1"/>
              </a:solidFill>
              <a:latin typeface="Times New Roman"/>
              <a:ea typeface="Times New Roman"/>
              <a:cs typeface="Times New Roman"/>
              <a:sym typeface="Times New Roman"/>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These conclusions are too pessimistic, an assertion first put forward in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[GUST88]. For example, a server can maintain multiple threads or multiple tasks</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to handle multiple clients and execute the threads or tasks in parallel up to the limit</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of the number of processors. Many database applications involve computations on</a:t>
            </a:r>
            <a:endParaRPr/>
          </a:p>
          <a:p>
            <a:pPr indent="0" lvl="0" marL="0" rtl="0" algn="l">
              <a:lnSpc>
                <a:spcPct val="80000"/>
              </a:lnSpc>
              <a:spcBef>
                <a:spcPts val="306"/>
              </a:spcBef>
              <a:spcAft>
                <a:spcPts val="0"/>
              </a:spcAft>
              <a:buNone/>
            </a:pPr>
            <a:r>
              <a:rPr lang="en-US" sz="1020">
                <a:solidFill>
                  <a:schemeClr val="dk1"/>
                </a:solidFill>
                <a:latin typeface="Times New Roman"/>
                <a:ea typeface="Times New Roman"/>
                <a:cs typeface="Times New Roman"/>
                <a:sym typeface="Times New Roman"/>
              </a:rPr>
              <a:t>massive amounts of data that can be split up into multiple parallel tasks.</a:t>
            </a:r>
            <a:endParaRPr sz="1020"/>
          </a:p>
        </p:txBody>
      </p:sp>
      <p:sp>
        <p:nvSpPr>
          <p:cNvPr id="860" name="Google Shape;860;p61: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866" name="Google Shape;866;p62: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rmAutofit/>
          </a:bodyPr>
          <a:lstStyle/>
          <a:p>
            <a:pPr indent="0" lvl="0" marL="0" rtl="0" algn="l">
              <a:lnSpc>
                <a:spcPct val="80000"/>
              </a:lnSpc>
              <a:spcBef>
                <a:spcPts val="0"/>
              </a:spcBef>
              <a:spcAft>
                <a:spcPts val="0"/>
              </a:spcAft>
              <a:buNone/>
            </a:pPr>
            <a:r>
              <a:rPr lang="en-US" sz="839">
                <a:solidFill>
                  <a:schemeClr val="dk1"/>
                </a:solidFill>
                <a:latin typeface="Times New Roman"/>
                <a:ea typeface="Times New Roman"/>
                <a:cs typeface="Times New Roman"/>
                <a:sym typeface="Times New Roman"/>
              </a:rPr>
              <a:t>A fundamental and simple relation with broad applications is Little’s Law</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[LITT61, LITT11]. We can apply it to almost any system that is statistically in</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steady state, and in which there is no leakage. </a:t>
            </a:r>
            <a:endParaRPr/>
          </a:p>
          <a:p>
            <a:pPr indent="0" lvl="0" marL="0" rtl="0" algn="l">
              <a:lnSpc>
                <a:spcPct val="80000"/>
              </a:lnSpc>
              <a:spcBef>
                <a:spcPts val="252"/>
              </a:spcBef>
              <a:spcAft>
                <a:spcPts val="0"/>
              </a:spcAft>
              <a:buNone/>
            </a:pPr>
            <a:r>
              <a:t/>
            </a:r>
            <a:endParaRPr sz="839">
              <a:solidFill>
                <a:schemeClr val="dk1"/>
              </a:solidFill>
              <a:latin typeface="Times New Roman"/>
              <a:ea typeface="Times New Roman"/>
              <a:cs typeface="Times New Roman"/>
              <a:sym typeface="Times New Roman"/>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Using queuing theory terminology, Little’s Law applies to a queuing system.</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The central element of the system is a server, which provides some service to items.</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Items from some population of items arrive at the system to be served. If the server</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is idle, an item is served immediately. Otherwise, an arriving item joins a waiting</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line, or queue. There can be a single queue for a single server, a single queue for</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multiple servers, or multiples queues, one for each of multiple servers. When a</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server has completed serving an item, the item departs. If there are items waiting in</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the queue, one is immediately dispatched to the server. The server in this model can</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represent anything that performs some function or service for a collection of items.</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Examples: A processor provides service to processes; a transmission line provides a</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transmission service to packets or frames of data; and an I/O device provides a read</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or write service for I/O requests.</a:t>
            </a:r>
            <a:endParaRPr/>
          </a:p>
          <a:p>
            <a:pPr indent="0" lvl="0" marL="0" rtl="0" algn="l">
              <a:lnSpc>
                <a:spcPct val="80000"/>
              </a:lnSpc>
              <a:spcBef>
                <a:spcPts val="252"/>
              </a:spcBef>
              <a:spcAft>
                <a:spcPts val="0"/>
              </a:spcAft>
              <a:buNone/>
            </a:pPr>
            <a:r>
              <a:t/>
            </a:r>
            <a:endParaRPr sz="839">
              <a:solidFill>
                <a:schemeClr val="dk1"/>
              </a:solidFill>
              <a:latin typeface="Times New Roman"/>
              <a:ea typeface="Times New Roman"/>
              <a:cs typeface="Times New Roman"/>
              <a:sym typeface="Times New Roman"/>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The average number of items in a queuing system equals the average rate at which items arrive multiplied by the average time that an item spends in the system. This relationship requires very few assumptions. We do not need to know what the service time distribution is, what</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the distribution of arrival times is, or the order or priority in which items are served.</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Because of its simplicity and generality, Little’s Law is extremely useful and has</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experienced somewhat of a revival due to the interest in performance problems</a:t>
            </a:r>
            <a:endParaRPr/>
          </a:p>
          <a:p>
            <a:pPr indent="0" lvl="0" marL="0" rtl="0" algn="l">
              <a:lnSpc>
                <a:spcPct val="80000"/>
              </a:lnSpc>
              <a:spcBef>
                <a:spcPts val="252"/>
              </a:spcBef>
              <a:spcAft>
                <a:spcPts val="0"/>
              </a:spcAft>
              <a:buNone/>
            </a:pPr>
            <a:r>
              <a:rPr lang="en-US" sz="839">
                <a:solidFill>
                  <a:schemeClr val="dk1"/>
                </a:solidFill>
                <a:latin typeface="Times New Roman"/>
                <a:ea typeface="Times New Roman"/>
                <a:cs typeface="Times New Roman"/>
                <a:sym typeface="Times New Roman"/>
              </a:rPr>
              <a:t>related to multi-core computers.</a:t>
            </a:r>
            <a:endParaRPr/>
          </a:p>
        </p:txBody>
      </p:sp>
      <p:sp>
        <p:nvSpPr>
          <p:cNvPr id="867" name="Google Shape;867;p62: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63:notes"/>
          <p:cNvSpPr txBox="1"/>
          <p:nvPr>
            <p:ph idx="12" type="sldNum"/>
          </p:nvPr>
        </p:nvSpPr>
        <p:spPr>
          <a:xfrm>
            <a:off x="3886200" y="8686800"/>
            <a:ext cx="2971800" cy="457200"/>
          </a:xfrm>
          <a:prstGeom prst="rect">
            <a:avLst/>
          </a:prstGeom>
          <a:noFill/>
          <a:ln>
            <a:noFill/>
          </a:ln>
        </p:spPr>
        <p:txBody>
          <a:bodyPr anchorCtr="0" anchor="b" bIns="46800" lIns="90000" spcFirstLastPara="1" rIns="90000" wrap="square" tIns="46800">
            <a:noAutofit/>
          </a:bodyPr>
          <a:lstStyle/>
          <a:p>
            <a:pPr indent="0" lvl="0" marL="0" rtl="0" algn="r">
              <a:spcBef>
                <a:spcPts val="0"/>
              </a:spcBef>
              <a:spcAft>
                <a:spcPts val="0"/>
              </a:spcAft>
              <a:buNone/>
            </a:pPr>
            <a:fld id="{00000000-1234-1234-1234-123412341234}" type="slidenum">
              <a:rPr lang="en-US"/>
              <a:t>‹#›</a:t>
            </a:fld>
            <a:endParaRPr/>
          </a:p>
        </p:txBody>
      </p:sp>
      <p:sp>
        <p:nvSpPr>
          <p:cNvPr id="873" name="Google Shape;873;p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4" name="Google Shape;874;p63:notes"/>
          <p:cNvSpPr txBox="1"/>
          <p:nvPr>
            <p:ph idx="1" type="body"/>
          </p:nvPr>
        </p:nvSpPr>
        <p:spPr>
          <a:xfrm>
            <a:off x="914400" y="4343400"/>
            <a:ext cx="5029200" cy="4114800"/>
          </a:xfrm>
          <a:prstGeom prst="rect">
            <a:avLst/>
          </a:prstGeom>
          <a:noFill/>
          <a:ln>
            <a:noFill/>
          </a:ln>
        </p:spPr>
        <p:txBody>
          <a:bodyPr anchorCtr="0" anchor="ctr" bIns="46800" lIns="90000" spcFirstLastPara="1" rIns="90000" wrap="square" tIns="46800">
            <a:noAutofit/>
          </a:bodyPr>
          <a:lstStyle/>
          <a:p>
            <a:pPr indent="0" lvl="0" marL="0" rtl="0" algn="l">
              <a:spcBef>
                <a:spcPts val="0"/>
              </a:spcBef>
              <a:spcAft>
                <a:spcPts val="0"/>
              </a:spcAft>
              <a:buNone/>
            </a:pPr>
            <a:r>
              <a:rPr lang="en-US"/>
              <a:t>Chapter 2 summary.</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67"/>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67"/>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6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6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26" name="Shape 26"/>
        <p:cNvGrpSpPr/>
        <p:nvPr/>
      </p:nvGrpSpPr>
      <p:grpSpPr>
        <a:xfrm>
          <a:off x="0" y="0"/>
          <a:ext cx="0" cy="0"/>
          <a:chOff x="0" y="0"/>
          <a:chExt cx="0" cy="0"/>
        </a:xfrm>
      </p:grpSpPr>
      <p:sp>
        <p:nvSpPr>
          <p:cNvPr id="27" name="Google Shape;27;p75"/>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75"/>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9" name="Google Shape;29;p7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7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7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43" name="Shape 43"/>
        <p:cNvGrpSpPr/>
        <p:nvPr/>
      </p:nvGrpSpPr>
      <p:grpSpPr>
        <a:xfrm>
          <a:off x="0" y="0"/>
          <a:ext cx="0" cy="0"/>
          <a:chOff x="0" y="0"/>
          <a:chExt cx="0" cy="0"/>
        </a:xfrm>
      </p:grpSpPr>
      <p:sp>
        <p:nvSpPr>
          <p:cNvPr id="44" name="Google Shape;44;p6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45" name="Google Shape;45;p6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46" name="Google Shape;46;p6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8" name="Google Shape;48;p6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6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51" name="Google Shape;51;p6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52" name="Google Shape;52;p6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nstantia"/>
              <a:ea typeface="Constantia"/>
              <a:cs typeface="Constantia"/>
              <a:sym typeface="Constantia"/>
            </a:endParaRPr>
          </a:p>
        </p:txBody>
      </p:sp>
      <p:sp>
        <p:nvSpPr>
          <p:cNvPr id="53" name="Google Shape;53;p6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nstantia"/>
              <a:ea typeface="Constantia"/>
              <a:cs typeface="Constantia"/>
              <a:sym typeface="Constanti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6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6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6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7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71"/>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71"/>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71"/>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7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7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72"/>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4" name="Google Shape;74;p72"/>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5" name="Google Shape;75;p7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p:cSld name="3 Pictures with Caption">
    <p:spTree>
      <p:nvGrpSpPr>
        <p:cNvPr id="78" name="Shape 78"/>
        <p:cNvGrpSpPr/>
        <p:nvPr/>
      </p:nvGrpSpPr>
      <p:grpSpPr>
        <a:xfrm>
          <a:off x="0" y="0"/>
          <a:ext cx="0" cy="0"/>
          <a:chOff x="0" y="0"/>
          <a:chExt cx="0" cy="0"/>
        </a:xfrm>
      </p:grpSpPr>
      <p:sp>
        <p:nvSpPr>
          <p:cNvPr id="79" name="Google Shape;79;p73"/>
          <p:cNvSpPr txBox="1"/>
          <p:nvPr>
            <p:ph type="title"/>
          </p:nvPr>
        </p:nvSpPr>
        <p:spPr>
          <a:xfrm>
            <a:off x="380554" y="2571750"/>
            <a:ext cx="4016633" cy="116205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lt1"/>
              </a:buClr>
              <a:buSzPts val="2600"/>
              <a:buFont typeface="Calibri"/>
              <a:buNone/>
              <a:defRPr b="0"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73"/>
          <p:cNvSpPr txBox="1"/>
          <p:nvPr>
            <p:ph idx="1" type="body"/>
          </p:nvPr>
        </p:nvSpPr>
        <p:spPr>
          <a:xfrm>
            <a:off x="381094" y="3733800"/>
            <a:ext cx="4015304" cy="23923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330"/>
              <a:buNone/>
              <a:defRPr sz="1400">
                <a:solidFill>
                  <a:schemeClr val="lt1"/>
                </a:solidFill>
              </a:defRPr>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720"/>
              <a:buNone/>
              <a:defRPr sz="900"/>
            </a:lvl6pPr>
            <a:lvl7pPr indent="-228600" lvl="6" marL="3200400" algn="l">
              <a:spcBef>
                <a:spcPts val="180"/>
              </a:spcBef>
              <a:spcAft>
                <a:spcPts val="0"/>
              </a:spcAft>
              <a:buSzPts val="720"/>
              <a:buNone/>
              <a:defRPr sz="900"/>
            </a:lvl7pPr>
            <a:lvl8pPr indent="-228600" lvl="7" marL="3657600" algn="l">
              <a:spcBef>
                <a:spcPts val="180"/>
              </a:spcBef>
              <a:spcAft>
                <a:spcPts val="0"/>
              </a:spcAft>
              <a:buSzPts val="900"/>
              <a:buFont typeface="Constantia"/>
              <a:buNone/>
              <a:defRPr sz="900"/>
            </a:lvl8pPr>
            <a:lvl9pPr indent="-228600" lvl="8" marL="4114800" algn="l">
              <a:spcBef>
                <a:spcPts val="180"/>
              </a:spcBef>
              <a:spcAft>
                <a:spcPts val="0"/>
              </a:spcAft>
              <a:buSzPts val="900"/>
              <a:buFont typeface="Constantia"/>
              <a:buNone/>
              <a:defRPr sz="900"/>
            </a:lvl9pPr>
          </a:lstStyle>
          <a:p/>
        </p:txBody>
      </p:sp>
      <p:sp>
        <p:nvSpPr>
          <p:cNvPr id="81" name="Google Shape;81;p73"/>
          <p:cNvSpPr txBox="1"/>
          <p:nvPr>
            <p:ph idx="10" type="dt"/>
          </p:nvPr>
        </p:nvSpPr>
        <p:spPr>
          <a:xfrm>
            <a:off x="3048000" y="6235607"/>
            <a:ext cx="134839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3"/>
          <p:cNvSpPr txBox="1"/>
          <p:nvPr>
            <p:ph idx="11" type="ftr"/>
          </p:nvPr>
        </p:nvSpPr>
        <p:spPr>
          <a:xfrm>
            <a:off x="381095" y="6235607"/>
            <a:ext cx="2590705"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84" name="Google Shape;84;p73"/>
          <p:cNvSpPr/>
          <p:nvPr>
            <p:ph idx="2" type="pic"/>
          </p:nvPr>
        </p:nvSpPr>
        <p:spPr>
          <a:xfrm>
            <a:off x="4624388" y="228600"/>
            <a:ext cx="2057400" cy="2039112"/>
          </a:xfrm>
          <a:prstGeom prst="rect">
            <a:avLst/>
          </a:prstGeom>
          <a:noFill/>
          <a:ln>
            <a:noFill/>
          </a:ln>
        </p:spPr>
      </p:sp>
      <p:sp>
        <p:nvSpPr>
          <p:cNvPr id="85" name="Google Shape;85;p73"/>
          <p:cNvSpPr/>
          <p:nvPr>
            <p:ph idx="3" type="pic"/>
          </p:nvPr>
        </p:nvSpPr>
        <p:spPr>
          <a:xfrm>
            <a:off x="4624388" y="2381663"/>
            <a:ext cx="2057400" cy="2039112"/>
          </a:xfrm>
          <a:prstGeom prst="rect">
            <a:avLst/>
          </a:prstGeom>
          <a:noFill/>
          <a:ln>
            <a:noFill/>
          </a:ln>
        </p:spPr>
      </p:sp>
      <p:sp>
        <p:nvSpPr>
          <p:cNvPr id="86" name="Google Shape;86;p73"/>
          <p:cNvSpPr/>
          <p:nvPr>
            <p:ph idx="4" type="pic"/>
          </p:nvPr>
        </p:nvSpPr>
        <p:spPr>
          <a:xfrm>
            <a:off x="6803136" y="2381662"/>
            <a:ext cx="2057400" cy="418795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7" name="Shape 87"/>
        <p:cNvGrpSpPr/>
        <p:nvPr/>
      </p:nvGrpSpPr>
      <p:grpSpPr>
        <a:xfrm>
          <a:off x="0" y="0"/>
          <a:ext cx="0" cy="0"/>
          <a:chOff x="0" y="0"/>
          <a:chExt cx="0" cy="0"/>
        </a:xfrm>
      </p:grpSpPr>
      <p:sp>
        <p:nvSpPr>
          <p:cNvPr id="88" name="Google Shape;88;p7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76"/>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0" name="Google Shape;90;p76"/>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1" name="Google Shape;91;p76"/>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76"/>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3" name="Google Shape;93;p7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ntent">
  <p:cSld name="3 Content">
    <p:spTree>
      <p:nvGrpSpPr>
        <p:cNvPr id="96" name="Shape 96"/>
        <p:cNvGrpSpPr/>
        <p:nvPr/>
      </p:nvGrpSpPr>
      <p:grpSpPr>
        <a:xfrm>
          <a:off x="0" y="0"/>
          <a:ext cx="0" cy="0"/>
          <a:chOff x="0" y="0"/>
          <a:chExt cx="0" cy="0"/>
        </a:xfrm>
      </p:grpSpPr>
      <p:sp>
        <p:nvSpPr>
          <p:cNvPr id="97" name="Google Shape;97;p7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77"/>
          <p:cNvSpPr txBox="1"/>
          <p:nvPr>
            <p:ph idx="1" type="body"/>
          </p:nvPr>
        </p:nvSpPr>
        <p:spPr>
          <a:xfrm>
            <a:off x="4410075" y="1985963"/>
            <a:ext cx="3657600" cy="196596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sz="1800"/>
            </a:lvl1pPr>
            <a:lvl2pPr indent="-325755" lvl="1" marL="914400" algn="l">
              <a:spcBef>
                <a:spcPts val="360"/>
              </a:spcBef>
              <a:spcAft>
                <a:spcPts val="0"/>
              </a:spcAft>
              <a:buSzPts val="1530"/>
              <a:buChar char="⚫"/>
              <a:defRPr sz="1800"/>
            </a:lvl2pPr>
            <a:lvl3pPr indent="-308610" lvl="2" marL="1371600" algn="l">
              <a:spcBef>
                <a:spcPts val="360"/>
              </a:spcBef>
              <a:spcAft>
                <a:spcPts val="0"/>
              </a:spcAft>
              <a:buSzPts val="1260"/>
              <a:buChar char="⚫"/>
              <a:defRPr sz="18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sz="1800"/>
            </a:lvl6pPr>
            <a:lvl7pPr indent="-320039" lvl="6" marL="3200400" algn="l">
              <a:spcBef>
                <a:spcPts val="360"/>
              </a:spcBef>
              <a:spcAft>
                <a:spcPts val="0"/>
              </a:spcAft>
              <a:buSzPts val="1440"/>
              <a:buChar char="⚫"/>
              <a:defRPr sz="1800"/>
            </a:lvl7pPr>
            <a:lvl8pPr indent="-342900" lvl="7" marL="3657600" algn="l">
              <a:spcBef>
                <a:spcPts val="360"/>
              </a:spcBef>
              <a:spcAft>
                <a:spcPts val="0"/>
              </a:spcAft>
              <a:buSzPts val="1800"/>
              <a:buFont typeface="Constantia"/>
              <a:buChar char="•"/>
              <a:defRPr sz="1800"/>
            </a:lvl8pPr>
            <a:lvl9pPr indent="-342900" lvl="8" marL="4114800" algn="l">
              <a:spcBef>
                <a:spcPts val="360"/>
              </a:spcBef>
              <a:spcAft>
                <a:spcPts val="0"/>
              </a:spcAft>
              <a:buSzPts val="1800"/>
              <a:buFont typeface="Constantia"/>
              <a:buChar char="•"/>
              <a:defRPr sz="1800"/>
            </a:lvl9pPr>
          </a:lstStyle>
          <a:p/>
        </p:txBody>
      </p:sp>
      <p:sp>
        <p:nvSpPr>
          <p:cNvPr id="99" name="Google Shape;99;p7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7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7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02" name="Google Shape;102;p77"/>
          <p:cNvSpPr txBox="1"/>
          <p:nvPr>
            <p:ph idx="2" type="body"/>
          </p:nvPr>
        </p:nvSpPr>
        <p:spPr>
          <a:xfrm>
            <a:off x="498518" y="1985963"/>
            <a:ext cx="3657600" cy="41402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sz="1800"/>
            </a:lvl1pPr>
            <a:lvl2pPr indent="-325755" lvl="1" marL="914400" algn="l">
              <a:spcBef>
                <a:spcPts val="360"/>
              </a:spcBef>
              <a:spcAft>
                <a:spcPts val="0"/>
              </a:spcAft>
              <a:buSzPts val="1530"/>
              <a:buChar char="⚫"/>
              <a:defRPr sz="1800"/>
            </a:lvl2pPr>
            <a:lvl3pPr indent="-308610" lvl="2" marL="1371600" algn="l">
              <a:spcBef>
                <a:spcPts val="360"/>
              </a:spcBef>
              <a:spcAft>
                <a:spcPts val="0"/>
              </a:spcAft>
              <a:buSzPts val="1260"/>
              <a:buChar char="⚫"/>
              <a:defRPr sz="18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sz="1800"/>
            </a:lvl6pPr>
            <a:lvl7pPr indent="-320039" lvl="6" marL="3200400" algn="l">
              <a:spcBef>
                <a:spcPts val="360"/>
              </a:spcBef>
              <a:spcAft>
                <a:spcPts val="0"/>
              </a:spcAft>
              <a:buSzPts val="1440"/>
              <a:buChar char="⚫"/>
              <a:defRPr sz="1800"/>
            </a:lvl7pPr>
            <a:lvl8pPr indent="-342900" lvl="7" marL="3657600" algn="l">
              <a:spcBef>
                <a:spcPts val="360"/>
              </a:spcBef>
              <a:spcAft>
                <a:spcPts val="0"/>
              </a:spcAft>
              <a:buSzPts val="1800"/>
              <a:buFont typeface="Constantia"/>
              <a:buChar char="•"/>
              <a:defRPr sz="1800"/>
            </a:lvl8pPr>
            <a:lvl9pPr indent="-342900" lvl="8" marL="4114800" algn="l">
              <a:spcBef>
                <a:spcPts val="360"/>
              </a:spcBef>
              <a:spcAft>
                <a:spcPts val="0"/>
              </a:spcAft>
              <a:buSzPts val="1800"/>
              <a:buFont typeface="Constantia"/>
              <a:buChar char="•"/>
              <a:defRPr sz="1800"/>
            </a:lvl9pPr>
          </a:lstStyle>
          <a:p/>
        </p:txBody>
      </p:sp>
      <p:sp>
        <p:nvSpPr>
          <p:cNvPr id="103" name="Google Shape;103;p77"/>
          <p:cNvSpPr txBox="1"/>
          <p:nvPr>
            <p:ph idx="3" type="body"/>
          </p:nvPr>
        </p:nvSpPr>
        <p:spPr>
          <a:xfrm>
            <a:off x="4410075" y="4169664"/>
            <a:ext cx="3657600" cy="196596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sz="1800"/>
            </a:lvl1pPr>
            <a:lvl2pPr indent="-325755" lvl="1" marL="914400" algn="l">
              <a:spcBef>
                <a:spcPts val="360"/>
              </a:spcBef>
              <a:spcAft>
                <a:spcPts val="0"/>
              </a:spcAft>
              <a:buSzPts val="1530"/>
              <a:buChar char="⚫"/>
              <a:defRPr sz="1800"/>
            </a:lvl2pPr>
            <a:lvl3pPr indent="-308610" lvl="2" marL="1371600" algn="l">
              <a:spcBef>
                <a:spcPts val="360"/>
              </a:spcBef>
              <a:spcAft>
                <a:spcPts val="0"/>
              </a:spcAft>
              <a:buSzPts val="1260"/>
              <a:buChar char="⚫"/>
              <a:defRPr sz="18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sz="1800"/>
            </a:lvl6pPr>
            <a:lvl7pPr indent="-320039" lvl="6" marL="3200400" algn="l">
              <a:spcBef>
                <a:spcPts val="360"/>
              </a:spcBef>
              <a:spcAft>
                <a:spcPts val="0"/>
              </a:spcAft>
              <a:buSzPts val="1440"/>
              <a:buChar char="⚫"/>
              <a:defRPr sz="1800"/>
            </a:lvl7pPr>
            <a:lvl8pPr indent="-342900" lvl="7" marL="3657600" algn="l">
              <a:spcBef>
                <a:spcPts val="360"/>
              </a:spcBef>
              <a:spcAft>
                <a:spcPts val="0"/>
              </a:spcAft>
              <a:buSzPts val="1800"/>
              <a:buFont typeface="Constantia"/>
              <a:buChar char="•"/>
              <a:defRPr sz="1800"/>
            </a:lvl8pPr>
            <a:lvl9pPr indent="-342900" lvl="8" marL="4114800" algn="l">
              <a:spcBef>
                <a:spcPts val="360"/>
              </a:spcBef>
              <a:spcAft>
                <a:spcPts val="0"/>
              </a:spcAft>
              <a:buSzPts val="1800"/>
              <a:buFont typeface="Constantia"/>
              <a:buChar char="•"/>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4" name="Shape 104"/>
        <p:cNvGrpSpPr/>
        <p:nvPr/>
      </p:nvGrpSpPr>
      <p:grpSpPr>
        <a:xfrm>
          <a:off x="0" y="0"/>
          <a:ext cx="0" cy="0"/>
          <a:chOff x="0" y="0"/>
          <a:chExt cx="0" cy="0"/>
        </a:xfrm>
      </p:grpSpPr>
      <p:sp>
        <p:nvSpPr>
          <p:cNvPr id="105" name="Google Shape;105;p78"/>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7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7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with 2 Pictures">
  <p:cSld name="Title Slide with 2 Pictures">
    <p:spTree>
      <p:nvGrpSpPr>
        <p:cNvPr id="109" name="Shape 109"/>
        <p:cNvGrpSpPr/>
        <p:nvPr/>
      </p:nvGrpSpPr>
      <p:grpSpPr>
        <a:xfrm>
          <a:off x="0" y="0"/>
          <a:ext cx="0" cy="0"/>
          <a:chOff x="0" y="0"/>
          <a:chExt cx="0" cy="0"/>
        </a:xfrm>
      </p:grpSpPr>
      <p:sp>
        <p:nvSpPr>
          <p:cNvPr id="110" name="Google Shape;110;p79"/>
          <p:cNvSpPr txBox="1"/>
          <p:nvPr>
            <p:ph type="ctrTitle"/>
          </p:nvPr>
        </p:nvSpPr>
        <p:spPr>
          <a:xfrm>
            <a:off x="4800600" y="4624668"/>
            <a:ext cx="4038600" cy="93345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2800"/>
              <a:buFont typeface="Calibri"/>
              <a:buNone/>
              <a:defRPr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79"/>
          <p:cNvSpPr txBox="1"/>
          <p:nvPr>
            <p:ph idx="1" type="subTitle"/>
          </p:nvPr>
        </p:nvSpPr>
        <p:spPr>
          <a:xfrm>
            <a:off x="4800600" y="5562599"/>
            <a:ext cx="4038600" cy="748553"/>
          </a:xfrm>
          <a:prstGeom prst="rect">
            <a:avLst/>
          </a:prstGeom>
          <a:noFill/>
          <a:ln>
            <a:noFill/>
          </a:ln>
        </p:spPr>
        <p:txBody>
          <a:bodyPr anchorCtr="0" anchor="t" bIns="45700" lIns="91425" spcFirstLastPara="1" rIns="91425" wrap="square" tIns="45700">
            <a:normAutofit/>
          </a:bodyPr>
          <a:lstStyle>
            <a:lvl1pPr lvl="0" algn="l">
              <a:spcBef>
                <a:spcPts val="300"/>
              </a:spcBef>
              <a:spcAft>
                <a:spcPts val="0"/>
              </a:spcAft>
              <a:buSzPts val="1330"/>
              <a:buNone/>
              <a:defRPr sz="1400">
                <a:solidFill>
                  <a:srgbClr val="888888"/>
                </a:solidFill>
              </a:defRPr>
            </a:lvl1pPr>
            <a:lvl2pPr lvl="1" algn="ctr">
              <a:spcBef>
                <a:spcPts val="480"/>
              </a:spcBef>
              <a:spcAft>
                <a:spcPts val="0"/>
              </a:spcAft>
              <a:buSzPts val="2040"/>
              <a:buNone/>
              <a:defRPr>
                <a:solidFill>
                  <a:srgbClr val="888888"/>
                </a:solidFill>
              </a:defRPr>
            </a:lvl2pPr>
            <a:lvl3pPr lvl="2" algn="ctr">
              <a:spcBef>
                <a:spcPts val="420"/>
              </a:spcBef>
              <a:spcAft>
                <a:spcPts val="0"/>
              </a:spcAft>
              <a:buSzPts val="1470"/>
              <a:buNone/>
              <a:defRPr>
                <a:solidFill>
                  <a:srgbClr val="888888"/>
                </a:solidFill>
              </a:defRPr>
            </a:lvl3pPr>
            <a:lvl4pPr lvl="3" algn="ctr">
              <a:spcBef>
                <a:spcPts val="400"/>
              </a:spcBef>
              <a:spcAft>
                <a:spcPts val="0"/>
              </a:spcAft>
              <a:buSzPts val="1300"/>
              <a:buNone/>
              <a:defRPr>
                <a:solidFill>
                  <a:srgbClr val="888888"/>
                </a:solidFill>
              </a:defRPr>
            </a:lvl4pPr>
            <a:lvl5pPr lvl="4" algn="ctr">
              <a:spcBef>
                <a:spcPts val="400"/>
              </a:spcBef>
              <a:spcAft>
                <a:spcPts val="0"/>
              </a:spcAft>
              <a:buSzPts val="1300"/>
              <a:buNone/>
              <a:defRPr>
                <a:solidFill>
                  <a:srgbClr val="888888"/>
                </a:solidFill>
              </a:defRPr>
            </a:lvl5pPr>
            <a:lvl6pPr lvl="5" algn="ctr">
              <a:spcBef>
                <a:spcPts val="360"/>
              </a:spcBef>
              <a:spcAft>
                <a:spcPts val="0"/>
              </a:spcAft>
              <a:buSzPts val="1440"/>
              <a:buNone/>
              <a:defRPr>
                <a:solidFill>
                  <a:srgbClr val="888888"/>
                </a:solidFill>
              </a:defRPr>
            </a:lvl6pPr>
            <a:lvl7pPr lvl="6" algn="ctr">
              <a:spcBef>
                <a:spcPts val="320"/>
              </a:spcBef>
              <a:spcAft>
                <a:spcPts val="0"/>
              </a:spcAft>
              <a:buSzPts val="1280"/>
              <a:buNone/>
              <a:defRPr>
                <a:solidFill>
                  <a:srgbClr val="888888"/>
                </a:solidFill>
              </a:defRPr>
            </a:lvl7pPr>
            <a:lvl8pPr lvl="7" algn="ctr">
              <a:spcBef>
                <a:spcPts val="320"/>
              </a:spcBef>
              <a:spcAft>
                <a:spcPts val="0"/>
              </a:spcAft>
              <a:buSzPts val="1600"/>
              <a:buFont typeface="Constantia"/>
              <a:buNone/>
              <a:defRPr>
                <a:solidFill>
                  <a:srgbClr val="888888"/>
                </a:solidFill>
              </a:defRPr>
            </a:lvl8pPr>
            <a:lvl9pPr lvl="8" algn="ctr">
              <a:spcBef>
                <a:spcPts val="280"/>
              </a:spcBef>
              <a:spcAft>
                <a:spcPts val="0"/>
              </a:spcAft>
              <a:buSzPts val="1400"/>
              <a:buFont typeface="Constantia"/>
              <a:buNone/>
              <a:defRPr>
                <a:solidFill>
                  <a:srgbClr val="888888"/>
                </a:solidFill>
              </a:defRPr>
            </a:lvl9pPr>
          </a:lstStyle>
          <a:p/>
        </p:txBody>
      </p:sp>
      <p:sp>
        <p:nvSpPr>
          <p:cNvPr id="112" name="Google Shape;112;p79"/>
          <p:cNvSpPr txBox="1"/>
          <p:nvPr>
            <p:ph idx="10" type="dt"/>
          </p:nvPr>
        </p:nvSpPr>
        <p:spPr>
          <a:xfrm>
            <a:off x="4800600" y="6425640"/>
            <a:ext cx="1232647"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79"/>
          <p:cNvSpPr txBox="1"/>
          <p:nvPr>
            <p:ph idx="11" type="ftr"/>
          </p:nvPr>
        </p:nvSpPr>
        <p:spPr>
          <a:xfrm>
            <a:off x="6311153" y="6425640"/>
            <a:ext cx="2617694" cy="365125"/>
          </a:xfrm>
          <a:prstGeom prst="rect">
            <a:avLst/>
          </a:prstGeom>
          <a:noFill/>
          <a:ln>
            <a:noFill/>
          </a:ln>
        </p:spPr>
        <p:txBody>
          <a:bodyPr anchorCtr="0" anchor="b" bIns="0" lIns="0" spcFirstLastPara="1" rIns="0" wrap="square" tIns="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79"/>
          <p:cNvSpPr/>
          <p:nvPr>
            <p:ph idx="2" type="pic"/>
          </p:nvPr>
        </p:nvSpPr>
        <p:spPr>
          <a:xfrm>
            <a:off x="4624388" y="228600"/>
            <a:ext cx="2057400" cy="2039112"/>
          </a:xfrm>
          <a:prstGeom prst="rect">
            <a:avLst/>
          </a:prstGeom>
          <a:noFill/>
          <a:ln>
            <a:noFill/>
          </a:ln>
        </p:spPr>
      </p:sp>
      <p:sp>
        <p:nvSpPr>
          <p:cNvPr id="115" name="Google Shape;115;p79"/>
          <p:cNvSpPr/>
          <p:nvPr>
            <p:ph idx="3" type="pic"/>
          </p:nvPr>
        </p:nvSpPr>
        <p:spPr>
          <a:xfrm>
            <a:off x="6802438" y="2377440"/>
            <a:ext cx="2057400" cy="2039112"/>
          </a:xfrm>
          <a:prstGeom prst="rect">
            <a:avLst/>
          </a:prstGeom>
          <a:noFill/>
          <a:ln>
            <a:noFill/>
          </a:ln>
        </p:spPr>
      </p:sp>
      <p:sp>
        <p:nvSpPr>
          <p:cNvPr id="116" name="Google Shape;116;p79"/>
          <p:cNvSpPr txBox="1"/>
          <p:nvPr>
            <p:ph idx="4" type="body"/>
          </p:nvPr>
        </p:nvSpPr>
        <p:spPr>
          <a:xfrm>
            <a:off x="857250" y="1779494"/>
            <a:ext cx="3086100" cy="2040905"/>
          </a:xfrm>
          <a:prstGeom prst="rect">
            <a:avLst/>
          </a:prstGeom>
          <a:noFill/>
          <a:ln>
            <a:noFill/>
          </a:ln>
        </p:spPr>
        <p:txBody>
          <a:bodyPr anchorCtr="0" anchor="t" bIns="45700" lIns="45700" spcFirstLastPara="1" rIns="45700" wrap="square" tIns="45700">
            <a:noAutofit/>
          </a:bodyPr>
          <a:lstStyle>
            <a:lvl1pPr indent="-228600" lvl="0" marL="457200" algn="ctr">
              <a:spcBef>
                <a:spcPts val="920"/>
              </a:spcBef>
              <a:spcAft>
                <a:spcPts val="0"/>
              </a:spcAft>
              <a:buSzPts val="4370"/>
              <a:buNone/>
              <a:defRPr sz="4600">
                <a:solidFill>
                  <a:schemeClr val="lt1"/>
                </a:solidFill>
              </a:defRPr>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Pictures with Caption">
  <p:cSld name="2 Pictures with Caption">
    <p:spTree>
      <p:nvGrpSpPr>
        <p:cNvPr id="117" name="Shape 117"/>
        <p:cNvGrpSpPr/>
        <p:nvPr/>
      </p:nvGrpSpPr>
      <p:grpSpPr>
        <a:xfrm>
          <a:off x="0" y="0"/>
          <a:ext cx="0" cy="0"/>
          <a:chOff x="0" y="0"/>
          <a:chExt cx="0" cy="0"/>
        </a:xfrm>
      </p:grpSpPr>
      <p:sp>
        <p:nvSpPr>
          <p:cNvPr id="118" name="Google Shape;118;p80"/>
          <p:cNvSpPr txBox="1"/>
          <p:nvPr>
            <p:ph type="title"/>
          </p:nvPr>
        </p:nvSpPr>
        <p:spPr>
          <a:xfrm>
            <a:off x="380554" y="2571750"/>
            <a:ext cx="6181611" cy="116205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lt1"/>
              </a:buClr>
              <a:buSzPts val="2600"/>
              <a:buFont typeface="Calibri"/>
              <a:buNone/>
              <a:defRPr b="0" sz="2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9" name="Google Shape;119;p80"/>
          <p:cNvSpPr txBox="1"/>
          <p:nvPr>
            <p:ph idx="1" type="body"/>
          </p:nvPr>
        </p:nvSpPr>
        <p:spPr>
          <a:xfrm>
            <a:off x="381094" y="3733800"/>
            <a:ext cx="6179566" cy="23923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330"/>
              <a:buNone/>
              <a:defRPr sz="1400">
                <a:solidFill>
                  <a:schemeClr val="lt1"/>
                </a:solidFill>
              </a:defRPr>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720"/>
              <a:buNone/>
              <a:defRPr sz="900"/>
            </a:lvl6pPr>
            <a:lvl7pPr indent="-228600" lvl="6" marL="3200400" algn="l">
              <a:spcBef>
                <a:spcPts val="180"/>
              </a:spcBef>
              <a:spcAft>
                <a:spcPts val="0"/>
              </a:spcAft>
              <a:buSzPts val="720"/>
              <a:buNone/>
              <a:defRPr sz="900"/>
            </a:lvl7pPr>
            <a:lvl8pPr indent="-228600" lvl="7" marL="3657600" algn="l">
              <a:spcBef>
                <a:spcPts val="180"/>
              </a:spcBef>
              <a:spcAft>
                <a:spcPts val="0"/>
              </a:spcAft>
              <a:buSzPts val="900"/>
              <a:buFont typeface="Constantia"/>
              <a:buNone/>
              <a:defRPr sz="900"/>
            </a:lvl8pPr>
            <a:lvl9pPr indent="-228600" lvl="8" marL="4114800" algn="l">
              <a:spcBef>
                <a:spcPts val="180"/>
              </a:spcBef>
              <a:spcAft>
                <a:spcPts val="0"/>
              </a:spcAft>
              <a:buSzPts val="900"/>
              <a:buFont typeface="Constantia"/>
              <a:buNone/>
              <a:defRPr sz="900"/>
            </a:lvl9pPr>
          </a:lstStyle>
          <a:p/>
        </p:txBody>
      </p:sp>
      <p:sp>
        <p:nvSpPr>
          <p:cNvPr id="120" name="Google Shape;120;p80"/>
          <p:cNvSpPr txBox="1"/>
          <p:nvPr>
            <p:ph idx="10" type="dt"/>
          </p:nvPr>
        </p:nvSpPr>
        <p:spPr>
          <a:xfrm>
            <a:off x="5212262" y="6235607"/>
            <a:ext cx="134839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80"/>
          <p:cNvSpPr txBox="1"/>
          <p:nvPr>
            <p:ph idx="11" type="ftr"/>
          </p:nvPr>
        </p:nvSpPr>
        <p:spPr>
          <a:xfrm>
            <a:off x="381095" y="6235607"/>
            <a:ext cx="4648105"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8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23" name="Google Shape;123;p80"/>
          <p:cNvSpPr/>
          <p:nvPr>
            <p:ph idx="2" type="pic"/>
          </p:nvPr>
        </p:nvSpPr>
        <p:spPr>
          <a:xfrm>
            <a:off x="6802438" y="2374940"/>
            <a:ext cx="2057400" cy="2039112"/>
          </a:xfrm>
          <a:prstGeom prst="rect">
            <a:avLst/>
          </a:prstGeom>
          <a:noFill/>
          <a:ln>
            <a:noFill/>
          </a:ln>
        </p:spPr>
      </p:sp>
      <p:sp>
        <p:nvSpPr>
          <p:cNvPr id="124" name="Google Shape;124;p80"/>
          <p:cNvSpPr/>
          <p:nvPr>
            <p:ph idx="3" type="pic"/>
          </p:nvPr>
        </p:nvSpPr>
        <p:spPr>
          <a:xfrm>
            <a:off x="6802438" y="4535424"/>
            <a:ext cx="2057400" cy="2039112"/>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s with Caption, Alt.">
  <p:cSld name="3 Pictures with Caption, Alt.">
    <p:spTree>
      <p:nvGrpSpPr>
        <p:cNvPr id="125" name="Shape 125"/>
        <p:cNvGrpSpPr/>
        <p:nvPr/>
      </p:nvGrpSpPr>
      <p:grpSpPr>
        <a:xfrm>
          <a:off x="0" y="0"/>
          <a:ext cx="0" cy="0"/>
          <a:chOff x="0" y="0"/>
          <a:chExt cx="0" cy="0"/>
        </a:xfrm>
      </p:grpSpPr>
      <p:sp>
        <p:nvSpPr>
          <p:cNvPr id="126" name="Google Shape;126;p81"/>
          <p:cNvSpPr txBox="1"/>
          <p:nvPr>
            <p:ph type="title"/>
          </p:nvPr>
        </p:nvSpPr>
        <p:spPr>
          <a:xfrm>
            <a:off x="4953000" y="3124200"/>
            <a:ext cx="3108960" cy="871538"/>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2600"/>
              <a:buFont typeface="Calibri"/>
              <a:buNone/>
              <a:defRPr b="0"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81"/>
          <p:cNvSpPr/>
          <p:nvPr>
            <p:ph idx="2" type="pic"/>
          </p:nvPr>
        </p:nvSpPr>
        <p:spPr>
          <a:xfrm>
            <a:off x="277905" y="2365248"/>
            <a:ext cx="4240119" cy="4187952"/>
          </a:xfrm>
          <a:prstGeom prst="rect">
            <a:avLst/>
          </a:prstGeom>
          <a:noFill/>
          <a:ln>
            <a:noFill/>
          </a:ln>
        </p:spPr>
      </p:sp>
      <p:sp>
        <p:nvSpPr>
          <p:cNvPr id="128" name="Google Shape;128;p81"/>
          <p:cNvSpPr txBox="1"/>
          <p:nvPr>
            <p:ph idx="1" type="body"/>
          </p:nvPr>
        </p:nvSpPr>
        <p:spPr>
          <a:xfrm>
            <a:off x="4953000" y="3995737"/>
            <a:ext cx="3108960" cy="2147888"/>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720"/>
              <a:buNone/>
              <a:defRPr sz="900"/>
            </a:lvl6pPr>
            <a:lvl7pPr indent="-228600" lvl="6" marL="3200400" algn="l">
              <a:spcBef>
                <a:spcPts val="180"/>
              </a:spcBef>
              <a:spcAft>
                <a:spcPts val="0"/>
              </a:spcAft>
              <a:buSzPts val="720"/>
              <a:buNone/>
              <a:defRPr sz="900"/>
            </a:lvl7pPr>
            <a:lvl8pPr indent="-228600" lvl="7" marL="3657600" algn="l">
              <a:spcBef>
                <a:spcPts val="180"/>
              </a:spcBef>
              <a:spcAft>
                <a:spcPts val="0"/>
              </a:spcAft>
              <a:buSzPts val="900"/>
              <a:buFont typeface="Constantia"/>
              <a:buNone/>
              <a:defRPr sz="900"/>
            </a:lvl8pPr>
            <a:lvl9pPr indent="-228600" lvl="8" marL="4114800" algn="l">
              <a:spcBef>
                <a:spcPts val="180"/>
              </a:spcBef>
              <a:spcAft>
                <a:spcPts val="0"/>
              </a:spcAft>
              <a:buSzPts val="900"/>
              <a:buFont typeface="Constantia"/>
              <a:buNone/>
              <a:defRPr sz="900"/>
            </a:lvl9pPr>
          </a:lstStyle>
          <a:p/>
        </p:txBody>
      </p:sp>
      <p:sp>
        <p:nvSpPr>
          <p:cNvPr id="129" name="Google Shape;129;p81"/>
          <p:cNvSpPr txBox="1"/>
          <p:nvPr>
            <p:ph idx="10" type="dt"/>
          </p:nvPr>
        </p:nvSpPr>
        <p:spPr>
          <a:xfrm>
            <a:off x="7391399" y="6423585"/>
            <a:ext cx="1537447"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81"/>
          <p:cNvSpPr txBox="1"/>
          <p:nvPr>
            <p:ph idx="11" type="ftr"/>
          </p:nvPr>
        </p:nvSpPr>
        <p:spPr>
          <a:xfrm>
            <a:off x="4191000" y="6423585"/>
            <a:ext cx="300513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8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32" name="Google Shape;132;p81"/>
          <p:cNvSpPr/>
          <p:nvPr>
            <p:ph idx="3" type="pic"/>
          </p:nvPr>
        </p:nvSpPr>
        <p:spPr>
          <a:xfrm>
            <a:off x="277905" y="228600"/>
            <a:ext cx="2057400" cy="2039112"/>
          </a:xfrm>
          <a:prstGeom prst="rect">
            <a:avLst/>
          </a:prstGeom>
          <a:noFill/>
          <a:ln>
            <a:noFill/>
          </a:ln>
        </p:spPr>
      </p:sp>
      <p:sp>
        <p:nvSpPr>
          <p:cNvPr id="133" name="Google Shape;133;p81"/>
          <p:cNvSpPr/>
          <p:nvPr>
            <p:ph idx="4" type="pic"/>
          </p:nvPr>
        </p:nvSpPr>
        <p:spPr>
          <a:xfrm>
            <a:off x="2460625" y="228600"/>
            <a:ext cx="2057400" cy="2039112"/>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Alt.">
  <p:cSld name="Title and Content, Alt.">
    <p:spTree>
      <p:nvGrpSpPr>
        <p:cNvPr id="134" name="Shape 134"/>
        <p:cNvGrpSpPr/>
        <p:nvPr/>
      </p:nvGrpSpPr>
      <p:grpSpPr>
        <a:xfrm>
          <a:off x="0" y="0"/>
          <a:ext cx="0" cy="0"/>
          <a:chOff x="0" y="0"/>
          <a:chExt cx="0" cy="0"/>
        </a:xfrm>
      </p:grpSpPr>
      <p:sp>
        <p:nvSpPr>
          <p:cNvPr id="135" name="Google Shape;135;p82"/>
          <p:cNvSpPr txBox="1"/>
          <p:nvPr>
            <p:ph type="title"/>
          </p:nvPr>
        </p:nvSpPr>
        <p:spPr>
          <a:xfrm>
            <a:off x="498474" y="134471"/>
            <a:ext cx="7556313" cy="995082"/>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 name="Google Shape;136;p8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37" name="Google Shape;137;p8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8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8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
        <p:nvSpPr>
          <p:cNvPr id="140" name="Google Shape;140;p82"/>
          <p:cNvSpPr txBox="1"/>
          <p:nvPr>
            <p:ph idx="2" type="body"/>
          </p:nvPr>
        </p:nvSpPr>
        <p:spPr>
          <a:xfrm>
            <a:off x="498518" y="1129553"/>
            <a:ext cx="7558960" cy="774700"/>
          </a:xfrm>
          <a:prstGeom prst="rect">
            <a:avLst/>
          </a:prstGeom>
          <a:noFill/>
          <a:ln>
            <a:noFill/>
          </a:ln>
        </p:spPr>
        <p:txBody>
          <a:bodyPr anchorCtr="0" anchor="t" bIns="45700" lIns="91425" spcFirstLastPara="1" rIns="91425" wrap="square" tIns="45700">
            <a:noAutofit/>
          </a:bodyPr>
          <a:lstStyle>
            <a:lvl1pPr indent="-228600" lvl="0" marL="457200" algn="l">
              <a:spcBef>
                <a:spcPts val="480"/>
              </a:spcBef>
              <a:spcAft>
                <a:spcPts val="0"/>
              </a:spcAft>
              <a:buSzPts val="2280"/>
              <a:buNone/>
              <a:defRPr b="0" i="0" sz="2400" u="none" cap="none" strike="noStrike">
                <a:solidFill>
                  <a:schemeClr val="accent3"/>
                </a:solidFill>
                <a:latin typeface="Calibri"/>
                <a:ea typeface="Calibri"/>
                <a:cs typeface="Calibri"/>
                <a:sym typeface="Calibri"/>
              </a:defRPr>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228600" lvl="5" marL="2743200" algn="l">
              <a:spcBef>
                <a:spcPts val="180"/>
              </a:spcBef>
              <a:spcAft>
                <a:spcPts val="0"/>
              </a:spcAft>
              <a:buSzPts val="720"/>
              <a:buNone/>
              <a:defRPr sz="900"/>
            </a:lvl6pPr>
            <a:lvl7pPr indent="-228600" lvl="6" marL="3200400" algn="l">
              <a:spcBef>
                <a:spcPts val="180"/>
              </a:spcBef>
              <a:spcAft>
                <a:spcPts val="0"/>
              </a:spcAft>
              <a:buSzPts val="720"/>
              <a:buNone/>
              <a:defRPr sz="900"/>
            </a:lvl7pPr>
            <a:lvl8pPr indent="-228600" lvl="7" marL="3657600" algn="l">
              <a:spcBef>
                <a:spcPts val="180"/>
              </a:spcBef>
              <a:spcAft>
                <a:spcPts val="0"/>
              </a:spcAft>
              <a:buSzPts val="900"/>
              <a:buFont typeface="Constantia"/>
              <a:buNone/>
              <a:defRPr sz="900"/>
            </a:lvl8pPr>
            <a:lvl9pPr indent="-228600" lvl="8" marL="4114800" algn="l">
              <a:spcBef>
                <a:spcPts val="180"/>
              </a:spcBef>
              <a:spcAft>
                <a:spcPts val="0"/>
              </a:spcAft>
              <a:buSzPts val="900"/>
              <a:buFont typeface="Constantia"/>
              <a:buNone/>
              <a:defRPr sz="9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83"/>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83"/>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44" name="Google Shape;144;p8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5" name="Google Shape;145;p8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6" name="Google Shape;146;p8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147" name="Shape 147"/>
        <p:cNvGrpSpPr/>
        <p:nvPr/>
      </p:nvGrpSpPr>
      <p:grpSpPr>
        <a:xfrm>
          <a:off x="0" y="0"/>
          <a:ext cx="0" cy="0"/>
          <a:chOff x="0" y="0"/>
          <a:chExt cx="0" cy="0"/>
        </a:xfrm>
      </p:grpSpPr>
      <p:sp>
        <p:nvSpPr>
          <p:cNvPr id="148" name="Google Shape;148;p66"/>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66"/>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150" name="Google Shape;150;p6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6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6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153" name="Shape 153"/>
        <p:cNvGrpSpPr/>
        <p:nvPr/>
      </p:nvGrpSpPr>
      <p:grpSpPr>
        <a:xfrm>
          <a:off x="0" y="0"/>
          <a:ext cx="0" cy="0"/>
          <a:chOff x="0" y="0"/>
          <a:chExt cx="0" cy="0"/>
        </a:xfrm>
      </p:grpSpPr>
      <p:sp>
        <p:nvSpPr>
          <p:cNvPr id="154" name="Google Shape;154;p74"/>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5" name="Google Shape;155;p74"/>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56" name="Google Shape;156;p7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7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7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9" name="Shape 159"/>
        <p:cNvGrpSpPr/>
        <p:nvPr/>
      </p:nvGrpSpPr>
      <p:grpSpPr>
        <a:xfrm>
          <a:off x="0" y="0"/>
          <a:ext cx="0" cy="0"/>
          <a:chOff x="0" y="0"/>
          <a:chExt cx="0" cy="0"/>
        </a:xfrm>
      </p:grpSpPr>
      <p:sp>
        <p:nvSpPr>
          <p:cNvPr id="160" name="Google Shape;160;p8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84"/>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2" name="Google Shape;162;p8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8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8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spcAft>
                <a:spcPts val="0"/>
              </a:spcAft>
              <a:buNone/>
              <a:defRPr/>
            </a:lvl1pPr>
            <a:lvl2pPr indent="0" lvl="1" marL="0" algn="r">
              <a:spcBef>
                <a:spcPts val="0"/>
              </a:spcBef>
              <a:spcAft>
                <a:spcPts val="0"/>
              </a:spcAft>
              <a:buNone/>
              <a:defRPr/>
            </a:lvl2pPr>
            <a:lvl3pPr indent="0" lvl="2" marL="0" algn="r">
              <a:spcBef>
                <a:spcPts val="0"/>
              </a:spcBef>
              <a:spcAft>
                <a:spcPts val="0"/>
              </a:spcAft>
              <a:buNone/>
              <a:defRPr/>
            </a:lvl3pPr>
            <a:lvl4pPr indent="0" lvl="3" marL="0" algn="r">
              <a:spcBef>
                <a:spcPts val="0"/>
              </a:spcBef>
              <a:spcAft>
                <a:spcPts val="0"/>
              </a:spcAft>
              <a:buNone/>
              <a:defRPr/>
            </a:lvl4pPr>
            <a:lvl5pPr indent="0" lvl="4" marL="0" algn="r">
              <a:spcBef>
                <a:spcPts val="0"/>
              </a:spcBef>
              <a:spcAft>
                <a:spcPts val="0"/>
              </a:spcAft>
              <a:buNone/>
              <a:defRPr/>
            </a:lvl5pPr>
            <a:lvl6pPr indent="0" lvl="5" marL="0" algn="r">
              <a:spcBef>
                <a:spcPts val="0"/>
              </a:spcBef>
              <a:spcAft>
                <a:spcPts val="0"/>
              </a:spcAft>
              <a:buNone/>
              <a:defRPr/>
            </a:lvl6pPr>
            <a:lvl7pPr indent="0" lvl="6" marL="0" algn="r">
              <a:spcBef>
                <a:spcPts val="0"/>
              </a:spcBef>
              <a:spcAft>
                <a:spcPts val="0"/>
              </a:spcAft>
              <a:buNone/>
              <a:defRPr/>
            </a:lvl7pPr>
            <a:lvl8pPr indent="0" lvl="7" marL="0" algn="r">
              <a:spcBef>
                <a:spcPts val="0"/>
              </a:spcBef>
              <a:spcAft>
                <a:spcPts val="0"/>
              </a:spcAft>
              <a:buNone/>
              <a:defRPr/>
            </a:lvl8pPr>
            <a:lvl9pPr indent="0" lvl="8" marL="0" algn="r">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2.xml"/><Relationship Id="rId10" Type="http://schemas.openxmlformats.org/officeDocument/2006/relationships/slideLayout" Target="../slideLayouts/slideLayout11.xml"/><Relationship Id="rId13" Type="http://schemas.openxmlformats.org/officeDocument/2006/relationships/slideLayout" Target="../slideLayouts/slideLayout14.xml"/><Relationship Id="rId12" Type="http://schemas.openxmlformats.org/officeDocument/2006/relationships/slideLayout" Target="../slideLayouts/slideLayout13.xml"/><Relationship Id="rId1" Type="http://schemas.openxmlformats.org/officeDocument/2006/relationships/image" Target="../media/image3.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9" Type="http://schemas.openxmlformats.org/officeDocument/2006/relationships/slideLayout" Target="../slideLayouts/slideLayout10.xml"/><Relationship Id="rId15" Type="http://schemas.openxmlformats.org/officeDocument/2006/relationships/slideLayout" Target="../slideLayouts/slideLayout16.xml"/><Relationship Id="rId14" Type="http://schemas.openxmlformats.org/officeDocument/2006/relationships/slideLayout" Target="../slideLayouts/slideLayout15.xml"/><Relationship Id="rId17" Type="http://schemas.openxmlformats.org/officeDocument/2006/relationships/slideLayout" Target="../slideLayouts/slideLayout18.xml"/><Relationship Id="rId16" Type="http://schemas.openxmlformats.org/officeDocument/2006/relationships/slideLayout" Target="../slideLayouts/slideLayout17.xml"/><Relationship Id="rId5" Type="http://schemas.openxmlformats.org/officeDocument/2006/relationships/slideLayout" Target="../slideLayouts/slideLayout6.xml"/><Relationship Id="rId19" Type="http://schemas.openxmlformats.org/officeDocument/2006/relationships/theme" Target="../theme/theme3.xml"/><Relationship Id="rId6" Type="http://schemas.openxmlformats.org/officeDocument/2006/relationships/slideLayout" Target="../slideLayouts/slideLayout7.xml"/><Relationship Id="rId18" Type="http://schemas.openxmlformats.org/officeDocument/2006/relationships/slideLayout" Target="../slideLayouts/slideLayout19.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65"/>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lt1"/>
              </a:solidFill>
              <a:latin typeface="Constantia"/>
              <a:ea typeface="Constantia"/>
              <a:cs typeface="Constantia"/>
              <a:sym typeface="Constantia"/>
            </a:endParaRPr>
          </a:p>
        </p:txBody>
      </p:sp>
      <p:sp>
        <p:nvSpPr>
          <p:cNvPr id="11" name="Google Shape;11;p65"/>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400" u="none" cap="none" strike="noStrike">
              <a:solidFill>
                <a:schemeClr val="lt1"/>
              </a:solidFill>
              <a:latin typeface="Constantia"/>
              <a:ea typeface="Constantia"/>
              <a:cs typeface="Constantia"/>
              <a:sym typeface="Constantia"/>
            </a:endParaRPr>
          </a:p>
        </p:txBody>
      </p:sp>
      <p:sp>
        <p:nvSpPr>
          <p:cNvPr id="12" name="Google Shape;12;p6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6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6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5" name="Google Shape;15;p6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lt1"/>
                </a:solidFill>
                <a:latin typeface="Times New Roman"/>
                <a:ea typeface="Times New Roman"/>
                <a:cs typeface="Times New Roman"/>
                <a:sym typeface="Times New Roman"/>
              </a:defRPr>
            </a:lvl9pPr>
          </a:lstStyle>
          <a:p/>
        </p:txBody>
      </p:sp>
      <p:sp>
        <p:nvSpPr>
          <p:cNvPr id="16" name="Google Shape;16;p6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1pPr>
            <a:lvl2pPr indent="0" lvl="1"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2pPr>
            <a:lvl3pPr indent="0" lvl="2"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3pPr>
            <a:lvl4pPr indent="0" lvl="3"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4pPr>
            <a:lvl5pPr indent="0" lvl="4"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5pPr>
            <a:lvl6pPr indent="0" lvl="5"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6pPr>
            <a:lvl7pPr indent="0" lvl="6"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7pPr>
            <a:lvl8pPr indent="0" lvl="7"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8pPr>
            <a:lvl9pPr indent="0" lvl="8" marL="0" marR="0" rtl="0" algn="r">
              <a:spcBef>
                <a:spcPts val="0"/>
              </a:spcBef>
              <a:spcAft>
                <a:spcPts val="0"/>
              </a:spcAft>
              <a:buNone/>
              <a:defRPr b="0" i="0" sz="1200" u="none" cap="none" strike="noStrike">
                <a:solidFill>
                  <a:srgbClr val="D0E9ED"/>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65"/>
          <p:cNvGrpSpPr/>
          <p:nvPr/>
        </p:nvGrpSpPr>
        <p:grpSpPr>
          <a:xfrm>
            <a:off x="-29294" y="-16113"/>
            <a:ext cx="9198255" cy="1086266"/>
            <a:chOff x="-29322" y="-1971"/>
            <a:chExt cx="9198255" cy="1086266"/>
          </a:xfrm>
        </p:grpSpPr>
        <p:sp>
          <p:nvSpPr>
            <p:cNvPr id="18" name="Google Shape;18;p65"/>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
          <p:nvSpPr>
            <p:cNvPr id="19" name="Google Shape;19;p65"/>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32" name="Shape 32"/>
        <p:cNvGrpSpPr/>
        <p:nvPr/>
      </p:nvGrpSpPr>
      <p:grpSpPr>
        <a:xfrm>
          <a:off x="0" y="0"/>
          <a:ext cx="0" cy="0"/>
          <a:chOff x="0" y="0"/>
          <a:chExt cx="0" cy="0"/>
        </a:xfrm>
      </p:grpSpPr>
      <p:sp>
        <p:nvSpPr>
          <p:cNvPr id="33" name="Google Shape;33;p64"/>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nstantia"/>
              <a:ea typeface="Constantia"/>
              <a:cs typeface="Constantia"/>
              <a:sym typeface="Constantia"/>
            </a:endParaRPr>
          </a:p>
        </p:txBody>
      </p:sp>
      <p:sp>
        <p:nvSpPr>
          <p:cNvPr id="34" name="Google Shape;34;p64"/>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Constantia"/>
              <a:ea typeface="Constantia"/>
              <a:cs typeface="Constantia"/>
              <a:sym typeface="Constantia"/>
            </a:endParaRPr>
          </a:p>
        </p:txBody>
      </p:sp>
      <p:sp>
        <p:nvSpPr>
          <p:cNvPr id="35" name="Google Shape;35;p6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6" name="Google Shape;36;p6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7" name="Google Shape;37;p6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8" name="Google Shape;38;p6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Times New Roman"/>
                <a:ea typeface="Times New Roman"/>
                <a:cs typeface="Times New Roman"/>
                <a:sym typeface="Times New Roman"/>
              </a:defRPr>
            </a:lvl1pPr>
            <a:lvl2pPr lvl="1"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9" name="Google Shape;39;p6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1pPr>
            <a:lvl2pPr indent="0" lvl="1"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2pPr>
            <a:lvl3pPr indent="0" lvl="2"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3pPr>
            <a:lvl4pPr indent="0" lvl="3"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4pPr>
            <a:lvl5pPr indent="0" lvl="4"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5pPr>
            <a:lvl6pPr indent="0" lvl="5"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6pPr>
            <a:lvl7pPr indent="0" lvl="6"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7pPr>
            <a:lvl8pPr indent="0" lvl="7"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8pPr>
            <a:lvl9pPr indent="0" lvl="8" marL="0" marR="0" rtl="0" algn="r">
              <a:spcBef>
                <a:spcPts val="0"/>
              </a:spcBef>
              <a:spcAft>
                <a:spcPts val="0"/>
              </a:spcAft>
              <a:buNone/>
              <a:defRPr b="0" sz="1200" u="none">
                <a:solidFill>
                  <a:srgbClr val="035C75"/>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grpSp>
        <p:nvGrpSpPr>
          <p:cNvPr id="40" name="Google Shape;40;p64"/>
          <p:cNvGrpSpPr/>
          <p:nvPr/>
        </p:nvGrpSpPr>
        <p:grpSpPr>
          <a:xfrm>
            <a:off x="-29294" y="-16113"/>
            <a:ext cx="9198255" cy="1086266"/>
            <a:chOff x="-29322" y="-1971"/>
            <a:chExt cx="9198255" cy="1086266"/>
          </a:xfrm>
        </p:grpSpPr>
        <p:sp>
          <p:nvSpPr>
            <p:cNvPr id="41" name="Google Shape;41;p64"/>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2" name="Google Shape;42;p64"/>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grpSp>
    </p:spTree>
  </p:cSld>
  <p:clrMap accent1="accent1" accent2="accent2" accent3="accent3" accent4="accent4" accent5="accent5" accent6="accent6" bg1="lt1" bg2="dk2" tx1="dk1" tx2="lt2" folHlink="folHlink" hlink="hlink"/>
  <p:sldLayoutIdLst>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6.jp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0.jp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vmlDrawing" Target="../drawings/vmlDrawing1.vml"/><Relationship Id="rId4" Type="http://schemas.openxmlformats.org/officeDocument/2006/relationships/package" Target="../embeddings/Microsoft_Office_Word_Document1.docx"/><Relationship Id="rId5" Type="http://schemas.openxmlformats.org/officeDocument/2006/relationships/package" Target="../embeddings/Microsoft_Office_Word_Document1.docx"/><Relationship Id="rId6"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9.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16.jpg"/><Relationship Id="rId4" Type="http://schemas.openxmlformats.org/officeDocument/2006/relationships/image" Target="../media/image45.png"/><Relationship Id="rId5" Type="http://schemas.openxmlformats.org/officeDocument/2006/relationships/image" Target="../media/image3.png"/><Relationship Id="rId6"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3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16.jp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6.jpg"/><Relationship Id="rId4" Type="http://schemas.openxmlformats.org/officeDocument/2006/relationships/image" Target="../media/image4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vmlDrawing" Target="../drawings/vmlDrawing2.vml"/><Relationship Id="rId4" Type="http://schemas.openxmlformats.org/officeDocument/2006/relationships/package" Target="../embeddings/Microsoft_Office_Word_Document2.docx"/><Relationship Id="rId9" Type="http://schemas.openxmlformats.org/officeDocument/2006/relationships/image" Target="../media/image47.png"/><Relationship Id="rId5" Type="http://schemas.openxmlformats.org/officeDocument/2006/relationships/package" Target="../embeddings/Microsoft_Office_Word_Document2.docx"/><Relationship Id="rId6" Type="http://schemas.openxmlformats.org/officeDocument/2006/relationships/image" Target="../media/image46.png"/><Relationship Id="rId7" Type="http://schemas.openxmlformats.org/officeDocument/2006/relationships/package" Target="../embeddings/Microsoft_Office_Word_Document3.docx"/><Relationship Id="rId8" Type="http://schemas.openxmlformats.org/officeDocument/2006/relationships/package" Target="../embeddings/Microsoft_Office_Word_Document3.docx"/></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48.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 Id="rId3" Type="http://schemas.openxmlformats.org/officeDocument/2006/relationships/image" Target="../media/image34.png"/><Relationship Id="rId4" Type="http://schemas.openxmlformats.org/officeDocument/2006/relationships/image" Target="../media/image43.png"/><Relationship Id="rId5" Type="http://schemas.openxmlformats.org/officeDocument/2006/relationships/image" Target="../media/image2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png"/><Relationship Id="rId4" Type="http://schemas.openxmlformats.org/officeDocument/2006/relationships/image" Target="../media/image3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29.png"/><Relationship Id="rId4"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 Id="rId3" Type="http://schemas.openxmlformats.org/officeDocument/2006/relationships/image" Target="../media/image3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4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42.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2.xml"/><Relationship Id="rId3" Type="http://schemas.openxmlformats.org/officeDocument/2006/relationships/vmlDrawing" Target="../drawings/vmlDrawing3.vml"/><Relationship Id="rId4" Type="http://schemas.openxmlformats.org/officeDocument/2006/relationships/package" Target="../embeddings/Microsoft_Office_Word_Document4.docx"/><Relationship Id="rId5" Type="http://schemas.openxmlformats.org/officeDocument/2006/relationships/package" Target="../embeddings/Microsoft_Office_Word_Document4.docx"/><Relationship Id="rId6" Type="http://schemas.openxmlformats.org/officeDocument/2006/relationships/image" Target="../media/image41.png"/><Relationship Id="rId7" Type="http://schemas.openxmlformats.org/officeDocument/2006/relationships/image" Target="../media/image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39.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 Id="rId3" Type="http://schemas.openxmlformats.org/officeDocument/2006/relationships/image" Target="../media/image3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 Id="rId3" Type="http://schemas.openxmlformats.org/officeDocument/2006/relationships/image" Target="../media/image3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fontScale="90000"/>
          </a:bodyPr>
          <a:lstStyle/>
          <a:p>
            <a:pPr indent="0" lvl="0" marL="0" rtl="0" algn="r">
              <a:spcBef>
                <a:spcPts val="0"/>
              </a:spcBef>
              <a:spcAft>
                <a:spcPts val="0"/>
              </a:spcAft>
              <a:buClr>
                <a:srgbClr val="4CE0EA"/>
              </a:buClr>
              <a:buSzPct val="100000"/>
              <a:buFont typeface="Calibri"/>
              <a:buNone/>
            </a:pPr>
            <a:r>
              <a:rPr lang="en-US"/>
              <a:t>William Stallings </a:t>
            </a:r>
            <a:br>
              <a:rPr lang="en-US"/>
            </a:br>
            <a:r>
              <a:rPr lang="en-US"/>
              <a:t>Computer Organization </a:t>
            </a:r>
            <a:br>
              <a:rPr lang="en-US"/>
            </a:br>
            <a:r>
              <a:rPr lang="en-US"/>
              <a:t>and Architecture</a:t>
            </a:r>
            <a:br>
              <a:rPr lang="en-US"/>
            </a:br>
            <a:r>
              <a:rPr lang="en-US"/>
              <a:t>9</a:t>
            </a:r>
            <a:r>
              <a:rPr baseline="30000" lang="en-US"/>
              <a:t>th</a:t>
            </a:r>
            <a:r>
              <a:rPr lang="en-US"/>
              <a:t> Edition</a:t>
            </a:r>
            <a:endParaRPr/>
          </a:p>
        </p:txBody>
      </p:sp>
      <p:pic>
        <p:nvPicPr>
          <p:cNvPr descr="Snapshot 2012-06-08 00-57-47.jpg" id="171" name="Google Shape;171;p1"/>
          <p:cNvPicPr preferRelativeResize="0"/>
          <p:nvPr/>
        </p:nvPicPr>
        <p:blipFill rotWithShape="1">
          <a:blip r:embed="rId3">
            <a:alphaModFix/>
          </a:blip>
          <a:srcRect b="0" l="0" r="0" t="0"/>
          <a:stretch/>
        </p:blipFill>
        <p:spPr>
          <a:xfrm>
            <a:off x="609600" y="990600"/>
            <a:ext cx="3649579" cy="2667000"/>
          </a:xfrm>
          <a:prstGeom prst="rect">
            <a:avLst/>
          </a:prstGeom>
          <a:noFill/>
          <a:ln>
            <a:noFill/>
          </a:ln>
          <a:effectLst>
            <a:outerShdw blurRad="50800" rotWithShape="0" algn="tl" dir="2700000" dist="38100">
              <a:schemeClr val="lt1">
                <a:alpha val="42745"/>
              </a:schemeClr>
            </a:outerShdw>
            <a:reflection blurRad="0" dir="5400000" dist="12700" endA="0" endPos="75000" kx="0" rotWithShape="0" algn="bl" stA="50000" stPos="0" sy="-100000" ky="0"/>
          </a:effectLst>
        </p:spPr>
      </p:pic>
      <p:sp>
        <p:nvSpPr>
          <p:cNvPr id="172" name="Google Shape;172;p1"/>
          <p:cNvSpPr txBox="1"/>
          <p:nvPr/>
        </p:nvSpPr>
        <p:spPr>
          <a:xfrm>
            <a:off x="-1534472" y="1786024"/>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lt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
          <p:cNvSpPr txBox="1"/>
          <p:nvPr>
            <p:ph type="title"/>
          </p:nvPr>
        </p:nvSpPr>
        <p:spPr>
          <a:xfrm>
            <a:off x="533400" y="4495800"/>
            <a:ext cx="6191157" cy="833718"/>
          </a:xfrm>
          <a:prstGeom prst="rect">
            <a:avLst/>
          </a:prstGeom>
          <a:noFill/>
          <a:ln>
            <a:noFill/>
          </a:ln>
        </p:spPr>
        <p:txBody>
          <a:bodyPr anchorCtr="0" anchor="b" bIns="45700" lIns="45700" spcFirstLastPara="1" rIns="45700" wrap="square" tIns="45700">
            <a:noAutofit/>
          </a:bodyPr>
          <a:lstStyle/>
          <a:p>
            <a:pPr indent="0" lvl="0" marL="0" rtl="0" algn="l">
              <a:spcBef>
                <a:spcPts val="0"/>
              </a:spcBef>
              <a:spcAft>
                <a:spcPts val="0"/>
              </a:spcAft>
              <a:buClr>
                <a:schemeClr val="dk2"/>
              </a:buClr>
              <a:buSzPts val="5400"/>
              <a:buFont typeface="Calibri"/>
              <a:buNone/>
            </a:pPr>
            <a:r>
              <a:rPr lang="en-US" sz="5400"/>
              <a:t>Chapter 2</a:t>
            </a:r>
            <a:endParaRPr sz="5400"/>
          </a:p>
        </p:txBody>
      </p:sp>
      <p:sp>
        <p:nvSpPr>
          <p:cNvPr id="179" name="Google Shape;179;p2"/>
          <p:cNvSpPr txBox="1"/>
          <p:nvPr>
            <p:ph idx="1" type="body"/>
          </p:nvPr>
        </p:nvSpPr>
        <p:spPr>
          <a:xfrm>
            <a:off x="304801" y="5486400"/>
            <a:ext cx="8610600" cy="838200"/>
          </a:xfrm>
          <a:prstGeom prst="rect">
            <a:avLst/>
          </a:prstGeom>
          <a:noFill/>
          <a:ln>
            <a:noFill/>
          </a:ln>
        </p:spPr>
        <p:txBody>
          <a:bodyPr anchorCtr="0" anchor="t" bIns="45700" lIns="64000" spcFirstLastPara="1" rIns="45700" wrap="square" tIns="45700">
            <a:normAutofit fontScale="85000" lnSpcReduction="10000"/>
          </a:bodyPr>
          <a:lstStyle/>
          <a:p>
            <a:pPr indent="0" lvl="0" marL="0" rtl="0" algn="l">
              <a:spcBef>
                <a:spcPts val="0"/>
              </a:spcBef>
              <a:spcAft>
                <a:spcPts val="0"/>
              </a:spcAft>
              <a:buSzPct val="95000"/>
              <a:buFont typeface="Constantia"/>
              <a:buNone/>
            </a:pPr>
            <a:r>
              <a:rPr lang="en-US" sz="4400"/>
              <a:t>Computer Evolution and Performance</a:t>
            </a:r>
            <a:endParaRPr sz="4400"/>
          </a:p>
        </p:txBody>
      </p:sp>
      <p:sp>
        <p:nvSpPr>
          <p:cNvPr id="180" name="Google Shape;180;p2"/>
          <p:cNvSpPr txBox="1"/>
          <p:nvPr/>
        </p:nvSpPr>
        <p:spPr>
          <a:xfrm>
            <a:off x="5486400" y="1371600"/>
            <a:ext cx="2286000" cy="1938992"/>
          </a:xfrm>
          <a:prstGeom prst="rect">
            <a:avLst/>
          </a:prstGeom>
          <a:solidFill>
            <a:schemeClr val="accent3"/>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
          <p:cNvSpPr txBox="1"/>
          <p:nvPr>
            <p:ph type="title"/>
          </p:nvPr>
        </p:nvSpPr>
        <p:spPr>
          <a:xfrm>
            <a:off x="539552" y="26064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History of Computers</a:t>
            </a:r>
            <a:endParaRPr/>
          </a:p>
        </p:txBody>
      </p:sp>
      <p:sp>
        <p:nvSpPr>
          <p:cNvPr id="187" name="Google Shape;187;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70000" lnSpcReduction="20000"/>
          </a:bodyPr>
          <a:lstStyle/>
          <a:p>
            <a:pPr indent="-274320" lvl="0" marL="274320" rtl="0" algn="l">
              <a:spcBef>
                <a:spcPts val="0"/>
              </a:spcBef>
              <a:spcAft>
                <a:spcPts val="0"/>
              </a:spcAft>
              <a:buSzPct val="95000"/>
              <a:buChar char="⚫"/>
            </a:pPr>
            <a:r>
              <a:rPr lang="en-US"/>
              <a:t>ENIAC</a:t>
            </a:r>
            <a:endParaRPr/>
          </a:p>
          <a:p>
            <a:pPr indent="-246888" lvl="1" marL="640080" rtl="0" algn="l">
              <a:spcBef>
                <a:spcPts val="1200"/>
              </a:spcBef>
              <a:spcAft>
                <a:spcPts val="0"/>
              </a:spcAft>
              <a:buSzPct val="85000"/>
              <a:buChar char="⚫"/>
            </a:pPr>
            <a:r>
              <a:rPr lang="en-US"/>
              <a:t>Electronic Numerical Integrator And Computer</a:t>
            </a:r>
            <a:endParaRPr/>
          </a:p>
          <a:p>
            <a:pPr indent="-274320" lvl="0" marL="274320" rtl="0" algn="l">
              <a:spcBef>
                <a:spcPts val="1200"/>
              </a:spcBef>
              <a:spcAft>
                <a:spcPts val="0"/>
              </a:spcAft>
              <a:buSzPct val="95000"/>
              <a:buChar char="⚫"/>
            </a:pPr>
            <a:r>
              <a:rPr lang="en-US"/>
              <a:t>Designed and constructed at the University of Pennsylvania</a:t>
            </a:r>
            <a:endParaRPr/>
          </a:p>
          <a:p>
            <a:pPr indent="-246888" lvl="1" marL="640080" rtl="0" algn="l">
              <a:spcBef>
                <a:spcPts val="336"/>
              </a:spcBef>
              <a:spcAft>
                <a:spcPts val="0"/>
              </a:spcAft>
              <a:buSzPct val="85000"/>
              <a:buChar char="⚫"/>
            </a:pPr>
            <a:r>
              <a:rPr lang="en-US"/>
              <a:t>Started in 1943 – completed in 1946</a:t>
            </a:r>
            <a:endParaRPr/>
          </a:p>
          <a:p>
            <a:pPr indent="-246888" lvl="1" marL="640080" rtl="0" algn="l">
              <a:spcBef>
                <a:spcPts val="336"/>
              </a:spcBef>
              <a:spcAft>
                <a:spcPts val="0"/>
              </a:spcAft>
              <a:buSzPct val="85000"/>
              <a:buChar char="⚫"/>
            </a:pPr>
            <a:r>
              <a:rPr lang="en-US"/>
              <a:t>By John Mauchly and John Eckert</a:t>
            </a:r>
            <a:endParaRPr/>
          </a:p>
          <a:p>
            <a:pPr indent="-274320" lvl="0" marL="274320" rtl="0" algn="l">
              <a:spcBef>
                <a:spcPts val="364"/>
              </a:spcBef>
              <a:spcAft>
                <a:spcPts val="0"/>
              </a:spcAft>
              <a:buSzPct val="95000"/>
              <a:buChar char="⚫"/>
            </a:pPr>
            <a:r>
              <a:rPr lang="en-US"/>
              <a:t>World’s first general purpose electronic digital computer</a:t>
            </a:r>
            <a:endParaRPr/>
          </a:p>
          <a:p>
            <a:pPr indent="-246888" lvl="1" marL="640080" rtl="0" algn="l">
              <a:lnSpc>
                <a:spcPct val="120000"/>
              </a:lnSpc>
              <a:spcBef>
                <a:spcPts val="336"/>
              </a:spcBef>
              <a:spcAft>
                <a:spcPts val="0"/>
              </a:spcAft>
              <a:buSzPct val="85000"/>
              <a:buChar char="⚫"/>
            </a:pPr>
            <a:r>
              <a:rPr lang="en-US"/>
              <a:t>Army’s Ballistics Research Laboratory (BRL) needed a way to supply trajectory tables for new weapons accurately and within a reasonable time frame</a:t>
            </a:r>
            <a:endParaRPr/>
          </a:p>
          <a:p>
            <a:pPr indent="-246888" lvl="1" marL="640080" rtl="0" algn="l">
              <a:lnSpc>
                <a:spcPct val="120000"/>
              </a:lnSpc>
              <a:spcBef>
                <a:spcPts val="336"/>
              </a:spcBef>
              <a:spcAft>
                <a:spcPts val="0"/>
              </a:spcAft>
              <a:buSzPct val="85000"/>
              <a:buChar char="⚫"/>
            </a:pPr>
            <a:r>
              <a:rPr lang="en-US"/>
              <a:t>Was not finished in time to be used in the war effort</a:t>
            </a:r>
            <a:endParaRPr/>
          </a:p>
          <a:p>
            <a:pPr indent="-228600" lvl="1" marL="228600" rtl="0" algn="l">
              <a:lnSpc>
                <a:spcPct val="120000"/>
              </a:lnSpc>
              <a:spcBef>
                <a:spcPts val="2000"/>
              </a:spcBef>
              <a:spcAft>
                <a:spcPts val="0"/>
              </a:spcAft>
              <a:buClr>
                <a:schemeClr val="accent1"/>
              </a:buClr>
              <a:buSzPct val="85000"/>
              <a:buChar char="⚫"/>
            </a:pPr>
            <a:r>
              <a:rPr lang="en-US" sz="2000"/>
              <a:t>Its first task was to perform a series of calculations that were used to help determine the feasibility of the hydrogen bomb</a:t>
            </a:r>
            <a:endParaRPr/>
          </a:p>
          <a:p>
            <a:pPr indent="-228600" lvl="1" marL="228600" rtl="0" algn="l">
              <a:lnSpc>
                <a:spcPct val="120000"/>
              </a:lnSpc>
              <a:spcBef>
                <a:spcPts val="2000"/>
              </a:spcBef>
              <a:spcAft>
                <a:spcPts val="0"/>
              </a:spcAft>
              <a:buClr>
                <a:schemeClr val="accent1"/>
              </a:buClr>
              <a:buSzPct val="85000"/>
              <a:buChar char="⚫"/>
            </a:pPr>
            <a:r>
              <a:rPr lang="en-US" sz="2000"/>
              <a:t>Continued to operate under BRL management until 1955 when it was disassembled</a:t>
            </a:r>
            <a:endParaRPr/>
          </a:p>
        </p:txBody>
      </p:sp>
      <p:sp>
        <p:nvSpPr>
          <p:cNvPr id="188" name="Google Shape;188;p3"/>
          <p:cNvSpPr txBox="1"/>
          <p:nvPr>
            <p:ph idx="4294967295" type="body"/>
          </p:nvPr>
        </p:nvSpPr>
        <p:spPr>
          <a:xfrm>
            <a:off x="1043608" y="1196752"/>
            <a:ext cx="7143750" cy="774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420"/>
              <a:buNone/>
            </a:pPr>
            <a:r>
              <a:rPr lang="en-US" sz="3600">
                <a:solidFill>
                  <a:schemeClr val="accent1"/>
                </a:solidFill>
              </a:rPr>
              <a:t>First Generation:  Vacuum Tubes</a:t>
            </a:r>
            <a:endParaRPr/>
          </a:p>
        </p:txBody>
      </p:sp>
      <p:pic>
        <p:nvPicPr>
          <p:cNvPr id="189" name="Google Shape;189;p3"/>
          <p:cNvPicPr preferRelativeResize="0"/>
          <p:nvPr/>
        </p:nvPicPr>
        <p:blipFill rotWithShape="1">
          <a:blip r:embed="rId3">
            <a:alphaModFix amt="87000"/>
          </a:blip>
          <a:srcRect b="0" l="0" r="0" t="0"/>
          <a:stretch/>
        </p:blipFill>
        <p:spPr>
          <a:xfrm>
            <a:off x="7127652" y="2507125"/>
            <a:ext cx="1345799" cy="921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4"/>
          <p:cNvSpPr txBox="1"/>
          <p:nvPr>
            <p:ph idx="4294967295" type="title"/>
          </p:nvPr>
        </p:nvSpPr>
        <p:spPr>
          <a:xfrm>
            <a:off x="0" y="228600"/>
            <a:ext cx="7556500" cy="887413"/>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800"/>
              <a:buFont typeface="Calibri"/>
              <a:buNone/>
            </a:pPr>
            <a:r>
              <a:rPr lang="en-US" sz="4800"/>
              <a:t>ENIAC</a:t>
            </a:r>
            <a:endParaRPr sz="4800"/>
          </a:p>
        </p:txBody>
      </p:sp>
      <p:grpSp>
        <p:nvGrpSpPr>
          <p:cNvPr id="196" name="Google Shape;196;p4"/>
          <p:cNvGrpSpPr/>
          <p:nvPr/>
        </p:nvGrpSpPr>
        <p:grpSpPr>
          <a:xfrm rot="10800000">
            <a:off x="-2016597" y="1116024"/>
            <a:ext cx="13309042" cy="5486401"/>
            <a:chOff x="-2323897" y="-1"/>
            <a:chExt cx="13309042" cy="5486401"/>
          </a:xfrm>
        </p:grpSpPr>
        <p:sp>
          <p:nvSpPr>
            <p:cNvPr id="197" name="Google Shape;197;p4"/>
            <p:cNvSpPr/>
            <p:nvPr/>
          </p:nvSpPr>
          <p:spPr>
            <a:xfrm rot="-5400000">
              <a:off x="-2323897" y="2325360"/>
              <a:ext cx="5486400" cy="835679"/>
            </a:xfrm>
            <a:prstGeom prst="flowChartManualOperation">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4"/>
            <p:cNvSpPr txBox="1"/>
            <p:nvPr/>
          </p:nvSpPr>
          <p:spPr>
            <a:xfrm rot="10800000">
              <a:off x="-2323897" y="2325360"/>
              <a:ext cx="5486400" cy="835679"/>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Weighed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30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tons</a:t>
              </a:r>
              <a:endParaRPr b="1" sz="1050">
                <a:solidFill>
                  <a:schemeClr val="lt1"/>
                </a:solidFill>
                <a:latin typeface="Times New Roman"/>
                <a:ea typeface="Times New Roman"/>
                <a:cs typeface="Times New Roman"/>
                <a:sym typeface="Times New Roman"/>
              </a:endParaRPr>
            </a:p>
          </p:txBody>
        </p:sp>
        <p:sp>
          <p:nvSpPr>
            <p:cNvPr id="199" name="Google Shape;199;p4"/>
            <p:cNvSpPr/>
            <p:nvPr/>
          </p:nvSpPr>
          <p:spPr>
            <a:xfrm rot="-5400000">
              <a:off x="-1327818" y="2240384"/>
              <a:ext cx="5486400" cy="1005631"/>
            </a:xfrm>
            <a:prstGeom prst="flowChartManualOperation">
              <a:avLst/>
            </a:prstGeom>
            <a:gradFill>
              <a:gsLst>
                <a:gs pos="0">
                  <a:srgbClr val="0036A6"/>
                </a:gs>
                <a:gs pos="68000">
                  <a:srgbClr val="618AD5"/>
                </a:gs>
                <a:gs pos="100000">
                  <a:srgbClr val="AFC3EE"/>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txBox="1"/>
            <p:nvPr/>
          </p:nvSpPr>
          <p:spPr>
            <a:xfrm rot="10800000">
              <a:off x="-1327818" y="2240384"/>
              <a:ext cx="5486400" cy="1005631"/>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Occupied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1500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square</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feet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of</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floor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space</a:t>
              </a:r>
              <a:endParaRPr b="1" sz="1050">
                <a:solidFill>
                  <a:schemeClr val="lt1"/>
                </a:solidFill>
                <a:latin typeface="Times New Roman"/>
                <a:ea typeface="Times New Roman"/>
                <a:cs typeface="Times New Roman"/>
                <a:sym typeface="Times New Roman"/>
              </a:endParaRPr>
            </a:p>
          </p:txBody>
        </p:sp>
        <p:sp>
          <p:nvSpPr>
            <p:cNvPr id="201" name="Google Shape;201;p4"/>
            <p:cNvSpPr/>
            <p:nvPr/>
          </p:nvSpPr>
          <p:spPr>
            <a:xfrm rot="-5400000">
              <a:off x="-246764" y="2240384"/>
              <a:ext cx="5486400" cy="1005631"/>
            </a:xfrm>
            <a:prstGeom prst="flowChartManualOperation">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4"/>
            <p:cNvSpPr txBox="1"/>
            <p:nvPr/>
          </p:nvSpPr>
          <p:spPr>
            <a:xfrm rot="10800000">
              <a:off x="-246764" y="2240415"/>
              <a:ext cx="5486400" cy="1005600"/>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Contained</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more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than</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18,000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vacuum</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tubes</a:t>
              </a:r>
              <a:endParaRPr b="1" sz="1050">
                <a:solidFill>
                  <a:schemeClr val="lt1"/>
                </a:solidFill>
                <a:latin typeface="Times New Roman"/>
                <a:ea typeface="Times New Roman"/>
                <a:cs typeface="Times New Roman"/>
                <a:sym typeface="Times New Roman"/>
              </a:endParaRPr>
            </a:p>
          </p:txBody>
        </p:sp>
        <p:sp>
          <p:nvSpPr>
            <p:cNvPr id="203" name="Google Shape;203;p4"/>
            <p:cNvSpPr/>
            <p:nvPr/>
          </p:nvSpPr>
          <p:spPr>
            <a:xfrm rot="-5400000">
              <a:off x="834289" y="2240384"/>
              <a:ext cx="5486400" cy="1005631"/>
            </a:xfrm>
            <a:prstGeom prst="flowChartManualOperation">
              <a:avLst/>
            </a:prstGeom>
            <a:gradFill>
              <a:gsLst>
                <a:gs pos="0">
                  <a:srgbClr val="0036A6"/>
                </a:gs>
                <a:gs pos="68000">
                  <a:srgbClr val="618AD5"/>
                </a:gs>
                <a:gs pos="100000">
                  <a:srgbClr val="AFC3EE"/>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4"/>
            <p:cNvSpPr txBox="1"/>
            <p:nvPr/>
          </p:nvSpPr>
          <p:spPr>
            <a:xfrm rot="10800000">
              <a:off x="834289" y="2240384"/>
              <a:ext cx="5486400" cy="1005631"/>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140 kW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Power</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consumption</a:t>
              </a:r>
              <a:endParaRPr b="1" sz="1050">
                <a:solidFill>
                  <a:schemeClr val="lt1"/>
                </a:solidFill>
                <a:latin typeface="Times New Roman"/>
                <a:ea typeface="Times New Roman"/>
                <a:cs typeface="Times New Roman"/>
                <a:sym typeface="Times New Roman"/>
              </a:endParaRPr>
            </a:p>
          </p:txBody>
        </p:sp>
        <p:sp>
          <p:nvSpPr>
            <p:cNvPr id="205" name="Google Shape;205;p4"/>
            <p:cNvSpPr/>
            <p:nvPr/>
          </p:nvSpPr>
          <p:spPr>
            <a:xfrm rot="-5400000">
              <a:off x="1915343" y="2240384"/>
              <a:ext cx="5486400" cy="1005631"/>
            </a:xfrm>
            <a:prstGeom prst="flowChartManualOperation">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4"/>
            <p:cNvSpPr txBox="1"/>
            <p:nvPr/>
          </p:nvSpPr>
          <p:spPr>
            <a:xfrm rot="10800000">
              <a:off x="1915343" y="2240415"/>
              <a:ext cx="5486400" cy="1005600"/>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Capable</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of</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5000</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additions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per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second</a:t>
              </a:r>
              <a:endParaRPr b="1" sz="1050">
                <a:solidFill>
                  <a:schemeClr val="lt1"/>
                </a:solidFill>
                <a:latin typeface="Times New Roman"/>
                <a:ea typeface="Times New Roman"/>
                <a:cs typeface="Times New Roman"/>
                <a:sym typeface="Times New Roman"/>
              </a:endParaRPr>
            </a:p>
          </p:txBody>
        </p:sp>
        <p:sp>
          <p:nvSpPr>
            <p:cNvPr id="207" name="Google Shape;207;p4"/>
            <p:cNvSpPr/>
            <p:nvPr/>
          </p:nvSpPr>
          <p:spPr>
            <a:xfrm rot="-5400000">
              <a:off x="2996397" y="2240384"/>
              <a:ext cx="5486400" cy="1005631"/>
            </a:xfrm>
            <a:prstGeom prst="flowChartManualOperation">
              <a:avLst/>
            </a:prstGeom>
            <a:gradFill>
              <a:gsLst>
                <a:gs pos="0">
                  <a:srgbClr val="0036A6"/>
                </a:gs>
                <a:gs pos="68000">
                  <a:srgbClr val="618AD5"/>
                </a:gs>
                <a:gs pos="100000">
                  <a:srgbClr val="AFC3EE"/>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txBox="1"/>
            <p:nvPr/>
          </p:nvSpPr>
          <p:spPr>
            <a:xfrm rot="10800000">
              <a:off x="2996397" y="2240384"/>
              <a:ext cx="5486400" cy="1005631"/>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Decimal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rather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than</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binary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machine</a:t>
              </a:r>
              <a:endParaRPr b="1" sz="1050">
                <a:solidFill>
                  <a:schemeClr val="lt1"/>
                </a:solidFill>
                <a:latin typeface="Times New Roman"/>
                <a:ea typeface="Times New Roman"/>
                <a:cs typeface="Times New Roman"/>
                <a:sym typeface="Times New Roman"/>
              </a:endParaRPr>
            </a:p>
          </p:txBody>
        </p:sp>
        <p:sp>
          <p:nvSpPr>
            <p:cNvPr id="209" name="Google Shape;209;p4"/>
            <p:cNvSpPr/>
            <p:nvPr/>
          </p:nvSpPr>
          <p:spPr>
            <a:xfrm rot="-5400000">
              <a:off x="4201083" y="2116751"/>
              <a:ext cx="5486400" cy="1252896"/>
            </a:xfrm>
            <a:prstGeom prst="flowChartManualOperation">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4"/>
            <p:cNvSpPr txBox="1"/>
            <p:nvPr/>
          </p:nvSpPr>
          <p:spPr>
            <a:xfrm rot="10800000">
              <a:off x="4201083" y="2116751"/>
              <a:ext cx="5486400" cy="1252896"/>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Memory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consisted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of  20 accumulators,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each</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capable</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of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holding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a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10 digit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number</a:t>
              </a:r>
              <a:endParaRPr b="1" sz="1050">
                <a:solidFill>
                  <a:schemeClr val="lt1"/>
                </a:solidFill>
                <a:latin typeface="Times New Roman"/>
                <a:ea typeface="Times New Roman"/>
                <a:cs typeface="Times New Roman"/>
                <a:sym typeface="Times New Roman"/>
              </a:endParaRPr>
            </a:p>
          </p:txBody>
        </p:sp>
        <p:sp>
          <p:nvSpPr>
            <p:cNvPr id="211" name="Google Shape;211;p4"/>
            <p:cNvSpPr/>
            <p:nvPr/>
          </p:nvSpPr>
          <p:spPr>
            <a:xfrm rot="-5400000">
              <a:off x="5498745" y="2147408"/>
              <a:ext cx="5486400" cy="1191582"/>
            </a:xfrm>
            <a:prstGeom prst="flowChartManualOperation">
              <a:avLst/>
            </a:prstGeom>
            <a:gradFill>
              <a:gsLst>
                <a:gs pos="0">
                  <a:srgbClr val="0036A6"/>
                </a:gs>
                <a:gs pos="68000">
                  <a:srgbClr val="618AD5"/>
                </a:gs>
                <a:gs pos="100000">
                  <a:srgbClr val="AFC3EE"/>
                </a:gs>
              </a:gsLst>
              <a:path path="circle">
                <a:fillToRect b="50%" l="50%" r="50%" t="50%"/>
              </a:path>
              <a:tileRect/>
            </a:gra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txBox="1"/>
            <p:nvPr/>
          </p:nvSpPr>
          <p:spPr>
            <a:xfrm rot="10800000">
              <a:off x="5498745" y="2147408"/>
              <a:ext cx="5486400" cy="1191582"/>
            </a:xfrm>
            <a:prstGeom prst="rect">
              <a:avLst/>
            </a:prstGeom>
            <a:noFill/>
            <a:ln>
              <a:noFill/>
            </a:ln>
          </p:spPr>
          <p:txBody>
            <a:bodyPr anchorCtr="0" anchor="ctr" bIns="0" lIns="69850" spcFirstLastPara="1" rIns="66675" wrap="square" tIns="0">
              <a:noAutofit/>
            </a:bodyPr>
            <a:lstStyle/>
            <a:p>
              <a:pPr indent="0" lvl="0" marL="0" marR="0" rtl="0" algn="ctr">
                <a:lnSpc>
                  <a:spcPct val="90000"/>
                </a:lnSpc>
                <a:spcBef>
                  <a:spcPts val="0"/>
                </a:spcBef>
                <a:spcAft>
                  <a:spcPts val="0"/>
                </a:spcAft>
                <a:buNone/>
              </a:pPr>
              <a:r>
                <a:rPr b="1" lang="en-US" sz="1050">
                  <a:solidFill>
                    <a:schemeClr val="lt1"/>
                  </a:solidFill>
                  <a:latin typeface="Times New Roman"/>
                  <a:ea typeface="Times New Roman"/>
                  <a:cs typeface="Times New Roman"/>
                  <a:sym typeface="Times New Roman"/>
                </a:rPr>
                <a:t>Major</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 drawback </a:t>
              </a:r>
              <a:endParaRPr/>
            </a:p>
            <a:p>
              <a:pPr indent="0" lvl="0" marL="0" marR="0" rtl="0" algn="ctr">
                <a:lnSpc>
                  <a:spcPct val="150000"/>
                </a:lnSpc>
                <a:spcBef>
                  <a:spcPts val="368"/>
                </a:spcBef>
                <a:spcAft>
                  <a:spcPts val="0"/>
                </a:spcAft>
                <a:buNone/>
              </a:pPr>
              <a:r>
                <a:rPr b="1" lang="en-US" sz="1050">
                  <a:solidFill>
                    <a:schemeClr val="lt1"/>
                  </a:solidFill>
                  <a:latin typeface="Times New Roman"/>
                  <a:ea typeface="Times New Roman"/>
                  <a:cs typeface="Times New Roman"/>
                  <a:sym typeface="Times New Roman"/>
                </a:rPr>
                <a:t>was the need</a:t>
              </a:r>
              <a:endParaRPr/>
            </a:p>
            <a:p>
              <a:pPr indent="0" lvl="0" marL="0" marR="0" rtl="0" algn="ctr">
                <a:lnSpc>
                  <a:spcPct val="150000"/>
                </a:lnSpc>
                <a:spcBef>
                  <a:spcPts val="600"/>
                </a:spcBef>
                <a:spcAft>
                  <a:spcPts val="0"/>
                </a:spcAft>
                <a:buNone/>
              </a:pPr>
              <a:r>
                <a:rPr b="1" lang="en-US" sz="1050">
                  <a:solidFill>
                    <a:schemeClr val="lt1"/>
                  </a:solidFill>
                  <a:latin typeface="Times New Roman"/>
                  <a:ea typeface="Times New Roman"/>
                  <a:cs typeface="Times New Roman"/>
                  <a:sym typeface="Times New Roman"/>
                </a:rPr>
                <a:t> for manual programming</a:t>
              </a:r>
              <a:endParaRPr/>
            </a:p>
            <a:p>
              <a:pPr indent="0" lvl="0" marL="0" marR="0" rtl="0" algn="ctr">
                <a:lnSpc>
                  <a:spcPct val="90000"/>
                </a:lnSpc>
                <a:spcBef>
                  <a:spcPts val="600"/>
                </a:spcBef>
                <a:spcAft>
                  <a:spcPts val="0"/>
                </a:spcAft>
                <a:buNone/>
              </a:pPr>
              <a:r>
                <a:rPr b="1" lang="en-US" sz="1050">
                  <a:solidFill>
                    <a:schemeClr val="lt1"/>
                  </a:solidFill>
                  <a:latin typeface="Times New Roman"/>
                  <a:ea typeface="Times New Roman"/>
                  <a:cs typeface="Times New Roman"/>
                  <a:sym typeface="Times New Roman"/>
                </a:rPr>
                <a:t> by setting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switches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and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plugging/</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unplugging </a:t>
              </a:r>
              <a:endParaRPr/>
            </a:p>
            <a:p>
              <a:pPr indent="0" lvl="0" marL="0" marR="0" rtl="0" algn="ctr">
                <a:lnSpc>
                  <a:spcPct val="90000"/>
                </a:lnSpc>
                <a:spcBef>
                  <a:spcPts val="368"/>
                </a:spcBef>
                <a:spcAft>
                  <a:spcPts val="0"/>
                </a:spcAft>
                <a:buNone/>
              </a:pPr>
              <a:r>
                <a:rPr b="1" lang="en-US" sz="1050">
                  <a:solidFill>
                    <a:schemeClr val="lt1"/>
                  </a:solidFill>
                  <a:latin typeface="Times New Roman"/>
                  <a:ea typeface="Times New Roman"/>
                  <a:cs typeface="Times New Roman"/>
                  <a:sym typeface="Times New Roman"/>
                </a:rPr>
                <a:t>cables</a:t>
              </a:r>
              <a:endParaRPr b="1" sz="1050">
                <a:solidFill>
                  <a:schemeClr val="lt1"/>
                </a:solidFill>
                <a:latin typeface="Times New Roman"/>
                <a:ea typeface="Times New Roman"/>
                <a:cs typeface="Times New Roman"/>
                <a:sym typeface="Times New Roman"/>
              </a:endParaRPr>
            </a:p>
          </p:txBody>
        </p:sp>
      </p:grpSp>
      <p:sp>
        <p:nvSpPr>
          <p:cNvPr id="213" name="Google Shape;213;p4"/>
          <p:cNvSpPr txBox="1"/>
          <p:nvPr/>
        </p:nvSpPr>
        <p:spPr>
          <a:xfrm>
            <a:off x="3295859" y="241125"/>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214" name="Google Shape;214;p4"/>
          <p:cNvSpPr txBox="1"/>
          <p:nvPr/>
        </p:nvSpPr>
        <p:spPr>
          <a:xfrm>
            <a:off x="8305800" y="914400"/>
            <a:ext cx="883064" cy="4382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John von Neumann</a:t>
            </a:r>
            <a:endParaRPr/>
          </a:p>
        </p:txBody>
      </p:sp>
      <p:sp>
        <p:nvSpPr>
          <p:cNvPr id="221" name="Google Shape;221;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20000"/>
          </a:bodyPr>
          <a:lstStyle/>
          <a:p>
            <a:pPr indent="-274320" lvl="0" marL="274320" rtl="0" algn="l">
              <a:spcBef>
                <a:spcPts val="0"/>
              </a:spcBef>
              <a:spcAft>
                <a:spcPts val="0"/>
              </a:spcAft>
              <a:buSzPct val="95000"/>
              <a:buChar char="⚫"/>
            </a:pPr>
            <a:r>
              <a:rPr lang="en-US"/>
              <a:t>First publication of the idea was in 1945</a:t>
            </a:r>
            <a:endParaRPr/>
          </a:p>
          <a:p>
            <a:pPr indent="-274320" lvl="0" marL="274320" rtl="0" algn="l">
              <a:spcBef>
                <a:spcPts val="442"/>
              </a:spcBef>
              <a:spcAft>
                <a:spcPts val="0"/>
              </a:spcAft>
              <a:buSzPct val="95000"/>
              <a:buChar char="⚫"/>
            </a:pPr>
            <a:r>
              <a:rPr lang="en-US"/>
              <a:t>Stored program concept</a:t>
            </a:r>
            <a:endParaRPr/>
          </a:p>
          <a:p>
            <a:pPr indent="-246888" lvl="1" marL="640080" rtl="0" algn="l">
              <a:spcBef>
                <a:spcPts val="408"/>
              </a:spcBef>
              <a:spcAft>
                <a:spcPts val="0"/>
              </a:spcAft>
              <a:buSzPct val="85000"/>
              <a:buChar char="⚫"/>
            </a:pPr>
            <a:r>
              <a:rPr lang="en-US"/>
              <a:t>Attributed to ENIAC designers, most notably the mathematician John von Neumann</a:t>
            </a:r>
            <a:endParaRPr/>
          </a:p>
          <a:p>
            <a:pPr indent="-246888" lvl="1" marL="640080" rtl="0" algn="l">
              <a:spcBef>
                <a:spcPts val="408"/>
              </a:spcBef>
              <a:spcAft>
                <a:spcPts val="0"/>
              </a:spcAft>
              <a:buSzPct val="85000"/>
              <a:buChar char="⚫"/>
            </a:pPr>
            <a:r>
              <a:rPr lang="en-US"/>
              <a:t>Program represented in a form suitable for storing in memory alongside the data</a:t>
            </a:r>
            <a:endParaRPr/>
          </a:p>
          <a:p>
            <a:pPr indent="-246888" lvl="1" marL="640080" rtl="0" algn="l">
              <a:spcBef>
                <a:spcPts val="408"/>
              </a:spcBef>
              <a:spcAft>
                <a:spcPts val="0"/>
              </a:spcAft>
              <a:buSzPct val="85000"/>
              <a:buChar char="⚫"/>
            </a:pPr>
            <a:r>
              <a:rPr lang="en-US"/>
              <a:t>The first publication of the idea was in a 1945 proposal by von Neumann for a new computer, the EDVAC (Electronic Discrete Variable Computer).</a:t>
            </a:r>
            <a:endParaRPr/>
          </a:p>
          <a:p>
            <a:pPr indent="-246888" lvl="1" marL="640080" rtl="0" algn="l">
              <a:spcBef>
                <a:spcPts val="442"/>
              </a:spcBef>
              <a:spcAft>
                <a:spcPts val="0"/>
              </a:spcAft>
              <a:buSzPct val="85000"/>
              <a:buNone/>
            </a:pPr>
            <a:r>
              <a:rPr lang="en-US" sz="2600"/>
              <a:t>IAS computer</a:t>
            </a:r>
            <a:endParaRPr/>
          </a:p>
          <a:p>
            <a:pPr indent="-274320" lvl="0" marL="274320" rtl="0" algn="l">
              <a:spcBef>
                <a:spcPts val="425"/>
              </a:spcBef>
              <a:spcAft>
                <a:spcPts val="0"/>
              </a:spcAft>
              <a:buSzPct val="95000"/>
              <a:buChar char="⚫"/>
            </a:pPr>
            <a:r>
              <a:rPr lang="en-US" sz="2500"/>
              <a:t>In 1946, von Neumann and his colleagues began the design of a new stored program </a:t>
            </a:r>
            <a:r>
              <a:rPr lang="en-US" sz="2400"/>
              <a:t>computer, referred to as the IAS computer, at the Princeton Institute for Advanced Studies. </a:t>
            </a:r>
            <a:endParaRPr/>
          </a:p>
          <a:p>
            <a:pPr indent="-274320" lvl="0" marL="274320" rtl="0" algn="l">
              <a:spcBef>
                <a:spcPts val="408"/>
              </a:spcBef>
              <a:spcAft>
                <a:spcPts val="0"/>
              </a:spcAft>
              <a:buSzPct val="95000"/>
              <a:buChar char="⚫"/>
            </a:pPr>
            <a:r>
              <a:rPr lang="en-US" sz="2400"/>
              <a:t>The IAS computer, although not completed until 1952, is the prototype of all subsequent general-purpose computers.</a:t>
            </a:r>
            <a:endParaRPr sz="2400"/>
          </a:p>
        </p:txBody>
      </p:sp>
      <p:sp>
        <p:nvSpPr>
          <p:cNvPr id="222" name="Google Shape;222;p5"/>
          <p:cNvSpPr txBox="1"/>
          <p:nvPr>
            <p:ph idx="4294967295" type="body"/>
          </p:nvPr>
        </p:nvSpPr>
        <p:spPr>
          <a:xfrm>
            <a:off x="0" y="692696"/>
            <a:ext cx="7559675" cy="774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lang="en-US" sz="2600">
                <a:solidFill>
                  <a:schemeClr val="accent1"/>
                </a:solidFill>
              </a:rPr>
              <a:t>EDVAC (Electronic Discrete Variable Computer)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2">
                                            <p:txEl>
                                              <p:pRg end="0" st="0"/>
                                            </p:txEl>
                                          </p:spTgt>
                                        </p:tgtEl>
                                        <p:attrNameLst>
                                          <p:attrName>style.visibility</p:attrName>
                                        </p:attrNameLst>
                                      </p:cBhvr>
                                      <p:to>
                                        <p:strVal val="visible"/>
                                      </p:to>
                                    </p:set>
                                    <p:anim calcmode="lin" valueType="num">
                                      <p:cBhvr additive="base">
                                        <p:cTn dur="500"/>
                                        <p:tgtEl>
                                          <p:spTgt spid="22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 calcmode="lin" valueType="num">
                                      <p:cBhvr additive="base">
                                        <p:cTn dur="500"/>
                                        <p:tgtEl>
                                          <p:spTgt spid="22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 calcmode="lin" valueType="num">
                                      <p:cBhvr additive="base">
                                        <p:cTn dur="500"/>
                                        <p:tgtEl>
                                          <p:spTgt spid="22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 calcmode="lin" valueType="num">
                                      <p:cBhvr additive="base">
                                        <p:cTn dur="500"/>
                                        <p:tgtEl>
                                          <p:spTgt spid="22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 calcmode="lin" valueType="num">
                                      <p:cBhvr additive="base">
                                        <p:cTn dur="500"/>
                                        <p:tgtEl>
                                          <p:spTgt spid="22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 calcmode="lin" valueType="num">
                                      <p:cBhvr additive="base">
                                        <p:cTn dur="500"/>
                                        <p:tgtEl>
                                          <p:spTgt spid="22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 calcmode="lin" valueType="num">
                                      <p:cBhvr additive="base">
                                        <p:cTn dur="500"/>
                                        <p:tgtEl>
                                          <p:spTgt spid="22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6" st="6"/>
                                            </p:txEl>
                                          </p:spTgt>
                                        </p:tgtEl>
                                        <p:attrNameLst>
                                          <p:attrName>style.visibility</p:attrName>
                                        </p:attrNameLst>
                                      </p:cBhvr>
                                      <p:to>
                                        <p:strVal val="visible"/>
                                      </p:to>
                                    </p:set>
                                    <p:anim calcmode="lin" valueType="num">
                                      <p:cBhvr additive="base">
                                        <p:cTn dur="500"/>
                                        <p:tgtEl>
                                          <p:spTgt spid="22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1">
                                            <p:txEl>
                                              <p:pRg end="7" st="7"/>
                                            </p:txEl>
                                          </p:spTgt>
                                        </p:tgtEl>
                                        <p:attrNameLst>
                                          <p:attrName>style.visibility</p:attrName>
                                        </p:attrNameLst>
                                      </p:cBhvr>
                                      <p:to>
                                        <p:strVal val="visible"/>
                                      </p:to>
                                    </p:set>
                                    <p:anim calcmode="lin" valueType="num">
                                      <p:cBhvr additive="base">
                                        <p:cTn dur="500"/>
                                        <p:tgtEl>
                                          <p:spTgt spid="22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6"/>
          <p:cNvSpPr txBox="1"/>
          <p:nvPr>
            <p:ph idx="4294967295" type="title"/>
          </p:nvPr>
        </p:nvSpPr>
        <p:spPr>
          <a:xfrm>
            <a:off x="0" y="381000"/>
            <a:ext cx="7556500" cy="1116013"/>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Structure of von Neumann Machine</a:t>
            </a:r>
            <a:endParaRPr/>
          </a:p>
        </p:txBody>
      </p:sp>
      <p:pic>
        <p:nvPicPr>
          <p:cNvPr descr="f1.pdf" id="229" name="Google Shape;229;p6"/>
          <p:cNvPicPr preferRelativeResize="0"/>
          <p:nvPr/>
        </p:nvPicPr>
        <p:blipFill rotWithShape="1">
          <a:blip r:embed="rId3">
            <a:alphaModFix/>
          </a:blip>
          <a:srcRect b="24545" l="4706" r="15293" t="20909"/>
          <a:stretch/>
        </p:blipFill>
        <p:spPr>
          <a:xfrm>
            <a:off x="762000" y="762000"/>
            <a:ext cx="7238949" cy="6387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7"/>
          <p:cNvSpPr txBox="1"/>
          <p:nvPr>
            <p:ph type="title"/>
          </p:nvPr>
        </p:nvSpPr>
        <p:spPr>
          <a:xfrm>
            <a:off x="395536" y="26064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IAS Memory Formats</a:t>
            </a:r>
            <a:endParaRPr/>
          </a:p>
        </p:txBody>
      </p:sp>
      <p:sp>
        <p:nvSpPr>
          <p:cNvPr id="236" name="Google Shape;236;p7"/>
          <p:cNvSpPr txBox="1"/>
          <p:nvPr>
            <p:ph idx="1" type="body"/>
          </p:nvPr>
        </p:nvSpPr>
        <p:spPr>
          <a:xfrm>
            <a:off x="4038600" y="1219200"/>
            <a:ext cx="3962400" cy="1600200"/>
          </a:xfrm>
          <a:prstGeom prst="rect">
            <a:avLst/>
          </a:prstGeom>
          <a:noFill/>
          <a:ln>
            <a:noFill/>
          </a:ln>
        </p:spPr>
        <p:txBody>
          <a:bodyPr anchorCtr="0" anchor="t" bIns="45700" lIns="91425" spcFirstLastPara="1" rIns="91425" wrap="square" tIns="45700">
            <a:noAutofit/>
          </a:bodyPr>
          <a:lstStyle/>
          <a:p>
            <a:pPr indent="-228600" lvl="1" marL="228600" rtl="0" algn="l">
              <a:lnSpc>
                <a:spcPct val="90000"/>
              </a:lnSpc>
              <a:spcBef>
                <a:spcPts val="0"/>
              </a:spcBef>
              <a:spcAft>
                <a:spcPts val="0"/>
              </a:spcAft>
              <a:buClr>
                <a:schemeClr val="accent1"/>
              </a:buClr>
              <a:buSzPts val="2040"/>
              <a:buChar char="⚫"/>
            </a:pPr>
            <a:r>
              <a:rPr lang="en-US"/>
              <a:t>Both data and instructions are stored there </a:t>
            </a:r>
            <a:endParaRPr/>
          </a:p>
          <a:p>
            <a:pPr indent="-228600" lvl="1" marL="228600" rtl="0" algn="l">
              <a:lnSpc>
                <a:spcPct val="90000"/>
              </a:lnSpc>
              <a:spcBef>
                <a:spcPts val="2000"/>
              </a:spcBef>
              <a:spcAft>
                <a:spcPts val="0"/>
              </a:spcAft>
              <a:buClr>
                <a:schemeClr val="accent1"/>
              </a:buClr>
              <a:buSzPts val="2040"/>
              <a:buChar char="⚫"/>
            </a:pPr>
            <a:r>
              <a:rPr lang="en-US"/>
              <a:t>Numbers are represented in binary form and each instruction is a binary code</a:t>
            </a:r>
            <a:endParaRPr/>
          </a:p>
          <a:p>
            <a:pPr indent="-117475" lvl="0" marL="274320" rtl="0" algn="l">
              <a:lnSpc>
                <a:spcPct val="90000"/>
              </a:lnSpc>
              <a:spcBef>
                <a:spcPts val="520"/>
              </a:spcBef>
              <a:spcAft>
                <a:spcPts val="0"/>
              </a:spcAft>
              <a:buSzPts val="2470"/>
              <a:buNone/>
            </a:pPr>
            <a:r>
              <a:t/>
            </a:r>
            <a:endParaRPr/>
          </a:p>
        </p:txBody>
      </p:sp>
      <p:sp>
        <p:nvSpPr>
          <p:cNvPr id="237" name="Google Shape;237;p7"/>
          <p:cNvSpPr txBox="1"/>
          <p:nvPr>
            <p:ph idx="4294967295" type="body"/>
          </p:nvPr>
        </p:nvSpPr>
        <p:spPr>
          <a:xfrm>
            <a:off x="0" y="1371600"/>
            <a:ext cx="3779838" cy="196532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 memory of the IAS consists of 1000 storage locations (called </a:t>
            </a:r>
            <a:r>
              <a:rPr b="1" i="1" lang="en-US"/>
              <a:t>words</a:t>
            </a:r>
            <a:r>
              <a:rPr lang="en-US"/>
              <a:t>) of 40 bits each</a:t>
            </a:r>
            <a:endParaRPr/>
          </a:p>
        </p:txBody>
      </p:sp>
      <p:pic>
        <p:nvPicPr>
          <p:cNvPr descr="f2.pdf" id="238" name="Google Shape;238;p7"/>
          <p:cNvPicPr preferRelativeResize="0"/>
          <p:nvPr/>
        </p:nvPicPr>
        <p:blipFill rotWithShape="1">
          <a:blip r:embed="rId3">
            <a:alphaModFix/>
          </a:blip>
          <a:srcRect b="28182" l="0" r="0" t="22727"/>
          <a:stretch/>
        </p:blipFill>
        <p:spPr>
          <a:xfrm>
            <a:off x="1458199" y="3234900"/>
            <a:ext cx="5932027" cy="37685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 calcmode="lin" valueType="num">
                                      <p:cBhvr additive="base">
                                        <p:cTn dur="500"/>
                                        <p:tgtEl>
                                          <p:spTgt spid="23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
                                            <p:txEl>
                                              <p:pRg end="0" st="0"/>
                                            </p:txEl>
                                          </p:spTgt>
                                        </p:tgtEl>
                                        <p:attrNameLst>
                                          <p:attrName>style.visibility</p:attrName>
                                        </p:attrNameLst>
                                      </p:cBhvr>
                                      <p:to>
                                        <p:strVal val="visible"/>
                                      </p:to>
                                    </p:set>
                                    <p:anim calcmode="lin" valueType="num">
                                      <p:cBhvr additive="base">
                                        <p:cTn dur="500"/>
                                        <p:tgtEl>
                                          <p:spTgt spid="2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
                                            <p:txEl>
                                              <p:pRg end="1" st="1"/>
                                            </p:txEl>
                                          </p:spTgt>
                                        </p:tgtEl>
                                        <p:attrNameLst>
                                          <p:attrName>style.visibility</p:attrName>
                                        </p:attrNameLst>
                                      </p:cBhvr>
                                      <p:to>
                                        <p:strVal val="visible"/>
                                      </p:to>
                                    </p:set>
                                    <p:anim calcmode="lin" valueType="num">
                                      <p:cBhvr additive="base">
                                        <p:cTn dur="500"/>
                                        <p:tgtEl>
                                          <p:spTgt spid="23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6">
                                            <p:txEl>
                                              <p:pRg end="2" st="2"/>
                                            </p:txEl>
                                          </p:spTgt>
                                        </p:tgtEl>
                                        <p:attrNameLst>
                                          <p:attrName>style.visibility</p:attrName>
                                        </p:attrNameLst>
                                      </p:cBhvr>
                                      <p:to>
                                        <p:strVal val="visible"/>
                                      </p:to>
                                    </p:set>
                                    <p:anim calcmode="lin" valueType="num">
                                      <p:cBhvr additive="base">
                                        <p:cTn dur="500"/>
                                        <p:tgtEl>
                                          <p:spTgt spid="23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8"/>
                                        </p:tgtEl>
                                        <p:attrNameLst>
                                          <p:attrName>style.visibility</p:attrName>
                                        </p:attrNameLst>
                                      </p:cBhvr>
                                      <p:to>
                                        <p:strVal val="visible"/>
                                      </p:to>
                                    </p:set>
                                    <p:anim calcmode="lin" valueType="num">
                                      <p:cBhvr additive="base">
                                        <p:cTn dur="500"/>
                                        <p:tgtEl>
                                          <p:spTgt spid="2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8"/>
          <p:cNvSpPr txBox="1"/>
          <p:nvPr>
            <p:ph type="title"/>
          </p:nvPr>
        </p:nvSpPr>
        <p:spPr>
          <a:xfrm>
            <a:off x="381000" y="1143000"/>
            <a:ext cx="3255264" cy="304800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000"/>
              <a:buFont typeface="Calibri"/>
              <a:buNone/>
            </a:pPr>
            <a:r>
              <a:rPr lang="en-US" sz="4000"/>
              <a:t>Structure </a:t>
            </a:r>
            <a:br>
              <a:rPr lang="en-US" sz="4000"/>
            </a:br>
            <a:r>
              <a:rPr lang="en-US" sz="4000"/>
              <a:t>of </a:t>
            </a:r>
            <a:br>
              <a:rPr lang="en-US" sz="4000"/>
            </a:br>
            <a:r>
              <a:rPr lang="en-US" sz="4000"/>
              <a:t>IAS</a:t>
            </a:r>
            <a:br>
              <a:rPr lang="en-US" sz="4000"/>
            </a:br>
            <a:r>
              <a:rPr lang="en-US" sz="4000"/>
              <a:t>Computer</a:t>
            </a:r>
            <a:endParaRPr sz="4000"/>
          </a:p>
        </p:txBody>
      </p:sp>
      <p:sp>
        <p:nvSpPr>
          <p:cNvPr id="245" name="Google Shape;245;p8"/>
          <p:cNvSpPr/>
          <p:nvPr/>
        </p:nvSpPr>
        <p:spPr>
          <a:xfrm>
            <a:off x="3707904" y="1196752"/>
            <a:ext cx="4608512" cy="415498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control unit operates the IAS by fetching instructions from memory and</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executing them one at a time. To explain this, a more detailed structure diagram is</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needed, as indicated in Figure 2.3. This figure reveals that both the control unit and</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ALU contain storage locations, called </a:t>
            </a:r>
            <a:r>
              <a:rPr i="1" lang="en-US" sz="2400">
                <a:solidFill>
                  <a:schemeClr val="dk1"/>
                </a:solidFill>
                <a:latin typeface="Times New Roman"/>
                <a:ea typeface="Times New Roman"/>
                <a:cs typeface="Times New Roman"/>
                <a:sym typeface="Times New Roman"/>
              </a:rPr>
              <a:t>registers.</a:t>
            </a:r>
            <a:endParaRPr sz="2400">
              <a:solidFill>
                <a:schemeClr val="dk1"/>
              </a:solidFill>
              <a:latin typeface="Times New Roman"/>
              <a:ea typeface="Times New Roman"/>
              <a:cs typeface="Times New Roman"/>
              <a:sym typeface="Times New Roman"/>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anim calcmode="lin" valueType="num">
                                      <p:cBhvr additive="base">
                                        <p:cTn dur="500"/>
                                        <p:tgtEl>
                                          <p:spTgt spid="2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anim calcmode="lin" valueType="num">
                                      <p:cBhvr additive="base">
                                        <p:cTn dur="500"/>
                                        <p:tgtEl>
                                          <p:spTgt spid="24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anim calcmode="lin" valueType="num">
                                      <p:cBhvr additive="base">
                                        <p:cTn dur="500"/>
                                        <p:tgtEl>
                                          <p:spTgt spid="24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anim calcmode="lin" valueType="num">
                                      <p:cBhvr additive="base">
                                        <p:cTn dur="500"/>
                                        <p:tgtEl>
                                          <p:spTgt spid="24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descr="f3.pdf" id="250" name="Google Shape;250;p9"/>
          <p:cNvPicPr preferRelativeResize="0"/>
          <p:nvPr/>
        </p:nvPicPr>
        <p:blipFill rotWithShape="1">
          <a:blip r:embed="rId3">
            <a:alphaModFix/>
          </a:blip>
          <a:srcRect b="3636" l="14117" r="5881" t="8182"/>
          <a:stretch/>
        </p:blipFill>
        <p:spPr>
          <a:xfrm>
            <a:off x="467544" y="476672"/>
            <a:ext cx="8512248" cy="646300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50"/>
                                        </p:tgtEl>
                                        <p:attrNameLst>
                                          <p:attrName>style.visibility</p:attrName>
                                        </p:attrNameLst>
                                      </p:cBhvr>
                                      <p:to>
                                        <p:strVal val="visible"/>
                                      </p:to>
                                    </p:set>
                                    <p:anim calcmode="lin" valueType="num">
                                      <p:cBhvr additive="base">
                                        <p:cTn dur="500"/>
                                        <p:tgtEl>
                                          <p:spTgt spid="25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0"/>
          <p:cNvSpPr txBox="1"/>
          <p:nvPr>
            <p:ph type="title"/>
          </p:nvPr>
        </p:nvSpPr>
        <p:spPr>
          <a:xfrm>
            <a:off x="0" y="228600"/>
            <a:ext cx="5749925" cy="1116106"/>
          </a:xfrm>
          <a:prstGeom prst="rect">
            <a:avLst/>
          </a:prstGeom>
          <a:noFill/>
          <a:ln>
            <a:noFill/>
          </a:ln>
        </p:spPr>
        <p:txBody>
          <a:bodyPr anchorCtr="0" anchor="b" bIns="0" lIns="0" spcFirstLastPara="1" rIns="0" wrap="square" tIns="45700">
            <a:normAutofit/>
          </a:bodyPr>
          <a:lstStyle/>
          <a:p>
            <a:pPr indent="0" lvl="0" marL="0" rtl="0" algn="r">
              <a:spcBef>
                <a:spcPts val="0"/>
              </a:spcBef>
              <a:spcAft>
                <a:spcPts val="0"/>
              </a:spcAft>
              <a:buClr>
                <a:schemeClr val="accent3"/>
              </a:buClr>
              <a:buSzPts val="4400"/>
              <a:buFont typeface="Calibri"/>
              <a:buNone/>
            </a:pPr>
            <a:r>
              <a:rPr lang="en-US" sz="4400">
                <a:solidFill>
                  <a:schemeClr val="accent3"/>
                </a:solidFill>
              </a:rPr>
              <a:t>Registers</a:t>
            </a:r>
            <a:endParaRPr sz="4400">
              <a:solidFill>
                <a:schemeClr val="accent3"/>
              </a:solidFill>
            </a:endParaRPr>
          </a:p>
        </p:txBody>
      </p:sp>
      <p:grpSp>
        <p:nvGrpSpPr>
          <p:cNvPr id="257" name="Google Shape;257;p10"/>
          <p:cNvGrpSpPr/>
          <p:nvPr/>
        </p:nvGrpSpPr>
        <p:grpSpPr>
          <a:xfrm>
            <a:off x="381000" y="-754702"/>
            <a:ext cx="8763228" cy="9129433"/>
            <a:chOff x="0" y="-1973908"/>
            <a:chExt cx="7467599" cy="9129433"/>
          </a:xfrm>
        </p:grpSpPr>
        <p:sp>
          <p:nvSpPr>
            <p:cNvPr id="258" name="Google Shape;258;p10"/>
            <p:cNvSpPr/>
            <p:nvPr/>
          </p:nvSpPr>
          <p:spPr>
            <a:xfrm rot="5400000">
              <a:off x="4746527" y="-1973908"/>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0"/>
            <p:cNvSpPr txBox="1"/>
            <p:nvPr/>
          </p:nvSpPr>
          <p:spPr>
            <a:xfrm rot="10800000">
              <a:off x="4746527" y="-1973908"/>
              <a:ext cx="662880" cy="4779264"/>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Contains a word to be stored in memory or sent to the  I/O unit</a:t>
              </a:r>
              <a:endParaRPr b="0" i="0" sz="1300" u="none" cap="none" strike="noStrike">
                <a:solidFill>
                  <a:schemeClr val="dk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Or is used to receive a word from memory or from the I/O unit</a:t>
              </a:r>
              <a:endParaRPr b="0" i="0" sz="1300" u="none" cap="none" strike="noStrike">
                <a:solidFill>
                  <a:schemeClr val="dk1"/>
                </a:solidFill>
                <a:latin typeface="Times New Roman"/>
                <a:ea typeface="Times New Roman"/>
                <a:cs typeface="Times New Roman"/>
                <a:sym typeface="Times New Roman"/>
              </a:endParaRPr>
            </a:p>
          </p:txBody>
        </p:sp>
        <p:sp>
          <p:nvSpPr>
            <p:cNvPr id="260" name="Google Shape;260;p10"/>
            <p:cNvSpPr/>
            <p:nvPr/>
          </p:nvSpPr>
          <p:spPr>
            <a:xfrm>
              <a:off x="0" y="1423"/>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0"/>
            <p:cNvSpPr txBox="1"/>
            <p:nvPr/>
          </p:nvSpPr>
          <p:spPr>
            <a:xfrm>
              <a:off x="0" y="1423"/>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Memory buffer register (MBR)</a:t>
              </a:r>
              <a:endParaRPr b="1" sz="1600">
                <a:solidFill>
                  <a:schemeClr val="lt1"/>
                </a:solidFill>
                <a:latin typeface="Times New Roman"/>
                <a:ea typeface="Times New Roman"/>
                <a:cs typeface="Times New Roman"/>
                <a:sym typeface="Times New Roman"/>
              </a:endParaRPr>
            </a:p>
          </p:txBody>
        </p:sp>
        <p:sp>
          <p:nvSpPr>
            <p:cNvPr id="262" name="Google Shape;262;p10"/>
            <p:cNvSpPr/>
            <p:nvPr/>
          </p:nvSpPr>
          <p:spPr>
            <a:xfrm rot="5400000">
              <a:off x="4746527" y="-1103877"/>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0"/>
            <p:cNvSpPr txBox="1"/>
            <p:nvPr/>
          </p:nvSpPr>
          <p:spPr>
            <a:xfrm>
              <a:off x="2952558" y="-1103881"/>
              <a:ext cx="4482300" cy="4779300"/>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Specifies the address in memory of the word to be written from or read into the MBR</a:t>
              </a:r>
              <a:endParaRPr b="0" i="0" sz="1300" u="none" cap="none" strike="noStrike">
                <a:solidFill>
                  <a:schemeClr val="dk1"/>
                </a:solidFill>
                <a:latin typeface="Times New Roman"/>
                <a:ea typeface="Times New Roman"/>
                <a:cs typeface="Times New Roman"/>
                <a:sym typeface="Times New Roman"/>
              </a:endParaRPr>
            </a:p>
          </p:txBody>
        </p:sp>
        <p:sp>
          <p:nvSpPr>
            <p:cNvPr id="264" name="Google Shape;264;p10"/>
            <p:cNvSpPr/>
            <p:nvPr/>
          </p:nvSpPr>
          <p:spPr>
            <a:xfrm>
              <a:off x="0" y="871453"/>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0"/>
            <p:cNvSpPr txBox="1"/>
            <p:nvPr/>
          </p:nvSpPr>
          <p:spPr>
            <a:xfrm>
              <a:off x="0" y="871453"/>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Memory address register (MAR)</a:t>
              </a:r>
              <a:endParaRPr/>
            </a:p>
          </p:txBody>
        </p:sp>
        <p:sp>
          <p:nvSpPr>
            <p:cNvPr id="266" name="Google Shape;266;p10"/>
            <p:cNvSpPr/>
            <p:nvPr/>
          </p:nvSpPr>
          <p:spPr>
            <a:xfrm rot="5400000">
              <a:off x="4746527" y="-233847"/>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0"/>
            <p:cNvSpPr txBox="1"/>
            <p:nvPr/>
          </p:nvSpPr>
          <p:spPr>
            <a:xfrm>
              <a:off x="3094904" y="-233881"/>
              <a:ext cx="3487200" cy="4779300"/>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Contains the 8-bit opcode instruction being executed</a:t>
              </a:r>
              <a:endParaRPr b="0" i="0" sz="1300" u="none" cap="none" strike="noStrike">
                <a:solidFill>
                  <a:schemeClr val="dk1"/>
                </a:solidFill>
                <a:latin typeface="Times New Roman"/>
                <a:ea typeface="Times New Roman"/>
                <a:cs typeface="Times New Roman"/>
                <a:sym typeface="Times New Roman"/>
              </a:endParaRPr>
            </a:p>
          </p:txBody>
        </p:sp>
        <p:sp>
          <p:nvSpPr>
            <p:cNvPr id="268" name="Google Shape;268;p10"/>
            <p:cNvSpPr/>
            <p:nvPr/>
          </p:nvSpPr>
          <p:spPr>
            <a:xfrm>
              <a:off x="0" y="1741484"/>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0"/>
            <p:cNvSpPr txBox="1"/>
            <p:nvPr/>
          </p:nvSpPr>
          <p:spPr>
            <a:xfrm>
              <a:off x="0" y="1741484"/>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Instruction register (IR)</a:t>
              </a:r>
              <a:endParaRPr/>
            </a:p>
          </p:txBody>
        </p:sp>
        <p:sp>
          <p:nvSpPr>
            <p:cNvPr id="270" name="Google Shape;270;p10"/>
            <p:cNvSpPr/>
            <p:nvPr/>
          </p:nvSpPr>
          <p:spPr>
            <a:xfrm rot="5400000">
              <a:off x="4746527" y="636183"/>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0"/>
            <p:cNvSpPr txBox="1"/>
            <p:nvPr/>
          </p:nvSpPr>
          <p:spPr>
            <a:xfrm rot="10800000">
              <a:off x="4746527" y="636183"/>
              <a:ext cx="662880" cy="4779264"/>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Employed to temporarily hold the right-hand instruction from a word in memory</a:t>
              </a:r>
              <a:endParaRPr b="0" i="0" sz="1300" u="none" cap="none" strike="noStrike">
                <a:solidFill>
                  <a:schemeClr val="dk1"/>
                </a:solidFill>
                <a:latin typeface="Times New Roman"/>
                <a:ea typeface="Times New Roman"/>
                <a:cs typeface="Times New Roman"/>
                <a:sym typeface="Times New Roman"/>
              </a:endParaRPr>
            </a:p>
          </p:txBody>
        </p:sp>
        <p:sp>
          <p:nvSpPr>
            <p:cNvPr id="272" name="Google Shape;272;p10"/>
            <p:cNvSpPr/>
            <p:nvPr/>
          </p:nvSpPr>
          <p:spPr>
            <a:xfrm>
              <a:off x="0" y="2611515"/>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0"/>
            <p:cNvSpPr txBox="1"/>
            <p:nvPr/>
          </p:nvSpPr>
          <p:spPr>
            <a:xfrm>
              <a:off x="0" y="2611515"/>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Instruction buffer register (IBR)</a:t>
              </a:r>
              <a:endParaRPr/>
            </a:p>
          </p:txBody>
        </p:sp>
        <p:sp>
          <p:nvSpPr>
            <p:cNvPr id="274" name="Google Shape;274;p10"/>
            <p:cNvSpPr/>
            <p:nvPr/>
          </p:nvSpPr>
          <p:spPr>
            <a:xfrm rot="5400000">
              <a:off x="4746527" y="1506213"/>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0"/>
            <p:cNvSpPr txBox="1"/>
            <p:nvPr/>
          </p:nvSpPr>
          <p:spPr>
            <a:xfrm>
              <a:off x="2952493" y="747169"/>
              <a:ext cx="4482300" cy="4779300"/>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Contains the address of the next instruction pair to be fetched from memory</a:t>
              </a:r>
              <a:endParaRPr b="0" i="0" sz="1300" u="none" cap="none" strike="noStrike">
                <a:solidFill>
                  <a:schemeClr val="dk1"/>
                </a:solidFill>
                <a:latin typeface="Times New Roman"/>
                <a:ea typeface="Times New Roman"/>
                <a:cs typeface="Times New Roman"/>
                <a:sym typeface="Times New Roman"/>
              </a:endParaRPr>
            </a:p>
          </p:txBody>
        </p:sp>
        <p:sp>
          <p:nvSpPr>
            <p:cNvPr id="276" name="Google Shape;276;p10"/>
            <p:cNvSpPr/>
            <p:nvPr/>
          </p:nvSpPr>
          <p:spPr>
            <a:xfrm>
              <a:off x="0" y="3481545"/>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0"/>
            <p:cNvSpPr txBox="1"/>
            <p:nvPr/>
          </p:nvSpPr>
          <p:spPr>
            <a:xfrm>
              <a:off x="0" y="3481545"/>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Program counter (PC)</a:t>
              </a:r>
              <a:endParaRPr/>
            </a:p>
          </p:txBody>
        </p:sp>
        <p:sp>
          <p:nvSpPr>
            <p:cNvPr id="278" name="Google Shape;278;p10"/>
            <p:cNvSpPr/>
            <p:nvPr/>
          </p:nvSpPr>
          <p:spPr>
            <a:xfrm rot="5400000">
              <a:off x="4746527" y="2376244"/>
              <a:ext cx="662880" cy="4779264"/>
            </a:xfrm>
            <a:prstGeom prst="round2SameRect">
              <a:avLst>
                <a:gd fmla="val 16667" name="adj1"/>
                <a:gd fmla="val 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0"/>
            <p:cNvSpPr txBox="1"/>
            <p:nvPr/>
          </p:nvSpPr>
          <p:spPr>
            <a:xfrm>
              <a:off x="2870118" y="2376225"/>
              <a:ext cx="4415700" cy="4779300"/>
            </a:xfrm>
            <a:prstGeom prst="rect">
              <a:avLst/>
            </a:prstGeom>
            <a:noFill/>
            <a:ln>
              <a:noFill/>
            </a:ln>
          </p:spPr>
          <p:txBody>
            <a:bodyPr anchorCtr="0" anchor="ctr" bIns="24750" lIns="49525" spcFirstLastPara="1" rIns="49525" wrap="square" tIns="24750">
              <a:noAutofit/>
            </a:bodyPr>
            <a:lstStyle/>
            <a:p>
              <a:pPr indent="-114300" lvl="1" marL="114300" marR="0" rtl="0" algn="l">
                <a:lnSpc>
                  <a:spcPct val="90000"/>
                </a:lnSpc>
                <a:spcBef>
                  <a:spcPts val="0"/>
                </a:spcBef>
                <a:spcAft>
                  <a:spcPts val="0"/>
                </a:spcAft>
                <a:buClr>
                  <a:schemeClr val="dk1"/>
                </a:buClr>
                <a:buSzPts val="1300"/>
                <a:buFont typeface="Times New Roman"/>
                <a:buChar char="•"/>
              </a:pPr>
              <a:r>
                <a:rPr b="0" i="0" lang="en-US" sz="1300" u="none" cap="none" strike="noStrike">
                  <a:solidFill>
                    <a:schemeClr val="dk1"/>
                  </a:solidFill>
                  <a:latin typeface="Times New Roman"/>
                  <a:ea typeface="Times New Roman"/>
                  <a:cs typeface="Times New Roman"/>
                  <a:sym typeface="Times New Roman"/>
                </a:rPr>
                <a:t>Employed to temporarily hold operands and results of ALU operations</a:t>
              </a:r>
              <a:endParaRPr b="0" i="0" sz="1300" u="none" cap="none" strike="noStrike">
                <a:solidFill>
                  <a:schemeClr val="dk1"/>
                </a:solidFill>
                <a:latin typeface="Times New Roman"/>
                <a:ea typeface="Times New Roman"/>
                <a:cs typeface="Times New Roman"/>
                <a:sym typeface="Times New Roman"/>
              </a:endParaRPr>
            </a:p>
          </p:txBody>
        </p:sp>
        <p:sp>
          <p:nvSpPr>
            <p:cNvPr id="280" name="Google Shape;280;p10"/>
            <p:cNvSpPr/>
            <p:nvPr/>
          </p:nvSpPr>
          <p:spPr>
            <a:xfrm>
              <a:off x="0" y="4351576"/>
              <a:ext cx="2688336" cy="828600"/>
            </a:xfrm>
            <a:prstGeom prst="roundRect">
              <a:avLst>
                <a:gd fmla="val 16667"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0"/>
            <p:cNvSpPr txBox="1"/>
            <p:nvPr/>
          </p:nvSpPr>
          <p:spPr>
            <a:xfrm>
              <a:off x="0" y="4351576"/>
              <a:ext cx="2688336" cy="828600"/>
            </a:xfrm>
            <a:prstGeom prst="rect">
              <a:avLst/>
            </a:prstGeom>
            <a:noFill/>
            <a:ln>
              <a:noFill/>
            </a:ln>
          </p:spPr>
          <p:txBody>
            <a:bodyPr anchorCtr="0" anchor="ctr" bIns="30475" lIns="60950" spcFirstLastPara="1" rIns="60950" wrap="square" tIns="30475">
              <a:noAutofit/>
            </a:bodyPr>
            <a:lstStyle/>
            <a:p>
              <a:pPr indent="0" lvl="0" marL="0" marR="0" rtl="0" algn="ctr">
                <a:lnSpc>
                  <a:spcPct val="90000"/>
                </a:lnSpc>
                <a:spcBef>
                  <a:spcPts val="0"/>
                </a:spcBef>
                <a:spcAft>
                  <a:spcPts val="0"/>
                </a:spcAft>
                <a:buNone/>
              </a:pPr>
              <a:r>
                <a:rPr b="1" lang="en-US" sz="1600">
                  <a:solidFill>
                    <a:schemeClr val="lt1"/>
                  </a:solidFill>
                  <a:latin typeface="Times New Roman"/>
                  <a:ea typeface="Times New Roman"/>
                  <a:cs typeface="Times New Roman"/>
                  <a:sym typeface="Times New Roman"/>
                </a:rPr>
                <a:t>Accumulator (AC) and multiplier quotient (MQ)</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pic>
        <p:nvPicPr>
          <p:cNvPr descr="f4.pdf" id="287" name="Google Shape;287;p11"/>
          <p:cNvPicPr preferRelativeResize="0"/>
          <p:nvPr/>
        </p:nvPicPr>
        <p:blipFill rotWithShape="1">
          <a:blip r:embed="rId3">
            <a:alphaModFix/>
          </a:blip>
          <a:srcRect b="5454" l="0" r="0" t="6363"/>
          <a:stretch/>
        </p:blipFill>
        <p:spPr>
          <a:xfrm>
            <a:off x="0" y="0"/>
            <a:ext cx="6009688" cy="6858000"/>
          </a:xfrm>
          <a:prstGeom prst="rect">
            <a:avLst/>
          </a:prstGeom>
          <a:noFill/>
          <a:ln>
            <a:noFill/>
          </a:ln>
        </p:spPr>
      </p:pic>
      <p:sp>
        <p:nvSpPr>
          <p:cNvPr id="288" name="Google Shape;288;p11"/>
          <p:cNvSpPr txBox="1"/>
          <p:nvPr>
            <p:ph type="title"/>
          </p:nvPr>
        </p:nvSpPr>
        <p:spPr>
          <a:xfrm>
            <a:off x="5867400" y="2590800"/>
            <a:ext cx="3276600" cy="152400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solidFill>
                  <a:schemeClr val="dk2"/>
                </a:solidFill>
              </a:rPr>
              <a:t>IAS</a:t>
            </a:r>
            <a:br>
              <a:rPr lang="en-US">
                <a:solidFill>
                  <a:schemeClr val="dk2"/>
                </a:solidFill>
              </a:rPr>
            </a:br>
            <a:r>
              <a:rPr lang="en-US">
                <a:solidFill>
                  <a:schemeClr val="dk2"/>
                </a:solidFill>
              </a:rPr>
              <a:t>Operations</a:t>
            </a:r>
            <a:endParaRPr>
              <a:solidFill>
                <a:schemeClr val="dk2"/>
              </a:solidFill>
            </a:endParaRPr>
          </a:p>
        </p:txBody>
      </p:sp>
      <p:sp>
        <p:nvSpPr>
          <p:cNvPr id="289" name="Google Shape;289;p11"/>
          <p:cNvSpPr txBox="1"/>
          <p:nvPr/>
        </p:nvSpPr>
        <p:spPr>
          <a:xfrm>
            <a:off x="0" y="0"/>
            <a:ext cx="609600" cy="685800"/>
          </a:xfrm>
          <a:prstGeom prst="rect">
            <a:avLst/>
          </a:prstGeom>
          <a:blipFill rotWithShape="1">
            <a:blip r:embed="rId4">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ransition spd="med">
    <p:wipe dir="d"/>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2"/>
          <p:cNvSpPr txBox="1"/>
          <p:nvPr>
            <p:ph type="title"/>
          </p:nvPr>
        </p:nvSpPr>
        <p:spPr>
          <a:xfrm>
            <a:off x="6172200" y="3505200"/>
            <a:ext cx="2971800" cy="33528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The IAS Instruction </a:t>
            </a:r>
            <a:br>
              <a:rPr lang="en-US"/>
            </a:br>
            <a:r>
              <a:rPr lang="en-US"/>
              <a:t>Set</a:t>
            </a:r>
            <a:endParaRPr/>
          </a:p>
        </p:txBody>
      </p:sp>
      <p:sp>
        <p:nvSpPr>
          <p:cNvPr id="296" name="Google Shape;296;p12"/>
          <p:cNvSpPr txBox="1"/>
          <p:nvPr/>
        </p:nvSpPr>
        <p:spPr>
          <a:xfrm>
            <a:off x="6400800" y="2362200"/>
            <a:ext cx="2362200" cy="646331"/>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600">
                <a:solidFill>
                  <a:schemeClr val="accent1"/>
                </a:solidFill>
                <a:latin typeface="Calibri"/>
                <a:ea typeface="Calibri"/>
                <a:cs typeface="Calibri"/>
                <a:sym typeface="Calibri"/>
              </a:rPr>
              <a:t>Table 2.1</a:t>
            </a:r>
            <a:endParaRPr/>
          </a:p>
        </p:txBody>
      </p:sp>
      <p:sp>
        <p:nvSpPr>
          <p:cNvPr id="297" name="Google Shape;297;p12"/>
          <p:cNvSpPr txBox="1"/>
          <p:nvPr/>
        </p:nvSpPr>
        <p:spPr>
          <a:xfrm>
            <a:off x="0" y="6858000"/>
            <a:ext cx="9144000" cy="381000"/>
          </a:xfrm>
          <a:prstGeom prst="rect">
            <a:avLst/>
          </a:prstGeom>
          <a:solidFill>
            <a:srgbClr val="A5A5A5"/>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298" name="Google Shape;298;p12"/>
          <p:cNvPicPr preferRelativeResize="0"/>
          <p:nvPr/>
        </p:nvPicPr>
        <p:blipFill rotWithShape="1">
          <a:blip r:embed="rId4">
            <a:alphaModFix/>
          </a:blip>
          <a:srcRect b="0" l="0" r="0" t="0"/>
          <a:stretch/>
        </p:blipFill>
        <p:spPr>
          <a:xfrm>
            <a:off x="0" y="0"/>
            <a:ext cx="6006107" cy="6858000"/>
          </a:xfrm>
          <a:prstGeom prst="rect">
            <a:avLst/>
          </a:prstGeom>
          <a:noFill/>
          <a:ln>
            <a:noFill/>
          </a:ln>
        </p:spPr>
      </p:pic>
      <p:sp>
        <p:nvSpPr>
          <p:cNvPr id="299" name="Google Shape;299;p12"/>
          <p:cNvSpPr txBox="1"/>
          <p:nvPr/>
        </p:nvSpPr>
        <p:spPr>
          <a:xfrm>
            <a:off x="533400" y="6550223"/>
            <a:ext cx="4876800"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Table 2.1 The IAS Instruction Set</a:t>
            </a:r>
            <a:endParaRPr sz="1400">
              <a:solidFill>
                <a:schemeClr val="dk1"/>
              </a:solidFill>
              <a:latin typeface="Constantia"/>
              <a:ea typeface="Constantia"/>
              <a:cs typeface="Constantia"/>
              <a:sym typeface="Constant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3"/>
          <p:cNvSpPr txBox="1"/>
          <p:nvPr>
            <p:ph type="title"/>
          </p:nvPr>
        </p:nvSpPr>
        <p:spPr>
          <a:xfrm>
            <a:off x="539552" y="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Commercial Computers</a:t>
            </a:r>
            <a:endParaRPr/>
          </a:p>
        </p:txBody>
      </p:sp>
      <p:sp>
        <p:nvSpPr>
          <p:cNvPr id="306" name="Google Shape;306;p1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spcBef>
                <a:spcPts val="0"/>
              </a:spcBef>
              <a:spcAft>
                <a:spcPts val="0"/>
              </a:spcAft>
              <a:buSzPct val="95000"/>
              <a:buChar char="⚫"/>
            </a:pPr>
            <a:r>
              <a:rPr lang="en-US"/>
              <a:t>1947 – Eckert and Mauchly formed the Eckert-Mauchly Computer Corporation to manufacture computers commercially</a:t>
            </a:r>
            <a:endParaRPr/>
          </a:p>
          <a:p>
            <a:pPr indent="-274320" lvl="0" marL="274320" rtl="0" algn="l">
              <a:spcBef>
                <a:spcPts val="442"/>
              </a:spcBef>
              <a:spcAft>
                <a:spcPts val="0"/>
              </a:spcAft>
              <a:buSzPct val="95000"/>
              <a:buChar char="⚫"/>
            </a:pPr>
            <a:r>
              <a:rPr lang="en-US"/>
              <a:t>UNIVAC I (Universal Automatic Computer)</a:t>
            </a:r>
            <a:endParaRPr/>
          </a:p>
          <a:p>
            <a:pPr indent="-246888" lvl="1" marL="640080" rtl="0" algn="l">
              <a:spcBef>
                <a:spcPts val="408"/>
              </a:spcBef>
              <a:spcAft>
                <a:spcPts val="0"/>
              </a:spcAft>
              <a:buSzPct val="85000"/>
              <a:buChar char="⚫"/>
            </a:pPr>
            <a:r>
              <a:rPr lang="en-US"/>
              <a:t>First successful commercial computer</a:t>
            </a:r>
            <a:endParaRPr/>
          </a:p>
          <a:p>
            <a:pPr indent="-246888" lvl="1" marL="640080" rtl="0" algn="l">
              <a:spcBef>
                <a:spcPts val="408"/>
              </a:spcBef>
              <a:spcAft>
                <a:spcPts val="0"/>
              </a:spcAft>
              <a:buSzPct val="85000"/>
              <a:buChar char="⚫"/>
            </a:pPr>
            <a:r>
              <a:rPr lang="en-US"/>
              <a:t>Was intended for both scientific and commercial applications</a:t>
            </a:r>
            <a:endParaRPr/>
          </a:p>
          <a:p>
            <a:pPr indent="-246888" lvl="1" marL="640080" rtl="0" algn="l">
              <a:spcBef>
                <a:spcPts val="408"/>
              </a:spcBef>
              <a:spcAft>
                <a:spcPts val="0"/>
              </a:spcAft>
              <a:buSzPct val="85000"/>
              <a:buChar char="⚫"/>
            </a:pPr>
            <a:r>
              <a:rPr lang="en-US"/>
              <a:t>Commissioned by the US Bureau of Census for 1950 calculations</a:t>
            </a:r>
            <a:endParaRPr/>
          </a:p>
          <a:p>
            <a:pPr indent="-274320" lvl="0" marL="274320" rtl="0" algn="l">
              <a:spcBef>
                <a:spcPts val="442"/>
              </a:spcBef>
              <a:spcAft>
                <a:spcPts val="0"/>
              </a:spcAft>
              <a:buSzPct val="95000"/>
              <a:buChar char="⚫"/>
            </a:pPr>
            <a:r>
              <a:rPr lang="en-US"/>
              <a:t>The Eckert-Mauchly Computer Corporation became part of the UNIVAC division of the Sperry-Rand Corporation</a:t>
            </a:r>
            <a:endParaRPr/>
          </a:p>
          <a:p>
            <a:pPr indent="-274320" lvl="0" marL="274320" rtl="0" algn="l">
              <a:spcBef>
                <a:spcPts val="442"/>
              </a:spcBef>
              <a:spcAft>
                <a:spcPts val="0"/>
              </a:spcAft>
              <a:buSzPct val="95000"/>
              <a:buChar char="⚫"/>
            </a:pPr>
            <a:r>
              <a:rPr lang="en-US"/>
              <a:t>UNIVAC II – delivered in the late 1950’s</a:t>
            </a:r>
            <a:endParaRPr/>
          </a:p>
          <a:p>
            <a:pPr indent="-246888" lvl="1" marL="640080" rtl="0" algn="l">
              <a:spcBef>
                <a:spcPts val="408"/>
              </a:spcBef>
              <a:spcAft>
                <a:spcPts val="0"/>
              </a:spcAft>
              <a:buSzPct val="85000"/>
              <a:buChar char="⚫"/>
            </a:pPr>
            <a:r>
              <a:rPr lang="en-US"/>
              <a:t>Had greater memory capacity and higher performance</a:t>
            </a:r>
            <a:endParaRPr/>
          </a:p>
          <a:p>
            <a:pPr indent="-228648" lvl="1" marL="228600" rtl="0" algn="l">
              <a:spcBef>
                <a:spcPts val="2000"/>
              </a:spcBef>
              <a:spcAft>
                <a:spcPts val="0"/>
              </a:spcAft>
              <a:buClr>
                <a:schemeClr val="accent1"/>
              </a:buClr>
              <a:buSzPct val="85000"/>
              <a:buChar char="⚫"/>
            </a:pPr>
            <a:r>
              <a:rPr lang="en-US" sz="2054"/>
              <a:t>Backward compatible</a:t>
            </a:r>
            <a:endParaRPr/>
          </a:p>
        </p:txBody>
      </p:sp>
      <p:sp>
        <p:nvSpPr>
          <p:cNvPr id="307" name="Google Shape;307;p13"/>
          <p:cNvSpPr txBox="1"/>
          <p:nvPr>
            <p:ph idx="4294967295" type="body"/>
          </p:nvPr>
        </p:nvSpPr>
        <p:spPr>
          <a:xfrm>
            <a:off x="0" y="1196752"/>
            <a:ext cx="6283325" cy="774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850"/>
              <a:buNone/>
            </a:pPr>
            <a:r>
              <a:rPr lang="en-US" sz="3000"/>
              <a:t>	UNIVAC</a:t>
            </a:r>
            <a:endParaRPr sz="3000"/>
          </a:p>
        </p:txBody>
      </p:sp>
      <p:pic>
        <p:nvPicPr>
          <p:cNvPr id="308" name="Google Shape;308;p13"/>
          <p:cNvPicPr preferRelativeResize="0"/>
          <p:nvPr/>
        </p:nvPicPr>
        <p:blipFill rotWithShape="1">
          <a:blip r:embed="rId3">
            <a:alphaModFix/>
          </a:blip>
          <a:srcRect b="0" l="0" r="0" t="0"/>
          <a:stretch/>
        </p:blipFill>
        <p:spPr>
          <a:xfrm>
            <a:off x="7560425" y="228600"/>
            <a:ext cx="1583575" cy="2057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0" st="0"/>
                                            </p:txEl>
                                          </p:spTgt>
                                        </p:tgtEl>
                                        <p:attrNameLst>
                                          <p:attrName>style.visibility</p:attrName>
                                        </p:attrNameLst>
                                      </p:cBhvr>
                                      <p:to>
                                        <p:strVal val="visible"/>
                                      </p:to>
                                    </p:set>
                                    <p:anim calcmode="lin" valueType="num">
                                      <p:cBhvr additive="base">
                                        <p:cTn dur="500"/>
                                        <p:tgtEl>
                                          <p:spTgt spid="3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1" st="1"/>
                                            </p:txEl>
                                          </p:spTgt>
                                        </p:tgtEl>
                                        <p:attrNameLst>
                                          <p:attrName>style.visibility</p:attrName>
                                        </p:attrNameLst>
                                      </p:cBhvr>
                                      <p:to>
                                        <p:strVal val="visible"/>
                                      </p:to>
                                    </p:set>
                                    <p:anim calcmode="lin" valueType="num">
                                      <p:cBhvr additive="base">
                                        <p:cTn dur="500"/>
                                        <p:tgtEl>
                                          <p:spTgt spid="3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2" st="2"/>
                                            </p:txEl>
                                          </p:spTgt>
                                        </p:tgtEl>
                                        <p:attrNameLst>
                                          <p:attrName>style.visibility</p:attrName>
                                        </p:attrNameLst>
                                      </p:cBhvr>
                                      <p:to>
                                        <p:strVal val="visible"/>
                                      </p:to>
                                    </p:set>
                                    <p:anim calcmode="lin" valueType="num">
                                      <p:cBhvr additive="base">
                                        <p:cTn dur="500"/>
                                        <p:tgtEl>
                                          <p:spTgt spid="3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3" st="3"/>
                                            </p:txEl>
                                          </p:spTgt>
                                        </p:tgtEl>
                                        <p:attrNameLst>
                                          <p:attrName>style.visibility</p:attrName>
                                        </p:attrNameLst>
                                      </p:cBhvr>
                                      <p:to>
                                        <p:strVal val="visible"/>
                                      </p:to>
                                    </p:set>
                                    <p:anim calcmode="lin" valueType="num">
                                      <p:cBhvr additive="base">
                                        <p:cTn dur="500"/>
                                        <p:tgtEl>
                                          <p:spTgt spid="3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4" st="4"/>
                                            </p:txEl>
                                          </p:spTgt>
                                        </p:tgtEl>
                                        <p:attrNameLst>
                                          <p:attrName>style.visibility</p:attrName>
                                        </p:attrNameLst>
                                      </p:cBhvr>
                                      <p:to>
                                        <p:strVal val="visible"/>
                                      </p:to>
                                    </p:set>
                                    <p:anim calcmode="lin" valueType="num">
                                      <p:cBhvr additive="base">
                                        <p:cTn dur="500"/>
                                        <p:tgtEl>
                                          <p:spTgt spid="3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5" st="5"/>
                                            </p:txEl>
                                          </p:spTgt>
                                        </p:tgtEl>
                                        <p:attrNameLst>
                                          <p:attrName>style.visibility</p:attrName>
                                        </p:attrNameLst>
                                      </p:cBhvr>
                                      <p:to>
                                        <p:strVal val="visible"/>
                                      </p:to>
                                    </p:set>
                                    <p:anim calcmode="lin" valueType="num">
                                      <p:cBhvr additive="base">
                                        <p:cTn dur="500"/>
                                        <p:tgtEl>
                                          <p:spTgt spid="3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6" st="6"/>
                                            </p:txEl>
                                          </p:spTgt>
                                        </p:tgtEl>
                                        <p:attrNameLst>
                                          <p:attrName>style.visibility</p:attrName>
                                        </p:attrNameLst>
                                      </p:cBhvr>
                                      <p:to>
                                        <p:strVal val="visible"/>
                                      </p:to>
                                    </p:set>
                                    <p:anim calcmode="lin" valueType="num">
                                      <p:cBhvr additive="base">
                                        <p:cTn dur="500"/>
                                        <p:tgtEl>
                                          <p:spTgt spid="3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7" st="7"/>
                                            </p:txEl>
                                          </p:spTgt>
                                        </p:tgtEl>
                                        <p:attrNameLst>
                                          <p:attrName>style.visibility</p:attrName>
                                        </p:attrNameLst>
                                      </p:cBhvr>
                                      <p:to>
                                        <p:strVal val="visible"/>
                                      </p:to>
                                    </p:set>
                                    <p:anim calcmode="lin" valueType="num">
                                      <p:cBhvr additive="base">
                                        <p:cTn dur="500"/>
                                        <p:tgtEl>
                                          <p:spTgt spid="30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6">
                                            <p:txEl>
                                              <p:pRg end="8" st="8"/>
                                            </p:txEl>
                                          </p:spTgt>
                                        </p:tgtEl>
                                        <p:attrNameLst>
                                          <p:attrName>style.visibility</p:attrName>
                                        </p:attrNameLst>
                                      </p:cBhvr>
                                      <p:to>
                                        <p:strVal val="visible"/>
                                      </p:to>
                                    </p:set>
                                    <p:anim calcmode="lin" valueType="num">
                                      <p:cBhvr additive="base">
                                        <p:cTn dur="500"/>
                                        <p:tgtEl>
                                          <p:spTgt spid="30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14"/>
          <p:cNvSpPr txBox="1"/>
          <p:nvPr>
            <p:ph type="title"/>
          </p:nvPr>
        </p:nvSpPr>
        <p:spPr>
          <a:xfrm>
            <a:off x="5638800" y="2590800"/>
            <a:ext cx="2286000" cy="116205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accent2"/>
              </a:buClr>
              <a:buSzPts val="6000"/>
              <a:buFont typeface="Calibri"/>
              <a:buNone/>
            </a:pPr>
            <a:r>
              <a:rPr lang="en-US" sz="6000">
                <a:solidFill>
                  <a:schemeClr val="accent2"/>
                </a:solidFill>
              </a:rPr>
              <a:t>IBM</a:t>
            </a:r>
            <a:endParaRPr/>
          </a:p>
        </p:txBody>
      </p:sp>
      <p:sp>
        <p:nvSpPr>
          <p:cNvPr id="315" name="Google Shape;315;p14"/>
          <p:cNvSpPr txBox="1"/>
          <p:nvPr>
            <p:ph idx="1" type="body"/>
          </p:nvPr>
        </p:nvSpPr>
        <p:spPr>
          <a:xfrm>
            <a:off x="381094" y="1219200"/>
            <a:ext cx="4015304" cy="5257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1805"/>
              <a:buFont typeface="Noto Sans Symbols"/>
              <a:buChar char="■"/>
            </a:pPr>
            <a:r>
              <a:rPr lang="en-US" sz="1900"/>
              <a:t>Was the major manufacturer of punched-card processing equipment</a:t>
            </a:r>
            <a:endParaRPr/>
          </a:p>
          <a:p>
            <a:pPr indent="-228600" lvl="0" marL="228600" rtl="0" algn="l">
              <a:lnSpc>
                <a:spcPct val="90000"/>
              </a:lnSpc>
              <a:spcBef>
                <a:spcPts val="380"/>
              </a:spcBef>
              <a:spcAft>
                <a:spcPts val="0"/>
              </a:spcAft>
              <a:buClr>
                <a:schemeClr val="lt1"/>
              </a:buClr>
              <a:buSzPts val="1805"/>
              <a:buFont typeface="Noto Sans Symbols"/>
              <a:buChar char="■"/>
            </a:pPr>
            <a:r>
              <a:rPr lang="en-US" sz="1900"/>
              <a:t>Delivered its first electronic stored-program computer (701) in 1953</a:t>
            </a:r>
            <a:endParaRPr/>
          </a:p>
          <a:p>
            <a:pPr indent="-228600" lvl="1" marL="685800" rtl="0" algn="l">
              <a:lnSpc>
                <a:spcPct val="90000"/>
              </a:lnSpc>
              <a:spcBef>
                <a:spcPts val="340"/>
              </a:spcBef>
              <a:spcAft>
                <a:spcPts val="0"/>
              </a:spcAft>
              <a:buClr>
                <a:schemeClr val="lt1"/>
              </a:buClr>
              <a:buSzPts val="1445"/>
              <a:buFont typeface="Noto Sans Symbols"/>
              <a:buChar char="■"/>
            </a:pPr>
            <a:r>
              <a:rPr lang="en-US" sz="1700">
                <a:solidFill>
                  <a:srgbClr val="FFFFFF"/>
                </a:solidFill>
              </a:rPr>
              <a:t>Intended primarily for scientific applications</a:t>
            </a:r>
            <a:endParaRPr/>
          </a:p>
          <a:p>
            <a:pPr indent="-228600" lvl="1" marL="228600" rtl="0" algn="l">
              <a:lnSpc>
                <a:spcPct val="90000"/>
              </a:lnSpc>
              <a:spcBef>
                <a:spcPts val="2000"/>
              </a:spcBef>
              <a:spcAft>
                <a:spcPts val="0"/>
              </a:spcAft>
              <a:buClr>
                <a:schemeClr val="lt1"/>
              </a:buClr>
              <a:buSzPts val="1615"/>
              <a:buFont typeface="Noto Sans Symbols"/>
              <a:buChar char="■"/>
            </a:pPr>
            <a:r>
              <a:rPr lang="en-US" sz="1900">
                <a:solidFill>
                  <a:schemeClr val="lt1"/>
                </a:solidFill>
              </a:rPr>
              <a:t>Introduced 702 product in 1955</a:t>
            </a:r>
            <a:endParaRPr/>
          </a:p>
          <a:p>
            <a:pPr indent="-228600" lvl="1" marL="685800" rtl="0" algn="l">
              <a:spcBef>
                <a:spcPts val="340"/>
              </a:spcBef>
              <a:spcAft>
                <a:spcPts val="0"/>
              </a:spcAft>
              <a:buClr>
                <a:schemeClr val="lt1"/>
              </a:buClr>
              <a:buSzPts val="1445"/>
              <a:buFont typeface="Noto Sans Symbols"/>
              <a:buChar char="■"/>
            </a:pPr>
            <a:r>
              <a:rPr lang="en-US" sz="1700">
                <a:solidFill>
                  <a:srgbClr val="FFFFFF"/>
                </a:solidFill>
              </a:rPr>
              <a:t>Hardware features made it suitable to business applications</a:t>
            </a:r>
            <a:endParaRPr/>
          </a:p>
          <a:p>
            <a:pPr indent="-228600" lvl="1" marL="228600" rtl="0" algn="l">
              <a:lnSpc>
                <a:spcPct val="90000"/>
              </a:lnSpc>
              <a:spcBef>
                <a:spcPts val="2000"/>
              </a:spcBef>
              <a:spcAft>
                <a:spcPts val="0"/>
              </a:spcAft>
              <a:buClr>
                <a:schemeClr val="lt1"/>
              </a:buClr>
              <a:buSzPts val="1653"/>
              <a:buFont typeface="Noto Sans Symbols"/>
              <a:buChar char="■"/>
            </a:pPr>
            <a:r>
              <a:rPr lang="en-US" sz="1945">
                <a:solidFill>
                  <a:schemeClr val="lt1"/>
                </a:solidFill>
              </a:rPr>
              <a:t>Series of 700/7000 computers established IBM as the overwhelmingly dominant computer manufacturer</a:t>
            </a:r>
            <a:endParaRPr/>
          </a:p>
          <a:p>
            <a:pPr indent="-136842" lvl="1" marL="685800" rtl="0" algn="l">
              <a:lnSpc>
                <a:spcPct val="90000"/>
              </a:lnSpc>
              <a:spcBef>
                <a:spcPts val="340"/>
              </a:spcBef>
              <a:spcAft>
                <a:spcPts val="0"/>
              </a:spcAft>
              <a:buClr>
                <a:schemeClr val="lt1"/>
              </a:buClr>
              <a:buSzPts val="1445"/>
              <a:buFont typeface="Noto Sans Symbols"/>
              <a:buNone/>
            </a:pPr>
            <a:r>
              <a:t/>
            </a:r>
            <a:endParaRPr sz="1700">
              <a:solidFill>
                <a:srgbClr val="FFFFFF"/>
              </a:solidFill>
            </a:endParaRPr>
          </a:p>
        </p:txBody>
      </p:sp>
      <p:pic>
        <p:nvPicPr>
          <p:cNvPr id="316" name="Google Shape;316;p14"/>
          <p:cNvPicPr preferRelativeResize="0"/>
          <p:nvPr>
            <p:ph idx="2" type="pic"/>
          </p:nvPr>
        </p:nvPicPr>
        <p:blipFill rotWithShape="1">
          <a:blip r:embed="rId3">
            <a:alphaModFix/>
          </a:blip>
          <a:srcRect b="5000" l="0" r="0" t="-22599"/>
          <a:stretch/>
        </p:blipFill>
        <p:spPr>
          <a:xfrm>
            <a:off x="7010400" y="0"/>
            <a:ext cx="1676400" cy="2200275"/>
          </a:xfrm>
          <a:prstGeom prst="rect">
            <a:avLst/>
          </a:prstGeom>
          <a:noFill/>
          <a:ln>
            <a:noFill/>
          </a:ln>
        </p:spPr>
      </p:pic>
      <p:pic>
        <p:nvPicPr>
          <p:cNvPr id="317" name="Google Shape;317;p14"/>
          <p:cNvPicPr preferRelativeResize="0"/>
          <p:nvPr/>
        </p:nvPicPr>
        <p:blipFill rotWithShape="1">
          <a:blip r:embed="rId4">
            <a:alphaModFix/>
          </a:blip>
          <a:srcRect b="0" l="0" r="0" t="0"/>
          <a:stretch/>
        </p:blipFill>
        <p:spPr>
          <a:xfrm>
            <a:off x="4724400" y="4800600"/>
            <a:ext cx="1861899" cy="177323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5"/>
          <p:cNvSpPr txBox="1"/>
          <p:nvPr>
            <p:ph type="title"/>
          </p:nvPr>
        </p:nvSpPr>
        <p:spPr>
          <a:xfrm>
            <a:off x="323528" y="18864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History of Computers</a:t>
            </a:r>
            <a:endParaRPr/>
          </a:p>
        </p:txBody>
      </p:sp>
      <p:sp>
        <p:nvSpPr>
          <p:cNvPr id="324" name="Google Shape;324;p15"/>
          <p:cNvSpPr txBox="1"/>
          <p:nvPr>
            <p:ph idx="1" type="body"/>
          </p:nvPr>
        </p:nvSpPr>
        <p:spPr>
          <a:xfrm>
            <a:off x="533400" y="2057400"/>
            <a:ext cx="7556313" cy="4419600"/>
          </a:xfrm>
          <a:prstGeom prst="rect">
            <a:avLst/>
          </a:prstGeom>
          <a:noFill/>
          <a:ln>
            <a:noFill/>
          </a:ln>
        </p:spPr>
        <p:txBody>
          <a:bodyPr anchorCtr="0" anchor="t" bIns="45700" lIns="91425" spcFirstLastPara="1" rIns="91425" wrap="square" tIns="45700">
            <a:normAutofit/>
          </a:bodyPr>
          <a:lstStyle/>
          <a:p>
            <a:pPr indent="-228600" lvl="1" marL="228600" rtl="0" algn="l">
              <a:spcBef>
                <a:spcPts val="0"/>
              </a:spcBef>
              <a:spcAft>
                <a:spcPts val="0"/>
              </a:spcAft>
              <a:buClr>
                <a:schemeClr val="accent1"/>
              </a:buClr>
              <a:buSzPts val="1700"/>
              <a:buChar char="⚫"/>
            </a:pPr>
            <a:r>
              <a:rPr lang="en-US" sz="2000"/>
              <a:t>Smaller</a:t>
            </a:r>
            <a:endParaRPr/>
          </a:p>
          <a:p>
            <a:pPr indent="-228600" lvl="1" marL="228600" rtl="0" algn="l">
              <a:spcBef>
                <a:spcPts val="2000"/>
              </a:spcBef>
              <a:spcAft>
                <a:spcPts val="0"/>
              </a:spcAft>
              <a:buClr>
                <a:schemeClr val="accent1"/>
              </a:buClr>
              <a:buSzPts val="1700"/>
              <a:buChar char="⚫"/>
            </a:pPr>
            <a:r>
              <a:rPr lang="en-US" sz="2000"/>
              <a:t>Cheaper</a:t>
            </a:r>
            <a:endParaRPr/>
          </a:p>
          <a:p>
            <a:pPr indent="-228600" lvl="1" marL="228600" rtl="0" algn="l">
              <a:spcBef>
                <a:spcPts val="2000"/>
              </a:spcBef>
              <a:spcAft>
                <a:spcPts val="0"/>
              </a:spcAft>
              <a:buClr>
                <a:schemeClr val="accent1"/>
              </a:buClr>
              <a:buSzPts val="1700"/>
              <a:buChar char="⚫"/>
            </a:pPr>
            <a:r>
              <a:rPr lang="en-US" sz="2000"/>
              <a:t>Dissipates less heat than a vacuum tube</a:t>
            </a:r>
            <a:endParaRPr/>
          </a:p>
          <a:p>
            <a:pPr indent="-228600" lvl="1" marL="228600" rtl="0" algn="l">
              <a:spcBef>
                <a:spcPts val="2000"/>
              </a:spcBef>
              <a:spcAft>
                <a:spcPts val="0"/>
              </a:spcAft>
              <a:buClr>
                <a:schemeClr val="accent1"/>
              </a:buClr>
              <a:buSzPts val="1700"/>
              <a:buChar char="⚫"/>
            </a:pPr>
            <a:r>
              <a:rPr lang="en-US" sz="2000"/>
              <a:t>Is a </a:t>
            </a:r>
            <a:r>
              <a:rPr i="1" lang="en-US" sz="2000"/>
              <a:t>solid state device </a:t>
            </a:r>
            <a:r>
              <a:rPr lang="en-US" sz="2000"/>
              <a:t>made from silicon</a:t>
            </a:r>
            <a:endParaRPr/>
          </a:p>
          <a:p>
            <a:pPr indent="-228600" lvl="1" marL="228600" rtl="0" algn="l">
              <a:spcBef>
                <a:spcPts val="2000"/>
              </a:spcBef>
              <a:spcAft>
                <a:spcPts val="0"/>
              </a:spcAft>
              <a:buClr>
                <a:schemeClr val="accent1"/>
              </a:buClr>
              <a:buSzPts val="1700"/>
              <a:buChar char="⚫"/>
            </a:pPr>
            <a:r>
              <a:rPr lang="en-US" sz="2000"/>
              <a:t>Was invented at Bell Labs in 1947</a:t>
            </a:r>
            <a:endParaRPr/>
          </a:p>
          <a:p>
            <a:pPr indent="-228600" lvl="1" marL="228600" rtl="0" algn="l">
              <a:spcBef>
                <a:spcPts val="2000"/>
              </a:spcBef>
              <a:spcAft>
                <a:spcPts val="0"/>
              </a:spcAft>
              <a:buClr>
                <a:schemeClr val="accent1"/>
              </a:buClr>
              <a:buSzPts val="1700"/>
              <a:buChar char="⚫"/>
            </a:pPr>
            <a:r>
              <a:rPr lang="en-US" sz="2000"/>
              <a:t>It was not until the late 1950’s that fully transistorized computers were commercially available</a:t>
            </a:r>
            <a:endParaRPr/>
          </a:p>
          <a:p>
            <a:pPr indent="-120650" lvl="1" marL="228600" rtl="0" algn="l">
              <a:spcBef>
                <a:spcPts val="2000"/>
              </a:spcBef>
              <a:spcAft>
                <a:spcPts val="0"/>
              </a:spcAft>
              <a:buClr>
                <a:schemeClr val="accent1"/>
              </a:buClr>
              <a:buSzPts val="1700"/>
              <a:buNone/>
            </a:pPr>
            <a:r>
              <a:t/>
            </a:r>
            <a:endParaRPr sz="2000"/>
          </a:p>
        </p:txBody>
      </p:sp>
      <p:sp>
        <p:nvSpPr>
          <p:cNvPr id="325" name="Google Shape;325;p15"/>
          <p:cNvSpPr txBox="1"/>
          <p:nvPr>
            <p:ph idx="4294967295" type="body"/>
          </p:nvPr>
        </p:nvSpPr>
        <p:spPr>
          <a:xfrm>
            <a:off x="0" y="1268760"/>
            <a:ext cx="7143750" cy="7747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420"/>
              <a:buNone/>
            </a:pPr>
            <a:r>
              <a:rPr lang="en-US" sz="3600">
                <a:solidFill>
                  <a:schemeClr val="accent1"/>
                </a:solidFill>
              </a:rPr>
              <a:t>Second Generation:  Transistors</a:t>
            </a:r>
            <a:endParaRPr/>
          </a:p>
        </p:txBody>
      </p:sp>
      <p:pic>
        <p:nvPicPr>
          <p:cNvPr id="326" name="Google Shape;326;p15"/>
          <p:cNvPicPr preferRelativeResize="0"/>
          <p:nvPr/>
        </p:nvPicPr>
        <p:blipFill rotWithShape="1">
          <a:blip r:embed="rId3">
            <a:alphaModFix/>
          </a:blip>
          <a:srcRect b="0" l="0" r="0" t="0"/>
          <a:stretch/>
        </p:blipFill>
        <p:spPr>
          <a:xfrm>
            <a:off x="5791200" y="2133600"/>
            <a:ext cx="3055671" cy="2276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16"/>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chemeClr val="dk2"/>
              </a:buClr>
              <a:buSzPts val="5600"/>
              <a:buFont typeface="Calibri"/>
              <a:buNone/>
            </a:pPr>
            <a:r>
              <a:rPr lang="en-US">
                <a:solidFill>
                  <a:schemeClr val="dk2"/>
                </a:solidFill>
              </a:rPr>
              <a:t>Computer Generations</a:t>
            </a:r>
            <a:endParaRPr>
              <a:solidFill>
                <a:schemeClr val="dk2"/>
              </a:solidFill>
            </a:endParaRPr>
          </a:p>
        </p:txBody>
      </p:sp>
      <p:sp>
        <p:nvSpPr>
          <p:cNvPr id="333" name="Google Shape;333;p16"/>
          <p:cNvSpPr txBox="1"/>
          <p:nvPr>
            <p:ph idx="1" type="body"/>
          </p:nvPr>
        </p:nvSpPr>
        <p:spPr>
          <a:xfrm>
            <a:off x="990600" y="990600"/>
            <a:ext cx="7543800" cy="1195387"/>
          </a:xfrm>
          <a:prstGeom prst="rect">
            <a:avLst/>
          </a:prstGeom>
          <a:noFill/>
          <a:ln>
            <a:noFill/>
          </a:ln>
        </p:spPr>
        <p:txBody>
          <a:bodyPr anchorCtr="0" anchor="t" bIns="45700" lIns="45700" spcFirstLastPara="1" rIns="45700" wrap="square" tIns="45700">
            <a:noAutofit/>
          </a:bodyPr>
          <a:lstStyle/>
          <a:p>
            <a:pPr indent="0" lvl="0" marL="0" rtl="0" algn="ctr">
              <a:spcBef>
                <a:spcPts val="0"/>
              </a:spcBef>
              <a:spcAft>
                <a:spcPts val="0"/>
              </a:spcAft>
              <a:buSzPts val="3040"/>
              <a:buNone/>
            </a:pPr>
            <a:r>
              <a:rPr b="1" lang="en-US" sz="3200">
                <a:latin typeface="Calibri"/>
                <a:ea typeface="Calibri"/>
                <a:cs typeface="Calibri"/>
                <a:sym typeface="Calibri"/>
              </a:rPr>
              <a:t>Table 2.2  </a:t>
            </a:r>
            <a:endParaRPr/>
          </a:p>
          <a:p>
            <a:pPr indent="0" lvl="0" marL="0" rtl="0" algn="ctr">
              <a:spcBef>
                <a:spcPts val="640"/>
              </a:spcBef>
              <a:spcAft>
                <a:spcPts val="0"/>
              </a:spcAft>
              <a:buSzPts val="3040"/>
              <a:buNone/>
            </a:pPr>
            <a:r>
              <a:rPr b="1" lang="en-US" sz="3200">
                <a:latin typeface="Calibri"/>
                <a:ea typeface="Calibri"/>
                <a:cs typeface="Calibri"/>
                <a:sym typeface="Calibri"/>
              </a:rPr>
              <a:t>Computer Generations</a:t>
            </a:r>
            <a:r>
              <a:rPr lang="en-US" sz="3200">
                <a:latin typeface="Calibri"/>
                <a:ea typeface="Calibri"/>
                <a:cs typeface="Calibri"/>
                <a:sym typeface="Calibri"/>
              </a:rPr>
              <a:t> </a:t>
            </a:r>
            <a:endParaRPr sz="3200">
              <a:latin typeface="Calibri"/>
              <a:ea typeface="Calibri"/>
              <a:cs typeface="Calibri"/>
              <a:sym typeface="Calibri"/>
            </a:endParaRPr>
          </a:p>
        </p:txBody>
      </p:sp>
      <p:graphicFrame>
        <p:nvGraphicFramePr>
          <p:cNvPr id="334" name="Google Shape;334;p16"/>
          <p:cNvGraphicFramePr/>
          <p:nvPr/>
        </p:nvGraphicFramePr>
        <p:xfrm>
          <a:off x="838200" y="2651125"/>
          <a:ext cx="7848600" cy="3162300"/>
        </p:xfrm>
        <a:graphic>
          <a:graphicData uri="http://schemas.openxmlformats.org/presentationml/2006/ole">
            <mc:AlternateContent>
              <mc:Choice Requires="v">
                <p:oleObj r:id="rId4" imgH="3162300" imgW="7848600" progId="Word.Document.12" spid="_x0000_s1">
                  <p:embed/>
                </p:oleObj>
              </mc:Choice>
              <mc:Fallback>
                <p:oleObj r:id="rId5" imgH="3162300" imgW="7848600" progId="Word.Document.12">
                  <p:embed/>
                  <p:pic>
                    <p:nvPicPr>
                      <p:cNvPr id="334" name="Google Shape;334;p16"/>
                      <p:cNvPicPr preferRelativeResize="0"/>
                      <p:nvPr/>
                    </p:nvPicPr>
                    <p:blipFill rotWithShape="1">
                      <a:blip r:embed="rId6">
                        <a:alphaModFix/>
                      </a:blip>
                      <a:srcRect b="0" l="0" r="0" t="0"/>
                      <a:stretch/>
                    </p:blipFill>
                    <p:spPr>
                      <a:xfrm>
                        <a:off x="838200" y="2651125"/>
                        <a:ext cx="7848600" cy="3162300"/>
                      </a:xfrm>
                      <a:prstGeom prst="rect">
                        <a:avLst/>
                      </a:prstGeom>
                      <a:noFill/>
                      <a:ln>
                        <a:noFill/>
                      </a:ln>
                    </p:spPr>
                  </p:pic>
                </p:oleObj>
              </mc:Fallback>
            </mc:AlternateContent>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7"/>
          <p:cNvSpPr txBox="1"/>
          <p:nvPr>
            <p:ph type="title"/>
          </p:nvPr>
        </p:nvSpPr>
        <p:spPr>
          <a:xfrm>
            <a:off x="609600" y="609600"/>
            <a:ext cx="7556313" cy="11161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Second Generation Computers</a:t>
            </a:r>
            <a:endParaRPr/>
          </a:p>
        </p:txBody>
      </p:sp>
      <p:sp>
        <p:nvSpPr>
          <p:cNvPr id="341" name="Google Shape;341;p17"/>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p>
            <a:pPr indent="0" lvl="0" marL="0" rtl="0" algn="l">
              <a:spcBef>
                <a:spcPts val="0"/>
              </a:spcBef>
              <a:spcAft>
                <a:spcPts val="0"/>
              </a:spcAft>
              <a:buSzPts val="2280"/>
              <a:buNone/>
            </a:pPr>
            <a:r>
              <a:rPr lang="en-US"/>
              <a:t>          </a:t>
            </a:r>
            <a:endParaRPr/>
          </a:p>
        </p:txBody>
      </p:sp>
      <p:sp>
        <p:nvSpPr>
          <p:cNvPr id="342" name="Google Shape;342;p17"/>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p>
            <a:pPr indent="0" lvl="0" marL="0" rtl="0" algn="l">
              <a:spcBef>
                <a:spcPts val="0"/>
              </a:spcBef>
              <a:spcAft>
                <a:spcPts val="0"/>
              </a:spcAft>
              <a:buSzPts val="2280"/>
              <a:buNone/>
            </a:pPr>
            <a:r>
              <a:rPr lang="en-US"/>
              <a:t>        </a:t>
            </a:r>
            <a:endParaRPr/>
          </a:p>
        </p:txBody>
      </p:sp>
      <p:sp>
        <p:nvSpPr>
          <p:cNvPr id="343" name="Google Shape;343;p17"/>
          <p:cNvSpPr txBox="1"/>
          <p:nvPr>
            <p:ph idx="3" type="body"/>
          </p:nvPr>
        </p:nvSpPr>
        <p:spPr>
          <a:xfrm>
            <a:off x="497541" y="2447365"/>
            <a:ext cx="3657600" cy="4105835"/>
          </a:xfrm>
          <a:prstGeom prst="rect">
            <a:avLst/>
          </a:prstGeom>
          <a:noFill/>
          <a:ln>
            <a:noFill/>
          </a:ln>
        </p:spPr>
        <p:txBody>
          <a:bodyPr anchorCtr="0" anchor="t" bIns="45700" lIns="91425" spcFirstLastPara="1" rIns="91425" wrap="square" tIns="0">
            <a:normAutofit fontScale="92500" lnSpcReduction="10000"/>
          </a:bodyPr>
          <a:lstStyle/>
          <a:p>
            <a:pPr indent="-274320" lvl="0" marL="274320" rtl="0" algn="l">
              <a:spcBef>
                <a:spcPts val="0"/>
              </a:spcBef>
              <a:spcAft>
                <a:spcPts val="0"/>
              </a:spcAft>
              <a:buSzPct val="95000"/>
              <a:buChar char="⚫"/>
            </a:pPr>
            <a:r>
              <a:rPr lang="en-US"/>
              <a:t>Introduced:</a:t>
            </a:r>
            <a:endParaRPr/>
          </a:p>
          <a:p>
            <a:pPr indent="-246888" lvl="1" marL="640080" rtl="0" algn="l">
              <a:spcBef>
                <a:spcPts val="370"/>
              </a:spcBef>
              <a:spcAft>
                <a:spcPts val="0"/>
              </a:spcAft>
              <a:buSzPct val="85000"/>
              <a:buChar char="⚫"/>
            </a:pPr>
            <a:r>
              <a:rPr lang="en-US"/>
              <a:t>More complex arithmetic and logic units and control units</a:t>
            </a:r>
            <a:endParaRPr/>
          </a:p>
          <a:p>
            <a:pPr indent="-246888" lvl="1" marL="640080" rtl="0" algn="l">
              <a:spcBef>
                <a:spcPts val="370"/>
              </a:spcBef>
              <a:spcAft>
                <a:spcPts val="0"/>
              </a:spcAft>
              <a:buSzPct val="85000"/>
              <a:buChar char="⚫"/>
            </a:pPr>
            <a:r>
              <a:rPr lang="en-US"/>
              <a:t>The use of high-level programming languages</a:t>
            </a:r>
            <a:endParaRPr/>
          </a:p>
          <a:p>
            <a:pPr indent="-246888" lvl="1" marL="640080" rtl="0" algn="l">
              <a:spcBef>
                <a:spcPts val="370"/>
              </a:spcBef>
              <a:spcAft>
                <a:spcPts val="0"/>
              </a:spcAft>
              <a:buSzPct val="85000"/>
              <a:buChar char="⚫"/>
            </a:pPr>
            <a:r>
              <a:rPr lang="en-US"/>
              <a:t>Provision of </a:t>
            </a:r>
            <a:r>
              <a:rPr i="1" lang="en-US"/>
              <a:t>system software </a:t>
            </a:r>
            <a:r>
              <a:rPr lang="en-US"/>
              <a:t>which provided the ability to:</a:t>
            </a:r>
            <a:endParaRPr/>
          </a:p>
          <a:p>
            <a:pPr indent="-246887" lvl="2" marL="914400" rtl="0" algn="l">
              <a:spcBef>
                <a:spcPts val="333"/>
              </a:spcBef>
              <a:spcAft>
                <a:spcPts val="0"/>
              </a:spcAft>
              <a:buSzPct val="70000"/>
              <a:buChar char="⚫"/>
            </a:pPr>
            <a:r>
              <a:rPr lang="en-US"/>
              <a:t> load programs </a:t>
            </a:r>
            <a:endParaRPr/>
          </a:p>
          <a:p>
            <a:pPr indent="-246887" lvl="2" marL="914400" rtl="0" algn="l">
              <a:spcBef>
                <a:spcPts val="333"/>
              </a:spcBef>
              <a:spcAft>
                <a:spcPts val="0"/>
              </a:spcAft>
              <a:buSzPct val="70000"/>
              <a:buChar char="⚫"/>
            </a:pPr>
            <a:r>
              <a:rPr lang="en-US"/>
              <a:t>move data to peripherals and libraries </a:t>
            </a:r>
            <a:endParaRPr/>
          </a:p>
          <a:p>
            <a:pPr indent="-246887" lvl="2" marL="914400" rtl="0" algn="l">
              <a:spcBef>
                <a:spcPts val="333"/>
              </a:spcBef>
              <a:spcAft>
                <a:spcPts val="0"/>
              </a:spcAft>
              <a:buSzPct val="70000"/>
              <a:buChar char="⚫"/>
            </a:pPr>
            <a:r>
              <a:rPr lang="en-US"/>
              <a:t>perform common computations</a:t>
            </a:r>
            <a:endParaRPr/>
          </a:p>
        </p:txBody>
      </p:sp>
      <p:sp>
        <p:nvSpPr>
          <p:cNvPr id="344" name="Google Shape;344;p17"/>
          <p:cNvSpPr txBox="1"/>
          <p:nvPr>
            <p:ph idx="4" type="body"/>
          </p:nvPr>
        </p:nvSpPr>
        <p:spPr>
          <a:xfrm>
            <a:off x="4419600" y="2590800"/>
            <a:ext cx="3657600" cy="3877235"/>
          </a:xfrm>
          <a:prstGeom prst="rect">
            <a:avLst/>
          </a:prstGeom>
          <a:noFill/>
          <a:ln>
            <a:noFill/>
          </a:ln>
        </p:spPr>
        <p:txBody>
          <a:bodyPr anchorCtr="0" anchor="t" bIns="45700" lIns="91425" spcFirstLastPara="1" rIns="91425" wrap="square" tIns="0">
            <a:normAutofit/>
          </a:bodyPr>
          <a:lstStyle/>
          <a:p>
            <a:pPr indent="-274320" lvl="0" marL="274320" rtl="0" algn="l">
              <a:spcBef>
                <a:spcPts val="0"/>
              </a:spcBef>
              <a:spcAft>
                <a:spcPts val="0"/>
              </a:spcAft>
              <a:buSzPts val="2090"/>
              <a:buChar char="⚫"/>
            </a:pPr>
            <a:r>
              <a:rPr lang="en-US"/>
              <a:t> Appearance of the Digital Equipment Corporation (DEC) in 1957</a:t>
            </a:r>
            <a:endParaRPr/>
          </a:p>
          <a:p>
            <a:pPr indent="-274320" lvl="0" marL="274320" rtl="0" algn="l">
              <a:spcBef>
                <a:spcPts val="440"/>
              </a:spcBef>
              <a:spcAft>
                <a:spcPts val="0"/>
              </a:spcAft>
              <a:buSzPts val="2090"/>
              <a:buChar char="⚫"/>
            </a:pPr>
            <a:r>
              <a:rPr lang="en-US"/>
              <a:t>PDP-1 was DEC’s first computer</a:t>
            </a:r>
            <a:endParaRPr/>
          </a:p>
          <a:p>
            <a:pPr indent="-274320" lvl="0" marL="274320" rtl="0" algn="l">
              <a:spcBef>
                <a:spcPts val="440"/>
              </a:spcBef>
              <a:spcAft>
                <a:spcPts val="0"/>
              </a:spcAft>
              <a:buSzPts val="2090"/>
              <a:buChar char="⚫"/>
            </a:pPr>
            <a:r>
              <a:rPr lang="en-US"/>
              <a:t>This began the mini-computer phenomenon that would become so prominent in the third generation</a:t>
            </a:r>
            <a:endParaRPr/>
          </a:p>
        </p:txBody>
      </p:sp>
      <p:sp>
        <p:nvSpPr>
          <p:cNvPr id="345" name="Google Shape;345;p17"/>
          <p:cNvSpPr txBox="1"/>
          <p:nvPr/>
        </p:nvSpPr>
        <p:spPr>
          <a:xfrm>
            <a:off x="4876800" y="4453467"/>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346" name="Google Shape;346;p17"/>
          <p:cNvPicPr preferRelativeResize="0"/>
          <p:nvPr/>
        </p:nvPicPr>
        <p:blipFill rotWithShape="1">
          <a:blip r:embed="rId3">
            <a:alphaModFix/>
          </a:blip>
          <a:srcRect b="0" l="0" r="0" t="0"/>
          <a:stretch/>
        </p:blipFill>
        <p:spPr>
          <a:xfrm rot="384418">
            <a:off x="7563844" y="5255078"/>
            <a:ext cx="1499809" cy="1524000"/>
          </a:xfrm>
          <a:prstGeom prst="rect">
            <a:avLst/>
          </a:prstGeom>
          <a:noFill/>
          <a:ln>
            <a:noFill/>
          </a:ln>
        </p:spPr>
      </p:pic>
      <p:sp>
        <p:nvSpPr>
          <p:cNvPr id="347" name="Google Shape;347;p17"/>
          <p:cNvSpPr txBox="1"/>
          <p:nvPr/>
        </p:nvSpPr>
        <p:spPr>
          <a:xfrm>
            <a:off x="8001000" y="838200"/>
            <a:ext cx="864858" cy="1143000"/>
          </a:xfrm>
          <a:prstGeom prst="rect">
            <a:avLst/>
          </a:prstGeom>
          <a:blipFill rotWithShape="1">
            <a:blip r:embed="rId4">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0" st="0"/>
                                            </p:txEl>
                                          </p:spTgt>
                                        </p:tgtEl>
                                        <p:attrNameLst>
                                          <p:attrName>style.visibility</p:attrName>
                                        </p:attrNameLst>
                                      </p:cBhvr>
                                      <p:to>
                                        <p:strVal val="visible"/>
                                      </p:to>
                                    </p:set>
                                    <p:anim calcmode="lin" valueType="num">
                                      <p:cBhvr additive="base">
                                        <p:cTn dur="500"/>
                                        <p:tgtEl>
                                          <p:spTgt spid="34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1" st="1"/>
                                            </p:txEl>
                                          </p:spTgt>
                                        </p:tgtEl>
                                        <p:attrNameLst>
                                          <p:attrName>style.visibility</p:attrName>
                                        </p:attrNameLst>
                                      </p:cBhvr>
                                      <p:to>
                                        <p:strVal val="visible"/>
                                      </p:to>
                                    </p:set>
                                    <p:anim calcmode="lin" valueType="num">
                                      <p:cBhvr additive="base">
                                        <p:cTn dur="500"/>
                                        <p:tgtEl>
                                          <p:spTgt spid="34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2" st="2"/>
                                            </p:txEl>
                                          </p:spTgt>
                                        </p:tgtEl>
                                        <p:attrNameLst>
                                          <p:attrName>style.visibility</p:attrName>
                                        </p:attrNameLst>
                                      </p:cBhvr>
                                      <p:to>
                                        <p:strVal val="visible"/>
                                      </p:to>
                                    </p:set>
                                    <p:anim calcmode="lin" valueType="num">
                                      <p:cBhvr additive="base">
                                        <p:cTn dur="500"/>
                                        <p:tgtEl>
                                          <p:spTgt spid="34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3" st="3"/>
                                            </p:txEl>
                                          </p:spTgt>
                                        </p:tgtEl>
                                        <p:attrNameLst>
                                          <p:attrName>style.visibility</p:attrName>
                                        </p:attrNameLst>
                                      </p:cBhvr>
                                      <p:to>
                                        <p:strVal val="visible"/>
                                      </p:to>
                                    </p:set>
                                    <p:anim calcmode="lin" valueType="num">
                                      <p:cBhvr additive="base">
                                        <p:cTn dur="500"/>
                                        <p:tgtEl>
                                          <p:spTgt spid="34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4" st="4"/>
                                            </p:txEl>
                                          </p:spTgt>
                                        </p:tgtEl>
                                        <p:attrNameLst>
                                          <p:attrName>style.visibility</p:attrName>
                                        </p:attrNameLst>
                                      </p:cBhvr>
                                      <p:to>
                                        <p:strVal val="visible"/>
                                      </p:to>
                                    </p:set>
                                    <p:anim calcmode="lin" valueType="num">
                                      <p:cBhvr additive="base">
                                        <p:cTn dur="500"/>
                                        <p:tgtEl>
                                          <p:spTgt spid="34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5" st="5"/>
                                            </p:txEl>
                                          </p:spTgt>
                                        </p:tgtEl>
                                        <p:attrNameLst>
                                          <p:attrName>style.visibility</p:attrName>
                                        </p:attrNameLst>
                                      </p:cBhvr>
                                      <p:to>
                                        <p:strVal val="visible"/>
                                      </p:to>
                                    </p:set>
                                    <p:anim calcmode="lin" valueType="num">
                                      <p:cBhvr additive="base">
                                        <p:cTn dur="500"/>
                                        <p:tgtEl>
                                          <p:spTgt spid="34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3">
                                            <p:txEl>
                                              <p:pRg end="6" st="6"/>
                                            </p:txEl>
                                          </p:spTgt>
                                        </p:tgtEl>
                                        <p:attrNameLst>
                                          <p:attrName>style.visibility</p:attrName>
                                        </p:attrNameLst>
                                      </p:cBhvr>
                                      <p:to>
                                        <p:strVal val="visible"/>
                                      </p:to>
                                    </p:set>
                                    <p:anim calcmode="lin" valueType="num">
                                      <p:cBhvr additive="base">
                                        <p:cTn dur="500"/>
                                        <p:tgtEl>
                                          <p:spTgt spid="34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anim calcmode="lin" valueType="num">
                                      <p:cBhvr additive="base">
                                        <p:cTn dur="500"/>
                                        <p:tgtEl>
                                          <p:spTgt spid="34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anim calcmode="lin" valueType="num">
                                      <p:cBhvr additive="base">
                                        <p:cTn dur="500"/>
                                        <p:tgtEl>
                                          <p:spTgt spid="34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anim calcmode="lin" valueType="num">
                                      <p:cBhvr additive="base">
                                        <p:cTn dur="500"/>
                                        <p:tgtEl>
                                          <p:spTgt spid="34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18"/>
          <p:cNvSpPr txBox="1"/>
          <p:nvPr>
            <p:ph idx="4294967295" type="title"/>
          </p:nvPr>
        </p:nvSpPr>
        <p:spPr>
          <a:xfrm>
            <a:off x="0" y="228600"/>
            <a:ext cx="9144000" cy="2030413"/>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Table 2.3  </a:t>
            </a:r>
            <a:br>
              <a:rPr lang="en-US"/>
            </a:br>
            <a:r>
              <a:rPr lang="en-US"/>
              <a:t>Example </a:t>
            </a:r>
            <a:br>
              <a:rPr lang="en-US"/>
            </a:br>
            <a:r>
              <a:rPr lang="en-US"/>
              <a:t>Members of the </a:t>
            </a:r>
            <a:br>
              <a:rPr lang="en-US"/>
            </a:br>
            <a:r>
              <a:rPr lang="en-US"/>
              <a:t>IBM 700/7000 Series</a:t>
            </a:r>
            <a:br>
              <a:rPr lang="en-US"/>
            </a:br>
            <a:r>
              <a:rPr lang="en-US"/>
              <a:t> </a:t>
            </a:r>
            <a:br>
              <a:rPr lang="en-US"/>
            </a:br>
            <a:endParaRPr/>
          </a:p>
        </p:txBody>
      </p:sp>
      <p:sp>
        <p:nvSpPr>
          <p:cNvPr id="354" name="Google Shape;354;p18"/>
          <p:cNvSpPr txBox="1"/>
          <p:nvPr/>
        </p:nvSpPr>
        <p:spPr>
          <a:xfrm>
            <a:off x="158758" y="5638800"/>
            <a:ext cx="8985242" cy="533399"/>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355" name="Google Shape;355;p18"/>
          <p:cNvPicPr preferRelativeResize="0"/>
          <p:nvPr/>
        </p:nvPicPr>
        <p:blipFill rotWithShape="1">
          <a:blip r:embed="rId4">
            <a:alphaModFix/>
          </a:blip>
          <a:srcRect b="0" l="0" r="0" t="0"/>
          <a:stretch/>
        </p:blipFill>
        <p:spPr>
          <a:xfrm>
            <a:off x="533400" y="3048000"/>
            <a:ext cx="8369300" cy="2743200"/>
          </a:xfrm>
          <a:prstGeom prst="rect">
            <a:avLst/>
          </a:prstGeom>
          <a:noFill/>
          <a:ln>
            <a:noFill/>
          </a:ln>
        </p:spPr>
      </p:pic>
      <p:sp>
        <p:nvSpPr>
          <p:cNvPr id="356" name="Google Shape;356;p18"/>
          <p:cNvSpPr txBox="1"/>
          <p:nvPr/>
        </p:nvSpPr>
        <p:spPr>
          <a:xfrm>
            <a:off x="0" y="5486401"/>
            <a:ext cx="9144000" cy="523220"/>
          </a:xfrm>
          <a:prstGeom prst="rect">
            <a:avLst/>
          </a:prstGeom>
          <a:blipFill rotWithShape="1">
            <a:blip r:embed="rId5">
              <a:alphaModFix/>
            </a:blip>
            <a:tile algn="tl" flip="none" tx="0" sx="65000" ty="0" sy="65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t/>
            </a:r>
            <a:endParaRPr sz="1400">
              <a:solidFill>
                <a:schemeClr val="dk1"/>
              </a:solidFill>
              <a:latin typeface="Constantia"/>
              <a:ea typeface="Constantia"/>
              <a:cs typeface="Constantia"/>
              <a:sym typeface="Constantia"/>
            </a:endParaRPr>
          </a:p>
          <a:p>
            <a:pPr indent="0" lvl="0" marL="0" marR="0" rtl="0" algn="ctr">
              <a:spcBef>
                <a:spcPts val="0"/>
              </a:spcBef>
              <a:spcAft>
                <a:spcPts val="0"/>
              </a:spcAft>
              <a:buNone/>
            </a:pPr>
            <a:r>
              <a:rPr lang="en-US" sz="1400">
                <a:solidFill>
                  <a:schemeClr val="dk1"/>
                </a:solidFill>
                <a:latin typeface="Constantia"/>
                <a:ea typeface="Constantia"/>
                <a:cs typeface="Constantia"/>
                <a:sym typeface="Constantia"/>
              </a:rPr>
              <a:t>Table 2.3 Example Members of the IBM 700/7000 Series</a:t>
            </a:r>
            <a:endParaRPr sz="1400">
              <a:solidFill>
                <a:schemeClr val="dk1"/>
              </a:solidFill>
              <a:latin typeface="Constantia"/>
              <a:ea typeface="Constantia"/>
              <a:cs typeface="Constantia"/>
              <a:sym typeface="Constantia"/>
            </a:endParaRPr>
          </a:p>
        </p:txBody>
      </p:sp>
      <p:sp>
        <p:nvSpPr>
          <p:cNvPr id="357" name="Google Shape;357;p18"/>
          <p:cNvSpPr txBox="1"/>
          <p:nvPr/>
        </p:nvSpPr>
        <p:spPr>
          <a:xfrm>
            <a:off x="8839200" y="2667000"/>
            <a:ext cx="304799" cy="3048000"/>
          </a:xfrm>
          <a:prstGeom prst="rect">
            <a:avLst/>
          </a:prstGeom>
          <a:blipFill rotWithShape="1">
            <a:blip r:embed="rId5">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358" name="Google Shape;358;p18"/>
          <p:cNvPicPr preferRelativeResize="0"/>
          <p:nvPr/>
        </p:nvPicPr>
        <p:blipFill rotWithShape="1">
          <a:blip r:embed="rId6">
            <a:alphaModFix/>
          </a:blip>
          <a:srcRect b="0" l="0" r="0" t="0"/>
          <a:stretch/>
        </p:blipFill>
        <p:spPr>
          <a:xfrm>
            <a:off x="7239000" y="990600"/>
            <a:ext cx="1518935" cy="1543434"/>
          </a:xfrm>
          <a:prstGeom prst="rect">
            <a:avLst/>
          </a:prstGeom>
          <a:noFill/>
          <a:ln>
            <a:noFill/>
          </a:ln>
        </p:spPr>
      </p:pic>
      <p:sp>
        <p:nvSpPr>
          <p:cNvPr id="359" name="Google Shape;359;p18"/>
          <p:cNvSpPr txBox="1"/>
          <p:nvPr/>
        </p:nvSpPr>
        <p:spPr>
          <a:xfrm>
            <a:off x="1440672" y="1402880"/>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f5.pdf" id="365" name="Google Shape;365;p19"/>
          <p:cNvPicPr preferRelativeResize="0"/>
          <p:nvPr/>
        </p:nvPicPr>
        <p:blipFill rotWithShape="1">
          <a:blip r:embed="rId3">
            <a:alphaModFix/>
          </a:blip>
          <a:srcRect b="11817" l="11765" r="14117" t="20909"/>
          <a:stretch/>
        </p:blipFill>
        <p:spPr>
          <a:xfrm>
            <a:off x="0" y="0"/>
            <a:ext cx="5865443" cy="6889756"/>
          </a:xfrm>
          <a:prstGeom prst="rect">
            <a:avLst/>
          </a:prstGeom>
          <a:noFill/>
          <a:ln>
            <a:noFill/>
          </a:ln>
        </p:spPr>
      </p:pic>
      <p:sp>
        <p:nvSpPr>
          <p:cNvPr id="366" name="Google Shape;366;p19"/>
          <p:cNvSpPr txBox="1"/>
          <p:nvPr>
            <p:ph idx="4294967295" type="title"/>
          </p:nvPr>
        </p:nvSpPr>
        <p:spPr>
          <a:xfrm>
            <a:off x="5562600" y="1524000"/>
            <a:ext cx="3581400" cy="205740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IBM</a:t>
            </a:r>
            <a:br>
              <a:rPr lang="en-US"/>
            </a:br>
            <a:r>
              <a:rPr lang="en-US"/>
              <a:t>7094</a:t>
            </a:r>
            <a:br>
              <a:rPr lang="en-US"/>
            </a:br>
            <a:r>
              <a:rPr lang="en-US"/>
              <a:t>Configuration</a:t>
            </a:r>
            <a:endParaRPr/>
          </a:p>
        </p:txBody>
      </p:sp>
    </p:spTree>
  </p:cSld>
  <p:clrMapOvr>
    <a:masterClrMapping/>
  </p:clrMapOvr>
  <p:transition spd="med">
    <p:zoom dir="o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0"/>
          <p:cNvSpPr txBox="1"/>
          <p:nvPr>
            <p:ph idx="4294967295" type="body"/>
          </p:nvPr>
        </p:nvSpPr>
        <p:spPr>
          <a:xfrm>
            <a:off x="-80875" y="1416125"/>
            <a:ext cx="7543800" cy="774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3135"/>
              <a:buNone/>
            </a:pPr>
            <a:r>
              <a:rPr lang="en-US" sz="3300">
                <a:solidFill>
                  <a:schemeClr val="accent1"/>
                </a:solidFill>
              </a:rPr>
              <a:t>Third Generation:  Integrated Circuits</a:t>
            </a:r>
            <a:endParaRPr/>
          </a:p>
        </p:txBody>
      </p:sp>
      <p:sp>
        <p:nvSpPr>
          <p:cNvPr id="373" name="Google Shape;373;p20"/>
          <p:cNvSpPr txBox="1"/>
          <p:nvPr>
            <p:ph idx="4294967295" type="title"/>
          </p:nvPr>
        </p:nvSpPr>
        <p:spPr>
          <a:xfrm>
            <a:off x="74525" y="300125"/>
            <a:ext cx="7556400" cy="1116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History of Computers</a:t>
            </a:r>
            <a:endParaRPr/>
          </a:p>
        </p:txBody>
      </p:sp>
      <p:sp>
        <p:nvSpPr>
          <p:cNvPr id="374" name="Google Shape;374;p20"/>
          <p:cNvSpPr txBox="1"/>
          <p:nvPr>
            <p:ph idx="4294967295" type="body"/>
          </p:nvPr>
        </p:nvSpPr>
        <p:spPr>
          <a:xfrm>
            <a:off x="1587500" y="2667000"/>
            <a:ext cx="7556500" cy="4495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1958 – the invention of the integrated circuit </a:t>
            </a:r>
            <a:endParaRPr/>
          </a:p>
          <a:p>
            <a:pPr indent="-274320" lvl="0" marL="274320" rtl="0" algn="l">
              <a:spcBef>
                <a:spcPts val="520"/>
              </a:spcBef>
              <a:spcAft>
                <a:spcPts val="0"/>
              </a:spcAft>
              <a:buSzPts val="2470"/>
              <a:buChar char="⚫"/>
            </a:pPr>
            <a:r>
              <a:rPr i="1" lang="en-US"/>
              <a:t>Discrete component</a:t>
            </a:r>
            <a:endParaRPr/>
          </a:p>
          <a:p>
            <a:pPr indent="-246888" lvl="1" marL="640080" rtl="0" algn="l">
              <a:spcBef>
                <a:spcPts val="480"/>
              </a:spcBef>
              <a:spcAft>
                <a:spcPts val="0"/>
              </a:spcAft>
              <a:buSzPts val="2040"/>
              <a:buChar char="⚫"/>
            </a:pPr>
            <a:r>
              <a:rPr lang="en-US"/>
              <a:t>Single, self-contained transistor</a:t>
            </a:r>
            <a:endParaRPr/>
          </a:p>
          <a:p>
            <a:pPr indent="-246888" lvl="1" marL="640080" rtl="0" algn="l">
              <a:spcBef>
                <a:spcPts val="480"/>
              </a:spcBef>
              <a:spcAft>
                <a:spcPts val="0"/>
              </a:spcAft>
              <a:buSzPts val="2040"/>
              <a:buChar char="⚫"/>
            </a:pPr>
            <a:r>
              <a:rPr lang="en-US"/>
              <a:t>Manufactured separately, packaged in their own containers, and soldered or wired together onto masonite-like circuit boards</a:t>
            </a:r>
            <a:endParaRPr/>
          </a:p>
          <a:p>
            <a:pPr indent="-246888" lvl="1" marL="640080" rtl="0" algn="l">
              <a:spcBef>
                <a:spcPts val="480"/>
              </a:spcBef>
              <a:spcAft>
                <a:spcPts val="0"/>
              </a:spcAft>
              <a:buSzPts val="2040"/>
              <a:buChar char="⚫"/>
            </a:pPr>
            <a:r>
              <a:rPr lang="en-US"/>
              <a:t>Manufacturing process was expensive and cumbersome</a:t>
            </a:r>
            <a:endParaRPr/>
          </a:p>
          <a:p>
            <a:pPr indent="-228600" lvl="1" marL="228600" rtl="0" algn="l">
              <a:spcBef>
                <a:spcPts val="2000"/>
              </a:spcBef>
              <a:spcAft>
                <a:spcPts val="0"/>
              </a:spcAft>
              <a:buClr>
                <a:schemeClr val="accent1"/>
              </a:buClr>
              <a:buSzPts val="1700"/>
              <a:buChar char="⚫"/>
            </a:pPr>
            <a:r>
              <a:rPr lang="en-US" sz="2000"/>
              <a:t>The two most important members of the third generation were the IBM System/360 and the DEC PDP-8 </a:t>
            </a:r>
            <a:endParaRPr/>
          </a:p>
          <a:p>
            <a:pPr indent="-117348" lvl="1" marL="640080" rtl="0" algn="l">
              <a:spcBef>
                <a:spcPts val="480"/>
              </a:spcBef>
              <a:spcAft>
                <a:spcPts val="0"/>
              </a:spcAft>
              <a:buSzPts val="2040"/>
              <a:buNone/>
            </a:pPr>
            <a:r>
              <a:t/>
            </a:r>
            <a:endParaRPr/>
          </a:p>
        </p:txBody>
      </p:sp>
      <p:pic>
        <p:nvPicPr>
          <p:cNvPr id="375" name="Google Shape;375;p20"/>
          <p:cNvPicPr preferRelativeResize="0"/>
          <p:nvPr/>
        </p:nvPicPr>
        <p:blipFill rotWithShape="1">
          <a:blip r:embed="rId3">
            <a:alphaModFix/>
          </a:blip>
          <a:srcRect b="0" l="0" r="0" t="0"/>
          <a:stretch/>
        </p:blipFill>
        <p:spPr>
          <a:xfrm>
            <a:off x="7556500" y="577613"/>
            <a:ext cx="1523999" cy="19054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1"/>
          <p:cNvSpPr txBox="1"/>
          <p:nvPr>
            <p:ph type="title"/>
          </p:nvPr>
        </p:nvSpPr>
        <p:spPr>
          <a:xfrm>
            <a:off x="1295400" y="533400"/>
            <a:ext cx="7556313" cy="13716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Microelectronics</a:t>
            </a:r>
            <a:endParaRPr/>
          </a:p>
        </p:txBody>
      </p:sp>
      <p:pic>
        <p:nvPicPr>
          <p:cNvPr descr="f6.pdf" id="382" name="Google Shape;382;p21"/>
          <p:cNvPicPr preferRelativeResize="0"/>
          <p:nvPr/>
        </p:nvPicPr>
        <p:blipFill rotWithShape="1">
          <a:blip r:embed="rId3">
            <a:alphaModFix/>
          </a:blip>
          <a:srcRect b="31817" l="0" r="0" t="29091"/>
          <a:stretch/>
        </p:blipFill>
        <p:spPr>
          <a:xfrm>
            <a:off x="0" y="1828800"/>
            <a:ext cx="9144000" cy="4724400"/>
          </a:xfrm>
          <a:prstGeom prst="rect">
            <a:avLst/>
          </a:prstGeom>
          <a:noFill/>
          <a:ln>
            <a:noFill/>
          </a:ln>
        </p:spPr>
      </p:pic>
    </p:spTree>
  </p:cSld>
  <p:clrMapOvr>
    <a:masterClrMapping/>
  </p:clrMapOvr>
  <p:transition spd="med">
    <p:blinds dir="ver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2"/>
          <p:cNvSpPr txBox="1"/>
          <p:nvPr>
            <p:ph type="title"/>
          </p:nvPr>
        </p:nvSpPr>
        <p:spPr>
          <a:xfrm>
            <a:off x="990600" y="457200"/>
            <a:ext cx="7556313" cy="11161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Integrated </a:t>
            </a:r>
            <a:br>
              <a:rPr lang="en-US"/>
            </a:br>
            <a:r>
              <a:rPr lang="en-US"/>
              <a:t>Circuits</a:t>
            </a:r>
            <a:endParaRPr/>
          </a:p>
        </p:txBody>
      </p:sp>
      <p:sp>
        <p:nvSpPr>
          <p:cNvPr id="389" name="Google Shape;389;p22"/>
          <p:cNvSpPr txBox="1"/>
          <p:nvPr>
            <p:ph idx="1" type="body"/>
          </p:nvPr>
        </p:nvSpPr>
        <p:spPr>
          <a:xfrm>
            <a:off x="4343400" y="381000"/>
            <a:ext cx="3657600" cy="28851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a:t>A computer consists of gates, memory cells, and interconnections among these elements</a:t>
            </a:r>
            <a:endParaRPr/>
          </a:p>
          <a:p>
            <a:pPr indent="-274320" lvl="0" marL="274320" rtl="0" algn="l">
              <a:spcBef>
                <a:spcPts val="360"/>
              </a:spcBef>
              <a:spcAft>
                <a:spcPts val="0"/>
              </a:spcAft>
              <a:buSzPts val="1710"/>
              <a:buChar char="⚫"/>
            </a:pPr>
            <a:r>
              <a:rPr lang="en-US"/>
              <a:t>The gates and memory cells are constructed of simple digital electronic components</a:t>
            </a:r>
            <a:endParaRPr/>
          </a:p>
        </p:txBody>
      </p:sp>
      <p:sp>
        <p:nvSpPr>
          <p:cNvPr id="390" name="Google Shape;390;p22"/>
          <p:cNvSpPr txBox="1"/>
          <p:nvPr>
            <p:ph idx="2" type="body"/>
          </p:nvPr>
        </p:nvSpPr>
        <p:spPr>
          <a:xfrm>
            <a:off x="498518" y="1985963"/>
            <a:ext cx="3657600" cy="41402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a:t>Data storage – provided by memory cells</a:t>
            </a:r>
            <a:endParaRPr/>
          </a:p>
          <a:p>
            <a:pPr indent="-274320" lvl="0" marL="274320" rtl="0" algn="l">
              <a:spcBef>
                <a:spcPts val="360"/>
              </a:spcBef>
              <a:spcAft>
                <a:spcPts val="0"/>
              </a:spcAft>
              <a:buSzPts val="1710"/>
              <a:buChar char="⚫"/>
            </a:pPr>
            <a:r>
              <a:rPr lang="en-US"/>
              <a:t>Data processing – provided by gates</a:t>
            </a:r>
            <a:endParaRPr/>
          </a:p>
          <a:p>
            <a:pPr indent="-274320" lvl="0" marL="274320" rtl="0" algn="l">
              <a:spcBef>
                <a:spcPts val="360"/>
              </a:spcBef>
              <a:spcAft>
                <a:spcPts val="0"/>
              </a:spcAft>
              <a:buSzPts val="1710"/>
              <a:buChar char="⚫"/>
            </a:pPr>
            <a:r>
              <a:rPr lang="en-US"/>
              <a:t>Data movement – the paths among components are used to move data from memory to memory and from memory through gates to memory</a:t>
            </a:r>
            <a:endParaRPr/>
          </a:p>
          <a:p>
            <a:pPr indent="-274320" lvl="0" marL="274320" rtl="0" algn="l">
              <a:spcBef>
                <a:spcPts val="360"/>
              </a:spcBef>
              <a:spcAft>
                <a:spcPts val="0"/>
              </a:spcAft>
              <a:buSzPts val="1710"/>
              <a:buChar char="⚫"/>
            </a:pPr>
            <a:r>
              <a:rPr lang="en-US"/>
              <a:t>Control – the paths among components can carry control signals</a:t>
            </a:r>
            <a:endParaRPr/>
          </a:p>
        </p:txBody>
      </p:sp>
      <p:sp>
        <p:nvSpPr>
          <p:cNvPr id="391" name="Google Shape;391;p22"/>
          <p:cNvSpPr txBox="1"/>
          <p:nvPr>
            <p:ph idx="3" type="body"/>
          </p:nvPr>
        </p:nvSpPr>
        <p:spPr>
          <a:xfrm>
            <a:off x="4410075" y="2895600"/>
            <a:ext cx="3657600" cy="324002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1710"/>
              <a:buChar char="⚫"/>
            </a:pPr>
            <a:r>
              <a:rPr lang="en-US"/>
              <a:t>Exploits the fact that such components as transistors, resistors, and conductors can be fabricated from a semiconductor such as silicon</a:t>
            </a:r>
            <a:endParaRPr/>
          </a:p>
          <a:p>
            <a:pPr indent="-274320" lvl="0" marL="274320" rtl="0" algn="l">
              <a:spcBef>
                <a:spcPts val="360"/>
              </a:spcBef>
              <a:spcAft>
                <a:spcPts val="0"/>
              </a:spcAft>
              <a:buSzPts val="1710"/>
              <a:buChar char="⚫"/>
            </a:pPr>
            <a:r>
              <a:rPr lang="en-US"/>
              <a:t>Many transistors can be produced at the same time on a single wafer of silicon</a:t>
            </a:r>
            <a:endParaRPr/>
          </a:p>
          <a:p>
            <a:pPr indent="-274320" lvl="0" marL="274320" rtl="0" algn="l">
              <a:spcBef>
                <a:spcPts val="360"/>
              </a:spcBef>
              <a:spcAft>
                <a:spcPts val="0"/>
              </a:spcAft>
              <a:buSzPts val="1710"/>
              <a:buChar char="⚫"/>
            </a:pPr>
            <a:r>
              <a:rPr lang="en-US"/>
              <a:t>Transistors can be connected with a processor metallization to form circuits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xEl>
                                              <p:pRg end="0" st="0"/>
                                            </p:txEl>
                                          </p:spTgt>
                                        </p:tgtEl>
                                        <p:attrNameLst>
                                          <p:attrName>style.visibility</p:attrName>
                                        </p:attrNameLst>
                                      </p:cBhvr>
                                      <p:to>
                                        <p:strVal val="visible"/>
                                      </p:to>
                                    </p:set>
                                    <p:anim calcmode="lin" valueType="num">
                                      <p:cBhvr additive="base">
                                        <p:cTn dur="500"/>
                                        <p:tgtEl>
                                          <p:spTgt spid="3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xEl>
                                              <p:pRg end="1" st="1"/>
                                            </p:txEl>
                                          </p:spTgt>
                                        </p:tgtEl>
                                        <p:attrNameLst>
                                          <p:attrName>style.visibility</p:attrName>
                                        </p:attrNameLst>
                                      </p:cBhvr>
                                      <p:to>
                                        <p:strVal val="visible"/>
                                      </p:to>
                                    </p:set>
                                    <p:anim calcmode="lin" valueType="num">
                                      <p:cBhvr additive="base">
                                        <p:cTn dur="500"/>
                                        <p:tgtEl>
                                          <p:spTgt spid="39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xEl>
                                              <p:pRg end="2" st="2"/>
                                            </p:txEl>
                                          </p:spTgt>
                                        </p:tgtEl>
                                        <p:attrNameLst>
                                          <p:attrName>style.visibility</p:attrName>
                                        </p:attrNameLst>
                                      </p:cBhvr>
                                      <p:to>
                                        <p:strVal val="visible"/>
                                      </p:to>
                                    </p:set>
                                    <p:anim calcmode="lin" valueType="num">
                                      <p:cBhvr additive="base">
                                        <p:cTn dur="500"/>
                                        <p:tgtEl>
                                          <p:spTgt spid="39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0">
                                            <p:txEl>
                                              <p:pRg end="3" st="3"/>
                                            </p:txEl>
                                          </p:spTgt>
                                        </p:tgtEl>
                                        <p:attrNameLst>
                                          <p:attrName>style.visibility</p:attrName>
                                        </p:attrNameLst>
                                      </p:cBhvr>
                                      <p:to>
                                        <p:strVal val="visible"/>
                                      </p:to>
                                    </p:set>
                                    <p:anim calcmode="lin" valueType="num">
                                      <p:cBhvr additive="base">
                                        <p:cTn dur="500"/>
                                        <p:tgtEl>
                                          <p:spTgt spid="39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9">
                                            <p:txEl>
                                              <p:pRg end="0" st="0"/>
                                            </p:txEl>
                                          </p:spTgt>
                                        </p:tgtEl>
                                        <p:attrNameLst>
                                          <p:attrName>style.visibility</p:attrName>
                                        </p:attrNameLst>
                                      </p:cBhvr>
                                      <p:to>
                                        <p:strVal val="visible"/>
                                      </p:to>
                                    </p:set>
                                    <p:anim calcmode="lin" valueType="num">
                                      <p:cBhvr additive="base">
                                        <p:cTn dur="500"/>
                                        <p:tgtEl>
                                          <p:spTgt spid="3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89">
                                            <p:txEl>
                                              <p:pRg end="1" st="1"/>
                                            </p:txEl>
                                          </p:spTgt>
                                        </p:tgtEl>
                                        <p:attrNameLst>
                                          <p:attrName>style.visibility</p:attrName>
                                        </p:attrNameLst>
                                      </p:cBhvr>
                                      <p:to>
                                        <p:strVal val="visible"/>
                                      </p:to>
                                    </p:set>
                                    <p:anim calcmode="lin" valueType="num">
                                      <p:cBhvr additive="base">
                                        <p:cTn dur="500"/>
                                        <p:tgtEl>
                                          <p:spTgt spid="3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1">
                                            <p:txEl>
                                              <p:pRg end="0" st="0"/>
                                            </p:txEl>
                                          </p:spTgt>
                                        </p:tgtEl>
                                        <p:attrNameLst>
                                          <p:attrName>style.visibility</p:attrName>
                                        </p:attrNameLst>
                                      </p:cBhvr>
                                      <p:to>
                                        <p:strVal val="visible"/>
                                      </p:to>
                                    </p:set>
                                    <p:anim calcmode="lin" valueType="num">
                                      <p:cBhvr additive="base">
                                        <p:cTn dur="500"/>
                                        <p:tgtEl>
                                          <p:spTgt spid="39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1">
                                            <p:txEl>
                                              <p:pRg end="1" st="1"/>
                                            </p:txEl>
                                          </p:spTgt>
                                        </p:tgtEl>
                                        <p:attrNameLst>
                                          <p:attrName>style.visibility</p:attrName>
                                        </p:attrNameLst>
                                      </p:cBhvr>
                                      <p:to>
                                        <p:strVal val="visible"/>
                                      </p:to>
                                    </p:set>
                                    <p:anim calcmode="lin" valueType="num">
                                      <p:cBhvr additive="base">
                                        <p:cTn dur="500"/>
                                        <p:tgtEl>
                                          <p:spTgt spid="39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1">
                                            <p:txEl>
                                              <p:pRg end="2" st="2"/>
                                            </p:txEl>
                                          </p:spTgt>
                                        </p:tgtEl>
                                        <p:attrNameLst>
                                          <p:attrName>style.visibility</p:attrName>
                                        </p:attrNameLst>
                                      </p:cBhvr>
                                      <p:to>
                                        <p:strVal val="visible"/>
                                      </p:to>
                                    </p:set>
                                    <p:anim calcmode="lin" valueType="num">
                                      <p:cBhvr additive="base">
                                        <p:cTn dur="500"/>
                                        <p:tgtEl>
                                          <p:spTgt spid="39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3"/>
          <p:cNvSpPr txBox="1"/>
          <p:nvPr>
            <p:ph type="title"/>
          </p:nvPr>
        </p:nvSpPr>
        <p:spPr>
          <a:xfrm>
            <a:off x="381000" y="914400"/>
            <a:ext cx="3182888" cy="4164106"/>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Wafer, </a:t>
            </a:r>
            <a:br>
              <a:rPr lang="en-US"/>
            </a:br>
            <a:r>
              <a:rPr lang="en-US"/>
              <a:t>Chip,</a:t>
            </a:r>
            <a:br>
              <a:rPr lang="en-US"/>
            </a:br>
            <a:r>
              <a:rPr lang="en-US"/>
              <a:t>and </a:t>
            </a:r>
            <a:br>
              <a:rPr lang="en-US"/>
            </a:br>
            <a:r>
              <a:rPr lang="en-US"/>
              <a:t>Gate</a:t>
            </a:r>
            <a:br>
              <a:rPr lang="en-US"/>
            </a:br>
            <a:r>
              <a:rPr lang="en-US"/>
              <a:t>Relationship</a:t>
            </a:r>
            <a:endParaRPr/>
          </a:p>
        </p:txBody>
      </p:sp>
      <p:pic>
        <p:nvPicPr>
          <p:cNvPr descr="f7.pdf" id="398" name="Google Shape;398;p23"/>
          <p:cNvPicPr preferRelativeResize="0"/>
          <p:nvPr/>
        </p:nvPicPr>
        <p:blipFill rotWithShape="1">
          <a:blip r:embed="rId3">
            <a:alphaModFix/>
          </a:blip>
          <a:srcRect b="12727" l="8235" r="10588" t="28182"/>
          <a:stretch/>
        </p:blipFill>
        <p:spPr>
          <a:xfrm>
            <a:off x="1600200" y="304800"/>
            <a:ext cx="7279923" cy="68579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4"/>
          <p:cNvSpPr txBox="1"/>
          <p:nvPr>
            <p:ph type="title"/>
          </p:nvPr>
        </p:nvSpPr>
        <p:spPr>
          <a:xfrm>
            <a:off x="4343400" y="838200"/>
            <a:ext cx="3254187"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Chip Growth</a:t>
            </a:r>
            <a:endParaRPr/>
          </a:p>
        </p:txBody>
      </p:sp>
      <p:pic>
        <p:nvPicPr>
          <p:cNvPr descr="f8.pdf" id="405" name="Google Shape;405;p24"/>
          <p:cNvPicPr preferRelativeResize="0"/>
          <p:nvPr/>
        </p:nvPicPr>
        <p:blipFill rotWithShape="1">
          <a:blip r:embed="rId3">
            <a:alphaModFix/>
          </a:blip>
          <a:srcRect b="21818" l="-3528" r="-4705" t="23636"/>
          <a:stretch/>
        </p:blipFill>
        <p:spPr>
          <a:xfrm>
            <a:off x="0" y="990600"/>
            <a:ext cx="9144000" cy="58674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5"/>
          <p:cNvSpPr txBox="1"/>
          <p:nvPr>
            <p:ph idx="4294967295" type="title"/>
          </p:nvPr>
        </p:nvSpPr>
        <p:spPr>
          <a:xfrm>
            <a:off x="0" y="0"/>
            <a:ext cx="3048000" cy="9906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accent3"/>
              </a:buClr>
              <a:buSzPct val="100000"/>
              <a:buFont typeface="Calibri"/>
              <a:buNone/>
            </a:pPr>
            <a:r>
              <a:rPr lang="en-US">
                <a:solidFill>
                  <a:schemeClr val="accent3"/>
                </a:solidFill>
              </a:rPr>
              <a:t>Moore’s Law</a:t>
            </a:r>
            <a:endParaRPr/>
          </a:p>
        </p:txBody>
      </p:sp>
      <p:grpSp>
        <p:nvGrpSpPr>
          <p:cNvPr id="412" name="Google Shape;412;p25"/>
          <p:cNvGrpSpPr/>
          <p:nvPr/>
        </p:nvGrpSpPr>
        <p:grpSpPr>
          <a:xfrm>
            <a:off x="1143000" y="838200"/>
            <a:ext cx="8001000" cy="5791200"/>
            <a:chOff x="0" y="0"/>
            <a:chExt cx="8001000" cy="5791200"/>
          </a:xfrm>
        </p:grpSpPr>
        <p:sp>
          <p:nvSpPr>
            <p:cNvPr id="413" name="Google Shape;413;p25"/>
            <p:cNvSpPr/>
            <p:nvPr/>
          </p:nvSpPr>
          <p:spPr>
            <a:xfrm>
              <a:off x="0" y="0"/>
              <a:ext cx="8001000" cy="5791200"/>
            </a:xfrm>
            <a:prstGeom prst="roundRect">
              <a:avLst>
                <a:gd fmla="val 8500" name="adj"/>
              </a:avLst>
            </a:prstGeom>
            <a:solidFill>
              <a:schemeClr val="accent1"/>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25"/>
            <p:cNvSpPr txBox="1"/>
            <p:nvPr/>
          </p:nvSpPr>
          <p:spPr>
            <a:xfrm>
              <a:off x="0" y="0"/>
              <a:ext cx="8001000" cy="5791200"/>
            </a:xfrm>
            <a:prstGeom prst="rect">
              <a:avLst/>
            </a:prstGeom>
            <a:noFill/>
            <a:ln>
              <a:noFill/>
            </a:ln>
          </p:spPr>
          <p:txBody>
            <a:bodyPr anchorCtr="0" anchor="t" bIns="4494600" lIns="106675" spcFirstLastPara="1" rIns="106675" wrap="square" tIns="106675">
              <a:noAutofit/>
            </a:bodyPr>
            <a:lstStyle/>
            <a:p>
              <a:pPr indent="0" lvl="0" marL="0" marR="0" rtl="0" algn="l">
                <a:lnSpc>
                  <a:spcPct val="90000"/>
                </a:lnSpc>
                <a:spcBef>
                  <a:spcPts val="0"/>
                </a:spcBef>
                <a:spcAft>
                  <a:spcPts val="0"/>
                </a:spcAft>
                <a:buNone/>
              </a:pPr>
              <a:r>
                <a:rPr lang="en-US" sz="2800">
                  <a:solidFill>
                    <a:schemeClr val="lt1"/>
                  </a:solidFill>
                  <a:latin typeface="Times New Roman"/>
                  <a:ea typeface="Times New Roman"/>
                  <a:cs typeface="Times New Roman"/>
                  <a:sym typeface="Times New Roman"/>
                </a:rPr>
                <a:t>1965; Gordon Moore – co-founder of Intel</a:t>
              </a:r>
              <a:endParaRPr sz="2800">
                <a:solidFill>
                  <a:schemeClr val="lt1"/>
                </a:solidFill>
                <a:latin typeface="Times New Roman"/>
                <a:ea typeface="Times New Roman"/>
                <a:cs typeface="Times New Roman"/>
                <a:sym typeface="Times New Roman"/>
              </a:endParaRPr>
            </a:p>
          </p:txBody>
        </p:sp>
        <p:sp>
          <p:nvSpPr>
            <p:cNvPr id="415" name="Google Shape;415;p25"/>
            <p:cNvSpPr/>
            <p:nvPr/>
          </p:nvSpPr>
          <p:spPr>
            <a:xfrm>
              <a:off x="200025" y="1447800"/>
              <a:ext cx="7600950" cy="4053840"/>
            </a:xfrm>
            <a:prstGeom prst="roundRect">
              <a:avLst>
                <a:gd fmla="val 10500" name="adj"/>
              </a:avLst>
            </a:prstGeom>
            <a:solidFill>
              <a:schemeClr val="accent4"/>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5"/>
            <p:cNvSpPr txBox="1"/>
            <p:nvPr/>
          </p:nvSpPr>
          <p:spPr>
            <a:xfrm>
              <a:off x="200025" y="1447800"/>
              <a:ext cx="7600950" cy="4053840"/>
            </a:xfrm>
            <a:prstGeom prst="rect">
              <a:avLst/>
            </a:prstGeom>
            <a:noFill/>
            <a:ln>
              <a:noFill/>
            </a:ln>
          </p:spPr>
          <p:txBody>
            <a:bodyPr anchorCtr="0" anchor="t" bIns="2574175" lIns="106675" spcFirstLastPara="1" rIns="106675" wrap="square" tIns="106675">
              <a:noAutofit/>
            </a:bodyPr>
            <a:lstStyle/>
            <a:p>
              <a:pPr indent="0" lvl="0" marL="0" marR="0" rtl="0" algn="l">
                <a:lnSpc>
                  <a:spcPct val="90000"/>
                </a:lnSpc>
                <a:spcBef>
                  <a:spcPts val="0"/>
                </a:spcBef>
                <a:spcAft>
                  <a:spcPts val="0"/>
                </a:spcAft>
                <a:buNone/>
              </a:pPr>
              <a:r>
                <a:rPr lang="en-US" sz="2800">
                  <a:solidFill>
                    <a:schemeClr val="lt1"/>
                  </a:solidFill>
                  <a:latin typeface="Times New Roman"/>
                  <a:ea typeface="Times New Roman"/>
                  <a:cs typeface="Times New Roman"/>
                  <a:sym typeface="Times New Roman"/>
                </a:rPr>
                <a:t>Observed number of transistors that could be put on a single chip was doubling every year</a:t>
              </a:r>
              <a:endParaRPr sz="2800">
                <a:solidFill>
                  <a:schemeClr val="lt1"/>
                </a:solidFill>
                <a:latin typeface="Times New Roman"/>
                <a:ea typeface="Times New Roman"/>
                <a:cs typeface="Times New Roman"/>
                <a:sym typeface="Times New Roman"/>
              </a:endParaRPr>
            </a:p>
          </p:txBody>
        </p:sp>
        <p:sp>
          <p:nvSpPr>
            <p:cNvPr id="417" name="Google Shape;417;p25"/>
            <p:cNvSpPr/>
            <p:nvPr/>
          </p:nvSpPr>
          <p:spPr>
            <a:xfrm>
              <a:off x="390048" y="2866644"/>
              <a:ext cx="1520190" cy="2330958"/>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5"/>
            <p:cNvSpPr txBox="1"/>
            <p:nvPr/>
          </p:nvSpPr>
          <p:spPr>
            <a:xfrm>
              <a:off x="390048" y="2866644"/>
              <a:ext cx="1520190" cy="2330958"/>
            </a:xfrm>
            <a:prstGeom prst="rect">
              <a:avLst/>
            </a:prstGeom>
            <a:noFill/>
            <a:ln>
              <a:noFill/>
            </a:ln>
          </p:spPr>
          <p:txBody>
            <a:bodyPr anchorCtr="0" anchor="ctr" bIns="41900" lIns="41900" spcFirstLastPara="1" rIns="41900" wrap="square" tIns="41900">
              <a:noAutofit/>
            </a:bodyPr>
            <a:lstStyle/>
            <a:p>
              <a:pPr indent="0" lvl="0" marL="0" marR="0" rtl="0" algn="ctr">
                <a:lnSpc>
                  <a:spcPct val="90000"/>
                </a:lnSpc>
                <a:spcBef>
                  <a:spcPts val="0"/>
                </a:spcBef>
                <a:spcAft>
                  <a:spcPts val="0"/>
                </a:spcAft>
                <a:buNone/>
              </a:pPr>
              <a:r>
                <a:rPr b="1" lang="en-US" sz="1100">
                  <a:solidFill>
                    <a:schemeClr val="dk1"/>
                  </a:solidFill>
                  <a:latin typeface="Times New Roman"/>
                  <a:ea typeface="Times New Roman"/>
                  <a:cs typeface="Times New Roman"/>
                  <a:sym typeface="Times New Roman"/>
                </a:rPr>
                <a:t>The pace slowed to a doubling every 18 months in the 1970’s but has sustained that rate ever since</a:t>
              </a:r>
              <a:endParaRPr b="1" sz="1100">
                <a:solidFill>
                  <a:schemeClr val="dk1"/>
                </a:solidFill>
                <a:latin typeface="Times New Roman"/>
                <a:ea typeface="Times New Roman"/>
                <a:cs typeface="Times New Roman"/>
                <a:sym typeface="Times New Roman"/>
              </a:endParaRPr>
            </a:p>
          </p:txBody>
        </p:sp>
        <p:sp>
          <p:nvSpPr>
            <p:cNvPr id="419" name="Google Shape;419;p25"/>
            <p:cNvSpPr/>
            <p:nvPr/>
          </p:nvSpPr>
          <p:spPr>
            <a:xfrm>
              <a:off x="2080260" y="2895600"/>
              <a:ext cx="5520690" cy="2316480"/>
            </a:xfrm>
            <a:prstGeom prst="roundRect">
              <a:avLst>
                <a:gd fmla="val 10500" name="adj"/>
              </a:avLst>
            </a:prstGeom>
            <a:solidFill>
              <a:schemeClr val="accent3"/>
            </a:soli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25"/>
            <p:cNvSpPr txBox="1"/>
            <p:nvPr/>
          </p:nvSpPr>
          <p:spPr>
            <a:xfrm>
              <a:off x="2080260" y="2895600"/>
              <a:ext cx="5520690" cy="2316480"/>
            </a:xfrm>
            <a:prstGeom prst="rect">
              <a:avLst/>
            </a:prstGeom>
            <a:noFill/>
            <a:ln>
              <a:noFill/>
            </a:ln>
          </p:spPr>
          <p:txBody>
            <a:bodyPr anchorCtr="0" anchor="t" bIns="1307500" lIns="106675" spcFirstLastPara="1" rIns="106675" wrap="square" tIns="106675">
              <a:noAutofit/>
            </a:bodyPr>
            <a:lstStyle/>
            <a:p>
              <a:pPr indent="0" lvl="0" marL="0" marR="0" rtl="0" algn="l">
                <a:lnSpc>
                  <a:spcPct val="90000"/>
                </a:lnSpc>
                <a:spcBef>
                  <a:spcPts val="0"/>
                </a:spcBef>
                <a:spcAft>
                  <a:spcPts val="0"/>
                </a:spcAft>
                <a:buNone/>
              </a:pPr>
              <a:r>
                <a:rPr lang="en-US" sz="2800">
                  <a:solidFill>
                    <a:schemeClr val="lt1"/>
                  </a:solidFill>
                  <a:latin typeface="Times New Roman"/>
                  <a:ea typeface="Times New Roman"/>
                  <a:cs typeface="Times New Roman"/>
                  <a:sym typeface="Times New Roman"/>
                </a:rPr>
                <a:t>Consequences of Moore’s law: </a:t>
              </a:r>
              <a:endParaRPr sz="2800">
                <a:solidFill>
                  <a:schemeClr val="lt1"/>
                </a:solidFill>
                <a:latin typeface="Times New Roman"/>
                <a:ea typeface="Times New Roman"/>
                <a:cs typeface="Times New Roman"/>
                <a:sym typeface="Times New Roman"/>
              </a:endParaRPr>
            </a:p>
          </p:txBody>
        </p:sp>
        <p:sp>
          <p:nvSpPr>
            <p:cNvPr id="421" name="Google Shape;421;p25"/>
            <p:cNvSpPr/>
            <p:nvPr/>
          </p:nvSpPr>
          <p:spPr>
            <a:xfrm>
              <a:off x="2218277" y="3938016"/>
              <a:ext cx="1029468" cy="1042416"/>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5"/>
            <p:cNvSpPr txBox="1"/>
            <p:nvPr/>
          </p:nvSpPr>
          <p:spPr>
            <a:xfrm>
              <a:off x="2218277" y="3938016"/>
              <a:ext cx="1029468" cy="1042416"/>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rPr b="1" lang="en-US" sz="1000">
                  <a:solidFill>
                    <a:schemeClr val="dk1"/>
                  </a:solidFill>
                  <a:latin typeface="Times New Roman"/>
                  <a:ea typeface="Times New Roman"/>
                  <a:cs typeface="Times New Roman"/>
                  <a:sym typeface="Times New Roman"/>
                </a:rPr>
                <a:t>The cost of computer logic and memory circuitry has fallen at a dramatic rate</a:t>
              </a:r>
              <a:endParaRPr/>
            </a:p>
          </p:txBody>
        </p:sp>
        <p:sp>
          <p:nvSpPr>
            <p:cNvPr id="423" name="Google Shape;423;p25"/>
            <p:cNvSpPr/>
            <p:nvPr/>
          </p:nvSpPr>
          <p:spPr>
            <a:xfrm>
              <a:off x="3271303" y="3938016"/>
              <a:ext cx="1029468" cy="1042416"/>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25"/>
            <p:cNvSpPr txBox="1"/>
            <p:nvPr/>
          </p:nvSpPr>
          <p:spPr>
            <a:xfrm>
              <a:off x="3271303" y="3938016"/>
              <a:ext cx="1029468" cy="1042416"/>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rPr b="1" lang="en-US" sz="1000">
                  <a:solidFill>
                    <a:schemeClr val="dk1"/>
                  </a:solidFill>
                  <a:latin typeface="Times New Roman"/>
                  <a:ea typeface="Times New Roman"/>
                  <a:cs typeface="Times New Roman"/>
                  <a:sym typeface="Times New Roman"/>
                </a:rPr>
                <a:t>The electrical path length is shortened, increasing operating speed</a:t>
              </a:r>
              <a:endParaRPr/>
            </a:p>
          </p:txBody>
        </p:sp>
        <p:sp>
          <p:nvSpPr>
            <p:cNvPr id="425" name="Google Shape;425;p25"/>
            <p:cNvSpPr/>
            <p:nvPr/>
          </p:nvSpPr>
          <p:spPr>
            <a:xfrm>
              <a:off x="4324329" y="3938016"/>
              <a:ext cx="1029468" cy="1042416"/>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25"/>
            <p:cNvSpPr txBox="1"/>
            <p:nvPr/>
          </p:nvSpPr>
          <p:spPr>
            <a:xfrm>
              <a:off x="4324329" y="3938016"/>
              <a:ext cx="1029468" cy="1042416"/>
            </a:xfrm>
            <a:prstGeom prst="rect">
              <a:avLst/>
            </a:prstGeom>
            <a:noFill/>
            <a:ln>
              <a:noFill/>
            </a:ln>
          </p:spPr>
          <p:txBody>
            <a:bodyPr anchorCtr="0" anchor="ctr" bIns="34275" lIns="34275" spcFirstLastPara="1" rIns="34275" wrap="square" tIns="34275">
              <a:noAutofit/>
            </a:bodyPr>
            <a:lstStyle/>
            <a:p>
              <a:pPr indent="0" lvl="0" marL="0" marR="0" rtl="0" algn="ctr">
                <a:lnSpc>
                  <a:spcPct val="90000"/>
                </a:lnSpc>
                <a:spcBef>
                  <a:spcPts val="0"/>
                </a:spcBef>
                <a:spcAft>
                  <a:spcPts val="0"/>
                </a:spcAft>
                <a:buNone/>
              </a:pPr>
              <a:r>
                <a:rPr b="1" lang="en-US" sz="900">
                  <a:solidFill>
                    <a:schemeClr val="dk1"/>
                  </a:solidFill>
                  <a:latin typeface="Times New Roman"/>
                  <a:ea typeface="Times New Roman"/>
                  <a:cs typeface="Times New Roman"/>
                  <a:sym typeface="Times New Roman"/>
                </a:rPr>
                <a:t>Computer becomes smaller and is more convenient to use in a variety of environments</a:t>
              </a:r>
              <a:endParaRPr/>
            </a:p>
          </p:txBody>
        </p:sp>
        <p:sp>
          <p:nvSpPr>
            <p:cNvPr id="427" name="Google Shape;427;p25"/>
            <p:cNvSpPr/>
            <p:nvPr/>
          </p:nvSpPr>
          <p:spPr>
            <a:xfrm>
              <a:off x="5377355" y="3938016"/>
              <a:ext cx="1029468" cy="1042416"/>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5"/>
            <p:cNvSpPr txBox="1"/>
            <p:nvPr/>
          </p:nvSpPr>
          <p:spPr>
            <a:xfrm>
              <a:off x="5377355" y="3938016"/>
              <a:ext cx="1029468" cy="1042416"/>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rPr b="1" lang="en-US" sz="1000">
                  <a:solidFill>
                    <a:schemeClr val="dk1"/>
                  </a:solidFill>
                  <a:latin typeface="Times New Roman"/>
                  <a:ea typeface="Times New Roman"/>
                  <a:cs typeface="Times New Roman"/>
                  <a:sym typeface="Times New Roman"/>
                </a:rPr>
                <a:t>Reduction in power and cooling requirements</a:t>
              </a:r>
              <a:endParaRPr/>
            </a:p>
          </p:txBody>
        </p:sp>
        <p:sp>
          <p:nvSpPr>
            <p:cNvPr id="429" name="Google Shape;429;p25"/>
            <p:cNvSpPr/>
            <p:nvPr/>
          </p:nvSpPr>
          <p:spPr>
            <a:xfrm>
              <a:off x="6430381" y="3938016"/>
              <a:ext cx="1029468" cy="1042416"/>
            </a:xfrm>
            <a:prstGeom prst="roundRect">
              <a:avLst>
                <a:gd fmla="val 10500" name="adj"/>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5"/>
            <p:cNvSpPr txBox="1"/>
            <p:nvPr/>
          </p:nvSpPr>
          <p:spPr>
            <a:xfrm>
              <a:off x="6430381" y="3938016"/>
              <a:ext cx="1029468" cy="1042416"/>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rPr b="1" lang="en-US" sz="1000">
                  <a:solidFill>
                    <a:schemeClr val="dk1"/>
                  </a:solidFill>
                  <a:latin typeface="Times New Roman"/>
                  <a:ea typeface="Times New Roman"/>
                  <a:cs typeface="Times New Roman"/>
                  <a:sym typeface="Times New Roman"/>
                </a:rPr>
                <a:t>Fewer interchip connections</a:t>
              </a: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26"/>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Table 2.4</a:t>
            </a:r>
            <a:br>
              <a:rPr lang="en-US"/>
            </a:br>
            <a:r>
              <a:rPr lang="en-US"/>
              <a:t>Characteristics of the </a:t>
            </a:r>
            <a:br>
              <a:rPr lang="en-US"/>
            </a:br>
            <a:r>
              <a:rPr lang="en-US"/>
              <a:t>System/360 Family</a:t>
            </a:r>
            <a:endParaRPr/>
          </a:p>
        </p:txBody>
      </p:sp>
      <p:sp>
        <p:nvSpPr>
          <p:cNvPr id="437" name="Google Shape;437;p26"/>
          <p:cNvSpPr txBox="1"/>
          <p:nvPr/>
        </p:nvSpPr>
        <p:spPr>
          <a:xfrm>
            <a:off x="0" y="6019800"/>
            <a:ext cx="9144000" cy="1079733"/>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438" name="Google Shape;438;p26"/>
          <p:cNvPicPr preferRelativeResize="0"/>
          <p:nvPr/>
        </p:nvPicPr>
        <p:blipFill rotWithShape="1">
          <a:blip r:embed="rId4">
            <a:alphaModFix/>
          </a:blip>
          <a:srcRect b="0" l="0" r="0" t="0"/>
          <a:stretch/>
        </p:blipFill>
        <p:spPr>
          <a:xfrm>
            <a:off x="23530" y="3075405"/>
            <a:ext cx="9120470" cy="3782595"/>
          </a:xfrm>
          <a:prstGeom prst="rect">
            <a:avLst/>
          </a:prstGeom>
          <a:noFill/>
          <a:ln>
            <a:noFill/>
          </a:ln>
        </p:spPr>
      </p:pic>
      <p:sp>
        <p:nvSpPr>
          <p:cNvPr id="439" name="Google Shape;439;p26"/>
          <p:cNvSpPr txBox="1"/>
          <p:nvPr/>
        </p:nvSpPr>
        <p:spPr>
          <a:xfrm>
            <a:off x="0" y="6324600"/>
            <a:ext cx="9144000" cy="584776"/>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Table 2.4 Characteristics of the System/360 Family</a:t>
            </a:r>
            <a:endParaRPr/>
          </a:p>
          <a:p>
            <a:pPr indent="0" lvl="0" marL="0" marR="0" rtl="0" algn="ctr">
              <a:spcBef>
                <a:spcPts val="0"/>
              </a:spcBef>
              <a:spcAft>
                <a:spcPts val="0"/>
              </a:spcAft>
              <a:buNone/>
            </a:pPr>
            <a:r>
              <a:rPr lang="en-US" sz="1600">
                <a:solidFill>
                  <a:schemeClr val="dk1"/>
                </a:solidFill>
                <a:latin typeface="Constantia"/>
                <a:ea typeface="Constantia"/>
                <a:cs typeface="Constantia"/>
                <a:sym typeface="Constantia"/>
              </a:rPr>
              <a:t> </a:t>
            </a:r>
            <a:endParaRPr sz="1600">
              <a:solidFill>
                <a:schemeClr val="dk1"/>
              </a:solidFill>
              <a:latin typeface="Constantia"/>
              <a:ea typeface="Constantia"/>
              <a:cs typeface="Constantia"/>
              <a:sym typeface="Constantia"/>
            </a:endParaRPr>
          </a:p>
        </p:txBody>
      </p:sp>
    </p:spTree>
  </p:cSld>
  <p:clrMapOvr>
    <a:masterClrMapping/>
  </p:clrMapOvr>
  <p:transition spd="med">
    <p:spli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7"/>
          <p:cNvSpPr txBox="1"/>
          <p:nvPr>
            <p:ph idx="4294967295" type="title"/>
          </p:nvPr>
        </p:nvSpPr>
        <p:spPr>
          <a:xfrm>
            <a:off x="0" y="457200"/>
            <a:ext cx="7556500" cy="1447800"/>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	Table 2.5</a:t>
            </a:r>
            <a:br>
              <a:rPr lang="en-US"/>
            </a:br>
            <a:r>
              <a:rPr lang="en-US"/>
              <a:t>		Evolution of the PDP-8</a:t>
            </a:r>
            <a:endParaRPr/>
          </a:p>
        </p:txBody>
      </p:sp>
      <p:sp>
        <p:nvSpPr>
          <p:cNvPr id="446" name="Google Shape;446;p27"/>
          <p:cNvSpPr txBox="1"/>
          <p:nvPr/>
        </p:nvSpPr>
        <p:spPr>
          <a:xfrm>
            <a:off x="0" y="5791200"/>
            <a:ext cx="9144000" cy="533400"/>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47" name="Google Shape;447;p27"/>
          <p:cNvSpPr txBox="1"/>
          <p:nvPr/>
        </p:nvSpPr>
        <p:spPr>
          <a:xfrm>
            <a:off x="9013907" y="1446575"/>
            <a:ext cx="130093" cy="5106625"/>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448" name="Google Shape;448;p27"/>
          <p:cNvPicPr preferRelativeResize="0"/>
          <p:nvPr/>
        </p:nvPicPr>
        <p:blipFill rotWithShape="1">
          <a:blip r:embed="rId4">
            <a:alphaModFix/>
          </a:blip>
          <a:srcRect b="0" l="0" r="0" t="0"/>
          <a:stretch/>
        </p:blipFill>
        <p:spPr>
          <a:xfrm>
            <a:off x="1" y="2286000"/>
            <a:ext cx="9144000" cy="4010069"/>
          </a:xfrm>
          <a:prstGeom prst="rect">
            <a:avLst/>
          </a:prstGeom>
          <a:noFill/>
          <a:ln>
            <a:noFill/>
          </a:ln>
        </p:spPr>
      </p:pic>
      <p:sp>
        <p:nvSpPr>
          <p:cNvPr id="449" name="Google Shape;449;p27"/>
          <p:cNvSpPr txBox="1"/>
          <p:nvPr/>
        </p:nvSpPr>
        <p:spPr>
          <a:xfrm>
            <a:off x="0" y="6019800"/>
            <a:ext cx="9143999" cy="369332"/>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onstantia"/>
                <a:ea typeface="Constantia"/>
                <a:cs typeface="Constantia"/>
                <a:sym typeface="Constantia"/>
              </a:rPr>
              <a:t>Table 2.5 Evolution of the PDP-8</a:t>
            </a:r>
            <a:endParaRPr sz="1800">
              <a:solidFill>
                <a:schemeClr val="dk1"/>
              </a:solidFill>
              <a:latin typeface="Constantia"/>
              <a:ea typeface="Constantia"/>
              <a:cs typeface="Constantia"/>
              <a:sym typeface="Constantia"/>
            </a:endParaRPr>
          </a:p>
        </p:txBody>
      </p:sp>
    </p:spTree>
  </p:cSld>
  <p:clrMapOvr>
    <a:masterClrMapping/>
  </p:clrMapOvr>
  <p:transition spd="med">
    <p:spli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28"/>
          <p:cNvSpPr txBox="1"/>
          <p:nvPr>
            <p:ph type="title"/>
          </p:nvPr>
        </p:nvSpPr>
        <p:spPr>
          <a:xfrm>
            <a:off x="990600" y="762000"/>
            <a:ext cx="7556313"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DEC - PDP-8 Bus Structure</a:t>
            </a:r>
            <a:endParaRPr/>
          </a:p>
        </p:txBody>
      </p:sp>
      <p:pic>
        <p:nvPicPr>
          <p:cNvPr descr="f9.pdf" id="456" name="Google Shape;456;p28"/>
          <p:cNvPicPr preferRelativeResize="0"/>
          <p:nvPr/>
        </p:nvPicPr>
        <p:blipFill rotWithShape="1">
          <a:blip r:embed="rId3">
            <a:alphaModFix/>
          </a:blip>
          <a:srcRect b="27272" l="0" r="0" t="40000"/>
          <a:stretch/>
        </p:blipFill>
        <p:spPr>
          <a:xfrm>
            <a:off x="-609600" y="2209800"/>
            <a:ext cx="10974881" cy="4648200"/>
          </a:xfrm>
          <a:prstGeom prst="rect">
            <a:avLst/>
          </a:prstGeom>
          <a:noFill/>
          <a:ln>
            <a:noFill/>
          </a:ln>
        </p:spPr>
      </p:pic>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9"/>
          <p:cNvSpPr txBox="1"/>
          <p:nvPr>
            <p:ph type="ctrTitle"/>
          </p:nvPr>
        </p:nvSpPr>
        <p:spPr>
          <a:xfrm>
            <a:off x="1752600" y="5105400"/>
            <a:ext cx="4038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2B142D"/>
              </a:buClr>
              <a:buSzPts val="2800"/>
              <a:buFont typeface="Calibri"/>
              <a:buNone/>
            </a:pPr>
            <a:r>
              <a:rPr lang="en-US">
                <a:solidFill>
                  <a:srgbClr val="2B142D"/>
                </a:solidFill>
              </a:rPr>
              <a:t>Semiconductor Memory</a:t>
            </a:r>
            <a:br>
              <a:rPr lang="en-US">
                <a:solidFill>
                  <a:srgbClr val="2B142D"/>
                </a:solidFill>
              </a:rPr>
            </a:br>
            <a:r>
              <a:rPr lang="en-US">
                <a:solidFill>
                  <a:srgbClr val="2B142D"/>
                </a:solidFill>
              </a:rPr>
              <a:t>Microprocessors</a:t>
            </a:r>
            <a:endParaRPr>
              <a:solidFill>
                <a:srgbClr val="2B142D"/>
              </a:solidFill>
            </a:endParaRPr>
          </a:p>
        </p:txBody>
      </p:sp>
      <p:sp>
        <p:nvSpPr>
          <p:cNvPr id="463" name="Google Shape;463;p29"/>
          <p:cNvSpPr txBox="1"/>
          <p:nvPr>
            <p:ph idx="4" type="body"/>
          </p:nvPr>
        </p:nvSpPr>
        <p:spPr>
          <a:xfrm>
            <a:off x="685800" y="1371600"/>
            <a:ext cx="3429000" cy="2296399"/>
          </a:xfrm>
          <a:prstGeom prst="rect">
            <a:avLst/>
          </a:prstGeom>
          <a:noFill/>
          <a:ln>
            <a:noFill/>
          </a:ln>
        </p:spPr>
        <p:txBody>
          <a:bodyPr anchorCtr="0" anchor="t" bIns="45700" lIns="45700" spcFirstLastPara="1" rIns="45700" wrap="square" tIns="45700">
            <a:noAutofit/>
          </a:bodyPr>
          <a:lstStyle/>
          <a:p>
            <a:pPr indent="0" lvl="0" marL="0" rtl="0" algn="ctr">
              <a:spcBef>
                <a:spcPts val="0"/>
              </a:spcBef>
              <a:spcAft>
                <a:spcPts val="0"/>
              </a:spcAft>
              <a:buSzPts val="4370"/>
              <a:buNone/>
            </a:pPr>
            <a:r>
              <a:rPr lang="en-US"/>
              <a:t>Later</a:t>
            </a:r>
            <a:endParaRPr/>
          </a:p>
          <a:p>
            <a:pPr indent="0" lvl="0" marL="0" rtl="0" algn="ctr">
              <a:spcBef>
                <a:spcPts val="0"/>
              </a:spcBef>
              <a:spcAft>
                <a:spcPts val="0"/>
              </a:spcAft>
              <a:buSzPts val="4370"/>
              <a:buNone/>
            </a:pPr>
            <a:r>
              <a:rPr lang="en-US"/>
              <a:t>Generations</a:t>
            </a:r>
            <a:endParaRPr/>
          </a:p>
        </p:txBody>
      </p:sp>
      <p:sp>
        <p:nvSpPr>
          <p:cNvPr id="464" name="Google Shape;464;p29"/>
          <p:cNvSpPr txBox="1"/>
          <p:nvPr/>
        </p:nvSpPr>
        <p:spPr>
          <a:xfrm>
            <a:off x="7086600" y="533400"/>
            <a:ext cx="1524000"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LSI</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Large </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Scale Integration</a:t>
            </a:r>
            <a:endParaRPr sz="2000">
              <a:solidFill>
                <a:schemeClr val="dk1"/>
              </a:solidFill>
              <a:latin typeface="Times New Roman"/>
              <a:ea typeface="Times New Roman"/>
              <a:cs typeface="Times New Roman"/>
              <a:sym typeface="Times New Roman"/>
            </a:endParaRPr>
          </a:p>
        </p:txBody>
      </p:sp>
      <p:sp>
        <p:nvSpPr>
          <p:cNvPr id="465" name="Google Shape;465;p29"/>
          <p:cNvSpPr txBox="1"/>
          <p:nvPr/>
        </p:nvSpPr>
        <p:spPr>
          <a:xfrm>
            <a:off x="4800600" y="2667000"/>
            <a:ext cx="1676400"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VLSI</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Very Large Scale Integration</a:t>
            </a:r>
            <a:endParaRPr sz="2000">
              <a:solidFill>
                <a:schemeClr val="dk1"/>
              </a:solidFill>
              <a:latin typeface="Times New Roman"/>
              <a:ea typeface="Times New Roman"/>
              <a:cs typeface="Times New Roman"/>
              <a:sym typeface="Times New Roman"/>
            </a:endParaRPr>
          </a:p>
        </p:txBody>
      </p:sp>
      <p:sp>
        <p:nvSpPr>
          <p:cNvPr id="466" name="Google Shape;466;p29"/>
          <p:cNvSpPr txBox="1"/>
          <p:nvPr/>
        </p:nvSpPr>
        <p:spPr>
          <a:xfrm>
            <a:off x="6781800" y="4495800"/>
            <a:ext cx="2133600" cy="2133600"/>
          </a:xfrm>
          <a:prstGeom prst="rect">
            <a:avLst/>
          </a:prstGeom>
          <a:solidFill>
            <a:srgbClr val="660066">
              <a:alpha val="80000"/>
            </a:srgbClr>
          </a:solid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lang="en-US" sz="2400">
                <a:solidFill>
                  <a:schemeClr val="dk1"/>
                </a:solidFill>
                <a:latin typeface="Times New Roman"/>
                <a:ea typeface="Times New Roman"/>
                <a:cs typeface="Times New Roman"/>
                <a:sym typeface="Times New Roman"/>
              </a:rPr>
              <a:t>ULSI</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Ultra Large</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 Scale </a:t>
            </a:r>
            <a:endParaRPr/>
          </a:p>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Integration</a:t>
            </a:r>
            <a:endParaRPr/>
          </a:p>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pic>
        <p:nvPicPr>
          <p:cNvPr id="467" name="Google Shape;467;p29"/>
          <p:cNvPicPr preferRelativeResize="0"/>
          <p:nvPr/>
        </p:nvPicPr>
        <p:blipFill rotWithShape="1">
          <a:blip r:embed="rId3">
            <a:alphaModFix/>
          </a:blip>
          <a:srcRect b="0" l="0" r="0" t="0"/>
          <a:stretch/>
        </p:blipFill>
        <p:spPr>
          <a:xfrm rot="-1503203">
            <a:off x="389684" y="4619341"/>
            <a:ext cx="1548749" cy="1104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4">
                                            <p:txEl>
                                              <p:pRg end="0" st="0"/>
                                            </p:txEl>
                                          </p:spTgt>
                                        </p:tgtEl>
                                        <p:attrNameLst>
                                          <p:attrName>style.visibility</p:attrName>
                                        </p:attrNameLst>
                                      </p:cBhvr>
                                      <p:to>
                                        <p:strVal val="visible"/>
                                      </p:to>
                                    </p:set>
                                    <p:anim calcmode="lin" valueType="num">
                                      <p:cBhvr additive="base">
                                        <p:cTn dur="500"/>
                                        <p:tgtEl>
                                          <p:spTgt spid="4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4">
                                            <p:txEl>
                                              <p:pRg end="1" st="1"/>
                                            </p:txEl>
                                          </p:spTgt>
                                        </p:tgtEl>
                                        <p:attrNameLst>
                                          <p:attrName>style.visibility</p:attrName>
                                        </p:attrNameLst>
                                      </p:cBhvr>
                                      <p:to>
                                        <p:strVal val="visible"/>
                                      </p:to>
                                    </p:set>
                                    <p:anim calcmode="lin" valueType="num">
                                      <p:cBhvr additive="base">
                                        <p:cTn dur="500"/>
                                        <p:tgtEl>
                                          <p:spTgt spid="4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4">
                                            <p:txEl>
                                              <p:pRg end="2" st="2"/>
                                            </p:txEl>
                                          </p:spTgt>
                                        </p:tgtEl>
                                        <p:attrNameLst>
                                          <p:attrName>style.visibility</p:attrName>
                                        </p:attrNameLst>
                                      </p:cBhvr>
                                      <p:to>
                                        <p:strVal val="visible"/>
                                      </p:to>
                                    </p:set>
                                    <p:anim calcmode="lin" valueType="num">
                                      <p:cBhvr additive="base">
                                        <p:cTn dur="500"/>
                                        <p:tgtEl>
                                          <p:spTgt spid="4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5">
                                            <p:txEl>
                                              <p:pRg end="0" st="0"/>
                                            </p:txEl>
                                          </p:spTgt>
                                        </p:tgtEl>
                                        <p:attrNameLst>
                                          <p:attrName>style.visibility</p:attrName>
                                        </p:attrNameLst>
                                      </p:cBhvr>
                                      <p:to>
                                        <p:strVal val="visible"/>
                                      </p:to>
                                    </p:set>
                                    <p:anim calcmode="lin" valueType="num">
                                      <p:cBhvr additive="base">
                                        <p:cTn dur="500"/>
                                        <p:tgtEl>
                                          <p:spTgt spid="4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5">
                                            <p:txEl>
                                              <p:pRg end="1" st="1"/>
                                            </p:txEl>
                                          </p:spTgt>
                                        </p:tgtEl>
                                        <p:attrNameLst>
                                          <p:attrName>style.visibility</p:attrName>
                                        </p:attrNameLst>
                                      </p:cBhvr>
                                      <p:to>
                                        <p:strVal val="visible"/>
                                      </p:to>
                                    </p:set>
                                    <p:anim calcmode="lin" valueType="num">
                                      <p:cBhvr additive="base">
                                        <p:cTn dur="500"/>
                                        <p:tgtEl>
                                          <p:spTgt spid="4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2"/>
                                        </p:tgtEl>
                                        <p:attrNameLst>
                                          <p:attrName>style.visibility</p:attrName>
                                        </p:attrNameLst>
                                      </p:cBhvr>
                                      <p:to>
                                        <p:strVal val="visible"/>
                                      </p:to>
                                    </p:set>
                                    <p:anim calcmode="lin" valueType="num">
                                      <p:cBhvr additive="base">
                                        <p:cTn dur="500"/>
                                        <p:tgtEl>
                                          <p:spTgt spid="46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0"/>
          <p:cNvSpPr txBox="1"/>
          <p:nvPr>
            <p:ph type="title"/>
          </p:nvPr>
        </p:nvSpPr>
        <p:spPr>
          <a:xfrm>
            <a:off x="762000" y="304800"/>
            <a:ext cx="8382000" cy="8113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accent3"/>
              </a:buClr>
              <a:buSzPts val="5000"/>
              <a:buFont typeface="Calibri"/>
              <a:buNone/>
            </a:pPr>
            <a:r>
              <a:rPr lang="en-US">
                <a:solidFill>
                  <a:schemeClr val="accent3"/>
                </a:solidFill>
              </a:rPr>
              <a:t>Semiconductor Memory</a:t>
            </a:r>
            <a:endParaRPr>
              <a:solidFill>
                <a:schemeClr val="accent3"/>
              </a:solidFill>
            </a:endParaRPr>
          </a:p>
        </p:txBody>
      </p:sp>
      <p:grpSp>
        <p:nvGrpSpPr>
          <p:cNvPr id="474" name="Google Shape;474;p30"/>
          <p:cNvGrpSpPr/>
          <p:nvPr/>
        </p:nvGrpSpPr>
        <p:grpSpPr>
          <a:xfrm>
            <a:off x="228600" y="1143956"/>
            <a:ext cx="8610600" cy="5409243"/>
            <a:chOff x="0" y="956"/>
            <a:chExt cx="8610600" cy="5409243"/>
          </a:xfrm>
        </p:grpSpPr>
        <p:sp>
          <p:nvSpPr>
            <p:cNvPr id="475" name="Google Shape;475;p30"/>
            <p:cNvSpPr/>
            <p:nvPr/>
          </p:nvSpPr>
          <p:spPr>
            <a:xfrm>
              <a:off x="0" y="4073500"/>
              <a:ext cx="8610599" cy="1336699"/>
            </a:xfrm>
            <a:prstGeom prst="rect">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txBox="1"/>
            <p:nvPr/>
          </p:nvSpPr>
          <p:spPr>
            <a:xfrm>
              <a:off x="0" y="4073500"/>
              <a:ext cx="8610599" cy="721817"/>
            </a:xfrm>
            <a:prstGeom prst="rect">
              <a:avLst/>
            </a:prstGeom>
            <a:noFill/>
            <a:ln>
              <a:noFill/>
            </a:ln>
          </p:spPr>
          <p:txBody>
            <a:bodyPr anchorCtr="0" anchor="ctr" bIns="120900" lIns="120900" spcFirstLastPara="1" rIns="120900" wrap="square" tIns="12090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Since 1970 semiconductor memory has been through 13 generations</a:t>
              </a:r>
              <a:endParaRPr sz="1700">
                <a:solidFill>
                  <a:schemeClr val="lt1"/>
                </a:solidFill>
                <a:latin typeface="Times New Roman"/>
                <a:ea typeface="Times New Roman"/>
                <a:cs typeface="Times New Roman"/>
                <a:sym typeface="Times New Roman"/>
              </a:endParaRPr>
            </a:p>
          </p:txBody>
        </p:sp>
        <p:sp>
          <p:nvSpPr>
            <p:cNvPr id="477" name="Google Shape;477;p30"/>
            <p:cNvSpPr/>
            <p:nvPr/>
          </p:nvSpPr>
          <p:spPr>
            <a:xfrm>
              <a:off x="0" y="4767627"/>
              <a:ext cx="8610599" cy="614881"/>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0"/>
            <p:cNvSpPr txBox="1"/>
            <p:nvPr/>
          </p:nvSpPr>
          <p:spPr>
            <a:xfrm>
              <a:off x="0" y="4767627"/>
              <a:ext cx="8610599" cy="614881"/>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Each generation has provided four times the storage density of the previous generation, accompanied by declining cost per bit and declining access time</a:t>
              </a:r>
              <a:endParaRPr sz="1300">
                <a:solidFill>
                  <a:schemeClr val="dk1"/>
                </a:solidFill>
                <a:latin typeface="Times New Roman"/>
                <a:ea typeface="Times New Roman"/>
                <a:cs typeface="Times New Roman"/>
                <a:sym typeface="Times New Roman"/>
              </a:endParaRPr>
            </a:p>
          </p:txBody>
        </p:sp>
        <p:sp>
          <p:nvSpPr>
            <p:cNvPr id="479" name="Google Shape;479;p30"/>
            <p:cNvSpPr/>
            <p:nvPr/>
          </p:nvSpPr>
          <p:spPr>
            <a:xfrm rot="10800000">
              <a:off x="0" y="2036750"/>
              <a:ext cx="8610599" cy="2055844"/>
            </a:xfrm>
            <a:prstGeom prst="upArrowCallout">
              <a:avLst>
                <a:gd fmla="val 25000" name="adj1"/>
                <a:gd fmla="val 25000" name="adj2"/>
                <a:gd fmla="val 25000" name="adj3"/>
                <a:gd fmla="val 64977" name="adj4"/>
              </a:avLst>
            </a:prstGeom>
            <a:gradFill>
              <a:gsLst>
                <a:gs pos="0">
                  <a:srgbClr val="0036A6"/>
                </a:gs>
                <a:gs pos="68000">
                  <a:srgbClr val="618AD5"/>
                </a:gs>
                <a:gs pos="100000">
                  <a:srgbClr val="AFC3EE"/>
                </a:gs>
              </a:gsLst>
              <a:path path="circle">
                <a:fillToRect b="50%" l="50%" r="50%" t="50%"/>
              </a:path>
              <a:tileRect/>
            </a:gradFill>
            <a:ln cap="flat" cmpd="sng" w="9525">
              <a:solidFill>
                <a:srgbClr val="8000FF"/>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txBox="1"/>
            <p:nvPr/>
          </p:nvSpPr>
          <p:spPr>
            <a:xfrm>
              <a:off x="0" y="2036750"/>
              <a:ext cx="8610600" cy="721500"/>
            </a:xfrm>
            <a:prstGeom prst="rect">
              <a:avLst/>
            </a:prstGeom>
            <a:noFill/>
            <a:ln>
              <a:noFill/>
            </a:ln>
          </p:spPr>
          <p:txBody>
            <a:bodyPr anchorCtr="0" anchor="ctr" bIns="120900" lIns="120900" spcFirstLastPara="1" rIns="120900" wrap="square" tIns="12090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In 1974 the price per bit of semiconductor memory dropped below the price per bit of core memory</a:t>
              </a:r>
              <a:endParaRPr sz="1700">
                <a:solidFill>
                  <a:schemeClr val="lt1"/>
                </a:solidFill>
                <a:latin typeface="Times New Roman"/>
                <a:ea typeface="Times New Roman"/>
                <a:cs typeface="Times New Roman"/>
                <a:sym typeface="Times New Roman"/>
              </a:endParaRPr>
            </a:p>
          </p:txBody>
        </p:sp>
        <p:sp>
          <p:nvSpPr>
            <p:cNvPr id="481" name="Google Shape;481;p30"/>
            <p:cNvSpPr/>
            <p:nvPr/>
          </p:nvSpPr>
          <p:spPr>
            <a:xfrm>
              <a:off x="0" y="2758351"/>
              <a:ext cx="430529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txBox="1"/>
            <p:nvPr/>
          </p:nvSpPr>
          <p:spPr>
            <a:xfrm>
              <a:off x="0" y="2758351"/>
              <a:ext cx="430529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There has been a continuing and rapid decline in memory cost accompanied by a corresponding increase in physical memory density</a:t>
              </a:r>
              <a:endParaRPr sz="1300">
                <a:solidFill>
                  <a:schemeClr val="dk1"/>
                </a:solidFill>
                <a:latin typeface="Times New Roman"/>
                <a:ea typeface="Times New Roman"/>
                <a:cs typeface="Times New Roman"/>
                <a:sym typeface="Times New Roman"/>
              </a:endParaRPr>
            </a:p>
          </p:txBody>
        </p:sp>
        <p:sp>
          <p:nvSpPr>
            <p:cNvPr id="483" name="Google Shape;483;p30"/>
            <p:cNvSpPr/>
            <p:nvPr/>
          </p:nvSpPr>
          <p:spPr>
            <a:xfrm>
              <a:off x="4305299" y="2758351"/>
              <a:ext cx="430529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30"/>
            <p:cNvSpPr txBox="1"/>
            <p:nvPr/>
          </p:nvSpPr>
          <p:spPr>
            <a:xfrm>
              <a:off x="4305299" y="2758351"/>
              <a:ext cx="430529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Developments in memory and processor technologies changed the nature of computers in less than a decade</a:t>
              </a:r>
              <a:endParaRPr sz="1300">
                <a:solidFill>
                  <a:schemeClr val="dk1"/>
                </a:solidFill>
                <a:latin typeface="Times New Roman"/>
                <a:ea typeface="Times New Roman"/>
                <a:cs typeface="Times New Roman"/>
                <a:sym typeface="Times New Roman"/>
              </a:endParaRPr>
            </a:p>
          </p:txBody>
        </p:sp>
        <p:sp>
          <p:nvSpPr>
            <p:cNvPr id="485" name="Google Shape;485;p30"/>
            <p:cNvSpPr/>
            <p:nvPr/>
          </p:nvSpPr>
          <p:spPr>
            <a:xfrm rot="10800000">
              <a:off x="0" y="956"/>
              <a:ext cx="8610599" cy="2055844"/>
            </a:xfrm>
            <a:prstGeom prst="upArrowCallout">
              <a:avLst>
                <a:gd fmla="val 25000" name="adj1"/>
                <a:gd fmla="val 25000" name="adj2"/>
                <a:gd fmla="val 25000" name="adj3"/>
                <a:gd fmla="val 64977" name="adj4"/>
              </a:avLst>
            </a:prstGeom>
            <a:gradFill>
              <a:gsLst>
                <a:gs pos="0">
                  <a:srgbClr val="0036A6"/>
                </a:gs>
                <a:gs pos="68000">
                  <a:srgbClr val="618AD5"/>
                </a:gs>
                <a:gs pos="100000">
                  <a:srgbClr val="AFC3EE"/>
                </a:gs>
              </a:gsLst>
              <a:path path="circle">
                <a:fillToRect b="50%" l="50%" r="50%" t="50%"/>
              </a:path>
              <a:tileRect/>
            </a:gradFill>
            <a:ln cap="flat" cmpd="sng" w="9525">
              <a:solidFill>
                <a:srgbClr val="8000FF"/>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0"/>
            <p:cNvSpPr txBox="1"/>
            <p:nvPr/>
          </p:nvSpPr>
          <p:spPr>
            <a:xfrm>
              <a:off x="0" y="956"/>
              <a:ext cx="8610600" cy="721500"/>
            </a:xfrm>
            <a:prstGeom prst="rect">
              <a:avLst/>
            </a:prstGeom>
            <a:noFill/>
            <a:ln>
              <a:noFill/>
            </a:ln>
          </p:spPr>
          <p:txBody>
            <a:bodyPr anchorCtr="0" anchor="ctr" bIns="120900" lIns="120900" spcFirstLastPara="1" rIns="120900" wrap="square" tIns="12090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In 1970 Fairchild produced the first relatively capacious semiconductor memory</a:t>
              </a:r>
              <a:endParaRPr sz="1700">
                <a:solidFill>
                  <a:schemeClr val="lt1"/>
                </a:solidFill>
                <a:latin typeface="Times New Roman"/>
                <a:ea typeface="Times New Roman"/>
                <a:cs typeface="Times New Roman"/>
                <a:sym typeface="Times New Roman"/>
              </a:endParaRPr>
            </a:p>
          </p:txBody>
        </p:sp>
        <p:sp>
          <p:nvSpPr>
            <p:cNvPr id="487" name="Google Shape;487;p30"/>
            <p:cNvSpPr/>
            <p:nvPr/>
          </p:nvSpPr>
          <p:spPr>
            <a:xfrm>
              <a:off x="0" y="722557"/>
              <a:ext cx="215264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0"/>
            <p:cNvSpPr txBox="1"/>
            <p:nvPr/>
          </p:nvSpPr>
          <p:spPr>
            <a:xfrm>
              <a:off x="0" y="722557"/>
              <a:ext cx="215264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Chip was about the size of a single core</a:t>
              </a:r>
              <a:endParaRPr sz="1300">
                <a:solidFill>
                  <a:schemeClr val="dk1"/>
                </a:solidFill>
                <a:latin typeface="Times New Roman"/>
                <a:ea typeface="Times New Roman"/>
                <a:cs typeface="Times New Roman"/>
                <a:sym typeface="Times New Roman"/>
              </a:endParaRPr>
            </a:p>
          </p:txBody>
        </p:sp>
        <p:sp>
          <p:nvSpPr>
            <p:cNvPr id="489" name="Google Shape;489;p30"/>
            <p:cNvSpPr/>
            <p:nvPr/>
          </p:nvSpPr>
          <p:spPr>
            <a:xfrm>
              <a:off x="2152649" y="722557"/>
              <a:ext cx="215264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30"/>
            <p:cNvSpPr txBox="1"/>
            <p:nvPr/>
          </p:nvSpPr>
          <p:spPr>
            <a:xfrm>
              <a:off x="2152649" y="722557"/>
              <a:ext cx="215264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Could hold 256 bits of memory</a:t>
              </a:r>
              <a:endParaRPr sz="1300">
                <a:solidFill>
                  <a:schemeClr val="dk1"/>
                </a:solidFill>
                <a:latin typeface="Times New Roman"/>
                <a:ea typeface="Times New Roman"/>
                <a:cs typeface="Times New Roman"/>
                <a:sym typeface="Times New Roman"/>
              </a:endParaRPr>
            </a:p>
          </p:txBody>
        </p:sp>
        <p:sp>
          <p:nvSpPr>
            <p:cNvPr id="491" name="Google Shape;491;p30"/>
            <p:cNvSpPr/>
            <p:nvPr/>
          </p:nvSpPr>
          <p:spPr>
            <a:xfrm>
              <a:off x="4305299" y="722557"/>
              <a:ext cx="215264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0"/>
            <p:cNvSpPr txBox="1"/>
            <p:nvPr/>
          </p:nvSpPr>
          <p:spPr>
            <a:xfrm>
              <a:off x="4305299" y="722557"/>
              <a:ext cx="215264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Non-destructive</a:t>
              </a:r>
              <a:endParaRPr sz="1300">
                <a:solidFill>
                  <a:schemeClr val="dk1"/>
                </a:solidFill>
                <a:latin typeface="Times New Roman"/>
                <a:ea typeface="Times New Roman"/>
                <a:cs typeface="Times New Roman"/>
                <a:sym typeface="Times New Roman"/>
              </a:endParaRPr>
            </a:p>
          </p:txBody>
        </p:sp>
        <p:sp>
          <p:nvSpPr>
            <p:cNvPr id="493" name="Google Shape;493;p30"/>
            <p:cNvSpPr/>
            <p:nvPr/>
          </p:nvSpPr>
          <p:spPr>
            <a:xfrm>
              <a:off x="6457949" y="722557"/>
              <a:ext cx="2152649" cy="614697"/>
            </a:xfrm>
            <a:prstGeom prst="rect">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0"/>
            <p:cNvSpPr txBox="1"/>
            <p:nvPr/>
          </p:nvSpPr>
          <p:spPr>
            <a:xfrm>
              <a:off x="6457949" y="722557"/>
              <a:ext cx="2152649" cy="614697"/>
            </a:xfrm>
            <a:prstGeom prst="rect">
              <a:avLst/>
            </a:prstGeom>
            <a:noFill/>
            <a:ln>
              <a:noFill/>
            </a:ln>
          </p:spPr>
          <p:txBody>
            <a:bodyPr anchorCtr="0" anchor="ctr" bIns="16500" lIns="92450" spcFirstLastPara="1" rIns="92450" wrap="square" tIns="16500">
              <a:noAutofit/>
            </a:bodyPr>
            <a:lstStyle/>
            <a:p>
              <a:pPr indent="0" lvl="0" marL="0" marR="0" rtl="0" algn="ctr">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Much faster than core </a:t>
              </a:r>
              <a:endParaRPr sz="1300">
                <a:solidFill>
                  <a:schemeClr val="dk1"/>
                </a:solidFill>
                <a:latin typeface="Times New Roman"/>
                <a:ea typeface="Times New Roman"/>
                <a:cs typeface="Times New Roman"/>
                <a:sym typeface="Times New Roman"/>
              </a:endParaRPr>
            </a:p>
          </p:txBody>
        </p:sp>
      </p:grpSp>
      <p:sp>
        <p:nvSpPr>
          <p:cNvPr id="495" name="Google Shape;495;p30"/>
          <p:cNvSpPr txBox="1"/>
          <p:nvPr/>
        </p:nvSpPr>
        <p:spPr>
          <a:xfrm>
            <a:off x="6959600" y="795867"/>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496" name="Google Shape;496;p30"/>
          <p:cNvSpPr txBox="1"/>
          <p:nvPr/>
        </p:nvSpPr>
        <p:spPr>
          <a:xfrm>
            <a:off x="7924800" y="228600"/>
            <a:ext cx="990600" cy="914399"/>
          </a:xfrm>
          <a:prstGeom prst="rect">
            <a:avLst/>
          </a:prstGeom>
          <a:blipFill rotWithShape="1">
            <a:blip r:embed="rId3">
              <a:alphaModFix/>
            </a:blip>
            <a:tile algn="tl" flip="none" tx="0" sx="100000" ty="0" sy="100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1"/>
          <p:cNvSpPr txBox="1"/>
          <p:nvPr>
            <p:ph type="title"/>
          </p:nvPr>
        </p:nvSpPr>
        <p:spPr>
          <a:xfrm>
            <a:off x="685800" y="484094"/>
            <a:ext cx="7368987"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Microprocessors</a:t>
            </a:r>
            <a:endParaRPr/>
          </a:p>
        </p:txBody>
      </p:sp>
      <p:sp>
        <p:nvSpPr>
          <p:cNvPr id="503" name="Google Shape;503;p31"/>
          <p:cNvSpPr txBox="1"/>
          <p:nvPr>
            <p:ph idx="1" type="body"/>
          </p:nvPr>
        </p:nvSpPr>
        <p:spPr>
          <a:xfrm>
            <a:off x="498474" y="1447800"/>
            <a:ext cx="7556313" cy="518160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95000"/>
              <a:buChar char="⚫"/>
            </a:pPr>
            <a:r>
              <a:rPr lang="en-US"/>
              <a:t>The density of elements on processor chips continued to rise</a:t>
            </a:r>
            <a:endParaRPr/>
          </a:p>
          <a:p>
            <a:pPr indent="-246888" lvl="1" marL="640080" rtl="0" algn="l">
              <a:spcBef>
                <a:spcPts val="444"/>
              </a:spcBef>
              <a:spcAft>
                <a:spcPts val="0"/>
              </a:spcAft>
              <a:buSzPct val="85000"/>
              <a:buChar char="⚫"/>
            </a:pPr>
            <a:r>
              <a:rPr lang="en-US"/>
              <a:t>More and more elements were placed on each chip so that fewer and fewer chips were needed to construct a single computer processor</a:t>
            </a:r>
            <a:endParaRPr/>
          </a:p>
          <a:p>
            <a:pPr indent="-274320" lvl="0" marL="274320" rtl="0" algn="l">
              <a:spcBef>
                <a:spcPts val="481"/>
              </a:spcBef>
              <a:spcAft>
                <a:spcPts val="0"/>
              </a:spcAft>
              <a:buSzPct val="95000"/>
              <a:buChar char="⚫"/>
            </a:pPr>
            <a:r>
              <a:rPr lang="en-US"/>
              <a:t>1971 Intel developed 4004</a:t>
            </a:r>
            <a:endParaRPr/>
          </a:p>
          <a:p>
            <a:pPr indent="-246888" lvl="1" marL="640080" rtl="0" algn="l">
              <a:spcBef>
                <a:spcPts val="444"/>
              </a:spcBef>
              <a:spcAft>
                <a:spcPts val="0"/>
              </a:spcAft>
              <a:buSzPct val="85000"/>
              <a:buChar char="⚫"/>
            </a:pPr>
            <a:r>
              <a:rPr lang="en-US"/>
              <a:t>First chip to contain all of the components of a CPU on a single chip</a:t>
            </a:r>
            <a:endParaRPr/>
          </a:p>
          <a:p>
            <a:pPr indent="-246888" lvl="1" marL="640080" rtl="0" algn="l">
              <a:spcBef>
                <a:spcPts val="444"/>
              </a:spcBef>
              <a:spcAft>
                <a:spcPts val="0"/>
              </a:spcAft>
              <a:buSzPct val="85000"/>
              <a:buChar char="⚫"/>
            </a:pPr>
            <a:r>
              <a:rPr lang="en-US"/>
              <a:t>Birth of microprocessor</a:t>
            </a:r>
            <a:endParaRPr/>
          </a:p>
          <a:p>
            <a:pPr indent="-274320" lvl="0" marL="274320" rtl="0" algn="l">
              <a:spcBef>
                <a:spcPts val="481"/>
              </a:spcBef>
              <a:spcAft>
                <a:spcPts val="0"/>
              </a:spcAft>
              <a:buSzPct val="95000"/>
              <a:buChar char="⚫"/>
            </a:pPr>
            <a:r>
              <a:rPr lang="en-US"/>
              <a:t>1972 Intel developed 8008</a:t>
            </a:r>
            <a:endParaRPr/>
          </a:p>
          <a:p>
            <a:pPr indent="-246888" lvl="1" marL="640080" rtl="0" algn="l">
              <a:spcBef>
                <a:spcPts val="444"/>
              </a:spcBef>
              <a:spcAft>
                <a:spcPts val="0"/>
              </a:spcAft>
              <a:buSzPct val="85000"/>
              <a:buChar char="⚫"/>
            </a:pPr>
            <a:r>
              <a:rPr lang="en-US"/>
              <a:t>First 8-bit microprocessor</a:t>
            </a:r>
            <a:endParaRPr/>
          </a:p>
          <a:p>
            <a:pPr indent="-274320" lvl="0" marL="274320" rtl="0" algn="l">
              <a:spcBef>
                <a:spcPts val="481"/>
              </a:spcBef>
              <a:spcAft>
                <a:spcPts val="0"/>
              </a:spcAft>
              <a:buSzPct val="95000"/>
              <a:buChar char="⚫"/>
            </a:pPr>
            <a:r>
              <a:rPr lang="en-US"/>
              <a:t>1974 Intel developed 8080</a:t>
            </a:r>
            <a:endParaRPr/>
          </a:p>
          <a:p>
            <a:pPr indent="-246888" lvl="1" marL="640080" rtl="0" algn="l">
              <a:spcBef>
                <a:spcPts val="444"/>
              </a:spcBef>
              <a:spcAft>
                <a:spcPts val="0"/>
              </a:spcAft>
              <a:buSzPct val="85000"/>
              <a:buChar char="⚫"/>
            </a:pPr>
            <a:r>
              <a:rPr lang="en-US"/>
              <a:t>First general purpose microprocessor</a:t>
            </a:r>
            <a:endParaRPr/>
          </a:p>
          <a:p>
            <a:pPr indent="-246888" lvl="1" marL="640080" rtl="0" algn="l">
              <a:spcBef>
                <a:spcPts val="444"/>
              </a:spcBef>
              <a:spcAft>
                <a:spcPts val="0"/>
              </a:spcAft>
              <a:buSzPct val="85000"/>
              <a:buChar char="⚫"/>
            </a:pPr>
            <a:r>
              <a:rPr lang="en-US"/>
              <a:t>Faster, has a richer instruction set, has a large addressing capability</a:t>
            </a:r>
            <a:endParaRPr/>
          </a:p>
          <a:p>
            <a:pPr indent="-129238" lvl="0" marL="274320" rtl="0" algn="l">
              <a:spcBef>
                <a:spcPts val="481"/>
              </a:spcBef>
              <a:spcAft>
                <a:spcPts val="0"/>
              </a:spcAft>
              <a:buSzPct val="95000"/>
              <a:buNone/>
            </a:pPr>
            <a:r>
              <a:t/>
            </a:r>
            <a:endParaRPr/>
          </a:p>
        </p:txBody>
      </p:sp>
      <p:pic>
        <p:nvPicPr>
          <p:cNvPr id="504" name="Google Shape;504;p31"/>
          <p:cNvPicPr preferRelativeResize="0"/>
          <p:nvPr/>
        </p:nvPicPr>
        <p:blipFill rotWithShape="1">
          <a:blip r:embed="rId3">
            <a:alphaModFix/>
          </a:blip>
          <a:srcRect b="0" l="0" r="0" t="0"/>
          <a:stretch/>
        </p:blipFill>
        <p:spPr>
          <a:xfrm rot="657724">
            <a:off x="6310058" y="3994177"/>
            <a:ext cx="2095500" cy="1651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0" st="0"/>
                                            </p:txEl>
                                          </p:spTgt>
                                        </p:tgtEl>
                                        <p:attrNameLst>
                                          <p:attrName>style.visibility</p:attrName>
                                        </p:attrNameLst>
                                      </p:cBhvr>
                                      <p:to>
                                        <p:strVal val="visible"/>
                                      </p:to>
                                    </p:set>
                                    <p:anim calcmode="lin" valueType="num">
                                      <p:cBhvr additive="base">
                                        <p:cTn dur="500"/>
                                        <p:tgtEl>
                                          <p:spTgt spid="50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1" st="1"/>
                                            </p:txEl>
                                          </p:spTgt>
                                        </p:tgtEl>
                                        <p:attrNameLst>
                                          <p:attrName>style.visibility</p:attrName>
                                        </p:attrNameLst>
                                      </p:cBhvr>
                                      <p:to>
                                        <p:strVal val="visible"/>
                                      </p:to>
                                    </p:set>
                                    <p:anim calcmode="lin" valueType="num">
                                      <p:cBhvr additive="base">
                                        <p:cTn dur="500"/>
                                        <p:tgtEl>
                                          <p:spTgt spid="50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2" st="2"/>
                                            </p:txEl>
                                          </p:spTgt>
                                        </p:tgtEl>
                                        <p:attrNameLst>
                                          <p:attrName>style.visibility</p:attrName>
                                        </p:attrNameLst>
                                      </p:cBhvr>
                                      <p:to>
                                        <p:strVal val="visible"/>
                                      </p:to>
                                    </p:set>
                                    <p:anim calcmode="lin" valueType="num">
                                      <p:cBhvr additive="base">
                                        <p:cTn dur="500"/>
                                        <p:tgtEl>
                                          <p:spTgt spid="503">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3" st="3"/>
                                            </p:txEl>
                                          </p:spTgt>
                                        </p:tgtEl>
                                        <p:attrNameLst>
                                          <p:attrName>style.visibility</p:attrName>
                                        </p:attrNameLst>
                                      </p:cBhvr>
                                      <p:to>
                                        <p:strVal val="visible"/>
                                      </p:to>
                                    </p:set>
                                    <p:anim calcmode="lin" valueType="num">
                                      <p:cBhvr additive="base">
                                        <p:cTn dur="500"/>
                                        <p:tgtEl>
                                          <p:spTgt spid="50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4" st="4"/>
                                            </p:txEl>
                                          </p:spTgt>
                                        </p:tgtEl>
                                        <p:attrNameLst>
                                          <p:attrName>style.visibility</p:attrName>
                                        </p:attrNameLst>
                                      </p:cBhvr>
                                      <p:to>
                                        <p:strVal val="visible"/>
                                      </p:to>
                                    </p:set>
                                    <p:anim calcmode="lin" valueType="num">
                                      <p:cBhvr additive="base">
                                        <p:cTn dur="500"/>
                                        <p:tgtEl>
                                          <p:spTgt spid="503">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5" st="5"/>
                                            </p:txEl>
                                          </p:spTgt>
                                        </p:tgtEl>
                                        <p:attrNameLst>
                                          <p:attrName>style.visibility</p:attrName>
                                        </p:attrNameLst>
                                      </p:cBhvr>
                                      <p:to>
                                        <p:strVal val="visible"/>
                                      </p:to>
                                    </p:set>
                                    <p:anim calcmode="lin" valueType="num">
                                      <p:cBhvr additive="base">
                                        <p:cTn dur="500"/>
                                        <p:tgtEl>
                                          <p:spTgt spid="50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6" st="6"/>
                                            </p:txEl>
                                          </p:spTgt>
                                        </p:tgtEl>
                                        <p:attrNameLst>
                                          <p:attrName>style.visibility</p:attrName>
                                        </p:attrNameLst>
                                      </p:cBhvr>
                                      <p:to>
                                        <p:strVal val="visible"/>
                                      </p:to>
                                    </p:set>
                                    <p:anim calcmode="lin" valueType="num">
                                      <p:cBhvr additive="base">
                                        <p:cTn dur="500"/>
                                        <p:tgtEl>
                                          <p:spTgt spid="503">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7" st="7"/>
                                            </p:txEl>
                                          </p:spTgt>
                                        </p:tgtEl>
                                        <p:attrNameLst>
                                          <p:attrName>style.visibility</p:attrName>
                                        </p:attrNameLst>
                                      </p:cBhvr>
                                      <p:to>
                                        <p:strVal val="visible"/>
                                      </p:to>
                                    </p:set>
                                    <p:anim calcmode="lin" valueType="num">
                                      <p:cBhvr additive="base">
                                        <p:cTn dur="500"/>
                                        <p:tgtEl>
                                          <p:spTgt spid="503">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8" st="8"/>
                                            </p:txEl>
                                          </p:spTgt>
                                        </p:tgtEl>
                                        <p:attrNameLst>
                                          <p:attrName>style.visibility</p:attrName>
                                        </p:attrNameLst>
                                      </p:cBhvr>
                                      <p:to>
                                        <p:strVal val="visible"/>
                                      </p:to>
                                    </p:set>
                                    <p:anim calcmode="lin" valueType="num">
                                      <p:cBhvr additive="base">
                                        <p:cTn dur="500"/>
                                        <p:tgtEl>
                                          <p:spTgt spid="503">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9" st="9"/>
                                            </p:txEl>
                                          </p:spTgt>
                                        </p:tgtEl>
                                        <p:attrNameLst>
                                          <p:attrName>style.visibility</p:attrName>
                                        </p:attrNameLst>
                                      </p:cBhvr>
                                      <p:to>
                                        <p:strVal val="visible"/>
                                      </p:to>
                                    </p:set>
                                    <p:anim calcmode="lin" valueType="num">
                                      <p:cBhvr additive="base">
                                        <p:cTn dur="500"/>
                                        <p:tgtEl>
                                          <p:spTgt spid="503">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xEl>
                                              <p:pRg end="10" st="10"/>
                                            </p:txEl>
                                          </p:spTgt>
                                        </p:tgtEl>
                                        <p:attrNameLst>
                                          <p:attrName>style.visibility</p:attrName>
                                        </p:attrNameLst>
                                      </p:cBhvr>
                                      <p:to>
                                        <p:strVal val="visible"/>
                                      </p:to>
                                    </p:set>
                                    <p:anim calcmode="lin" valueType="num">
                                      <p:cBhvr additive="base">
                                        <p:cTn dur="500"/>
                                        <p:tgtEl>
                                          <p:spTgt spid="503">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2"/>
          <p:cNvSpPr txBox="1"/>
          <p:nvPr>
            <p:ph idx="4294967295" type="title"/>
          </p:nvPr>
        </p:nvSpPr>
        <p:spPr>
          <a:xfrm>
            <a:off x="0" y="134938"/>
            <a:ext cx="8077200" cy="99536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Evolution of Intel Microprocessors</a:t>
            </a:r>
            <a:endParaRPr/>
          </a:p>
        </p:txBody>
      </p:sp>
      <p:graphicFrame>
        <p:nvGraphicFramePr>
          <p:cNvPr id="511" name="Google Shape;511;p32"/>
          <p:cNvGraphicFramePr/>
          <p:nvPr/>
        </p:nvGraphicFramePr>
        <p:xfrm>
          <a:off x="228600" y="1066800"/>
          <a:ext cx="8686800" cy="2410345"/>
        </p:xfrm>
        <a:graphic>
          <a:graphicData uri="http://schemas.openxmlformats.org/presentationml/2006/ole">
            <mc:AlternateContent>
              <mc:Choice Requires="v">
                <p:oleObj r:id="rId4" imgH="2410345" imgW="8686800" progId="Word.Document.12" spid="_x0000_s1">
                  <p:embed/>
                </p:oleObj>
              </mc:Choice>
              <mc:Fallback>
                <p:oleObj r:id="rId5" imgH="2410345" imgW="8686800" progId="Word.Document.12">
                  <p:embed/>
                  <p:pic>
                    <p:nvPicPr>
                      <p:cNvPr id="511" name="Google Shape;511;p32"/>
                      <p:cNvPicPr preferRelativeResize="0"/>
                      <p:nvPr/>
                    </p:nvPicPr>
                    <p:blipFill rotWithShape="1">
                      <a:blip r:embed="rId6">
                        <a:alphaModFix/>
                      </a:blip>
                      <a:srcRect b="0" l="0" r="0" t="0"/>
                      <a:stretch/>
                    </p:blipFill>
                    <p:spPr>
                      <a:xfrm>
                        <a:off x="228600" y="1066800"/>
                        <a:ext cx="8686800" cy="2410345"/>
                      </a:xfrm>
                      <a:prstGeom prst="rect">
                        <a:avLst/>
                      </a:prstGeom>
                      <a:noFill/>
                      <a:ln>
                        <a:noFill/>
                      </a:ln>
                    </p:spPr>
                  </p:pic>
                </p:oleObj>
              </mc:Fallback>
            </mc:AlternateContent>
          </a:graphicData>
        </a:graphic>
      </p:graphicFrame>
      <p:graphicFrame>
        <p:nvGraphicFramePr>
          <p:cNvPr id="512" name="Google Shape;512;p32"/>
          <p:cNvGraphicFramePr/>
          <p:nvPr/>
        </p:nvGraphicFramePr>
        <p:xfrm>
          <a:off x="228600" y="3733800"/>
          <a:ext cx="8686800" cy="3124200"/>
        </p:xfrm>
        <a:graphic>
          <a:graphicData uri="http://schemas.openxmlformats.org/presentationml/2006/ole">
            <mc:AlternateContent>
              <mc:Choice Requires="v">
                <p:oleObj r:id="rId7" imgH="3124200" imgW="8686800" progId="Word.Document.12" spid="_x0000_s2">
                  <p:embed/>
                </p:oleObj>
              </mc:Choice>
              <mc:Fallback>
                <p:oleObj r:id="rId8" imgH="3124200" imgW="8686800" progId="Word.Document.12">
                  <p:embed/>
                  <p:pic>
                    <p:nvPicPr>
                      <p:cNvPr id="512" name="Google Shape;512;p32"/>
                      <p:cNvPicPr preferRelativeResize="0"/>
                      <p:nvPr/>
                    </p:nvPicPr>
                    <p:blipFill rotWithShape="1">
                      <a:blip r:embed="rId9">
                        <a:alphaModFix/>
                      </a:blip>
                      <a:srcRect b="0" l="0" r="0" t="0"/>
                      <a:stretch/>
                    </p:blipFill>
                    <p:spPr>
                      <a:xfrm>
                        <a:off x="228600" y="3733800"/>
                        <a:ext cx="8686800" cy="3124200"/>
                      </a:xfrm>
                      <a:prstGeom prst="rect">
                        <a:avLst/>
                      </a:prstGeom>
                      <a:noFill/>
                      <a:ln>
                        <a:noFill/>
                      </a:ln>
                    </p:spPr>
                  </p:pic>
                </p:oleObj>
              </mc:Fallback>
            </mc:AlternateContent>
          </a:graphicData>
        </a:graphic>
      </p:graphicFrame>
      <p:sp>
        <p:nvSpPr>
          <p:cNvPr id="513" name="Google Shape;513;p32"/>
          <p:cNvSpPr/>
          <p:nvPr/>
        </p:nvSpPr>
        <p:spPr>
          <a:xfrm>
            <a:off x="3276600" y="3124200"/>
            <a:ext cx="226481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a.  1970s Processors</a:t>
            </a:r>
            <a:endParaRPr sz="2000">
              <a:solidFill>
                <a:schemeClr val="dk1"/>
              </a:solidFill>
              <a:latin typeface="Times New Roman"/>
              <a:ea typeface="Times New Roman"/>
              <a:cs typeface="Times New Roman"/>
              <a:sym typeface="Times New Roman"/>
            </a:endParaRPr>
          </a:p>
        </p:txBody>
      </p:sp>
      <p:sp>
        <p:nvSpPr>
          <p:cNvPr id="514" name="Google Shape;514;p32"/>
          <p:cNvSpPr/>
          <p:nvPr/>
        </p:nvSpPr>
        <p:spPr>
          <a:xfrm>
            <a:off x="3352800" y="6457890"/>
            <a:ext cx="226481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b.  1980s Processors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3"/>
          <p:cNvSpPr txBox="1"/>
          <p:nvPr>
            <p:ph idx="4294967295" type="title"/>
          </p:nvPr>
        </p:nvSpPr>
        <p:spPr>
          <a:xfrm>
            <a:off x="0" y="134938"/>
            <a:ext cx="8077200" cy="99536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Evolution of Intel Microprocessors</a:t>
            </a:r>
            <a:endParaRPr/>
          </a:p>
        </p:txBody>
      </p:sp>
      <p:pic>
        <p:nvPicPr>
          <p:cNvPr id="521" name="Google Shape;521;p33"/>
          <p:cNvPicPr preferRelativeResize="0"/>
          <p:nvPr/>
        </p:nvPicPr>
        <p:blipFill rotWithShape="1">
          <a:blip r:embed="rId3">
            <a:alphaModFix/>
          </a:blip>
          <a:srcRect b="0" l="0" r="0" t="0"/>
          <a:stretch/>
        </p:blipFill>
        <p:spPr>
          <a:xfrm>
            <a:off x="304800" y="1066800"/>
            <a:ext cx="8610600" cy="2654300"/>
          </a:xfrm>
          <a:prstGeom prst="rect">
            <a:avLst/>
          </a:prstGeom>
          <a:noFill/>
          <a:ln>
            <a:noFill/>
          </a:ln>
        </p:spPr>
      </p:pic>
      <p:sp>
        <p:nvSpPr>
          <p:cNvPr id="522" name="Google Shape;522;p33"/>
          <p:cNvSpPr/>
          <p:nvPr/>
        </p:nvSpPr>
        <p:spPr>
          <a:xfrm>
            <a:off x="3581400" y="3352800"/>
            <a:ext cx="226481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c.  1990s Processors</a:t>
            </a:r>
            <a:endParaRPr sz="2000">
              <a:solidFill>
                <a:schemeClr val="dk1"/>
              </a:solidFill>
              <a:latin typeface="Times New Roman"/>
              <a:ea typeface="Times New Roman"/>
              <a:cs typeface="Times New Roman"/>
              <a:sym typeface="Times New Roman"/>
            </a:endParaRPr>
          </a:p>
        </p:txBody>
      </p:sp>
      <p:pic>
        <p:nvPicPr>
          <p:cNvPr id="523" name="Google Shape;523;p33"/>
          <p:cNvPicPr preferRelativeResize="0"/>
          <p:nvPr/>
        </p:nvPicPr>
        <p:blipFill rotWithShape="1">
          <a:blip r:embed="rId4">
            <a:alphaModFix/>
          </a:blip>
          <a:srcRect b="0" l="0" r="0" t="0"/>
          <a:stretch/>
        </p:blipFill>
        <p:spPr>
          <a:xfrm>
            <a:off x="304800" y="4038600"/>
            <a:ext cx="8610600" cy="2438400"/>
          </a:xfrm>
          <a:prstGeom prst="rect">
            <a:avLst/>
          </a:prstGeom>
          <a:noFill/>
          <a:ln>
            <a:noFill/>
          </a:ln>
        </p:spPr>
      </p:pic>
      <p:sp>
        <p:nvSpPr>
          <p:cNvPr id="524" name="Google Shape;524;p33"/>
          <p:cNvSpPr/>
          <p:nvPr/>
        </p:nvSpPr>
        <p:spPr>
          <a:xfrm>
            <a:off x="3581400" y="6096000"/>
            <a:ext cx="2569613" cy="40011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d.  Recent Processors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34"/>
          <p:cNvSpPr txBox="1"/>
          <p:nvPr>
            <p:ph type="title"/>
          </p:nvPr>
        </p:nvSpPr>
        <p:spPr>
          <a:xfrm>
            <a:off x="395536" y="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Microprocessor Speed</a:t>
            </a:r>
            <a:endParaRPr/>
          </a:p>
        </p:txBody>
      </p:sp>
      <p:grpSp>
        <p:nvGrpSpPr>
          <p:cNvPr id="531" name="Google Shape;531;p34"/>
          <p:cNvGrpSpPr/>
          <p:nvPr/>
        </p:nvGrpSpPr>
        <p:grpSpPr>
          <a:xfrm>
            <a:off x="498474" y="1962206"/>
            <a:ext cx="7556312" cy="4533787"/>
            <a:chOff x="0" y="133406"/>
            <a:chExt cx="7556312" cy="4533787"/>
          </a:xfrm>
        </p:grpSpPr>
        <p:sp>
          <p:nvSpPr>
            <p:cNvPr id="532" name="Google Shape;532;p34"/>
            <p:cNvSpPr/>
            <p:nvPr/>
          </p:nvSpPr>
          <p:spPr>
            <a:xfrm>
              <a:off x="0" y="133406"/>
              <a:ext cx="4533787" cy="4533787"/>
            </a:xfrm>
            <a:prstGeom prst="pie">
              <a:avLst>
                <a:gd fmla="val 5400000" name="adj1"/>
                <a:gd fmla="val 16200000" name="adj2"/>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4"/>
            <p:cNvSpPr/>
            <p:nvPr/>
          </p:nvSpPr>
          <p:spPr>
            <a:xfrm>
              <a:off x="2266893" y="133406"/>
              <a:ext cx="5289419" cy="4533787"/>
            </a:xfrm>
            <a:prstGeom prst="rect">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34"/>
            <p:cNvSpPr txBox="1"/>
            <p:nvPr/>
          </p:nvSpPr>
          <p:spPr>
            <a:xfrm>
              <a:off x="2266893" y="133406"/>
              <a:ext cx="2644709" cy="963429"/>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None/>
              </a:pPr>
              <a:r>
                <a:rPr lang="en-US" sz="2700">
                  <a:solidFill>
                    <a:schemeClr val="dk1"/>
                  </a:solidFill>
                  <a:latin typeface="Times New Roman"/>
                  <a:ea typeface="Times New Roman"/>
                  <a:cs typeface="Times New Roman"/>
                  <a:sym typeface="Times New Roman"/>
                </a:rPr>
                <a:t>Pipelining</a:t>
              </a:r>
              <a:endParaRPr sz="2700">
                <a:solidFill>
                  <a:schemeClr val="dk1"/>
                </a:solidFill>
                <a:latin typeface="Times New Roman"/>
                <a:ea typeface="Times New Roman"/>
                <a:cs typeface="Times New Roman"/>
                <a:sym typeface="Times New Roman"/>
              </a:endParaRPr>
            </a:p>
          </p:txBody>
        </p:sp>
        <p:sp>
          <p:nvSpPr>
            <p:cNvPr id="535" name="Google Shape;535;p34"/>
            <p:cNvSpPr/>
            <p:nvPr/>
          </p:nvSpPr>
          <p:spPr>
            <a:xfrm>
              <a:off x="595059" y="1096836"/>
              <a:ext cx="3343668" cy="3343668"/>
            </a:xfrm>
            <a:prstGeom prst="pie">
              <a:avLst>
                <a:gd fmla="val 5400000" name="adj1"/>
                <a:gd fmla="val 16200000" name="adj2"/>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34"/>
            <p:cNvSpPr/>
            <p:nvPr/>
          </p:nvSpPr>
          <p:spPr>
            <a:xfrm>
              <a:off x="2266893" y="1096836"/>
              <a:ext cx="5289419" cy="3343668"/>
            </a:xfrm>
            <a:prstGeom prst="rect">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34"/>
            <p:cNvSpPr txBox="1"/>
            <p:nvPr/>
          </p:nvSpPr>
          <p:spPr>
            <a:xfrm>
              <a:off x="2266893" y="1096836"/>
              <a:ext cx="2644709" cy="963429"/>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None/>
              </a:pPr>
              <a:r>
                <a:rPr lang="en-US" sz="2700">
                  <a:solidFill>
                    <a:schemeClr val="dk1"/>
                  </a:solidFill>
                  <a:latin typeface="Times New Roman"/>
                  <a:ea typeface="Times New Roman"/>
                  <a:cs typeface="Times New Roman"/>
                  <a:sym typeface="Times New Roman"/>
                </a:rPr>
                <a:t>Branch prediction</a:t>
              </a:r>
              <a:endParaRPr sz="2700">
                <a:solidFill>
                  <a:schemeClr val="dk1"/>
                </a:solidFill>
                <a:latin typeface="Times New Roman"/>
                <a:ea typeface="Times New Roman"/>
                <a:cs typeface="Times New Roman"/>
                <a:sym typeface="Times New Roman"/>
              </a:endParaRPr>
            </a:p>
          </p:txBody>
        </p:sp>
        <p:sp>
          <p:nvSpPr>
            <p:cNvPr id="538" name="Google Shape;538;p34"/>
            <p:cNvSpPr/>
            <p:nvPr/>
          </p:nvSpPr>
          <p:spPr>
            <a:xfrm>
              <a:off x="1190119" y="2060265"/>
              <a:ext cx="2153549" cy="2153549"/>
            </a:xfrm>
            <a:prstGeom prst="pie">
              <a:avLst>
                <a:gd fmla="val 5400000" name="adj1"/>
                <a:gd fmla="val 16200000" name="adj2"/>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4"/>
            <p:cNvSpPr/>
            <p:nvPr/>
          </p:nvSpPr>
          <p:spPr>
            <a:xfrm>
              <a:off x="2266893" y="2060265"/>
              <a:ext cx="5289419" cy="2153549"/>
            </a:xfrm>
            <a:prstGeom prst="rect">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34"/>
            <p:cNvSpPr txBox="1"/>
            <p:nvPr/>
          </p:nvSpPr>
          <p:spPr>
            <a:xfrm>
              <a:off x="2266893" y="2060265"/>
              <a:ext cx="2644709" cy="963429"/>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None/>
              </a:pPr>
              <a:r>
                <a:rPr lang="en-US" sz="2700">
                  <a:solidFill>
                    <a:schemeClr val="dk1"/>
                  </a:solidFill>
                  <a:latin typeface="Times New Roman"/>
                  <a:ea typeface="Times New Roman"/>
                  <a:cs typeface="Times New Roman"/>
                  <a:sym typeface="Times New Roman"/>
                </a:rPr>
                <a:t>Data flow analysis</a:t>
              </a:r>
              <a:endParaRPr sz="2700">
                <a:solidFill>
                  <a:schemeClr val="dk1"/>
                </a:solidFill>
                <a:latin typeface="Times New Roman"/>
                <a:ea typeface="Times New Roman"/>
                <a:cs typeface="Times New Roman"/>
                <a:sym typeface="Times New Roman"/>
              </a:endParaRPr>
            </a:p>
          </p:txBody>
        </p:sp>
        <p:sp>
          <p:nvSpPr>
            <p:cNvPr id="541" name="Google Shape;541;p34"/>
            <p:cNvSpPr/>
            <p:nvPr/>
          </p:nvSpPr>
          <p:spPr>
            <a:xfrm>
              <a:off x="1785178" y="3023695"/>
              <a:ext cx="963429" cy="963429"/>
            </a:xfrm>
            <a:prstGeom prst="pie">
              <a:avLst>
                <a:gd fmla="val 5400000" name="adj1"/>
                <a:gd fmla="val 16200000" name="adj2"/>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34"/>
            <p:cNvSpPr/>
            <p:nvPr/>
          </p:nvSpPr>
          <p:spPr>
            <a:xfrm>
              <a:off x="2266893" y="3023695"/>
              <a:ext cx="5289419" cy="963429"/>
            </a:xfrm>
            <a:prstGeom prst="rect">
              <a:avLst/>
            </a:prstGeom>
            <a:solidFill>
              <a:schemeClr val="lt1">
                <a:alpha val="89803"/>
              </a:schemeClr>
            </a:solidFill>
            <a:ln cap="flat" cmpd="sng" w="9525">
              <a:solidFill>
                <a:srgbClr val="0D6DC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34"/>
            <p:cNvSpPr txBox="1"/>
            <p:nvPr/>
          </p:nvSpPr>
          <p:spPr>
            <a:xfrm>
              <a:off x="2266893" y="3023695"/>
              <a:ext cx="2644709" cy="963429"/>
            </a:xfrm>
            <a:prstGeom prst="rect">
              <a:avLst/>
            </a:prstGeom>
            <a:noFill/>
            <a:ln>
              <a:noFill/>
            </a:ln>
          </p:spPr>
          <p:txBody>
            <a:bodyPr anchorCtr="0" anchor="ctr" bIns="102850" lIns="102850" spcFirstLastPara="1" rIns="102850" wrap="square" tIns="102850">
              <a:noAutofit/>
            </a:bodyPr>
            <a:lstStyle/>
            <a:p>
              <a:pPr indent="0" lvl="0" marL="0" marR="0" rtl="0" algn="ctr">
                <a:lnSpc>
                  <a:spcPct val="90000"/>
                </a:lnSpc>
                <a:spcBef>
                  <a:spcPts val="0"/>
                </a:spcBef>
                <a:spcAft>
                  <a:spcPts val="0"/>
                </a:spcAft>
                <a:buNone/>
              </a:pPr>
              <a:r>
                <a:rPr lang="en-US" sz="2700">
                  <a:solidFill>
                    <a:schemeClr val="dk1"/>
                  </a:solidFill>
                  <a:latin typeface="Times New Roman"/>
                  <a:ea typeface="Times New Roman"/>
                  <a:cs typeface="Times New Roman"/>
                  <a:sym typeface="Times New Roman"/>
                </a:rPr>
                <a:t>Speculative execution</a:t>
              </a:r>
              <a:endParaRPr sz="2700">
                <a:solidFill>
                  <a:schemeClr val="dk1"/>
                </a:solidFill>
                <a:latin typeface="Times New Roman"/>
                <a:ea typeface="Times New Roman"/>
                <a:cs typeface="Times New Roman"/>
                <a:sym typeface="Times New Roman"/>
              </a:endParaRPr>
            </a:p>
          </p:txBody>
        </p:sp>
        <p:sp>
          <p:nvSpPr>
            <p:cNvPr id="544" name="Google Shape;544;p34"/>
            <p:cNvSpPr/>
            <p:nvPr/>
          </p:nvSpPr>
          <p:spPr>
            <a:xfrm>
              <a:off x="4911603" y="133406"/>
              <a:ext cx="2644709" cy="9634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4"/>
            <p:cNvSpPr txBox="1"/>
            <p:nvPr/>
          </p:nvSpPr>
          <p:spPr>
            <a:xfrm>
              <a:off x="4911603" y="133406"/>
              <a:ext cx="2644709" cy="963429"/>
            </a:xfrm>
            <a:prstGeom prst="rect">
              <a:avLst/>
            </a:prstGeom>
            <a:noFill/>
            <a:ln>
              <a:noFill/>
            </a:ln>
          </p:spPr>
          <p:txBody>
            <a:bodyPr anchorCtr="0" anchor="ctr" bIns="38100" lIns="38100" spcFirstLastPara="1" rIns="38100" wrap="square" tIns="38100">
              <a:noAutofit/>
            </a:bodyPr>
            <a:lstStyle/>
            <a:p>
              <a:pPr indent="-63500" lvl="1" marL="57150" marR="0" rtl="0" algn="l">
                <a:lnSpc>
                  <a:spcPct val="90000"/>
                </a:lnSpc>
                <a:spcBef>
                  <a:spcPts val="0"/>
                </a:spcBef>
                <a:spcAft>
                  <a:spcPts val="0"/>
                </a:spcAft>
                <a:buClr>
                  <a:schemeClr val="dk1"/>
                </a:buClr>
                <a:buSzPts val="1000"/>
                <a:buFont typeface="Times New Roman"/>
                <a:buChar char="•"/>
              </a:pPr>
              <a:r>
                <a:rPr b="0" i="0" lang="en-US" sz="1000" u="none" cap="none" strike="noStrike">
                  <a:solidFill>
                    <a:schemeClr val="dk1"/>
                  </a:solidFill>
                  <a:latin typeface="Times New Roman"/>
                  <a:ea typeface="Times New Roman"/>
                  <a:cs typeface="Times New Roman"/>
                  <a:sym typeface="Times New Roman"/>
                </a:rPr>
                <a:t>Processor moves data or instructions into a conceptual pipe with all stages of the pipe processing simultaneously</a:t>
              </a:r>
              <a:endParaRPr b="0" i="0" sz="1000" u="none" cap="none" strike="noStrike">
                <a:solidFill>
                  <a:schemeClr val="dk1"/>
                </a:solidFill>
                <a:latin typeface="Times New Roman"/>
                <a:ea typeface="Times New Roman"/>
                <a:cs typeface="Times New Roman"/>
                <a:sym typeface="Times New Roman"/>
              </a:endParaRPr>
            </a:p>
          </p:txBody>
        </p:sp>
        <p:sp>
          <p:nvSpPr>
            <p:cNvPr id="546" name="Google Shape;546;p34"/>
            <p:cNvSpPr/>
            <p:nvPr/>
          </p:nvSpPr>
          <p:spPr>
            <a:xfrm>
              <a:off x="4911603" y="1096836"/>
              <a:ext cx="2644709" cy="9634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34"/>
            <p:cNvSpPr txBox="1"/>
            <p:nvPr/>
          </p:nvSpPr>
          <p:spPr>
            <a:xfrm>
              <a:off x="4911603" y="1096836"/>
              <a:ext cx="2644709" cy="963429"/>
            </a:xfrm>
            <a:prstGeom prst="rect">
              <a:avLst/>
            </a:prstGeom>
            <a:noFill/>
            <a:ln>
              <a:noFill/>
            </a:ln>
          </p:spPr>
          <p:txBody>
            <a:bodyPr anchorCtr="0" anchor="ctr" bIns="38100" lIns="38100" spcFirstLastPara="1" rIns="38100" wrap="square" tIns="38100">
              <a:noAutofit/>
            </a:bodyPr>
            <a:lstStyle/>
            <a:p>
              <a:pPr indent="-63500" lvl="1" marL="57150" marR="0" rtl="0" algn="l">
                <a:lnSpc>
                  <a:spcPct val="90000"/>
                </a:lnSpc>
                <a:spcBef>
                  <a:spcPts val="0"/>
                </a:spcBef>
                <a:spcAft>
                  <a:spcPts val="0"/>
                </a:spcAft>
                <a:buClr>
                  <a:schemeClr val="dk1"/>
                </a:buClr>
                <a:buSzPts val="1000"/>
                <a:buFont typeface="Times New Roman"/>
                <a:buChar char="•"/>
              </a:pPr>
              <a:r>
                <a:rPr b="0" i="0" lang="en-US" sz="1000" u="none" cap="none" strike="noStrike">
                  <a:solidFill>
                    <a:schemeClr val="dk1"/>
                  </a:solidFill>
                  <a:latin typeface="Times New Roman"/>
                  <a:ea typeface="Times New Roman"/>
                  <a:cs typeface="Times New Roman"/>
                  <a:sym typeface="Times New Roman"/>
                </a:rPr>
                <a:t>Processor looks ahead in the instruction code fetched from memory and predicts which branches, or groups of instructions, are likely to be processed next</a:t>
              </a:r>
              <a:endParaRPr b="0" i="0" sz="1000" u="none" cap="none" strike="noStrike">
                <a:solidFill>
                  <a:schemeClr val="dk1"/>
                </a:solidFill>
                <a:latin typeface="Times New Roman"/>
                <a:ea typeface="Times New Roman"/>
                <a:cs typeface="Times New Roman"/>
                <a:sym typeface="Times New Roman"/>
              </a:endParaRPr>
            </a:p>
          </p:txBody>
        </p:sp>
        <p:sp>
          <p:nvSpPr>
            <p:cNvPr id="548" name="Google Shape;548;p34"/>
            <p:cNvSpPr/>
            <p:nvPr/>
          </p:nvSpPr>
          <p:spPr>
            <a:xfrm>
              <a:off x="4911603" y="2060265"/>
              <a:ext cx="2644709" cy="9634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34"/>
            <p:cNvSpPr txBox="1"/>
            <p:nvPr/>
          </p:nvSpPr>
          <p:spPr>
            <a:xfrm>
              <a:off x="4911603" y="2060265"/>
              <a:ext cx="2644709" cy="963429"/>
            </a:xfrm>
            <a:prstGeom prst="rect">
              <a:avLst/>
            </a:prstGeom>
            <a:noFill/>
            <a:ln>
              <a:noFill/>
            </a:ln>
          </p:spPr>
          <p:txBody>
            <a:bodyPr anchorCtr="0" anchor="ctr" bIns="38100" lIns="38100" spcFirstLastPara="1" rIns="38100" wrap="square" tIns="38100">
              <a:noAutofit/>
            </a:bodyPr>
            <a:lstStyle/>
            <a:p>
              <a:pPr indent="-63500" lvl="1" marL="57150" marR="0" rtl="0" algn="l">
                <a:lnSpc>
                  <a:spcPct val="90000"/>
                </a:lnSpc>
                <a:spcBef>
                  <a:spcPts val="0"/>
                </a:spcBef>
                <a:spcAft>
                  <a:spcPts val="0"/>
                </a:spcAft>
                <a:buClr>
                  <a:schemeClr val="dk1"/>
                </a:buClr>
                <a:buSzPts val="1000"/>
                <a:buFont typeface="Times New Roman"/>
                <a:buChar char="•"/>
              </a:pPr>
              <a:r>
                <a:rPr b="0" i="0" lang="en-US" sz="1000" u="none" cap="none" strike="noStrike">
                  <a:solidFill>
                    <a:schemeClr val="dk1"/>
                  </a:solidFill>
                  <a:latin typeface="Times New Roman"/>
                  <a:ea typeface="Times New Roman"/>
                  <a:cs typeface="Times New Roman"/>
                  <a:sym typeface="Times New Roman"/>
                </a:rPr>
                <a:t>Processor analyzes which instructions are dependent on each other’s results, or data, to create an optimized schedule of instructions</a:t>
              </a:r>
              <a:endParaRPr b="0" i="0" sz="1000" u="none" cap="none" strike="noStrike">
                <a:solidFill>
                  <a:schemeClr val="dk1"/>
                </a:solidFill>
                <a:latin typeface="Times New Roman"/>
                <a:ea typeface="Times New Roman"/>
                <a:cs typeface="Times New Roman"/>
                <a:sym typeface="Times New Roman"/>
              </a:endParaRPr>
            </a:p>
          </p:txBody>
        </p:sp>
        <p:sp>
          <p:nvSpPr>
            <p:cNvPr id="550" name="Google Shape;550;p34"/>
            <p:cNvSpPr/>
            <p:nvPr/>
          </p:nvSpPr>
          <p:spPr>
            <a:xfrm>
              <a:off x="4911603" y="3023695"/>
              <a:ext cx="2644709" cy="963429"/>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4"/>
            <p:cNvSpPr txBox="1"/>
            <p:nvPr/>
          </p:nvSpPr>
          <p:spPr>
            <a:xfrm>
              <a:off x="4911603" y="3023695"/>
              <a:ext cx="2644709" cy="963429"/>
            </a:xfrm>
            <a:prstGeom prst="rect">
              <a:avLst/>
            </a:prstGeom>
            <a:noFill/>
            <a:ln>
              <a:noFill/>
            </a:ln>
          </p:spPr>
          <p:txBody>
            <a:bodyPr anchorCtr="0" anchor="ctr" bIns="38100" lIns="38100" spcFirstLastPara="1" rIns="38100" wrap="square" tIns="38100">
              <a:noAutofit/>
            </a:bodyPr>
            <a:lstStyle/>
            <a:p>
              <a:pPr indent="-63500" lvl="1" marL="57150" marR="0" rtl="0" algn="l">
                <a:lnSpc>
                  <a:spcPct val="90000"/>
                </a:lnSpc>
                <a:spcBef>
                  <a:spcPts val="0"/>
                </a:spcBef>
                <a:spcAft>
                  <a:spcPts val="0"/>
                </a:spcAft>
                <a:buClr>
                  <a:schemeClr val="dk1"/>
                </a:buClr>
                <a:buSzPts val="1000"/>
                <a:buFont typeface="Times New Roman"/>
                <a:buChar char="•"/>
              </a:pPr>
              <a:r>
                <a:rPr b="0" i="0" lang="en-US" sz="1000" u="none" cap="none" strike="noStrike">
                  <a:solidFill>
                    <a:schemeClr val="dk1"/>
                  </a:solidFill>
                  <a:latin typeface="Times New Roman"/>
                  <a:ea typeface="Times New Roman"/>
                  <a:cs typeface="Times New Roman"/>
                  <a:sym typeface="Times New Roman"/>
                </a:rPr>
                <a:t>Using branch prediction and data flow analysis, some processors speculatively execute instructions ahead of their actual appearance in the program execution, holding the results in temporary locations, keeping execution engines as busy as possible</a:t>
              </a:r>
              <a:endParaRPr b="0" i="0" sz="1000" u="none" cap="none" strike="noStrike">
                <a:solidFill>
                  <a:schemeClr val="dk1"/>
                </a:solidFill>
                <a:latin typeface="Times New Roman"/>
                <a:ea typeface="Times New Roman"/>
                <a:cs typeface="Times New Roman"/>
                <a:sym typeface="Times New Roman"/>
              </a:endParaRPr>
            </a:p>
          </p:txBody>
        </p:sp>
      </p:grpSp>
      <p:sp>
        <p:nvSpPr>
          <p:cNvPr id="552" name="Google Shape;552;p34"/>
          <p:cNvSpPr txBox="1"/>
          <p:nvPr>
            <p:ph idx="4294967295" type="body"/>
          </p:nvPr>
        </p:nvSpPr>
        <p:spPr>
          <a:xfrm>
            <a:off x="0" y="1268760"/>
            <a:ext cx="7559675" cy="60960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None/>
            </a:pPr>
            <a:r>
              <a:rPr lang="en-US"/>
              <a:t>Techniques built into contemporary processors include:</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35"/>
          <p:cNvSpPr txBox="1"/>
          <p:nvPr>
            <p:ph type="title"/>
          </p:nvPr>
        </p:nvSpPr>
        <p:spPr>
          <a:xfrm>
            <a:off x="498475" y="484094"/>
            <a:ext cx="4759325" cy="13447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Performance </a:t>
            </a:r>
            <a:br>
              <a:rPr lang="en-US"/>
            </a:br>
            <a:r>
              <a:rPr lang="en-US"/>
              <a:t>Balance</a:t>
            </a:r>
            <a:endParaRPr/>
          </a:p>
        </p:txBody>
      </p:sp>
      <p:grpSp>
        <p:nvGrpSpPr>
          <p:cNvPr id="559" name="Google Shape;559;p35"/>
          <p:cNvGrpSpPr/>
          <p:nvPr/>
        </p:nvGrpSpPr>
        <p:grpSpPr>
          <a:xfrm>
            <a:off x="2171694" y="0"/>
            <a:ext cx="6934210" cy="6858000"/>
            <a:chOff x="1333494" y="0"/>
            <a:chExt cx="6934210" cy="6858000"/>
          </a:xfrm>
        </p:grpSpPr>
        <p:sp>
          <p:nvSpPr>
            <p:cNvPr id="560" name="Google Shape;560;p35"/>
            <p:cNvSpPr/>
            <p:nvPr/>
          </p:nvSpPr>
          <p:spPr>
            <a:xfrm>
              <a:off x="3047994" y="0"/>
              <a:ext cx="3429000" cy="3429000"/>
            </a:xfrm>
            <a:prstGeom prst="triangle">
              <a:avLst>
                <a:gd fmla="val 50000"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35"/>
            <p:cNvSpPr txBox="1"/>
            <p:nvPr/>
          </p:nvSpPr>
          <p:spPr>
            <a:xfrm>
              <a:off x="3048000" y="0"/>
              <a:ext cx="4590900" cy="48882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b="1" lang="en-US" sz="1200">
                  <a:solidFill>
                    <a:schemeClr val="lt1"/>
                  </a:solidFill>
                  <a:latin typeface="Times New Roman"/>
                  <a:ea typeface="Times New Roman"/>
                  <a:cs typeface="Times New Roman"/>
                  <a:sym typeface="Times New Roman"/>
                </a:rPr>
                <a:t>Increase the number of bits that are retrieved at one time by making DRAMs “wider” rather than “deeper” and by using wide bus data paths</a:t>
              </a:r>
              <a:endParaRPr b="1" sz="1200">
                <a:solidFill>
                  <a:schemeClr val="lt1"/>
                </a:solidFill>
                <a:latin typeface="Times New Roman"/>
                <a:ea typeface="Times New Roman"/>
                <a:cs typeface="Times New Roman"/>
                <a:sym typeface="Times New Roman"/>
              </a:endParaRPr>
            </a:p>
          </p:txBody>
        </p:sp>
        <p:sp>
          <p:nvSpPr>
            <p:cNvPr id="562" name="Google Shape;562;p35"/>
            <p:cNvSpPr/>
            <p:nvPr/>
          </p:nvSpPr>
          <p:spPr>
            <a:xfrm>
              <a:off x="1333494" y="3429000"/>
              <a:ext cx="3429000" cy="3429000"/>
            </a:xfrm>
            <a:prstGeom prst="triangle">
              <a:avLst>
                <a:gd fmla="val 50000"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35"/>
            <p:cNvSpPr txBox="1"/>
            <p:nvPr/>
          </p:nvSpPr>
          <p:spPr>
            <a:xfrm>
              <a:off x="1333494" y="3429000"/>
              <a:ext cx="3429000" cy="34290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b="1" lang="en-US" sz="1200">
                  <a:solidFill>
                    <a:schemeClr val="lt1"/>
                  </a:solidFill>
                  <a:latin typeface="Times New Roman"/>
                  <a:ea typeface="Times New Roman"/>
                  <a:cs typeface="Times New Roman"/>
                  <a:sym typeface="Times New Roman"/>
                </a:rPr>
                <a:t>Change the DRAM interface to make it more efficient by including a cache or other buffering scheme on the DRAM chip</a:t>
              </a:r>
              <a:endParaRPr b="1" sz="1200">
                <a:solidFill>
                  <a:schemeClr val="lt1"/>
                </a:solidFill>
                <a:latin typeface="Times New Roman"/>
                <a:ea typeface="Times New Roman"/>
                <a:cs typeface="Times New Roman"/>
                <a:sym typeface="Times New Roman"/>
              </a:endParaRPr>
            </a:p>
          </p:txBody>
        </p:sp>
        <p:sp>
          <p:nvSpPr>
            <p:cNvPr id="564" name="Google Shape;564;p35"/>
            <p:cNvSpPr/>
            <p:nvPr/>
          </p:nvSpPr>
          <p:spPr>
            <a:xfrm rot="10800000">
              <a:off x="3047994" y="3429000"/>
              <a:ext cx="3429000" cy="3429000"/>
            </a:xfrm>
            <a:prstGeom prst="triangle">
              <a:avLst>
                <a:gd fmla="val 50000"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35"/>
            <p:cNvSpPr txBox="1"/>
            <p:nvPr/>
          </p:nvSpPr>
          <p:spPr>
            <a:xfrm>
              <a:off x="3047994" y="3429000"/>
              <a:ext cx="3429000" cy="34290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b="1" lang="en-US" sz="1200">
                  <a:solidFill>
                    <a:schemeClr val="lt1"/>
                  </a:solidFill>
                  <a:latin typeface="Times New Roman"/>
                  <a:ea typeface="Times New Roman"/>
                  <a:cs typeface="Times New Roman"/>
                  <a:sym typeface="Times New Roman"/>
                </a:rPr>
                <a:t>Reduce the frequency of memory access by incorporating increasingly complex and efficient cache structures between the processor and main memory</a:t>
              </a:r>
              <a:endParaRPr b="1" sz="1200">
                <a:solidFill>
                  <a:schemeClr val="lt1"/>
                </a:solidFill>
                <a:latin typeface="Times New Roman"/>
                <a:ea typeface="Times New Roman"/>
                <a:cs typeface="Times New Roman"/>
                <a:sym typeface="Times New Roman"/>
              </a:endParaRPr>
            </a:p>
          </p:txBody>
        </p:sp>
        <p:sp>
          <p:nvSpPr>
            <p:cNvPr id="566" name="Google Shape;566;p35"/>
            <p:cNvSpPr/>
            <p:nvPr/>
          </p:nvSpPr>
          <p:spPr>
            <a:xfrm>
              <a:off x="4686285" y="3429000"/>
              <a:ext cx="3581419" cy="3429000"/>
            </a:xfrm>
            <a:prstGeom prst="triangle">
              <a:avLst>
                <a:gd fmla="val 50000" name="adj"/>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35"/>
            <p:cNvSpPr txBox="1"/>
            <p:nvPr/>
          </p:nvSpPr>
          <p:spPr>
            <a:xfrm>
              <a:off x="4686285" y="3429000"/>
              <a:ext cx="3581419" cy="3429000"/>
            </a:xfrm>
            <a:prstGeom prst="rect">
              <a:avLst/>
            </a:prstGeom>
            <a:noFill/>
            <a:ln>
              <a:noFill/>
            </a:ln>
          </p:spPr>
          <p:txBody>
            <a:bodyPr anchorCtr="0" anchor="ctr" bIns="45700" lIns="45700" spcFirstLastPara="1" rIns="45700" wrap="square" tIns="45700">
              <a:noAutofit/>
            </a:bodyPr>
            <a:lstStyle/>
            <a:p>
              <a:pPr indent="0" lvl="0" marL="0" marR="0" rtl="0" algn="ctr">
                <a:lnSpc>
                  <a:spcPct val="90000"/>
                </a:lnSpc>
                <a:spcBef>
                  <a:spcPts val="0"/>
                </a:spcBef>
                <a:spcAft>
                  <a:spcPts val="0"/>
                </a:spcAft>
                <a:buNone/>
              </a:pPr>
              <a:r>
                <a:rPr b="1" lang="en-US" sz="1200">
                  <a:solidFill>
                    <a:schemeClr val="lt1"/>
                  </a:solidFill>
                  <a:latin typeface="Times New Roman"/>
                  <a:ea typeface="Times New Roman"/>
                  <a:cs typeface="Times New Roman"/>
                  <a:sym typeface="Times New Roman"/>
                </a:rPr>
                <a:t>Increase the interconnect bandwidth between processors and memory by using higher speed buses and a hierarchy of buses to buffer and structure data flow</a:t>
              </a:r>
              <a:endParaRPr b="1" sz="1200">
                <a:solidFill>
                  <a:schemeClr val="lt1"/>
                </a:solidFill>
                <a:latin typeface="Times New Roman"/>
                <a:ea typeface="Times New Roman"/>
                <a:cs typeface="Times New Roman"/>
                <a:sym typeface="Times New Roman"/>
              </a:endParaRPr>
            </a:p>
          </p:txBody>
        </p:sp>
      </p:grpSp>
      <p:sp>
        <p:nvSpPr>
          <p:cNvPr id="568" name="Google Shape;568;p35"/>
          <p:cNvSpPr txBox="1"/>
          <p:nvPr/>
        </p:nvSpPr>
        <p:spPr>
          <a:xfrm>
            <a:off x="0" y="1828800"/>
            <a:ext cx="4716016" cy="2754600"/>
          </a:xfrm>
          <a:prstGeom prst="rect">
            <a:avLst/>
          </a:prstGeom>
          <a:noFill/>
          <a:ln>
            <a:noFill/>
          </a:ln>
        </p:spPr>
        <p:txBody>
          <a:bodyPr anchorCtr="0" anchor="t" bIns="45700" lIns="91425" spcFirstLastPara="1" rIns="91425" wrap="square" tIns="45700">
            <a:spAutoFit/>
          </a:bodyPr>
          <a:lstStyle/>
          <a:p>
            <a:pPr indent="-228600" lvl="1" marL="457200" marR="0" rtl="0" algn="l">
              <a:spcBef>
                <a:spcPts val="0"/>
              </a:spcBef>
              <a:spcAft>
                <a:spcPts val="0"/>
              </a:spcAft>
              <a:buClr>
                <a:schemeClr val="accent1"/>
              </a:buClr>
              <a:buSzPts val="1500"/>
              <a:buFont typeface="Noto Sans Symbols"/>
              <a:buChar char="■"/>
            </a:pPr>
            <a:r>
              <a:rPr b="0" i="0" lang="en-US" sz="2000" u="none" cap="none" strike="noStrike">
                <a:solidFill>
                  <a:srgbClr val="595959"/>
                </a:solidFill>
                <a:latin typeface="Constantia"/>
                <a:ea typeface="Constantia"/>
                <a:cs typeface="Constantia"/>
                <a:sym typeface="Constantia"/>
              </a:rPr>
              <a:t>Adjust the organization and</a:t>
            </a:r>
            <a:endParaRPr/>
          </a:p>
          <a:p>
            <a:pPr indent="-228600" lvl="1" marL="457200" marR="0" rtl="0" algn="l">
              <a:spcBef>
                <a:spcPts val="0"/>
              </a:spcBef>
              <a:spcAft>
                <a:spcPts val="0"/>
              </a:spcAft>
              <a:buNone/>
            </a:pPr>
            <a:r>
              <a:rPr b="0" i="0" lang="en-US" sz="2000" u="none" cap="none" strike="noStrike">
                <a:solidFill>
                  <a:srgbClr val="595959"/>
                </a:solidFill>
                <a:latin typeface="Constantia"/>
                <a:ea typeface="Constantia"/>
                <a:cs typeface="Constantia"/>
                <a:sym typeface="Constantia"/>
              </a:rPr>
              <a:t>architecture to compensate</a:t>
            </a:r>
            <a:endParaRPr/>
          </a:p>
          <a:p>
            <a:pPr indent="-228600" lvl="1" marL="457200" marR="0" rtl="0" algn="l">
              <a:spcBef>
                <a:spcPts val="0"/>
              </a:spcBef>
              <a:spcAft>
                <a:spcPts val="0"/>
              </a:spcAft>
              <a:buNone/>
            </a:pPr>
            <a:r>
              <a:rPr b="0" i="0" lang="en-US" sz="2000" u="none" cap="none" strike="noStrike">
                <a:solidFill>
                  <a:srgbClr val="595959"/>
                </a:solidFill>
                <a:latin typeface="Constantia"/>
                <a:ea typeface="Constantia"/>
                <a:cs typeface="Constantia"/>
                <a:sym typeface="Constantia"/>
              </a:rPr>
              <a:t>for the mismatch among the</a:t>
            </a:r>
            <a:endParaRPr/>
          </a:p>
          <a:p>
            <a:pPr indent="-228600" lvl="1" marL="457200" marR="0" rtl="0" algn="l">
              <a:spcBef>
                <a:spcPts val="0"/>
              </a:spcBef>
              <a:spcAft>
                <a:spcPts val="0"/>
              </a:spcAft>
              <a:buNone/>
            </a:pPr>
            <a:r>
              <a:rPr b="0" i="0" lang="en-US" sz="2000" u="none" cap="none" strike="noStrike">
                <a:solidFill>
                  <a:srgbClr val="595959"/>
                </a:solidFill>
                <a:latin typeface="Constantia"/>
                <a:ea typeface="Constantia"/>
                <a:cs typeface="Constantia"/>
                <a:sym typeface="Constantia"/>
              </a:rPr>
              <a:t>capabilities of the various</a:t>
            </a:r>
            <a:endParaRPr/>
          </a:p>
          <a:p>
            <a:pPr indent="-228600" lvl="1" marL="457200" marR="0" rtl="0" algn="l">
              <a:spcBef>
                <a:spcPts val="0"/>
              </a:spcBef>
              <a:spcAft>
                <a:spcPts val="0"/>
              </a:spcAft>
              <a:buNone/>
            </a:pPr>
            <a:r>
              <a:rPr b="0" i="0" lang="en-US" sz="2000" u="none" cap="none" strike="noStrike">
                <a:solidFill>
                  <a:srgbClr val="595959"/>
                </a:solidFill>
                <a:latin typeface="Constantia"/>
                <a:ea typeface="Constantia"/>
                <a:cs typeface="Constantia"/>
                <a:sym typeface="Constantia"/>
              </a:rPr>
              <a:t>components</a:t>
            </a:r>
            <a:endParaRPr b="0" i="0" sz="2000" u="none" cap="none" strike="noStrike">
              <a:solidFill>
                <a:srgbClr val="595959"/>
              </a:solidFill>
              <a:latin typeface="Constantia"/>
              <a:ea typeface="Constantia"/>
              <a:cs typeface="Constantia"/>
              <a:sym typeface="Constantia"/>
            </a:endParaRPr>
          </a:p>
          <a:p>
            <a:pPr indent="-228600" lvl="1" marL="457200" marR="0" rtl="0" algn="l">
              <a:spcBef>
                <a:spcPts val="1200"/>
              </a:spcBef>
              <a:spcAft>
                <a:spcPts val="0"/>
              </a:spcAft>
              <a:buClr>
                <a:schemeClr val="accent1"/>
              </a:buClr>
              <a:buSzPts val="1500"/>
              <a:buFont typeface="Noto Sans Symbols"/>
              <a:buChar char="■"/>
            </a:pPr>
            <a:r>
              <a:rPr b="0" i="0" lang="en-US" sz="2000" u="none" cap="none" strike="noStrike">
                <a:solidFill>
                  <a:srgbClr val="595959"/>
                </a:solidFill>
                <a:latin typeface="Constantia"/>
                <a:ea typeface="Constantia"/>
                <a:cs typeface="Constantia"/>
                <a:sym typeface="Constantia"/>
              </a:rPr>
              <a:t>Architectural examples</a:t>
            </a:r>
            <a:endParaRPr b="0" i="0" sz="2000" u="none" cap="none" strike="noStrike">
              <a:solidFill>
                <a:srgbClr val="595959"/>
              </a:solidFill>
              <a:latin typeface="Constantia"/>
              <a:ea typeface="Constantia"/>
              <a:cs typeface="Constantia"/>
              <a:sym typeface="Constantia"/>
            </a:endParaRPr>
          </a:p>
          <a:p>
            <a:pPr indent="-228600" lvl="1" marL="457200" marR="0" rtl="0" algn="l">
              <a:spcBef>
                <a:spcPts val="0"/>
              </a:spcBef>
              <a:spcAft>
                <a:spcPts val="0"/>
              </a:spcAft>
              <a:buNone/>
            </a:pPr>
            <a:r>
              <a:rPr b="0" i="0" lang="en-US" sz="2000" u="none" cap="none" strike="noStrike">
                <a:solidFill>
                  <a:srgbClr val="595959"/>
                </a:solidFill>
                <a:latin typeface="Constantia"/>
                <a:ea typeface="Constantia"/>
                <a:cs typeface="Constantia"/>
                <a:sym typeface="Constantia"/>
              </a:rPr>
              <a:t>include:</a:t>
            </a:r>
            <a:endParaRPr/>
          </a:p>
          <a:p>
            <a:pPr indent="-142875" lvl="1" marL="457200" marR="0" rtl="0" algn="l">
              <a:spcBef>
                <a:spcPts val="600"/>
              </a:spcBef>
              <a:spcAft>
                <a:spcPts val="0"/>
              </a:spcAft>
              <a:buClr>
                <a:srgbClr val="56A9F3"/>
              </a:buClr>
              <a:buSzPts val="1350"/>
              <a:buFont typeface="Noto Sans Symbols"/>
              <a:buNone/>
            </a:pPr>
            <a:r>
              <a:t/>
            </a:r>
            <a:endParaRPr b="0" i="0" sz="1800" u="none" cap="none" strike="noStrike">
              <a:solidFill>
                <a:srgbClr val="595959"/>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0" st="0"/>
                                            </p:txEl>
                                          </p:spTgt>
                                        </p:tgtEl>
                                        <p:attrNameLst>
                                          <p:attrName>style.visibility</p:attrName>
                                        </p:attrNameLst>
                                      </p:cBhvr>
                                      <p:to>
                                        <p:strVal val="visible"/>
                                      </p:to>
                                    </p:set>
                                    <p:anim calcmode="lin" valueType="num">
                                      <p:cBhvr additive="base">
                                        <p:cTn dur="500"/>
                                        <p:tgtEl>
                                          <p:spTgt spid="56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1" st="1"/>
                                            </p:txEl>
                                          </p:spTgt>
                                        </p:tgtEl>
                                        <p:attrNameLst>
                                          <p:attrName>style.visibility</p:attrName>
                                        </p:attrNameLst>
                                      </p:cBhvr>
                                      <p:to>
                                        <p:strVal val="visible"/>
                                      </p:to>
                                    </p:set>
                                    <p:anim calcmode="lin" valueType="num">
                                      <p:cBhvr additive="base">
                                        <p:cTn dur="500"/>
                                        <p:tgtEl>
                                          <p:spTgt spid="56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2" st="2"/>
                                            </p:txEl>
                                          </p:spTgt>
                                        </p:tgtEl>
                                        <p:attrNameLst>
                                          <p:attrName>style.visibility</p:attrName>
                                        </p:attrNameLst>
                                      </p:cBhvr>
                                      <p:to>
                                        <p:strVal val="visible"/>
                                      </p:to>
                                    </p:set>
                                    <p:anim calcmode="lin" valueType="num">
                                      <p:cBhvr additive="base">
                                        <p:cTn dur="500"/>
                                        <p:tgtEl>
                                          <p:spTgt spid="56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3" st="3"/>
                                            </p:txEl>
                                          </p:spTgt>
                                        </p:tgtEl>
                                        <p:attrNameLst>
                                          <p:attrName>style.visibility</p:attrName>
                                        </p:attrNameLst>
                                      </p:cBhvr>
                                      <p:to>
                                        <p:strVal val="visible"/>
                                      </p:to>
                                    </p:set>
                                    <p:anim calcmode="lin" valueType="num">
                                      <p:cBhvr additive="base">
                                        <p:cTn dur="500"/>
                                        <p:tgtEl>
                                          <p:spTgt spid="56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4" st="4"/>
                                            </p:txEl>
                                          </p:spTgt>
                                        </p:tgtEl>
                                        <p:attrNameLst>
                                          <p:attrName>style.visibility</p:attrName>
                                        </p:attrNameLst>
                                      </p:cBhvr>
                                      <p:to>
                                        <p:strVal val="visible"/>
                                      </p:to>
                                    </p:set>
                                    <p:anim calcmode="lin" valueType="num">
                                      <p:cBhvr additive="base">
                                        <p:cTn dur="500"/>
                                        <p:tgtEl>
                                          <p:spTgt spid="56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5" st="5"/>
                                            </p:txEl>
                                          </p:spTgt>
                                        </p:tgtEl>
                                        <p:attrNameLst>
                                          <p:attrName>style.visibility</p:attrName>
                                        </p:attrNameLst>
                                      </p:cBhvr>
                                      <p:to>
                                        <p:strVal val="visible"/>
                                      </p:to>
                                    </p:set>
                                    <p:anim calcmode="lin" valueType="num">
                                      <p:cBhvr additive="base">
                                        <p:cTn dur="500"/>
                                        <p:tgtEl>
                                          <p:spTgt spid="56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6" st="6"/>
                                            </p:txEl>
                                          </p:spTgt>
                                        </p:tgtEl>
                                        <p:attrNameLst>
                                          <p:attrName>style.visibility</p:attrName>
                                        </p:attrNameLst>
                                      </p:cBhvr>
                                      <p:to>
                                        <p:strVal val="visible"/>
                                      </p:to>
                                    </p:set>
                                    <p:anim calcmode="lin" valueType="num">
                                      <p:cBhvr additive="base">
                                        <p:cTn dur="500"/>
                                        <p:tgtEl>
                                          <p:spTgt spid="56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8">
                                            <p:txEl>
                                              <p:pRg end="7" st="7"/>
                                            </p:txEl>
                                          </p:spTgt>
                                        </p:tgtEl>
                                        <p:attrNameLst>
                                          <p:attrName>style.visibility</p:attrName>
                                        </p:attrNameLst>
                                      </p:cBhvr>
                                      <p:to>
                                        <p:strVal val="visible"/>
                                      </p:to>
                                    </p:set>
                                    <p:anim calcmode="lin" valueType="num">
                                      <p:cBhvr additive="base">
                                        <p:cTn dur="500"/>
                                        <p:tgtEl>
                                          <p:spTgt spid="56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36"/>
          <p:cNvSpPr txBox="1"/>
          <p:nvPr>
            <p:ph idx="4294967295" type="title"/>
          </p:nvPr>
        </p:nvSpPr>
        <p:spPr>
          <a:xfrm>
            <a:off x="0" y="0"/>
            <a:ext cx="7772400" cy="1116013"/>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Typical I/O Device Data Rates</a:t>
            </a:r>
            <a:endParaRPr/>
          </a:p>
        </p:txBody>
      </p:sp>
      <p:pic>
        <p:nvPicPr>
          <p:cNvPr descr="f10.pdf" id="575" name="Google Shape;575;p36"/>
          <p:cNvPicPr preferRelativeResize="0"/>
          <p:nvPr/>
        </p:nvPicPr>
        <p:blipFill rotWithShape="1">
          <a:blip r:embed="rId3">
            <a:alphaModFix/>
          </a:blip>
          <a:srcRect b="14545" l="0" r="0" t="22727"/>
          <a:stretch/>
        </p:blipFill>
        <p:spPr>
          <a:xfrm>
            <a:off x="395536" y="1025352"/>
            <a:ext cx="8229600" cy="5832648"/>
          </a:xfrm>
          <a:prstGeom prst="rect">
            <a:avLst/>
          </a:prstGeom>
          <a:noFill/>
          <a:ln>
            <a:noFill/>
          </a:ln>
        </p:spPr>
      </p:pic>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3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Improvements in Chip Organization and Architecture</a:t>
            </a:r>
            <a:endParaRPr/>
          </a:p>
        </p:txBody>
      </p:sp>
      <p:sp>
        <p:nvSpPr>
          <p:cNvPr id="582" name="Google Shape;582;p3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Increase hardware speed of processor</a:t>
            </a:r>
            <a:endParaRPr/>
          </a:p>
          <a:p>
            <a:pPr indent="-246888" lvl="1" marL="640080" rtl="0" algn="l">
              <a:spcBef>
                <a:spcPts val="480"/>
              </a:spcBef>
              <a:spcAft>
                <a:spcPts val="0"/>
              </a:spcAft>
              <a:buSzPts val="2040"/>
              <a:buChar char="⚫"/>
            </a:pPr>
            <a:r>
              <a:rPr lang="en-US"/>
              <a:t>Fundamentally due to shrinking logic gate size</a:t>
            </a:r>
            <a:endParaRPr/>
          </a:p>
          <a:p>
            <a:pPr indent="-246887" lvl="2" marL="914400" rtl="0" algn="l">
              <a:spcBef>
                <a:spcPts val="420"/>
              </a:spcBef>
              <a:spcAft>
                <a:spcPts val="0"/>
              </a:spcAft>
              <a:buSzPts val="1470"/>
              <a:buChar char="⚫"/>
            </a:pPr>
            <a:r>
              <a:rPr lang="en-US"/>
              <a:t>More gates, packed more tightly, increasing clock rate</a:t>
            </a:r>
            <a:endParaRPr/>
          </a:p>
          <a:p>
            <a:pPr indent="-246887" lvl="2" marL="914400" rtl="0" algn="l">
              <a:spcBef>
                <a:spcPts val="420"/>
              </a:spcBef>
              <a:spcAft>
                <a:spcPts val="0"/>
              </a:spcAft>
              <a:buSzPts val="1470"/>
              <a:buChar char="⚫"/>
            </a:pPr>
            <a:r>
              <a:rPr lang="en-US"/>
              <a:t>Propagation time for signals reduced</a:t>
            </a:r>
            <a:endParaRPr/>
          </a:p>
          <a:p>
            <a:pPr indent="-274320" lvl="0" marL="274320" rtl="0" algn="l">
              <a:spcBef>
                <a:spcPts val="520"/>
              </a:spcBef>
              <a:spcAft>
                <a:spcPts val="0"/>
              </a:spcAft>
              <a:buSzPts val="2470"/>
              <a:buChar char="⚫"/>
            </a:pPr>
            <a:r>
              <a:rPr lang="en-US"/>
              <a:t>Increase size and speed of caches</a:t>
            </a:r>
            <a:endParaRPr/>
          </a:p>
          <a:p>
            <a:pPr indent="-246888" lvl="1" marL="640080" rtl="0" algn="l">
              <a:spcBef>
                <a:spcPts val="480"/>
              </a:spcBef>
              <a:spcAft>
                <a:spcPts val="0"/>
              </a:spcAft>
              <a:buSzPts val="2040"/>
              <a:buChar char="⚫"/>
            </a:pPr>
            <a:r>
              <a:rPr lang="en-US"/>
              <a:t>Dedicating part of processor chip </a:t>
            </a:r>
            <a:endParaRPr/>
          </a:p>
          <a:p>
            <a:pPr indent="-246887" lvl="2" marL="914400" rtl="0" algn="l">
              <a:spcBef>
                <a:spcPts val="420"/>
              </a:spcBef>
              <a:spcAft>
                <a:spcPts val="0"/>
              </a:spcAft>
              <a:buSzPts val="1470"/>
              <a:buChar char="⚫"/>
            </a:pPr>
            <a:r>
              <a:rPr lang="en-US"/>
              <a:t>Cache access times drop significantly</a:t>
            </a:r>
            <a:endParaRPr/>
          </a:p>
          <a:p>
            <a:pPr indent="-274320" lvl="0" marL="274320" rtl="0" algn="l">
              <a:spcBef>
                <a:spcPts val="520"/>
              </a:spcBef>
              <a:spcAft>
                <a:spcPts val="0"/>
              </a:spcAft>
              <a:buSzPts val="2470"/>
              <a:buChar char="⚫"/>
            </a:pPr>
            <a:r>
              <a:rPr lang="en-US"/>
              <a:t>Change processor organization and architecture</a:t>
            </a:r>
            <a:endParaRPr/>
          </a:p>
          <a:p>
            <a:pPr indent="-246888" lvl="1" marL="640080" rtl="0" algn="l">
              <a:spcBef>
                <a:spcPts val="480"/>
              </a:spcBef>
              <a:spcAft>
                <a:spcPts val="0"/>
              </a:spcAft>
              <a:buSzPts val="2040"/>
              <a:buChar char="⚫"/>
            </a:pPr>
            <a:r>
              <a:rPr lang="en-US"/>
              <a:t>Increase effective speed of instruction execution</a:t>
            </a:r>
            <a:endParaRPr/>
          </a:p>
          <a:p>
            <a:pPr indent="-246888" lvl="1" marL="640080" rtl="0" algn="l">
              <a:spcBef>
                <a:spcPts val="480"/>
              </a:spcBef>
              <a:spcAft>
                <a:spcPts val="0"/>
              </a:spcAft>
              <a:buSzPts val="2040"/>
              <a:buChar char="⚫"/>
            </a:pPr>
            <a:r>
              <a:rPr lang="en-US"/>
              <a:t>Parallelism</a:t>
            </a:r>
            <a:endParaRPr/>
          </a:p>
          <a:p>
            <a:pPr indent="-274320" lvl="0" marL="274320" rtl="0" algn="l">
              <a:spcBef>
                <a:spcPts val="520"/>
              </a:spcBef>
              <a:spcAft>
                <a:spcPts val="0"/>
              </a:spcAft>
              <a:buSzPts val="2470"/>
              <a:buFont typeface="Constantia"/>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0" st="0"/>
                                            </p:txEl>
                                          </p:spTgt>
                                        </p:tgtEl>
                                        <p:attrNameLst>
                                          <p:attrName>style.visibility</p:attrName>
                                        </p:attrNameLst>
                                      </p:cBhvr>
                                      <p:to>
                                        <p:strVal val="visible"/>
                                      </p:to>
                                    </p:set>
                                    <p:anim calcmode="lin" valueType="num">
                                      <p:cBhvr additive="base">
                                        <p:cTn dur="500"/>
                                        <p:tgtEl>
                                          <p:spTgt spid="5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1" st="1"/>
                                            </p:txEl>
                                          </p:spTgt>
                                        </p:tgtEl>
                                        <p:attrNameLst>
                                          <p:attrName>style.visibility</p:attrName>
                                        </p:attrNameLst>
                                      </p:cBhvr>
                                      <p:to>
                                        <p:strVal val="visible"/>
                                      </p:to>
                                    </p:set>
                                    <p:anim calcmode="lin" valueType="num">
                                      <p:cBhvr additive="base">
                                        <p:cTn dur="500"/>
                                        <p:tgtEl>
                                          <p:spTgt spid="58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2" st="2"/>
                                            </p:txEl>
                                          </p:spTgt>
                                        </p:tgtEl>
                                        <p:attrNameLst>
                                          <p:attrName>style.visibility</p:attrName>
                                        </p:attrNameLst>
                                      </p:cBhvr>
                                      <p:to>
                                        <p:strVal val="visible"/>
                                      </p:to>
                                    </p:set>
                                    <p:anim calcmode="lin" valueType="num">
                                      <p:cBhvr additive="base">
                                        <p:cTn dur="500"/>
                                        <p:tgtEl>
                                          <p:spTgt spid="58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3" st="3"/>
                                            </p:txEl>
                                          </p:spTgt>
                                        </p:tgtEl>
                                        <p:attrNameLst>
                                          <p:attrName>style.visibility</p:attrName>
                                        </p:attrNameLst>
                                      </p:cBhvr>
                                      <p:to>
                                        <p:strVal val="visible"/>
                                      </p:to>
                                    </p:set>
                                    <p:anim calcmode="lin" valueType="num">
                                      <p:cBhvr additive="base">
                                        <p:cTn dur="500"/>
                                        <p:tgtEl>
                                          <p:spTgt spid="58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4" st="4"/>
                                            </p:txEl>
                                          </p:spTgt>
                                        </p:tgtEl>
                                        <p:attrNameLst>
                                          <p:attrName>style.visibility</p:attrName>
                                        </p:attrNameLst>
                                      </p:cBhvr>
                                      <p:to>
                                        <p:strVal val="visible"/>
                                      </p:to>
                                    </p:set>
                                    <p:anim calcmode="lin" valueType="num">
                                      <p:cBhvr additive="base">
                                        <p:cTn dur="500"/>
                                        <p:tgtEl>
                                          <p:spTgt spid="58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5" st="5"/>
                                            </p:txEl>
                                          </p:spTgt>
                                        </p:tgtEl>
                                        <p:attrNameLst>
                                          <p:attrName>style.visibility</p:attrName>
                                        </p:attrNameLst>
                                      </p:cBhvr>
                                      <p:to>
                                        <p:strVal val="visible"/>
                                      </p:to>
                                    </p:set>
                                    <p:anim calcmode="lin" valueType="num">
                                      <p:cBhvr additive="base">
                                        <p:cTn dur="500"/>
                                        <p:tgtEl>
                                          <p:spTgt spid="5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6" st="6"/>
                                            </p:txEl>
                                          </p:spTgt>
                                        </p:tgtEl>
                                        <p:attrNameLst>
                                          <p:attrName>style.visibility</p:attrName>
                                        </p:attrNameLst>
                                      </p:cBhvr>
                                      <p:to>
                                        <p:strVal val="visible"/>
                                      </p:to>
                                    </p:set>
                                    <p:anim calcmode="lin" valueType="num">
                                      <p:cBhvr additive="base">
                                        <p:cTn dur="500"/>
                                        <p:tgtEl>
                                          <p:spTgt spid="58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7" st="7"/>
                                            </p:txEl>
                                          </p:spTgt>
                                        </p:tgtEl>
                                        <p:attrNameLst>
                                          <p:attrName>style.visibility</p:attrName>
                                        </p:attrNameLst>
                                      </p:cBhvr>
                                      <p:to>
                                        <p:strVal val="visible"/>
                                      </p:to>
                                    </p:set>
                                    <p:anim calcmode="lin" valueType="num">
                                      <p:cBhvr additive="base">
                                        <p:cTn dur="500"/>
                                        <p:tgtEl>
                                          <p:spTgt spid="58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8" st="8"/>
                                            </p:txEl>
                                          </p:spTgt>
                                        </p:tgtEl>
                                        <p:attrNameLst>
                                          <p:attrName>style.visibility</p:attrName>
                                        </p:attrNameLst>
                                      </p:cBhvr>
                                      <p:to>
                                        <p:strVal val="visible"/>
                                      </p:to>
                                    </p:set>
                                    <p:anim calcmode="lin" valueType="num">
                                      <p:cBhvr additive="base">
                                        <p:cTn dur="500"/>
                                        <p:tgtEl>
                                          <p:spTgt spid="58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9" st="9"/>
                                            </p:txEl>
                                          </p:spTgt>
                                        </p:tgtEl>
                                        <p:attrNameLst>
                                          <p:attrName>style.visibility</p:attrName>
                                        </p:attrNameLst>
                                      </p:cBhvr>
                                      <p:to>
                                        <p:strVal val="visible"/>
                                      </p:to>
                                    </p:set>
                                    <p:anim calcmode="lin" valueType="num">
                                      <p:cBhvr additive="base">
                                        <p:cTn dur="500"/>
                                        <p:tgtEl>
                                          <p:spTgt spid="582">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2">
                                            <p:txEl>
                                              <p:pRg end="10" st="10"/>
                                            </p:txEl>
                                          </p:spTgt>
                                        </p:tgtEl>
                                        <p:attrNameLst>
                                          <p:attrName>style.visibility</p:attrName>
                                        </p:attrNameLst>
                                      </p:cBhvr>
                                      <p:to>
                                        <p:strVal val="visible"/>
                                      </p:to>
                                    </p:set>
                                    <p:anim calcmode="lin" valueType="num">
                                      <p:cBhvr additive="base">
                                        <p:cTn dur="500"/>
                                        <p:tgtEl>
                                          <p:spTgt spid="582">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3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Problems with Clock Speed and Login Density</a:t>
            </a:r>
            <a:endParaRPr/>
          </a:p>
        </p:txBody>
      </p:sp>
      <p:sp>
        <p:nvSpPr>
          <p:cNvPr id="589" name="Google Shape;589;p38"/>
          <p:cNvSpPr txBox="1"/>
          <p:nvPr>
            <p:ph idx="1" type="body"/>
          </p:nvPr>
        </p:nvSpPr>
        <p:spPr>
          <a:xfrm>
            <a:off x="498474" y="1981200"/>
            <a:ext cx="7556313" cy="4343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280"/>
              <a:buChar char="⚫"/>
            </a:pPr>
            <a:r>
              <a:rPr lang="en-US" sz="2400"/>
              <a:t>Power</a:t>
            </a:r>
            <a:endParaRPr/>
          </a:p>
          <a:p>
            <a:pPr indent="-246888" lvl="1" marL="640080" rtl="0" algn="l">
              <a:spcBef>
                <a:spcPts val="400"/>
              </a:spcBef>
              <a:spcAft>
                <a:spcPts val="0"/>
              </a:spcAft>
              <a:buSzPts val="1700"/>
              <a:buChar char="⚫"/>
            </a:pPr>
            <a:r>
              <a:rPr lang="en-US" sz="2000"/>
              <a:t>Power density increases with density of logic and clock speed</a:t>
            </a:r>
            <a:endParaRPr/>
          </a:p>
          <a:p>
            <a:pPr indent="-246888" lvl="1" marL="640080" rtl="0" algn="l">
              <a:spcBef>
                <a:spcPts val="400"/>
              </a:spcBef>
              <a:spcAft>
                <a:spcPts val="0"/>
              </a:spcAft>
              <a:buSzPts val="1700"/>
              <a:buChar char="⚫"/>
            </a:pPr>
            <a:r>
              <a:rPr lang="en-US" sz="2000"/>
              <a:t>Dissipating heat</a:t>
            </a:r>
            <a:endParaRPr/>
          </a:p>
          <a:p>
            <a:pPr indent="-274320" lvl="0" marL="274320" rtl="0" algn="l">
              <a:spcBef>
                <a:spcPts val="480"/>
              </a:spcBef>
              <a:spcAft>
                <a:spcPts val="0"/>
              </a:spcAft>
              <a:buSzPts val="2280"/>
              <a:buChar char="⚫"/>
            </a:pPr>
            <a:r>
              <a:rPr lang="en-US" sz="2400"/>
              <a:t>RC delay</a:t>
            </a:r>
            <a:endParaRPr/>
          </a:p>
          <a:p>
            <a:pPr indent="-246888" lvl="1" marL="640080" rtl="0" algn="l">
              <a:spcBef>
                <a:spcPts val="400"/>
              </a:spcBef>
              <a:spcAft>
                <a:spcPts val="0"/>
              </a:spcAft>
              <a:buSzPts val="1700"/>
              <a:buChar char="⚫"/>
            </a:pPr>
            <a:r>
              <a:rPr lang="en-US" sz="2000"/>
              <a:t>Speed at which electrons flow limited by resistance and capacitance of metal wires connecting them</a:t>
            </a:r>
            <a:endParaRPr/>
          </a:p>
          <a:p>
            <a:pPr indent="-246888" lvl="1" marL="640080" rtl="0" algn="l">
              <a:spcBef>
                <a:spcPts val="400"/>
              </a:spcBef>
              <a:spcAft>
                <a:spcPts val="0"/>
              </a:spcAft>
              <a:buSzPts val="1700"/>
              <a:buChar char="⚫"/>
            </a:pPr>
            <a:r>
              <a:rPr lang="en-US" sz="2000"/>
              <a:t>Delay increases as RC product increases</a:t>
            </a:r>
            <a:endParaRPr/>
          </a:p>
          <a:p>
            <a:pPr indent="-246888" lvl="1" marL="640080" rtl="0" algn="l">
              <a:spcBef>
                <a:spcPts val="400"/>
              </a:spcBef>
              <a:spcAft>
                <a:spcPts val="0"/>
              </a:spcAft>
              <a:buSzPts val="1700"/>
              <a:buChar char="⚫"/>
            </a:pPr>
            <a:r>
              <a:rPr lang="en-US" sz="2000"/>
              <a:t>Wire interconnects thinner, increasing resistance</a:t>
            </a:r>
            <a:endParaRPr/>
          </a:p>
          <a:p>
            <a:pPr indent="-246888" lvl="1" marL="640080" rtl="0" algn="l">
              <a:spcBef>
                <a:spcPts val="400"/>
              </a:spcBef>
              <a:spcAft>
                <a:spcPts val="0"/>
              </a:spcAft>
              <a:buSzPts val="1700"/>
              <a:buChar char="⚫"/>
            </a:pPr>
            <a:r>
              <a:rPr lang="en-US" sz="2000"/>
              <a:t>Wires closer together, increasing capacitance</a:t>
            </a:r>
            <a:endParaRPr/>
          </a:p>
          <a:p>
            <a:pPr indent="-274320" lvl="0" marL="274320" rtl="0" algn="l">
              <a:spcBef>
                <a:spcPts val="480"/>
              </a:spcBef>
              <a:spcAft>
                <a:spcPts val="0"/>
              </a:spcAft>
              <a:buSzPts val="2280"/>
              <a:buChar char="⚫"/>
            </a:pPr>
            <a:r>
              <a:rPr lang="en-US" sz="2400"/>
              <a:t>Memory latency</a:t>
            </a:r>
            <a:endParaRPr/>
          </a:p>
          <a:p>
            <a:pPr indent="-246888" lvl="1" marL="640080" rtl="0" algn="l">
              <a:spcBef>
                <a:spcPts val="400"/>
              </a:spcBef>
              <a:spcAft>
                <a:spcPts val="0"/>
              </a:spcAft>
              <a:buSzPts val="1700"/>
              <a:buChar char="⚫"/>
            </a:pPr>
            <a:r>
              <a:rPr lang="en-US" sz="2000"/>
              <a:t>Memory speeds lag processor speeds</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0" st="0"/>
                                            </p:txEl>
                                          </p:spTgt>
                                        </p:tgtEl>
                                        <p:attrNameLst>
                                          <p:attrName>style.visibility</p:attrName>
                                        </p:attrNameLst>
                                      </p:cBhvr>
                                      <p:to>
                                        <p:strVal val="visible"/>
                                      </p:to>
                                    </p:set>
                                    <p:anim calcmode="lin" valueType="num">
                                      <p:cBhvr additive="base">
                                        <p:cTn dur="500"/>
                                        <p:tgtEl>
                                          <p:spTgt spid="58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1" st="1"/>
                                            </p:txEl>
                                          </p:spTgt>
                                        </p:tgtEl>
                                        <p:attrNameLst>
                                          <p:attrName>style.visibility</p:attrName>
                                        </p:attrNameLst>
                                      </p:cBhvr>
                                      <p:to>
                                        <p:strVal val="visible"/>
                                      </p:to>
                                    </p:set>
                                    <p:anim calcmode="lin" valueType="num">
                                      <p:cBhvr additive="base">
                                        <p:cTn dur="500"/>
                                        <p:tgtEl>
                                          <p:spTgt spid="58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2" st="2"/>
                                            </p:txEl>
                                          </p:spTgt>
                                        </p:tgtEl>
                                        <p:attrNameLst>
                                          <p:attrName>style.visibility</p:attrName>
                                        </p:attrNameLst>
                                      </p:cBhvr>
                                      <p:to>
                                        <p:strVal val="visible"/>
                                      </p:to>
                                    </p:set>
                                    <p:anim calcmode="lin" valueType="num">
                                      <p:cBhvr additive="base">
                                        <p:cTn dur="500"/>
                                        <p:tgtEl>
                                          <p:spTgt spid="58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3" st="3"/>
                                            </p:txEl>
                                          </p:spTgt>
                                        </p:tgtEl>
                                        <p:attrNameLst>
                                          <p:attrName>style.visibility</p:attrName>
                                        </p:attrNameLst>
                                      </p:cBhvr>
                                      <p:to>
                                        <p:strVal val="visible"/>
                                      </p:to>
                                    </p:set>
                                    <p:anim calcmode="lin" valueType="num">
                                      <p:cBhvr additive="base">
                                        <p:cTn dur="500"/>
                                        <p:tgtEl>
                                          <p:spTgt spid="58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4" st="4"/>
                                            </p:txEl>
                                          </p:spTgt>
                                        </p:tgtEl>
                                        <p:attrNameLst>
                                          <p:attrName>style.visibility</p:attrName>
                                        </p:attrNameLst>
                                      </p:cBhvr>
                                      <p:to>
                                        <p:strVal val="visible"/>
                                      </p:to>
                                    </p:set>
                                    <p:anim calcmode="lin" valueType="num">
                                      <p:cBhvr additive="base">
                                        <p:cTn dur="500"/>
                                        <p:tgtEl>
                                          <p:spTgt spid="58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5" st="5"/>
                                            </p:txEl>
                                          </p:spTgt>
                                        </p:tgtEl>
                                        <p:attrNameLst>
                                          <p:attrName>style.visibility</p:attrName>
                                        </p:attrNameLst>
                                      </p:cBhvr>
                                      <p:to>
                                        <p:strVal val="visible"/>
                                      </p:to>
                                    </p:set>
                                    <p:anim calcmode="lin" valueType="num">
                                      <p:cBhvr additive="base">
                                        <p:cTn dur="500"/>
                                        <p:tgtEl>
                                          <p:spTgt spid="58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6" st="6"/>
                                            </p:txEl>
                                          </p:spTgt>
                                        </p:tgtEl>
                                        <p:attrNameLst>
                                          <p:attrName>style.visibility</p:attrName>
                                        </p:attrNameLst>
                                      </p:cBhvr>
                                      <p:to>
                                        <p:strVal val="visible"/>
                                      </p:to>
                                    </p:set>
                                    <p:anim calcmode="lin" valueType="num">
                                      <p:cBhvr additive="base">
                                        <p:cTn dur="500"/>
                                        <p:tgtEl>
                                          <p:spTgt spid="58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7" st="7"/>
                                            </p:txEl>
                                          </p:spTgt>
                                        </p:tgtEl>
                                        <p:attrNameLst>
                                          <p:attrName>style.visibility</p:attrName>
                                        </p:attrNameLst>
                                      </p:cBhvr>
                                      <p:to>
                                        <p:strVal val="visible"/>
                                      </p:to>
                                    </p:set>
                                    <p:anim calcmode="lin" valueType="num">
                                      <p:cBhvr additive="base">
                                        <p:cTn dur="500"/>
                                        <p:tgtEl>
                                          <p:spTgt spid="58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8" st="8"/>
                                            </p:txEl>
                                          </p:spTgt>
                                        </p:tgtEl>
                                        <p:attrNameLst>
                                          <p:attrName>style.visibility</p:attrName>
                                        </p:attrNameLst>
                                      </p:cBhvr>
                                      <p:to>
                                        <p:strVal val="visible"/>
                                      </p:to>
                                    </p:set>
                                    <p:anim calcmode="lin" valueType="num">
                                      <p:cBhvr additive="base">
                                        <p:cTn dur="500"/>
                                        <p:tgtEl>
                                          <p:spTgt spid="58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89">
                                            <p:txEl>
                                              <p:pRg end="9" st="9"/>
                                            </p:txEl>
                                          </p:spTgt>
                                        </p:tgtEl>
                                        <p:attrNameLst>
                                          <p:attrName>style.visibility</p:attrName>
                                        </p:attrNameLst>
                                      </p:cBhvr>
                                      <p:to>
                                        <p:strVal val="visible"/>
                                      </p:to>
                                    </p:set>
                                    <p:anim calcmode="lin" valueType="num">
                                      <p:cBhvr additive="base">
                                        <p:cTn dur="500"/>
                                        <p:tgtEl>
                                          <p:spTgt spid="58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39"/>
          <p:cNvSpPr txBox="1"/>
          <p:nvPr>
            <p:ph type="title"/>
          </p:nvPr>
        </p:nvSpPr>
        <p:spPr>
          <a:xfrm>
            <a:off x="6553200" y="304800"/>
            <a:ext cx="2362200" cy="14478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rgbClr val="CCFFCC"/>
              </a:buClr>
              <a:buSzPts val="2600"/>
              <a:buFont typeface="Calibri"/>
              <a:buNone/>
            </a:pPr>
            <a:r>
              <a:rPr lang="en-US">
                <a:solidFill>
                  <a:srgbClr val="CCFFCC"/>
                </a:solidFill>
              </a:rPr>
              <a:t> </a:t>
            </a:r>
            <a:r>
              <a:rPr lang="en-US" sz="3200"/>
              <a:t>Processor Trends</a:t>
            </a:r>
            <a:endParaRPr sz="3200"/>
          </a:p>
        </p:txBody>
      </p:sp>
      <p:pic>
        <p:nvPicPr>
          <p:cNvPr descr="f11.pdf" id="596" name="Google Shape;596;p39"/>
          <p:cNvPicPr preferRelativeResize="0"/>
          <p:nvPr/>
        </p:nvPicPr>
        <p:blipFill rotWithShape="1">
          <a:blip r:embed="rId3">
            <a:alphaModFix/>
          </a:blip>
          <a:srcRect b="30000" l="8235" r="3528" t="20000"/>
          <a:stretch/>
        </p:blipFill>
        <p:spPr>
          <a:xfrm>
            <a:off x="304804" y="1219200"/>
            <a:ext cx="6324596" cy="4961785"/>
          </a:xfrm>
          <a:prstGeom prst="rect">
            <a:avLst/>
          </a:prstGeom>
          <a:noFill/>
          <a:ln>
            <a:noFill/>
          </a:ln>
        </p:spPr>
      </p:pic>
      <p:sp>
        <p:nvSpPr>
          <p:cNvPr id="597" name="Google Shape;597;p39"/>
          <p:cNvSpPr txBox="1"/>
          <p:nvPr/>
        </p:nvSpPr>
        <p:spPr>
          <a:xfrm>
            <a:off x="8720667" y="1049867"/>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02" name="Shape 602"/>
        <p:cNvGrpSpPr/>
        <p:nvPr/>
      </p:nvGrpSpPr>
      <p:grpSpPr>
        <a:xfrm>
          <a:off x="0" y="0"/>
          <a:ext cx="0" cy="0"/>
          <a:chOff x="0" y="0"/>
          <a:chExt cx="0" cy="0"/>
        </a:xfrm>
      </p:grpSpPr>
      <p:grpSp>
        <p:nvGrpSpPr>
          <p:cNvPr id="603" name="Google Shape;603;p40"/>
          <p:cNvGrpSpPr/>
          <p:nvPr/>
        </p:nvGrpSpPr>
        <p:grpSpPr>
          <a:xfrm>
            <a:off x="1123950" y="381000"/>
            <a:ext cx="7810500" cy="6248400"/>
            <a:chOff x="209550" y="0"/>
            <a:chExt cx="7810500" cy="6248400"/>
          </a:xfrm>
        </p:grpSpPr>
        <p:sp>
          <p:nvSpPr>
            <p:cNvPr id="604" name="Google Shape;604;p40"/>
            <p:cNvSpPr/>
            <p:nvPr/>
          </p:nvSpPr>
          <p:spPr>
            <a:xfrm>
              <a:off x="209550" y="1562100"/>
              <a:ext cx="4686300" cy="4686300"/>
            </a:xfrm>
            <a:prstGeom prst="ellipse">
              <a:avLst/>
            </a:prstGeom>
            <a:gradFill>
              <a:gsLst>
                <a:gs pos="0">
                  <a:srgbClr val="0036A6"/>
                </a:gs>
                <a:gs pos="68000">
                  <a:srgbClr val="618AD5"/>
                </a:gs>
                <a:gs pos="100000">
                  <a:srgbClr val="AFC3EE"/>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0"/>
            <p:cNvSpPr/>
            <p:nvPr/>
          </p:nvSpPr>
          <p:spPr>
            <a:xfrm>
              <a:off x="879300" y="2231850"/>
              <a:ext cx="3346799" cy="3346799"/>
            </a:xfrm>
            <a:prstGeom prst="ellipse">
              <a:avLst/>
            </a:prstGeom>
            <a:gradFill>
              <a:gsLst>
                <a:gs pos="0">
                  <a:srgbClr val="0036A6"/>
                </a:gs>
                <a:gs pos="68000">
                  <a:srgbClr val="618AD5"/>
                </a:gs>
                <a:gs pos="100000">
                  <a:srgbClr val="AFC3EE"/>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40"/>
            <p:cNvSpPr/>
            <p:nvPr/>
          </p:nvSpPr>
          <p:spPr>
            <a:xfrm>
              <a:off x="1548660" y="2901210"/>
              <a:ext cx="2008079" cy="2008079"/>
            </a:xfrm>
            <a:prstGeom prst="ellipse">
              <a:avLst/>
            </a:prstGeom>
            <a:gradFill>
              <a:gsLst>
                <a:gs pos="0">
                  <a:srgbClr val="0036A6"/>
                </a:gs>
                <a:gs pos="68000">
                  <a:srgbClr val="618AD5"/>
                </a:gs>
                <a:gs pos="100000">
                  <a:srgbClr val="AFC3EE"/>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0"/>
            <p:cNvSpPr/>
            <p:nvPr/>
          </p:nvSpPr>
          <p:spPr>
            <a:xfrm>
              <a:off x="2218020" y="3570570"/>
              <a:ext cx="669359" cy="669359"/>
            </a:xfrm>
            <a:prstGeom prst="ellipse">
              <a:avLst/>
            </a:prstGeom>
            <a:gradFill>
              <a:gsLst>
                <a:gs pos="0">
                  <a:srgbClr val="0036A6"/>
                </a:gs>
                <a:gs pos="68000">
                  <a:srgbClr val="618AD5"/>
                </a:gs>
                <a:gs pos="100000">
                  <a:srgbClr val="AFC3EE"/>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0"/>
            <p:cNvSpPr/>
            <p:nvPr/>
          </p:nvSpPr>
          <p:spPr>
            <a:xfrm>
              <a:off x="5676900" y="0"/>
              <a:ext cx="2343150" cy="11208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0"/>
            <p:cNvSpPr txBox="1"/>
            <p:nvPr/>
          </p:nvSpPr>
          <p:spPr>
            <a:xfrm>
              <a:off x="5676900" y="0"/>
              <a:ext cx="2343150" cy="1120806"/>
            </a:xfrm>
            <a:prstGeom prst="rect">
              <a:avLst/>
            </a:prstGeom>
            <a:noFill/>
            <a:ln>
              <a:noFill/>
            </a:ln>
          </p:spPr>
          <p:txBody>
            <a:bodyPr anchorCtr="0" anchor="ctr" bIns="16500" lIns="92450" spcFirstLastPara="1" rIns="16500" wrap="square" tIns="16500">
              <a:noAutofit/>
            </a:bodyPr>
            <a:lstStyle/>
            <a:p>
              <a:pPr indent="0" lvl="0" marL="0" marR="0" rtl="0" algn="l">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The use of multiple processors on the same chip provides the potential to increase performance without increasing the clock rate</a:t>
              </a:r>
              <a:endParaRPr sz="1300">
                <a:solidFill>
                  <a:schemeClr val="dk1"/>
                </a:solidFill>
                <a:latin typeface="Times New Roman"/>
                <a:ea typeface="Times New Roman"/>
                <a:cs typeface="Times New Roman"/>
                <a:sym typeface="Times New Roman"/>
              </a:endParaRPr>
            </a:p>
          </p:txBody>
        </p:sp>
        <p:cxnSp>
          <p:nvCxnSpPr>
            <p:cNvPr id="610" name="Google Shape;610;p40"/>
            <p:cNvCxnSpPr/>
            <p:nvPr/>
          </p:nvCxnSpPr>
          <p:spPr>
            <a:xfrm>
              <a:off x="5091112" y="560403"/>
              <a:ext cx="585787" cy="0"/>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cxnSp>
          <p:nvCxnSpPr>
            <p:cNvPr id="611" name="Google Shape;611;p40"/>
            <p:cNvCxnSpPr/>
            <p:nvPr/>
          </p:nvCxnSpPr>
          <p:spPr>
            <a:xfrm rot="5400000">
              <a:off x="2146554" y="929449"/>
              <a:ext cx="3311652" cy="2577465"/>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sp>
          <p:nvSpPr>
            <p:cNvPr id="612" name="Google Shape;612;p40"/>
            <p:cNvSpPr/>
            <p:nvPr/>
          </p:nvSpPr>
          <p:spPr>
            <a:xfrm>
              <a:off x="5676900" y="1120806"/>
              <a:ext cx="2343150" cy="11208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0"/>
            <p:cNvSpPr txBox="1"/>
            <p:nvPr/>
          </p:nvSpPr>
          <p:spPr>
            <a:xfrm>
              <a:off x="5676900" y="1120806"/>
              <a:ext cx="2343150" cy="1120806"/>
            </a:xfrm>
            <a:prstGeom prst="rect">
              <a:avLst/>
            </a:prstGeom>
            <a:noFill/>
            <a:ln>
              <a:noFill/>
            </a:ln>
          </p:spPr>
          <p:txBody>
            <a:bodyPr anchorCtr="0" anchor="ctr" bIns="16500" lIns="92450" spcFirstLastPara="1" rIns="16500" wrap="square" tIns="16500">
              <a:noAutofit/>
            </a:bodyPr>
            <a:lstStyle/>
            <a:p>
              <a:pPr indent="0" lvl="0" marL="0" marR="0" rtl="0" algn="l">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Strategy is to use two simpler processors on the chip rather than one more complex processor</a:t>
              </a:r>
              <a:endParaRPr sz="1300">
                <a:solidFill>
                  <a:schemeClr val="dk1"/>
                </a:solidFill>
                <a:latin typeface="Times New Roman"/>
                <a:ea typeface="Times New Roman"/>
                <a:cs typeface="Times New Roman"/>
                <a:sym typeface="Times New Roman"/>
              </a:endParaRPr>
            </a:p>
          </p:txBody>
        </p:sp>
        <p:cxnSp>
          <p:nvCxnSpPr>
            <p:cNvPr id="614" name="Google Shape;614;p40"/>
            <p:cNvCxnSpPr/>
            <p:nvPr/>
          </p:nvCxnSpPr>
          <p:spPr>
            <a:xfrm>
              <a:off x="5091112" y="1681210"/>
              <a:ext cx="585787" cy="0"/>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cxnSp>
          <p:nvCxnSpPr>
            <p:cNvPr id="615" name="Google Shape;615;p40"/>
            <p:cNvCxnSpPr/>
            <p:nvPr/>
          </p:nvCxnSpPr>
          <p:spPr>
            <a:xfrm rot="5400000">
              <a:off x="2719844" y="2031901"/>
              <a:ext cx="2719616" cy="2019014"/>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sp>
          <p:nvSpPr>
            <p:cNvPr id="616" name="Google Shape;616;p40"/>
            <p:cNvSpPr/>
            <p:nvPr/>
          </p:nvSpPr>
          <p:spPr>
            <a:xfrm>
              <a:off x="5676900" y="2241613"/>
              <a:ext cx="2343150" cy="11208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0"/>
            <p:cNvSpPr txBox="1"/>
            <p:nvPr/>
          </p:nvSpPr>
          <p:spPr>
            <a:xfrm>
              <a:off x="5676900" y="2241613"/>
              <a:ext cx="2343150" cy="1120806"/>
            </a:xfrm>
            <a:prstGeom prst="rect">
              <a:avLst/>
            </a:prstGeom>
            <a:noFill/>
            <a:ln>
              <a:noFill/>
            </a:ln>
          </p:spPr>
          <p:txBody>
            <a:bodyPr anchorCtr="0" anchor="ctr" bIns="16500" lIns="92450" spcFirstLastPara="1" rIns="16500" wrap="square" tIns="16500">
              <a:noAutofit/>
            </a:bodyPr>
            <a:lstStyle/>
            <a:p>
              <a:pPr indent="0" lvl="0" marL="0" marR="0" rtl="0" algn="l">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With two processors larger caches are justified</a:t>
              </a:r>
              <a:endParaRPr sz="1300">
                <a:solidFill>
                  <a:schemeClr val="dk1"/>
                </a:solidFill>
                <a:latin typeface="Times New Roman"/>
                <a:ea typeface="Times New Roman"/>
                <a:cs typeface="Times New Roman"/>
                <a:sym typeface="Times New Roman"/>
              </a:endParaRPr>
            </a:p>
          </p:txBody>
        </p:sp>
        <p:cxnSp>
          <p:nvCxnSpPr>
            <p:cNvPr id="618" name="Google Shape;618;p40"/>
            <p:cNvCxnSpPr/>
            <p:nvPr/>
          </p:nvCxnSpPr>
          <p:spPr>
            <a:xfrm>
              <a:off x="5091112" y="2802016"/>
              <a:ext cx="585787" cy="0"/>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cxnSp>
          <p:nvCxnSpPr>
            <p:cNvPr id="619" name="Google Shape;619;p40"/>
            <p:cNvCxnSpPr/>
            <p:nvPr/>
          </p:nvCxnSpPr>
          <p:spPr>
            <a:xfrm rot="5400000">
              <a:off x="3274780" y="3059372"/>
              <a:ext cx="2074468" cy="1558194"/>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sp>
          <p:nvSpPr>
            <p:cNvPr id="620" name="Google Shape;620;p40"/>
            <p:cNvSpPr/>
            <p:nvPr/>
          </p:nvSpPr>
          <p:spPr>
            <a:xfrm>
              <a:off x="5676900" y="3362420"/>
              <a:ext cx="2343150" cy="11208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0"/>
            <p:cNvSpPr txBox="1"/>
            <p:nvPr/>
          </p:nvSpPr>
          <p:spPr>
            <a:xfrm>
              <a:off x="5676900" y="3362420"/>
              <a:ext cx="2343150" cy="1120806"/>
            </a:xfrm>
            <a:prstGeom prst="rect">
              <a:avLst/>
            </a:prstGeom>
            <a:noFill/>
            <a:ln>
              <a:noFill/>
            </a:ln>
          </p:spPr>
          <p:txBody>
            <a:bodyPr anchorCtr="0" anchor="ctr" bIns="16500" lIns="92450" spcFirstLastPara="1" rIns="16500" wrap="square" tIns="16500">
              <a:noAutofit/>
            </a:bodyPr>
            <a:lstStyle/>
            <a:p>
              <a:pPr indent="0" lvl="0" marL="0" marR="0" rtl="0" algn="l">
                <a:lnSpc>
                  <a:spcPct val="90000"/>
                </a:lnSpc>
                <a:spcBef>
                  <a:spcPts val="0"/>
                </a:spcBef>
                <a:spcAft>
                  <a:spcPts val="0"/>
                </a:spcAft>
                <a:buNone/>
              </a:pPr>
              <a:r>
                <a:rPr lang="en-US" sz="1300">
                  <a:solidFill>
                    <a:schemeClr val="dk1"/>
                  </a:solidFill>
                  <a:latin typeface="Times New Roman"/>
                  <a:ea typeface="Times New Roman"/>
                  <a:cs typeface="Times New Roman"/>
                  <a:sym typeface="Times New Roman"/>
                </a:rPr>
                <a:t>As caches became larger it made performance sense to create two and then three levels of cache on a chip</a:t>
              </a:r>
              <a:endParaRPr sz="1300">
                <a:solidFill>
                  <a:schemeClr val="dk1"/>
                </a:solidFill>
                <a:latin typeface="Times New Roman"/>
                <a:ea typeface="Times New Roman"/>
                <a:cs typeface="Times New Roman"/>
                <a:sym typeface="Times New Roman"/>
              </a:endParaRPr>
            </a:p>
          </p:txBody>
        </p:sp>
        <p:cxnSp>
          <p:nvCxnSpPr>
            <p:cNvPr id="622" name="Google Shape;622;p40"/>
            <p:cNvCxnSpPr/>
            <p:nvPr/>
          </p:nvCxnSpPr>
          <p:spPr>
            <a:xfrm>
              <a:off x="5091112" y="3922823"/>
              <a:ext cx="585787" cy="0"/>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cxnSp>
          <p:nvCxnSpPr>
            <p:cNvPr id="623" name="Google Shape;623;p40"/>
            <p:cNvCxnSpPr/>
            <p:nvPr/>
          </p:nvCxnSpPr>
          <p:spPr>
            <a:xfrm rot="5400000">
              <a:off x="3831044" y="4090905"/>
              <a:ext cx="1425884" cy="1088783"/>
            </a:xfrm>
            <a:prstGeom prst="straightConnector1">
              <a:avLst/>
            </a:prstGeom>
            <a:solidFill>
              <a:srgbClr val="0D6DC5"/>
            </a:solidFill>
            <a:ln cap="flat" cmpd="sng" w="25400">
              <a:solidFill>
                <a:schemeClr val="accent4"/>
              </a:solidFill>
              <a:prstDash val="solid"/>
              <a:round/>
              <a:headEnd len="sm" w="sm" type="none"/>
              <a:tailEnd len="sm" w="sm" type="none"/>
            </a:ln>
            <a:effectLst>
              <a:outerShdw blurRad="57150" rotWithShape="0" algn="ctr" dir="5400000" dist="38100">
                <a:srgbClr val="022442">
                  <a:alpha val="47843"/>
                </a:srgbClr>
              </a:outerShdw>
            </a:effectLst>
          </p:spPr>
        </p:cxnSp>
      </p:grpSp>
      <p:sp>
        <p:nvSpPr>
          <p:cNvPr id="624" name="Google Shape;624;p40"/>
          <p:cNvSpPr txBox="1"/>
          <p:nvPr>
            <p:ph idx="4294967295" type="title"/>
          </p:nvPr>
        </p:nvSpPr>
        <p:spPr>
          <a:xfrm>
            <a:off x="0" y="457200"/>
            <a:ext cx="7556500" cy="1116013"/>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Multicore</a:t>
            </a:r>
            <a:endParaRPr/>
          </a:p>
        </p:txBody>
      </p:sp>
      <p:sp>
        <p:nvSpPr>
          <p:cNvPr id="625" name="Google Shape;625;p40"/>
          <p:cNvSpPr txBox="1"/>
          <p:nvPr/>
        </p:nvSpPr>
        <p:spPr>
          <a:xfrm>
            <a:off x="186267" y="1811867"/>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626" name="Google Shape;626;p40"/>
          <p:cNvSpPr txBox="1"/>
          <p:nvPr/>
        </p:nvSpPr>
        <p:spPr>
          <a:xfrm>
            <a:off x="321733" y="795867"/>
            <a:ext cx="184666"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0" name="Shape 630"/>
        <p:cNvGrpSpPr/>
        <p:nvPr/>
      </p:nvGrpSpPr>
      <p:grpSpPr>
        <a:xfrm>
          <a:off x="0" y="0"/>
          <a:ext cx="0" cy="0"/>
          <a:chOff x="0" y="0"/>
          <a:chExt cx="0" cy="0"/>
        </a:xfrm>
      </p:grpSpPr>
      <p:sp>
        <p:nvSpPr>
          <p:cNvPr id="631" name="Google Shape;631;p41"/>
          <p:cNvSpPr/>
          <p:nvPr/>
        </p:nvSpPr>
        <p:spPr>
          <a:xfrm>
            <a:off x="611560" y="980728"/>
            <a:ext cx="7848872" cy="267765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Chip manufacturers are now in the process of making a huge leap forward in the number of cores per chip, with more than 50 cores per chip.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The leap in performance as well as the challenges in developing software to exploit such a large number of cores have led to the introduction of a new term: </a:t>
            </a:r>
            <a:r>
              <a:rPr b="1" lang="en-US" sz="2400">
                <a:solidFill>
                  <a:schemeClr val="dk1"/>
                </a:solidFill>
                <a:latin typeface="Times New Roman"/>
                <a:ea typeface="Times New Roman"/>
                <a:cs typeface="Times New Roman"/>
                <a:sym typeface="Times New Roman"/>
              </a:rPr>
              <a:t>many integrated core (MIC).</a:t>
            </a:r>
            <a:endParaRPr/>
          </a:p>
        </p:txBody>
      </p:sp>
      <p:sp>
        <p:nvSpPr>
          <p:cNvPr id="632" name="Google Shape;632;p41"/>
          <p:cNvSpPr/>
          <p:nvPr/>
        </p:nvSpPr>
        <p:spPr>
          <a:xfrm>
            <a:off x="611560" y="3717032"/>
            <a:ext cx="8136904" cy="193899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At the same time, chip manufacturers are pursuing another design option: </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 chip with multiple general-purpose processors plus </a:t>
            </a:r>
            <a:r>
              <a:rPr b="1" lang="en-US" sz="2400">
                <a:solidFill>
                  <a:schemeClr val="dk1"/>
                </a:solidFill>
                <a:latin typeface="Times New Roman"/>
                <a:ea typeface="Times New Roman"/>
                <a:cs typeface="Times New Roman"/>
                <a:sym typeface="Times New Roman"/>
              </a:rPr>
              <a:t>graphics processing units (GPUs) </a:t>
            </a:r>
            <a:r>
              <a:rPr lang="en-US" sz="2400">
                <a:solidFill>
                  <a:schemeClr val="dk1"/>
                </a:solidFill>
                <a:latin typeface="Times New Roman"/>
                <a:ea typeface="Times New Roman"/>
                <a:cs typeface="Times New Roman"/>
                <a:sym typeface="Times New Roman"/>
              </a:rPr>
              <a:t>and specialized cores for video processing and other tasks.</a:t>
            </a:r>
            <a:endParaRPr sz="2400">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1">
                                            <p:txEl>
                                              <p:pRg end="0" st="0"/>
                                            </p:txEl>
                                          </p:spTgt>
                                        </p:tgtEl>
                                        <p:attrNameLst>
                                          <p:attrName>style.visibility</p:attrName>
                                        </p:attrNameLst>
                                      </p:cBhvr>
                                      <p:to>
                                        <p:strVal val="visible"/>
                                      </p:to>
                                    </p:set>
                                    <p:anim calcmode="lin" valueType="num">
                                      <p:cBhvr additive="base">
                                        <p:cTn dur="500"/>
                                        <p:tgtEl>
                                          <p:spTgt spid="63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1">
                                            <p:txEl>
                                              <p:pRg end="1" st="1"/>
                                            </p:txEl>
                                          </p:spTgt>
                                        </p:tgtEl>
                                        <p:attrNameLst>
                                          <p:attrName>style.visibility</p:attrName>
                                        </p:attrNameLst>
                                      </p:cBhvr>
                                      <p:to>
                                        <p:strVal val="visible"/>
                                      </p:to>
                                    </p:set>
                                    <p:anim calcmode="lin" valueType="num">
                                      <p:cBhvr additive="base">
                                        <p:cTn dur="500"/>
                                        <p:tgtEl>
                                          <p:spTgt spid="63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2">
                                            <p:txEl>
                                              <p:pRg end="0" st="0"/>
                                            </p:txEl>
                                          </p:spTgt>
                                        </p:tgtEl>
                                        <p:attrNameLst>
                                          <p:attrName>style.visibility</p:attrName>
                                        </p:attrNameLst>
                                      </p:cBhvr>
                                      <p:to>
                                        <p:strVal val="visible"/>
                                      </p:to>
                                    </p:set>
                                    <p:anim calcmode="lin" valueType="num">
                                      <p:cBhvr additive="base">
                                        <p:cTn dur="500"/>
                                        <p:tgtEl>
                                          <p:spTgt spid="63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2">
                                            <p:txEl>
                                              <p:pRg end="1" st="1"/>
                                            </p:txEl>
                                          </p:spTgt>
                                        </p:tgtEl>
                                        <p:attrNameLst>
                                          <p:attrName>style.visibility</p:attrName>
                                        </p:attrNameLst>
                                      </p:cBhvr>
                                      <p:to>
                                        <p:strVal val="visible"/>
                                      </p:to>
                                    </p:set>
                                    <p:anim calcmode="lin" valueType="num">
                                      <p:cBhvr additive="base">
                                        <p:cTn dur="500"/>
                                        <p:tgtEl>
                                          <p:spTgt spid="63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2"/>
          <p:cNvSpPr txBox="1"/>
          <p:nvPr>
            <p:ph type="title"/>
          </p:nvPr>
        </p:nvSpPr>
        <p:spPr>
          <a:xfrm>
            <a:off x="498474" y="484094"/>
            <a:ext cx="7556313" cy="13447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Many Integrated Core (MIC)</a:t>
            </a:r>
            <a:br>
              <a:rPr lang="en-US"/>
            </a:br>
            <a:r>
              <a:rPr lang="en-US"/>
              <a:t>      Graphics Processing Unit (GPU)</a:t>
            </a:r>
            <a:br>
              <a:rPr lang="en-US"/>
            </a:br>
            <a:endParaRPr/>
          </a:p>
        </p:txBody>
      </p:sp>
      <p:sp>
        <p:nvSpPr>
          <p:cNvPr id="639" name="Google Shape;639;p42"/>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p>
            <a:pPr indent="0" lvl="0" marL="0" rtl="0" algn="l">
              <a:spcBef>
                <a:spcPts val="0"/>
              </a:spcBef>
              <a:spcAft>
                <a:spcPts val="0"/>
              </a:spcAft>
              <a:buSzPts val="2280"/>
              <a:buNone/>
            </a:pPr>
            <a:r>
              <a:rPr lang="en-US"/>
              <a:t>MIC	</a:t>
            </a:r>
            <a:endParaRPr sz="3000">
              <a:solidFill>
                <a:schemeClr val="accent1"/>
              </a:solidFill>
            </a:endParaRPr>
          </a:p>
        </p:txBody>
      </p:sp>
      <p:sp>
        <p:nvSpPr>
          <p:cNvPr id="640" name="Google Shape;640;p42"/>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p>
            <a:pPr indent="0" lvl="0" marL="0" rtl="0" algn="l">
              <a:spcBef>
                <a:spcPts val="0"/>
              </a:spcBef>
              <a:spcAft>
                <a:spcPts val="0"/>
              </a:spcAft>
              <a:buSzPts val="2280"/>
              <a:buNone/>
            </a:pPr>
            <a:r>
              <a:rPr lang="en-US"/>
              <a:t>GPU</a:t>
            </a:r>
            <a:endParaRPr/>
          </a:p>
        </p:txBody>
      </p:sp>
      <p:sp>
        <p:nvSpPr>
          <p:cNvPr id="641" name="Google Shape;641;p42"/>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p>
            <a:pPr indent="-274320" lvl="0" marL="274320" rtl="0" algn="l">
              <a:spcBef>
                <a:spcPts val="0"/>
              </a:spcBef>
              <a:spcAft>
                <a:spcPts val="0"/>
              </a:spcAft>
              <a:buSzPts val="2090"/>
              <a:buChar char="⚫"/>
            </a:pPr>
            <a:r>
              <a:rPr lang="en-US"/>
              <a:t>Leap in performance as well as the challenges in developing software to exploit such a large number of cores</a:t>
            </a:r>
            <a:endParaRPr/>
          </a:p>
          <a:p>
            <a:pPr indent="-274320" lvl="0" marL="274320" rtl="0" algn="l">
              <a:spcBef>
                <a:spcPts val="440"/>
              </a:spcBef>
              <a:spcAft>
                <a:spcPts val="0"/>
              </a:spcAft>
              <a:buSzPts val="2090"/>
              <a:buChar char="⚫"/>
            </a:pPr>
            <a:r>
              <a:rPr lang="en-US"/>
              <a:t>The multicore and MIC strategy involves a homogeneous collection of general purpose processors on a single chip</a:t>
            </a:r>
            <a:endParaRPr/>
          </a:p>
          <a:p>
            <a:pPr indent="-141605" lvl="0" marL="274320" rtl="0" algn="l">
              <a:spcBef>
                <a:spcPts val="440"/>
              </a:spcBef>
              <a:spcAft>
                <a:spcPts val="0"/>
              </a:spcAft>
              <a:buSzPts val="2090"/>
              <a:buNone/>
            </a:pPr>
            <a:r>
              <a:t/>
            </a:r>
            <a:endParaRPr/>
          </a:p>
          <a:p>
            <a:pPr indent="-141605" lvl="0" marL="274320" rtl="0" algn="l">
              <a:spcBef>
                <a:spcPts val="440"/>
              </a:spcBef>
              <a:spcAft>
                <a:spcPts val="0"/>
              </a:spcAft>
              <a:buSzPts val="2090"/>
              <a:buNone/>
            </a:pPr>
            <a:r>
              <a:t/>
            </a:r>
            <a:endParaRPr/>
          </a:p>
        </p:txBody>
      </p:sp>
      <p:sp>
        <p:nvSpPr>
          <p:cNvPr id="642" name="Google Shape;642;p42"/>
          <p:cNvSpPr txBox="1"/>
          <p:nvPr>
            <p:ph idx="4" type="body"/>
          </p:nvPr>
        </p:nvSpPr>
        <p:spPr>
          <a:xfrm>
            <a:off x="4399878" y="2447365"/>
            <a:ext cx="3753522" cy="4182035"/>
          </a:xfrm>
          <a:prstGeom prst="rect">
            <a:avLst/>
          </a:prstGeom>
          <a:noFill/>
          <a:ln>
            <a:noFill/>
          </a:ln>
        </p:spPr>
        <p:txBody>
          <a:bodyPr anchorCtr="0" anchor="t" bIns="45700" lIns="91425" spcFirstLastPara="1" rIns="91425" wrap="square" tIns="0">
            <a:normAutofit lnSpcReduction="10000"/>
          </a:bodyPr>
          <a:lstStyle/>
          <a:p>
            <a:pPr indent="-274320" lvl="0" marL="274320" rtl="0" algn="l">
              <a:spcBef>
                <a:spcPts val="0"/>
              </a:spcBef>
              <a:spcAft>
                <a:spcPts val="0"/>
              </a:spcAft>
              <a:buSzPts val="2090"/>
              <a:buChar char="⚫"/>
            </a:pPr>
            <a:r>
              <a:rPr lang="en-US"/>
              <a:t>Core designed to perform parallel operations on graphics data</a:t>
            </a:r>
            <a:endParaRPr/>
          </a:p>
          <a:p>
            <a:pPr indent="-274320" lvl="0" marL="274320" rtl="0" algn="l">
              <a:spcBef>
                <a:spcPts val="440"/>
              </a:spcBef>
              <a:spcAft>
                <a:spcPts val="0"/>
              </a:spcAft>
              <a:buSzPts val="2090"/>
              <a:buChar char="⚫"/>
            </a:pPr>
            <a:r>
              <a:rPr lang="en-US"/>
              <a:t>Traditionally found on a plug-in graphics card, it is used to encode and render 2D and 3D graphics as well as process video</a:t>
            </a:r>
            <a:endParaRPr/>
          </a:p>
          <a:p>
            <a:pPr indent="-274320" lvl="0" marL="274320" rtl="0" algn="l">
              <a:spcBef>
                <a:spcPts val="440"/>
              </a:spcBef>
              <a:spcAft>
                <a:spcPts val="0"/>
              </a:spcAft>
              <a:buSzPts val="2090"/>
              <a:buChar char="⚫"/>
            </a:pPr>
            <a:r>
              <a:rPr lang="en-US"/>
              <a:t>Used as vector processors for a variety of applications that require repetitive computations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1">
                                            <p:txEl>
                                              <p:pRg end="0" st="0"/>
                                            </p:txEl>
                                          </p:spTgt>
                                        </p:tgtEl>
                                        <p:attrNameLst>
                                          <p:attrName>style.visibility</p:attrName>
                                        </p:attrNameLst>
                                      </p:cBhvr>
                                      <p:to>
                                        <p:strVal val="visible"/>
                                      </p:to>
                                    </p:set>
                                    <p:anim calcmode="lin" valueType="num">
                                      <p:cBhvr additive="base">
                                        <p:cTn dur="500"/>
                                        <p:tgtEl>
                                          <p:spTgt spid="64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1">
                                            <p:txEl>
                                              <p:pRg end="1" st="1"/>
                                            </p:txEl>
                                          </p:spTgt>
                                        </p:tgtEl>
                                        <p:attrNameLst>
                                          <p:attrName>style.visibility</p:attrName>
                                        </p:attrNameLst>
                                      </p:cBhvr>
                                      <p:to>
                                        <p:strVal val="visible"/>
                                      </p:to>
                                    </p:set>
                                    <p:anim calcmode="lin" valueType="num">
                                      <p:cBhvr additive="base">
                                        <p:cTn dur="500"/>
                                        <p:tgtEl>
                                          <p:spTgt spid="64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1">
                                            <p:txEl>
                                              <p:pRg end="2" st="2"/>
                                            </p:txEl>
                                          </p:spTgt>
                                        </p:tgtEl>
                                        <p:attrNameLst>
                                          <p:attrName>style.visibility</p:attrName>
                                        </p:attrNameLst>
                                      </p:cBhvr>
                                      <p:to>
                                        <p:strVal val="visible"/>
                                      </p:to>
                                    </p:set>
                                    <p:anim calcmode="lin" valueType="num">
                                      <p:cBhvr additive="base">
                                        <p:cTn dur="500"/>
                                        <p:tgtEl>
                                          <p:spTgt spid="64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1">
                                            <p:txEl>
                                              <p:pRg end="3" st="3"/>
                                            </p:txEl>
                                          </p:spTgt>
                                        </p:tgtEl>
                                        <p:attrNameLst>
                                          <p:attrName>style.visibility</p:attrName>
                                        </p:attrNameLst>
                                      </p:cBhvr>
                                      <p:to>
                                        <p:strVal val="visible"/>
                                      </p:to>
                                    </p:set>
                                    <p:anim calcmode="lin" valueType="num">
                                      <p:cBhvr additive="base">
                                        <p:cTn dur="500"/>
                                        <p:tgtEl>
                                          <p:spTgt spid="64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2">
                                            <p:txEl>
                                              <p:pRg end="0" st="0"/>
                                            </p:txEl>
                                          </p:spTgt>
                                        </p:tgtEl>
                                        <p:attrNameLst>
                                          <p:attrName>style.visibility</p:attrName>
                                        </p:attrNameLst>
                                      </p:cBhvr>
                                      <p:to>
                                        <p:strVal val="visible"/>
                                      </p:to>
                                    </p:set>
                                    <p:anim calcmode="lin" valueType="num">
                                      <p:cBhvr additive="base">
                                        <p:cTn dur="500"/>
                                        <p:tgtEl>
                                          <p:spTgt spid="6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2">
                                            <p:txEl>
                                              <p:pRg end="1" st="1"/>
                                            </p:txEl>
                                          </p:spTgt>
                                        </p:tgtEl>
                                        <p:attrNameLst>
                                          <p:attrName>style.visibility</p:attrName>
                                        </p:attrNameLst>
                                      </p:cBhvr>
                                      <p:to>
                                        <p:strVal val="visible"/>
                                      </p:to>
                                    </p:set>
                                    <p:anim calcmode="lin" valueType="num">
                                      <p:cBhvr additive="base">
                                        <p:cTn dur="500"/>
                                        <p:tgtEl>
                                          <p:spTgt spid="6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2">
                                            <p:txEl>
                                              <p:pRg end="2" st="2"/>
                                            </p:txEl>
                                          </p:spTgt>
                                        </p:tgtEl>
                                        <p:attrNameLst>
                                          <p:attrName>style.visibility</p:attrName>
                                        </p:attrNameLst>
                                      </p:cBhvr>
                                      <p:to>
                                        <p:strVal val="visible"/>
                                      </p:to>
                                    </p:set>
                                    <p:anim calcmode="lin" valueType="num">
                                      <p:cBhvr additive="base">
                                        <p:cTn dur="500"/>
                                        <p:tgtEl>
                                          <p:spTgt spid="64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3"/>
          <p:cNvSpPr txBox="1"/>
          <p:nvPr>
            <p:ph type="title"/>
          </p:nvPr>
        </p:nvSpPr>
        <p:spPr>
          <a:xfrm>
            <a:off x="4876800" y="2667000"/>
            <a:ext cx="4016633" cy="9906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500"/>
              <a:buFont typeface="Calibri"/>
              <a:buNone/>
            </a:pPr>
            <a:r>
              <a:rPr lang="en-US" sz="3500">
                <a:solidFill>
                  <a:schemeClr val="dk2"/>
                </a:solidFill>
              </a:rPr>
              <a:t>x86 Architecture</a:t>
            </a:r>
            <a:endParaRPr sz="3500">
              <a:solidFill>
                <a:schemeClr val="dk2"/>
              </a:solidFill>
            </a:endParaRPr>
          </a:p>
        </p:txBody>
      </p:sp>
      <p:sp>
        <p:nvSpPr>
          <p:cNvPr id="649" name="Google Shape;649;p43"/>
          <p:cNvSpPr txBox="1"/>
          <p:nvPr>
            <p:ph idx="1" type="body"/>
          </p:nvPr>
        </p:nvSpPr>
        <p:spPr>
          <a:xfrm>
            <a:off x="381000" y="1371600"/>
            <a:ext cx="4015304" cy="4983163"/>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lt1"/>
              </a:buClr>
              <a:buSzPts val="1520"/>
              <a:buFont typeface="Noto Sans Symbols"/>
              <a:buChar char="■"/>
            </a:pPr>
            <a:r>
              <a:rPr lang="en-US" sz="1600"/>
              <a:t>Results of decades of design effort on complex instruction set computers (CISCs)</a:t>
            </a:r>
            <a:endParaRPr/>
          </a:p>
          <a:p>
            <a:pPr indent="-228600" lvl="0" marL="228600" rtl="0" algn="l">
              <a:lnSpc>
                <a:spcPct val="80000"/>
              </a:lnSpc>
              <a:spcBef>
                <a:spcPts val="320"/>
              </a:spcBef>
              <a:spcAft>
                <a:spcPts val="0"/>
              </a:spcAft>
              <a:buClr>
                <a:schemeClr val="lt1"/>
              </a:buClr>
              <a:buSzPts val="1520"/>
              <a:buFont typeface="Noto Sans Symbols"/>
              <a:buChar char="■"/>
            </a:pPr>
            <a:r>
              <a:rPr lang="en-US" sz="1600"/>
              <a:t>Excellent example of CISC design</a:t>
            </a:r>
            <a:endParaRPr/>
          </a:p>
          <a:p>
            <a:pPr indent="-228600" lvl="0" marL="228600" rtl="0" algn="l">
              <a:lnSpc>
                <a:spcPct val="80000"/>
              </a:lnSpc>
              <a:spcBef>
                <a:spcPts val="320"/>
              </a:spcBef>
              <a:spcAft>
                <a:spcPts val="0"/>
              </a:spcAft>
              <a:buClr>
                <a:schemeClr val="lt1"/>
              </a:buClr>
              <a:buSzPts val="1520"/>
              <a:buFont typeface="Noto Sans Symbols"/>
              <a:buChar char="■"/>
            </a:pPr>
            <a:r>
              <a:rPr lang="en-US" sz="1600"/>
              <a:t>Incorporates the sophisticated design principles once found only on mainframes and supercomputers</a:t>
            </a:r>
            <a:endParaRPr/>
          </a:p>
          <a:p>
            <a:pPr indent="-228600" lvl="0" marL="228600" rtl="0" algn="l">
              <a:lnSpc>
                <a:spcPct val="80000"/>
              </a:lnSpc>
              <a:spcBef>
                <a:spcPts val="320"/>
              </a:spcBef>
              <a:spcAft>
                <a:spcPts val="0"/>
              </a:spcAft>
              <a:buClr>
                <a:schemeClr val="lt1"/>
              </a:buClr>
              <a:buSzPts val="1520"/>
              <a:buFont typeface="Noto Sans Symbols"/>
              <a:buChar char="■"/>
            </a:pPr>
            <a:r>
              <a:rPr lang="en-US" sz="1600"/>
              <a:t>An alternative approach to processor design is the reduced instruction set computer (RISC)</a:t>
            </a:r>
            <a:endParaRPr/>
          </a:p>
          <a:p>
            <a:pPr indent="-228600" lvl="0" marL="228600" rtl="0" algn="l">
              <a:lnSpc>
                <a:spcPct val="80000"/>
              </a:lnSpc>
              <a:spcBef>
                <a:spcPts val="320"/>
              </a:spcBef>
              <a:spcAft>
                <a:spcPts val="0"/>
              </a:spcAft>
              <a:buClr>
                <a:schemeClr val="lt1"/>
              </a:buClr>
              <a:buSzPts val="1520"/>
              <a:buFont typeface="Noto Sans Symbols"/>
              <a:buChar char="■"/>
            </a:pPr>
            <a:r>
              <a:rPr lang="en-US" sz="1600"/>
              <a:t>The ARM architecture is used in a wide variety of embedded systems and is one of the most powerful and best designed RISC based systems on the market</a:t>
            </a:r>
            <a:endParaRPr/>
          </a:p>
          <a:p>
            <a:pPr indent="-228600" lvl="0" marL="228600" rtl="0" algn="l">
              <a:lnSpc>
                <a:spcPct val="80000"/>
              </a:lnSpc>
              <a:spcBef>
                <a:spcPts val="320"/>
              </a:spcBef>
              <a:spcAft>
                <a:spcPts val="0"/>
              </a:spcAft>
              <a:buClr>
                <a:schemeClr val="lt1"/>
              </a:buClr>
              <a:buSzPts val="1520"/>
              <a:buFont typeface="Noto Sans Symbols"/>
              <a:buChar char="■"/>
            </a:pPr>
            <a:r>
              <a:rPr lang="en-US" sz="1600"/>
              <a:t>In terms of market share Intel is ranked as the number one maker of microprocessors for non-embedded systems</a:t>
            </a:r>
            <a:endParaRPr/>
          </a:p>
          <a:p>
            <a:pPr indent="-132080" lvl="0" marL="228600" rtl="0" algn="l">
              <a:lnSpc>
                <a:spcPct val="80000"/>
              </a:lnSpc>
              <a:spcBef>
                <a:spcPts val="320"/>
              </a:spcBef>
              <a:spcAft>
                <a:spcPts val="0"/>
              </a:spcAft>
              <a:buClr>
                <a:schemeClr val="lt2"/>
              </a:buClr>
              <a:buSzPts val="1520"/>
              <a:buFont typeface="Noto Sans Symbols"/>
              <a:buNone/>
            </a:pPr>
            <a:r>
              <a:t/>
            </a:r>
            <a:endParaRPr sz="1600"/>
          </a:p>
        </p:txBody>
      </p:sp>
      <p:sp>
        <p:nvSpPr>
          <p:cNvPr id="650" name="Google Shape;650;p43"/>
          <p:cNvSpPr txBox="1"/>
          <p:nvPr/>
        </p:nvSpPr>
        <p:spPr>
          <a:xfrm>
            <a:off x="1066800" y="457200"/>
            <a:ext cx="27940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lt1"/>
                </a:solidFill>
                <a:latin typeface="Calibri"/>
                <a:ea typeface="Calibri"/>
                <a:cs typeface="Calibri"/>
                <a:sym typeface="Calibri"/>
              </a:rPr>
              <a:t>Overview</a:t>
            </a:r>
            <a:endParaRPr sz="2800">
              <a:solidFill>
                <a:schemeClr val="lt1"/>
              </a:solidFill>
              <a:latin typeface="Calibri"/>
              <a:ea typeface="Calibri"/>
              <a:cs typeface="Calibri"/>
              <a:sym typeface="Calibri"/>
            </a:endParaRPr>
          </a:p>
        </p:txBody>
      </p:sp>
      <p:sp>
        <p:nvSpPr>
          <p:cNvPr id="651" name="Google Shape;651;p43"/>
          <p:cNvSpPr txBox="1"/>
          <p:nvPr/>
        </p:nvSpPr>
        <p:spPr>
          <a:xfrm>
            <a:off x="4953000" y="5029200"/>
            <a:ext cx="912029"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CISC</a:t>
            </a:r>
            <a:endParaRPr sz="2400">
              <a:solidFill>
                <a:schemeClr val="dk1"/>
              </a:solidFill>
              <a:latin typeface="Calibri"/>
              <a:ea typeface="Calibri"/>
              <a:cs typeface="Calibri"/>
              <a:sym typeface="Calibri"/>
            </a:endParaRPr>
          </a:p>
        </p:txBody>
      </p:sp>
      <p:sp>
        <p:nvSpPr>
          <p:cNvPr id="652" name="Google Shape;652;p43"/>
          <p:cNvSpPr txBox="1"/>
          <p:nvPr/>
        </p:nvSpPr>
        <p:spPr>
          <a:xfrm>
            <a:off x="5638800" y="5638800"/>
            <a:ext cx="868898"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RISC</a:t>
            </a:r>
            <a:endParaRPr sz="2400">
              <a:solidFill>
                <a:schemeClr val="dk1"/>
              </a:solidFill>
              <a:latin typeface="Calibri"/>
              <a:ea typeface="Calibri"/>
              <a:cs typeface="Calibri"/>
              <a:sym typeface="Calibri"/>
            </a:endParaRPr>
          </a:p>
        </p:txBody>
      </p:sp>
      <p:sp>
        <p:nvSpPr>
          <p:cNvPr id="653" name="Google Shape;653;p43"/>
          <p:cNvSpPr txBox="1"/>
          <p:nvPr/>
        </p:nvSpPr>
        <p:spPr>
          <a:xfrm>
            <a:off x="7620000" y="1295400"/>
            <a:ext cx="1066800" cy="492443"/>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600">
                <a:solidFill>
                  <a:schemeClr val="dk1"/>
                </a:solidFill>
                <a:latin typeface="Calibri"/>
                <a:ea typeface="Calibri"/>
                <a:cs typeface="Calibri"/>
                <a:sym typeface="Calibri"/>
              </a:rPr>
              <a:t>Intel</a:t>
            </a:r>
            <a:endParaRPr sz="2600">
              <a:solidFill>
                <a:schemeClr val="dk1"/>
              </a:solidFill>
              <a:latin typeface="Calibri"/>
              <a:ea typeface="Calibri"/>
              <a:cs typeface="Calibri"/>
              <a:sym typeface="Calibri"/>
            </a:endParaRPr>
          </a:p>
        </p:txBody>
      </p:sp>
      <p:sp>
        <p:nvSpPr>
          <p:cNvPr id="654" name="Google Shape;654;p43"/>
          <p:cNvSpPr txBox="1"/>
          <p:nvPr/>
        </p:nvSpPr>
        <p:spPr>
          <a:xfrm>
            <a:off x="7086600" y="685800"/>
            <a:ext cx="898704"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ARM</a:t>
            </a:r>
            <a:endParaRPr sz="24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44"/>
          <p:cNvSpPr txBox="1"/>
          <p:nvPr>
            <p:ph type="title"/>
          </p:nvPr>
        </p:nvSpPr>
        <p:spPr>
          <a:xfrm>
            <a:off x="0" y="2514600"/>
            <a:ext cx="3581400" cy="762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000"/>
              <a:buFont typeface="Calibri"/>
              <a:buNone/>
            </a:pPr>
            <a:r>
              <a:rPr lang="en-US" sz="3000"/>
              <a:t>x86 Evolution</a:t>
            </a:r>
            <a:endParaRPr sz="3000"/>
          </a:p>
        </p:txBody>
      </p:sp>
      <p:sp>
        <p:nvSpPr>
          <p:cNvPr id="661" name="Google Shape;661;p44"/>
          <p:cNvSpPr txBox="1"/>
          <p:nvPr>
            <p:ph idx="1" type="body"/>
          </p:nvPr>
        </p:nvSpPr>
        <p:spPr>
          <a:xfrm>
            <a:off x="4038600" y="0"/>
            <a:ext cx="5105400" cy="6858000"/>
          </a:xfrm>
          <a:prstGeom prst="rect">
            <a:avLst/>
          </a:prstGeom>
          <a:solidFill>
            <a:schemeClr val="accent1"/>
          </a:solid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SzPct val="95000"/>
              <a:buNone/>
            </a:pPr>
            <a:r>
              <a:t/>
            </a:r>
            <a:endParaRPr sz="1200">
              <a:solidFill>
                <a:schemeClr val="lt1"/>
              </a:solidFill>
            </a:endParaRPr>
          </a:p>
          <a:p>
            <a:pPr indent="-228609" lvl="0" marL="228600" rtl="0" algn="l">
              <a:lnSpc>
                <a:spcPct val="90000"/>
              </a:lnSpc>
              <a:spcBef>
                <a:spcPts val="392"/>
              </a:spcBef>
              <a:spcAft>
                <a:spcPts val="0"/>
              </a:spcAft>
              <a:buSzPct val="95000"/>
              <a:buFont typeface="Noto Sans Symbols"/>
              <a:buChar char="■"/>
            </a:pPr>
            <a:r>
              <a:rPr lang="en-US" sz="2118">
                <a:solidFill>
                  <a:schemeClr val="lt1"/>
                </a:solidFill>
              </a:rPr>
              <a:t>8080</a:t>
            </a:r>
            <a:endParaRPr/>
          </a:p>
          <a:p>
            <a:pPr indent="-228608" lvl="1" marL="685800" rtl="0" algn="l">
              <a:lnSpc>
                <a:spcPct val="90000"/>
              </a:lnSpc>
              <a:spcBef>
                <a:spcPts val="355"/>
              </a:spcBef>
              <a:spcAft>
                <a:spcPts val="0"/>
              </a:spcAft>
              <a:buSzPct val="85000"/>
              <a:buFont typeface="Noto Sans Symbols"/>
              <a:buChar char="■"/>
            </a:pPr>
            <a:r>
              <a:rPr lang="en-US" sz="1918">
                <a:solidFill>
                  <a:schemeClr val="lt1"/>
                </a:solidFill>
              </a:rPr>
              <a:t>First general purpose microprocessor</a:t>
            </a:r>
            <a:endParaRPr/>
          </a:p>
          <a:p>
            <a:pPr indent="-228608" lvl="1" marL="685800" rtl="0" algn="l">
              <a:lnSpc>
                <a:spcPct val="90000"/>
              </a:lnSpc>
              <a:spcBef>
                <a:spcPts val="355"/>
              </a:spcBef>
              <a:spcAft>
                <a:spcPts val="0"/>
              </a:spcAft>
              <a:buSzPct val="85000"/>
              <a:buFont typeface="Noto Sans Symbols"/>
              <a:buChar char="■"/>
            </a:pPr>
            <a:r>
              <a:rPr lang="en-US" sz="1918">
                <a:solidFill>
                  <a:schemeClr val="lt1"/>
                </a:solidFill>
              </a:rPr>
              <a:t>8-bit machine with an 8-bit data path to memory</a:t>
            </a:r>
            <a:endParaRPr/>
          </a:p>
          <a:p>
            <a:pPr indent="-228608" lvl="1" marL="685800" rtl="0" algn="l">
              <a:lnSpc>
                <a:spcPct val="90000"/>
              </a:lnSpc>
              <a:spcBef>
                <a:spcPts val="355"/>
              </a:spcBef>
              <a:spcAft>
                <a:spcPts val="0"/>
              </a:spcAft>
              <a:buSzPct val="85000"/>
              <a:buFont typeface="Noto Sans Symbols"/>
              <a:buChar char="■"/>
            </a:pPr>
            <a:r>
              <a:rPr lang="en-US" sz="1918">
                <a:solidFill>
                  <a:schemeClr val="lt1"/>
                </a:solidFill>
              </a:rPr>
              <a:t>Used in the first personal computer (Altair)</a:t>
            </a:r>
            <a:endParaRPr/>
          </a:p>
          <a:p>
            <a:pPr indent="-228651" lvl="0" marL="228600" rtl="0" algn="l">
              <a:lnSpc>
                <a:spcPct val="90000"/>
              </a:lnSpc>
              <a:spcBef>
                <a:spcPts val="400"/>
              </a:spcBef>
              <a:spcAft>
                <a:spcPts val="0"/>
              </a:spcAft>
              <a:buSzPct val="95000"/>
              <a:buFont typeface="Noto Sans Symbols"/>
              <a:buChar char="■"/>
            </a:pPr>
            <a:r>
              <a:rPr lang="en-US" sz="2162">
                <a:solidFill>
                  <a:schemeClr val="lt1"/>
                </a:solidFill>
              </a:rPr>
              <a:t>8086</a:t>
            </a:r>
            <a:endParaRPr/>
          </a:p>
          <a:p>
            <a:pPr indent="-228608" lvl="1" marL="685800" rtl="0" algn="l">
              <a:spcBef>
                <a:spcPts val="355"/>
              </a:spcBef>
              <a:spcAft>
                <a:spcPts val="0"/>
              </a:spcAft>
              <a:buSzPct val="85000"/>
              <a:buFont typeface="Noto Sans Symbols"/>
              <a:buChar char="■"/>
            </a:pPr>
            <a:r>
              <a:rPr lang="en-US" sz="1918">
                <a:solidFill>
                  <a:schemeClr val="lt1"/>
                </a:solidFill>
              </a:rPr>
              <a:t>16-bit machine</a:t>
            </a:r>
            <a:endParaRPr/>
          </a:p>
          <a:p>
            <a:pPr indent="-228608" lvl="1" marL="685800" rtl="0" algn="l">
              <a:spcBef>
                <a:spcPts val="355"/>
              </a:spcBef>
              <a:spcAft>
                <a:spcPts val="0"/>
              </a:spcAft>
              <a:buSzPct val="85000"/>
              <a:buFont typeface="Noto Sans Symbols"/>
              <a:buChar char="■"/>
            </a:pPr>
            <a:r>
              <a:rPr lang="en-US" sz="1918">
                <a:solidFill>
                  <a:schemeClr val="lt1"/>
                </a:solidFill>
              </a:rPr>
              <a:t>Used an instruction cache, or queue</a:t>
            </a:r>
            <a:endParaRPr/>
          </a:p>
          <a:p>
            <a:pPr indent="-228608" lvl="1" marL="685800" rtl="0" algn="l">
              <a:spcBef>
                <a:spcPts val="355"/>
              </a:spcBef>
              <a:spcAft>
                <a:spcPts val="0"/>
              </a:spcAft>
              <a:buSzPct val="85000"/>
              <a:buFont typeface="Noto Sans Symbols"/>
              <a:buChar char="■"/>
            </a:pPr>
            <a:r>
              <a:rPr lang="en-US" sz="1918">
                <a:solidFill>
                  <a:schemeClr val="lt1"/>
                </a:solidFill>
              </a:rPr>
              <a:t>First appearance of the x86 architecture</a:t>
            </a:r>
            <a:endParaRPr/>
          </a:p>
          <a:p>
            <a:pPr indent="-228609" lvl="0" marL="228600" rtl="0" algn="l">
              <a:lnSpc>
                <a:spcPct val="90000"/>
              </a:lnSpc>
              <a:spcBef>
                <a:spcPts val="2500"/>
              </a:spcBef>
              <a:spcAft>
                <a:spcPts val="0"/>
              </a:spcAft>
              <a:buSzPct val="95000"/>
              <a:buFont typeface="Noto Sans Symbols"/>
              <a:buChar char="■"/>
            </a:pPr>
            <a:r>
              <a:rPr lang="en-US" sz="2118">
                <a:solidFill>
                  <a:schemeClr val="lt1"/>
                </a:solidFill>
              </a:rPr>
              <a:t>8088</a:t>
            </a:r>
            <a:endParaRPr/>
          </a:p>
          <a:p>
            <a:pPr indent="-228645" lvl="1" marL="685800" rtl="0" algn="l">
              <a:lnSpc>
                <a:spcPct val="90000"/>
              </a:lnSpc>
              <a:spcBef>
                <a:spcPts val="700"/>
              </a:spcBef>
              <a:spcAft>
                <a:spcPts val="0"/>
              </a:spcAft>
              <a:buSzPct val="85000"/>
              <a:buFont typeface="Noto Sans Symbols"/>
              <a:buChar char="■"/>
            </a:pPr>
            <a:r>
              <a:rPr lang="en-US" sz="1882">
                <a:solidFill>
                  <a:schemeClr val="lt1"/>
                </a:solidFill>
              </a:rPr>
              <a:t>used in IBM’s first personal computer</a:t>
            </a:r>
            <a:endParaRPr/>
          </a:p>
          <a:p>
            <a:pPr indent="-228609" lvl="0" marL="228600" rtl="0" algn="l">
              <a:lnSpc>
                <a:spcPct val="90000"/>
              </a:lnSpc>
              <a:spcBef>
                <a:spcPts val="2500"/>
              </a:spcBef>
              <a:spcAft>
                <a:spcPts val="0"/>
              </a:spcAft>
              <a:buSzPct val="95000"/>
              <a:buFont typeface="Noto Sans Symbols"/>
              <a:buChar char="■"/>
            </a:pPr>
            <a:r>
              <a:rPr lang="en-US" sz="2118">
                <a:solidFill>
                  <a:schemeClr val="lt1"/>
                </a:solidFill>
              </a:rPr>
              <a:t>80286</a:t>
            </a:r>
            <a:endParaRPr/>
          </a:p>
          <a:p>
            <a:pPr indent="-228645" lvl="1" marL="685800" rtl="0" algn="l">
              <a:lnSpc>
                <a:spcPct val="90000"/>
              </a:lnSpc>
              <a:spcBef>
                <a:spcPts val="348"/>
              </a:spcBef>
              <a:spcAft>
                <a:spcPts val="0"/>
              </a:spcAft>
              <a:buSzPct val="85000"/>
              <a:buFont typeface="Noto Sans Symbols"/>
              <a:buChar char="■"/>
            </a:pPr>
            <a:r>
              <a:rPr lang="en-US" sz="1882">
                <a:solidFill>
                  <a:schemeClr val="lt1"/>
                </a:solidFill>
              </a:rPr>
              <a:t>Enabled addressing a 16-MByte memory instead of just 1 MByte</a:t>
            </a:r>
            <a:endParaRPr/>
          </a:p>
          <a:p>
            <a:pPr indent="-228609" lvl="0" marL="228600" rtl="0" algn="l">
              <a:lnSpc>
                <a:spcPct val="90000"/>
              </a:lnSpc>
              <a:spcBef>
                <a:spcPts val="2500"/>
              </a:spcBef>
              <a:spcAft>
                <a:spcPts val="0"/>
              </a:spcAft>
              <a:buSzPct val="95000"/>
              <a:buFont typeface="Noto Sans Symbols"/>
              <a:buChar char="■"/>
            </a:pPr>
            <a:r>
              <a:rPr lang="en-US" sz="2118">
                <a:solidFill>
                  <a:schemeClr val="lt1"/>
                </a:solidFill>
              </a:rPr>
              <a:t>80386</a:t>
            </a:r>
            <a:endParaRPr/>
          </a:p>
          <a:p>
            <a:pPr indent="-228645" lvl="1" marL="685800" rtl="0" algn="l">
              <a:lnSpc>
                <a:spcPct val="90000"/>
              </a:lnSpc>
              <a:spcBef>
                <a:spcPts val="348"/>
              </a:spcBef>
              <a:spcAft>
                <a:spcPts val="0"/>
              </a:spcAft>
              <a:buSzPct val="85000"/>
              <a:buFont typeface="Noto Sans Symbols"/>
              <a:buChar char="■"/>
            </a:pPr>
            <a:r>
              <a:rPr lang="en-US" sz="1882">
                <a:solidFill>
                  <a:schemeClr val="lt1"/>
                </a:solidFill>
              </a:rPr>
              <a:t>Intel’s first 32-bit machine</a:t>
            </a:r>
            <a:endParaRPr/>
          </a:p>
          <a:p>
            <a:pPr indent="-228645" lvl="1" marL="685800" rtl="0" algn="l">
              <a:lnSpc>
                <a:spcPct val="90000"/>
              </a:lnSpc>
              <a:spcBef>
                <a:spcPts val="348"/>
              </a:spcBef>
              <a:spcAft>
                <a:spcPts val="0"/>
              </a:spcAft>
              <a:buSzPct val="85000"/>
              <a:buFont typeface="Noto Sans Symbols"/>
              <a:buChar char="■"/>
            </a:pPr>
            <a:r>
              <a:rPr lang="en-US" sz="1882">
                <a:solidFill>
                  <a:schemeClr val="lt1"/>
                </a:solidFill>
              </a:rPr>
              <a:t>First Intel processor to support multitasking</a:t>
            </a:r>
            <a:endParaRPr/>
          </a:p>
          <a:p>
            <a:pPr indent="-228609" lvl="0" marL="228600" rtl="0" algn="l">
              <a:lnSpc>
                <a:spcPct val="90000"/>
              </a:lnSpc>
              <a:spcBef>
                <a:spcPts val="2500"/>
              </a:spcBef>
              <a:spcAft>
                <a:spcPts val="0"/>
              </a:spcAft>
              <a:buSzPct val="95000"/>
              <a:buFont typeface="Noto Sans Symbols"/>
              <a:buChar char="■"/>
            </a:pPr>
            <a:r>
              <a:rPr lang="en-US" sz="2118">
                <a:solidFill>
                  <a:schemeClr val="lt1"/>
                </a:solidFill>
              </a:rPr>
              <a:t>80486</a:t>
            </a:r>
            <a:endParaRPr/>
          </a:p>
          <a:p>
            <a:pPr indent="-228645" lvl="1" marL="685800" rtl="0" algn="l">
              <a:lnSpc>
                <a:spcPct val="90000"/>
              </a:lnSpc>
              <a:spcBef>
                <a:spcPts val="348"/>
              </a:spcBef>
              <a:spcAft>
                <a:spcPts val="0"/>
              </a:spcAft>
              <a:buSzPct val="85000"/>
              <a:buFont typeface="Noto Sans Symbols"/>
              <a:buChar char="■"/>
            </a:pPr>
            <a:r>
              <a:rPr lang="en-US" sz="1882">
                <a:solidFill>
                  <a:schemeClr val="lt1"/>
                </a:solidFill>
              </a:rPr>
              <a:t>More sophisticated cache technology and instruction pipelining</a:t>
            </a:r>
            <a:endParaRPr/>
          </a:p>
          <a:p>
            <a:pPr indent="-228645" lvl="1" marL="685800" rtl="0" algn="l">
              <a:lnSpc>
                <a:spcPct val="90000"/>
              </a:lnSpc>
              <a:spcBef>
                <a:spcPts val="348"/>
              </a:spcBef>
              <a:spcAft>
                <a:spcPts val="0"/>
              </a:spcAft>
              <a:buSzPct val="85000"/>
              <a:buFont typeface="Noto Sans Symbols"/>
              <a:buChar char="■"/>
            </a:pPr>
            <a:r>
              <a:rPr lang="en-US" sz="1882">
                <a:solidFill>
                  <a:schemeClr val="lt1"/>
                </a:solidFill>
              </a:rPr>
              <a:t>Built-in math coprocessor</a:t>
            </a:r>
            <a:endParaRPr sz="1682">
              <a:solidFill>
                <a:schemeClr val="lt1"/>
              </a:solidFill>
            </a:endParaRPr>
          </a:p>
          <a:p>
            <a:pPr indent="-127019" lvl="1" marL="685800" rtl="0" algn="l">
              <a:lnSpc>
                <a:spcPct val="90000"/>
              </a:lnSpc>
              <a:spcBef>
                <a:spcPts val="376"/>
              </a:spcBef>
              <a:spcAft>
                <a:spcPts val="0"/>
              </a:spcAft>
              <a:buSzPct val="85000"/>
              <a:buFont typeface="Noto Sans Symbols"/>
              <a:buNone/>
            </a:pPr>
            <a:r>
              <a:t/>
            </a:r>
            <a:endParaRPr sz="2035"/>
          </a:p>
        </p:txBody>
      </p:sp>
      <p:pic>
        <p:nvPicPr>
          <p:cNvPr id="662" name="Google Shape;662;p44"/>
          <p:cNvPicPr preferRelativeResize="0"/>
          <p:nvPr/>
        </p:nvPicPr>
        <p:blipFill rotWithShape="1">
          <a:blip r:embed="rId3">
            <a:alphaModFix/>
          </a:blip>
          <a:srcRect b="0" l="0" r="0" t="0"/>
          <a:stretch/>
        </p:blipFill>
        <p:spPr>
          <a:xfrm>
            <a:off x="228600" y="3733800"/>
            <a:ext cx="2683403" cy="2662275"/>
          </a:xfrm>
          <a:prstGeom prst="rect">
            <a:avLst/>
          </a:prstGeom>
          <a:noFill/>
          <a:ln>
            <a:noFill/>
          </a:ln>
        </p:spPr>
      </p:pic>
      <p:pic>
        <p:nvPicPr>
          <p:cNvPr id="663" name="Google Shape;663;p44"/>
          <p:cNvPicPr preferRelativeResize="0"/>
          <p:nvPr/>
        </p:nvPicPr>
        <p:blipFill rotWithShape="1">
          <a:blip r:embed="rId4">
            <a:alphaModFix/>
          </a:blip>
          <a:srcRect b="0" l="0" r="0" t="0"/>
          <a:stretch/>
        </p:blipFill>
        <p:spPr>
          <a:xfrm rot="-587806">
            <a:off x="142238" y="142236"/>
            <a:ext cx="1828571" cy="1828571"/>
          </a:xfrm>
          <a:prstGeom prst="rect">
            <a:avLst/>
          </a:prstGeom>
          <a:noFill/>
          <a:ln>
            <a:noFill/>
          </a:ln>
        </p:spPr>
      </p:pic>
      <p:pic>
        <p:nvPicPr>
          <p:cNvPr id="664" name="Google Shape;664;p44"/>
          <p:cNvPicPr preferRelativeResize="0"/>
          <p:nvPr/>
        </p:nvPicPr>
        <p:blipFill rotWithShape="1">
          <a:blip r:embed="rId5">
            <a:alphaModFix/>
          </a:blip>
          <a:srcRect b="0" l="0" r="0" t="0"/>
          <a:stretch/>
        </p:blipFill>
        <p:spPr>
          <a:xfrm>
            <a:off x="1905000" y="914400"/>
            <a:ext cx="1612900" cy="16129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45"/>
          <p:cNvSpPr txBox="1"/>
          <p:nvPr>
            <p:ph type="title"/>
          </p:nvPr>
        </p:nvSpPr>
        <p:spPr>
          <a:xfrm>
            <a:off x="914400" y="533400"/>
            <a:ext cx="5638800" cy="9906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Clr>
                <a:srgbClr val="4AE3AC"/>
              </a:buClr>
              <a:buSzPts val="5600"/>
              <a:buFont typeface="Calibri"/>
              <a:buNone/>
            </a:pPr>
            <a:r>
              <a:rPr lang="en-US"/>
              <a:t>x86 Evolution - Pentium</a:t>
            </a:r>
            <a:endParaRPr/>
          </a:p>
        </p:txBody>
      </p:sp>
      <p:grpSp>
        <p:nvGrpSpPr>
          <p:cNvPr id="671" name="Google Shape;671;p45"/>
          <p:cNvGrpSpPr/>
          <p:nvPr/>
        </p:nvGrpSpPr>
        <p:grpSpPr>
          <a:xfrm>
            <a:off x="1375243" y="2586812"/>
            <a:ext cx="7768756" cy="2932660"/>
            <a:chOff x="3643" y="1367612"/>
            <a:chExt cx="7768756" cy="2932660"/>
          </a:xfrm>
        </p:grpSpPr>
        <p:sp>
          <p:nvSpPr>
            <p:cNvPr id="672" name="Google Shape;672;p45"/>
            <p:cNvSpPr/>
            <p:nvPr/>
          </p:nvSpPr>
          <p:spPr>
            <a:xfrm>
              <a:off x="3643" y="1367612"/>
              <a:ext cx="1396603" cy="374400"/>
            </a:xfrm>
            <a:prstGeom prst="rect">
              <a:avLst/>
            </a:prstGeom>
            <a:gradFill>
              <a:gsLst>
                <a:gs pos="0">
                  <a:srgbClr val="0036A6"/>
                </a:gs>
                <a:gs pos="68000">
                  <a:srgbClr val="618AD5"/>
                </a:gs>
                <a:gs pos="100000">
                  <a:srgbClr val="AFC3EE"/>
                </a:gs>
              </a:gsLst>
              <a:path path="circle">
                <a:fillToRect b="50%" l="50%" r="50%" t="50%"/>
              </a:path>
              <a:tileRect/>
            </a:gradFill>
            <a:ln cap="flat" cmpd="sng" w="9525">
              <a:solidFill>
                <a:schemeClr val="accen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5"/>
            <p:cNvSpPr txBox="1"/>
            <p:nvPr/>
          </p:nvSpPr>
          <p:spPr>
            <a:xfrm>
              <a:off x="3643" y="1367612"/>
              <a:ext cx="1396603"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None/>
              </a:pPr>
              <a:r>
                <a:rPr b="1" lang="en-US" sz="1300">
                  <a:solidFill>
                    <a:schemeClr val="lt1"/>
                  </a:solidFill>
                  <a:latin typeface="Times New Roman"/>
                  <a:ea typeface="Times New Roman"/>
                  <a:cs typeface="Times New Roman"/>
                  <a:sym typeface="Times New Roman"/>
                </a:rPr>
                <a:t>Pentium</a:t>
              </a:r>
              <a:endParaRPr/>
            </a:p>
          </p:txBody>
        </p:sp>
        <p:sp>
          <p:nvSpPr>
            <p:cNvPr id="674" name="Google Shape;674;p45"/>
            <p:cNvSpPr/>
            <p:nvPr/>
          </p:nvSpPr>
          <p:spPr>
            <a:xfrm>
              <a:off x="3643" y="1742012"/>
              <a:ext cx="1396603" cy="2529174"/>
            </a:xfrm>
            <a:prstGeom prst="rect">
              <a:avLst/>
            </a:prstGeom>
            <a:solidFill>
              <a:srgbClr val="CAD4E8">
                <a:alpha val="89803"/>
              </a:srgbClr>
            </a:solidFill>
            <a:ln cap="flat" cmpd="sng" w="9525">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5"/>
            <p:cNvSpPr txBox="1"/>
            <p:nvPr/>
          </p:nvSpPr>
          <p:spPr>
            <a:xfrm>
              <a:off x="3643" y="1742012"/>
              <a:ext cx="1396603" cy="2529174"/>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Superscalar</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Multiple instructions executed in parallel</a:t>
              </a:r>
              <a:endParaRPr b="0" i="0" sz="1300" u="none" cap="none" strike="noStrike">
                <a:solidFill>
                  <a:schemeClr val="lt1"/>
                </a:solidFill>
                <a:latin typeface="Times New Roman"/>
                <a:ea typeface="Times New Roman"/>
                <a:cs typeface="Times New Roman"/>
                <a:sym typeface="Times New Roman"/>
              </a:endParaRPr>
            </a:p>
          </p:txBody>
        </p:sp>
        <p:sp>
          <p:nvSpPr>
            <p:cNvPr id="676" name="Google Shape;676;p45"/>
            <p:cNvSpPr/>
            <p:nvPr/>
          </p:nvSpPr>
          <p:spPr>
            <a:xfrm>
              <a:off x="1595770" y="1367612"/>
              <a:ext cx="1396603" cy="374400"/>
            </a:xfrm>
            <a:prstGeom prst="rect">
              <a:avLst/>
            </a:prstGeom>
            <a:gradFill>
              <a:gsLst>
                <a:gs pos="0">
                  <a:srgbClr val="0036A6"/>
                </a:gs>
                <a:gs pos="68000">
                  <a:srgbClr val="618AD5"/>
                </a:gs>
                <a:gs pos="100000">
                  <a:srgbClr val="AFC3EE"/>
                </a:gs>
              </a:gsLst>
              <a:path path="circle">
                <a:fillToRect b="50%" l="50%" r="50%" t="50%"/>
              </a:path>
              <a:tileRect/>
            </a:gradFill>
            <a:ln cap="flat" cmpd="sng" w="9525">
              <a:solidFill>
                <a:srgbClr val="0D6DC5"/>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5"/>
            <p:cNvSpPr txBox="1"/>
            <p:nvPr/>
          </p:nvSpPr>
          <p:spPr>
            <a:xfrm>
              <a:off x="1595770" y="1367612"/>
              <a:ext cx="1396603"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None/>
              </a:pPr>
              <a:r>
                <a:rPr b="1" lang="en-US" sz="1300">
                  <a:solidFill>
                    <a:schemeClr val="lt1"/>
                  </a:solidFill>
                  <a:latin typeface="Times New Roman"/>
                  <a:ea typeface="Times New Roman"/>
                  <a:cs typeface="Times New Roman"/>
                  <a:sym typeface="Times New Roman"/>
                </a:rPr>
                <a:t>Pentium Pro</a:t>
              </a:r>
              <a:endParaRPr b="1" sz="1300">
                <a:solidFill>
                  <a:schemeClr val="lt1"/>
                </a:solidFill>
                <a:latin typeface="Times New Roman"/>
                <a:ea typeface="Times New Roman"/>
                <a:cs typeface="Times New Roman"/>
                <a:sym typeface="Times New Roman"/>
              </a:endParaRPr>
            </a:p>
          </p:txBody>
        </p:sp>
        <p:sp>
          <p:nvSpPr>
            <p:cNvPr id="678" name="Google Shape;678;p45"/>
            <p:cNvSpPr/>
            <p:nvPr/>
          </p:nvSpPr>
          <p:spPr>
            <a:xfrm>
              <a:off x="1595770" y="1742012"/>
              <a:ext cx="1396603" cy="2529174"/>
            </a:xfrm>
            <a:prstGeom prst="rect">
              <a:avLst/>
            </a:prstGeom>
            <a:solidFill>
              <a:srgbClr val="CAD4E8">
                <a:alpha val="89803"/>
              </a:srgbClr>
            </a:solidFill>
            <a:ln cap="flat" cmpd="sng" w="9525">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5"/>
            <p:cNvSpPr txBox="1"/>
            <p:nvPr/>
          </p:nvSpPr>
          <p:spPr>
            <a:xfrm>
              <a:off x="1595770" y="1742012"/>
              <a:ext cx="1396603" cy="2529174"/>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Increased superscalar organization</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Aggressive register renaming</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Branch prediction</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Data flow analysis</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Speculative execution</a:t>
              </a:r>
              <a:endParaRPr b="0" i="0" sz="1300" u="none" cap="none" strike="noStrike">
                <a:solidFill>
                  <a:schemeClr val="lt1"/>
                </a:solidFill>
                <a:latin typeface="Times New Roman"/>
                <a:ea typeface="Times New Roman"/>
                <a:cs typeface="Times New Roman"/>
                <a:sym typeface="Times New Roman"/>
              </a:endParaRPr>
            </a:p>
          </p:txBody>
        </p:sp>
        <p:sp>
          <p:nvSpPr>
            <p:cNvPr id="680" name="Google Shape;680;p45"/>
            <p:cNvSpPr/>
            <p:nvPr/>
          </p:nvSpPr>
          <p:spPr>
            <a:xfrm>
              <a:off x="3187898" y="1367612"/>
              <a:ext cx="1396603" cy="374400"/>
            </a:xfrm>
            <a:prstGeom prst="rect">
              <a:avLst/>
            </a:prstGeom>
            <a:gradFill>
              <a:gsLst>
                <a:gs pos="0">
                  <a:srgbClr val="0036A6"/>
                </a:gs>
                <a:gs pos="68000">
                  <a:srgbClr val="618AD5"/>
                </a:gs>
                <a:gs pos="100000">
                  <a:srgbClr val="AFC3EE"/>
                </a:gs>
              </a:gsLst>
              <a:path path="circle">
                <a:fillToRect b="50%" l="50%" r="50%" t="50%"/>
              </a:path>
              <a:tileRect/>
            </a:gradFill>
            <a:ln cap="flat" cmpd="sng" w="9525">
              <a:solidFill>
                <a:srgbClr val="0D6DC5"/>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5"/>
            <p:cNvSpPr txBox="1"/>
            <p:nvPr/>
          </p:nvSpPr>
          <p:spPr>
            <a:xfrm>
              <a:off x="3187898" y="1367612"/>
              <a:ext cx="1396603"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None/>
              </a:pPr>
              <a:r>
                <a:rPr b="1" lang="en-US" sz="1300">
                  <a:solidFill>
                    <a:schemeClr val="lt1"/>
                  </a:solidFill>
                  <a:latin typeface="Times New Roman"/>
                  <a:ea typeface="Times New Roman"/>
                  <a:cs typeface="Times New Roman"/>
                  <a:sym typeface="Times New Roman"/>
                </a:rPr>
                <a:t>Pentium II</a:t>
              </a:r>
              <a:endParaRPr/>
            </a:p>
          </p:txBody>
        </p:sp>
        <p:sp>
          <p:nvSpPr>
            <p:cNvPr id="682" name="Google Shape;682;p45"/>
            <p:cNvSpPr/>
            <p:nvPr/>
          </p:nvSpPr>
          <p:spPr>
            <a:xfrm>
              <a:off x="3187898" y="1742012"/>
              <a:ext cx="1396603" cy="2529174"/>
            </a:xfrm>
            <a:prstGeom prst="rect">
              <a:avLst/>
            </a:prstGeom>
            <a:solidFill>
              <a:srgbClr val="CAD4E8">
                <a:alpha val="89803"/>
              </a:srgbClr>
            </a:solidFill>
            <a:ln cap="flat" cmpd="sng" w="9525">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5"/>
            <p:cNvSpPr txBox="1"/>
            <p:nvPr/>
          </p:nvSpPr>
          <p:spPr>
            <a:xfrm>
              <a:off x="3187898" y="1742012"/>
              <a:ext cx="1396603" cy="2529174"/>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MMX technology</a:t>
              </a:r>
              <a:endParaRPr b="0" i="0" sz="1300" u="none" cap="none" strike="noStrike">
                <a:solidFill>
                  <a:schemeClr val="lt1"/>
                </a:solidFill>
                <a:latin typeface="Times New Roman"/>
                <a:ea typeface="Times New Roman"/>
                <a:cs typeface="Times New Roman"/>
                <a:sym typeface="Times New Roman"/>
              </a:endParaRPr>
            </a:p>
            <a:p>
              <a:pPr indent="-114300" lvl="1" marL="114300" marR="0" rtl="0" algn="l">
                <a:lnSpc>
                  <a:spcPct val="90000"/>
                </a:lnSpc>
                <a:spcBef>
                  <a:spcPts val="195"/>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Designed specifically to process video, audio, and graphics data</a:t>
              </a:r>
              <a:endParaRPr b="0" i="0" sz="1300" u="none" cap="none" strike="noStrike">
                <a:solidFill>
                  <a:schemeClr val="lt1"/>
                </a:solidFill>
                <a:latin typeface="Times New Roman"/>
                <a:ea typeface="Times New Roman"/>
                <a:cs typeface="Times New Roman"/>
                <a:sym typeface="Times New Roman"/>
              </a:endParaRPr>
            </a:p>
          </p:txBody>
        </p:sp>
        <p:sp>
          <p:nvSpPr>
            <p:cNvPr id="684" name="Google Shape;684;p45"/>
            <p:cNvSpPr/>
            <p:nvPr/>
          </p:nvSpPr>
          <p:spPr>
            <a:xfrm>
              <a:off x="4780026" y="1367612"/>
              <a:ext cx="1396603" cy="374400"/>
            </a:xfrm>
            <a:prstGeom prst="rect">
              <a:avLst/>
            </a:prstGeom>
            <a:gradFill>
              <a:gsLst>
                <a:gs pos="0">
                  <a:srgbClr val="0036A6"/>
                </a:gs>
                <a:gs pos="68000">
                  <a:srgbClr val="618AD5"/>
                </a:gs>
                <a:gs pos="100000">
                  <a:srgbClr val="AFC3EE"/>
                </a:gs>
              </a:gsLst>
              <a:path path="circle">
                <a:fillToRect b="50%" l="50%" r="50%" t="50%"/>
              </a:path>
              <a:tileRect/>
            </a:gradFill>
            <a:ln cap="flat" cmpd="sng" w="9525">
              <a:solidFill>
                <a:srgbClr val="0D6DC5"/>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45"/>
            <p:cNvSpPr txBox="1"/>
            <p:nvPr/>
          </p:nvSpPr>
          <p:spPr>
            <a:xfrm>
              <a:off x="4780026" y="1367612"/>
              <a:ext cx="1396603"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None/>
              </a:pPr>
              <a:r>
                <a:rPr b="1" lang="en-US" sz="1300">
                  <a:solidFill>
                    <a:schemeClr val="lt1"/>
                  </a:solidFill>
                  <a:latin typeface="Times New Roman"/>
                  <a:ea typeface="Times New Roman"/>
                  <a:cs typeface="Times New Roman"/>
                  <a:sym typeface="Times New Roman"/>
                </a:rPr>
                <a:t>Pentium III</a:t>
              </a:r>
              <a:endParaRPr/>
            </a:p>
          </p:txBody>
        </p:sp>
        <p:sp>
          <p:nvSpPr>
            <p:cNvPr id="686" name="Google Shape;686;p45"/>
            <p:cNvSpPr/>
            <p:nvPr/>
          </p:nvSpPr>
          <p:spPr>
            <a:xfrm>
              <a:off x="4780026" y="1742012"/>
              <a:ext cx="1396603" cy="2529174"/>
            </a:xfrm>
            <a:prstGeom prst="rect">
              <a:avLst/>
            </a:prstGeom>
            <a:solidFill>
              <a:srgbClr val="CAD4E8">
                <a:alpha val="89803"/>
              </a:srgbClr>
            </a:solidFill>
            <a:ln cap="flat" cmpd="sng" w="9525">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5"/>
            <p:cNvSpPr txBox="1"/>
            <p:nvPr/>
          </p:nvSpPr>
          <p:spPr>
            <a:xfrm>
              <a:off x="4780026" y="1742012"/>
              <a:ext cx="1396603" cy="2529174"/>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Additional floating-point instructions to support 3D graphics software</a:t>
              </a:r>
              <a:endParaRPr b="0" i="0" sz="1300" u="none" cap="none" strike="noStrike">
                <a:solidFill>
                  <a:schemeClr val="lt1"/>
                </a:solidFill>
                <a:latin typeface="Times New Roman"/>
                <a:ea typeface="Times New Roman"/>
                <a:cs typeface="Times New Roman"/>
                <a:sym typeface="Times New Roman"/>
              </a:endParaRPr>
            </a:p>
          </p:txBody>
        </p:sp>
        <p:sp>
          <p:nvSpPr>
            <p:cNvPr id="688" name="Google Shape;688;p45"/>
            <p:cNvSpPr/>
            <p:nvPr/>
          </p:nvSpPr>
          <p:spPr>
            <a:xfrm>
              <a:off x="6372153" y="1367612"/>
              <a:ext cx="1396603" cy="374400"/>
            </a:xfrm>
            <a:prstGeom prst="rect">
              <a:avLst/>
            </a:prstGeom>
            <a:gradFill>
              <a:gsLst>
                <a:gs pos="0">
                  <a:srgbClr val="0036A6"/>
                </a:gs>
                <a:gs pos="68000">
                  <a:srgbClr val="618AD5"/>
                </a:gs>
                <a:gs pos="100000">
                  <a:srgbClr val="AFC3EE"/>
                </a:gs>
              </a:gsLst>
              <a:path path="circle">
                <a:fillToRect b="50%" l="50%" r="50%" t="50%"/>
              </a:path>
              <a:tileRect/>
            </a:gradFill>
            <a:ln cap="flat" cmpd="sng" w="9525">
              <a:solidFill>
                <a:srgbClr val="0D6DC5"/>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5"/>
            <p:cNvSpPr txBox="1"/>
            <p:nvPr/>
          </p:nvSpPr>
          <p:spPr>
            <a:xfrm>
              <a:off x="6372153" y="1367612"/>
              <a:ext cx="1396603" cy="374400"/>
            </a:xfrm>
            <a:prstGeom prst="rect">
              <a:avLst/>
            </a:prstGeom>
            <a:noFill/>
            <a:ln>
              <a:noFill/>
            </a:ln>
          </p:spPr>
          <p:txBody>
            <a:bodyPr anchorCtr="0" anchor="ctr" bIns="52825" lIns="92450" spcFirstLastPara="1" rIns="92450" wrap="square" tIns="52825">
              <a:noAutofit/>
            </a:bodyPr>
            <a:lstStyle/>
            <a:p>
              <a:pPr indent="0" lvl="0" marL="0" marR="0" rtl="0" algn="ctr">
                <a:lnSpc>
                  <a:spcPct val="90000"/>
                </a:lnSpc>
                <a:spcBef>
                  <a:spcPts val="0"/>
                </a:spcBef>
                <a:spcAft>
                  <a:spcPts val="0"/>
                </a:spcAft>
                <a:buNone/>
              </a:pPr>
              <a:r>
                <a:rPr b="1" lang="en-US" sz="1300">
                  <a:solidFill>
                    <a:schemeClr val="lt1"/>
                  </a:solidFill>
                  <a:latin typeface="Times New Roman"/>
                  <a:ea typeface="Times New Roman"/>
                  <a:cs typeface="Times New Roman"/>
                  <a:sym typeface="Times New Roman"/>
                </a:rPr>
                <a:t>Pentium 4</a:t>
              </a:r>
              <a:endParaRPr/>
            </a:p>
          </p:txBody>
        </p:sp>
        <p:sp>
          <p:nvSpPr>
            <p:cNvPr id="690" name="Google Shape;690;p45"/>
            <p:cNvSpPr/>
            <p:nvPr/>
          </p:nvSpPr>
          <p:spPr>
            <a:xfrm>
              <a:off x="6375796" y="1771098"/>
              <a:ext cx="1396603" cy="2529174"/>
            </a:xfrm>
            <a:prstGeom prst="rect">
              <a:avLst/>
            </a:prstGeom>
            <a:solidFill>
              <a:srgbClr val="CAD4E8">
                <a:alpha val="89803"/>
              </a:srgbClr>
            </a:solidFill>
            <a:ln cap="flat" cmpd="sng" w="9525">
              <a:solidFill>
                <a:srgbClr val="CAD4E8">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5"/>
            <p:cNvSpPr txBox="1"/>
            <p:nvPr/>
          </p:nvSpPr>
          <p:spPr>
            <a:xfrm>
              <a:off x="6375796" y="1771098"/>
              <a:ext cx="1396603" cy="2529174"/>
            </a:xfrm>
            <a:prstGeom prst="rect">
              <a:avLst/>
            </a:prstGeom>
            <a:noFill/>
            <a:ln>
              <a:noFill/>
            </a:ln>
          </p:spPr>
          <p:txBody>
            <a:bodyPr anchorCtr="0" anchor="t" bIns="104000" lIns="69325" spcFirstLastPara="1" rIns="92450" wrap="square" tIns="69325">
              <a:noAutofit/>
            </a:bodyPr>
            <a:lstStyle/>
            <a:p>
              <a:pPr indent="-114300" lvl="1" marL="114300" marR="0" rtl="0" algn="l">
                <a:lnSpc>
                  <a:spcPct val="90000"/>
                </a:lnSpc>
                <a:spcBef>
                  <a:spcPts val="0"/>
                </a:spcBef>
                <a:spcAft>
                  <a:spcPts val="0"/>
                </a:spcAft>
                <a:buClr>
                  <a:schemeClr val="lt1"/>
                </a:buClr>
                <a:buSzPts val="1300"/>
                <a:buFont typeface="Times New Roman"/>
                <a:buChar char="•"/>
              </a:pPr>
              <a:r>
                <a:rPr b="0" i="0" lang="en-US" sz="1300" u="none" cap="none" strike="noStrike">
                  <a:solidFill>
                    <a:schemeClr val="lt1"/>
                  </a:solidFill>
                  <a:latin typeface="Times New Roman"/>
                  <a:ea typeface="Times New Roman"/>
                  <a:cs typeface="Times New Roman"/>
                  <a:sym typeface="Times New Roman"/>
                </a:rPr>
                <a:t>Includes additional floating-point and other enhancements for multimedia</a:t>
              </a:r>
              <a:endParaRPr b="0" i="0" sz="1300" u="none" cap="none" strike="noStrike">
                <a:solidFill>
                  <a:schemeClr val="lt1"/>
                </a:solidFill>
                <a:latin typeface="Times New Roman"/>
                <a:ea typeface="Times New Roman"/>
                <a:cs typeface="Times New Roman"/>
                <a:sym typeface="Times New Roman"/>
              </a:endParaRPr>
            </a:p>
            <a:p>
              <a:pPr indent="-31750" lvl="1" marL="114300" marR="0" rtl="0" algn="l">
                <a:lnSpc>
                  <a:spcPct val="90000"/>
                </a:lnSpc>
                <a:spcBef>
                  <a:spcPts val="195"/>
                </a:spcBef>
                <a:spcAft>
                  <a:spcPts val="0"/>
                </a:spcAft>
                <a:buClr>
                  <a:schemeClr val="lt1"/>
                </a:buClr>
                <a:buSzPts val="1300"/>
                <a:buFont typeface="Times New Roman"/>
                <a:buNone/>
              </a:pPr>
              <a:r>
                <a:t/>
              </a:r>
              <a:endParaRPr b="0" i="0" sz="1300" u="none" cap="none" strike="noStrike">
                <a:solidFill>
                  <a:schemeClr val="lt1"/>
                </a:solidFill>
                <a:latin typeface="Times New Roman"/>
                <a:ea typeface="Times New Roman"/>
                <a:cs typeface="Times New Roman"/>
                <a:sym typeface="Times New Roman"/>
              </a:endParaRPr>
            </a:p>
          </p:txBody>
        </p:sp>
      </p:grpSp>
      <p:pic>
        <p:nvPicPr>
          <p:cNvPr id="692" name="Google Shape;692;p45"/>
          <p:cNvPicPr preferRelativeResize="0"/>
          <p:nvPr/>
        </p:nvPicPr>
        <p:blipFill rotWithShape="1">
          <a:blip r:embed="rId3">
            <a:alphaModFix/>
          </a:blip>
          <a:srcRect b="0" l="0" r="0" t="0"/>
          <a:stretch/>
        </p:blipFill>
        <p:spPr>
          <a:xfrm rot="577775">
            <a:off x="6318112" y="450712"/>
            <a:ext cx="1905000" cy="1905000"/>
          </a:xfrm>
          <a:prstGeom prst="rect">
            <a:avLst/>
          </a:prstGeom>
          <a:noFill/>
          <a:ln>
            <a:noFill/>
          </a:ln>
          <a:effectLst>
            <a:outerShdw blurRad="50800" rotWithShape="0" algn="tl" dir="2700000" dist="38100">
              <a:srgbClr val="000000">
                <a:alpha val="42745"/>
              </a:srgbClr>
            </a:outerShdw>
          </a:effectLst>
        </p:spPr>
      </p:pic>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p46"/>
          <p:cNvSpPr txBox="1"/>
          <p:nvPr>
            <p:ph idx="4294967295" type="title"/>
          </p:nvPr>
        </p:nvSpPr>
        <p:spPr>
          <a:xfrm>
            <a:off x="0" y="685800"/>
            <a:ext cx="7861300" cy="1116013"/>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x86 Evolution </a:t>
            </a:r>
            <a:r>
              <a:rPr lang="en-US" sz="2800"/>
              <a:t>(continued)</a:t>
            </a:r>
            <a:endParaRPr sz="2800"/>
          </a:p>
        </p:txBody>
      </p:sp>
      <p:sp>
        <p:nvSpPr>
          <p:cNvPr id="699" name="Google Shape;699;p46"/>
          <p:cNvSpPr txBox="1"/>
          <p:nvPr>
            <p:ph idx="4294967295" type="body"/>
          </p:nvPr>
        </p:nvSpPr>
        <p:spPr>
          <a:xfrm>
            <a:off x="4716016" y="1981200"/>
            <a:ext cx="4427984" cy="4191000"/>
          </a:xfrm>
          <a:prstGeom prst="rect">
            <a:avLst/>
          </a:prstGeom>
          <a:noFill/>
          <a:ln>
            <a:noFill/>
          </a:ln>
        </p:spPr>
        <p:txBody>
          <a:bodyPr anchorCtr="0" anchor="t" bIns="45700" lIns="91425" spcFirstLastPara="1" rIns="91425" wrap="square" tIns="45700">
            <a:normAutofit fontScale="92500" lnSpcReduction="20000"/>
          </a:bodyPr>
          <a:lstStyle/>
          <a:p>
            <a:pPr indent="-228600" lvl="1" marL="228600" rtl="0" algn="l">
              <a:spcBef>
                <a:spcPts val="0"/>
              </a:spcBef>
              <a:spcAft>
                <a:spcPts val="0"/>
              </a:spcAft>
              <a:buClr>
                <a:schemeClr val="accent1"/>
              </a:buClr>
              <a:buSzPct val="85000"/>
              <a:buChar char="⚫"/>
            </a:pPr>
            <a:r>
              <a:rPr lang="en-US" sz="2200">
                <a:latin typeface="Calibri"/>
                <a:ea typeface="Calibri"/>
                <a:cs typeface="Calibri"/>
                <a:sym typeface="Calibri"/>
              </a:rPr>
              <a:t>Core</a:t>
            </a:r>
            <a:endParaRPr/>
          </a:p>
          <a:p>
            <a:pPr indent="-246888" lvl="2" marL="457200" rtl="0" algn="l">
              <a:lnSpc>
                <a:spcPct val="120000"/>
              </a:lnSpc>
              <a:spcBef>
                <a:spcPts val="1200"/>
              </a:spcBef>
              <a:spcAft>
                <a:spcPts val="0"/>
              </a:spcAft>
              <a:buClr>
                <a:srgbClr val="41D3FB"/>
              </a:buClr>
              <a:buSzPct val="70000"/>
              <a:buChar char="⚫"/>
            </a:pPr>
            <a:r>
              <a:rPr lang="en-US" sz="1800"/>
              <a:t>First Intel x86 microprocessor with a dual core, referring to the implementation of two processors on a single chip</a:t>
            </a:r>
            <a:endParaRPr/>
          </a:p>
          <a:p>
            <a:pPr indent="-228600" lvl="1" marL="228600" rtl="0" algn="l">
              <a:spcBef>
                <a:spcPts val="2000"/>
              </a:spcBef>
              <a:spcAft>
                <a:spcPts val="0"/>
              </a:spcAft>
              <a:buSzPct val="85000"/>
              <a:buChar char="⚫"/>
            </a:pPr>
            <a:r>
              <a:rPr lang="en-US" sz="2200">
                <a:latin typeface="Calibri"/>
                <a:ea typeface="Calibri"/>
                <a:cs typeface="Calibri"/>
                <a:sym typeface="Calibri"/>
              </a:rPr>
              <a:t>Core 2</a:t>
            </a:r>
            <a:endParaRPr/>
          </a:p>
          <a:p>
            <a:pPr indent="-246888" lvl="2" marL="457200" rtl="0" algn="l">
              <a:lnSpc>
                <a:spcPct val="120000"/>
              </a:lnSpc>
              <a:spcBef>
                <a:spcPts val="1200"/>
              </a:spcBef>
              <a:spcAft>
                <a:spcPts val="0"/>
              </a:spcAft>
              <a:buClr>
                <a:srgbClr val="41D3FB"/>
              </a:buClr>
              <a:buSzPct val="70000"/>
              <a:buChar char="⚫"/>
            </a:pPr>
            <a:r>
              <a:rPr lang="en-US" sz="1800"/>
              <a:t>The Core 2 extends the architecture to 64 bits. The Core 2 Quad provides</a:t>
            </a:r>
            <a:endParaRPr/>
          </a:p>
          <a:p>
            <a:pPr indent="-246888" lvl="2" marL="457200" rtl="0" algn="l">
              <a:lnSpc>
                <a:spcPct val="120000"/>
              </a:lnSpc>
              <a:spcBef>
                <a:spcPts val="1200"/>
              </a:spcBef>
              <a:spcAft>
                <a:spcPts val="0"/>
              </a:spcAft>
              <a:buClr>
                <a:srgbClr val="41D3FB"/>
              </a:buClr>
              <a:buSzPct val="70000"/>
              <a:buChar char="⚫"/>
            </a:pPr>
            <a:r>
              <a:rPr lang="en-US" sz="1800"/>
              <a:t>four processors on a single chip. </a:t>
            </a:r>
            <a:endParaRPr/>
          </a:p>
          <a:p>
            <a:pPr indent="-246888" lvl="2" marL="457200" rtl="0" algn="l">
              <a:lnSpc>
                <a:spcPct val="120000"/>
              </a:lnSpc>
              <a:spcBef>
                <a:spcPts val="1200"/>
              </a:spcBef>
              <a:spcAft>
                <a:spcPts val="0"/>
              </a:spcAft>
              <a:buClr>
                <a:srgbClr val="41D3FB"/>
              </a:buClr>
              <a:buSzPct val="70000"/>
              <a:buChar char="⚫"/>
            </a:pPr>
            <a:r>
              <a:rPr lang="en-US" sz="1800"/>
              <a:t>More recent Core offerings have up to</a:t>
            </a:r>
            <a:endParaRPr/>
          </a:p>
          <a:p>
            <a:pPr indent="-246888" lvl="2" marL="457200" rtl="0" algn="l">
              <a:lnSpc>
                <a:spcPct val="120000"/>
              </a:lnSpc>
              <a:spcBef>
                <a:spcPts val="1200"/>
              </a:spcBef>
              <a:spcAft>
                <a:spcPts val="0"/>
              </a:spcAft>
              <a:buClr>
                <a:srgbClr val="41D3FB"/>
              </a:buClr>
              <a:buSzPct val="70000"/>
              <a:buChar char="⚫"/>
            </a:pPr>
            <a:r>
              <a:rPr lang="en-US" sz="1800"/>
              <a:t>10 processors per chip.</a:t>
            </a:r>
            <a:endParaRPr/>
          </a:p>
          <a:p>
            <a:pPr indent="-246887" lvl="2" marL="914400" rtl="0" algn="l">
              <a:spcBef>
                <a:spcPts val="388"/>
              </a:spcBef>
              <a:spcAft>
                <a:spcPts val="0"/>
              </a:spcAft>
              <a:buSzPct val="70000"/>
              <a:buNone/>
            </a:pPr>
            <a:r>
              <a:t/>
            </a:r>
            <a:endParaRPr/>
          </a:p>
        </p:txBody>
      </p:sp>
      <p:grpSp>
        <p:nvGrpSpPr>
          <p:cNvPr id="700" name="Google Shape;700;p46"/>
          <p:cNvGrpSpPr/>
          <p:nvPr/>
        </p:nvGrpSpPr>
        <p:grpSpPr>
          <a:xfrm>
            <a:off x="457198" y="2667000"/>
            <a:ext cx="3876678" cy="3886200"/>
            <a:chOff x="457198" y="0"/>
            <a:chExt cx="3876678" cy="3886200"/>
          </a:xfrm>
        </p:grpSpPr>
        <p:sp>
          <p:nvSpPr>
            <p:cNvPr id="701" name="Google Shape;701;p46"/>
            <p:cNvSpPr/>
            <p:nvPr/>
          </p:nvSpPr>
          <p:spPr>
            <a:xfrm>
              <a:off x="457198" y="0"/>
              <a:ext cx="3876678" cy="3886200"/>
            </a:xfrm>
            <a:prstGeom prst="ellipse">
              <a:avLst/>
            </a:prstGeom>
            <a:gradFill>
              <a:gsLst>
                <a:gs pos="0">
                  <a:srgbClr val="0036A6"/>
                </a:gs>
                <a:gs pos="68000">
                  <a:srgbClr val="618AD5"/>
                </a:gs>
                <a:gs pos="100000">
                  <a:srgbClr val="AFC3EE"/>
                </a:gs>
              </a:gsLst>
              <a:path path="circle">
                <a:fillToRect b="50%" l="50%" r="50%" t="50%"/>
              </a:path>
              <a:tileRect/>
            </a:gradFill>
            <a:ln cap="flat" cmpd="sng" w="9525">
              <a:solidFill>
                <a:schemeClr val="accent3"/>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6"/>
            <p:cNvSpPr txBox="1"/>
            <p:nvPr/>
          </p:nvSpPr>
          <p:spPr>
            <a:xfrm>
              <a:off x="1377909" y="291465"/>
              <a:ext cx="2035256" cy="660654"/>
            </a:xfrm>
            <a:prstGeom prst="rect">
              <a:avLst/>
            </a:prstGeom>
            <a:noFill/>
            <a:ln>
              <a:noFill/>
            </a:ln>
          </p:spPr>
          <p:txBody>
            <a:bodyPr anchorCtr="0" anchor="ctr" bIns="99550" lIns="99550" spcFirstLastPara="1" rIns="99550" wrap="square" tIns="99550">
              <a:noAutofit/>
            </a:bodyPr>
            <a:lstStyle/>
            <a:p>
              <a:pPr indent="0" lvl="0" marL="0" marR="0" rtl="0" algn="ctr">
                <a:lnSpc>
                  <a:spcPct val="90000"/>
                </a:lnSpc>
                <a:spcBef>
                  <a:spcPts val="0"/>
                </a:spcBef>
                <a:spcAft>
                  <a:spcPts val="0"/>
                </a:spcAft>
                <a:buNone/>
              </a:pPr>
              <a:r>
                <a:t/>
              </a:r>
              <a:endParaRPr sz="1400">
                <a:solidFill>
                  <a:schemeClr val="lt1"/>
                </a:solidFill>
                <a:latin typeface="Times New Roman"/>
                <a:ea typeface="Times New Roman"/>
                <a:cs typeface="Times New Roman"/>
                <a:sym typeface="Times New Roman"/>
              </a:endParaRPr>
            </a:p>
            <a:p>
              <a:pPr indent="0" lvl="0" marL="0" marR="0" rtl="0" algn="ctr">
                <a:lnSpc>
                  <a:spcPct val="90000"/>
                </a:lnSpc>
                <a:spcBef>
                  <a:spcPts val="490"/>
                </a:spcBef>
                <a:spcAft>
                  <a:spcPts val="0"/>
                </a:spcAft>
                <a:buNone/>
              </a:pPr>
              <a:r>
                <a:rPr lang="en-US" sz="1600">
                  <a:solidFill>
                    <a:schemeClr val="lt1"/>
                  </a:solidFill>
                  <a:latin typeface="Times New Roman"/>
                  <a:ea typeface="Times New Roman"/>
                  <a:cs typeface="Times New Roman"/>
                  <a:sym typeface="Times New Roman"/>
                </a:rPr>
                <a:t>Instruction set architecture is backward compatible with earlier versions</a:t>
              </a:r>
              <a:endParaRPr sz="1600">
                <a:solidFill>
                  <a:schemeClr val="lt1"/>
                </a:solidFill>
                <a:latin typeface="Times New Roman"/>
                <a:ea typeface="Times New Roman"/>
                <a:cs typeface="Times New Roman"/>
                <a:sym typeface="Times New Roman"/>
              </a:endParaRPr>
            </a:p>
          </p:txBody>
        </p:sp>
        <p:sp>
          <p:nvSpPr>
            <p:cNvPr id="703" name="Google Shape;703;p46"/>
            <p:cNvSpPr/>
            <p:nvPr/>
          </p:nvSpPr>
          <p:spPr>
            <a:xfrm>
              <a:off x="1152541" y="1371600"/>
              <a:ext cx="2505054" cy="2419363"/>
            </a:xfrm>
            <a:prstGeom prst="ellipse">
              <a:avLst/>
            </a:prstGeom>
            <a:gradFill>
              <a:gsLst>
                <a:gs pos="0">
                  <a:srgbClr val="0036A6"/>
                </a:gs>
                <a:gs pos="68000">
                  <a:srgbClr val="618AD5"/>
                </a:gs>
                <a:gs pos="100000">
                  <a:srgbClr val="AFC3EE"/>
                </a:gs>
              </a:gsLst>
              <a:path path="circle">
                <a:fillToRect b="50%" l="50%" r="50%" t="50%"/>
              </a:path>
              <a:tileRect/>
            </a:gradFill>
            <a:ln>
              <a:noFill/>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6"/>
            <p:cNvSpPr txBox="1"/>
            <p:nvPr/>
          </p:nvSpPr>
          <p:spPr>
            <a:xfrm>
              <a:off x="1519397" y="1976441"/>
              <a:ext cx="1771340" cy="1209681"/>
            </a:xfrm>
            <a:prstGeom prst="rect">
              <a:avLst/>
            </a:prstGeom>
            <a:noFill/>
            <a:ln>
              <a:noFill/>
            </a:ln>
          </p:spPr>
          <p:txBody>
            <a:bodyPr anchorCtr="0" anchor="ctr" bIns="113775" lIns="113775" spcFirstLastPara="1" rIns="113775" wrap="square" tIns="113775">
              <a:noAutofit/>
            </a:bodyPr>
            <a:lstStyle/>
            <a:p>
              <a:pPr indent="0" lvl="0" marL="0" marR="0" rtl="0" algn="ctr">
                <a:lnSpc>
                  <a:spcPct val="90000"/>
                </a:lnSpc>
                <a:spcBef>
                  <a:spcPts val="0"/>
                </a:spcBef>
                <a:spcAft>
                  <a:spcPts val="0"/>
                </a:spcAft>
                <a:buNone/>
              </a:pPr>
              <a:r>
                <a:t/>
              </a:r>
              <a:endParaRPr b="1" sz="1600">
                <a:solidFill>
                  <a:schemeClr val="lt1"/>
                </a:solidFill>
                <a:latin typeface="Times New Roman"/>
                <a:ea typeface="Times New Roman"/>
                <a:cs typeface="Times New Roman"/>
                <a:sym typeface="Times New Roman"/>
              </a:endParaRPr>
            </a:p>
            <a:p>
              <a:pPr indent="0" lvl="0" marL="0" marR="0" rtl="0" algn="ctr">
                <a:lnSpc>
                  <a:spcPct val="90000"/>
                </a:lnSpc>
                <a:spcBef>
                  <a:spcPts val="560"/>
                </a:spcBef>
                <a:spcAft>
                  <a:spcPts val="0"/>
                </a:spcAft>
                <a:buNone/>
              </a:pPr>
              <a:r>
                <a:rPr b="1" lang="en-US" sz="1600">
                  <a:solidFill>
                    <a:schemeClr val="lt1"/>
                  </a:solidFill>
                  <a:latin typeface="Times New Roman"/>
                  <a:ea typeface="Times New Roman"/>
                  <a:cs typeface="Times New Roman"/>
                  <a:sym typeface="Times New Roman"/>
                </a:rPr>
                <a:t>X86 architecture continues to dominate the processor market outside of embedded systems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0" st="0"/>
                                            </p:txEl>
                                          </p:spTgt>
                                        </p:tgtEl>
                                        <p:attrNameLst>
                                          <p:attrName>style.visibility</p:attrName>
                                        </p:attrNameLst>
                                      </p:cBhvr>
                                      <p:to>
                                        <p:strVal val="visible"/>
                                      </p:to>
                                    </p:set>
                                    <p:anim calcmode="lin" valueType="num">
                                      <p:cBhvr additive="base">
                                        <p:cTn dur="500"/>
                                        <p:tgtEl>
                                          <p:spTgt spid="69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1" st="1"/>
                                            </p:txEl>
                                          </p:spTgt>
                                        </p:tgtEl>
                                        <p:attrNameLst>
                                          <p:attrName>style.visibility</p:attrName>
                                        </p:attrNameLst>
                                      </p:cBhvr>
                                      <p:to>
                                        <p:strVal val="visible"/>
                                      </p:to>
                                    </p:set>
                                    <p:anim calcmode="lin" valueType="num">
                                      <p:cBhvr additive="base">
                                        <p:cTn dur="500"/>
                                        <p:tgtEl>
                                          <p:spTgt spid="69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2" st="2"/>
                                            </p:txEl>
                                          </p:spTgt>
                                        </p:tgtEl>
                                        <p:attrNameLst>
                                          <p:attrName>style.visibility</p:attrName>
                                        </p:attrNameLst>
                                      </p:cBhvr>
                                      <p:to>
                                        <p:strVal val="visible"/>
                                      </p:to>
                                    </p:set>
                                    <p:anim calcmode="lin" valueType="num">
                                      <p:cBhvr additive="base">
                                        <p:cTn dur="500"/>
                                        <p:tgtEl>
                                          <p:spTgt spid="69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3" st="3"/>
                                            </p:txEl>
                                          </p:spTgt>
                                        </p:tgtEl>
                                        <p:attrNameLst>
                                          <p:attrName>style.visibility</p:attrName>
                                        </p:attrNameLst>
                                      </p:cBhvr>
                                      <p:to>
                                        <p:strVal val="visible"/>
                                      </p:to>
                                    </p:set>
                                    <p:anim calcmode="lin" valueType="num">
                                      <p:cBhvr additive="base">
                                        <p:cTn dur="500"/>
                                        <p:tgtEl>
                                          <p:spTgt spid="69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4" st="4"/>
                                            </p:txEl>
                                          </p:spTgt>
                                        </p:tgtEl>
                                        <p:attrNameLst>
                                          <p:attrName>style.visibility</p:attrName>
                                        </p:attrNameLst>
                                      </p:cBhvr>
                                      <p:to>
                                        <p:strVal val="visible"/>
                                      </p:to>
                                    </p:set>
                                    <p:anim calcmode="lin" valueType="num">
                                      <p:cBhvr additive="base">
                                        <p:cTn dur="500"/>
                                        <p:tgtEl>
                                          <p:spTgt spid="69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5" st="5"/>
                                            </p:txEl>
                                          </p:spTgt>
                                        </p:tgtEl>
                                        <p:attrNameLst>
                                          <p:attrName>style.visibility</p:attrName>
                                        </p:attrNameLst>
                                      </p:cBhvr>
                                      <p:to>
                                        <p:strVal val="visible"/>
                                      </p:to>
                                    </p:set>
                                    <p:anim calcmode="lin" valueType="num">
                                      <p:cBhvr additive="base">
                                        <p:cTn dur="500"/>
                                        <p:tgtEl>
                                          <p:spTgt spid="69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6" st="6"/>
                                            </p:txEl>
                                          </p:spTgt>
                                        </p:tgtEl>
                                        <p:attrNameLst>
                                          <p:attrName>style.visibility</p:attrName>
                                        </p:attrNameLst>
                                      </p:cBhvr>
                                      <p:to>
                                        <p:strVal val="visible"/>
                                      </p:to>
                                    </p:set>
                                    <p:anim calcmode="lin" valueType="num">
                                      <p:cBhvr additive="base">
                                        <p:cTn dur="500"/>
                                        <p:tgtEl>
                                          <p:spTgt spid="69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9">
                                            <p:txEl>
                                              <p:pRg end="7" st="7"/>
                                            </p:txEl>
                                          </p:spTgt>
                                        </p:tgtEl>
                                        <p:attrNameLst>
                                          <p:attrName>style.visibility</p:attrName>
                                        </p:attrNameLst>
                                      </p:cBhvr>
                                      <p:to>
                                        <p:strVal val="visible"/>
                                      </p:to>
                                    </p:set>
                                    <p:anim calcmode="lin" valueType="num">
                                      <p:cBhvr additive="base">
                                        <p:cTn dur="500"/>
                                        <p:tgtEl>
                                          <p:spTgt spid="69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47"/>
          <p:cNvSpPr txBox="1"/>
          <p:nvPr>
            <p:ph idx="1" type="body"/>
          </p:nvPr>
        </p:nvSpPr>
        <p:spPr>
          <a:xfrm>
            <a:off x="683568" y="1772816"/>
            <a:ext cx="5867400" cy="5410200"/>
          </a:xfrm>
          <a:prstGeom prst="rect">
            <a:avLst/>
          </a:prstGeom>
          <a:noFill/>
          <a:ln>
            <a:noFill/>
          </a:ln>
        </p:spPr>
        <p:txBody>
          <a:bodyPr anchorCtr="0" anchor="t" bIns="45700" lIns="64000" spcFirstLastPara="1" rIns="45700" wrap="square" tIns="45700">
            <a:normAutofit/>
          </a:bodyPr>
          <a:lstStyle/>
          <a:p>
            <a:pPr indent="0" lvl="0" marL="0" rtl="0" algn="l">
              <a:spcBef>
                <a:spcPts val="0"/>
              </a:spcBef>
              <a:spcAft>
                <a:spcPts val="0"/>
              </a:spcAft>
              <a:buSzPts val="2565"/>
              <a:buFont typeface="Constantia"/>
              <a:buNone/>
            </a:pPr>
            <a:r>
              <a:rPr lang="en-US" sz="2700">
                <a:solidFill>
                  <a:schemeClr val="dk2"/>
                </a:solidFill>
              </a:rPr>
              <a:t>General definition:</a:t>
            </a:r>
            <a:endParaRPr/>
          </a:p>
          <a:p>
            <a:pPr indent="0" lvl="0" marL="0" rtl="0" algn="l">
              <a:spcBef>
                <a:spcPts val="250"/>
              </a:spcBef>
              <a:spcAft>
                <a:spcPts val="0"/>
              </a:spcAft>
              <a:buSzPts val="2565"/>
              <a:buFont typeface="Constantia"/>
              <a:buNone/>
            </a:pPr>
            <a:r>
              <a:t/>
            </a:r>
            <a:endParaRPr sz="2700"/>
          </a:p>
          <a:p>
            <a:pPr indent="0" lvl="0" marL="0" rtl="0" algn="l">
              <a:spcBef>
                <a:spcPts val="250"/>
              </a:spcBef>
              <a:spcAft>
                <a:spcPts val="0"/>
              </a:spcAft>
              <a:buSzPts val="2565"/>
              <a:buFont typeface="Constantia"/>
              <a:buNone/>
            </a:pPr>
            <a:r>
              <a:rPr lang="en-US" sz="2700"/>
              <a:t>“A combination of computer </a:t>
            </a:r>
            <a:endParaRPr/>
          </a:p>
          <a:p>
            <a:pPr indent="0" lvl="0" marL="0" rtl="0" algn="l">
              <a:spcBef>
                <a:spcPts val="250"/>
              </a:spcBef>
              <a:spcAft>
                <a:spcPts val="0"/>
              </a:spcAft>
              <a:buSzPts val="2565"/>
              <a:buFont typeface="Constantia"/>
              <a:buNone/>
            </a:pPr>
            <a:r>
              <a:rPr lang="en-US" sz="2700"/>
              <a:t>hardware and software, and perhaps additional mechanical or other parts, designed to perform a dedicated function. In many cases, embedded systems are part of a larger system or product, as in the case of an antilock braking system in a car.”</a:t>
            </a:r>
            <a:endParaRPr sz="2700"/>
          </a:p>
        </p:txBody>
      </p:sp>
      <p:sp>
        <p:nvSpPr>
          <p:cNvPr id="711" name="Google Shape;711;p47"/>
          <p:cNvSpPr/>
          <p:nvPr/>
        </p:nvSpPr>
        <p:spPr>
          <a:xfrm>
            <a:off x="6858000" y="3124200"/>
            <a:ext cx="19812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000">
                <a:solidFill>
                  <a:srgbClr val="FFFFFF"/>
                </a:solidFill>
                <a:latin typeface="Calibri"/>
                <a:ea typeface="Calibri"/>
                <a:cs typeface="Calibri"/>
                <a:sym typeface="Calibri"/>
              </a:rPr>
              <a:t>Systems</a:t>
            </a:r>
            <a:endParaRPr sz="3000">
              <a:solidFill>
                <a:srgbClr val="FFFFFF"/>
              </a:solidFill>
              <a:latin typeface="Calibri"/>
              <a:ea typeface="Calibri"/>
              <a:cs typeface="Calibri"/>
              <a:sym typeface="Calibri"/>
            </a:endParaRPr>
          </a:p>
        </p:txBody>
      </p:sp>
      <p:sp>
        <p:nvSpPr>
          <p:cNvPr id="712" name="Google Shape;712;p47"/>
          <p:cNvSpPr txBox="1"/>
          <p:nvPr/>
        </p:nvSpPr>
        <p:spPr>
          <a:xfrm>
            <a:off x="228600" y="4648200"/>
            <a:ext cx="332817" cy="461665"/>
          </a:xfrm>
          <a:prstGeom prst="rect">
            <a:avLst/>
          </a:prstGeom>
          <a:blipFill rotWithShape="1">
            <a:blip r:embed="rId3">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pic>
        <p:nvPicPr>
          <p:cNvPr id="713" name="Google Shape;713;p47"/>
          <p:cNvPicPr preferRelativeResize="0"/>
          <p:nvPr/>
        </p:nvPicPr>
        <p:blipFill rotWithShape="1">
          <a:blip r:embed="rId4">
            <a:alphaModFix/>
          </a:blip>
          <a:srcRect b="0" l="0" r="0" t="0"/>
          <a:stretch/>
        </p:blipFill>
        <p:spPr>
          <a:xfrm>
            <a:off x="6781800" y="4495800"/>
            <a:ext cx="2133600" cy="2133600"/>
          </a:xfrm>
          <a:prstGeom prst="rect">
            <a:avLst/>
          </a:prstGeom>
          <a:noFill/>
          <a:ln>
            <a:noFill/>
          </a:ln>
        </p:spPr>
      </p:pic>
      <p:sp>
        <p:nvSpPr>
          <p:cNvPr id="714" name="Google Shape;714;p47"/>
          <p:cNvSpPr txBox="1"/>
          <p:nvPr>
            <p:ph type="title"/>
          </p:nvPr>
        </p:nvSpPr>
        <p:spPr>
          <a:xfrm>
            <a:off x="395536" y="476672"/>
            <a:ext cx="7556313" cy="635042"/>
          </a:xfrm>
          <a:prstGeom prst="rect">
            <a:avLst/>
          </a:prstGeom>
          <a:noFill/>
          <a:ln>
            <a:noFill/>
          </a:ln>
        </p:spPr>
        <p:txBody>
          <a:bodyPr anchorCtr="0" anchor="b" bIns="45700" lIns="45700" spcFirstLastPara="1" rIns="45700" wrap="square" tIns="45700">
            <a:normAutofit/>
          </a:bodyPr>
          <a:lstStyle/>
          <a:p>
            <a:pPr indent="0" lvl="0" marL="0" rtl="0" algn="l">
              <a:spcBef>
                <a:spcPts val="0"/>
              </a:spcBef>
              <a:spcAft>
                <a:spcPts val="0"/>
              </a:spcAft>
              <a:buClr>
                <a:schemeClr val="dk2"/>
              </a:buClr>
              <a:buSzPts val="2800"/>
              <a:buFont typeface="Calibri"/>
              <a:buNone/>
            </a:pPr>
            <a:r>
              <a:rPr lang="en-US" sz="2800"/>
              <a:t>Embedded Systems </a:t>
            </a:r>
            <a:endParaRPr sz="2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0">
                                            <p:txEl>
                                              <p:pRg end="0" st="0"/>
                                            </p:txEl>
                                          </p:spTgt>
                                        </p:tgtEl>
                                        <p:attrNameLst>
                                          <p:attrName>style.visibility</p:attrName>
                                        </p:attrNameLst>
                                      </p:cBhvr>
                                      <p:to>
                                        <p:strVal val="visible"/>
                                      </p:to>
                                    </p:set>
                                    <p:anim calcmode="lin" valueType="num">
                                      <p:cBhvr additive="base">
                                        <p:cTn dur="500"/>
                                        <p:tgtEl>
                                          <p:spTgt spid="7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0">
                                            <p:txEl>
                                              <p:pRg end="1" st="1"/>
                                            </p:txEl>
                                          </p:spTgt>
                                        </p:tgtEl>
                                        <p:attrNameLst>
                                          <p:attrName>style.visibility</p:attrName>
                                        </p:attrNameLst>
                                      </p:cBhvr>
                                      <p:to>
                                        <p:strVal val="visible"/>
                                      </p:to>
                                    </p:set>
                                    <p:anim calcmode="lin" valueType="num">
                                      <p:cBhvr additive="base">
                                        <p:cTn dur="500"/>
                                        <p:tgtEl>
                                          <p:spTgt spid="7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0">
                                            <p:txEl>
                                              <p:pRg end="2" st="2"/>
                                            </p:txEl>
                                          </p:spTgt>
                                        </p:tgtEl>
                                        <p:attrNameLst>
                                          <p:attrName>style.visibility</p:attrName>
                                        </p:attrNameLst>
                                      </p:cBhvr>
                                      <p:to>
                                        <p:strVal val="visible"/>
                                      </p:to>
                                    </p:set>
                                    <p:anim calcmode="lin" valueType="num">
                                      <p:cBhvr additive="base">
                                        <p:cTn dur="500"/>
                                        <p:tgtEl>
                                          <p:spTgt spid="7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0">
                                            <p:txEl>
                                              <p:pRg end="3" st="3"/>
                                            </p:txEl>
                                          </p:spTgt>
                                        </p:tgtEl>
                                        <p:attrNameLst>
                                          <p:attrName>style.visibility</p:attrName>
                                        </p:attrNameLst>
                                      </p:cBhvr>
                                      <p:to>
                                        <p:strVal val="visible"/>
                                      </p:to>
                                    </p:set>
                                    <p:anim calcmode="lin" valueType="num">
                                      <p:cBhvr additive="base">
                                        <p:cTn dur="500"/>
                                        <p:tgtEl>
                                          <p:spTgt spid="7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48"/>
          <p:cNvSpPr txBox="1"/>
          <p:nvPr>
            <p:ph idx="4294967295" type="title"/>
          </p:nvPr>
        </p:nvSpPr>
        <p:spPr>
          <a:xfrm>
            <a:off x="0" y="304800"/>
            <a:ext cx="9144000" cy="10668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3000"/>
              <a:buFont typeface="Rockwell"/>
              <a:buNone/>
            </a:pPr>
            <a:r>
              <a:rPr lang="en-US" sz="3000">
                <a:latin typeface="Rockwell"/>
                <a:ea typeface="Rockwell"/>
                <a:cs typeface="Rockwell"/>
                <a:sym typeface="Rockwell"/>
              </a:rPr>
              <a:t>Table 2.7</a:t>
            </a:r>
            <a:br>
              <a:rPr lang="en-US" sz="3000">
                <a:latin typeface="Rockwell"/>
                <a:ea typeface="Rockwell"/>
                <a:cs typeface="Rockwell"/>
                <a:sym typeface="Rockwell"/>
              </a:rPr>
            </a:br>
            <a:r>
              <a:rPr lang="en-US" sz="3000">
                <a:latin typeface="Rockwell"/>
                <a:ea typeface="Rockwell"/>
                <a:cs typeface="Rockwell"/>
                <a:sym typeface="Rockwell"/>
              </a:rPr>
              <a:t>Examples of Embedded Systems and Their Markets</a:t>
            </a:r>
            <a:endParaRPr sz="3000">
              <a:latin typeface="Rockwell"/>
              <a:ea typeface="Rockwell"/>
              <a:cs typeface="Rockwell"/>
              <a:sym typeface="Rockwell"/>
            </a:endParaRPr>
          </a:p>
        </p:txBody>
      </p:sp>
      <p:pic>
        <p:nvPicPr>
          <p:cNvPr id="721" name="Google Shape;721;p48"/>
          <p:cNvPicPr preferRelativeResize="0"/>
          <p:nvPr/>
        </p:nvPicPr>
        <p:blipFill rotWithShape="1">
          <a:blip r:embed="rId3">
            <a:alphaModFix/>
          </a:blip>
          <a:srcRect b="0" l="0" r="0" t="0"/>
          <a:stretch/>
        </p:blipFill>
        <p:spPr>
          <a:xfrm>
            <a:off x="685800" y="1600200"/>
            <a:ext cx="7236418" cy="5499073"/>
          </a:xfrm>
          <a:prstGeom prst="rect">
            <a:avLst/>
          </a:prstGeom>
          <a:noFill/>
          <a:ln>
            <a:noFill/>
          </a:ln>
        </p:spPr>
      </p:pic>
      <p:pic>
        <p:nvPicPr>
          <p:cNvPr id="722" name="Google Shape;722;p48"/>
          <p:cNvPicPr preferRelativeResize="0"/>
          <p:nvPr/>
        </p:nvPicPr>
        <p:blipFill rotWithShape="1">
          <a:blip r:embed="rId4">
            <a:alphaModFix/>
          </a:blip>
          <a:srcRect b="0" l="0" r="0" t="0"/>
          <a:stretch/>
        </p:blipFill>
        <p:spPr>
          <a:xfrm>
            <a:off x="762001" y="1999435"/>
            <a:ext cx="8686799" cy="519723"/>
          </a:xfrm>
          <a:prstGeom prst="rect">
            <a:avLst/>
          </a:prstGeom>
          <a:noFill/>
          <a:ln>
            <a:noFill/>
          </a:ln>
        </p:spPr>
      </p:pic>
      <p:sp>
        <p:nvSpPr>
          <p:cNvPr id="723" name="Google Shape;723;p48"/>
          <p:cNvSpPr txBox="1"/>
          <p:nvPr/>
        </p:nvSpPr>
        <p:spPr>
          <a:xfrm>
            <a:off x="1828800" y="1981200"/>
            <a:ext cx="905933" cy="304800"/>
          </a:xfrm>
          <a:prstGeom prst="rect">
            <a:avLst/>
          </a:prstGeom>
          <a:solidFill>
            <a:srgbClr val="CCFFCC"/>
          </a:solid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49"/>
          <p:cNvSpPr txBox="1"/>
          <p:nvPr>
            <p:ph type="title"/>
          </p:nvPr>
        </p:nvSpPr>
        <p:spPr>
          <a:xfrm>
            <a:off x="498474" y="116632"/>
            <a:ext cx="7556313" cy="995082"/>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Embedded Systems </a:t>
            </a:r>
            <a:endParaRPr/>
          </a:p>
        </p:txBody>
      </p:sp>
      <p:grpSp>
        <p:nvGrpSpPr>
          <p:cNvPr id="730" name="Google Shape;730;p49"/>
          <p:cNvGrpSpPr/>
          <p:nvPr/>
        </p:nvGrpSpPr>
        <p:grpSpPr>
          <a:xfrm>
            <a:off x="1290161" y="1981200"/>
            <a:ext cx="5972937" cy="4648200"/>
            <a:chOff x="791687" y="0"/>
            <a:chExt cx="5972937" cy="4648200"/>
          </a:xfrm>
        </p:grpSpPr>
        <p:sp>
          <p:nvSpPr>
            <p:cNvPr id="731" name="Google Shape;731;p49"/>
            <p:cNvSpPr/>
            <p:nvPr/>
          </p:nvSpPr>
          <p:spPr>
            <a:xfrm>
              <a:off x="3061404" y="1070015"/>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9"/>
            <p:cNvSpPr/>
            <p:nvPr/>
          </p:nvSpPr>
          <p:spPr>
            <a:xfrm>
              <a:off x="2882215" y="0"/>
              <a:ext cx="1791881" cy="97612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9"/>
            <p:cNvSpPr txBox="1"/>
            <p:nvPr/>
          </p:nvSpPr>
          <p:spPr>
            <a:xfrm>
              <a:off x="2882215" y="0"/>
              <a:ext cx="1791881" cy="97612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Small to large systems, implying different cost constraints and different needs for optimization and reuse</a:t>
              </a:r>
              <a:endParaRPr sz="1100">
                <a:solidFill>
                  <a:schemeClr val="dk1"/>
                </a:solidFill>
                <a:latin typeface="Times New Roman"/>
                <a:ea typeface="Times New Roman"/>
                <a:cs typeface="Times New Roman"/>
                <a:sym typeface="Times New Roman"/>
              </a:endParaRPr>
            </a:p>
          </p:txBody>
        </p:sp>
        <p:sp>
          <p:nvSpPr>
            <p:cNvPr id="734" name="Google Shape;734;p49"/>
            <p:cNvSpPr/>
            <p:nvPr/>
          </p:nvSpPr>
          <p:spPr>
            <a:xfrm>
              <a:off x="3526695" y="1338681"/>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9"/>
            <p:cNvSpPr/>
            <p:nvPr/>
          </p:nvSpPr>
          <p:spPr>
            <a:xfrm>
              <a:off x="5066519" y="929640"/>
              <a:ext cx="1698105" cy="106908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9"/>
            <p:cNvSpPr txBox="1"/>
            <p:nvPr/>
          </p:nvSpPr>
          <p:spPr>
            <a:xfrm>
              <a:off x="5066519" y="929640"/>
              <a:ext cx="1698105" cy="1069086"/>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Relaxed to very strict requirements and combinations of different quality requirements with respect to safety, reliability, real-time and flexibility</a:t>
              </a:r>
              <a:endParaRPr sz="1100">
                <a:solidFill>
                  <a:schemeClr val="dk1"/>
                </a:solidFill>
                <a:latin typeface="Times New Roman"/>
                <a:ea typeface="Times New Roman"/>
                <a:cs typeface="Times New Roman"/>
                <a:sym typeface="Times New Roman"/>
              </a:endParaRPr>
            </a:p>
          </p:txBody>
        </p:sp>
        <p:sp>
          <p:nvSpPr>
            <p:cNvPr id="737" name="Google Shape;737;p49"/>
            <p:cNvSpPr/>
            <p:nvPr/>
          </p:nvSpPr>
          <p:spPr>
            <a:xfrm>
              <a:off x="3526695" y="1876013"/>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9"/>
            <p:cNvSpPr/>
            <p:nvPr/>
          </p:nvSpPr>
          <p:spPr>
            <a:xfrm>
              <a:off x="5066519" y="2523972"/>
              <a:ext cx="1698105" cy="11945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49"/>
            <p:cNvSpPr txBox="1"/>
            <p:nvPr/>
          </p:nvSpPr>
          <p:spPr>
            <a:xfrm>
              <a:off x="5066519" y="2523972"/>
              <a:ext cx="1698105" cy="11945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Short to long life times</a:t>
              </a:r>
              <a:endParaRPr sz="1100">
                <a:solidFill>
                  <a:schemeClr val="dk1"/>
                </a:solidFill>
                <a:latin typeface="Times New Roman"/>
                <a:ea typeface="Times New Roman"/>
                <a:cs typeface="Times New Roman"/>
                <a:sym typeface="Times New Roman"/>
              </a:endParaRPr>
            </a:p>
          </p:txBody>
        </p:sp>
        <p:sp>
          <p:nvSpPr>
            <p:cNvPr id="740" name="Google Shape;740;p49"/>
            <p:cNvSpPr/>
            <p:nvPr/>
          </p:nvSpPr>
          <p:spPr>
            <a:xfrm>
              <a:off x="3061404" y="2145144"/>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9"/>
            <p:cNvSpPr/>
            <p:nvPr/>
          </p:nvSpPr>
          <p:spPr>
            <a:xfrm>
              <a:off x="2882215" y="3672078"/>
              <a:ext cx="1791881" cy="97612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9"/>
            <p:cNvSpPr txBox="1"/>
            <p:nvPr/>
          </p:nvSpPr>
          <p:spPr>
            <a:xfrm>
              <a:off x="2882215" y="3672078"/>
              <a:ext cx="1791881" cy="97612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Different environmental conditions in terms of radiation, vibrations, and humidity</a:t>
              </a:r>
              <a:endParaRPr sz="1100">
                <a:solidFill>
                  <a:schemeClr val="dk1"/>
                </a:solidFill>
                <a:latin typeface="Times New Roman"/>
                <a:ea typeface="Times New Roman"/>
                <a:cs typeface="Times New Roman"/>
                <a:sym typeface="Times New Roman"/>
              </a:endParaRPr>
            </a:p>
          </p:txBody>
        </p:sp>
        <p:sp>
          <p:nvSpPr>
            <p:cNvPr id="743" name="Google Shape;743;p49"/>
            <p:cNvSpPr/>
            <p:nvPr/>
          </p:nvSpPr>
          <p:spPr>
            <a:xfrm>
              <a:off x="2596112" y="1876013"/>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9"/>
            <p:cNvSpPr/>
            <p:nvPr/>
          </p:nvSpPr>
          <p:spPr>
            <a:xfrm>
              <a:off x="791687" y="2523972"/>
              <a:ext cx="1698105" cy="11945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9"/>
            <p:cNvSpPr txBox="1"/>
            <p:nvPr/>
          </p:nvSpPr>
          <p:spPr>
            <a:xfrm>
              <a:off x="791687" y="2523972"/>
              <a:ext cx="1698105" cy="11945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Different application characteristics resulting in static versus dynamic loads, slow to fast speed, compute versus interface intensive tasks, and/or combinations thereof</a:t>
              </a:r>
              <a:endParaRPr sz="1100">
                <a:solidFill>
                  <a:schemeClr val="dk1"/>
                </a:solidFill>
                <a:latin typeface="Times New Roman"/>
                <a:ea typeface="Times New Roman"/>
                <a:cs typeface="Times New Roman"/>
                <a:sym typeface="Times New Roman"/>
              </a:endParaRPr>
            </a:p>
          </p:txBody>
        </p:sp>
        <p:sp>
          <p:nvSpPr>
            <p:cNvPr id="746" name="Google Shape;746;p49"/>
            <p:cNvSpPr/>
            <p:nvPr/>
          </p:nvSpPr>
          <p:spPr>
            <a:xfrm>
              <a:off x="2596112" y="1338681"/>
              <a:ext cx="1433504" cy="1433504"/>
            </a:xfrm>
            <a:prstGeom prst="ellipse">
              <a:avLst/>
            </a:prstGeom>
            <a:gradFill>
              <a:gsLst>
                <a:gs pos="0">
                  <a:srgbClr val="0036A6">
                    <a:alpha val="49803"/>
                  </a:srgbClr>
                </a:gs>
                <a:gs pos="68000">
                  <a:srgbClr val="618AD5">
                    <a:alpha val="49803"/>
                  </a:srgbClr>
                </a:gs>
                <a:gs pos="100000">
                  <a:srgbClr val="AFC3EE">
                    <a:alpha val="49803"/>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9"/>
            <p:cNvSpPr/>
            <p:nvPr/>
          </p:nvSpPr>
          <p:spPr>
            <a:xfrm>
              <a:off x="791687" y="929640"/>
              <a:ext cx="1698105" cy="119458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9"/>
            <p:cNvSpPr txBox="1"/>
            <p:nvPr/>
          </p:nvSpPr>
          <p:spPr>
            <a:xfrm>
              <a:off x="791687" y="929640"/>
              <a:ext cx="1698105" cy="11945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lang="en-US" sz="1100">
                  <a:solidFill>
                    <a:schemeClr val="dk1"/>
                  </a:solidFill>
                  <a:latin typeface="Times New Roman"/>
                  <a:ea typeface="Times New Roman"/>
                  <a:cs typeface="Times New Roman"/>
                  <a:sym typeface="Times New Roman"/>
                </a:rPr>
                <a:t>Different models of computation ranging from discrete event systems to hybrid systems</a:t>
              </a:r>
              <a:endParaRPr sz="1100">
                <a:solidFill>
                  <a:schemeClr val="dk1"/>
                </a:solidFill>
                <a:latin typeface="Times New Roman"/>
                <a:ea typeface="Times New Roman"/>
                <a:cs typeface="Times New Roman"/>
                <a:sym typeface="Times New Roman"/>
              </a:endParaRPr>
            </a:p>
          </p:txBody>
        </p:sp>
      </p:grpSp>
      <p:sp>
        <p:nvSpPr>
          <p:cNvPr id="749" name="Google Shape;749;p49"/>
          <p:cNvSpPr txBox="1"/>
          <p:nvPr>
            <p:ph idx="2" type="body"/>
          </p:nvPr>
        </p:nvSpPr>
        <p:spPr>
          <a:xfrm>
            <a:off x="498518" y="1143001"/>
            <a:ext cx="7558960" cy="76125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660"/>
              <a:buNone/>
            </a:pPr>
            <a:r>
              <a:rPr lang="en-US" sz="2800"/>
              <a:t>	      </a:t>
            </a:r>
            <a:r>
              <a:rPr lang="en-US" sz="3200"/>
              <a:t>Requirements and Constraints</a:t>
            </a:r>
            <a:endParaRPr sz="3200"/>
          </a:p>
        </p:txBody>
      </p:sp>
      <p:pic>
        <p:nvPicPr>
          <p:cNvPr id="750" name="Google Shape;750;p49"/>
          <p:cNvPicPr preferRelativeResize="0"/>
          <p:nvPr/>
        </p:nvPicPr>
        <p:blipFill rotWithShape="1">
          <a:blip r:embed="rId3">
            <a:alphaModFix/>
          </a:blip>
          <a:srcRect b="0" l="0" r="0" t="0"/>
          <a:stretch/>
        </p:blipFill>
        <p:spPr>
          <a:xfrm>
            <a:off x="3503644" y="3429000"/>
            <a:ext cx="1477347" cy="14478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p50"/>
          <p:cNvSpPr txBox="1"/>
          <p:nvPr>
            <p:ph type="title"/>
          </p:nvPr>
        </p:nvSpPr>
        <p:spPr>
          <a:xfrm>
            <a:off x="609600" y="228600"/>
            <a:ext cx="7556313" cy="9906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2400"/>
              <a:buFont typeface="Calibri"/>
              <a:buNone/>
            </a:pPr>
            <a:r>
              <a:rPr lang="en-US" sz="2400"/>
              <a:t>Figure 2.12</a:t>
            </a:r>
            <a:br>
              <a:rPr lang="en-US" sz="2400"/>
            </a:br>
            <a:r>
              <a:rPr lang="en-US" sz="2400"/>
              <a:t>Possible Organization of an Embedded System</a:t>
            </a:r>
            <a:endParaRPr/>
          </a:p>
        </p:txBody>
      </p:sp>
      <p:pic>
        <p:nvPicPr>
          <p:cNvPr descr="f12.pdf" id="757" name="Google Shape;757;p50"/>
          <p:cNvPicPr preferRelativeResize="0"/>
          <p:nvPr/>
        </p:nvPicPr>
        <p:blipFill rotWithShape="1">
          <a:blip r:embed="rId3">
            <a:alphaModFix/>
          </a:blip>
          <a:srcRect b="21363" l="4706" r="7059" t="20909"/>
          <a:stretch/>
        </p:blipFill>
        <p:spPr>
          <a:xfrm>
            <a:off x="1219200" y="1416159"/>
            <a:ext cx="6485787" cy="5441841"/>
          </a:xfrm>
          <a:prstGeom prst="rect">
            <a:avLst/>
          </a:prstGeom>
          <a:noFill/>
          <a:ln>
            <a:noFill/>
          </a:ln>
        </p:spPr>
      </p:pic>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1"/>
          <p:cNvSpPr txBox="1"/>
          <p:nvPr>
            <p:ph type="title"/>
          </p:nvPr>
        </p:nvSpPr>
        <p:spPr>
          <a:xfrm>
            <a:off x="762000" y="484094"/>
            <a:ext cx="7292787"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Acorn RISC Machine (ARM)  </a:t>
            </a:r>
            <a:endParaRPr/>
          </a:p>
        </p:txBody>
      </p:sp>
      <p:sp>
        <p:nvSpPr>
          <p:cNvPr id="764" name="Google Shape;764;p51"/>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t>Family of RISC-based microprocessors and microcontrollers</a:t>
            </a:r>
            <a:endParaRPr/>
          </a:p>
          <a:p>
            <a:pPr indent="-274320" lvl="0" marL="274320" rtl="0" algn="l">
              <a:spcBef>
                <a:spcPts val="481"/>
              </a:spcBef>
              <a:spcAft>
                <a:spcPts val="0"/>
              </a:spcAft>
              <a:buSzPct val="95000"/>
              <a:buChar char="⚫"/>
            </a:pPr>
            <a:r>
              <a:rPr lang="en-US"/>
              <a:t>Designs microprocessor and multicore architectures and licenses them to manufacturers</a:t>
            </a:r>
            <a:endParaRPr/>
          </a:p>
          <a:p>
            <a:pPr indent="-274320" lvl="0" marL="274320" rtl="0" algn="l">
              <a:spcBef>
                <a:spcPts val="481"/>
              </a:spcBef>
              <a:spcAft>
                <a:spcPts val="0"/>
              </a:spcAft>
              <a:buSzPct val="95000"/>
              <a:buChar char="⚫"/>
            </a:pPr>
            <a:r>
              <a:rPr lang="en-US"/>
              <a:t>Chips are high-speed processors that are known for their small die size and low power requirements</a:t>
            </a:r>
            <a:endParaRPr/>
          </a:p>
        </p:txBody>
      </p:sp>
      <p:sp>
        <p:nvSpPr>
          <p:cNvPr id="765" name="Google Shape;765;p51"/>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95000"/>
              <a:buChar char="⚫"/>
            </a:pPr>
            <a:r>
              <a:rPr lang="en-US"/>
              <a:t>Widely used in PDAs and other handheld devices</a:t>
            </a:r>
            <a:endParaRPr/>
          </a:p>
          <a:p>
            <a:pPr indent="-274320" lvl="0" marL="274320" rtl="0" algn="l">
              <a:spcBef>
                <a:spcPts val="481"/>
              </a:spcBef>
              <a:spcAft>
                <a:spcPts val="0"/>
              </a:spcAft>
              <a:buSzPct val="95000"/>
              <a:buChar char="⚫"/>
            </a:pPr>
            <a:r>
              <a:rPr lang="en-US"/>
              <a:t>Chips are the processors in iPod and iPhone devices</a:t>
            </a:r>
            <a:endParaRPr/>
          </a:p>
          <a:p>
            <a:pPr indent="-274320" lvl="0" marL="274320" rtl="0" algn="l">
              <a:spcBef>
                <a:spcPts val="481"/>
              </a:spcBef>
              <a:spcAft>
                <a:spcPts val="0"/>
              </a:spcAft>
              <a:buSzPct val="95000"/>
              <a:buChar char="⚫"/>
            </a:pPr>
            <a:r>
              <a:rPr lang="en-US"/>
              <a:t>Most widely used embedded processor architecture</a:t>
            </a:r>
            <a:endParaRPr/>
          </a:p>
          <a:p>
            <a:pPr indent="-274320" lvl="0" marL="274320" rtl="0" algn="l">
              <a:spcBef>
                <a:spcPts val="481"/>
              </a:spcBef>
              <a:spcAft>
                <a:spcPts val="0"/>
              </a:spcAft>
              <a:buSzPct val="95000"/>
              <a:buChar char="⚫"/>
            </a:pPr>
            <a:r>
              <a:rPr lang="en-US"/>
              <a:t>Most widely used processor architecture of any kind</a:t>
            </a:r>
            <a:endParaRPr/>
          </a:p>
        </p:txBody>
      </p:sp>
      <p:cxnSp>
        <p:nvCxnSpPr>
          <p:cNvPr id="766" name="Google Shape;766;p51"/>
          <p:cNvCxnSpPr/>
          <p:nvPr/>
        </p:nvCxnSpPr>
        <p:spPr>
          <a:xfrm rot="5400000">
            <a:off x="2133600" y="3962400"/>
            <a:ext cx="4114800" cy="1588"/>
          </a:xfrm>
          <a:prstGeom prst="straightConnector1">
            <a:avLst/>
          </a:prstGeom>
          <a:noFill/>
          <a:ln cap="flat" cmpd="sng" w="25400">
            <a:solidFill>
              <a:schemeClr val="accent1"/>
            </a:solidFill>
            <a:prstDash val="solid"/>
            <a:round/>
            <a:headEnd len="sm" w="sm" type="none"/>
            <a:tailEnd len="sm" w="sm" type="none"/>
          </a:ln>
          <a:effectLst>
            <a:outerShdw blurRad="57150" rotWithShape="0" algn="ctr" dir="5400000" dist="38100">
              <a:srgbClr val="000000"/>
            </a:outerShdw>
          </a:effectLst>
        </p:spPr>
      </p:cxnSp>
      <p:pic>
        <p:nvPicPr>
          <p:cNvPr id="767" name="Google Shape;767;p51"/>
          <p:cNvPicPr preferRelativeResize="0"/>
          <p:nvPr/>
        </p:nvPicPr>
        <p:blipFill rotWithShape="1">
          <a:blip r:embed="rId3">
            <a:alphaModFix/>
          </a:blip>
          <a:srcRect b="0" l="0" r="0" t="0"/>
          <a:stretch/>
        </p:blipFill>
        <p:spPr>
          <a:xfrm rot="381112">
            <a:off x="6626678" y="5293320"/>
            <a:ext cx="2173357" cy="144890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4">
                                            <p:txEl>
                                              <p:pRg end="0" st="0"/>
                                            </p:txEl>
                                          </p:spTgt>
                                        </p:tgtEl>
                                        <p:attrNameLst>
                                          <p:attrName>style.visibility</p:attrName>
                                        </p:attrNameLst>
                                      </p:cBhvr>
                                      <p:to>
                                        <p:strVal val="visible"/>
                                      </p:to>
                                    </p:set>
                                    <p:anim calcmode="lin" valueType="num">
                                      <p:cBhvr additive="base">
                                        <p:cTn dur="500"/>
                                        <p:tgtEl>
                                          <p:spTgt spid="76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4">
                                            <p:txEl>
                                              <p:pRg end="1" st="1"/>
                                            </p:txEl>
                                          </p:spTgt>
                                        </p:tgtEl>
                                        <p:attrNameLst>
                                          <p:attrName>style.visibility</p:attrName>
                                        </p:attrNameLst>
                                      </p:cBhvr>
                                      <p:to>
                                        <p:strVal val="visible"/>
                                      </p:to>
                                    </p:set>
                                    <p:anim calcmode="lin" valueType="num">
                                      <p:cBhvr additive="base">
                                        <p:cTn dur="500"/>
                                        <p:tgtEl>
                                          <p:spTgt spid="76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4">
                                            <p:txEl>
                                              <p:pRg end="2" st="2"/>
                                            </p:txEl>
                                          </p:spTgt>
                                        </p:tgtEl>
                                        <p:attrNameLst>
                                          <p:attrName>style.visibility</p:attrName>
                                        </p:attrNameLst>
                                      </p:cBhvr>
                                      <p:to>
                                        <p:strVal val="visible"/>
                                      </p:to>
                                    </p:set>
                                    <p:anim calcmode="lin" valueType="num">
                                      <p:cBhvr additive="base">
                                        <p:cTn dur="500"/>
                                        <p:tgtEl>
                                          <p:spTgt spid="76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6"/>
                                        </p:tgtEl>
                                        <p:attrNameLst>
                                          <p:attrName>style.visibility</p:attrName>
                                        </p:attrNameLst>
                                      </p:cBhvr>
                                      <p:to>
                                        <p:strVal val="visible"/>
                                      </p:to>
                                    </p:set>
                                    <p:anim calcmode="lin" valueType="num">
                                      <p:cBhvr additive="base">
                                        <p:cTn dur="500"/>
                                        <p:tgtEl>
                                          <p:spTgt spid="7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5">
                                            <p:txEl>
                                              <p:pRg end="0" st="0"/>
                                            </p:txEl>
                                          </p:spTgt>
                                        </p:tgtEl>
                                        <p:attrNameLst>
                                          <p:attrName>style.visibility</p:attrName>
                                        </p:attrNameLst>
                                      </p:cBhvr>
                                      <p:to>
                                        <p:strVal val="visible"/>
                                      </p:to>
                                    </p:set>
                                    <p:anim calcmode="lin" valueType="num">
                                      <p:cBhvr additive="base">
                                        <p:cTn dur="500"/>
                                        <p:tgtEl>
                                          <p:spTgt spid="76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5">
                                            <p:txEl>
                                              <p:pRg end="1" st="1"/>
                                            </p:txEl>
                                          </p:spTgt>
                                        </p:tgtEl>
                                        <p:attrNameLst>
                                          <p:attrName>style.visibility</p:attrName>
                                        </p:attrNameLst>
                                      </p:cBhvr>
                                      <p:to>
                                        <p:strVal val="visible"/>
                                      </p:to>
                                    </p:set>
                                    <p:anim calcmode="lin" valueType="num">
                                      <p:cBhvr additive="base">
                                        <p:cTn dur="500"/>
                                        <p:tgtEl>
                                          <p:spTgt spid="76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5">
                                            <p:txEl>
                                              <p:pRg end="2" st="2"/>
                                            </p:txEl>
                                          </p:spTgt>
                                        </p:tgtEl>
                                        <p:attrNameLst>
                                          <p:attrName>style.visibility</p:attrName>
                                        </p:attrNameLst>
                                      </p:cBhvr>
                                      <p:to>
                                        <p:strVal val="visible"/>
                                      </p:to>
                                    </p:set>
                                    <p:anim calcmode="lin" valueType="num">
                                      <p:cBhvr additive="base">
                                        <p:cTn dur="500"/>
                                        <p:tgtEl>
                                          <p:spTgt spid="76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5">
                                            <p:txEl>
                                              <p:pRg end="3" st="3"/>
                                            </p:txEl>
                                          </p:spTgt>
                                        </p:tgtEl>
                                        <p:attrNameLst>
                                          <p:attrName>style.visibility</p:attrName>
                                        </p:attrNameLst>
                                      </p:cBhvr>
                                      <p:to>
                                        <p:strVal val="visible"/>
                                      </p:to>
                                    </p:set>
                                    <p:anim calcmode="lin" valueType="num">
                                      <p:cBhvr additive="base">
                                        <p:cTn dur="500"/>
                                        <p:tgtEl>
                                          <p:spTgt spid="76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52"/>
          <p:cNvSpPr txBox="1"/>
          <p:nvPr>
            <p:ph type="title"/>
          </p:nvPr>
        </p:nvSpPr>
        <p:spPr>
          <a:xfrm>
            <a:off x="7848600" y="1066800"/>
            <a:ext cx="757518" cy="5171422"/>
          </a:xfrm>
          <a:prstGeom prst="rect">
            <a:avLst/>
          </a:prstGeom>
          <a:noFill/>
          <a:ln>
            <a:noFill/>
          </a:ln>
        </p:spPr>
        <p:txBody>
          <a:bodyPr anchorCtr="1" anchor="ctr"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sz="4000"/>
              <a:t>ARM Evolution</a:t>
            </a:r>
            <a:endParaRPr sz="4000"/>
          </a:p>
        </p:txBody>
      </p:sp>
      <p:graphicFrame>
        <p:nvGraphicFramePr>
          <p:cNvPr id="774" name="Google Shape;774;p52"/>
          <p:cNvGraphicFramePr/>
          <p:nvPr/>
        </p:nvGraphicFramePr>
        <p:xfrm>
          <a:off x="457200" y="381000"/>
          <a:ext cx="6832338" cy="6233261"/>
        </p:xfrm>
        <a:graphic>
          <a:graphicData uri="http://schemas.openxmlformats.org/presentationml/2006/ole">
            <mc:AlternateContent>
              <mc:Choice Requires="v">
                <p:oleObj r:id="rId4" imgH="6233261" imgW="6832338" progId="Word.Document.12" spid="_x0000_s1">
                  <p:embed/>
                </p:oleObj>
              </mc:Choice>
              <mc:Fallback>
                <p:oleObj r:id="rId5" imgH="6233261" imgW="6832338" progId="Word.Document.12">
                  <p:embed/>
                  <p:pic>
                    <p:nvPicPr>
                      <p:cNvPr id="774" name="Google Shape;774;p52"/>
                      <p:cNvPicPr preferRelativeResize="0"/>
                      <p:nvPr/>
                    </p:nvPicPr>
                    <p:blipFill rotWithShape="1">
                      <a:blip r:embed="rId6">
                        <a:alphaModFix/>
                      </a:blip>
                      <a:srcRect b="0" l="0" r="0" t="0"/>
                      <a:stretch/>
                    </p:blipFill>
                    <p:spPr>
                      <a:xfrm>
                        <a:off x="457200" y="381000"/>
                        <a:ext cx="6832338" cy="6233261"/>
                      </a:xfrm>
                      <a:prstGeom prst="rect">
                        <a:avLst/>
                      </a:prstGeom>
                      <a:noFill/>
                      <a:ln>
                        <a:noFill/>
                      </a:ln>
                    </p:spPr>
                  </p:pic>
                </p:oleObj>
              </mc:Fallback>
            </mc:AlternateContent>
          </a:graphicData>
        </a:graphic>
      </p:graphicFrame>
      <p:sp>
        <p:nvSpPr>
          <p:cNvPr id="775" name="Google Shape;775;p52"/>
          <p:cNvSpPr txBox="1"/>
          <p:nvPr/>
        </p:nvSpPr>
        <p:spPr>
          <a:xfrm>
            <a:off x="199570" y="6248400"/>
            <a:ext cx="7191829" cy="461665"/>
          </a:xfrm>
          <a:prstGeom prst="rect">
            <a:avLst/>
          </a:prstGeom>
          <a:blipFill rotWithShape="1">
            <a:blip r:embed="rId7">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  </a:t>
            </a:r>
            <a:r>
              <a:rPr lang="en-US" sz="1600">
                <a:solidFill>
                  <a:schemeClr val="dk1"/>
                </a:solidFill>
                <a:latin typeface="Constantia"/>
                <a:ea typeface="Constantia"/>
                <a:cs typeface="Constantia"/>
                <a:sym typeface="Constantia"/>
              </a:rPr>
              <a:t>DSP = digital signal processor	  SoC = system on a chip</a:t>
            </a:r>
            <a:endParaRPr sz="2400">
              <a:solidFill>
                <a:schemeClr val="dk1"/>
              </a:solidFill>
              <a:latin typeface="Constantia"/>
              <a:ea typeface="Constantia"/>
              <a:cs typeface="Constantia"/>
              <a:sym typeface="Constantia"/>
            </a:endParaRPr>
          </a:p>
        </p:txBody>
      </p:sp>
    </p:spTree>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53"/>
          <p:cNvSpPr txBox="1"/>
          <p:nvPr>
            <p:ph idx="4294967295" type="title"/>
          </p:nvPr>
        </p:nvSpPr>
        <p:spPr>
          <a:xfrm>
            <a:off x="0" y="457200"/>
            <a:ext cx="9144000" cy="887413"/>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ARM Design Categories</a:t>
            </a:r>
            <a:endParaRPr/>
          </a:p>
        </p:txBody>
      </p:sp>
      <p:sp>
        <p:nvSpPr>
          <p:cNvPr id="782" name="Google Shape;782;p53"/>
          <p:cNvSpPr txBox="1"/>
          <p:nvPr>
            <p:ph idx="4294967295" type="body"/>
          </p:nvPr>
        </p:nvSpPr>
        <p:spPr>
          <a:xfrm>
            <a:off x="0" y="1295400"/>
            <a:ext cx="7239000" cy="914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ARM processors are designed to meet the needs of three system  categories:</a:t>
            </a:r>
            <a:endParaRPr/>
          </a:p>
        </p:txBody>
      </p:sp>
      <p:sp>
        <p:nvSpPr>
          <p:cNvPr id="783" name="Google Shape;783;p53"/>
          <p:cNvSpPr txBox="1"/>
          <p:nvPr>
            <p:ph idx="4294967295" type="body"/>
          </p:nvPr>
        </p:nvSpPr>
        <p:spPr>
          <a:xfrm>
            <a:off x="5257800" y="2276872"/>
            <a:ext cx="3886200" cy="4581128"/>
          </a:xfrm>
          <a:prstGeom prst="rect">
            <a:avLst/>
          </a:prstGeom>
          <a:solidFill>
            <a:schemeClr val="accent3">
              <a:alpha val="80000"/>
            </a:schemeClr>
          </a:solidFill>
          <a:ln>
            <a:noFill/>
          </a:ln>
        </p:spPr>
        <p:txBody>
          <a:bodyPr anchorCtr="0" anchor="t" bIns="45700" lIns="91425" spcFirstLastPara="1" rIns="91425" wrap="square" tIns="45700">
            <a:noAutofit/>
          </a:bodyPr>
          <a:lstStyle/>
          <a:p>
            <a:pPr indent="-274320" lvl="0" marL="274320" rtl="0" algn="l">
              <a:spcBef>
                <a:spcPts val="0"/>
              </a:spcBef>
              <a:spcAft>
                <a:spcPts val="0"/>
              </a:spcAft>
              <a:buClr>
                <a:schemeClr val="lt1"/>
              </a:buClr>
              <a:buSzPts val="2470"/>
              <a:buFont typeface="Noto Sans Symbols"/>
              <a:buChar char="▪"/>
            </a:pPr>
            <a:r>
              <a:rPr lang="en-US">
                <a:solidFill>
                  <a:schemeClr val="lt1"/>
                </a:solidFill>
              </a:rPr>
              <a:t>Application platforms</a:t>
            </a:r>
            <a:endParaRPr/>
          </a:p>
          <a:p>
            <a:pPr indent="-246888" lvl="1" marL="640080" rtl="0" algn="l">
              <a:spcBef>
                <a:spcPts val="480"/>
              </a:spcBef>
              <a:spcAft>
                <a:spcPts val="0"/>
              </a:spcAft>
              <a:buClr>
                <a:schemeClr val="lt1"/>
              </a:buClr>
              <a:buSzPts val="2280"/>
              <a:buFont typeface="Noto Sans Symbols"/>
              <a:buChar char="▪"/>
            </a:pPr>
            <a:r>
              <a:rPr lang="en-US">
                <a:solidFill>
                  <a:schemeClr val="lt1"/>
                </a:solidFill>
              </a:rPr>
              <a:t>Devices running open operating systems including Linux, Palm OS, Symbian OS, and Windows CE in wireless, consumer entertainment and digital imaging applications</a:t>
            </a:r>
            <a:endParaRPr/>
          </a:p>
        </p:txBody>
      </p:sp>
      <p:sp>
        <p:nvSpPr>
          <p:cNvPr id="784" name="Google Shape;784;p53"/>
          <p:cNvSpPr txBox="1"/>
          <p:nvPr>
            <p:ph idx="4294967295" type="body"/>
          </p:nvPr>
        </p:nvSpPr>
        <p:spPr>
          <a:xfrm>
            <a:off x="0" y="4419600"/>
            <a:ext cx="3810000" cy="1828800"/>
          </a:xfrm>
          <a:prstGeom prst="rect">
            <a:avLst/>
          </a:prstGeom>
          <a:solidFill>
            <a:schemeClr val="accent1">
              <a:alpha val="74901"/>
            </a:schemeClr>
          </a:solidFill>
          <a:ln>
            <a:noFill/>
          </a:ln>
        </p:spPr>
        <p:txBody>
          <a:bodyPr anchorCtr="0" anchor="t" bIns="45700" lIns="91425" spcFirstLastPara="1" rIns="91425" wrap="square" tIns="45700">
            <a:normAutofit fontScale="77500" lnSpcReduction="20000"/>
          </a:bodyPr>
          <a:lstStyle/>
          <a:p>
            <a:pPr indent="-274320" lvl="0" marL="274320" rtl="0" algn="l">
              <a:spcBef>
                <a:spcPts val="0"/>
              </a:spcBef>
              <a:spcAft>
                <a:spcPts val="0"/>
              </a:spcAft>
              <a:buClr>
                <a:schemeClr val="lt1"/>
              </a:buClr>
              <a:buSzPct val="95000"/>
              <a:buFont typeface="Noto Sans Symbols"/>
              <a:buChar char="▪"/>
            </a:pPr>
            <a:r>
              <a:rPr lang="en-US">
                <a:solidFill>
                  <a:schemeClr val="lt1"/>
                </a:solidFill>
              </a:rPr>
              <a:t>Embedded real-time systems</a:t>
            </a:r>
            <a:endParaRPr/>
          </a:p>
          <a:p>
            <a:pPr indent="-246888" lvl="1" marL="640080" rtl="0" algn="l">
              <a:spcBef>
                <a:spcPts val="372"/>
              </a:spcBef>
              <a:spcAft>
                <a:spcPts val="0"/>
              </a:spcAft>
              <a:buClr>
                <a:schemeClr val="lt1"/>
              </a:buClr>
              <a:buSzPct val="95000"/>
              <a:buFont typeface="Noto Sans Symbols"/>
              <a:buChar char="▪"/>
            </a:pPr>
            <a:r>
              <a:rPr lang="en-US">
                <a:solidFill>
                  <a:schemeClr val="lt1"/>
                </a:solidFill>
              </a:rPr>
              <a:t>Systems for storage, automotive body and power-train, industrial, and networking applications</a:t>
            </a:r>
            <a:endParaRPr>
              <a:solidFill>
                <a:schemeClr val="lt1"/>
              </a:solidFill>
            </a:endParaRPr>
          </a:p>
        </p:txBody>
      </p:sp>
      <p:sp>
        <p:nvSpPr>
          <p:cNvPr id="785" name="Google Shape;785;p53"/>
          <p:cNvSpPr txBox="1"/>
          <p:nvPr>
            <p:ph idx="4294967295" type="body"/>
          </p:nvPr>
        </p:nvSpPr>
        <p:spPr>
          <a:xfrm>
            <a:off x="0" y="2362200"/>
            <a:ext cx="3657600" cy="1371600"/>
          </a:xfrm>
          <a:prstGeom prst="rect">
            <a:avLst/>
          </a:prstGeom>
          <a:solidFill>
            <a:schemeClr val="accent4">
              <a:alpha val="80000"/>
            </a:schemeClr>
          </a:solid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Clr>
                <a:schemeClr val="lt1"/>
              </a:buClr>
              <a:buSzPct val="95000"/>
              <a:buFont typeface="Noto Sans Symbols"/>
              <a:buChar char="▪"/>
            </a:pPr>
            <a:r>
              <a:rPr lang="en-US">
                <a:solidFill>
                  <a:schemeClr val="lt1"/>
                </a:solidFill>
              </a:rPr>
              <a:t>Secure applications</a:t>
            </a:r>
            <a:endParaRPr/>
          </a:p>
          <a:p>
            <a:pPr indent="-246888" lvl="1" marL="640080" rtl="0" algn="l">
              <a:spcBef>
                <a:spcPts val="444"/>
              </a:spcBef>
              <a:spcAft>
                <a:spcPts val="0"/>
              </a:spcAft>
              <a:buClr>
                <a:schemeClr val="lt1"/>
              </a:buClr>
              <a:buSzPct val="95000"/>
              <a:buFont typeface="Noto Sans Symbols"/>
              <a:buChar char="▪"/>
            </a:pPr>
            <a:r>
              <a:rPr lang="en-US">
                <a:solidFill>
                  <a:schemeClr val="lt1"/>
                </a:solidFill>
              </a:rPr>
              <a:t>Smart cards, SIM cards, and payment terminals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5">
                                            <p:txEl>
                                              <p:pRg end="0" st="0"/>
                                            </p:txEl>
                                          </p:spTgt>
                                        </p:tgtEl>
                                        <p:attrNameLst>
                                          <p:attrName>style.visibility</p:attrName>
                                        </p:attrNameLst>
                                      </p:cBhvr>
                                      <p:to>
                                        <p:strVal val="visible"/>
                                      </p:to>
                                    </p:set>
                                    <p:anim calcmode="lin" valueType="num">
                                      <p:cBhvr additive="base">
                                        <p:cTn dur="500"/>
                                        <p:tgtEl>
                                          <p:spTgt spid="78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5">
                                            <p:txEl>
                                              <p:pRg end="1" st="1"/>
                                            </p:txEl>
                                          </p:spTgt>
                                        </p:tgtEl>
                                        <p:attrNameLst>
                                          <p:attrName>style.visibility</p:attrName>
                                        </p:attrNameLst>
                                      </p:cBhvr>
                                      <p:to>
                                        <p:strVal val="visible"/>
                                      </p:to>
                                    </p:set>
                                    <p:anim calcmode="lin" valueType="num">
                                      <p:cBhvr additive="base">
                                        <p:cTn dur="500"/>
                                        <p:tgtEl>
                                          <p:spTgt spid="78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4">
                                            <p:txEl>
                                              <p:pRg end="0" st="0"/>
                                            </p:txEl>
                                          </p:spTgt>
                                        </p:tgtEl>
                                        <p:attrNameLst>
                                          <p:attrName>style.visibility</p:attrName>
                                        </p:attrNameLst>
                                      </p:cBhvr>
                                      <p:to>
                                        <p:strVal val="visible"/>
                                      </p:to>
                                    </p:set>
                                    <p:anim calcmode="lin" valueType="num">
                                      <p:cBhvr additive="base">
                                        <p:cTn dur="500"/>
                                        <p:tgtEl>
                                          <p:spTgt spid="78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4">
                                            <p:txEl>
                                              <p:pRg end="1" st="1"/>
                                            </p:txEl>
                                          </p:spTgt>
                                        </p:tgtEl>
                                        <p:attrNameLst>
                                          <p:attrName>style.visibility</p:attrName>
                                        </p:attrNameLst>
                                      </p:cBhvr>
                                      <p:to>
                                        <p:strVal val="visible"/>
                                      </p:to>
                                    </p:set>
                                    <p:anim calcmode="lin" valueType="num">
                                      <p:cBhvr additive="base">
                                        <p:cTn dur="500"/>
                                        <p:tgtEl>
                                          <p:spTgt spid="78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3">
                                            <p:txEl>
                                              <p:pRg end="0" st="0"/>
                                            </p:txEl>
                                          </p:spTgt>
                                        </p:tgtEl>
                                        <p:attrNameLst>
                                          <p:attrName>style.visibility</p:attrName>
                                        </p:attrNameLst>
                                      </p:cBhvr>
                                      <p:to>
                                        <p:strVal val="visible"/>
                                      </p:to>
                                    </p:set>
                                    <p:anim calcmode="lin" valueType="num">
                                      <p:cBhvr additive="base">
                                        <p:cTn dur="500"/>
                                        <p:tgtEl>
                                          <p:spTgt spid="78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3">
                                            <p:txEl>
                                              <p:pRg end="1" st="1"/>
                                            </p:txEl>
                                          </p:spTgt>
                                        </p:tgtEl>
                                        <p:attrNameLst>
                                          <p:attrName>style.visibility</p:attrName>
                                        </p:attrNameLst>
                                      </p:cBhvr>
                                      <p:to>
                                        <p:strVal val="visible"/>
                                      </p:to>
                                    </p:set>
                                    <p:anim calcmode="lin" valueType="num">
                                      <p:cBhvr additive="base">
                                        <p:cTn dur="500"/>
                                        <p:tgtEl>
                                          <p:spTgt spid="783">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0" name="Shape 790"/>
        <p:cNvGrpSpPr/>
        <p:nvPr/>
      </p:nvGrpSpPr>
      <p:grpSpPr>
        <a:xfrm>
          <a:off x="0" y="0"/>
          <a:ext cx="0" cy="0"/>
          <a:chOff x="0" y="0"/>
          <a:chExt cx="0" cy="0"/>
        </a:xfrm>
      </p:grpSpPr>
      <p:sp>
        <p:nvSpPr>
          <p:cNvPr id="791" name="Google Shape;791;p54"/>
          <p:cNvSpPr txBox="1"/>
          <p:nvPr>
            <p:ph type="title"/>
          </p:nvPr>
        </p:nvSpPr>
        <p:spPr>
          <a:xfrm>
            <a:off x="914400" y="457200"/>
            <a:ext cx="7556313"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System Clock</a:t>
            </a:r>
            <a:endParaRPr sz="4400"/>
          </a:p>
        </p:txBody>
      </p:sp>
      <p:pic>
        <p:nvPicPr>
          <p:cNvPr descr="f13.pdf" id="792" name="Google Shape;792;p54"/>
          <p:cNvPicPr preferRelativeResize="0"/>
          <p:nvPr/>
        </p:nvPicPr>
        <p:blipFill rotWithShape="1">
          <a:blip r:embed="rId3">
            <a:alphaModFix/>
          </a:blip>
          <a:srcRect b="16363" l="7059" r="8235" t="31817"/>
          <a:stretch/>
        </p:blipFill>
        <p:spPr>
          <a:xfrm>
            <a:off x="1066800" y="1189423"/>
            <a:ext cx="7160136" cy="566857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92"/>
                                        </p:tgtEl>
                                        <p:attrNameLst>
                                          <p:attrName>style.visibility</p:attrName>
                                        </p:attrNameLst>
                                      </p:cBhvr>
                                      <p:to>
                                        <p:strVal val="visible"/>
                                      </p:to>
                                    </p:set>
                                    <p:anim calcmode="lin" valueType="num">
                                      <p:cBhvr additive="base">
                                        <p:cTn dur="500"/>
                                        <p:tgtEl>
                                          <p:spTgt spid="79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7" name="Shape 797"/>
        <p:cNvGrpSpPr/>
        <p:nvPr/>
      </p:nvGrpSpPr>
      <p:grpSpPr>
        <a:xfrm>
          <a:off x="0" y="0"/>
          <a:ext cx="0" cy="0"/>
          <a:chOff x="0" y="0"/>
          <a:chExt cx="0" cy="0"/>
        </a:xfrm>
      </p:grpSpPr>
      <p:sp>
        <p:nvSpPr>
          <p:cNvPr id="798" name="Google Shape;798;p55"/>
          <p:cNvSpPr txBox="1"/>
          <p:nvPr>
            <p:ph type="title"/>
          </p:nvPr>
        </p:nvSpPr>
        <p:spPr>
          <a:xfrm>
            <a:off x="381000" y="228600"/>
            <a:ext cx="6181611" cy="2286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lt1"/>
              </a:buClr>
              <a:buSzPts val="3200"/>
              <a:buFont typeface="Calibri"/>
              <a:buNone/>
            </a:pPr>
            <a:r>
              <a:rPr lang="en-US" sz="3200"/>
              <a:t>Performance Factors </a:t>
            </a:r>
            <a:br>
              <a:rPr lang="en-US" sz="3200"/>
            </a:br>
            <a:r>
              <a:rPr lang="en-US" sz="3200"/>
              <a:t>and </a:t>
            </a:r>
            <a:br>
              <a:rPr lang="en-US" sz="3200"/>
            </a:br>
            <a:r>
              <a:rPr lang="en-US" sz="3200"/>
              <a:t>System Attributes</a:t>
            </a:r>
            <a:endParaRPr sz="3200"/>
          </a:p>
        </p:txBody>
      </p:sp>
      <p:sp>
        <p:nvSpPr>
          <p:cNvPr id="799" name="Google Shape;799;p55"/>
          <p:cNvSpPr txBox="1"/>
          <p:nvPr/>
        </p:nvSpPr>
        <p:spPr>
          <a:xfrm>
            <a:off x="7086600" y="609601"/>
            <a:ext cx="1447799" cy="107721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3200">
                <a:solidFill>
                  <a:srgbClr val="FFFFFF"/>
                </a:solidFill>
                <a:latin typeface="Constantia"/>
                <a:ea typeface="Constantia"/>
                <a:cs typeface="Constantia"/>
                <a:sym typeface="Constantia"/>
              </a:rPr>
              <a:t>Table</a:t>
            </a:r>
            <a:endParaRPr/>
          </a:p>
          <a:p>
            <a:pPr indent="0" lvl="0" marL="0" marR="0" rtl="0" algn="ctr">
              <a:spcBef>
                <a:spcPts val="0"/>
              </a:spcBef>
              <a:spcAft>
                <a:spcPts val="0"/>
              </a:spcAft>
              <a:buNone/>
            </a:pPr>
            <a:r>
              <a:rPr lang="en-US" sz="3200">
                <a:solidFill>
                  <a:srgbClr val="FFFFFF"/>
                </a:solidFill>
                <a:latin typeface="Constantia"/>
                <a:ea typeface="Constantia"/>
                <a:cs typeface="Constantia"/>
                <a:sym typeface="Constantia"/>
              </a:rPr>
              <a:t>2.9</a:t>
            </a:r>
            <a:endParaRPr sz="3200">
              <a:solidFill>
                <a:srgbClr val="FFFFFF"/>
              </a:solidFill>
              <a:latin typeface="Constantia"/>
              <a:ea typeface="Constantia"/>
              <a:cs typeface="Constantia"/>
              <a:sym typeface="Constantia"/>
            </a:endParaRPr>
          </a:p>
        </p:txBody>
      </p:sp>
      <p:sp>
        <p:nvSpPr>
          <p:cNvPr id="800" name="Google Shape;800;p55"/>
          <p:cNvSpPr txBox="1"/>
          <p:nvPr/>
        </p:nvSpPr>
        <p:spPr>
          <a:xfrm>
            <a:off x="0" y="6324600"/>
            <a:ext cx="9144000" cy="533400"/>
          </a:xfrm>
          <a:prstGeom prst="rect">
            <a:avLst/>
          </a:prstGeom>
          <a:blipFill rotWithShape="1">
            <a:blip r:embed="rId3">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01" name="Google Shape;801;p55"/>
          <p:cNvSpPr txBox="1"/>
          <p:nvPr/>
        </p:nvSpPr>
        <p:spPr>
          <a:xfrm>
            <a:off x="228600" y="5867400"/>
            <a:ext cx="7772401" cy="685800"/>
          </a:xfrm>
          <a:prstGeom prst="rect">
            <a:avLst/>
          </a:prstGeom>
          <a:blipFill rotWithShape="1">
            <a:blip r:embed="rId3">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02" name="Google Shape;802;p55"/>
          <p:cNvSpPr txBox="1"/>
          <p:nvPr/>
        </p:nvSpPr>
        <p:spPr>
          <a:xfrm>
            <a:off x="0" y="0"/>
            <a:ext cx="304800" cy="6553200"/>
          </a:xfrm>
          <a:prstGeom prst="rect">
            <a:avLst/>
          </a:prstGeom>
          <a:blipFill rotWithShape="1">
            <a:blip r:embed="rId3">
              <a:alphaModFix/>
            </a:blip>
            <a:tile algn="tl" flip="none" tx="0" sx="65000" ty="0" sy="65000"/>
          </a:blip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Times New Roman"/>
              <a:ea typeface="Times New Roman"/>
              <a:cs typeface="Times New Roman"/>
              <a:sym typeface="Times New Roman"/>
            </a:endParaRPr>
          </a:p>
        </p:txBody>
      </p:sp>
      <p:sp>
        <p:nvSpPr>
          <p:cNvPr id="803" name="Google Shape;803;p55"/>
          <p:cNvSpPr/>
          <p:nvPr/>
        </p:nvSpPr>
        <p:spPr>
          <a:xfrm>
            <a:off x="395536" y="3140968"/>
            <a:ext cx="8280920" cy="120032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A common measure of performance for a processor is the rate at which instructions are executed, expressed as millions of instructions per second (MIPS), referred to as the </a:t>
            </a:r>
            <a:r>
              <a:rPr b="1" lang="en-US" sz="2400">
                <a:solidFill>
                  <a:schemeClr val="dk1"/>
                </a:solidFill>
                <a:latin typeface="Times New Roman"/>
                <a:ea typeface="Times New Roman"/>
                <a:cs typeface="Times New Roman"/>
                <a:sym typeface="Times New Roman"/>
              </a:rPr>
              <a:t>MIPS rate.</a:t>
            </a:r>
            <a:endParaRPr sz="2400">
              <a:solidFill>
                <a:schemeClr val="dk1"/>
              </a:solidFill>
              <a:latin typeface="Times New Roman"/>
              <a:ea typeface="Times New Roman"/>
              <a:cs typeface="Times New Roman"/>
              <a:sym typeface="Times New Roman"/>
            </a:endParaRPr>
          </a:p>
        </p:txBody>
      </p:sp>
    </p:spTree>
  </p:cSld>
  <p:clrMapOvr>
    <a:masterClrMapping/>
  </p:clrMapOvr>
  <p:transition spd="med">
    <p:wipe dir="d"/>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56"/>
          <p:cNvSpPr txBox="1"/>
          <p:nvPr>
            <p:ph idx="4294967295" type="title"/>
          </p:nvPr>
        </p:nvSpPr>
        <p:spPr>
          <a:xfrm>
            <a:off x="0" y="228600"/>
            <a:ext cx="9144000" cy="8382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Benchmarks</a:t>
            </a:r>
            <a:endParaRPr/>
          </a:p>
        </p:txBody>
      </p:sp>
      <p:sp>
        <p:nvSpPr>
          <p:cNvPr id="810" name="Google Shape;810;p56"/>
          <p:cNvSpPr txBox="1"/>
          <p:nvPr>
            <p:ph idx="4294967295" type="body"/>
          </p:nvPr>
        </p:nvSpPr>
        <p:spPr>
          <a:xfrm>
            <a:off x="0" y="1219200"/>
            <a:ext cx="7924800" cy="3048000"/>
          </a:xfrm>
          <a:prstGeom prst="rect">
            <a:avLst/>
          </a:prstGeom>
          <a:noFill/>
          <a:ln cap="flat" cmpd="thinThick" w="57150">
            <a:solidFill>
              <a:schemeClr val="accent1"/>
            </a:solidFill>
            <a:prstDash val="solid"/>
            <a:round/>
            <a:headEnd len="sm" w="sm" type="none"/>
            <a:tailEnd len="sm" w="sm" type="none"/>
          </a:ln>
        </p:spPr>
        <p:txBody>
          <a:bodyPr anchorCtr="0" anchor="t" bIns="45700" lIns="91425" spcFirstLastPara="1" rIns="91425" wrap="square" tIns="45700">
            <a:noAutofit/>
          </a:bodyPr>
          <a:lstStyle/>
          <a:p>
            <a:pPr indent="-274320" lvl="0" marL="274320" rtl="0" algn="l">
              <a:spcBef>
                <a:spcPts val="0"/>
              </a:spcBef>
              <a:spcAft>
                <a:spcPts val="0"/>
              </a:spcAft>
              <a:buSzPts val="1710"/>
              <a:buNone/>
            </a:pPr>
            <a:r>
              <a:rPr lang="en-US" sz="1800"/>
              <a:t>For example, consider this high-level language statement:</a:t>
            </a:r>
            <a:endParaRPr/>
          </a:p>
          <a:p>
            <a:pPr indent="-274320" lvl="0" marL="274320" rtl="0" algn="l">
              <a:spcBef>
                <a:spcPts val="360"/>
              </a:spcBef>
              <a:spcAft>
                <a:spcPts val="0"/>
              </a:spcAft>
              <a:buSzPts val="1710"/>
              <a:buNone/>
            </a:pPr>
            <a:r>
              <a:rPr lang="en-US" sz="1800"/>
              <a:t>A = B + C /* assume all quantities in main memory */</a:t>
            </a:r>
            <a:endParaRPr sz="1000"/>
          </a:p>
          <a:p>
            <a:pPr indent="-274320" lvl="0" marL="274320" rtl="0" algn="l">
              <a:spcBef>
                <a:spcPts val="160"/>
              </a:spcBef>
              <a:spcAft>
                <a:spcPts val="0"/>
              </a:spcAft>
              <a:buSzPts val="760"/>
              <a:buNone/>
            </a:pPr>
            <a:r>
              <a:t/>
            </a:r>
            <a:endParaRPr sz="800"/>
          </a:p>
          <a:p>
            <a:pPr indent="-274320" lvl="0" marL="274320" rtl="0" algn="l">
              <a:lnSpc>
                <a:spcPct val="120000"/>
              </a:lnSpc>
              <a:spcBef>
                <a:spcPts val="0"/>
              </a:spcBef>
              <a:spcAft>
                <a:spcPts val="0"/>
              </a:spcAft>
              <a:buSzPts val="1710"/>
              <a:buNone/>
            </a:pPr>
            <a:r>
              <a:rPr lang="en-US" sz="1800"/>
              <a:t>With a traditional instruction set architecture, referred to as a complex instruction set computer (CISC), this instruction can be compiled into one processor instruction:</a:t>
            </a:r>
            <a:endParaRPr/>
          </a:p>
          <a:p>
            <a:pPr indent="-274320" lvl="0" marL="274320" rtl="0" algn="ctr">
              <a:lnSpc>
                <a:spcPct val="120000"/>
              </a:lnSpc>
              <a:spcBef>
                <a:spcPts val="0"/>
              </a:spcBef>
              <a:spcAft>
                <a:spcPts val="0"/>
              </a:spcAft>
              <a:buSzPts val="760"/>
              <a:buNone/>
            </a:pPr>
            <a:r>
              <a:t/>
            </a:r>
            <a:endParaRPr sz="800"/>
          </a:p>
          <a:p>
            <a:pPr indent="-274320" lvl="0" marL="274320" rtl="0" algn="ctr">
              <a:lnSpc>
                <a:spcPct val="120000"/>
              </a:lnSpc>
              <a:spcBef>
                <a:spcPts val="0"/>
              </a:spcBef>
              <a:spcAft>
                <a:spcPts val="0"/>
              </a:spcAft>
              <a:buSzPts val="1710"/>
              <a:buNone/>
            </a:pPr>
            <a:r>
              <a:rPr lang="en-US" sz="1800"/>
              <a:t>add mem(B), mem(C), mem (A)</a:t>
            </a:r>
            <a:endParaRPr sz="1800"/>
          </a:p>
        </p:txBody>
      </p:sp>
      <p:sp>
        <p:nvSpPr>
          <p:cNvPr id="811" name="Google Shape;811;p56"/>
          <p:cNvSpPr txBox="1"/>
          <p:nvPr>
            <p:ph idx="4294967295" type="body"/>
          </p:nvPr>
        </p:nvSpPr>
        <p:spPr>
          <a:xfrm>
            <a:off x="0" y="4267200"/>
            <a:ext cx="7620000" cy="2286000"/>
          </a:xfrm>
          <a:prstGeom prst="rect">
            <a:avLst/>
          </a:prstGeom>
          <a:noFill/>
          <a:ln cap="flat" cmpd="thickThin" w="73025">
            <a:solidFill>
              <a:schemeClr val="accent1"/>
            </a:solidFill>
            <a:prstDash val="solid"/>
            <a:round/>
            <a:headEnd len="sm" w="sm" type="none"/>
            <a:tailEnd len="sm" w="sm" type="none"/>
          </a:ln>
        </p:spPr>
        <p:txBody>
          <a:bodyPr anchorCtr="0" anchor="t" bIns="45700" lIns="91425" spcFirstLastPara="1" rIns="91425" wrap="square" tIns="45700">
            <a:normAutofit fontScale="92500" lnSpcReduction="10000"/>
          </a:bodyPr>
          <a:lstStyle/>
          <a:p>
            <a:pPr indent="-274320" lvl="0" marL="274320" rtl="0" algn="l">
              <a:lnSpc>
                <a:spcPct val="110000"/>
              </a:lnSpc>
              <a:spcBef>
                <a:spcPts val="0"/>
              </a:spcBef>
              <a:spcAft>
                <a:spcPts val="0"/>
              </a:spcAft>
              <a:buSzPct val="95000"/>
              <a:buNone/>
            </a:pPr>
            <a:r>
              <a:rPr lang="en-US"/>
              <a:t>On a typical RISC machine, the compilation would look something like this:</a:t>
            </a:r>
            <a:endParaRPr/>
          </a:p>
          <a:p>
            <a:pPr indent="-274320" lvl="0" marL="274320" rtl="0" algn="ctr">
              <a:lnSpc>
                <a:spcPct val="110000"/>
              </a:lnSpc>
              <a:spcBef>
                <a:spcPts val="0"/>
              </a:spcBef>
              <a:spcAft>
                <a:spcPts val="0"/>
              </a:spcAft>
              <a:buSzPct val="95000"/>
              <a:buNone/>
            </a:pPr>
            <a:r>
              <a:rPr lang="en-US"/>
              <a:t>load mem(B), reg(1);</a:t>
            </a:r>
            <a:endParaRPr/>
          </a:p>
          <a:p>
            <a:pPr indent="-274320" lvl="0" marL="274320" rtl="0" algn="ctr">
              <a:lnSpc>
                <a:spcPct val="110000"/>
              </a:lnSpc>
              <a:spcBef>
                <a:spcPts val="0"/>
              </a:spcBef>
              <a:spcAft>
                <a:spcPts val="0"/>
              </a:spcAft>
              <a:buSzPct val="95000"/>
              <a:buNone/>
            </a:pPr>
            <a:r>
              <a:rPr lang="en-US"/>
              <a:t>load mem(C), reg(2);</a:t>
            </a:r>
            <a:endParaRPr/>
          </a:p>
          <a:p>
            <a:pPr indent="-274320" lvl="0" marL="274320" rtl="0" algn="ctr">
              <a:lnSpc>
                <a:spcPct val="110000"/>
              </a:lnSpc>
              <a:spcBef>
                <a:spcPts val="0"/>
              </a:spcBef>
              <a:spcAft>
                <a:spcPts val="0"/>
              </a:spcAft>
              <a:buSzPct val="95000"/>
              <a:buNone/>
            </a:pPr>
            <a:r>
              <a:rPr lang="en-US"/>
              <a:t>add reg(1), reg(2), reg(3);</a:t>
            </a:r>
            <a:endParaRPr/>
          </a:p>
          <a:p>
            <a:pPr indent="-274320" lvl="0" marL="274320" rtl="0" algn="ctr">
              <a:lnSpc>
                <a:spcPct val="110000"/>
              </a:lnSpc>
              <a:spcBef>
                <a:spcPts val="0"/>
              </a:spcBef>
              <a:spcAft>
                <a:spcPts val="0"/>
              </a:spcAft>
              <a:buSzPct val="95000"/>
              <a:buNone/>
            </a:pPr>
            <a:r>
              <a:rPr lang="en-US"/>
              <a:t>store reg(3), mem (A)</a:t>
            </a:r>
            <a:endParaRPr/>
          </a:p>
        </p:txBody>
      </p:sp>
      <p:pic>
        <p:nvPicPr>
          <p:cNvPr id="812" name="Google Shape;812;p56"/>
          <p:cNvPicPr preferRelativeResize="0"/>
          <p:nvPr/>
        </p:nvPicPr>
        <p:blipFill rotWithShape="1">
          <a:blip r:embed="rId3">
            <a:alphaModFix/>
          </a:blip>
          <a:srcRect b="0" l="0" r="0" t="0"/>
          <a:stretch/>
        </p:blipFill>
        <p:spPr>
          <a:xfrm rot="1420986">
            <a:off x="7357165" y="594008"/>
            <a:ext cx="1321596" cy="124485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0" st="0"/>
                                            </p:txEl>
                                          </p:spTgt>
                                        </p:tgtEl>
                                        <p:attrNameLst>
                                          <p:attrName>style.visibility</p:attrName>
                                        </p:attrNameLst>
                                      </p:cBhvr>
                                      <p:to>
                                        <p:strVal val="visible"/>
                                      </p:to>
                                    </p:set>
                                    <p:anim calcmode="lin" valueType="num">
                                      <p:cBhvr additive="base">
                                        <p:cTn dur="500"/>
                                        <p:tgtEl>
                                          <p:spTgt spid="81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1" st="1"/>
                                            </p:txEl>
                                          </p:spTgt>
                                        </p:tgtEl>
                                        <p:attrNameLst>
                                          <p:attrName>style.visibility</p:attrName>
                                        </p:attrNameLst>
                                      </p:cBhvr>
                                      <p:to>
                                        <p:strVal val="visible"/>
                                      </p:to>
                                    </p:set>
                                    <p:anim calcmode="lin" valueType="num">
                                      <p:cBhvr additive="base">
                                        <p:cTn dur="500"/>
                                        <p:tgtEl>
                                          <p:spTgt spid="81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2" st="2"/>
                                            </p:txEl>
                                          </p:spTgt>
                                        </p:tgtEl>
                                        <p:attrNameLst>
                                          <p:attrName>style.visibility</p:attrName>
                                        </p:attrNameLst>
                                      </p:cBhvr>
                                      <p:to>
                                        <p:strVal val="visible"/>
                                      </p:to>
                                    </p:set>
                                    <p:anim calcmode="lin" valueType="num">
                                      <p:cBhvr additive="base">
                                        <p:cTn dur="500"/>
                                        <p:tgtEl>
                                          <p:spTgt spid="81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3" st="3"/>
                                            </p:txEl>
                                          </p:spTgt>
                                        </p:tgtEl>
                                        <p:attrNameLst>
                                          <p:attrName>style.visibility</p:attrName>
                                        </p:attrNameLst>
                                      </p:cBhvr>
                                      <p:to>
                                        <p:strVal val="visible"/>
                                      </p:to>
                                    </p:set>
                                    <p:anim calcmode="lin" valueType="num">
                                      <p:cBhvr additive="base">
                                        <p:cTn dur="500"/>
                                        <p:tgtEl>
                                          <p:spTgt spid="8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4" st="4"/>
                                            </p:txEl>
                                          </p:spTgt>
                                        </p:tgtEl>
                                        <p:attrNameLst>
                                          <p:attrName>style.visibility</p:attrName>
                                        </p:attrNameLst>
                                      </p:cBhvr>
                                      <p:to>
                                        <p:strVal val="visible"/>
                                      </p:to>
                                    </p:set>
                                    <p:anim calcmode="lin" valueType="num">
                                      <p:cBhvr additive="base">
                                        <p:cTn dur="500"/>
                                        <p:tgtEl>
                                          <p:spTgt spid="81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0">
                                            <p:txEl>
                                              <p:pRg end="5" st="5"/>
                                            </p:txEl>
                                          </p:spTgt>
                                        </p:tgtEl>
                                        <p:attrNameLst>
                                          <p:attrName>style.visibility</p:attrName>
                                        </p:attrNameLst>
                                      </p:cBhvr>
                                      <p:to>
                                        <p:strVal val="visible"/>
                                      </p:to>
                                    </p:set>
                                    <p:anim calcmode="lin" valueType="num">
                                      <p:cBhvr additive="base">
                                        <p:cTn dur="500"/>
                                        <p:tgtEl>
                                          <p:spTgt spid="81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1">
                                            <p:txEl>
                                              <p:pRg end="0" st="0"/>
                                            </p:txEl>
                                          </p:spTgt>
                                        </p:tgtEl>
                                        <p:attrNameLst>
                                          <p:attrName>style.visibility</p:attrName>
                                        </p:attrNameLst>
                                      </p:cBhvr>
                                      <p:to>
                                        <p:strVal val="visible"/>
                                      </p:to>
                                    </p:set>
                                    <p:anim calcmode="lin" valueType="num">
                                      <p:cBhvr additive="base">
                                        <p:cTn dur="500"/>
                                        <p:tgtEl>
                                          <p:spTgt spid="81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1">
                                            <p:txEl>
                                              <p:pRg end="1" st="1"/>
                                            </p:txEl>
                                          </p:spTgt>
                                        </p:tgtEl>
                                        <p:attrNameLst>
                                          <p:attrName>style.visibility</p:attrName>
                                        </p:attrNameLst>
                                      </p:cBhvr>
                                      <p:to>
                                        <p:strVal val="visible"/>
                                      </p:to>
                                    </p:set>
                                    <p:anim calcmode="lin" valueType="num">
                                      <p:cBhvr additive="base">
                                        <p:cTn dur="500"/>
                                        <p:tgtEl>
                                          <p:spTgt spid="81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1">
                                            <p:txEl>
                                              <p:pRg end="2" st="2"/>
                                            </p:txEl>
                                          </p:spTgt>
                                        </p:tgtEl>
                                        <p:attrNameLst>
                                          <p:attrName>style.visibility</p:attrName>
                                        </p:attrNameLst>
                                      </p:cBhvr>
                                      <p:to>
                                        <p:strVal val="visible"/>
                                      </p:to>
                                    </p:set>
                                    <p:anim calcmode="lin" valueType="num">
                                      <p:cBhvr additive="base">
                                        <p:cTn dur="500"/>
                                        <p:tgtEl>
                                          <p:spTgt spid="81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1">
                                            <p:txEl>
                                              <p:pRg end="3" st="3"/>
                                            </p:txEl>
                                          </p:spTgt>
                                        </p:tgtEl>
                                        <p:attrNameLst>
                                          <p:attrName>style.visibility</p:attrName>
                                        </p:attrNameLst>
                                      </p:cBhvr>
                                      <p:to>
                                        <p:strVal val="visible"/>
                                      </p:to>
                                    </p:set>
                                    <p:anim calcmode="lin" valueType="num">
                                      <p:cBhvr additive="base">
                                        <p:cTn dur="500"/>
                                        <p:tgtEl>
                                          <p:spTgt spid="81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1">
                                            <p:txEl>
                                              <p:pRg end="4" st="4"/>
                                            </p:txEl>
                                          </p:spTgt>
                                        </p:tgtEl>
                                        <p:attrNameLst>
                                          <p:attrName>style.visibility</p:attrName>
                                        </p:attrNameLst>
                                      </p:cBhvr>
                                      <p:to>
                                        <p:strVal val="visible"/>
                                      </p:to>
                                    </p:set>
                                    <p:anim calcmode="lin" valueType="num">
                                      <p:cBhvr additive="base">
                                        <p:cTn dur="500"/>
                                        <p:tgtEl>
                                          <p:spTgt spid="81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57"/>
          <p:cNvSpPr txBox="1"/>
          <p:nvPr>
            <p:ph type="title"/>
          </p:nvPr>
        </p:nvSpPr>
        <p:spPr>
          <a:xfrm>
            <a:off x="685800" y="381000"/>
            <a:ext cx="7556313" cy="11161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Desirable Benchmark Characteristics</a:t>
            </a:r>
            <a:endParaRPr/>
          </a:p>
        </p:txBody>
      </p:sp>
      <p:grpSp>
        <p:nvGrpSpPr>
          <p:cNvPr id="819" name="Google Shape;819;p57"/>
          <p:cNvGrpSpPr/>
          <p:nvPr/>
        </p:nvGrpSpPr>
        <p:grpSpPr>
          <a:xfrm>
            <a:off x="457200" y="1905000"/>
            <a:ext cx="7848599" cy="4724399"/>
            <a:chOff x="0" y="0"/>
            <a:chExt cx="7848599" cy="4724399"/>
          </a:xfrm>
        </p:grpSpPr>
        <p:sp>
          <p:nvSpPr>
            <p:cNvPr id="820" name="Google Shape;820;p57"/>
            <p:cNvSpPr/>
            <p:nvPr/>
          </p:nvSpPr>
          <p:spPr>
            <a:xfrm>
              <a:off x="0" y="0"/>
              <a:ext cx="6278880" cy="1039368"/>
            </a:xfrm>
            <a:prstGeom prst="roundRect">
              <a:avLst>
                <a:gd fmla="val 10000" name="adj"/>
              </a:avLst>
            </a:prstGeom>
            <a:gradFill>
              <a:gsLst>
                <a:gs pos="0">
                  <a:srgbClr val="0036A6"/>
                </a:gs>
                <a:gs pos="68000">
                  <a:srgbClr val="618AD5"/>
                </a:gs>
                <a:gs pos="100000">
                  <a:srgbClr val="AFC3EE"/>
                </a:gs>
              </a:gsLst>
              <a:path path="circle">
                <a:fillToRect b="50%" l="50%" r="50%" t="50%"/>
              </a:path>
              <a:tileRect/>
            </a:gra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57"/>
            <p:cNvSpPr txBox="1"/>
            <p:nvPr/>
          </p:nvSpPr>
          <p:spPr>
            <a:xfrm>
              <a:off x="0" y="0"/>
              <a:ext cx="5130378" cy="1039368"/>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Written in a high-level language, making it portable across different machines</a:t>
              </a:r>
              <a:endParaRPr sz="1700">
                <a:solidFill>
                  <a:schemeClr val="lt1"/>
                </a:solidFill>
                <a:latin typeface="Times New Roman"/>
                <a:ea typeface="Times New Roman"/>
                <a:cs typeface="Times New Roman"/>
                <a:sym typeface="Times New Roman"/>
              </a:endParaRPr>
            </a:p>
          </p:txBody>
        </p:sp>
        <p:sp>
          <p:nvSpPr>
            <p:cNvPr id="822" name="Google Shape;822;p57"/>
            <p:cNvSpPr/>
            <p:nvPr/>
          </p:nvSpPr>
          <p:spPr>
            <a:xfrm>
              <a:off x="525856" y="1228344"/>
              <a:ext cx="6278880" cy="1039368"/>
            </a:xfrm>
            <a:prstGeom prst="roundRect">
              <a:avLst>
                <a:gd fmla="val 10000" name="adj"/>
              </a:avLst>
            </a:prstGeom>
            <a:gradFill>
              <a:gsLst>
                <a:gs pos="0">
                  <a:srgbClr val="0036A6"/>
                </a:gs>
                <a:gs pos="68000">
                  <a:srgbClr val="618AD5"/>
                </a:gs>
                <a:gs pos="100000">
                  <a:srgbClr val="AFC3EE"/>
                </a:gs>
              </a:gsLst>
              <a:path path="circle">
                <a:fillToRect b="50%" l="50%" r="50%" t="50%"/>
              </a:path>
              <a:tileRect/>
            </a:gradFill>
            <a:ln cap="flat" cmpd="sng" w="9525">
              <a:solidFill>
                <a:schemeClr val="accen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57"/>
            <p:cNvSpPr txBox="1"/>
            <p:nvPr/>
          </p:nvSpPr>
          <p:spPr>
            <a:xfrm>
              <a:off x="525856" y="1228344"/>
              <a:ext cx="5077434" cy="1039368"/>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Representative of a particular kind of programming style, such as system programming, numerical programming, or commercial programming</a:t>
              </a:r>
              <a:endParaRPr sz="1700">
                <a:solidFill>
                  <a:schemeClr val="lt1"/>
                </a:solidFill>
                <a:latin typeface="Times New Roman"/>
                <a:ea typeface="Times New Roman"/>
                <a:cs typeface="Times New Roman"/>
                <a:sym typeface="Times New Roman"/>
              </a:endParaRPr>
            </a:p>
          </p:txBody>
        </p:sp>
        <p:sp>
          <p:nvSpPr>
            <p:cNvPr id="824" name="Google Shape;824;p57"/>
            <p:cNvSpPr/>
            <p:nvPr/>
          </p:nvSpPr>
          <p:spPr>
            <a:xfrm>
              <a:off x="1043863" y="2456688"/>
              <a:ext cx="6278880" cy="1039368"/>
            </a:xfrm>
            <a:prstGeom prst="roundRect">
              <a:avLst>
                <a:gd fmla="val 10000" name="adj"/>
              </a:avLst>
            </a:prstGeom>
            <a:gradFill>
              <a:gsLst>
                <a:gs pos="0">
                  <a:srgbClr val="0036A6"/>
                </a:gs>
                <a:gs pos="68000">
                  <a:srgbClr val="618AD5"/>
                </a:gs>
                <a:gs pos="100000">
                  <a:srgbClr val="AFC3EE"/>
                </a:gs>
              </a:gsLst>
              <a:path path="circle">
                <a:fillToRect b="50%" l="50%" r="50%" t="50%"/>
              </a:path>
              <a:tileRect/>
            </a:gradFill>
            <a:ln cap="flat" cmpd="sng" w="9525">
              <a:solidFill>
                <a:schemeClr val="accen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57"/>
            <p:cNvSpPr txBox="1"/>
            <p:nvPr/>
          </p:nvSpPr>
          <p:spPr>
            <a:xfrm>
              <a:off x="1043863" y="2456688"/>
              <a:ext cx="5085283" cy="1039367"/>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Can be measured easily</a:t>
              </a:r>
              <a:endParaRPr sz="1700">
                <a:solidFill>
                  <a:schemeClr val="lt1"/>
                </a:solidFill>
                <a:latin typeface="Times New Roman"/>
                <a:ea typeface="Times New Roman"/>
                <a:cs typeface="Times New Roman"/>
                <a:sym typeface="Times New Roman"/>
              </a:endParaRPr>
            </a:p>
          </p:txBody>
        </p:sp>
        <p:sp>
          <p:nvSpPr>
            <p:cNvPr id="826" name="Google Shape;826;p57"/>
            <p:cNvSpPr/>
            <p:nvPr/>
          </p:nvSpPr>
          <p:spPr>
            <a:xfrm>
              <a:off x="1569719" y="3685031"/>
              <a:ext cx="6278880" cy="1039368"/>
            </a:xfrm>
            <a:prstGeom prst="roundRect">
              <a:avLst>
                <a:gd fmla="val 10000" name="adj"/>
              </a:avLst>
            </a:prstGeom>
            <a:gradFill>
              <a:gsLst>
                <a:gs pos="0">
                  <a:srgbClr val="0036A6"/>
                </a:gs>
                <a:gs pos="68000">
                  <a:srgbClr val="618AD5"/>
                </a:gs>
                <a:gs pos="100000">
                  <a:srgbClr val="AFC3EE"/>
                </a:gs>
              </a:gsLst>
              <a:path path="circle">
                <a:fillToRect b="50%" l="50%" r="50%" t="50%"/>
              </a:path>
              <a:tileRect/>
            </a:gradFill>
            <a:ln cap="flat" cmpd="sng" w="9525">
              <a:solidFill>
                <a:schemeClr val="accent1"/>
              </a:solidFill>
              <a:prstDash val="solid"/>
              <a:round/>
              <a:headEnd len="sm" w="sm" type="none"/>
              <a:tailEnd len="sm" w="sm" type="none"/>
            </a:ln>
            <a:effectLst>
              <a:outerShdw blurRad="57150" rotWithShape="0" algn="ctr" dir="5400000" dist="38100">
                <a:srgbClr val="022442">
                  <a:alpha val="4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57"/>
            <p:cNvSpPr txBox="1"/>
            <p:nvPr/>
          </p:nvSpPr>
          <p:spPr>
            <a:xfrm>
              <a:off x="1569719" y="3685031"/>
              <a:ext cx="5077434" cy="1039368"/>
            </a:xfrm>
            <a:prstGeom prst="rect">
              <a:avLst/>
            </a:prstGeom>
            <a:noFill/>
            <a:ln>
              <a:noFill/>
            </a:ln>
          </p:spPr>
          <p:txBody>
            <a:bodyPr anchorCtr="0" anchor="ctr" bIns="64750" lIns="64750" spcFirstLastPara="1" rIns="64750" wrap="square" tIns="64750">
              <a:noAutofit/>
            </a:bodyPr>
            <a:lstStyle/>
            <a:p>
              <a:pPr indent="0" lvl="0" marL="0" marR="0" rtl="0" algn="ctr">
                <a:lnSpc>
                  <a:spcPct val="90000"/>
                </a:lnSpc>
                <a:spcBef>
                  <a:spcPts val="0"/>
                </a:spcBef>
                <a:spcAft>
                  <a:spcPts val="0"/>
                </a:spcAft>
                <a:buNone/>
              </a:pPr>
              <a:r>
                <a:rPr lang="en-US" sz="1700">
                  <a:solidFill>
                    <a:schemeClr val="lt1"/>
                  </a:solidFill>
                  <a:latin typeface="Times New Roman"/>
                  <a:ea typeface="Times New Roman"/>
                  <a:cs typeface="Times New Roman"/>
                  <a:sym typeface="Times New Roman"/>
                </a:rPr>
                <a:t>Has wide distribution</a:t>
              </a:r>
              <a:endParaRPr sz="1700">
                <a:solidFill>
                  <a:schemeClr val="lt1"/>
                </a:solidFill>
                <a:latin typeface="Times New Roman"/>
                <a:ea typeface="Times New Roman"/>
                <a:cs typeface="Times New Roman"/>
                <a:sym typeface="Times New Roman"/>
              </a:endParaRPr>
            </a:p>
          </p:txBody>
        </p:sp>
        <p:sp>
          <p:nvSpPr>
            <p:cNvPr id="828" name="Google Shape;828;p57"/>
            <p:cNvSpPr/>
            <p:nvPr/>
          </p:nvSpPr>
          <p:spPr>
            <a:xfrm>
              <a:off x="5603290" y="796061"/>
              <a:ext cx="675589" cy="675589"/>
            </a:xfrm>
            <a:prstGeom prst="downArrow">
              <a:avLst>
                <a:gd fmla="val 55000" name="adj1"/>
                <a:gd fmla="val 4500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57"/>
            <p:cNvSpPr txBox="1"/>
            <p:nvPr/>
          </p:nvSpPr>
          <p:spPr>
            <a:xfrm>
              <a:off x="5603290" y="796061"/>
              <a:ext cx="675589" cy="675589"/>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t/>
              </a:r>
              <a:endParaRPr sz="3000">
                <a:solidFill>
                  <a:schemeClr val="dk1"/>
                </a:solidFill>
                <a:latin typeface="Times New Roman"/>
                <a:ea typeface="Times New Roman"/>
                <a:cs typeface="Times New Roman"/>
                <a:sym typeface="Times New Roman"/>
              </a:endParaRPr>
            </a:p>
          </p:txBody>
        </p:sp>
        <p:sp>
          <p:nvSpPr>
            <p:cNvPr id="830" name="Google Shape;830;p57"/>
            <p:cNvSpPr/>
            <p:nvPr/>
          </p:nvSpPr>
          <p:spPr>
            <a:xfrm>
              <a:off x="6129147" y="2024405"/>
              <a:ext cx="675589" cy="675589"/>
            </a:xfrm>
            <a:prstGeom prst="downArrow">
              <a:avLst>
                <a:gd fmla="val 55000" name="adj1"/>
                <a:gd fmla="val 4500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57"/>
            <p:cNvSpPr txBox="1"/>
            <p:nvPr/>
          </p:nvSpPr>
          <p:spPr>
            <a:xfrm>
              <a:off x="6129147" y="2024405"/>
              <a:ext cx="675589" cy="675589"/>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t/>
              </a:r>
              <a:endParaRPr sz="3000">
                <a:solidFill>
                  <a:schemeClr val="dk1"/>
                </a:solidFill>
                <a:latin typeface="Times New Roman"/>
                <a:ea typeface="Times New Roman"/>
                <a:cs typeface="Times New Roman"/>
                <a:sym typeface="Times New Roman"/>
              </a:endParaRPr>
            </a:p>
          </p:txBody>
        </p:sp>
        <p:sp>
          <p:nvSpPr>
            <p:cNvPr id="832" name="Google Shape;832;p57"/>
            <p:cNvSpPr/>
            <p:nvPr/>
          </p:nvSpPr>
          <p:spPr>
            <a:xfrm>
              <a:off x="6647154" y="3252749"/>
              <a:ext cx="675589" cy="675589"/>
            </a:xfrm>
            <a:prstGeom prst="downArrow">
              <a:avLst>
                <a:gd fmla="val 55000" name="adj1"/>
                <a:gd fmla="val 45000" name="adj2"/>
              </a:avLst>
            </a:prstGeom>
            <a:solidFill>
              <a:srgbClr val="CAD4E8">
                <a:alpha val="89803"/>
              </a:srgbClr>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57"/>
            <p:cNvSpPr txBox="1"/>
            <p:nvPr/>
          </p:nvSpPr>
          <p:spPr>
            <a:xfrm>
              <a:off x="6647154" y="3252749"/>
              <a:ext cx="675589" cy="675589"/>
            </a:xfrm>
            <a:prstGeom prst="rect">
              <a:avLst/>
            </a:prstGeom>
            <a:noFill/>
            <a:ln>
              <a:noFill/>
            </a:ln>
          </p:spPr>
          <p:txBody>
            <a:bodyPr anchorCtr="0" anchor="ctr" bIns="38100" lIns="38100" spcFirstLastPara="1" rIns="38100" wrap="square" tIns="38100">
              <a:noAutofit/>
            </a:bodyPr>
            <a:lstStyle/>
            <a:p>
              <a:pPr indent="0" lvl="0" marL="0" marR="0" rtl="0" algn="ctr">
                <a:lnSpc>
                  <a:spcPct val="90000"/>
                </a:lnSpc>
                <a:spcBef>
                  <a:spcPts val="0"/>
                </a:spcBef>
                <a:spcAft>
                  <a:spcPts val="0"/>
                </a:spcAft>
                <a:buNone/>
              </a:pPr>
              <a:r>
                <a:t/>
              </a:r>
              <a:endParaRPr sz="3000">
                <a:solidFill>
                  <a:schemeClr val="dk1"/>
                </a:solidFill>
                <a:latin typeface="Times New Roman"/>
                <a:ea typeface="Times New Roman"/>
                <a:cs typeface="Times New Roman"/>
                <a:sym typeface="Times New Roman"/>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sp>
        <p:nvSpPr>
          <p:cNvPr id="839" name="Google Shape;839;p58"/>
          <p:cNvSpPr txBox="1"/>
          <p:nvPr>
            <p:ph type="title"/>
          </p:nvPr>
        </p:nvSpPr>
        <p:spPr>
          <a:xfrm>
            <a:off x="498474" y="484094"/>
            <a:ext cx="7556313" cy="1268506"/>
          </a:xfrm>
          <a:prstGeom prst="rect">
            <a:avLst/>
          </a:prstGeom>
          <a:noFill/>
          <a:ln>
            <a:noFill/>
          </a:ln>
        </p:spPr>
        <p:txBody>
          <a:bodyPr anchorCtr="0" anchor="b" bIns="0" lIns="0" spcFirstLastPara="1" rIns="0" wrap="square" tIns="45700">
            <a:normAutofit fontScale="90000"/>
          </a:bodyPr>
          <a:lstStyle/>
          <a:p>
            <a:pPr indent="0" lvl="0" marL="0" rtl="0" algn="l">
              <a:spcBef>
                <a:spcPts val="0"/>
              </a:spcBef>
              <a:spcAft>
                <a:spcPts val="0"/>
              </a:spcAft>
              <a:buClr>
                <a:schemeClr val="dk2"/>
              </a:buClr>
              <a:buSzPct val="100000"/>
              <a:buFont typeface="Calibri"/>
              <a:buNone/>
            </a:pPr>
            <a:r>
              <a:rPr lang="en-US"/>
              <a:t>System Performance Evaluation Corporation (SPEC)</a:t>
            </a:r>
            <a:endParaRPr/>
          </a:p>
        </p:txBody>
      </p:sp>
      <p:sp>
        <p:nvSpPr>
          <p:cNvPr id="840" name="Google Shape;840;p5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Benchmark suite</a:t>
            </a:r>
            <a:endParaRPr/>
          </a:p>
          <a:p>
            <a:pPr indent="-246888" lvl="1" marL="640080" rtl="0" algn="l">
              <a:spcBef>
                <a:spcPts val="480"/>
              </a:spcBef>
              <a:spcAft>
                <a:spcPts val="0"/>
              </a:spcAft>
              <a:buSzPts val="2040"/>
              <a:buChar char="⚫"/>
            </a:pPr>
            <a:r>
              <a:rPr lang="en-US"/>
              <a:t>A collection of programs, defined in a high-level language</a:t>
            </a:r>
            <a:endParaRPr/>
          </a:p>
          <a:p>
            <a:pPr indent="-246888" lvl="1" marL="640080" rtl="0" algn="l">
              <a:spcBef>
                <a:spcPts val="480"/>
              </a:spcBef>
              <a:spcAft>
                <a:spcPts val="0"/>
              </a:spcAft>
              <a:buSzPts val="2040"/>
              <a:buChar char="⚫"/>
            </a:pPr>
            <a:r>
              <a:rPr lang="en-US"/>
              <a:t>Attempts to provide a representative test of a computer in a particular application or system programming area</a:t>
            </a:r>
            <a:endParaRPr/>
          </a:p>
          <a:p>
            <a:pPr indent="-228600" lvl="1" marL="228600" rtl="0" algn="l">
              <a:spcBef>
                <a:spcPts val="2000"/>
              </a:spcBef>
              <a:spcAft>
                <a:spcPts val="0"/>
              </a:spcAft>
              <a:buClr>
                <a:schemeClr val="accent1"/>
              </a:buClr>
              <a:buSzPts val="1700"/>
              <a:buChar char="⚫"/>
            </a:pPr>
            <a:r>
              <a:rPr lang="en-US" sz="2000"/>
              <a:t>SPEC</a:t>
            </a:r>
            <a:endParaRPr/>
          </a:p>
          <a:p>
            <a:pPr indent="-246888" lvl="1" marL="640080" rtl="0" algn="l">
              <a:spcBef>
                <a:spcPts val="480"/>
              </a:spcBef>
              <a:spcAft>
                <a:spcPts val="0"/>
              </a:spcAft>
              <a:buSzPts val="2040"/>
              <a:buChar char="⚫"/>
            </a:pPr>
            <a:r>
              <a:rPr lang="en-US"/>
              <a:t>An industry consortium</a:t>
            </a:r>
            <a:endParaRPr/>
          </a:p>
          <a:p>
            <a:pPr indent="-246888" lvl="1" marL="640080" rtl="0" algn="l">
              <a:spcBef>
                <a:spcPts val="480"/>
              </a:spcBef>
              <a:spcAft>
                <a:spcPts val="0"/>
              </a:spcAft>
              <a:buSzPts val="2040"/>
              <a:buChar char="⚫"/>
            </a:pPr>
            <a:r>
              <a:rPr lang="en-US"/>
              <a:t>Defines and maintains the best known collection of benchmark suites</a:t>
            </a:r>
            <a:endParaRPr/>
          </a:p>
          <a:p>
            <a:pPr indent="-246888" lvl="1" marL="640080" rtl="0" algn="l">
              <a:spcBef>
                <a:spcPts val="480"/>
              </a:spcBef>
              <a:spcAft>
                <a:spcPts val="0"/>
              </a:spcAft>
              <a:buSzPts val="2040"/>
              <a:buChar char="⚫"/>
            </a:pPr>
            <a:r>
              <a:rPr lang="en-US"/>
              <a:t>Performance measurements are widely used for comparison and research purposes</a:t>
            </a:r>
            <a:endParaRPr/>
          </a:p>
          <a:p>
            <a:pPr indent="-117475" lvl="0" marL="274320" rtl="0" algn="l">
              <a:spcBef>
                <a:spcPts val="520"/>
              </a:spcBef>
              <a:spcAft>
                <a:spcPts val="0"/>
              </a:spcAft>
              <a:buSzPts val="2470"/>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0" st="0"/>
                                            </p:txEl>
                                          </p:spTgt>
                                        </p:tgtEl>
                                        <p:attrNameLst>
                                          <p:attrName>style.visibility</p:attrName>
                                        </p:attrNameLst>
                                      </p:cBhvr>
                                      <p:to>
                                        <p:strVal val="visible"/>
                                      </p:to>
                                    </p:set>
                                    <p:anim calcmode="lin" valueType="num">
                                      <p:cBhvr additive="base">
                                        <p:cTn dur="500"/>
                                        <p:tgtEl>
                                          <p:spTgt spid="84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1" st="1"/>
                                            </p:txEl>
                                          </p:spTgt>
                                        </p:tgtEl>
                                        <p:attrNameLst>
                                          <p:attrName>style.visibility</p:attrName>
                                        </p:attrNameLst>
                                      </p:cBhvr>
                                      <p:to>
                                        <p:strVal val="visible"/>
                                      </p:to>
                                    </p:set>
                                    <p:anim calcmode="lin" valueType="num">
                                      <p:cBhvr additive="base">
                                        <p:cTn dur="500"/>
                                        <p:tgtEl>
                                          <p:spTgt spid="84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2" st="2"/>
                                            </p:txEl>
                                          </p:spTgt>
                                        </p:tgtEl>
                                        <p:attrNameLst>
                                          <p:attrName>style.visibility</p:attrName>
                                        </p:attrNameLst>
                                      </p:cBhvr>
                                      <p:to>
                                        <p:strVal val="visible"/>
                                      </p:to>
                                    </p:set>
                                    <p:anim calcmode="lin" valueType="num">
                                      <p:cBhvr additive="base">
                                        <p:cTn dur="500"/>
                                        <p:tgtEl>
                                          <p:spTgt spid="84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3" st="3"/>
                                            </p:txEl>
                                          </p:spTgt>
                                        </p:tgtEl>
                                        <p:attrNameLst>
                                          <p:attrName>style.visibility</p:attrName>
                                        </p:attrNameLst>
                                      </p:cBhvr>
                                      <p:to>
                                        <p:strVal val="visible"/>
                                      </p:to>
                                    </p:set>
                                    <p:anim calcmode="lin" valueType="num">
                                      <p:cBhvr additive="base">
                                        <p:cTn dur="500"/>
                                        <p:tgtEl>
                                          <p:spTgt spid="84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4" st="4"/>
                                            </p:txEl>
                                          </p:spTgt>
                                        </p:tgtEl>
                                        <p:attrNameLst>
                                          <p:attrName>style.visibility</p:attrName>
                                        </p:attrNameLst>
                                      </p:cBhvr>
                                      <p:to>
                                        <p:strVal val="visible"/>
                                      </p:to>
                                    </p:set>
                                    <p:anim calcmode="lin" valueType="num">
                                      <p:cBhvr additive="base">
                                        <p:cTn dur="500"/>
                                        <p:tgtEl>
                                          <p:spTgt spid="84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5" st="5"/>
                                            </p:txEl>
                                          </p:spTgt>
                                        </p:tgtEl>
                                        <p:attrNameLst>
                                          <p:attrName>style.visibility</p:attrName>
                                        </p:attrNameLst>
                                      </p:cBhvr>
                                      <p:to>
                                        <p:strVal val="visible"/>
                                      </p:to>
                                    </p:set>
                                    <p:anim calcmode="lin" valueType="num">
                                      <p:cBhvr additive="base">
                                        <p:cTn dur="500"/>
                                        <p:tgtEl>
                                          <p:spTgt spid="84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6" st="6"/>
                                            </p:txEl>
                                          </p:spTgt>
                                        </p:tgtEl>
                                        <p:attrNameLst>
                                          <p:attrName>style.visibility</p:attrName>
                                        </p:attrNameLst>
                                      </p:cBhvr>
                                      <p:to>
                                        <p:strVal val="visible"/>
                                      </p:to>
                                    </p:set>
                                    <p:anim calcmode="lin" valueType="num">
                                      <p:cBhvr additive="base">
                                        <p:cTn dur="500"/>
                                        <p:tgtEl>
                                          <p:spTgt spid="84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0">
                                            <p:txEl>
                                              <p:pRg end="7" st="7"/>
                                            </p:txEl>
                                          </p:spTgt>
                                        </p:tgtEl>
                                        <p:attrNameLst>
                                          <p:attrName>style.visibility</p:attrName>
                                        </p:attrNameLst>
                                      </p:cBhvr>
                                      <p:to>
                                        <p:strVal val="visible"/>
                                      </p:to>
                                    </p:set>
                                    <p:anim calcmode="lin" valueType="num">
                                      <p:cBhvr additive="base">
                                        <p:cTn dur="500"/>
                                        <p:tgtEl>
                                          <p:spTgt spid="84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5" name="Shape 845"/>
        <p:cNvGrpSpPr/>
        <p:nvPr/>
      </p:nvGrpSpPr>
      <p:grpSpPr>
        <a:xfrm>
          <a:off x="0" y="0"/>
          <a:ext cx="0" cy="0"/>
          <a:chOff x="0" y="0"/>
          <a:chExt cx="0" cy="0"/>
        </a:xfrm>
      </p:grpSpPr>
      <p:sp>
        <p:nvSpPr>
          <p:cNvPr id="846" name="Google Shape;846;p59"/>
          <p:cNvSpPr txBox="1"/>
          <p:nvPr>
            <p:ph type="title"/>
          </p:nvPr>
        </p:nvSpPr>
        <p:spPr>
          <a:xfrm>
            <a:off x="2555776" y="908720"/>
            <a:ext cx="3255264" cy="730002"/>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3200"/>
              <a:buFont typeface="Calibri"/>
              <a:buNone/>
            </a:pPr>
            <a:r>
              <a:rPr lang="en-US" sz="3200"/>
              <a:t>SPEC </a:t>
            </a:r>
            <a:br>
              <a:rPr lang="en-US" sz="3200"/>
            </a:br>
            <a:r>
              <a:rPr lang="en-US" sz="2400"/>
              <a:t>CPU2006</a:t>
            </a:r>
            <a:endParaRPr sz="2400"/>
          </a:p>
        </p:txBody>
      </p:sp>
      <p:pic>
        <p:nvPicPr>
          <p:cNvPr id="847" name="Google Shape;847;p59"/>
          <p:cNvPicPr preferRelativeResize="0"/>
          <p:nvPr/>
        </p:nvPicPr>
        <p:blipFill rotWithShape="1">
          <a:blip r:embed="rId3">
            <a:alphaModFix/>
          </a:blip>
          <a:srcRect b="0" l="0" r="0" t="0"/>
          <a:stretch/>
        </p:blipFill>
        <p:spPr>
          <a:xfrm>
            <a:off x="6948264" y="476672"/>
            <a:ext cx="1362720" cy="1337792"/>
          </a:xfrm>
          <a:prstGeom prst="rect">
            <a:avLst/>
          </a:prstGeom>
          <a:noFill/>
          <a:ln>
            <a:noFill/>
          </a:ln>
        </p:spPr>
      </p:pic>
      <p:sp>
        <p:nvSpPr>
          <p:cNvPr id="848" name="Google Shape;848;p59"/>
          <p:cNvSpPr/>
          <p:nvPr/>
        </p:nvSpPr>
        <p:spPr>
          <a:xfrm>
            <a:off x="0" y="1700809"/>
            <a:ext cx="9144000" cy="48013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best known of the SPEC benchmark suites is SPEC CPU2006.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This is the industry standard suite for processor-intensive applications.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That is, SPEC CPU2006 is appropriate for measuring performance for applications that spend most of their time doing computation rather than I/O.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CPU2006 suite is based on existing applications that have already been ported to a wide variety of platforms by SPEC industry members. It consists of 17 floating-point programs written in C, C++, and Fortran; and 12 integer programs written in C and C++. </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The suite contains over 3 million lines of code. This is the fifth generation of processor-intensive suites from SPEC, replacing SPEC CPU2000, SPEC CPU95, SPEC CPU92, and SPEC CPU89 [HENN07].</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Other SPEC suites include the following:</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SPECjvm98: </a:t>
            </a:r>
            <a:r>
              <a:rPr lang="en-US" sz="1800">
                <a:solidFill>
                  <a:schemeClr val="dk1"/>
                </a:solidFill>
                <a:latin typeface="Times New Roman"/>
                <a:ea typeface="Times New Roman"/>
                <a:cs typeface="Times New Roman"/>
                <a:sym typeface="Times New Roman"/>
              </a:rPr>
              <a:t>Intended to evaluate performance of the combined hardware and software aspects of the Java Virtual Machine (JVM) client platform</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SPECjbb2000 (Java Business Benchmark): </a:t>
            </a:r>
            <a:r>
              <a:rPr lang="en-US" sz="1800">
                <a:solidFill>
                  <a:schemeClr val="dk1"/>
                </a:solidFill>
                <a:latin typeface="Times New Roman"/>
                <a:ea typeface="Times New Roman"/>
                <a:cs typeface="Times New Roman"/>
                <a:sym typeface="Times New Roman"/>
              </a:rPr>
              <a:t>A benchmark for evaluating server-side Java-based electronic commerce applications</a:t>
            </a:r>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 </a:t>
            </a:r>
            <a:r>
              <a:rPr b="1" lang="en-US" sz="1800">
                <a:solidFill>
                  <a:schemeClr val="dk1"/>
                </a:solidFill>
                <a:latin typeface="Times New Roman"/>
                <a:ea typeface="Times New Roman"/>
                <a:cs typeface="Times New Roman"/>
                <a:sym typeface="Times New Roman"/>
              </a:rPr>
              <a:t>SPECweb99: </a:t>
            </a:r>
            <a:r>
              <a:rPr lang="en-US" sz="1800">
                <a:solidFill>
                  <a:schemeClr val="dk1"/>
                </a:solidFill>
                <a:latin typeface="Times New Roman"/>
                <a:ea typeface="Times New Roman"/>
                <a:cs typeface="Times New Roman"/>
                <a:sym typeface="Times New Roman"/>
              </a:rPr>
              <a:t>Evaluates the performance of World Wide Web (WWW) servers • </a:t>
            </a:r>
            <a:r>
              <a:rPr b="1" lang="en-US" sz="1800">
                <a:solidFill>
                  <a:schemeClr val="dk1"/>
                </a:solidFill>
                <a:latin typeface="Times New Roman"/>
                <a:ea typeface="Times New Roman"/>
                <a:cs typeface="Times New Roman"/>
                <a:sym typeface="Times New Roman"/>
              </a:rPr>
              <a:t>SPECmail2001: </a:t>
            </a:r>
            <a:r>
              <a:rPr lang="en-US" sz="1800">
                <a:solidFill>
                  <a:schemeClr val="dk1"/>
                </a:solidFill>
                <a:latin typeface="Times New Roman"/>
                <a:ea typeface="Times New Roman"/>
                <a:cs typeface="Times New Roman"/>
                <a:sym typeface="Times New Roman"/>
              </a:rPr>
              <a:t>Designed to measure a system’s performance acting as a mail server</a:t>
            </a:r>
            <a:endParaRPr sz="1800">
              <a:solidFill>
                <a:schemeClr val="dk1"/>
              </a:solidFill>
              <a:latin typeface="Times New Roman"/>
              <a:ea typeface="Times New Roman"/>
              <a:cs typeface="Times New Roman"/>
              <a:sym typeface="Times New Roman"/>
            </a:endParaRPr>
          </a:p>
        </p:txBody>
      </p:sp>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0" st="0"/>
                                            </p:txEl>
                                          </p:spTgt>
                                        </p:tgtEl>
                                        <p:attrNameLst>
                                          <p:attrName>style.visibility</p:attrName>
                                        </p:attrNameLst>
                                      </p:cBhvr>
                                      <p:to>
                                        <p:strVal val="visible"/>
                                      </p:to>
                                    </p:set>
                                    <p:anim calcmode="lin" valueType="num">
                                      <p:cBhvr additive="base">
                                        <p:cTn dur="500"/>
                                        <p:tgtEl>
                                          <p:spTgt spid="848">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1" st="1"/>
                                            </p:txEl>
                                          </p:spTgt>
                                        </p:tgtEl>
                                        <p:attrNameLst>
                                          <p:attrName>style.visibility</p:attrName>
                                        </p:attrNameLst>
                                      </p:cBhvr>
                                      <p:to>
                                        <p:strVal val="visible"/>
                                      </p:to>
                                    </p:set>
                                    <p:anim calcmode="lin" valueType="num">
                                      <p:cBhvr additive="base">
                                        <p:cTn dur="500"/>
                                        <p:tgtEl>
                                          <p:spTgt spid="848">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2" st="2"/>
                                            </p:txEl>
                                          </p:spTgt>
                                        </p:tgtEl>
                                        <p:attrNameLst>
                                          <p:attrName>style.visibility</p:attrName>
                                        </p:attrNameLst>
                                      </p:cBhvr>
                                      <p:to>
                                        <p:strVal val="visible"/>
                                      </p:to>
                                    </p:set>
                                    <p:anim calcmode="lin" valueType="num">
                                      <p:cBhvr additive="base">
                                        <p:cTn dur="500"/>
                                        <p:tgtEl>
                                          <p:spTgt spid="848">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3" st="3"/>
                                            </p:txEl>
                                          </p:spTgt>
                                        </p:tgtEl>
                                        <p:attrNameLst>
                                          <p:attrName>style.visibility</p:attrName>
                                        </p:attrNameLst>
                                      </p:cBhvr>
                                      <p:to>
                                        <p:strVal val="visible"/>
                                      </p:to>
                                    </p:set>
                                    <p:anim calcmode="lin" valueType="num">
                                      <p:cBhvr additive="base">
                                        <p:cTn dur="500"/>
                                        <p:tgtEl>
                                          <p:spTgt spid="84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4" st="4"/>
                                            </p:txEl>
                                          </p:spTgt>
                                        </p:tgtEl>
                                        <p:attrNameLst>
                                          <p:attrName>style.visibility</p:attrName>
                                        </p:attrNameLst>
                                      </p:cBhvr>
                                      <p:to>
                                        <p:strVal val="visible"/>
                                      </p:to>
                                    </p:set>
                                    <p:anim calcmode="lin" valueType="num">
                                      <p:cBhvr additive="base">
                                        <p:cTn dur="500"/>
                                        <p:tgtEl>
                                          <p:spTgt spid="84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5" st="5"/>
                                            </p:txEl>
                                          </p:spTgt>
                                        </p:tgtEl>
                                        <p:attrNameLst>
                                          <p:attrName>style.visibility</p:attrName>
                                        </p:attrNameLst>
                                      </p:cBhvr>
                                      <p:to>
                                        <p:strVal val="visible"/>
                                      </p:to>
                                    </p:set>
                                    <p:anim calcmode="lin" valueType="num">
                                      <p:cBhvr additive="base">
                                        <p:cTn dur="500"/>
                                        <p:tgtEl>
                                          <p:spTgt spid="848">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6" st="6"/>
                                            </p:txEl>
                                          </p:spTgt>
                                        </p:tgtEl>
                                        <p:attrNameLst>
                                          <p:attrName>style.visibility</p:attrName>
                                        </p:attrNameLst>
                                      </p:cBhvr>
                                      <p:to>
                                        <p:strVal val="visible"/>
                                      </p:to>
                                    </p:set>
                                    <p:anim calcmode="lin" valueType="num">
                                      <p:cBhvr additive="base">
                                        <p:cTn dur="500"/>
                                        <p:tgtEl>
                                          <p:spTgt spid="848">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7" st="7"/>
                                            </p:txEl>
                                          </p:spTgt>
                                        </p:tgtEl>
                                        <p:attrNameLst>
                                          <p:attrName>style.visibility</p:attrName>
                                        </p:attrNameLst>
                                      </p:cBhvr>
                                      <p:to>
                                        <p:strVal val="visible"/>
                                      </p:to>
                                    </p:set>
                                    <p:anim calcmode="lin" valueType="num">
                                      <p:cBhvr additive="base">
                                        <p:cTn dur="500"/>
                                        <p:tgtEl>
                                          <p:spTgt spid="848">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48">
                                            <p:txEl>
                                              <p:pRg end="8" st="8"/>
                                            </p:txEl>
                                          </p:spTgt>
                                        </p:tgtEl>
                                        <p:attrNameLst>
                                          <p:attrName>style.visibility</p:attrName>
                                        </p:attrNameLst>
                                      </p:cBhvr>
                                      <p:to>
                                        <p:strVal val="visible"/>
                                      </p:to>
                                    </p:set>
                                    <p:anim calcmode="lin" valueType="num">
                                      <p:cBhvr additive="base">
                                        <p:cTn dur="500"/>
                                        <p:tgtEl>
                                          <p:spTgt spid="848">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0"/>
          <p:cNvSpPr txBox="1"/>
          <p:nvPr>
            <p:ph type="title"/>
          </p:nvPr>
        </p:nvSpPr>
        <p:spPr>
          <a:xfrm>
            <a:off x="304800" y="1905000"/>
            <a:ext cx="3255264" cy="1162050"/>
          </a:xfrm>
          <a:prstGeom prst="rect">
            <a:avLst/>
          </a:prstGeom>
          <a:noFill/>
          <a:ln>
            <a:noFill/>
          </a:ln>
        </p:spPr>
        <p:txBody>
          <a:bodyPr anchorCtr="0" anchor="b" bIns="0" lIns="0" spcFirstLastPara="1" rIns="0" wrap="square" tIns="45700">
            <a:noAutofit/>
          </a:bodyPr>
          <a:lstStyle/>
          <a:p>
            <a:pPr indent="0" lvl="0" marL="0" rtl="0" algn="ctr">
              <a:spcBef>
                <a:spcPts val="0"/>
              </a:spcBef>
              <a:spcAft>
                <a:spcPts val="0"/>
              </a:spcAft>
              <a:buClr>
                <a:schemeClr val="dk2"/>
              </a:buClr>
              <a:buSzPts val="4400"/>
              <a:buFont typeface="Calibri"/>
              <a:buNone/>
            </a:pPr>
            <a:r>
              <a:rPr lang="en-US" sz="4400"/>
              <a:t>Amdahl’s Law</a:t>
            </a:r>
            <a:endParaRPr/>
          </a:p>
        </p:txBody>
      </p:sp>
      <p:sp>
        <p:nvSpPr>
          <p:cNvPr id="855" name="Google Shape;855;p60"/>
          <p:cNvSpPr txBox="1"/>
          <p:nvPr>
            <p:ph idx="2" type="body"/>
          </p:nvPr>
        </p:nvSpPr>
        <p:spPr>
          <a:xfrm>
            <a:off x="4168775" y="457200"/>
            <a:ext cx="4597399" cy="6096000"/>
          </a:xfrm>
          <a:prstGeom prst="rect">
            <a:avLst/>
          </a:prstGeom>
          <a:noFill/>
          <a:ln>
            <a:noFill/>
          </a:ln>
        </p:spPr>
        <p:txBody>
          <a:bodyPr anchorCtr="0" anchor="t" bIns="45700" lIns="91425" spcFirstLastPara="1" rIns="91425" wrap="square" tIns="0">
            <a:normAutofit fontScale="92500" lnSpcReduction="20000"/>
          </a:bodyPr>
          <a:lstStyle/>
          <a:p>
            <a:pPr indent="-274320" lvl="0" marL="274320" rtl="0" algn="l">
              <a:spcBef>
                <a:spcPts val="0"/>
              </a:spcBef>
              <a:spcAft>
                <a:spcPts val="0"/>
              </a:spcAft>
              <a:buSzPct val="95000"/>
              <a:buChar char="⚫"/>
            </a:pPr>
            <a:r>
              <a:rPr lang="en-US"/>
              <a:t>Gene Amdahl [AMDA67]</a:t>
            </a:r>
            <a:endParaRPr/>
          </a:p>
          <a:p>
            <a:pPr indent="-274320" lvl="0" marL="274320" rtl="0" algn="l">
              <a:spcBef>
                <a:spcPts val="518"/>
              </a:spcBef>
              <a:spcAft>
                <a:spcPts val="0"/>
              </a:spcAft>
              <a:buSzPct val="95000"/>
              <a:buChar char="⚫"/>
            </a:pPr>
            <a:r>
              <a:rPr lang="en-US"/>
              <a:t>Deals with the potential speedup of a program using multiple processors compared to a single processor</a:t>
            </a:r>
            <a:endParaRPr/>
          </a:p>
          <a:p>
            <a:pPr indent="-274320" lvl="0" marL="274320" rtl="0" algn="l">
              <a:spcBef>
                <a:spcPts val="518"/>
              </a:spcBef>
              <a:spcAft>
                <a:spcPts val="0"/>
              </a:spcAft>
              <a:buSzPct val="95000"/>
              <a:buChar char="⚫"/>
            </a:pPr>
            <a:r>
              <a:rPr lang="en-US"/>
              <a:t>Illustrates the problems facing industry in the development of multi-core machines</a:t>
            </a:r>
            <a:endParaRPr/>
          </a:p>
          <a:p>
            <a:pPr indent="-246888" lvl="1" marL="640080" rtl="0" algn="l">
              <a:spcBef>
                <a:spcPts val="481"/>
              </a:spcBef>
              <a:spcAft>
                <a:spcPts val="0"/>
              </a:spcAft>
              <a:buSzPct val="85000"/>
              <a:buChar char="⚫"/>
            </a:pPr>
            <a:r>
              <a:rPr lang="en-US"/>
              <a:t>Software must be adapted to a highly parallel execution environment to exploit the power of parallel processing</a:t>
            </a:r>
            <a:endParaRPr/>
          </a:p>
          <a:p>
            <a:pPr indent="-274320" lvl="0" marL="274320" rtl="0" algn="l">
              <a:spcBef>
                <a:spcPts val="518"/>
              </a:spcBef>
              <a:spcAft>
                <a:spcPts val="0"/>
              </a:spcAft>
              <a:buSzPct val="95000"/>
              <a:buChar char="⚫"/>
            </a:pPr>
            <a:r>
              <a:rPr lang="en-US"/>
              <a:t>Can be generalized to evaluate and design technical improvement in a computer system</a:t>
            </a:r>
            <a:endParaRPr/>
          </a:p>
          <a:p>
            <a:pPr indent="-118078" lvl="0" marL="274320" rtl="0" algn="l">
              <a:spcBef>
                <a:spcPts val="518"/>
              </a:spcBef>
              <a:spcAft>
                <a:spcPts val="0"/>
              </a:spcAft>
              <a:buSzPct val="95000"/>
              <a:buNone/>
            </a:pPr>
            <a:r>
              <a:t/>
            </a:r>
            <a:endParaRPr/>
          </a:p>
          <a:p>
            <a:pPr indent="-118078" lvl="0" marL="274320" rtl="0" algn="l">
              <a:spcBef>
                <a:spcPts val="518"/>
              </a:spcBef>
              <a:spcAft>
                <a:spcPts val="0"/>
              </a:spcAft>
              <a:buSzPct val="95000"/>
              <a:buNone/>
            </a:pPr>
            <a:r>
              <a:t/>
            </a:r>
            <a:endParaRPr/>
          </a:p>
          <a:p>
            <a:pPr indent="-118078" lvl="0" marL="274320" rtl="0" algn="l">
              <a:spcBef>
                <a:spcPts val="518"/>
              </a:spcBef>
              <a:spcAft>
                <a:spcPts val="0"/>
              </a:spcAft>
              <a:buSzPct val="95000"/>
              <a:buNone/>
            </a:pPr>
            <a:r>
              <a:t/>
            </a:r>
            <a:endParaRPr/>
          </a:p>
          <a:p>
            <a:pPr indent="-118078" lvl="0" marL="274320" rtl="0" algn="l">
              <a:spcBef>
                <a:spcPts val="518"/>
              </a:spcBef>
              <a:spcAft>
                <a:spcPts val="0"/>
              </a:spcAft>
              <a:buSzPct val="95000"/>
              <a:buNone/>
            </a:pPr>
            <a:r>
              <a:t/>
            </a:r>
            <a:endParaRPr/>
          </a:p>
          <a:p>
            <a:pPr indent="-118078" lvl="0" marL="274320" rtl="0" algn="l">
              <a:spcBef>
                <a:spcPts val="518"/>
              </a:spcBef>
              <a:spcAft>
                <a:spcPts val="0"/>
              </a:spcAft>
              <a:buSzPct val="95000"/>
              <a:buNone/>
            </a:pPr>
            <a:r>
              <a:t/>
            </a:r>
            <a:endParaRPr/>
          </a:p>
        </p:txBody>
      </p:sp>
      <p:pic>
        <p:nvPicPr>
          <p:cNvPr id="856" name="Google Shape;856;p60"/>
          <p:cNvPicPr preferRelativeResize="0"/>
          <p:nvPr/>
        </p:nvPicPr>
        <p:blipFill rotWithShape="1">
          <a:blip r:embed="rId3">
            <a:alphaModFix/>
          </a:blip>
          <a:srcRect b="0" l="0" r="0" t="0"/>
          <a:stretch/>
        </p:blipFill>
        <p:spPr>
          <a:xfrm>
            <a:off x="914400" y="4267200"/>
            <a:ext cx="2010551" cy="1981200"/>
          </a:xfrm>
          <a:prstGeom prst="rect">
            <a:avLst/>
          </a:prstGeom>
          <a:noFill/>
          <a:ln>
            <a:noFill/>
          </a:ln>
        </p:spPr>
      </p:pic>
    </p:spTree>
  </p:cSld>
  <p:clrMapOvr>
    <a:masterClrMapping/>
  </p:clrMapOvr>
  <p:transition spd="med">
    <p:wipe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0" st="0"/>
                                            </p:txEl>
                                          </p:spTgt>
                                        </p:tgtEl>
                                        <p:attrNameLst>
                                          <p:attrName>style.visibility</p:attrName>
                                        </p:attrNameLst>
                                      </p:cBhvr>
                                      <p:to>
                                        <p:strVal val="visible"/>
                                      </p:to>
                                    </p:set>
                                    <p:anim calcmode="lin" valueType="num">
                                      <p:cBhvr additive="base">
                                        <p:cTn dur="500"/>
                                        <p:tgtEl>
                                          <p:spTgt spid="85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1" st="1"/>
                                            </p:txEl>
                                          </p:spTgt>
                                        </p:tgtEl>
                                        <p:attrNameLst>
                                          <p:attrName>style.visibility</p:attrName>
                                        </p:attrNameLst>
                                      </p:cBhvr>
                                      <p:to>
                                        <p:strVal val="visible"/>
                                      </p:to>
                                    </p:set>
                                    <p:anim calcmode="lin" valueType="num">
                                      <p:cBhvr additive="base">
                                        <p:cTn dur="500"/>
                                        <p:tgtEl>
                                          <p:spTgt spid="85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2" st="2"/>
                                            </p:txEl>
                                          </p:spTgt>
                                        </p:tgtEl>
                                        <p:attrNameLst>
                                          <p:attrName>style.visibility</p:attrName>
                                        </p:attrNameLst>
                                      </p:cBhvr>
                                      <p:to>
                                        <p:strVal val="visible"/>
                                      </p:to>
                                    </p:set>
                                    <p:anim calcmode="lin" valueType="num">
                                      <p:cBhvr additive="base">
                                        <p:cTn dur="500"/>
                                        <p:tgtEl>
                                          <p:spTgt spid="85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3" st="3"/>
                                            </p:txEl>
                                          </p:spTgt>
                                        </p:tgtEl>
                                        <p:attrNameLst>
                                          <p:attrName>style.visibility</p:attrName>
                                        </p:attrNameLst>
                                      </p:cBhvr>
                                      <p:to>
                                        <p:strVal val="visible"/>
                                      </p:to>
                                    </p:set>
                                    <p:anim calcmode="lin" valueType="num">
                                      <p:cBhvr additive="base">
                                        <p:cTn dur="500"/>
                                        <p:tgtEl>
                                          <p:spTgt spid="85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4" st="4"/>
                                            </p:txEl>
                                          </p:spTgt>
                                        </p:tgtEl>
                                        <p:attrNameLst>
                                          <p:attrName>style.visibility</p:attrName>
                                        </p:attrNameLst>
                                      </p:cBhvr>
                                      <p:to>
                                        <p:strVal val="visible"/>
                                      </p:to>
                                    </p:set>
                                    <p:anim calcmode="lin" valueType="num">
                                      <p:cBhvr additive="base">
                                        <p:cTn dur="500"/>
                                        <p:tgtEl>
                                          <p:spTgt spid="85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5" st="5"/>
                                            </p:txEl>
                                          </p:spTgt>
                                        </p:tgtEl>
                                        <p:attrNameLst>
                                          <p:attrName>style.visibility</p:attrName>
                                        </p:attrNameLst>
                                      </p:cBhvr>
                                      <p:to>
                                        <p:strVal val="visible"/>
                                      </p:to>
                                    </p:set>
                                    <p:anim calcmode="lin" valueType="num">
                                      <p:cBhvr additive="base">
                                        <p:cTn dur="500"/>
                                        <p:tgtEl>
                                          <p:spTgt spid="85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6" st="6"/>
                                            </p:txEl>
                                          </p:spTgt>
                                        </p:tgtEl>
                                        <p:attrNameLst>
                                          <p:attrName>style.visibility</p:attrName>
                                        </p:attrNameLst>
                                      </p:cBhvr>
                                      <p:to>
                                        <p:strVal val="visible"/>
                                      </p:to>
                                    </p:set>
                                    <p:anim calcmode="lin" valueType="num">
                                      <p:cBhvr additive="base">
                                        <p:cTn dur="500"/>
                                        <p:tgtEl>
                                          <p:spTgt spid="85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7" st="7"/>
                                            </p:txEl>
                                          </p:spTgt>
                                        </p:tgtEl>
                                        <p:attrNameLst>
                                          <p:attrName>style.visibility</p:attrName>
                                        </p:attrNameLst>
                                      </p:cBhvr>
                                      <p:to>
                                        <p:strVal val="visible"/>
                                      </p:to>
                                    </p:set>
                                    <p:anim calcmode="lin" valueType="num">
                                      <p:cBhvr additive="base">
                                        <p:cTn dur="500"/>
                                        <p:tgtEl>
                                          <p:spTgt spid="85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8" st="8"/>
                                            </p:txEl>
                                          </p:spTgt>
                                        </p:tgtEl>
                                        <p:attrNameLst>
                                          <p:attrName>style.visibility</p:attrName>
                                        </p:attrNameLst>
                                      </p:cBhvr>
                                      <p:to>
                                        <p:strVal val="visible"/>
                                      </p:to>
                                    </p:set>
                                    <p:anim calcmode="lin" valueType="num">
                                      <p:cBhvr additive="base">
                                        <p:cTn dur="500"/>
                                        <p:tgtEl>
                                          <p:spTgt spid="85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5">
                                            <p:txEl>
                                              <p:pRg end="9" st="9"/>
                                            </p:txEl>
                                          </p:spTgt>
                                        </p:tgtEl>
                                        <p:attrNameLst>
                                          <p:attrName>style.visibility</p:attrName>
                                        </p:attrNameLst>
                                      </p:cBhvr>
                                      <p:to>
                                        <p:strVal val="visible"/>
                                      </p:to>
                                    </p:set>
                                    <p:anim calcmode="lin" valueType="num">
                                      <p:cBhvr additive="base">
                                        <p:cTn dur="500"/>
                                        <p:tgtEl>
                                          <p:spTgt spid="85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61"/>
          <p:cNvSpPr txBox="1"/>
          <p:nvPr>
            <p:ph type="title"/>
          </p:nvPr>
        </p:nvSpPr>
        <p:spPr>
          <a:xfrm>
            <a:off x="762000" y="457200"/>
            <a:ext cx="7556313"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Amdahl’s Law</a:t>
            </a:r>
            <a:endParaRPr/>
          </a:p>
        </p:txBody>
      </p:sp>
      <p:pic>
        <p:nvPicPr>
          <p:cNvPr descr="f14.pdf" id="863" name="Google Shape;863;p61"/>
          <p:cNvPicPr preferRelativeResize="0"/>
          <p:nvPr/>
        </p:nvPicPr>
        <p:blipFill rotWithShape="1">
          <a:blip r:embed="rId3">
            <a:alphaModFix/>
          </a:blip>
          <a:srcRect b="15455" l="-4705" r="0" t="21818"/>
          <a:stretch/>
        </p:blipFill>
        <p:spPr>
          <a:xfrm>
            <a:off x="762000" y="1057378"/>
            <a:ext cx="7088913" cy="5495822"/>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62"/>
          <p:cNvSpPr txBox="1"/>
          <p:nvPr>
            <p:ph type="title"/>
          </p:nvPr>
        </p:nvSpPr>
        <p:spPr>
          <a:xfrm>
            <a:off x="609600" y="457200"/>
            <a:ext cx="7556313"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Little’s Law</a:t>
            </a:r>
            <a:endParaRPr/>
          </a:p>
        </p:txBody>
      </p:sp>
      <p:sp>
        <p:nvSpPr>
          <p:cNvPr id="870" name="Google Shape;870;p62"/>
          <p:cNvSpPr txBox="1"/>
          <p:nvPr>
            <p:ph idx="1" type="body"/>
          </p:nvPr>
        </p:nvSpPr>
        <p:spPr>
          <a:xfrm>
            <a:off x="498474" y="1447800"/>
            <a:ext cx="7556313" cy="5105400"/>
          </a:xfrm>
          <a:prstGeom prst="rect">
            <a:avLst/>
          </a:prstGeom>
          <a:noFill/>
          <a:ln>
            <a:noFill/>
          </a:ln>
        </p:spPr>
        <p:txBody>
          <a:bodyPr anchorCtr="0" anchor="t" bIns="45700" lIns="91425" spcFirstLastPara="1" rIns="91425" wrap="square" tIns="45700">
            <a:normAutofit fontScale="85000" lnSpcReduction="10000"/>
          </a:bodyPr>
          <a:lstStyle/>
          <a:p>
            <a:pPr indent="-274320" lvl="0" marL="274320" rtl="0" algn="l">
              <a:spcBef>
                <a:spcPts val="0"/>
              </a:spcBef>
              <a:spcAft>
                <a:spcPts val="0"/>
              </a:spcAft>
              <a:buSzPct val="95000"/>
              <a:buChar char="⚫"/>
            </a:pPr>
            <a:r>
              <a:rPr lang="en-US"/>
              <a:t>Fundamental and simple relation with broad applications</a:t>
            </a:r>
            <a:endParaRPr/>
          </a:p>
          <a:p>
            <a:pPr indent="-274320" lvl="0" marL="274320" rtl="0" algn="l">
              <a:spcBef>
                <a:spcPts val="442"/>
              </a:spcBef>
              <a:spcAft>
                <a:spcPts val="0"/>
              </a:spcAft>
              <a:buSzPct val="95000"/>
              <a:buChar char="⚫"/>
            </a:pPr>
            <a:r>
              <a:rPr lang="en-US"/>
              <a:t>Can be applied to almost any system that is statistically in steady state, and in which there is no leakage</a:t>
            </a:r>
            <a:endParaRPr/>
          </a:p>
          <a:p>
            <a:pPr indent="-274320" lvl="0" marL="274320" rtl="0" algn="l">
              <a:spcBef>
                <a:spcPts val="442"/>
              </a:spcBef>
              <a:spcAft>
                <a:spcPts val="0"/>
              </a:spcAft>
              <a:buSzPct val="95000"/>
              <a:buChar char="⚫"/>
            </a:pPr>
            <a:r>
              <a:rPr lang="en-US"/>
              <a:t>Queuing system</a:t>
            </a:r>
            <a:endParaRPr/>
          </a:p>
          <a:p>
            <a:pPr indent="-246888" lvl="1" marL="640080" rtl="0" algn="l">
              <a:spcBef>
                <a:spcPts val="408"/>
              </a:spcBef>
              <a:spcAft>
                <a:spcPts val="0"/>
              </a:spcAft>
              <a:buSzPct val="85000"/>
              <a:buChar char="⚫"/>
            </a:pPr>
            <a:r>
              <a:rPr lang="en-US"/>
              <a:t>If server is idle an item is served immediately, otherwise an arriving item joins a queue</a:t>
            </a:r>
            <a:endParaRPr/>
          </a:p>
          <a:p>
            <a:pPr indent="-246888" lvl="1" marL="640080" rtl="0" algn="l">
              <a:spcBef>
                <a:spcPts val="408"/>
              </a:spcBef>
              <a:spcAft>
                <a:spcPts val="0"/>
              </a:spcAft>
              <a:buSzPct val="85000"/>
              <a:buChar char="⚫"/>
            </a:pPr>
            <a:r>
              <a:rPr lang="en-US"/>
              <a:t>There can be a single queue for a single server or for multiple servers, or multiples queues with one being for each of multiple servers</a:t>
            </a:r>
            <a:endParaRPr/>
          </a:p>
          <a:p>
            <a:pPr indent="-274374" lvl="0" marL="274320" rtl="0" algn="l">
              <a:spcBef>
                <a:spcPts val="349"/>
              </a:spcBef>
              <a:spcAft>
                <a:spcPts val="0"/>
              </a:spcAft>
              <a:buSzPct val="95000"/>
              <a:buChar char="⚫"/>
            </a:pPr>
            <a:r>
              <a:rPr lang="en-US" sz="2054"/>
              <a:t>Average number of items in a queuing system equals the average rate at which items arrive multiplied by the  time that an item spends in the system</a:t>
            </a:r>
            <a:endParaRPr/>
          </a:p>
          <a:p>
            <a:pPr indent="-246888" lvl="1" marL="640080" rtl="0" algn="l">
              <a:spcBef>
                <a:spcPts val="408"/>
              </a:spcBef>
              <a:spcAft>
                <a:spcPts val="0"/>
              </a:spcAft>
              <a:buSzPct val="85000"/>
              <a:buChar char="⚫"/>
            </a:pPr>
            <a:r>
              <a:rPr lang="en-US"/>
              <a:t>Relationship requires very few assumptions</a:t>
            </a:r>
            <a:endParaRPr/>
          </a:p>
          <a:p>
            <a:pPr indent="-246888" lvl="1" marL="640080" rtl="0" algn="l">
              <a:spcBef>
                <a:spcPts val="408"/>
              </a:spcBef>
              <a:spcAft>
                <a:spcPts val="0"/>
              </a:spcAft>
              <a:buSzPct val="85000"/>
              <a:buChar char="⚫"/>
            </a:pPr>
            <a:r>
              <a:rPr lang="en-US"/>
              <a:t>Because of its simplicity and generality it is extremely useful</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0" st="0"/>
                                            </p:txEl>
                                          </p:spTgt>
                                        </p:tgtEl>
                                        <p:attrNameLst>
                                          <p:attrName>style.visibility</p:attrName>
                                        </p:attrNameLst>
                                      </p:cBhvr>
                                      <p:to>
                                        <p:strVal val="visible"/>
                                      </p:to>
                                    </p:set>
                                    <p:anim calcmode="lin" valueType="num">
                                      <p:cBhvr additive="base">
                                        <p:cTn dur="500"/>
                                        <p:tgtEl>
                                          <p:spTgt spid="87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1" st="1"/>
                                            </p:txEl>
                                          </p:spTgt>
                                        </p:tgtEl>
                                        <p:attrNameLst>
                                          <p:attrName>style.visibility</p:attrName>
                                        </p:attrNameLst>
                                      </p:cBhvr>
                                      <p:to>
                                        <p:strVal val="visible"/>
                                      </p:to>
                                    </p:set>
                                    <p:anim calcmode="lin" valueType="num">
                                      <p:cBhvr additive="base">
                                        <p:cTn dur="500"/>
                                        <p:tgtEl>
                                          <p:spTgt spid="87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2" st="2"/>
                                            </p:txEl>
                                          </p:spTgt>
                                        </p:tgtEl>
                                        <p:attrNameLst>
                                          <p:attrName>style.visibility</p:attrName>
                                        </p:attrNameLst>
                                      </p:cBhvr>
                                      <p:to>
                                        <p:strVal val="visible"/>
                                      </p:to>
                                    </p:set>
                                    <p:anim calcmode="lin" valueType="num">
                                      <p:cBhvr additive="base">
                                        <p:cTn dur="500"/>
                                        <p:tgtEl>
                                          <p:spTgt spid="87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3" st="3"/>
                                            </p:txEl>
                                          </p:spTgt>
                                        </p:tgtEl>
                                        <p:attrNameLst>
                                          <p:attrName>style.visibility</p:attrName>
                                        </p:attrNameLst>
                                      </p:cBhvr>
                                      <p:to>
                                        <p:strVal val="visible"/>
                                      </p:to>
                                    </p:set>
                                    <p:anim calcmode="lin" valueType="num">
                                      <p:cBhvr additive="base">
                                        <p:cTn dur="500"/>
                                        <p:tgtEl>
                                          <p:spTgt spid="87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4" st="4"/>
                                            </p:txEl>
                                          </p:spTgt>
                                        </p:tgtEl>
                                        <p:attrNameLst>
                                          <p:attrName>style.visibility</p:attrName>
                                        </p:attrNameLst>
                                      </p:cBhvr>
                                      <p:to>
                                        <p:strVal val="visible"/>
                                      </p:to>
                                    </p:set>
                                    <p:anim calcmode="lin" valueType="num">
                                      <p:cBhvr additive="base">
                                        <p:cTn dur="500"/>
                                        <p:tgtEl>
                                          <p:spTgt spid="87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5" st="5"/>
                                            </p:txEl>
                                          </p:spTgt>
                                        </p:tgtEl>
                                        <p:attrNameLst>
                                          <p:attrName>style.visibility</p:attrName>
                                        </p:attrNameLst>
                                      </p:cBhvr>
                                      <p:to>
                                        <p:strVal val="visible"/>
                                      </p:to>
                                    </p:set>
                                    <p:anim calcmode="lin" valueType="num">
                                      <p:cBhvr additive="base">
                                        <p:cTn dur="500"/>
                                        <p:tgtEl>
                                          <p:spTgt spid="87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6" st="6"/>
                                            </p:txEl>
                                          </p:spTgt>
                                        </p:tgtEl>
                                        <p:attrNameLst>
                                          <p:attrName>style.visibility</p:attrName>
                                        </p:attrNameLst>
                                      </p:cBhvr>
                                      <p:to>
                                        <p:strVal val="visible"/>
                                      </p:to>
                                    </p:set>
                                    <p:anim calcmode="lin" valueType="num">
                                      <p:cBhvr additive="base">
                                        <p:cTn dur="500"/>
                                        <p:tgtEl>
                                          <p:spTgt spid="87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0">
                                            <p:txEl>
                                              <p:pRg end="7" st="7"/>
                                            </p:txEl>
                                          </p:spTgt>
                                        </p:tgtEl>
                                        <p:attrNameLst>
                                          <p:attrName>style.visibility</p:attrName>
                                        </p:attrNameLst>
                                      </p:cBhvr>
                                      <p:to>
                                        <p:strVal val="visible"/>
                                      </p:to>
                                    </p:set>
                                    <p:anim calcmode="lin" valueType="num">
                                      <p:cBhvr additive="base">
                                        <p:cTn dur="500"/>
                                        <p:tgtEl>
                                          <p:spTgt spid="87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63"/>
          <p:cNvSpPr txBox="1"/>
          <p:nvPr>
            <p:ph type="title"/>
          </p:nvPr>
        </p:nvSpPr>
        <p:spPr>
          <a:xfrm>
            <a:off x="762000" y="228600"/>
            <a:ext cx="3428999" cy="1116106"/>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400"/>
              <a:buFont typeface="Calibri"/>
              <a:buNone/>
            </a:pPr>
            <a:r>
              <a:rPr lang="en-US" sz="4400"/>
              <a:t>Summary</a:t>
            </a:r>
            <a:endParaRPr sz="4400"/>
          </a:p>
        </p:txBody>
      </p:sp>
      <p:sp>
        <p:nvSpPr>
          <p:cNvPr id="877" name="Google Shape;877;p63"/>
          <p:cNvSpPr txBox="1"/>
          <p:nvPr>
            <p:ph idx="1" type="body"/>
          </p:nvPr>
        </p:nvSpPr>
        <p:spPr>
          <a:xfrm>
            <a:off x="533400" y="1219200"/>
            <a:ext cx="3657600" cy="1098177"/>
          </a:xfrm>
          <a:prstGeom prst="rect">
            <a:avLst/>
          </a:prstGeom>
          <a:noFill/>
          <a:ln>
            <a:noFill/>
          </a:ln>
        </p:spPr>
        <p:txBody>
          <a:bodyPr anchorCtr="0" anchor="ctr" bIns="0" lIns="45700" spcFirstLastPara="1" rIns="45700" wrap="square" tIns="0">
            <a:normAutofit/>
          </a:bodyPr>
          <a:lstStyle/>
          <a:p>
            <a:pPr indent="0" lvl="0" marL="0" rtl="0" algn="l">
              <a:spcBef>
                <a:spcPts val="0"/>
              </a:spcBef>
              <a:spcAft>
                <a:spcPts val="0"/>
              </a:spcAft>
              <a:buSzPts val="760"/>
              <a:buNone/>
            </a:pPr>
            <a:r>
              <a:t/>
            </a:r>
            <a:endParaRPr sz="800"/>
          </a:p>
          <a:p>
            <a:pPr indent="0" lvl="0" marL="0" rtl="0" algn="l">
              <a:spcBef>
                <a:spcPts val="160"/>
              </a:spcBef>
              <a:spcAft>
                <a:spcPts val="0"/>
              </a:spcAft>
              <a:buSzPts val="760"/>
              <a:buNone/>
            </a:pPr>
            <a:r>
              <a:t/>
            </a:r>
            <a:endParaRPr sz="800"/>
          </a:p>
          <a:p>
            <a:pPr indent="0" lvl="0" marL="0" rtl="0" algn="l">
              <a:spcBef>
                <a:spcPts val="640"/>
              </a:spcBef>
              <a:spcAft>
                <a:spcPts val="0"/>
              </a:spcAft>
              <a:buSzPts val="3040"/>
              <a:buNone/>
            </a:pPr>
            <a:r>
              <a:rPr lang="en-US" sz="3200"/>
              <a:t>Chapter 2</a:t>
            </a:r>
            <a:endParaRPr/>
          </a:p>
          <a:p>
            <a:pPr indent="0" lvl="0" marL="0" rtl="0" algn="l">
              <a:spcBef>
                <a:spcPts val="480"/>
              </a:spcBef>
              <a:spcAft>
                <a:spcPts val="0"/>
              </a:spcAft>
              <a:buSzPts val="2280"/>
              <a:buNone/>
            </a:pPr>
            <a:r>
              <a:t/>
            </a:r>
            <a:endParaRPr/>
          </a:p>
        </p:txBody>
      </p:sp>
      <p:sp>
        <p:nvSpPr>
          <p:cNvPr id="878" name="Google Shape;878;p63"/>
          <p:cNvSpPr txBox="1"/>
          <p:nvPr>
            <p:ph idx="2" type="body"/>
          </p:nvPr>
        </p:nvSpPr>
        <p:spPr>
          <a:xfrm>
            <a:off x="4343400" y="228600"/>
            <a:ext cx="3657600" cy="1707776"/>
          </a:xfrm>
          <a:prstGeom prst="rect">
            <a:avLst/>
          </a:prstGeom>
          <a:noFill/>
          <a:ln>
            <a:noFill/>
          </a:ln>
        </p:spPr>
        <p:txBody>
          <a:bodyPr anchorCtr="0" anchor="ctr" bIns="0" lIns="45700" spcFirstLastPara="1" rIns="45700" wrap="square" tIns="0">
            <a:normAutofit/>
          </a:bodyPr>
          <a:lstStyle/>
          <a:p>
            <a:pPr indent="0" lvl="0" marL="0" rtl="0" algn="l">
              <a:spcBef>
                <a:spcPts val="0"/>
              </a:spcBef>
              <a:spcAft>
                <a:spcPts val="0"/>
              </a:spcAft>
              <a:buSzPts val="2660"/>
              <a:buNone/>
            </a:pPr>
            <a:r>
              <a:rPr lang="en-US" sz="2800">
                <a:solidFill>
                  <a:schemeClr val="dk2"/>
                </a:solidFill>
                <a:latin typeface="Calibri"/>
                <a:ea typeface="Calibri"/>
                <a:cs typeface="Calibri"/>
                <a:sym typeface="Calibri"/>
              </a:rPr>
              <a:t>Computer Evolution and Performance</a:t>
            </a:r>
            <a:r>
              <a:rPr lang="en-US" sz="2800">
                <a:solidFill>
                  <a:schemeClr val="dk2"/>
                </a:solidFill>
              </a:rPr>
              <a:t> </a:t>
            </a:r>
            <a:endParaRPr sz="2800">
              <a:solidFill>
                <a:schemeClr val="dk2"/>
              </a:solidFill>
            </a:endParaRPr>
          </a:p>
        </p:txBody>
      </p:sp>
      <p:sp>
        <p:nvSpPr>
          <p:cNvPr id="879" name="Google Shape;879;p63"/>
          <p:cNvSpPr txBox="1"/>
          <p:nvPr>
            <p:ph idx="3" type="body"/>
          </p:nvPr>
        </p:nvSpPr>
        <p:spPr>
          <a:xfrm>
            <a:off x="457200" y="2514600"/>
            <a:ext cx="3657600" cy="4343400"/>
          </a:xfrm>
          <a:prstGeom prst="rect">
            <a:avLst/>
          </a:prstGeom>
          <a:noFill/>
          <a:ln>
            <a:noFill/>
          </a:ln>
        </p:spPr>
        <p:txBody>
          <a:bodyPr anchorCtr="0" anchor="t" bIns="45700" lIns="91425" spcFirstLastPara="1" rIns="91425" wrap="square" tIns="0">
            <a:normAutofit fontScale="92500"/>
          </a:bodyPr>
          <a:lstStyle/>
          <a:p>
            <a:pPr indent="-274320" lvl="0" marL="274320" rtl="0" algn="l">
              <a:spcBef>
                <a:spcPts val="0"/>
              </a:spcBef>
              <a:spcAft>
                <a:spcPts val="0"/>
              </a:spcAft>
              <a:buSzPct val="95000"/>
              <a:buChar char="⚫"/>
            </a:pPr>
            <a:r>
              <a:rPr lang="en-US"/>
              <a:t>First generation computers</a:t>
            </a:r>
            <a:endParaRPr/>
          </a:p>
          <a:p>
            <a:pPr indent="-246888" lvl="1" marL="640080" rtl="0" algn="l">
              <a:spcBef>
                <a:spcPts val="370"/>
              </a:spcBef>
              <a:spcAft>
                <a:spcPts val="0"/>
              </a:spcAft>
              <a:buSzPct val="85000"/>
              <a:buChar char="⚫"/>
            </a:pPr>
            <a:r>
              <a:rPr lang="en-US"/>
              <a:t>Vacuum tubes</a:t>
            </a:r>
            <a:endParaRPr/>
          </a:p>
          <a:p>
            <a:pPr indent="-228600" lvl="1" marL="228600" rtl="0" algn="l">
              <a:spcBef>
                <a:spcPts val="370"/>
              </a:spcBef>
              <a:spcAft>
                <a:spcPts val="0"/>
              </a:spcAft>
              <a:buClr>
                <a:schemeClr val="accent1"/>
              </a:buClr>
              <a:buSzPct val="85000"/>
              <a:buChar char="⚫"/>
            </a:pPr>
            <a:r>
              <a:rPr lang="en-US"/>
              <a:t>Second generation computers</a:t>
            </a:r>
            <a:endParaRPr/>
          </a:p>
          <a:p>
            <a:pPr indent="-246888" lvl="1" marL="640080" rtl="0" algn="l">
              <a:spcBef>
                <a:spcPts val="370"/>
              </a:spcBef>
              <a:spcAft>
                <a:spcPts val="0"/>
              </a:spcAft>
              <a:buSzPct val="85000"/>
              <a:buChar char="⚫"/>
            </a:pPr>
            <a:r>
              <a:rPr lang="en-US"/>
              <a:t>Transistors</a:t>
            </a:r>
            <a:endParaRPr/>
          </a:p>
          <a:p>
            <a:pPr indent="-228600" lvl="1" marL="228600" rtl="0" algn="l">
              <a:spcBef>
                <a:spcPts val="370"/>
              </a:spcBef>
              <a:spcAft>
                <a:spcPts val="0"/>
              </a:spcAft>
              <a:buClr>
                <a:schemeClr val="accent1"/>
              </a:buClr>
              <a:buSzPct val="85000"/>
              <a:buChar char="⚫"/>
            </a:pPr>
            <a:r>
              <a:rPr lang="en-US"/>
              <a:t>Third generation computers</a:t>
            </a:r>
            <a:endParaRPr/>
          </a:p>
          <a:p>
            <a:pPr indent="-246888" lvl="1" marL="640080" rtl="0" algn="l">
              <a:spcBef>
                <a:spcPts val="370"/>
              </a:spcBef>
              <a:spcAft>
                <a:spcPts val="0"/>
              </a:spcAft>
              <a:buSzPct val="85000"/>
              <a:buChar char="⚫"/>
            </a:pPr>
            <a:r>
              <a:rPr lang="en-US"/>
              <a:t>Integrated circuits</a:t>
            </a:r>
            <a:endParaRPr/>
          </a:p>
          <a:p>
            <a:pPr indent="-228600" lvl="1" marL="228600" rtl="0" algn="l">
              <a:spcBef>
                <a:spcPts val="1800"/>
              </a:spcBef>
              <a:spcAft>
                <a:spcPts val="0"/>
              </a:spcAft>
              <a:buClr>
                <a:schemeClr val="accent1"/>
              </a:buClr>
              <a:buSzPct val="85000"/>
              <a:buChar char="⚫"/>
            </a:pPr>
            <a:r>
              <a:rPr lang="en-US"/>
              <a:t>Performance designs</a:t>
            </a:r>
            <a:endParaRPr/>
          </a:p>
          <a:p>
            <a:pPr indent="-246888" lvl="1" marL="640080" rtl="0" algn="l">
              <a:spcBef>
                <a:spcPts val="370"/>
              </a:spcBef>
              <a:spcAft>
                <a:spcPts val="0"/>
              </a:spcAft>
              <a:buSzPct val="85000"/>
              <a:buChar char="⚫"/>
            </a:pPr>
            <a:r>
              <a:rPr lang="en-US"/>
              <a:t>Microprocessor speed</a:t>
            </a:r>
            <a:endParaRPr/>
          </a:p>
          <a:p>
            <a:pPr indent="-246888" lvl="1" marL="640080" rtl="0" algn="l">
              <a:spcBef>
                <a:spcPts val="370"/>
              </a:spcBef>
              <a:spcAft>
                <a:spcPts val="0"/>
              </a:spcAft>
              <a:buSzPct val="85000"/>
              <a:buChar char="⚫"/>
            </a:pPr>
            <a:r>
              <a:rPr lang="en-US"/>
              <a:t>Performance balance</a:t>
            </a:r>
            <a:endParaRPr/>
          </a:p>
          <a:p>
            <a:pPr indent="-246888" lvl="1" marL="640080" rtl="0" algn="l">
              <a:spcBef>
                <a:spcPts val="370"/>
              </a:spcBef>
              <a:spcAft>
                <a:spcPts val="0"/>
              </a:spcAft>
              <a:buSzPct val="85000"/>
              <a:buChar char="⚫"/>
            </a:pPr>
            <a:r>
              <a:rPr lang="en-US"/>
              <a:t>Chip organization and architecture</a:t>
            </a:r>
            <a:endParaRPr/>
          </a:p>
        </p:txBody>
      </p:sp>
      <p:sp>
        <p:nvSpPr>
          <p:cNvPr id="880" name="Google Shape;880;p63"/>
          <p:cNvSpPr txBox="1"/>
          <p:nvPr>
            <p:ph idx="4" type="body"/>
          </p:nvPr>
        </p:nvSpPr>
        <p:spPr>
          <a:xfrm>
            <a:off x="4495800" y="2133600"/>
            <a:ext cx="3810000" cy="4724400"/>
          </a:xfrm>
          <a:prstGeom prst="rect">
            <a:avLst/>
          </a:prstGeom>
          <a:noFill/>
          <a:ln>
            <a:noFill/>
          </a:ln>
        </p:spPr>
        <p:txBody>
          <a:bodyPr anchorCtr="0" anchor="t" bIns="45700" lIns="91425" spcFirstLastPara="1" rIns="91425" wrap="square" tIns="0">
            <a:normAutofit fontScale="92500" lnSpcReduction="20000"/>
          </a:bodyPr>
          <a:lstStyle/>
          <a:p>
            <a:pPr indent="-228600" lvl="1" marL="228600" rtl="0" algn="l">
              <a:spcBef>
                <a:spcPts val="0"/>
              </a:spcBef>
              <a:spcAft>
                <a:spcPts val="0"/>
              </a:spcAft>
              <a:buClr>
                <a:schemeClr val="accent1"/>
              </a:buClr>
              <a:buSzPct val="85000"/>
              <a:buChar char="⚫"/>
            </a:pPr>
            <a:r>
              <a:rPr lang="en-US"/>
              <a:t>Multi-core</a:t>
            </a:r>
            <a:endParaRPr/>
          </a:p>
          <a:p>
            <a:pPr indent="-228600" lvl="1" marL="228600" rtl="0" algn="l">
              <a:spcBef>
                <a:spcPts val="1800"/>
              </a:spcBef>
              <a:spcAft>
                <a:spcPts val="0"/>
              </a:spcAft>
              <a:buClr>
                <a:schemeClr val="accent1"/>
              </a:buClr>
              <a:buSzPct val="85000"/>
              <a:buChar char="⚫"/>
            </a:pPr>
            <a:r>
              <a:rPr lang="en-US"/>
              <a:t>MICs</a:t>
            </a:r>
            <a:endParaRPr/>
          </a:p>
          <a:p>
            <a:pPr indent="-228600" lvl="1" marL="228600" rtl="0" algn="l">
              <a:spcBef>
                <a:spcPts val="1800"/>
              </a:spcBef>
              <a:spcAft>
                <a:spcPts val="0"/>
              </a:spcAft>
              <a:buClr>
                <a:schemeClr val="accent1"/>
              </a:buClr>
              <a:buSzPct val="85000"/>
              <a:buChar char="⚫"/>
            </a:pPr>
            <a:r>
              <a:rPr lang="en-US"/>
              <a:t>GPGPUs</a:t>
            </a:r>
            <a:endParaRPr/>
          </a:p>
          <a:p>
            <a:pPr indent="-228600" lvl="1" marL="228600" rtl="0" algn="l">
              <a:spcBef>
                <a:spcPts val="1800"/>
              </a:spcBef>
              <a:spcAft>
                <a:spcPts val="0"/>
              </a:spcAft>
              <a:buClr>
                <a:schemeClr val="accent1"/>
              </a:buClr>
              <a:buSzPct val="85000"/>
              <a:buChar char="⚫"/>
            </a:pPr>
            <a:r>
              <a:rPr lang="en-US"/>
              <a:t>Evolution of the Intel x86</a:t>
            </a:r>
            <a:endParaRPr/>
          </a:p>
          <a:p>
            <a:pPr indent="-228600" lvl="1" marL="228600" rtl="0" algn="l">
              <a:spcBef>
                <a:spcPts val="1800"/>
              </a:spcBef>
              <a:spcAft>
                <a:spcPts val="0"/>
              </a:spcAft>
              <a:buClr>
                <a:schemeClr val="accent1"/>
              </a:buClr>
              <a:buSzPct val="85000"/>
              <a:buChar char="⚫"/>
            </a:pPr>
            <a:r>
              <a:rPr lang="en-US"/>
              <a:t>Embedded systems</a:t>
            </a:r>
            <a:endParaRPr/>
          </a:p>
          <a:p>
            <a:pPr indent="-228600" lvl="1" marL="228600" rtl="0" algn="l">
              <a:spcBef>
                <a:spcPts val="1800"/>
              </a:spcBef>
              <a:spcAft>
                <a:spcPts val="0"/>
              </a:spcAft>
              <a:buClr>
                <a:schemeClr val="accent1"/>
              </a:buClr>
              <a:buSzPct val="85000"/>
              <a:buChar char="⚫"/>
            </a:pPr>
            <a:r>
              <a:rPr lang="en-US"/>
              <a:t>ARM evolution</a:t>
            </a:r>
            <a:endParaRPr/>
          </a:p>
          <a:p>
            <a:pPr indent="-228600" lvl="1" marL="228600" rtl="0" algn="l">
              <a:spcBef>
                <a:spcPts val="1800"/>
              </a:spcBef>
              <a:spcAft>
                <a:spcPts val="0"/>
              </a:spcAft>
              <a:buClr>
                <a:schemeClr val="accent1"/>
              </a:buClr>
              <a:buSzPct val="85000"/>
              <a:buChar char="⚫"/>
            </a:pPr>
            <a:r>
              <a:rPr lang="en-US"/>
              <a:t>Performance assessment</a:t>
            </a:r>
            <a:endParaRPr/>
          </a:p>
          <a:p>
            <a:pPr indent="-246888" lvl="1" marL="640080" rtl="0" algn="l">
              <a:spcBef>
                <a:spcPts val="370"/>
              </a:spcBef>
              <a:spcAft>
                <a:spcPts val="0"/>
              </a:spcAft>
              <a:buSzPct val="85000"/>
              <a:buChar char="⚫"/>
            </a:pPr>
            <a:r>
              <a:rPr lang="en-US"/>
              <a:t>Clock speed and instructions per second</a:t>
            </a:r>
            <a:endParaRPr/>
          </a:p>
          <a:p>
            <a:pPr indent="-246888" lvl="1" marL="640080" rtl="0" algn="l">
              <a:spcBef>
                <a:spcPts val="370"/>
              </a:spcBef>
              <a:spcAft>
                <a:spcPts val="0"/>
              </a:spcAft>
              <a:buSzPct val="85000"/>
              <a:buChar char="⚫"/>
            </a:pPr>
            <a:r>
              <a:rPr lang="en-US"/>
              <a:t>Benchmarks</a:t>
            </a:r>
            <a:endParaRPr/>
          </a:p>
          <a:p>
            <a:pPr indent="-246888" lvl="1" marL="640080" rtl="0" algn="l">
              <a:spcBef>
                <a:spcPts val="370"/>
              </a:spcBef>
              <a:spcAft>
                <a:spcPts val="0"/>
              </a:spcAft>
              <a:buSzPct val="85000"/>
              <a:buChar char="⚫"/>
            </a:pPr>
            <a:r>
              <a:rPr lang="en-US"/>
              <a:t>Amdahl’s Law</a:t>
            </a:r>
            <a:endParaRPr/>
          </a:p>
          <a:p>
            <a:pPr indent="-246888" lvl="1" marL="640080" rtl="0" algn="l">
              <a:spcBef>
                <a:spcPts val="370"/>
              </a:spcBef>
              <a:spcAft>
                <a:spcPts val="0"/>
              </a:spcAft>
              <a:buSzPct val="85000"/>
              <a:buChar char="⚫"/>
            </a:pPr>
            <a:r>
              <a:rPr lang="en-US"/>
              <a:t>Little’s Law</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0" st="0"/>
                                            </p:txEl>
                                          </p:spTgt>
                                        </p:tgtEl>
                                        <p:attrNameLst>
                                          <p:attrName>style.visibility</p:attrName>
                                        </p:attrNameLst>
                                      </p:cBhvr>
                                      <p:to>
                                        <p:strVal val="visible"/>
                                      </p:to>
                                    </p:set>
                                    <p:anim calcmode="lin" valueType="num">
                                      <p:cBhvr additive="base">
                                        <p:cTn dur="500"/>
                                        <p:tgtEl>
                                          <p:spTgt spid="87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1" st="1"/>
                                            </p:txEl>
                                          </p:spTgt>
                                        </p:tgtEl>
                                        <p:attrNameLst>
                                          <p:attrName>style.visibility</p:attrName>
                                        </p:attrNameLst>
                                      </p:cBhvr>
                                      <p:to>
                                        <p:strVal val="visible"/>
                                      </p:to>
                                    </p:set>
                                    <p:anim calcmode="lin" valueType="num">
                                      <p:cBhvr additive="base">
                                        <p:cTn dur="500"/>
                                        <p:tgtEl>
                                          <p:spTgt spid="87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2" st="2"/>
                                            </p:txEl>
                                          </p:spTgt>
                                        </p:tgtEl>
                                        <p:attrNameLst>
                                          <p:attrName>style.visibility</p:attrName>
                                        </p:attrNameLst>
                                      </p:cBhvr>
                                      <p:to>
                                        <p:strVal val="visible"/>
                                      </p:to>
                                    </p:set>
                                    <p:anim calcmode="lin" valueType="num">
                                      <p:cBhvr additive="base">
                                        <p:cTn dur="500"/>
                                        <p:tgtEl>
                                          <p:spTgt spid="87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3" st="3"/>
                                            </p:txEl>
                                          </p:spTgt>
                                        </p:tgtEl>
                                        <p:attrNameLst>
                                          <p:attrName>style.visibility</p:attrName>
                                        </p:attrNameLst>
                                      </p:cBhvr>
                                      <p:to>
                                        <p:strVal val="visible"/>
                                      </p:to>
                                    </p:set>
                                    <p:anim calcmode="lin" valueType="num">
                                      <p:cBhvr additive="base">
                                        <p:cTn dur="500"/>
                                        <p:tgtEl>
                                          <p:spTgt spid="87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4" st="4"/>
                                            </p:txEl>
                                          </p:spTgt>
                                        </p:tgtEl>
                                        <p:attrNameLst>
                                          <p:attrName>style.visibility</p:attrName>
                                        </p:attrNameLst>
                                      </p:cBhvr>
                                      <p:to>
                                        <p:strVal val="visible"/>
                                      </p:to>
                                    </p:set>
                                    <p:anim calcmode="lin" valueType="num">
                                      <p:cBhvr additive="base">
                                        <p:cTn dur="500"/>
                                        <p:tgtEl>
                                          <p:spTgt spid="87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5" st="5"/>
                                            </p:txEl>
                                          </p:spTgt>
                                        </p:tgtEl>
                                        <p:attrNameLst>
                                          <p:attrName>style.visibility</p:attrName>
                                        </p:attrNameLst>
                                      </p:cBhvr>
                                      <p:to>
                                        <p:strVal val="visible"/>
                                      </p:to>
                                    </p:set>
                                    <p:anim calcmode="lin" valueType="num">
                                      <p:cBhvr additive="base">
                                        <p:cTn dur="500"/>
                                        <p:tgtEl>
                                          <p:spTgt spid="87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6" st="6"/>
                                            </p:txEl>
                                          </p:spTgt>
                                        </p:tgtEl>
                                        <p:attrNameLst>
                                          <p:attrName>style.visibility</p:attrName>
                                        </p:attrNameLst>
                                      </p:cBhvr>
                                      <p:to>
                                        <p:strVal val="visible"/>
                                      </p:to>
                                    </p:set>
                                    <p:anim calcmode="lin" valueType="num">
                                      <p:cBhvr additive="base">
                                        <p:cTn dur="500"/>
                                        <p:tgtEl>
                                          <p:spTgt spid="879">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7" st="7"/>
                                            </p:txEl>
                                          </p:spTgt>
                                        </p:tgtEl>
                                        <p:attrNameLst>
                                          <p:attrName>style.visibility</p:attrName>
                                        </p:attrNameLst>
                                      </p:cBhvr>
                                      <p:to>
                                        <p:strVal val="visible"/>
                                      </p:to>
                                    </p:set>
                                    <p:anim calcmode="lin" valueType="num">
                                      <p:cBhvr additive="base">
                                        <p:cTn dur="500"/>
                                        <p:tgtEl>
                                          <p:spTgt spid="879">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8" st="8"/>
                                            </p:txEl>
                                          </p:spTgt>
                                        </p:tgtEl>
                                        <p:attrNameLst>
                                          <p:attrName>style.visibility</p:attrName>
                                        </p:attrNameLst>
                                      </p:cBhvr>
                                      <p:to>
                                        <p:strVal val="visible"/>
                                      </p:to>
                                    </p:set>
                                    <p:anim calcmode="lin" valueType="num">
                                      <p:cBhvr additive="base">
                                        <p:cTn dur="500"/>
                                        <p:tgtEl>
                                          <p:spTgt spid="879">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9">
                                            <p:txEl>
                                              <p:pRg end="9" st="9"/>
                                            </p:txEl>
                                          </p:spTgt>
                                        </p:tgtEl>
                                        <p:attrNameLst>
                                          <p:attrName>style.visibility</p:attrName>
                                        </p:attrNameLst>
                                      </p:cBhvr>
                                      <p:to>
                                        <p:strVal val="visible"/>
                                      </p:to>
                                    </p:set>
                                    <p:anim calcmode="lin" valueType="num">
                                      <p:cBhvr additive="base">
                                        <p:cTn dur="500"/>
                                        <p:tgtEl>
                                          <p:spTgt spid="879">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0" st="0"/>
                                            </p:txEl>
                                          </p:spTgt>
                                        </p:tgtEl>
                                        <p:attrNameLst>
                                          <p:attrName>style.visibility</p:attrName>
                                        </p:attrNameLst>
                                      </p:cBhvr>
                                      <p:to>
                                        <p:strVal val="visible"/>
                                      </p:to>
                                    </p:set>
                                    <p:anim calcmode="lin" valueType="num">
                                      <p:cBhvr additive="base">
                                        <p:cTn dur="500"/>
                                        <p:tgtEl>
                                          <p:spTgt spid="88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1" st="1"/>
                                            </p:txEl>
                                          </p:spTgt>
                                        </p:tgtEl>
                                        <p:attrNameLst>
                                          <p:attrName>style.visibility</p:attrName>
                                        </p:attrNameLst>
                                      </p:cBhvr>
                                      <p:to>
                                        <p:strVal val="visible"/>
                                      </p:to>
                                    </p:set>
                                    <p:anim calcmode="lin" valueType="num">
                                      <p:cBhvr additive="base">
                                        <p:cTn dur="500"/>
                                        <p:tgtEl>
                                          <p:spTgt spid="88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2" st="2"/>
                                            </p:txEl>
                                          </p:spTgt>
                                        </p:tgtEl>
                                        <p:attrNameLst>
                                          <p:attrName>style.visibility</p:attrName>
                                        </p:attrNameLst>
                                      </p:cBhvr>
                                      <p:to>
                                        <p:strVal val="visible"/>
                                      </p:to>
                                    </p:set>
                                    <p:anim calcmode="lin" valueType="num">
                                      <p:cBhvr additive="base">
                                        <p:cTn dur="500"/>
                                        <p:tgtEl>
                                          <p:spTgt spid="88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3" st="3"/>
                                            </p:txEl>
                                          </p:spTgt>
                                        </p:tgtEl>
                                        <p:attrNameLst>
                                          <p:attrName>style.visibility</p:attrName>
                                        </p:attrNameLst>
                                      </p:cBhvr>
                                      <p:to>
                                        <p:strVal val="visible"/>
                                      </p:to>
                                    </p:set>
                                    <p:anim calcmode="lin" valueType="num">
                                      <p:cBhvr additive="base">
                                        <p:cTn dur="500"/>
                                        <p:tgtEl>
                                          <p:spTgt spid="88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4" st="4"/>
                                            </p:txEl>
                                          </p:spTgt>
                                        </p:tgtEl>
                                        <p:attrNameLst>
                                          <p:attrName>style.visibility</p:attrName>
                                        </p:attrNameLst>
                                      </p:cBhvr>
                                      <p:to>
                                        <p:strVal val="visible"/>
                                      </p:to>
                                    </p:set>
                                    <p:anim calcmode="lin" valueType="num">
                                      <p:cBhvr additive="base">
                                        <p:cTn dur="500"/>
                                        <p:tgtEl>
                                          <p:spTgt spid="88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5" st="5"/>
                                            </p:txEl>
                                          </p:spTgt>
                                        </p:tgtEl>
                                        <p:attrNameLst>
                                          <p:attrName>style.visibility</p:attrName>
                                        </p:attrNameLst>
                                      </p:cBhvr>
                                      <p:to>
                                        <p:strVal val="visible"/>
                                      </p:to>
                                    </p:set>
                                    <p:anim calcmode="lin" valueType="num">
                                      <p:cBhvr additive="base">
                                        <p:cTn dur="500"/>
                                        <p:tgtEl>
                                          <p:spTgt spid="88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6" st="6"/>
                                            </p:txEl>
                                          </p:spTgt>
                                        </p:tgtEl>
                                        <p:attrNameLst>
                                          <p:attrName>style.visibility</p:attrName>
                                        </p:attrNameLst>
                                      </p:cBhvr>
                                      <p:to>
                                        <p:strVal val="visible"/>
                                      </p:to>
                                    </p:set>
                                    <p:anim calcmode="lin" valueType="num">
                                      <p:cBhvr additive="base">
                                        <p:cTn dur="500"/>
                                        <p:tgtEl>
                                          <p:spTgt spid="88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7" st="7"/>
                                            </p:txEl>
                                          </p:spTgt>
                                        </p:tgtEl>
                                        <p:attrNameLst>
                                          <p:attrName>style.visibility</p:attrName>
                                        </p:attrNameLst>
                                      </p:cBhvr>
                                      <p:to>
                                        <p:strVal val="visible"/>
                                      </p:to>
                                    </p:set>
                                    <p:anim calcmode="lin" valueType="num">
                                      <p:cBhvr additive="base">
                                        <p:cTn dur="500"/>
                                        <p:tgtEl>
                                          <p:spTgt spid="88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8" st="8"/>
                                            </p:txEl>
                                          </p:spTgt>
                                        </p:tgtEl>
                                        <p:attrNameLst>
                                          <p:attrName>style.visibility</p:attrName>
                                        </p:attrNameLst>
                                      </p:cBhvr>
                                      <p:to>
                                        <p:strVal val="visible"/>
                                      </p:to>
                                    </p:set>
                                    <p:anim calcmode="lin" valueType="num">
                                      <p:cBhvr additive="base">
                                        <p:cTn dur="500"/>
                                        <p:tgtEl>
                                          <p:spTgt spid="88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9" st="9"/>
                                            </p:txEl>
                                          </p:spTgt>
                                        </p:tgtEl>
                                        <p:attrNameLst>
                                          <p:attrName>style.visibility</p:attrName>
                                        </p:attrNameLst>
                                      </p:cBhvr>
                                      <p:to>
                                        <p:strVal val="visible"/>
                                      </p:to>
                                    </p:set>
                                    <p:anim calcmode="lin" valueType="num">
                                      <p:cBhvr additive="base">
                                        <p:cTn dur="500"/>
                                        <p:tgtEl>
                                          <p:spTgt spid="88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0">
                                            <p:txEl>
                                              <p:pRg end="10" st="10"/>
                                            </p:txEl>
                                          </p:spTgt>
                                        </p:tgtEl>
                                        <p:attrNameLst>
                                          <p:attrName>style.visibility</p:attrName>
                                        </p:attrNameLst>
                                      </p:cBhvr>
                                      <p:to>
                                        <p:strVal val="visible"/>
                                      </p:to>
                                    </p:set>
                                    <p:anim calcmode="lin" valueType="num">
                                      <p:cBhvr additive="base">
                                        <p:cTn dur="500"/>
                                        <p:tgtEl>
                                          <p:spTgt spid="880">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2012-06-10T04:05:19Z</dcterms:created>
  <dc:creator>Adrian J Pullin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a.j.pullin@newi.ac.uk</vt:lpwstr>
  </property>
  <property fmtid="{D5CDD505-2E9C-101B-9397-08002B2CF9AE}" pid="8" name="HomePage">
    <vt:lpwstr>http://www.newi.ac.uk/pullina/default.htm</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3</vt:i4>
  </property>
  <property fmtid="{D5CDD505-2E9C-101B-9397-08002B2CF9AE}" pid="21" name="OutputDir">
    <vt:lpwstr>H:\Data\Networks\Notes\HTML</vt:lpwstr>
  </property>
</Properties>
</file>