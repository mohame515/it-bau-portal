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 id="2147483877" r:id="rId5"/>
  </p:sldMasterIdLst>
  <p:notesMasterIdLst>
    <p:notesMasterId r:id="rId54"/>
  </p:notesMasterIdLst>
  <p:handoutMasterIdLst>
    <p:handoutMasterId r:id="rId55"/>
  </p:handoutMasterIdLst>
  <p:sldIdLst>
    <p:sldId id="1453" r:id="rId6"/>
    <p:sldId id="1319" r:id="rId7"/>
    <p:sldId id="1320" r:id="rId8"/>
    <p:sldId id="1377" r:id="rId9"/>
    <p:sldId id="1322" r:id="rId10"/>
    <p:sldId id="1388" r:id="rId11"/>
    <p:sldId id="1387" r:id="rId12"/>
    <p:sldId id="1455" r:id="rId13"/>
    <p:sldId id="1456" r:id="rId14"/>
    <p:sldId id="1389" r:id="rId15"/>
    <p:sldId id="1390" r:id="rId16"/>
    <p:sldId id="1391" r:id="rId17"/>
    <p:sldId id="1392" r:id="rId18"/>
    <p:sldId id="1393" r:id="rId19"/>
    <p:sldId id="1394" r:id="rId20"/>
    <p:sldId id="1400" r:id="rId21"/>
    <p:sldId id="1441" r:id="rId22"/>
    <p:sldId id="1442" r:id="rId23"/>
    <p:sldId id="1443" r:id="rId24"/>
    <p:sldId id="1398" r:id="rId25"/>
    <p:sldId id="1457" r:id="rId26"/>
    <p:sldId id="1458" r:id="rId27"/>
    <p:sldId id="1459" r:id="rId28"/>
    <p:sldId id="1460" r:id="rId29"/>
    <p:sldId id="1461" r:id="rId30"/>
    <p:sldId id="1462" r:id="rId31"/>
    <p:sldId id="1435" r:id="rId32"/>
    <p:sldId id="1436" r:id="rId33"/>
    <p:sldId id="1439" r:id="rId34"/>
    <p:sldId id="1444" r:id="rId35"/>
    <p:sldId id="1411" r:id="rId36"/>
    <p:sldId id="1437" r:id="rId37"/>
    <p:sldId id="1438" r:id="rId38"/>
    <p:sldId id="1408" r:id="rId39"/>
    <p:sldId id="1409" r:id="rId40"/>
    <p:sldId id="1463" r:id="rId41"/>
    <p:sldId id="1445" r:id="rId42"/>
    <p:sldId id="1454" r:id="rId43"/>
    <p:sldId id="1415" r:id="rId44"/>
    <p:sldId id="1450" r:id="rId45"/>
    <p:sldId id="1417" r:id="rId46"/>
    <p:sldId id="1418" r:id="rId47"/>
    <p:sldId id="1446" r:id="rId48"/>
    <p:sldId id="1449" r:id="rId49"/>
    <p:sldId id="1380" r:id="rId50"/>
    <p:sldId id="1330" r:id="rId51"/>
    <p:sldId id="1452" r:id="rId52"/>
    <p:sldId id="1204" r:id="rId53"/>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15:guide id="2" pos="3817" userDrawn="1">
          <p15:clr>
            <a:srgbClr val="A4A3A4"/>
          </p15:clr>
        </p15:guide>
        <p15:guide id="3" orient="horz" pos="2341" userDrawn="1">
          <p15:clr>
            <a:srgbClr val="A4A3A4"/>
          </p15:clr>
        </p15:guide>
      </p15:sldGuideLst>
    </p:ext>
    <p:ext uri="{2D200454-40CA-4A62-9FC3-DE9A4176ACB9}">
      <p15:notesGuideLst xmlns:p15="http://schemas.microsoft.com/office/powerpoint/2012/main">
        <p15:guide id="2" orient="horz" pos="482" userDrawn="1">
          <p15:clr>
            <a:srgbClr val="A4A3A4"/>
          </p15:clr>
        </p15:guide>
        <p15:guide id="3" orient="horz" pos="2908" userDrawn="1">
          <p15:clr>
            <a:srgbClr val="A4A3A4"/>
          </p15:clr>
        </p15:guide>
        <p15:guide id="4" orient="horz" pos="5967">
          <p15:clr>
            <a:srgbClr val="A4A3A4"/>
          </p15:clr>
        </p15:guide>
        <p15:guide id="6" pos="2440">
          <p15:clr>
            <a:srgbClr val="A4A3A4"/>
          </p15:clr>
        </p15:guide>
        <p15:guide id="7" pos="431" userDrawn="1">
          <p15:clr>
            <a:srgbClr val="A4A3A4"/>
          </p15:clr>
        </p15:guide>
        <p15:guide id="8" pos="4028">
          <p15:clr>
            <a:srgbClr val="A4A3A4"/>
          </p15:clr>
        </p15:guide>
        <p15:guide id="9" pos="626">
          <p15:clr>
            <a:srgbClr val="A4A3A4"/>
          </p15:clr>
        </p15:guide>
        <p15:guide id="10" pos="38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 id="2" name="c00224892" initials="CML" lastIdx="2" clrIdx="2"/>
  <p:cmAuthor id="3" name="Pingzhihua" initials="P" lastIdx="1" clrIdx="3">
    <p:extLst>
      <p:ext uri="{19B8F6BF-5375-455C-9EA6-DF929625EA0E}">
        <p15:presenceInfo xmlns:p15="http://schemas.microsoft.com/office/powerpoint/2012/main" userId="S-1-5-21-147214757-305610072-1517763936-1469587" providerId="AD"/>
      </p:ext>
    </p:extLst>
  </p:cmAuthor>
  <p:cmAuthor id="4" name="Leo Gallagher" initials="LG" lastIdx="11" clrIdx="4">
    <p:extLst>
      <p:ext uri="{19B8F6BF-5375-455C-9EA6-DF929625EA0E}">
        <p15:presenceInfo xmlns:p15="http://schemas.microsoft.com/office/powerpoint/2012/main" userId="Leo Gallagh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C7C7"/>
    <a:srgbClr val="3ABABA"/>
    <a:srgbClr val="01B0F0"/>
    <a:srgbClr val="00B050"/>
    <a:srgbClr val="00B0F0"/>
    <a:srgbClr val="FFE598"/>
    <a:srgbClr val="C00000"/>
    <a:srgbClr val="990000"/>
    <a:srgbClr val="FF0909"/>
    <a:srgbClr val="CF6B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2938" autoAdjust="0"/>
  </p:normalViewPr>
  <p:slideViewPr>
    <p:cSldViewPr showGuides="1">
      <p:cViewPr varScale="1">
        <p:scale>
          <a:sx n="58" d="100"/>
          <a:sy n="58" d="100"/>
        </p:scale>
        <p:origin x="48" y="240"/>
      </p:cViewPr>
      <p:guideLst>
        <p:guide pos="3817"/>
        <p:guide orient="horz" pos="2341"/>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48" d="100"/>
          <a:sy n="48" d="100"/>
        </p:scale>
        <p:origin x="2898" y="60"/>
      </p:cViewPr>
      <p:guideLst>
        <p:guide orient="horz" pos="482"/>
        <p:guide orient="horz" pos="2908"/>
        <p:guide orient="horz" pos="5967"/>
        <p:guide pos="2440"/>
        <p:guide pos="431"/>
        <p:guide pos="4028"/>
        <p:guide pos="626"/>
        <p:guide pos="3846"/>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r>
              <a:rPr lang="zh-CN" altLang="en-US">
                <a:latin typeface="Arial" panose="020B0604020202020204" pitchFamily="34" charset="0"/>
              </a:rPr>
              <a:t>请将此处改为本章标题</a:t>
            </a:r>
            <a:endParaRPr lang="en-US" altLang="zh-CN" dirty="0">
              <a:latin typeface="Arial" panose="020B0604020202020204" pitchFamily="34" charset="0"/>
            </a:endParaRPr>
          </a:p>
        </p:txBody>
      </p:sp>
      <p:sp>
        <p:nvSpPr>
          <p:cNvPr id="512003" name="Rectangle 3"/>
          <p:cNvSpPr>
            <a:spLocks noGrp="1" noChangeArrowheads="1"/>
          </p:cNvSpPr>
          <p:nvPr>
            <p:ph type="dt" sz="quarter" idx="1"/>
          </p:nvPr>
        </p:nvSpPr>
        <p:spPr bwMode="auto">
          <a:xfrm>
            <a:off x="4021138" y="0"/>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dirty="0">
              <a:latin typeface="Arial" panose="020B0604020202020204" pitchFamily="34" charset="0"/>
            </a:endParaRPr>
          </a:p>
        </p:txBody>
      </p:sp>
      <p:sp>
        <p:nvSpPr>
          <p:cNvPr id="5120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dirty="0">
              <a:latin typeface="Arial" panose="020B0604020202020204" pitchFamily="34" charset="0"/>
            </a:endParaRPr>
          </a:p>
        </p:txBody>
      </p:sp>
      <p:sp>
        <p:nvSpPr>
          <p:cNvPr id="512005" name="Rectangle 5"/>
          <p:cNvSpPr>
            <a:spLocks noGrp="1" noChangeArrowheads="1"/>
          </p:cNvSpPr>
          <p:nvPr>
            <p:ph type="sldNum" sz="quarter" idx="3"/>
          </p:nvPr>
        </p:nvSpPr>
        <p:spPr bwMode="auto">
          <a:xfrm>
            <a:off x="4021138" y="9720263"/>
            <a:ext cx="3076575" cy="512762"/>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latin typeface="Arial" panose="020B0604020202020204" pitchFamily="34" charset="0"/>
              </a:rPr>
              <a:pPr>
                <a:defRPr/>
              </a:pPr>
              <a:t>‹#›</a:t>
            </a:fld>
            <a:endParaRPr lang="en-US" altLang="zh-CN" dirty="0">
              <a:latin typeface="Arial" panose="020B0604020202020204" pitchFamily="34" charset="0"/>
            </a:endParaRPr>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1" name="Rectangle 5"/>
          <p:cNvSpPr>
            <a:spLocks noGrp="1" noChangeArrowheads="1"/>
          </p:cNvSpPr>
          <p:nvPr>
            <p:ph type="body" sz="quarter" idx="3"/>
          </p:nvPr>
        </p:nvSpPr>
        <p:spPr bwMode="auto">
          <a:xfrm>
            <a:off x="583903" y="4616450"/>
            <a:ext cx="5931494" cy="5109368"/>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smtClean="0"/>
              <a:t>Click here to add content</a:t>
            </a:r>
            <a:endParaRPr lang="en-US" altLang="zh-CN" noProof="0" dirty="0"/>
          </a:p>
          <a:p>
            <a:pPr lvl="1"/>
            <a:r>
              <a:rPr lang="en-US" altLang="zh-CN" noProof="0" dirty="0"/>
              <a:t>Click here to add content</a:t>
            </a:r>
          </a:p>
          <a:p>
            <a:pPr lvl="2"/>
            <a:r>
              <a:rPr lang="en-US" altLang="zh-CN" noProof="0" dirty="0"/>
              <a:t>Click here to add content</a:t>
            </a:r>
          </a:p>
        </p:txBody>
      </p:sp>
      <p:sp>
        <p:nvSpPr>
          <p:cNvPr id="68610" name="Rectangle 4"/>
          <p:cNvSpPr>
            <a:spLocks noGrp="1" noRot="1" noChangeAspect="1" noChangeArrowheads="1" noTextEdit="1"/>
          </p:cNvSpPr>
          <p:nvPr>
            <p:ph type="sldImg" idx="2"/>
          </p:nvPr>
        </p:nvSpPr>
        <p:spPr bwMode="auto">
          <a:xfrm>
            <a:off x="583903" y="765609"/>
            <a:ext cx="5931493" cy="3336983"/>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hdr="0" dt="0"/>
  <p:notesStyle>
    <a:lvl1pPr marL="180975" indent="-180975" algn="l" rtl="0" eaLnBrk="1" fontAlgn="base" hangingPunct="1">
      <a:lnSpc>
        <a:spcPct val="125000"/>
      </a:lnSpc>
      <a:spcBef>
        <a:spcPct val="0"/>
      </a:spcBef>
      <a:spcAft>
        <a:spcPts val="600"/>
      </a:spcAft>
      <a:buSzPct val="60000"/>
      <a:buFont typeface="Wingdings" pitchFamily="2" charset="2"/>
      <a:buChar char="l"/>
      <a:defRPr sz="1100" kern="1200">
        <a:solidFill>
          <a:schemeClr val="tx1"/>
        </a:solidFill>
        <a:latin typeface="微软雅黑" panose="020B0503020204020204" pitchFamily="34" charset="-122"/>
        <a:ea typeface="微软雅黑" panose="020B0503020204020204" pitchFamily="34" charset="-122"/>
        <a:cs typeface="+mn-cs"/>
      </a:defRPr>
    </a:lvl1pPr>
    <a:lvl2pPr marL="541338" indent="-180975" algn="l" rtl="0" eaLnBrk="1" fontAlgn="base" hangingPunct="1">
      <a:lnSpc>
        <a:spcPct val="125000"/>
      </a:lnSpc>
      <a:spcBef>
        <a:spcPct val="0"/>
      </a:spcBef>
      <a:spcAft>
        <a:spcPts val="600"/>
      </a:spcAft>
      <a:buSzPct val="50000"/>
      <a:buFont typeface="Wingdings" pitchFamily="2" charset="2"/>
      <a:buChar char="p"/>
      <a:defRPr sz="1100" kern="1200">
        <a:solidFill>
          <a:schemeClr val="tx1"/>
        </a:solidFill>
        <a:latin typeface="微软雅黑" panose="020B0503020204020204" pitchFamily="34" charset="-122"/>
        <a:ea typeface="微软雅黑" panose="020B0503020204020204" pitchFamily="34" charset="-122"/>
        <a:cs typeface="+mn-cs"/>
      </a:defRPr>
    </a:lvl2pPr>
    <a:lvl3pPr marL="895350" indent="-174625" algn="l" rtl="0" eaLnBrk="1" fontAlgn="base" hangingPunct="1">
      <a:lnSpc>
        <a:spcPct val="125000"/>
      </a:lnSpc>
      <a:spcBef>
        <a:spcPct val="0"/>
      </a:spcBef>
      <a:spcAft>
        <a:spcPts val="600"/>
      </a:spcAft>
      <a:buSzPct val="50000"/>
      <a:buFont typeface="Wingdings" pitchFamily="2" charset="2"/>
      <a:buChar char="n"/>
      <a:defRPr sz="11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mod="1">
    <p:ext uri="{620B2872-D7B9-4A21-9093-7833F8D536E1}">
      <p15:sldGuideLst xmlns:p15="http://schemas.microsoft.com/office/powerpoint/2012/main">
        <p15:guide id="1" orient="horz" pos="482" userDrawn="1">
          <p15:clr>
            <a:srgbClr val="F26B43"/>
          </p15:clr>
        </p15:guide>
        <p15:guide id="2" orient="horz" pos="29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备注占位符 27"/>
          <p:cNvSpPr>
            <a:spLocks noGrp="1"/>
          </p:cNvSpPr>
          <p:nvPr>
            <p:ph type="body" idx="1"/>
          </p:nvPr>
        </p:nvSpPr>
        <p:spPr/>
        <p:txBody>
          <a:bodyPr/>
          <a:lstStyle/>
          <a:p>
            <a:pPr marL="0" indent="0">
              <a:buNone/>
            </a:pPr>
            <a:endParaRPr lang="zh-CN" altLang="en-US" dirty="0">
              <a:latin typeface="Arial" panose="020B0604020202020204" pitchFamily="34" charset="0"/>
            </a:endParaRPr>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4101205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幻灯片图像占位符 8"/>
          <p:cNvSpPr>
            <a:spLocks noGrp="1" noRot="1" noChangeAspect="1"/>
          </p:cNvSpPr>
          <p:nvPr>
            <p:ph type="sldImg"/>
          </p:nvPr>
        </p:nvSpPr>
        <p:spPr>
          <a:xfrm>
            <a:off x="584200" y="765175"/>
            <a:ext cx="5930900" cy="3336925"/>
          </a:xfrm>
        </p:spPr>
      </p:sp>
      <p:sp>
        <p:nvSpPr>
          <p:cNvPr id="10" name="备注占位符 9"/>
          <p:cNvSpPr>
            <a:spLocks noGrp="1"/>
          </p:cNvSpPr>
          <p:nvPr>
            <p:ph type="body" sz="quarter" idx="10"/>
          </p:nvPr>
        </p:nvSpPr>
        <p:spPr/>
        <p:txBody>
          <a:bodyPr/>
          <a:lstStyle/>
          <a:p>
            <a:endParaRPr lang="zh-CN" altLang="en-US" dirty="0">
              <a:latin typeface="Arial" panose="020B0604020202020204" pitchFamily="34" charset="0"/>
            </a:endParaRPr>
          </a:p>
        </p:txBody>
      </p:sp>
      <p:sp>
        <p:nvSpPr>
          <p:cNvPr id="11" name="备注占位符 10"/>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3458088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51016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1546722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086993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4200" y="765175"/>
            <a:ext cx="5930900" cy="3336925"/>
          </a:xfrm>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38181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smtClean="0">
                <a:latin typeface="Arial" panose="020B0604020202020204" pitchFamily="34" charset="0"/>
              </a:rPr>
              <a:t>本页胶片在</a:t>
            </a:r>
            <a:r>
              <a:rPr lang="en-US" altLang="zh-CN" dirty="0" smtClean="0">
                <a:latin typeface="Arial" panose="020B0604020202020204" pitchFamily="34" charset="0"/>
              </a:rPr>
              <a:t>《</a:t>
            </a:r>
            <a:r>
              <a:rPr lang="zh-CN" altLang="en-US" dirty="0" smtClean="0">
                <a:latin typeface="Arial" panose="020B0604020202020204" pitchFamily="34" charset="0"/>
              </a:rPr>
              <a:t>虚拟化存储与非虚拟化存储</a:t>
            </a:r>
            <a:r>
              <a:rPr lang="en-US" altLang="zh-CN" dirty="0" smtClean="0">
                <a:latin typeface="Arial" panose="020B0604020202020204" pitchFamily="34" charset="0"/>
              </a:rPr>
              <a:t>》</a:t>
            </a:r>
            <a:r>
              <a:rPr lang="zh-CN" altLang="en-US" dirty="0" smtClean="0">
                <a:latin typeface="Arial" panose="020B0604020202020204" pitchFamily="34" charset="0"/>
              </a:rPr>
              <a:t>也有，讲师可根据实际情况或个人习惯，选择先将此页胶片展示给学员，然后在后面小节中详细讲解，或者隐藏此页。</a:t>
            </a:r>
            <a:endParaRPr lang="en-US" altLang="zh-CN" dirty="0" smtClean="0">
              <a:latin typeface="Arial" panose="020B0604020202020204" pitchFamily="34" charset="0"/>
            </a:endParaRPr>
          </a:p>
          <a:p>
            <a:r>
              <a:rPr lang="en-US" dirty="0" smtClean="0">
                <a:latin typeface="Arial" panose="020B0604020202020204" pitchFamily="34" charset="0"/>
              </a:rPr>
              <a:t>This slide also</a:t>
            </a:r>
            <a:r>
              <a:rPr lang="en-US" baseline="0" dirty="0" smtClean="0">
                <a:latin typeface="Arial" panose="020B0604020202020204" pitchFamily="34" charset="0"/>
              </a:rPr>
              <a:t> appears in “Virtualized Storage vs Non-Virtualized Storage”. The lecturer can choose to show or hide this slide at his or her discretion.</a:t>
            </a:r>
            <a:endParaRPr lang="en-US" dirty="0">
              <a:latin typeface="Arial" panose="020B0604020202020204" pitchFamily="34" charset="0"/>
            </a:endParaRPr>
          </a:p>
        </p:txBody>
      </p:sp>
    </p:spTree>
    <p:extLst>
      <p:ext uri="{BB962C8B-B14F-4D97-AF65-F5344CB8AC3E}">
        <p14:creationId xmlns:p14="http://schemas.microsoft.com/office/powerpoint/2010/main" val="838436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smtClean="0">
                <a:latin typeface="Arial" panose="020B0604020202020204" pitchFamily="34" charset="0"/>
              </a:rPr>
              <a:t>和上页一样，本页胶片在</a:t>
            </a:r>
            <a:r>
              <a:rPr lang="en-US" altLang="zh-CN" dirty="0" smtClean="0">
                <a:latin typeface="Arial" panose="020B0604020202020204" pitchFamily="34" charset="0"/>
              </a:rPr>
              <a:t>《</a:t>
            </a:r>
            <a:r>
              <a:rPr lang="zh-CN" altLang="en-US" dirty="0" smtClean="0">
                <a:latin typeface="Arial" panose="020B0604020202020204" pitchFamily="34" charset="0"/>
              </a:rPr>
              <a:t>虚拟化存储与非虚拟化存储</a:t>
            </a:r>
            <a:r>
              <a:rPr lang="en-US" altLang="zh-CN" dirty="0" smtClean="0">
                <a:latin typeface="Arial" panose="020B0604020202020204" pitchFamily="34" charset="0"/>
              </a:rPr>
              <a:t>》</a:t>
            </a:r>
            <a:r>
              <a:rPr lang="zh-CN" altLang="en-US" dirty="0" smtClean="0">
                <a:latin typeface="Arial" panose="020B0604020202020204" pitchFamily="34" charset="0"/>
              </a:rPr>
              <a:t>也有，讲师可根据实际情况或个人习惯，选择先将此页胶片展示给学员，然后在后面小节中详细讲解，或者隐藏此页。</a:t>
            </a:r>
            <a:endParaRPr lang="en-US" altLang="zh-CN" dirty="0" smtClean="0">
              <a:latin typeface="Arial" panose="020B0604020202020204" pitchFamily="34" charset="0"/>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en-US" dirty="0" smtClean="0">
                <a:latin typeface="Arial" panose="020B0604020202020204" pitchFamily="34" charset="0"/>
              </a:rPr>
              <a:t>This slide also</a:t>
            </a:r>
            <a:r>
              <a:rPr lang="en-US" baseline="0" dirty="0" smtClean="0">
                <a:latin typeface="Arial" panose="020B0604020202020204" pitchFamily="34" charset="0"/>
              </a:rPr>
              <a:t> appears in “Virtualized Storage vs Non-Virtualized Storage”. The lecturer can choose to show or hide this slide at his or her discretion.</a:t>
            </a:r>
            <a:endParaRPr lang="en-US" dirty="0" smtClean="0">
              <a:latin typeface="Arial" panose="020B0604020202020204" pitchFamily="34" charset="0"/>
            </a:endParaRPr>
          </a:p>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endParaRPr lang="en-US" altLang="zh-CN" dirty="0" smtClean="0">
              <a:latin typeface="Arial" panose="020B0604020202020204" pitchFamily="34" charset="0"/>
            </a:endParaRPr>
          </a:p>
          <a:p>
            <a:endParaRPr lang="en-US" altLang="zh-CN" dirty="0">
              <a:latin typeface="Arial" panose="020B0604020202020204" pitchFamily="34" charset="0"/>
            </a:endParaRPr>
          </a:p>
        </p:txBody>
      </p:sp>
    </p:spTree>
    <p:extLst>
      <p:ext uri="{BB962C8B-B14F-4D97-AF65-F5344CB8AC3E}">
        <p14:creationId xmlns:p14="http://schemas.microsoft.com/office/powerpoint/2010/main" val="3610900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2022806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2413542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3864888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1753075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4154374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2357029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smtClean="0">
              <a:latin typeface="Arial" panose="020B0604020202020204" pitchFamily="34" charset="0"/>
            </a:endParaRPr>
          </a:p>
        </p:txBody>
      </p:sp>
    </p:spTree>
    <p:extLst>
      <p:ext uri="{BB962C8B-B14F-4D97-AF65-F5344CB8AC3E}">
        <p14:creationId xmlns:p14="http://schemas.microsoft.com/office/powerpoint/2010/main" val="329373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smtClean="0">
              <a:latin typeface="Arial" panose="020B0604020202020204" pitchFamily="34" charset="0"/>
            </a:endParaRPr>
          </a:p>
        </p:txBody>
      </p:sp>
    </p:spTree>
    <p:extLst>
      <p:ext uri="{BB962C8B-B14F-4D97-AF65-F5344CB8AC3E}">
        <p14:creationId xmlns:p14="http://schemas.microsoft.com/office/powerpoint/2010/main" val="2110514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smtClean="0">
              <a:latin typeface="Arial" panose="020B0604020202020204" pitchFamily="34" charset="0"/>
            </a:endParaRPr>
          </a:p>
        </p:txBody>
      </p:sp>
    </p:spTree>
    <p:extLst>
      <p:ext uri="{BB962C8B-B14F-4D97-AF65-F5344CB8AC3E}">
        <p14:creationId xmlns:p14="http://schemas.microsoft.com/office/powerpoint/2010/main" val="2256954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35001181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2574496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Arial" panose="020B0604020202020204" pitchFamily="34" charset="0"/>
            </a:endParaRPr>
          </a:p>
        </p:txBody>
      </p:sp>
    </p:spTree>
    <p:extLst>
      <p:ext uri="{BB962C8B-B14F-4D97-AF65-F5344CB8AC3E}">
        <p14:creationId xmlns:p14="http://schemas.microsoft.com/office/powerpoint/2010/main" val="1041526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en-US" dirty="0">
              <a:latin typeface="Arial" panose="020B0604020202020204" pitchFamily="34" charset="0"/>
            </a:endParaRPr>
          </a:p>
        </p:txBody>
      </p:sp>
    </p:spTree>
    <p:extLst>
      <p:ext uri="{BB962C8B-B14F-4D97-AF65-F5344CB8AC3E}">
        <p14:creationId xmlns:p14="http://schemas.microsoft.com/office/powerpoint/2010/main" val="4715444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7580377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389211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1385481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651674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pPr marL="180975" marR="0" lvl="0" indent="-180975" algn="l" defTabSz="914400" rtl="0" eaLnBrk="1" fontAlgn="base" latinLnBrk="0" hangingPunct="1">
              <a:lnSpc>
                <a:spcPct val="125000"/>
              </a:lnSpc>
              <a:spcBef>
                <a:spcPct val="0"/>
              </a:spcBef>
              <a:spcAft>
                <a:spcPts val="600"/>
              </a:spcAft>
              <a:buClrTx/>
              <a:buSzPct val="60000"/>
              <a:buFont typeface="Wingdings" pitchFamily="2" charset="2"/>
              <a:buChar char="l"/>
              <a:tabLst/>
              <a:defRPr/>
            </a:pPr>
            <a:r>
              <a:rPr lang="zh-CN" altLang="en-US" dirty="0" smtClean="0">
                <a:latin typeface="Arial" panose="020B0604020202020204" pitchFamily="34" charset="0"/>
              </a:rPr>
              <a:t>虚拟机磁盘是文件系统上的一个文件，对于一个客户操作系统而言，就好像是一个物理磁盘驱动器。这个文件既可以在主机上，也可以在一个远端文件系统上。在给虚拟机配置虚拟磁盘后，可以安装一个新的操作系统到该磁盘文件。</a:t>
            </a:r>
          </a:p>
          <a:p>
            <a:endParaRPr lang="zh-CN" altLang="en-US" dirty="0">
              <a:latin typeface="Arial" panose="020B0604020202020204" pitchFamily="34" charset="0"/>
            </a:endParaRPr>
          </a:p>
        </p:txBody>
      </p:sp>
    </p:spTree>
    <p:extLst>
      <p:ext uri="{BB962C8B-B14F-4D97-AF65-F5344CB8AC3E}">
        <p14:creationId xmlns:p14="http://schemas.microsoft.com/office/powerpoint/2010/main" val="3698065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3933655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Tree>
    <p:extLst>
      <p:ext uri="{BB962C8B-B14F-4D97-AF65-F5344CB8AC3E}">
        <p14:creationId xmlns:p14="http://schemas.microsoft.com/office/powerpoint/2010/main" val="1692339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latin typeface="Arial" panose="020B0604020202020204" pitchFamily="34" charset="0"/>
              </a:rPr>
              <a:t>参考答案：</a:t>
            </a:r>
            <a:endParaRPr lang="en-US" altLang="zh-CN" dirty="0" smtClean="0">
              <a:latin typeface="Arial" panose="020B0604020202020204" pitchFamily="34" charset="0"/>
            </a:endParaRPr>
          </a:p>
          <a:p>
            <a:pPr lvl="1"/>
            <a:endParaRPr lang="en-US" altLang="zh-CN" dirty="0" smtClean="0">
              <a:latin typeface="Arial" panose="020B0604020202020204" pitchFamily="34" charset="0"/>
            </a:endParaRPr>
          </a:p>
          <a:p>
            <a:pPr lvl="1"/>
            <a:endParaRPr lang="zh-CN" altLang="en-US" dirty="0">
              <a:latin typeface="Arial" panose="020B0604020202020204" pitchFamily="34" charset="0"/>
            </a:endParaRPr>
          </a:p>
        </p:txBody>
      </p:sp>
      <p:sp>
        <p:nvSpPr>
          <p:cNvPr id="4" name="幻灯片图像占位符 3"/>
          <p:cNvSpPr>
            <a:spLocks noGrp="1" noRot="1" noChangeAspect="1"/>
          </p:cNvSpPr>
          <p:nvPr>
            <p:ph type="sldImg"/>
          </p:nvPr>
        </p:nvSpPr>
        <p:spPr>
          <a:xfrm>
            <a:off x="584200" y="765175"/>
            <a:ext cx="5930900" cy="3336925"/>
          </a:xfrm>
        </p:spPr>
      </p:sp>
    </p:spTree>
    <p:extLst>
      <p:ext uri="{BB962C8B-B14F-4D97-AF65-F5344CB8AC3E}">
        <p14:creationId xmlns:p14="http://schemas.microsoft.com/office/powerpoint/2010/main" val="24773807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0492775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584200" y="765175"/>
            <a:ext cx="5930900" cy="3336925"/>
          </a:xfrm>
        </p:spPr>
      </p:sp>
      <p:sp>
        <p:nvSpPr>
          <p:cNvPr id="5" name="备注占位符 4"/>
          <p:cNvSpPr>
            <a:spLocks noGrp="1"/>
          </p:cNvSpPr>
          <p:nvPr>
            <p:ph type="body" idx="1"/>
          </p:nvPr>
        </p:nvSpPr>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2253651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17" name="Group 3"/>
          <p:cNvGraphicFramePr>
            <a:graphicFrameLocks noGrp="1"/>
          </p:cNvGraphicFramePr>
          <p:nvPr userDrawn="1">
            <p:extLst>
              <p:ext uri="{D42A27DB-BD31-4B8C-83A1-F6EECF244321}">
                <p14:modId xmlns:p14="http://schemas.microsoft.com/office/powerpoint/2010/main" val="3577508034"/>
              </p:ext>
            </p:extLst>
          </p:nvPr>
        </p:nvGraphicFramePr>
        <p:xfrm>
          <a:off x="1007533" y="1254489"/>
          <a:ext cx="10464801" cy="1082675"/>
        </p:xfrm>
        <a:graphic>
          <a:graphicData uri="http://schemas.openxmlformats.org/drawingml/2006/table">
            <a:tbl>
              <a:tblPr/>
              <a:tblGrid>
                <a:gridCol w="3120249">
                  <a:extLst>
                    <a:ext uri="{9D8B030D-6E8A-4147-A177-3AD203B41FA5}">
                      <a16:colId xmlns="" xmlns:a16="http://schemas.microsoft.com/office/drawing/2014/main" val="20000"/>
                    </a:ext>
                  </a:extLst>
                </a:gridCol>
                <a:gridCol w="1968219">
                  <a:extLst>
                    <a:ext uri="{9D8B030D-6E8A-4147-A177-3AD203B41FA5}">
                      <a16:colId xmlns="" xmlns:a16="http://schemas.microsoft.com/office/drawing/2014/main" val="20001"/>
                    </a:ext>
                  </a:extLst>
                </a:gridCol>
                <a:gridCol w="3024336">
                  <a:extLst>
                    <a:ext uri="{9D8B030D-6E8A-4147-A177-3AD203B41FA5}">
                      <a16:colId xmlns="" xmlns:a16="http://schemas.microsoft.com/office/drawing/2014/main" val="20002"/>
                    </a:ext>
                  </a:extLst>
                </a:gridCol>
                <a:gridCol w="2351997">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课程编码</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适用产品</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产品版本</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课程版本</a:t>
                      </a:r>
                      <a:endParaRPr kumimoji="1" lang="en-US" altLang="zh-CN" sz="18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18" name="Group 21"/>
          <p:cNvGraphicFramePr>
            <a:graphicFrameLocks noGrp="1"/>
          </p:cNvGraphicFramePr>
          <p:nvPr userDrawn="1">
            <p:extLst>
              <p:ext uri="{D42A27DB-BD31-4B8C-83A1-F6EECF244321}">
                <p14:modId xmlns:p14="http://schemas.microsoft.com/office/powerpoint/2010/main" val="585112825"/>
              </p:ext>
            </p:extLst>
          </p:nvPr>
        </p:nvGraphicFramePr>
        <p:xfrm>
          <a:off x="1007533" y="2776901"/>
          <a:ext cx="10464800" cy="3038475"/>
        </p:xfrm>
        <a:graphic>
          <a:graphicData uri="http://schemas.openxmlformats.org/drawingml/2006/table">
            <a:tbl>
              <a:tblPr/>
              <a:tblGrid>
                <a:gridCol w="3120248">
                  <a:extLst>
                    <a:ext uri="{9D8B030D-6E8A-4147-A177-3AD203B41FA5}">
                      <a16:colId xmlns="" xmlns:a16="http://schemas.microsoft.com/office/drawing/2014/main" val="20000"/>
                    </a:ext>
                  </a:extLst>
                </a:gridCol>
                <a:gridCol w="1968219">
                  <a:extLst>
                    <a:ext uri="{9D8B030D-6E8A-4147-A177-3AD203B41FA5}">
                      <a16:colId xmlns="" xmlns:a16="http://schemas.microsoft.com/office/drawing/2014/main" val="20001"/>
                    </a:ext>
                  </a:extLst>
                </a:gridCol>
                <a:gridCol w="3024336">
                  <a:extLst>
                    <a:ext uri="{9D8B030D-6E8A-4147-A177-3AD203B41FA5}">
                      <a16:colId xmlns="" xmlns:a16="http://schemas.microsoft.com/office/drawing/2014/main" val="20002"/>
                    </a:ext>
                  </a:extLst>
                </a:gridCol>
                <a:gridCol w="2351997">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作者</a:t>
                      </a:r>
                      <a:r>
                        <a:rPr kumimoji="1" lang="en-US" altLang="zh-CN" sz="1800" b="1" i="0" u="none" strike="noStrike" cap="none" normalizeH="0" baseline="0" dirty="0">
                          <a:ln>
                            <a:noFill/>
                          </a:ln>
                          <a:solidFill>
                            <a:schemeClr val="tx1"/>
                          </a:solidFill>
                          <a:effectLst/>
                          <a:latin typeface="Arial" panose="020B0604020202020204" pitchFamily="34" charset="0"/>
                          <a:ea typeface="+mn-ea"/>
                        </a:rPr>
                        <a:t>/</a:t>
                      </a:r>
                      <a:r>
                        <a:rPr kumimoji="1" lang="zh-CN" altLang="en-US" sz="1800" b="1" i="0" u="none" strike="noStrike" cap="none" normalizeH="0" baseline="0" dirty="0">
                          <a:ln>
                            <a:noFill/>
                          </a:ln>
                          <a:solidFill>
                            <a:schemeClr val="tx1"/>
                          </a:solidFill>
                          <a:effectLst/>
                          <a:latin typeface="Arial" panose="020B0604020202020204" pitchFamily="34" charset="0"/>
                          <a:ea typeface="+mn-ea"/>
                        </a:rPr>
                        <a:t>工号</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时间</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Arial" panose="020B0604020202020204" pitchFamily="34" charset="0"/>
                          <a:ea typeface="+mn-ea"/>
                        </a:rPr>
                        <a:t>审核人</a:t>
                      </a:r>
                      <a:r>
                        <a:rPr kumimoji="1" lang="en-US" altLang="zh-CN" sz="1800" b="1" i="0" u="none" strike="noStrike" cap="none" normalizeH="0" baseline="0" dirty="0">
                          <a:ln>
                            <a:noFill/>
                          </a:ln>
                          <a:solidFill>
                            <a:schemeClr val="tx1"/>
                          </a:solidFill>
                          <a:effectLst/>
                          <a:latin typeface="Arial" panose="020B0604020202020204" pitchFamily="34" charset="0"/>
                          <a:ea typeface="+mn-ea"/>
                        </a:rPr>
                        <a:t>/</a:t>
                      </a:r>
                      <a:r>
                        <a:rPr kumimoji="1" lang="zh-CN" altLang="en-US" sz="1800" b="1" i="0" u="none" strike="noStrike" cap="none" normalizeH="0" baseline="0" dirty="0">
                          <a:ln>
                            <a:noFill/>
                          </a:ln>
                          <a:solidFill>
                            <a:schemeClr val="tx1"/>
                          </a:solidFill>
                          <a:effectLst/>
                          <a:latin typeface="Arial" panose="020B0604020202020204" pitchFamily="34" charset="0"/>
                          <a:ea typeface="+mn-ea"/>
                        </a:rPr>
                        <a:t>工号</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Arial" panose="020B0604020202020204" pitchFamily="34" charset="0"/>
                          <a:ea typeface="+mn-ea"/>
                        </a:rPr>
                        <a:t>新开发/优化</a:t>
                      </a:r>
                      <a:endParaRPr kumimoji="1" lang="zh-CN" altLang="en-US" sz="18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35" name="文本占位符 7"/>
          <p:cNvSpPr>
            <a:spLocks noGrp="1"/>
          </p:cNvSpPr>
          <p:nvPr>
            <p:ph type="body" sz="quarter" idx="17" hasCustomPrompt="1"/>
          </p:nvPr>
        </p:nvSpPr>
        <p:spPr>
          <a:xfrm>
            <a:off x="1007533" y="1825691"/>
            <a:ext cx="3120248"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课程编码</a:t>
            </a:r>
          </a:p>
        </p:txBody>
      </p:sp>
      <p:sp>
        <p:nvSpPr>
          <p:cNvPr id="36" name="文本占位符 7"/>
          <p:cNvSpPr>
            <a:spLocks noGrp="1"/>
          </p:cNvSpPr>
          <p:nvPr>
            <p:ph type="body" sz="quarter" idx="18" hasCustomPrompt="1"/>
          </p:nvPr>
        </p:nvSpPr>
        <p:spPr>
          <a:xfrm>
            <a:off x="4127781" y="1825691"/>
            <a:ext cx="1968219"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适用的产品</a:t>
            </a:r>
          </a:p>
        </p:txBody>
      </p:sp>
      <p:sp>
        <p:nvSpPr>
          <p:cNvPr id="37" name="文本占位符 7"/>
          <p:cNvSpPr>
            <a:spLocks noGrp="1"/>
          </p:cNvSpPr>
          <p:nvPr>
            <p:ph type="body" sz="quarter" idx="19" hasCustomPrompt="1"/>
          </p:nvPr>
        </p:nvSpPr>
        <p:spPr>
          <a:xfrm>
            <a:off x="6096000" y="1825691"/>
            <a:ext cx="3024336"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V5R2</a:t>
            </a:r>
            <a:endParaRPr lang="zh-CN" altLang="en-US" dirty="0"/>
          </a:p>
        </p:txBody>
      </p:sp>
      <p:sp>
        <p:nvSpPr>
          <p:cNvPr id="38" name="文本占位符 7"/>
          <p:cNvSpPr>
            <a:spLocks noGrp="1"/>
          </p:cNvSpPr>
          <p:nvPr>
            <p:ph type="body" sz="quarter" idx="20" hasCustomPrompt="1"/>
          </p:nvPr>
        </p:nvSpPr>
        <p:spPr>
          <a:xfrm>
            <a:off x="9120336" y="1825691"/>
            <a:ext cx="2351997"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V1R1</a:t>
            </a:r>
            <a:endParaRPr lang="zh-CN" altLang="en-US" dirty="0"/>
          </a:p>
        </p:txBody>
      </p:sp>
      <p:sp>
        <p:nvSpPr>
          <p:cNvPr id="43" name="文本占位符 7"/>
          <p:cNvSpPr>
            <a:spLocks noGrp="1"/>
          </p:cNvSpPr>
          <p:nvPr>
            <p:ph type="body" sz="quarter" idx="13" hasCustomPrompt="1"/>
          </p:nvPr>
        </p:nvSpPr>
        <p:spPr>
          <a:xfrm>
            <a:off x="1007435" y="337386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4" name="文本占位符 7"/>
          <p:cNvSpPr>
            <a:spLocks noGrp="1"/>
          </p:cNvSpPr>
          <p:nvPr>
            <p:ph type="body" sz="quarter" idx="14" hasCustomPrompt="1"/>
          </p:nvPr>
        </p:nvSpPr>
        <p:spPr>
          <a:xfrm>
            <a:off x="4127781" y="337386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5" name="文本占位符 7"/>
          <p:cNvSpPr>
            <a:spLocks noGrp="1"/>
          </p:cNvSpPr>
          <p:nvPr>
            <p:ph type="body" sz="quarter" idx="15" hasCustomPrompt="1"/>
          </p:nvPr>
        </p:nvSpPr>
        <p:spPr>
          <a:xfrm>
            <a:off x="6096000" y="337386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6" name="文本占位符 7"/>
          <p:cNvSpPr>
            <a:spLocks noGrp="1"/>
          </p:cNvSpPr>
          <p:nvPr>
            <p:ph type="body" sz="quarter" idx="16" hasCustomPrompt="1"/>
          </p:nvPr>
        </p:nvSpPr>
        <p:spPr>
          <a:xfrm>
            <a:off x="9120336" y="3337858"/>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新开发</a:t>
            </a:r>
          </a:p>
        </p:txBody>
      </p:sp>
      <p:sp>
        <p:nvSpPr>
          <p:cNvPr id="63" name="Rectangle 2"/>
          <p:cNvSpPr>
            <a:spLocks noChangeArrowheads="1"/>
          </p:cNvSpPr>
          <p:nvPr userDrawn="1"/>
        </p:nvSpPr>
        <p:spPr bwMode="auto">
          <a:xfrm>
            <a:off x="952501" y="368660"/>
            <a:ext cx="2803239" cy="479425"/>
          </a:xfrm>
          <a:prstGeom prst="rect">
            <a:avLst/>
          </a:prstGeom>
          <a:noFill/>
          <a:ln w="9525">
            <a:noFill/>
            <a:miter lim="800000"/>
            <a:headEnd/>
            <a:tailEnd/>
          </a:ln>
        </p:spPr>
        <p:txBody>
          <a:bodyPr lIns="78258" tIns="39127" rIns="78258" bIns="39127" anchor="ctr"/>
          <a:lstStyle/>
          <a:p>
            <a:pPr algn="l" defTabSz="1001624" rtl="0" eaLnBrk="0" fontAlgn="t" hangingPunct="0">
              <a:spcBef>
                <a:spcPct val="0"/>
              </a:spcBef>
              <a:spcAft>
                <a:spcPct val="0"/>
              </a:spcAft>
            </a:pPr>
            <a:r>
              <a:rPr lang="zh-CN" altLang="en-US" sz="3500" b="1" kern="1200" dirty="0">
                <a:solidFill>
                  <a:schemeClr val="tx1">
                    <a:lumMod val="75000"/>
                    <a:lumOff val="25000"/>
                  </a:schemeClr>
                </a:solidFill>
                <a:latin typeface="Arial" panose="020B0604020202020204" pitchFamily="34" charset="0"/>
                <a:ea typeface="+mn-ea"/>
                <a:cs typeface="Arial" panose="020B0604020202020204" pitchFamily="34" charset="0"/>
              </a:rPr>
              <a:t>修订记录</a:t>
            </a:r>
          </a:p>
        </p:txBody>
      </p:sp>
      <p:sp>
        <p:nvSpPr>
          <p:cNvPr id="64" name="Text Box 58"/>
          <p:cNvSpPr txBox="1">
            <a:spLocks noChangeArrowheads="1"/>
          </p:cNvSpPr>
          <p:nvPr userDrawn="1"/>
        </p:nvSpPr>
        <p:spPr bwMode="auto">
          <a:xfrm>
            <a:off x="8904312" y="296652"/>
            <a:ext cx="2772308" cy="701675"/>
          </a:xfrm>
          <a:prstGeom prst="rect">
            <a:avLst/>
          </a:prstGeom>
          <a:noFill/>
          <a:ln w="9525" algn="ctr">
            <a:noFill/>
            <a:miter lim="800000"/>
            <a:headEnd/>
            <a:tailEnd/>
          </a:ln>
        </p:spPr>
        <p:txBody>
          <a:bodyPr wrap="square">
            <a:spAutoFit/>
          </a:bodyPr>
          <a:lstStyle/>
          <a:p>
            <a:pPr>
              <a:spcBef>
                <a:spcPct val="50000"/>
              </a:spcBef>
            </a:pPr>
            <a:r>
              <a:rPr lang="zh-CN" altLang="en-US" sz="4000" i="0" dirty="0">
                <a:solidFill>
                  <a:schemeClr val="bg2">
                    <a:lumMod val="50000"/>
                  </a:schemeClr>
                </a:solidFill>
                <a:latin typeface="Arial" panose="020B0604020202020204" pitchFamily="34" charset="0"/>
                <a:ea typeface="+mn-ea"/>
                <a:cs typeface="Arial" panose="020B0604020202020204" pitchFamily="34" charset="0"/>
              </a:rPr>
              <a:t>本页不打印</a:t>
            </a:r>
          </a:p>
        </p:txBody>
      </p:sp>
      <p:sp>
        <p:nvSpPr>
          <p:cNvPr id="39" name="文本占位符 7"/>
          <p:cNvSpPr>
            <a:spLocks noGrp="1"/>
          </p:cNvSpPr>
          <p:nvPr>
            <p:ph type="body" sz="quarter" idx="21" hasCustomPrompt="1"/>
          </p:nvPr>
        </p:nvSpPr>
        <p:spPr>
          <a:xfrm>
            <a:off x="1007435" y="3877918"/>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0" name="文本占位符 7"/>
          <p:cNvSpPr>
            <a:spLocks noGrp="1"/>
          </p:cNvSpPr>
          <p:nvPr>
            <p:ph type="body" sz="quarter" idx="22" hasCustomPrompt="1"/>
          </p:nvPr>
        </p:nvSpPr>
        <p:spPr>
          <a:xfrm>
            <a:off x="4127781" y="3877918"/>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1" name="文本占位符 7"/>
          <p:cNvSpPr>
            <a:spLocks noGrp="1"/>
          </p:cNvSpPr>
          <p:nvPr>
            <p:ph type="body" sz="quarter" idx="23" hasCustomPrompt="1"/>
          </p:nvPr>
        </p:nvSpPr>
        <p:spPr>
          <a:xfrm>
            <a:off x="6096000" y="3877918"/>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2" name="文本占位符 7"/>
          <p:cNvSpPr>
            <a:spLocks noGrp="1"/>
          </p:cNvSpPr>
          <p:nvPr>
            <p:ph type="body" sz="quarter" idx="24" hasCustomPrompt="1"/>
          </p:nvPr>
        </p:nvSpPr>
        <p:spPr>
          <a:xfrm>
            <a:off x="9120336" y="3841914"/>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5" name="文本占位符 7"/>
          <p:cNvSpPr>
            <a:spLocks noGrp="1"/>
          </p:cNvSpPr>
          <p:nvPr>
            <p:ph type="body" sz="quarter" idx="25" hasCustomPrompt="1"/>
          </p:nvPr>
        </p:nvSpPr>
        <p:spPr>
          <a:xfrm>
            <a:off x="1007435" y="434597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6" name="文本占位符 7"/>
          <p:cNvSpPr>
            <a:spLocks noGrp="1"/>
          </p:cNvSpPr>
          <p:nvPr>
            <p:ph type="body" sz="quarter" idx="26" hasCustomPrompt="1"/>
          </p:nvPr>
        </p:nvSpPr>
        <p:spPr>
          <a:xfrm>
            <a:off x="4127781" y="434597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67" name="文本占位符 7"/>
          <p:cNvSpPr>
            <a:spLocks noGrp="1"/>
          </p:cNvSpPr>
          <p:nvPr>
            <p:ph type="body" sz="quarter" idx="27" hasCustomPrompt="1"/>
          </p:nvPr>
        </p:nvSpPr>
        <p:spPr>
          <a:xfrm>
            <a:off x="6096000" y="434597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8" name="文本占位符 7"/>
          <p:cNvSpPr>
            <a:spLocks noGrp="1"/>
          </p:cNvSpPr>
          <p:nvPr>
            <p:ph type="body" sz="quarter" idx="28" hasCustomPrompt="1"/>
          </p:nvPr>
        </p:nvSpPr>
        <p:spPr>
          <a:xfrm>
            <a:off x="9120336" y="434597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9" name="文本占位符 7"/>
          <p:cNvSpPr>
            <a:spLocks noGrp="1"/>
          </p:cNvSpPr>
          <p:nvPr>
            <p:ph type="body" sz="quarter" idx="29" hasCustomPrompt="1"/>
          </p:nvPr>
        </p:nvSpPr>
        <p:spPr>
          <a:xfrm>
            <a:off x="1007435" y="488603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0" name="文本占位符 7"/>
          <p:cNvSpPr>
            <a:spLocks noGrp="1"/>
          </p:cNvSpPr>
          <p:nvPr>
            <p:ph type="body" sz="quarter" idx="30" hasCustomPrompt="1"/>
          </p:nvPr>
        </p:nvSpPr>
        <p:spPr>
          <a:xfrm>
            <a:off x="4127781" y="488603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1" name="文本占位符 7"/>
          <p:cNvSpPr>
            <a:spLocks noGrp="1"/>
          </p:cNvSpPr>
          <p:nvPr>
            <p:ph type="body" sz="quarter" idx="31" hasCustomPrompt="1"/>
          </p:nvPr>
        </p:nvSpPr>
        <p:spPr>
          <a:xfrm>
            <a:off x="6096000" y="488603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2" name="文本占位符 7"/>
          <p:cNvSpPr>
            <a:spLocks noGrp="1"/>
          </p:cNvSpPr>
          <p:nvPr>
            <p:ph type="body" sz="quarter" idx="32" hasCustomPrompt="1"/>
          </p:nvPr>
        </p:nvSpPr>
        <p:spPr>
          <a:xfrm>
            <a:off x="9120336" y="488603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73" name="文本占位符 7"/>
          <p:cNvSpPr>
            <a:spLocks noGrp="1"/>
          </p:cNvSpPr>
          <p:nvPr>
            <p:ph type="body" sz="quarter" idx="33" hasCustomPrompt="1"/>
          </p:nvPr>
        </p:nvSpPr>
        <p:spPr>
          <a:xfrm>
            <a:off x="1007435" y="535408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4" name="文本占位符 7"/>
          <p:cNvSpPr>
            <a:spLocks noGrp="1"/>
          </p:cNvSpPr>
          <p:nvPr>
            <p:ph type="body" sz="quarter" idx="34" hasCustomPrompt="1"/>
          </p:nvPr>
        </p:nvSpPr>
        <p:spPr>
          <a:xfrm>
            <a:off x="4127781" y="535408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5" name="文本占位符 7"/>
          <p:cNvSpPr>
            <a:spLocks noGrp="1"/>
          </p:cNvSpPr>
          <p:nvPr>
            <p:ph type="body" sz="quarter" idx="35" hasCustomPrompt="1"/>
          </p:nvPr>
        </p:nvSpPr>
        <p:spPr>
          <a:xfrm>
            <a:off x="6096000" y="535408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6" name="文本占位符 7"/>
          <p:cNvSpPr>
            <a:spLocks noGrp="1"/>
          </p:cNvSpPr>
          <p:nvPr>
            <p:ph type="body" sz="quarter" idx="36" hasCustomPrompt="1"/>
          </p:nvPr>
        </p:nvSpPr>
        <p:spPr>
          <a:xfrm>
            <a:off x="9120336" y="5354082"/>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总标题">
    <p:spTree>
      <p:nvGrpSpPr>
        <p:cNvPr id="1" name=""/>
        <p:cNvGrpSpPr/>
        <p:nvPr/>
      </p:nvGrpSpPr>
      <p:grpSpPr>
        <a:xfrm>
          <a:off x="0" y="0"/>
          <a:ext cx="0" cy="0"/>
          <a:chOff x="0" y="0"/>
          <a:chExt cx="0" cy="0"/>
        </a:xfrm>
      </p:grpSpPr>
      <p:pic>
        <p:nvPicPr>
          <p:cNvPr id="10"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 y="84"/>
            <a:ext cx="12192000" cy="710975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p:nvPr>
        </p:nvSpPr>
        <p:spPr>
          <a:xfrm>
            <a:off x="1031295" y="4957156"/>
            <a:ext cx="10441567" cy="831600"/>
          </a:xfr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zh-CN" altLang="en-US" dirty="0"/>
              <a:t>单击此处编辑母版标题</a:t>
            </a:r>
            <a:r>
              <a:rPr lang="zh-CN" altLang="en-US" dirty="0" smtClean="0"/>
              <a:t>样式</a:t>
            </a:r>
            <a:endParaRPr lang="zh-CN" altLang="en-US" dirty="0"/>
          </a:p>
        </p:txBody>
      </p:sp>
      <p:sp>
        <p:nvSpPr>
          <p:cNvPr id="30" name="文本占位符 29"/>
          <p:cNvSpPr>
            <a:spLocks noGrp="1"/>
          </p:cNvSpPr>
          <p:nvPr>
            <p:ph type="body" sz="quarter" idx="10"/>
          </p:nvPr>
        </p:nvSpPr>
        <p:spPr>
          <a:xfrm>
            <a:off x="1031295" y="5816120"/>
            <a:ext cx="6912000" cy="493200"/>
          </a:xfr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zh-CN" altLang="en-US" dirty="0" smtClean="0"/>
              <a:t>单击此处编辑母版文本样式</a:t>
            </a:r>
          </a:p>
        </p:txBody>
      </p:sp>
      <p:sp>
        <p:nvSpPr>
          <p:cNvPr id="7"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947428" y="6500581"/>
            <a:ext cx="3469788" cy="265552"/>
          </a:xfrm>
          <a:prstGeom prst="rect">
            <a:avLst/>
          </a:prstGeom>
          <a:noFill/>
          <a:ln w="9525" algn="ctr">
            <a:noFill/>
            <a:miter lim="800000"/>
            <a:headEnd/>
            <a:tailEnd/>
          </a:ln>
          <a:effectLst/>
        </p:spPr>
        <p:txBody>
          <a:bodyPr wrap="none" lIns="80101" tIns="40052" rIns="80101" bIns="40052">
            <a:spAutoFit/>
          </a:bodyPr>
          <a:lstStyle/>
          <a:p>
            <a:pPr marL="0" marR="0" lvl="0" indent="0" algn="l" defTabSz="801668" rtl="0" eaLnBrk="0" fontAlgn="base" latinLnBrk="0" hangingPunct="0">
              <a:lnSpc>
                <a:spcPct val="100000"/>
              </a:lnSpc>
              <a:spcBef>
                <a:spcPct val="0"/>
              </a:spcBef>
              <a:spcAft>
                <a:spcPct val="0"/>
              </a:spcAft>
              <a:buClrTx/>
              <a:buSzTx/>
              <a:buFontTx/>
              <a:buNone/>
              <a:tabLst/>
              <a:defRPr/>
            </a:pPr>
            <a:r>
              <a:rPr lang="en-US" altLang="zh-CN" sz="1200" kern="1200" dirty="0" smtClean="0">
                <a:solidFill>
                  <a:schemeClr val="tx1"/>
                </a:solidFill>
                <a:effectLst/>
                <a:latin typeface="Arial" panose="020B0604020202020204" pitchFamily="34" charset="0"/>
                <a:ea typeface="宋体" charset="-122"/>
                <a:cs typeface="Arial" panose="020B0604020202020204" pitchFamily="34" charset="0"/>
              </a:rPr>
              <a:t>Copyright © Huawei Technologies Co., Ltd. 2019</a:t>
            </a:r>
            <a:endParaRPr lang="zh-CN" altLang="en-US" sz="1800" kern="1200" baseline="0" dirty="0" smtClean="0">
              <a:solidFill>
                <a:schemeClr val="tx1"/>
              </a:solidFill>
              <a:latin typeface="Arial" panose="020B0604020202020204" pitchFamily="34" charset="0"/>
              <a:ea typeface="宋体" charset="-122"/>
              <a:cs typeface="Arial" panose="020B0604020202020204" pitchFamily="34" charset="0"/>
            </a:endParaRP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91889" y="251069"/>
            <a:ext cx="1965600" cy="430102"/>
          </a:xfrm>
          <a:prstGeom prst="rect">
            <a:avLst/>
          </a:prstGeom>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p:spPr>
        <p:txBody>
          <a:bodyPr/>
          <a:lstStyle>
            <a:lvl1pPr algn="just">
              <a:defRPr>
                <a:latin typeface="+mn-ea"/>
                <a:ea typeface="+mn-ea"/>
                <a:cs typeface="Arial" panose="020B0604020202020204" pitchFamily="34" charset="0"/>
              </a:defRPr>
            </a:lvl1pPr>
            <a:lvl5pPr>
              <a:buNone/>
              <a:defRPr/>
            </a:lvl5pPr>
          </a:lstStyle>
          <a:p>
            <a:pPr eaLnBrk="1" hangingPunct="1"/>
            <a:r>
              <a:rPr lang="zh-CN" altLang="en-US" dirty="0"/>
              <a:t>本章主要讲述</a:t>
            </a:r>
            <a:r>
              <a:rPr lang="en-US" altLang="zh-CN" dirty="0"/>
              <a:t>...</a:t>
            </a:r>
            <a:endParaRPr lang="zh-CN" altLang="en-US" dirty="0"/>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18"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9"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76264"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Foreword</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15:guide id="1" orient="horz" pos="73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p:spPr>
        <p:txBody>
          <a:bodyPr/>
          <a:lstStyle>
            <a:lvl1pPr marL="301625" marR="0" indent="-301625" algn="just" defTabSz="801688" rtl="0" eaLnBrk="1" fontAlgn="base" latinLnBrk="0" hangingPunct="1">
              <a:lnSpc>
                <a:spcPct val="140000"/>
              </a:lnSpc>
              <a:spcBef>
                <a:spcPct val="30000"/>
              </a:spcBef>
              <a:spcAft>
                <a:spcPct val="0"/>
              </a:spcAft>
              <a:buClr>
                <a:srgbClr val="808080"/>
              </a:buClr>
              <a:buSzPct val="60000"/>
              <a:buFont typeface="Wingdings" pitchFamily="2" charset="2"/>
              <a:buChar char="l"/>
              <a:tabLst/>
              <a:defRPr>
                <a:latin typeface="+mn-ea"/>
                <a:ea typeface="+mn-ea"/>
                <a:cs typeface="Arial" panose="020B0604020202020204" pitchFamily="34" charset="0"/>
              </a:defRPr>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25" marR="0" lvl="0" indent="-301625" algn="l" defTabSz="80168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zh-CN" altLang="en-US" sz="2200" b="0" i="0" u="none" strike="noStrike" kern="0" cap="none" spc="0" normalizeH="0" baseline="0" noProof="0" dirty="0">
                <a:ln>
                  <a:noFill/>
                </a:ln>
                <a:solidFill>
                  <a:srgbClr val="000000"/>
                </a:solidFill>
                <a:effectLst/>
                <a:uLnTx/>
                <a:uFillTx/>
                <a:latin typeface="+mn-lt"/>
                <a:ea typeface="+mn-ea"/>
                <a:cs typeface="+mn-cs"/>
              </a:rPr>
              <a:t>学完本课程后，您将能够：</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18"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9"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592288"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Objectives</a:t>
            </a:r>
            <a:endParaRPr lang="en-US" altLang="zh-CN" sz="3500" b="1" dirty="0">
              <a:solidFill>
                <a:schemeClr val="tx1">
                  <a:lumMod val="75000"/>
                  <a:lumOff val="25000"/>
                </a:schemeClr>
              </a:solidFill>
              <a:latin typeface="Arial" panose="020B0604020202020204" pitchFamily="34" charset="0"/>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3" y="1233487"/>
            <a:ext cx="10558800" cy="4680000"/>
          </a:xfr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a:latin typeface="+mn-ea"/>
                <a:ea typeface="+mn-ea"/>
                <a:cs typeface="Arial" panose="020B0604020202020204" pitchFamily="34" charset="0"/>
              </a:defRPr>
            </a:lvl1pPr>
            <a:lvl2pPr>
              <a:buFont typeface="Wingdings" pitchFamily="2" charset="2"/>
              <a:buChar char="p"/>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29"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30"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3402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Contents</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chemeClr val="tx1">
                    <a:lumMod val="75000"/>
                    <a:lumOff val="25000"/>
                  </a:schemeClr>
                </a:solidFill>
                <a:latin typeface="Arial" panose="020B0604020202020204" pitchFamily="34" charset="0"/>
                <a:ea typeface="+mn-ea"/>
                <a:cs typeface="Arial" pitchFamily="34" charset="0"/>
              </a:rPr>
              <a:t>本节概述和学习目标</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66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
        <p:nvSpPr>
          <p:cNvPr id="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8" name="文本占位符 6"/>
          <p:cNvSpPr>
            <a:spLocks noGrp="1"/>
          </p:cNvSpPr>
          <p:nvPr>
            <p:ph type="body" sz="quarter" idx="10" hasCustomPrompt="1"/>
          </p:nvPr>
        </p:nvSpPr>
        <p:spPr>
          <a:xfrm>
            <a:off x="912285" y="1233488"/>
            <a:ext cx="10560048" cy="4680000"/>
          </a:xfr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208156854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66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ndParaRPr>
          </a:p>
        </p:txBody>
      </p:sp>
      <p:sp>
        <p:nvSpPr>
          <p:cNvPr id="6"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91685459"/>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Quiz</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25" name="Freeform 6"/>
          <p:cNvSpPr>
            <a:spLocks/>
          </p:cNvSpPr>
          <p:nvPr userDrawn="1"/>
        </p:nvSpPr>
        <p:spPr bwMode="auto">
          <a:xfrm>
            <a:off x="3213039" y="296368"/>
            <a:ext cx="8978961"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26" name="Freeform 11"/>
          <p:cNvSpPr>
            <a:spLocks/>
          </p:cNvSpPr>
          <p:nvPr userDrawn="1"/>
        </p:nvSpPr>
        <p:spPr bwMode="auto">
          <a:xfrm>
            <a:off x="310766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此版式用于每一节的</a:t>
            </a:r>
            <a:r>
              <a:rPr lang="zh-CN" altLang="en-US" dirty="0" smtClean="0"/>
              <a:t>总结</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016224"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chemeClr val="tx1">
                    <a:lumMod val="75000"/>
                    <a:lumOff val="25000"/>
                  </a:schemeClr>
                </a:solidFill>
                <a:latin typeface="Arial" panose="020B0604020202020204" pitchFamily="34" charset="0"/>
                <a:ea typeface="+mn-ea"/>
                <a:cs typeface="Arial" pitchFamily="34" charset="0"/>
              </a:rPr>
              <a:t>本节小结</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412268"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Summary</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
        <p:nvSpPr>
          <p:cNvPr id="14" name="文本占位符 6"/>
          <p:cNvSpPr>
            <a:spLocks noGrp="1"/>
          </p:cNvSpPr>
          <p:nvPr>
            <p:ph type="body" sz="quarter" idx="1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此版式用于提供给学员更多学习信息。</a:t>
            </a:r>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chemeClr val="tx1">
                    <a:lumMod val="75000"/>
                    <a:lumOff val="25000"/>
                  </a:schemeClr>
                </a:solidFill>
                <a:latin typeface="Arial" panose="020B0604020202020204" pitchFamily="34" charset="0"/>
                <a:ea typeface="+mn-ea"/>
                <a:cs typeface="Arial" pitchFamily="34" charset="0"/>
              </a:rPr>
              <a:t>更多信息</a:t>
            </a: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en-US" altLang="zh-CN" sz="3500" b="1" dirty="0" smtClean="0">
                <a:solidFill>
                  <a:schemeClr val="tx1">
                    <a:lumMod val="75000"/>
                    <a:lumOff val="25000"/>
                  </a:schemeClr>
                </a:solidFill>
                <a:latin typeface="Arial" panose="020B0604020202020204" pitchFamily="34" charset="0"/>
                <a:ea typeface="+mn-ea"/>
                <a:cs typeface="Arial" pitchFamily="34" charset="0"/>
              </a:rPr>
              <a:t>Recommendations</a:t>
            </a:r>
            <a:endParaRPr lang="zh-CN" altLang="en-US" sz="3500" b="1" dirty="0">
              <a:solidFill>
                <a:schemeClr val="tx1">
                  <a:lumMod val="75000"/>
                  <a:lumOff val="25000"/>
                </a:schemeClr>
              </a:solidFill>
              <a:latin typeface="Arial" panose="020B0604020202020204" pitchFamily="34" charset="0"/>
              <a:ea typeface="+mn-ea"/>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latin typeface="Arial" panose="020B0604020202020204" pitchFamily="34" charset="0"/>
              <a:ea typeface="+mn-ea"/>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mn-ea"/>
              </a:endParaRPr>
            </a:p>
          </p:txBody>
        </p:sp>
      </p:gr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0" y="0"/>
            <a:ext cx="12193664"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1664" y="0"/>
            <a:ext cx="12192000"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mn-ea"/>
            </a:endParaRPr>
          </a:p>
        </p:txBody>
      </p:sp>
      <p:grpSp>
        <p:nvGrpSpPr>
          <p:cNvPr id="4" name="组合 3"/>
          <p:cNvGrpSpPr/>
          <p:nvPr userDrawn="1"/>
        </p:nvGrpSpPr>
        <p:grpSpPr>
          <a:xfrm>
            <a:off x="4234241" y="2642208"/>
            <a:ext cx="3971726" cy="1573584"/>
            <a:chOff x="4826327" y="2503488"/>
            <a:chExt cx="3971726" cy="1573584"/>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826327" y="3443951"/>
              <a:ext cx="3971726" cy="633121"/>
            </a:xfrm>
            <a:prstGeom prst="rect">
              <a:avLst/>
            </a:prstGeom>
            <a:noFill/>
            <a:ln w="9525">
              <a:noFill/>
              <a:miter lim="800000"/>
              <a:headEnd/>
              <a:tailEnd/>
            </a:ln>
          </p:spPr>
          <p:txBody>
            <a:bodyPr wrap="none" lIns="78358" tIns="39179" rIns="78358" bIns="39179">
              <a:spAutoFit/>
            </a:bodyPr>
            <a:lstStyle/>
            <a:p>
              <a:pPr defTabSz="784225" eaLnBrk="0" hangingPunct="0">
                <a:buSzPct val="100000"/>
                <a:defRPr/>
              </a:pPr>
              <a:r>
                <a:rPr lang="zh-CN" altLang="zh-CN" sz="3600" dirty="0">
                  <a:solidFill>
                    <a:schemeClr val="bg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4923890" y="2503488"/>
              <a:ext cx="3593610" cy="910120"/>
            </a:xfrm>
            <a:prstGeom prst="rect">
              <a:avLst/>
            </a:prstGeom>
            <a:noFill/>
            <a:ln w="9525">
              <a:noFill/>
              <a:miter lim="800000"/>
              <a:headEnd/>
              <a:tailEnd/>
            </a:ln>
          </p:spPr>
          <p:txBody>
            <a:bodyPr wrap="none" lIns="78358" tIns="39179" rIns="78358" bIns="39179">
              <a:spAutoFit/>
            </a:bodyPr>
            <a:lstStyle/>
            <a:p>
              <a:pPr defTabSz="784225" eaLnBrk="0" fontAlgn="base" hangingPunct="0">
                <a:buSzPct val="100000"/>
                <a:defRPr/>
              </a:pPr>
              <a:r>
                <a:rPr lang="en-US" altLang="zh-CN" sz="5400" dirty="0" smtClean="0">
                  <a:solidFill>
                    <a:schemeClr val="bg1"/>
                  </a:solidFill>
                  <a:effectLst>
                    <a:outerShdw blurRad="38100" dist="38100" dir="2700000" algn="tl">
                      <a:srgbClr val="000000">
                        <a:alpha val="43137"/>
                      </a:srgbClr>
                    </a:outerShdw>
                  </a:effectLst>
                  <a:latin typeface="Arial" panose="020B0604020202020204" pitchFamily="34" charset="0"/>
                  <a:ea typeface="+mn-ea"/>
                  <a:sym typeface="FrutigerNext LT Regular" pitchFamily="34" charset="0"/>
                </a:rPr>
                <a:t>Thank You</a:t>
              </a:r>
              <a:endParaRPr lang="zh-CN" altLang="zh-CN" sz="5400" dirty="0">
                <a:solidFill>
                  <a:schemeClr val="bg1"/>
                </a:solidFill>
                <a:effectLst>
                  <a:outerShdw blurRad="38100" dist="38100" dir="2700000" algn="tl">
                    <a:srgbClr val="000000">
                      <a:alpha val="43137"/>
                    </a:srgbClr>
                  </a:outerShdw>
                </a:effectLst>
                <a:latin typeface="Arial" panose="020B0604020202020204" pitchFamily="34" charset="0"/>
                <a:ea typeface="+mn-ea"/>
                <a:sym typeface="FrutigerNext LT Regular" pitchFamily="34" charset="0"/>
              </a:endParaRPr>
            </a:p>
          </p:txBody>
        </p:sp>
      </p:grpSp>
    </p:spTree>
    <p:extLst>
      <p:ext uri="{BB962C8B-B14F-4D97-AF65-F5344CB8AC3E}">
        <p14:creationId xmlns:p14="http://schemas.microsoft.com/office/powerpoint/2010/main" val="397101909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Tree>
    <p:extLst>
      <p:ext uri="{BB962C8B-B14F-4D97-AF65-F5344CB8AC3E}">
        <p14:creationId xmlns:p14="http://schemas.microsoft.com/office/powerpoint/2010/main" val="1042081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1#修订记录">
    <p:spTree>
      <p:nvGrpSpPr>
        <p:cNvPr id="1" name=""/>
        <p:cNvGrpSpPr/>
        <p:nvPr/>
      </p:nvGrpSpPr>
      <p:grpSpPr>
        <a:xfrm>
          <a:off x="0" y="0"/>
          <a:ext cx="0" cy="0"/>
          <a:chOff x="0" y="0"/>
          <a:chExt cx="0" cy="0"/>
        </a:xfrm>
      </p:grpSpPr>
      <p:sp>
        <p:nvSpPr>
          <p:cNvPr id="30" name="Rectangle 2"/>
          <p:cNvSpPr>
            <a:spLocks noChangeArrowheads="1"/>
          </p:cNvSpPr>
          <p:nvPr userDrawn="1"/>
        </p:nvSpPr>
        <p:spPr bwMode="auto">
          <a:xfrm>
            <a:off x="952501" y="368660"/>
            <a:ext cx="4207395" cy="479425"/>
          </a:xfrm>
          <a:prstGeom prst="rect">
            <a:avLst/>
          </a:prstGeom>
          <a:noFill/>
          <a:ln w="9525">
            <a:noFill/>
            <a:miter lim="800000"/>
            <a:headEnd/>
            <a:tailEnd/>
          </a:ln>
        </p:spPr>
        <p:txBody>
          <a:bodyPr lIns="78258" tIns="39127" rIns="78258" bIns="39127" anchor="ctr"/>
          <a:lstStyle/>
          <a:p>
            <a:pPr marL="0" marR="0" lvl="0" indent="0" algn="l" defTabSz="1001624" rtl="0" eaLnBrk="0" fontAlgn="t" latinLnBrk="0" hangingPunct="0">
              <a:lnSpc>
                <a:spcPct val="100000"/>
              </a:lnSpc>
              <a:spcBef>
                <a:spcPct val="0"/>
              </a:spcBef>
              <a:spcAft>
                <a:spcPct val="0"/>
              </a:spcAft>
              <a:buClrTx/>
              <a:buSzTx/>
              <a:buFontTx/>
              <a:buNone/>
              <a:tabLst/>
              <a:defRPr/>
            </a:pPr>
            <a:r>
              <a:rPr lang="en-US" altLang="zh-CN" sz="3500" b="1" dirty="0" smtClean="0">
                <a:solidFill>
                  <a:schemeClr val="tx1">
                    <a:lumMod val="75000"/>
                    <a:lumOff val="25000"/>
                  </a:schemeClr>
                </a:solidFill>
                <a:latin typeface="Arial" panose="020B0604020202020204" pitchFamily="34" charset="0"/>
                <a:ea typeface="+mn-ea"/>
              </a:rPr>
              <a:t>Revision Record</a:t>
            </a:r>
            <a:endParaRPr lang="zh-CN" altLang="en-US" sz="3500" b="1" dirty="0" smtClean="0">
              <a:solidFill>
                <a:schemeClr val="tx1">
                  <a:lumMod val="75000"/>
                  <a:lumOff val="25000"/>
                </a:schemeClr>
              </a:solidFill>
              <a:latin typeface="Arial" panose="020B0604020202020204" pitchFamily="34" charset="0"/>
              <a:ea typeface="+mn-ea"/>
            </a:endParaRPr>
          </a:p>
        </p:txBody>
      </p:sp>
      <p:sp>
        <p:nvSpPr>
          <p:cNvPr id="31" name="Text Box 58"/>
          <p:cNvSpPr txBox="1">
            <a:spLocks noChangeArrowheads="1"/>
          </p:cNvSpPr>
          <p:nvPr userDrawn="1"/>
        </p:nvSpPr>
        <p:spPr bwMode="auto">
          <a:xfrm>
            <a:off x="7487791" y="368660"/>
            <a:ext cx="3996445" cy="523220"/>
          </a:xfrm>
          <a:prstGeom prst="rect">
            <a:avLst/>
          </a:prstGeom>
          <a:noFill/>
          <a:ln w="9525" algn="ctr">
            <a:noFill/>
            <a:miter lim="800000"/>
            <a:headEnd/>
            <a:tailEnd/>
          </a:ln>
        </p:spPr>
        <p:txBody>
          <a:bodyPr wrap="square">
            <a:spAutoFit/>
          </a:bodyPr>
          <a:lstStyle/>
          <a:p>
            <a:pPr>
              <a:spcBef>
                <a:spcPct val="50000"/>
              </a:spcBef>
            </a:pPr>
            <a:r>
              <a:rPr lang="en-US" altLang="zh-CN" sz="2800" kern="1200" dirty="0" smtClean="0">
                <a:solidFill>
                  <a:srgbClr val="4D4D4D"/>
                </a:solidFill>
                <a:latin typeface="Arial" panose="020B0604020202020204" pitchFamily="34" charset="0"/>
                <a:ea typeface="+mn-ea"/>
                <a:cs typeface="+mn-cs"/>
              </a:rPr>
              <a:t>Do Not Print this Page</a:t>
            </a:r>
            <a:endParaRPr lang="zh-CN" altLang="en-US" sz="2800" kern="1200" dirty="0">
              <a:solidFill>
                <a:srgbClr val="4D4D4D"/>
              </a:solidFill>
              <a:latin typeface="Arial" panose="020B0604020202020204" pitchFamily="34" charset="0"/>
              <a:ea typeface="+mn-ea"/>
              <a:cs typeface="+mn-cs"/>
            </a:endParaRPr>
          </a:p>
        </p:txBody>
      </p:sp>
      <p:graphicFrame>
        <p:nvGraphicFramePr>
          <p:cNvPr id="32" name="Group 3"/>
          <p:cNvGraphicFramePr>
            <a:graphicFrameLocks noGrp="1"/>
          </p:cNvGraphicFramePr>
          <p:nvPr userDrawn="1">
            <p:extLst/>
          </p:nvPr>
        </p:nvGraphicFramePr>
        <p:xfrm>
          <a:off x="1007534" y="1232756"/>
          <a:ext cx="10464802" cy="1082675"/>
        </p:xfrm>
        <a:graphic>
          <a:graphicData uri="http://schemas.openxmlformats.org/drawingml/2006/table">
            <a:tbl>
              <a:tblPr/>
              <a:tblGrid>
                <a:gridCol w="3059004">
                  <a:extLst>
                    <a:ext uri="{9D8B030D-6E8A-4147-A177-3AD203B41FA5}">
                      <a16:colId xmlns="" xmlns:a16="http://schemas.microsoft.com/office/drawing/2014/main" val="20000"/>
                    </a:ext>
                  </a:extLst>
                </a:gridCol>
                <a:gridCol w="2155444">
                  <a:extLst>
                    <a:ext uri="{9D8B030D-6E8A-4147-A177-3AD203B41FA5}">
                      <a16:colId xmlns="" xmlns:a16="http://schemas.microsoft.com/office/drawing/2014/main" val="20001"/>
                    </a:ext>
                  </a:extLst>
                </a:gridCol>
                <a:gridCol w="2873927">
                  <a:extLst>
                    <a:ext uri="{9D8B030D-6E8A-4147-A177-3AD203B41FA5}">
                      <a16:colId xmlns="" xmlns:a16="http://schemas.microsoft.com/office/drawing/2014/main" val="20002"/>
                    </a:ext>
                  </a:extLst>
                </a:gridCol>
                <a:gridCol w="2376427">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Course Code</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Product</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Product Version</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Arial" panose="020B0604020202020204" pitchFamily="34" charset="0"/>
                          <a:ea typeface="+mn-ea"/>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33" name="Group 21"/>
          <p:cNvGraphicFramePr>
            <a:graphicFrameLocks noGrp="1"/>
          </p:cNvGraphicFramePr>
          <p:nvPr userDrawn="1">
            <p:extLst/>
          </p:nvPr>
        </p:nvGraphicFramePr>
        <p:xfrm>
          <a:off x="1007533" y="2529867"/>
          <a:ext cx="10464800" cy="3527425"/>
        </p:xfrm>
        <a:graphic>
          <a:graphicData uri="http://schemas.openxmlformats.org/drawingml/2006/table">
            <a:tbl>
              <a:tblPr/>
              <a:tblGrid>
                <a:gridCol w="3085809">
                  <a:extLst>
                    <a:ext uri="{9D8B030D-6E8A-4147-A177-3AD203B41FA5}">
                      <a16:colId xmlns="" xmlns:a16="http://schemas.microsoft.com/office/drawing/2014/main" val="20000"/>
                    </a:ext>
                  </a:extLst>
                </a:gridCol>
                <a:gridCol w="2155920">
                  <a:extLst>
                    <a:ext uri="{9D8B030D-6E8A-4147-A177-3AD203B41FA5}">
                      <a16:colId xmlns="" xmlns:a16="http://schemas.microsoft.com/office/drawing/2014/main" val="20001"/>
                    </a:ext>
                  </a:extLst>
                </a:gridCol>
                <a:gridCol w="2912127">
                  <a:extLst>
                    <a:ext uri="{9D8B030D-6E8A-4147-A177-3AD203B41FA5}">
                      <a16:colId xmlns="" xmlns:a16="http://schemas.microsoft.com/office/drawing/2014/main" val="20002"/>
                    </a:ext>
                  </a:extLst>
                </a:gridCol>
                <a:gridCol w="231094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Author/ID</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Date</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Reviewer/ID</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Arial" panose="020B0604020202020204" pitchFamily="34" charset="0"/>
                          <a:ea typeface="+mn-ea"/>
                        </a:rPr>
                        <a:t>New</a:t>
                      </a:r>
                      <a:r>
                        <a:rPr kumimoji="1" lang="zh-CN" altLang="zh-CN" sz="1600" b="1" i="0" u="none" strike="noStrike" cap="none" normalizeH="0" baseline="0" dirty="0">
                          <a:ln>
                            <a:noFill/>
                          </a:ln>
                          <a:solidFill>
                            <a:schemeClr val="tx1"/>
                          </a:solidFill>
                          <a:effectLst/>
                          <a:latin typeface="Arial" panose="020B0604020202020204" pitchFamily="34" charset="0"/>
                          <a:ea typeface="+mn-ea"/>
                        </a:rPr>
                        <a:t>/</a:t>
                      </a:r>
                      <a:r>
                        <a:rPr kumimoji="1" lang="en-US" altLang="zh-CN" sz="1600" b="1" i="0" u="none" strike="noStrike" cap="none" normalizeH="0" baseline="0" dirty="0">
                          <a:ln>
                            <a:noFill/>
                          </a:ln>
                          <a:solidFill>
                            <a:schemeClr val="tx1"/>
                          </a:solidFill>
                          <a:effectLst/>
                          <a:latin typeface="Arial" panose="020B0604020202020204" pitchFamily="34" charset="0"/>
                          <a:ea typeface="+mn-ea"/>
                        </a:rPr>
                        <a:t> Update</a:t>
                      </a:r>
                      <a:endParaRPr kumimoji="1" lang="zh-CN" altLang="en-US" sz="1600" b="1" i="0" u="none" strike="noStrike" cap="none" normalizeH="0" baseline="0" dirty="0">
                        <a:ln>
                          <a:noFill/>
                        </a:ln>
                        <a:solidFill>
                          <a:schemeClr val="tx1"/>
                        </a:solidFill>
                        <a:effectLst/>
                        <a:latin typeface="Arial" panose="020B0604020202020204" pitchFamily="34" charset="0"/>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Arial" panose="020B0604020202020204" pitchFamily="34" charset="0"/>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2470491851"/>
                  </a:ext>
                </a:extLst>
              </a:tr>
            </a:tbl>
          </a:graphicData>
        </a:graphic>
      </p:graphicFrame>
      <p:sp>
        <p:nvSpPr>
          <p:cNvPr id="34"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Course Code</a:t>
            </a:r>
          </a:p>
        </p:txBody>
      </p:sp>
      <p:sp>
        <p:nvSpPr>
          <p:cNvPr id="47"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Product</a:t>
            </a:r>
          </a:p>
        </p:txBody>
      </p:sp>
      <p:sp>
        <p:nvSpPr>
          <p:cNvPr id="48"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smtClean="0"/>
              <a:t>V5R2</a:t>
            </a:r>
            <a:endParaRPr lang="en-US" altLang="zh-CN" dirty="0"/>
          </a:p>
        </p:txBody>
      </p:sp>
      <p:sp>
        <p:nvSpPr>
          <p:cNvPr id="49"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smtClean="0"/>
              <a:t>V1R1</a:t>
            </a:r>
            <a:endParaRPr lang="en-US" altLang="zh-CN" dirty="0"/>
          </a:p>
        </p:txBody>
      </p:sp>
      <p:sp>
        <p:nvSpPr>
          <p:cNvPr id="50"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1"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2"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3"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4" name="文本占位符 7">
            <a:extLst>
              <a:ext uri="{FF2B5EF4-FFF2-40B4-BE49-F238E27FC236}">
                <a16:creationId xmlns=""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5" name="文本占位符 7">
            <a:extLst>
              <a:ext uri="{FF2B5EF4-FFF2-40B4-BE49-F238E27FC236}">
                <a16:creationId xmlns=""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56" name="文本占位符 7">
            <a:extLst>
              <a:ext uri="{FF2B5EF4-FFF2-40B4-BE49-F238E27FC236}">
                <a16:creationId xmlns=""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57" name="文本占位符 7">
            <a:extLst>
              <a:ext uri="{FF2B5EF4-FFF2-40B4-BE49-F238E27FC236}">
                <a16:creationId xmlns=""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58" name="文本占位符 7">
            <a:extLst>
              <a:ext uri="{FF2B5EF4-FFF2-40B4-BE49-F238E27FC236}">
                <a16:creationId xmlns=""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59" name="文本占位符 7">
            <a:extLst>
              <a:ext uri="{FF2B5EF4-FFF2-40B4-BE49-F238E27FC236}">
                <a16:creationId xmlns=""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60" name="文本占位符 7">
            <a:extLst>
              <a:ext uri="{FF2B5EF4-FFF2-40B4-BE49-F238E27FC236}">
                <a16:creationId xmlns=""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61" name="文本占位符 7">
            <a:extLst>
              <a:ext uri="{FF2B5EF4-FFF2-40B4-BE49-F238E27FC236}">
                <a16:creationId xmlns=""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62" name="文本占位符 7">
            <a:extLst>
              <a:ext uri="{FF2B5EF4-FFF2-40B4-BE49-F238E27FC236}">
                <a16:creationId xmlns=""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77" name="文本占位符 7">
            <a:extLst>
              <a:ext uri="{FF2B5EF4-FFF2-40B4-BE49-F238E27FC236}">
                <a16:creationId xmlns=""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78" name="文本占位符 7">
            <a:extLst>
              <a:ext uri="{FF2B5EF4-FFF2-40B4-BE49-F238E27FC236}">
                <a16:creationId xmlns=""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79" name="文本占位符 7">
            <a:extLst>
              <a:ext uri="{FF2B5EF4-FFF2-40B4-BE49-F238E27FC236}">
                <a16:creationId xmlns=""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0" name="文本占位符 7">
            <a:extLst>
              <a:ext uri="{FF2B5EF4-FFF2-40B4-BE49-F238E27FC236}">
                <a16:creationId xmlns=""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1" name="文本占位符 7">
            <a:extLst>
              <a:ext uri="{FF2B5EF4-FFF2-40B4-BE49-F238E27FC236}">
                <a16:creationId xmlns=""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2" name="文本占位符 7">
            <a:extLst>
              <a:ext uri="{FF2B5EF4-FFF2-40B4-BE49-F238E27FC236}">
                <a16:creationId xmlns=""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3" name="文本占位符 7">
            <a:extLst>
              <a:ext uri="{FF2B5EF4-FFF2-40B4-BE49-F238E27FC236}">
                <a16:creationId xmlns=""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
        <p:nvSpPr>
          <p:cNvPr id="84" name="文本占位符 7">
            <a:extLst>
              <a:ext uri="{FF2B5EF4-FFF2-40B4-BE49-F238E27FC236}">
                <a16:creationId xmlns=""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Author/ID</a:t>
            </a:r>
          </a:p>
        </p:txBody>
      </p:sp>
      <p:sp>
        <p:nvSpPr>
          <p:cNvPr id="85" name="文本占位符 7">
            <a:extLst>
              <a:ext uri="{FF2B5EF4-FFF2-40B4-BE49-F238E27FC236}">
                <a16:creationId xmlns=""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2015.01.25</a:t>
            </a:r>
            <a:endParaRPr lang="zh-CN" altLang="en-US" dirty="0"/>
          </a:p>
        </p:txBody>
      </p:sp>
      <p:sp>
        <p:nvSpPr>
          <p:cNvPr id="86" name="文本占位符 7">
            <a:extLst>
              <a:ext uri="{FF2B5EF4-FFF2-40B4-BE49-F238E27FC236}">
                <a16:creationId xmlns=""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atin typeface="+mn-ea"/>
                <a:ea typeface="+mn-ea"/>
              </a:defRPr>
            </a:lvl1pPr>
          </a:lstStyle>
          <a:p>
            <a:pPr lvl="0"/>
            <a:r>
              <a:rPr lang="en-US" altLang="zh-CN" dirty="0"/>
              <a:t>Reviewer/ID</a:t>
            </a:r>
          </a:p>
        </p:txBody>
      </p:sp>
      <p:sp>
        <p:nvSpPr>
          <p:cNvPr id="87" name="文本占位符 7">
            <a:extLst>
              <a:ext uri="{FF2B5EF4-FFF2-40B4-BE49-F238E27FC236}">
                <a16:creationId xmlns=""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atin typeface="+mn-ea"/>
                <a:ea typeface="+mn-ea"/>
              </a:defRPr>
            </a:lvl1pPr>
          </a:lstStyle>
          <a:p>
            <a:pPr lvl="0"/>
            <a:r>
              <a:rPr lang="en-US" altLang="zh-CN" dirty="0"/>
              <a:t>Type</a:t>
            </a:r>
            <a:endParaRPr lang="zh-CN" altLang="en-US" dirty="0"/>
          </a:p>
        </p:txBody>
      </p:sp>
    </p:spTree>
    <p:extLst>
      <p:ext uri="{BB962C8B-B14F-4D97-AF65-F5344CB8AC3E}">
        <p14:creationId xmlns:p14="http://schemas.microsoft.com/office/powerpoint/2010/main" val="3651731625"/>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17" name="Group 3"/>
          <p:cNvGraphicFramePr>
            <a:graphicFrameLocks noGrp="1"/>
          </p:cNvGraphicFramePr>
          <p:nvPr userDrawn="1">
            <p:extLst/>
          </p:nvPr>
        </p:nvGraphicFramePr>
        <p:xfrm>
          <a:off x="1007533" y="1254489"/>
          <a:ext cx="10464801" cy="1082675"/>
        </p:xfrm>
        <a:graphic>
          <a:graphicData uri="http://schemas.openxmlformats.org/drawingml/2006/table">
            <a:tbl>
              <a:tblPr/>
              <a:tblGrid>
                <a:gridCol w="3120249">
                  <a:extLst>
                    <a:ext uri="{9D8B030D-6E8A-4147-A177-3AD203B41FA5}">
                      <a16:colId xmlns="" xmlns:a16="http://schemas.microsoft.com/office/drawing/2014/main" val="20000"/>
                    </a:ext>
                  </a:extLst>
                </a:gridCol>
                <a:gridCol w="1968219">
                  <a:extLst>
                    <a:ext uri="{9D8B030D-6E8A-4147-A177-3AD203B41FA5}">
                      <a16:colId xmlns="" xmlns:a16="http://schemas.microsoft.com/office/drawing/2014/main" val="20001"/>
                    </a:ext>
                  </a:extLst>
                </a:gridCol>
                <a:gridCol w="3024336">
                  <a:extLst>
                    <a:ext uri="{9D8B030D-6E8A-4147-A177-3AD203B41FA5}">
                      <a16:colId xmlns="" xmlns:a16="http://schemas.microsoft.com/office/drawing/2014/main" val="20002"/>
                    </a:ext>
                  </a:extLst>
                </a:gridCol>
                <a:gridCol w="2351997">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课程编码</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适用产品</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产品版本</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课程版本</a:t>
                      </a:r>
                      <a:endParaRPr kumimoji="1" lang="en-US" altLang="zh-CN" sz="18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18" name="Group 21"/>
          <p:cNvGraphicFramePr>
            <a:graphicFrameLocks noGrp="1"/>
          </p:cNvGraphicFramePr>
          <p:nvPr userDrawn="1">
            <p:extLst/>
          </p:nvPr>
        </p:nvGraphicFramePr>
        <p:xfrm>
          <a:off x="1007533" y="2776901"/>
          <a:ext cx="10464800" cy="3038475"/>
        </p:xfrm>
        <a:graphic>
          <a:graphicData uri="http://schemas.openxmlformats.org/drawingml/2006/table">
            <a:tbl>
              <a:tblPr/>
              <a:tblGrid>
                <a:gridCol w="3120248">
                  <a:extLst>
                    <a:ext uri="{9D8B030D-6E8A-4147-A177-3AD203B41FA5}">
                      <a16:colId xmlns="" xmlns:a16="http://schemas.microsoft.com/office/drawing/2014/main" val="20000"/>
                    </a:ext>
                  </a:extLst>
                </a:gridCol>
                <a:gridCol w="1968219">
                  <a:extLst>
                    <a:ext uri="{9D8B030D-6E8A-4147-A177-3AD203B41FA5}">
                      <a16:colId xmlns="" xmlns:a16="http://schemas.microsoft.com/office/drawing/2014/main" val="20001"/>
                    </a:ext>
                  </a:extLst>
                </a:gridCol>
                <a:gridCol w="3024336">
                  <a:extLst>
                    <a:ext uri="{9D8B030D-6E8A-4147-A177-3AD203B41FA5}">
                      <a16:colId xmlns="" xmlns:a16="http://schemas.microsoft.com/office/drawing/2014/main" val="20002"/>
                    </a:ext>
                  </a:extLst>
                </a:gridCol>
                <a:gridCol w="2351997">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作者</a:t>
                      </a:r>
                      <a:r>
                        <a:rPr kumimoji="1" lang="en-US" altLang="zh-CN" sz="1800" b="1" i="0" u="none" strike="noStrike" cap="none" normalizeH="0" baseline="0" dirty="0">
                          <a:ln>
                            <a:noFill/>
                          </a:ln>
                          <a:solidFill>
                            <a:schemeClr val="tx1"/>
                          </a:solidFill>
                          <a:effectLst/>
                          <a:latin typeface="+mn-ea"/>
                          <a:ea typeface="+mn-ea"/>
                        </a:rPr>
                        <a:t>/</a:t>
                      </a:r>
                      <a:r>
                        <a:rPr kumimoji="1" lang="zh-CN" altLang="en-US" sz="1800" b="1" i="0" u="none" strike="noStrike" cap="none" normalizeH="0" baseline="0" dirty="0">
                          <a:ln>
                            <a:noFill/>
                          </a:ln>
                          <a:solidFill>
                            <a:schemeClr val="tx1"/>
                          </a:solidFill>
                          <a:effectLst/>
                          <a:latin typeface="+mn-ea"/>
                          <a:ea typeface="+mn-ea"/>
                        </a:rPr>
                        <a:t>工号</a:t>
                      </a: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时间</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ea"/>
                          <a:ea typeface="+mn-ea"/>
                        </a:rPr>
                        <a:t>审核人</a:t>
                      </a:r>
                      <a:r>
                        <a:rPr kumimoji="1" lang="en-US" altLang="zh-CN" sz="1800" b="1" i="0" u="none" strike="noStrike" cap="none" normalizeH="0" baseline="0" dirty="0">
                          <a:ln>
                            <a:noFill/>
                          </a:ln>
                          <a:solidFill>
                            <a:schemeClr val="tx1"/>
                          </a:solidFill>
                          <a:effectLst/>
                          <a:latin typeface="+mn-ea"/>
                          <a:ea typeface="+mn-ea"/>
                        </a:rPr>
                        <a:t>/</a:t>
                      </a:r>
                      <a:r>
                        <a:rPr kumimoji="1" lang="zh-CN" altLang="en-US" sz="1800" b="1" i="0" u="none" strike="noStrike" cap="none" normalizeH="0" baseline="0" dirty="0">
                          <a:ln>
                            <a:noFill/>
                          </a:ln>
                          <a:solidFill>
                            <a:schemeClr val="tx1"/>
                          </a:solidFill>
                          <a:effectLst/>
                          <a:latin typeface="+mn-ea"/>
                          <a:ea typeface="+mn-ea"/>
                        </a:rPr>
                        <a:t>工号</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ea"/>
                          <a:ea typeface="+mn-ea"/>
                        </a:rPr>
                        <a:t>新开发/优化</a:t>
                      </a:r>
                      <a:endParaRPr kumimoji="1" lang="zh-CN" altLang="en-US" sz="1800" b="1" i="0" u="none" strike="noStrike" cap="none" normalizeH="0" baseline="0" dirty="0">
                        <a:ln>
                          <a:noFill/>
                        </a:ln>
                        <a:solidFill>
                          <a:schemeClr val="tx1"/>
                        </a:solidFill>
                        <a:effectLst/>
                        <a:latin typeface="+mn-ea"/>
                        <a:ea typeface="+mn-ea"/>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ea"/>
                        <a:ea typeface="+mn-ea"/>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35" name="文本占位符 7"/>
          <p:cNvSpPr>
            <a:spLocks noGrp="1"/>
          </p:cNvSpPr>
          <p:nvPr>
            <p:ph type="body" sz="quarter" idx="17" hasCustomPrompt="1"/>
          </p:nvPr>
        </p:nvSpPr>
        <p:spPr>
          <a:xfrm>
            <a:off x="1007533" y="1825691"/>
            <a:ext cx="3120248"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课程编码</a:t>
            </a:r>
          </a:p>
        </p:txBody>
      </p:sp>
      <p:sp>
        <p:nvSpPr>
          <p:cNvPr id="36" name="文本占位符 7"/>
          <p:cNvSpPr>
            <a:spLocks noGrp="1"/>
          </p:cNvSpPr>
          <p:nvPr>
            <p:ph type="body" sz="quarter" idx="18" hasCustomPrompt="1"/>
          </p:nvPr>
        </p:nvSpPr>
        <p:spPr>
          <a:xfrm>
            <a:off x="4127781" y="1825691"/>
            <a:ext cx="1968219"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适用的产品</a:t>
            </a:r>
          </a:p>
        </p:txBody>
      </p:sp>
      <p:sp>
        <p:nvSpPr>
          <p:cNvPr id="37" name="文本占位符 7"/>
          <p:cNvSpPr>
            <a:spLocks noGrp="1"/>
          </p:cNvSpPr>
          <p:nvPr>
            <p:ph type="body" sz="quarter" idx="19" hasCustomPrompt="1"/>
          </p:nvPr>
        </p:nvSpPr>
        <p:spPr>
          <a:xfrm>
            <a:off x="6096000" y="1825691"/>
            <a:ext cx="3024336"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V5R2</a:t>
            </a:r>
            <a:endParaRPr lang="zh-CN" altLang="en-US" dirty="0"/>
          </a:p>
        </p:txBody>
      </p:sp>
      <p:sp>
        <p:nvSpPr>
          <p:cNvPr id="38" name="文本占位符 7"/>
          <p:cNvSpPr>
            <a:spLocks noGrp="1"/>
          </p:cNvSpPr>
          <p:nvPr>
            <p:ph type="body" sz="quarter" idx="20" hasCustomPrompt="1"/>
          </p:nvPr>
        </p:nvSpPr>
        <p:spPr>
          <a:xfrm>
            <a:off x="9120336" y="1825691"/>
            <a:ext cx="2351997"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V1R1</a:t>
            </a:r>
            <a:endParaRPr lang="zh-CN" altLang="en-US" dirty="0"/>
          </a:p>
        </p:txBody>
      </p:sp>
      <p:sp>
        <p:nvSpPr>
          <p:cNvPr id="43" name="文本占位符 7"/>
          <p:cNvSpPr>
            <a:spLocks noGrp="1"/>
          </p:cNvSpPr>
          <p:nvPr>
            <p:ph type="body" sz="quarter" idx="13" hasCustomPrompt="1"/>
          </p:nvPr>
        </p:nvSpPr>
        <p:spPr>
          <a:xfrm>
            <a:off x="1007435" y="337386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4" name="文本占位符 7"/>
          <p:cNvSpPr>
            <a:spLocks noGrp="1"/>
          </p:cNvSpPr>
          <p:nvPr>
            <p:ph type="body" sz="quarter" idx="14" hasCustomPrompt="1"/>
          </p:nvPr>
        </p:nvSpPr>
        <p:spPr>
          <a:xfrm>
            <a:off x="4127781" y="337386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5" name="文本占位符 7"/>
          <p:cNvSpPr>
            <a:spLocks noGrp="1"/>
          </p:cNvSpPr>
          <p:nvPr>
            <p:ph type="body" sz="quarter" idx="15" hasCustomPrompt="1"/>
          </p:nvPr>
        </p:nvSpPr>
        <p:spPr>
          <a:xfrm>
            <a:off x="6096000" y="337386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6" name="文本占位符 7"/>
          <p:cNvSpPr>
            <a:spLocks noGrp="1"/>
          </p:cNvSpPr>
          <p:nvPr>
            <p:ph type="body" sz="quarter" idx="16" hasCustomPrompt="1"/>
          </p:nvPr>
        </p:nvSpPr>
        <p:spPr>
          <a:xfrm>
            <a:off x="9120336" y="3337858"/>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新开发</a:t>
            </a:r>
          </a:p>
        </p:txBody>
      </p:sp>
      <p:sp>
        <p:nvSpPr>
          <p:cNvPr id="63" name="Rectangle 2"/>
          <p:cNvSpPr>
            <a:spLocks noChangeArrowheads="1"/>
          </p:cNvSpPr>
          <p:nvPr userDrawn="1"/>
        </p:nvSpPr>
        <p:spPr bwMode="auto">
          <a:xfrm>
            <a:off x="952501" y="368660"/>
            <a:ext cx="2803239" cy="479425"/>
          </a:xfrm>
          <a:prstGeom prst="rect">
            <a:avLst/>
          </a:prstGeom>
          <a:noFill/>
          <a:ln w="9525">
            <a:noFill/>
            <a:miter lim="800000"/>
            <a:headEnd/>
            <a:tailEnd/>
          </a:ln>
        </p:spPr>
        <p:txBody>
          <a:bodyPr lIns="78258" tIns="39127" rIns="78258" bIns="39127" anchor="ctr"/>
          <a:lstStyle/>
          <a:p>
            <a:pPr defTabSz="1001624" eaLnBrk="0" hangingPunct="0"/>
            <a:r>
              <a:rPr lang="zh-CN" altLang="en-US" sz="3500" b="1" dirty="0">
                <a:solidFill>
                  <a:srgbClr val="000000">
                    <a:lumMod val="75000"/>
                    <a:lumOff val="25000"/>
                  </a:srgbClr>
                </a:solidFill>
                <a:latin typeface="微软雅黑"/>
                <a:ea typeface="微软雅黑"/>
                <a:cs typeface="Arial" panose="020B0604020202020204" pitchFamily="34" charset="0"/>
              </a:rPr>
              <a:t>修订记录</a:t>
            </a:r>
          </a:p>
        </p:txBody>
      </p:sp>
      <p:sp>
        <p:nvSpPr>
          <p:cNvPr id="64" name="Text Box 58"/>
          <p:cNvSpPr txBox="1">
            <a:spLocks noChangeArrowheads="1"/>
          </p:cNvSpPr>
          <p:nvPr userDrawn="1"/>
        </p:nvSpPr>
        <p:spPr bwMode="auto">
          <a:xfrm>
            <a:off x="8904312" y="296652"/>
            <a:ext cx="2772308" cy="701675"/>
          </a:xfrm>
          <a:prstGeom prst="rect">
            <a:avLst/>
          </a:prstGeom>
          <a:noFill/>
          <a:ln w="9525" algn="ctr">
            <a:noFill/>
            <a:miter lim="800000"/>
            <a:headEnd/>
            <a:tailEnd/>
          </a:ln>
        </p:spPr>
        <p:txBody>
          <a:bodyPr wrap="square">
            <a:spAutoFit/>
          </a:bodyPr>
          <a:lstStyle/>
          <a:p>
            <a:pPr>
              <a:spcBef>
                <a:spcPct val="50000"/>
              </a:spcBef>
            </a:pPr>
            <a:r>
              <a:rPr lang="zh-CN" altLang="en-US" sz="4000" dirty="0">
                <a:solidFill>
                  <a:srgbClr val="CCCCCC">
                    <a:lumMod val="50000"/>
                  </a:srgbClr>
                </a:solidFill>
                <a:latin typeface="微软雅黑"/>
                <a:ea typeface="微软雅黑"/>
                <a:cs typeface="Arial" panose="020B0604020202020204" pitchFamily="34" charset="0"/>
              </a:rPr>
              <a:t>本页不打印</a:t>
            </a:r>
          </a:p>
        </p:txBody>
      </p:sp>
      <p:sp>
        <p:nvSpPr>
          <p:cNvPr id="39" name="文本占位符 7"/>
          <p:cNvSpPr>
            <a:spLocks noGrp="1"/>
          </p:cNvSpPr>
          <p:nvPr>
            <p:ph type="body" sz="quarter" idx="21" hasCustomPrompt="1"/>
          </p:nvPr>
        </p:nvSpPr>
        <p:spPr>
          <a:xfrm>
            <a:off x="1007435" y="3877918"/>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0" name="文本占位符 7"/>
          <p:cNvSpPr>
            <a:spLocks noGrp="1"/>
          </p:cNvSpPr>
          <p:nvPr>
            <p:ph type="body" sz="quarter" idx="22" hasCustomPrompt="1"/>
          </p:nvPr>
        </p:nvSpPr>
        <p:spPr>
          <a:xfrm>
            <a:off x="4127781" y="3877918"/>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41" name="文本占位符 7"/>
          <p:cNvSpPr>
            <a:spLocks noGrp="1"/>
          </p:cNvSpPr>
          <p:nvPr>
            <p:ph type="body" sz="quarter" idx="23" hasCustomPrompt="1"/>
          </p:nvPr>
        </p:nvSpPr>
        <p:spPr>
          <a:xfrm>
            <a:off x="6096000" y="3877918"/>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42" name="文本占位符 7"/>
          <p:cNvSpPr>
            <a:spLocks noGrp="1"/>
          </p:cNvSpPr>
          <p:nvPr>
            <p:ph type="body" sz="quarter" idx="24" hasCustomPrompt="1"/>
          </p:nvPr>
        </p:nvSpPr>
        <p:spPr>
          <a:xfrm>
            <a:off x="9120336" y="3841914"/>
            <a:ext cx="2352261"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5" name="文本占位符 7"/>
          <p:cNvSpPr>
            <a:spLocks noGrp="1"/>
          </p:cNvSpPr>
          <p:nvPr>
            <p:ph type="body" sz="quarter" idx="25" hasCustomPrompt="1"/>
          </p:nvPr>
        </p:nvSpPr>
        <p:spPr>
          <a:xfrm>
            <a:off x="1007435" y="434597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6" name="文本占位符 7"/>
          <p:cNvSpPr>
            <a:spLocks noGrp="1"/>
          </p:cNvSpPr>
          <p:nvPr>
            <p:ph type="body" sz="quarter" idx="26" hasCustomPrompt="1"/>
          </p:nvPr>
        </p:nvSpPr>
        <p:spPr>
          <a:xfrm>
            <a:off x="4127781" y="434597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67" name="文本占位符 7"/>
          <p:cNvSpPr>
            <a:spLocks noGrp="1"/>
          </p:cNvSpPr>
          <p:nvPr>
            <p:ph type="body" sz="quarter" idx="27" hasCustomPrompt="1"/>
          </p:nvPr>
        </p:nvSpPr>
        <p:spPr>
          <a:xfrm>
            <a:off x="6096000" y="434597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68" name="文本占位符 7"/>
          <p:cNvSpPr>
            <a:spLocks noGrp="1"/>
          </p:cNvSpPr>
          <p:nvPr>
            <p:ph type="body" sz="quarter" idx="28" hasCustomPrompt="1"/>
          </p:nvPr>
        </p:nvSpPr>
        <p:spPr>
          <a:xfrm>
            <a:off x="9120336" y="434597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69" name="文本占位符 7"/>
          <p:cNvSpPr>
            <a:spLocks noGrp="1"/>
          </p:cNvSpPr>
          <p:nvPr>
            <p:ph type="body" sz="quarter" idx="29" hasCustomPrompt="1"/>
          </p:nvPr>
        </p:nvSpPr>
        <p:spPr>
          <a:xfrm>
            <a:off x="1007435" y="4886030"/>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0" name="文本占位符 7"/>
          <p:cNvSpPr>
            <a:spLocks noGrp="1"/>
          </p:cNvSpPr>
          <p:nvPr>
            <p:ph type="body" sz="quarter" idx="30" hasCustomPrompt="1"/>
          </p:nvPr>
        </p:nvSpPr>
        <p:spPr>
          <a:xfrm>
            <a:off x="4127781" y="4886030"/>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1" name="文本占位符 7"/>
          <p:cNvSpPr>
            <a:spLocks noGrp="1"/>
          </p:cNvSpPr>
          <p:nvPr>
            <p:ph type="body" sz="quarter" idx="31" hasCustomPrompt="1"/>
          </p:nvPr>
        </p:nvSpPr>
        <p:spPr>
          <a:xfrm>
            <a:off x="6096000" y="4886030"/>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2" name="文本占位符 7"/>
          <p:cNvSpPr>
            <a:spLocks noGrp="1"/>
          </p:cNvSpPr>
          <p:nvPr>
            <p:ph type="body" sz="quarter" idx="32" hasCustomPrompt="1"/>
          </p:nvPr>
        </p:nvSpPr>
        <p:spPr>
          <a:xfrm>
            <a:off x="9120336" y="4886030"/>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73" name="文本占位符 7"/>
          <p:cNvSpPr>
            <a:spLocks noGrp="1"/>
          </p:cNvSpPr>
          <p:nvPr>
            <p:ph type="body" sz="quarter" idx="33" hasCustomPrompt="1"/>
          </p:nvPr>
        </p:nvSpPr>
        <p:spPr>
          <a:xfrm>
            <a:off x="1007435" y="5354082"/>
            <a:ext cx="3120347"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4" name="文本占位符 7"/>
          <p:cNvSpPr>
            <a:spLocks noGrp="1"/>
          </p:cNvSpPr>
          <p:nvPr>
            <p:ph type="body" sz="quarter" idx="34" hasCustomPrompt="1"/>
          </p:nvPr>
        </p:nvSpPr>
        <p:spPr>
          <a:xfrm>
            <a:off x="4127781" y="5354082"/>
            <a:ext cx="1968219"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75" name="文本占位符 7"/>
          <p:cNvSpPr>
            <a:spLocks noGrp="1"/>
          </p:cNvSpPr>
          <p:nvPr>
            <p:ph type="body" sz="quarter" idx="35" hasCustomPrompt="1"/>
          </p:nvPr>
        </p:nvSpPr>
        <p:spPr>
          <a:xfrm>
            <a:off x="6096000" y="5354082"/>
            <a:ext cx="3024336"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76" name="文本占位符 7"/>
          <p:cNvSpPr>
            <a:spLocks noGrp="1"/>
          </p:cNvSpPr>
          <p:nvPr>
            <p:ph type="body" sz="quarter" idx="36" hasCustomPrompt="1"/>
          </p:nvPr>
        </p:nvSpPr>
        <p:spPr>
          <a:xfrm>
            <a:off x="9120336" y="5354082"/>
            <a:ext cx="2352261"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4115941025"/>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总标题">
    <p:spTree>
      <p:nvGrpSpPr>
        <p:cNvPr id="1" name=""/>
        <p:cNvGrpSpPr/>
        <p:nvPr/>
      </p:nvGrpSpPr>
      <p:grpSpPr>
        <a:xfrm>
          <a:off x="0" y="0"/>
          <a:ext cx="0" cy="0"/>
          <a:chOff x="0" y="0"/>
          <a:chExt cx="0" cy="0"/>
        </a:xfrm>
      </p:grpSpPr>
      <p:pic>
        <p:nvPicPr>
          <p:cNvPr id="8" name="Picture 3" descr="C:\Users\YOYO\Desktop\未标题-2-0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150" y="-8620"/>
            <a:ext cx="12200150" cy="6858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pic>
        <p:nvPicPr>
          <p:cNvPr id="13" name="Picture 5" descr="C:\Users\YOYO\Desktop\横版华为公司标志 Horizontal Version of Huawei Corporate Logo_2018.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876420" y="251069"/>
            <a:ext cx="1966794" cy="441627"/>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41"/>
          <p:cNvSpPr>
            <a:spLocks noGrp="1" noChangeArrowheads="1"/>
          </p:cNvSpPr>
          <p:nvPr>
            <p:ph type="ctrTitle" sz="quarter"/>
          </p:nvPr>
        </p:nvSpPr>
        <p:spPr>
          <a:xfrm>
            <a:off x="1031295" y="4957156"/>
            <a:ext cx="10441567" cy="831600"/>
          </a:xfrm>
          <a:ln algn="ctr"/>
        </p:spPr>
        <p:txBody>
          <a:bodyPr lIns="87802" tIns="43901" rIns="87802" bIns="43901"/>
          <a:lstStyle>
            <a:lvl1pPr algn="l" defTabSz="801688" rtl="0" eaLnBrk="0" fontAlgn="base" hangingPunct="0">
              <a:spcBef>
                <a:spcPct val="0"/>
              </a:spcBef>
              <a:spcAft>
                <a:spcPct val="0"/>
              </a:spcAft>
              <a:defRPr lang="zh-CN" altLang="en-US" sz="4300" b="1" kern="1200" dirty="0">
                <a:solidFill>
                  <a:srgbClr val="0070C0"/>
                </a:solidFill>
                <a:latin typeface="+mn-ea"/>
                <a:ea typeface="+mn-ea"/>
                <a:cs typeface="Arial" panose="020B0604020202020204" pitchFamily="34" charset="0"/>
              </a:defRPr>
            </a:lvl1pPr>
          </a:lstStyle>
          <a:p>
            <a:r>
              <a:rPr lang="zh-CN" altLang="en-US" dirty="0"/>
              <a:t>单击此处编辑母版标题</a:t>
            </a:r>
            <a:r>
              <a:rPr lang="zh-CN" altLang="en-US" dirty="0" smtClean="0"/>
              <a:t>样式</a:t>
            </a:r>
            <a:endParaRPr lang="zh-CN" altLang="en-US" dirty="0"/>
          </a:p>
        </p:txBody>
      </p:sp>
      <p:sp>
        <p:nvSpPr>
          <p:cNvPr id="30" name="文本占位符 29"/>
          <p:cNvSpPr>
            <a:spLocks noGrp="1"/>
          </p:cNvSpPr>
          <p:nvPr>
            <p:ph type="body" sz="quarter" idx="10"/>
          </p:nvPr>
        </p:nvSpPr>
        <p:spPr>
          <a:xfrm>
            <a:off x="1031295" y="5816120"/>
            <a:ext cx="6912000" cy="493200"/>
          </a:xfrm>
        </p:spPr>
        <p:txBody>
          <a:bodyPr/>
          <a:lstStyle>
            <a:lvl1pPr marL="0" indent="0" algn="l" defTabSz="801688" rtl="0" eaLnBrk="0" fontAlgn="base" hangingPunct="0">
              <a:spcBef>
                <a:spcPct val="0"/>
              </a:spcBef>
              <a:spcAft>
                <a:spcPct val="0"/>
              </a:spcAft>
              <a:buNone/>
              <a:defRPr lang="zh-CN" altLang="en-US" sz="2000" kern="1200" dirty="0" smtClean="0">
                <a:solidFill>
                  <a:srgbClr val="0070C0"/>
                </a:solidFill>
                <a:latin typeface="+mn-ea"/>
                <a:ea typeface="+mn-ea"/>
                <a:cs typeface="Arial" panose="020B0604020202020204" pitchFamily="34" charset="0"/>
              </a:defRPr>
            </a:lvl1pPr>
          </a:lstStyle>
          <a:p>
            <a:pPr lvl="0"/>
            <a:r>
              <a:rPr lang="zh-CN" altLang="en-US" dirty="0" smtClean="0"/>
              <a:t>单击此处编辑母版文本样式</a:t>
            </a:r>
          </a:p>
        </p:txBody>
      </p:sp>
      <p:sp>
        <p:nvSpPr>
          <p:cNvPr id="7"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947428" y="6500581"/>
            <a:ext cx="2604743"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zh-CN" altLang="en-US" sz="1200" dirty="0">
                <a:solidFill>
                  <a:srgbClr val="000000"/>
                </a:solidFill>
                <a:latin typeface="微软雅黑"/>
                <a:ea typeface="微软雅黑"/>
                <a:cs typeface="Arial" pitchFamily="34" charset="0"/>
              </a:rPr>
              <a:t>版权所有</a:t>
            </a:r>
            <a:r>
              <a:rPr lang="en-US" altLang="zh-CN" sz="1200" dirty="0">
                <a:solidFill>
                  <a:srgbClr val="000000"/>
                </a:solidFill>
                <a:latin typeface="微软雅黑"/>
                <a:ea typeface="微软雅黑"/>
                <a:cs typeface="Arial" pitchFamily="34" charset="0"/>
              </a:rPr>
              <a:t>© </a:t>
            </a:r>
            <a:r>
              <a:rPr lang="en-US" altLang="zh-CN" sz="1200" dirty="0" smtClean="0">
                <a:solidFill>
                  <a:srgbClr val="000000"/>
                </a:solidFill>
                <a:latin typeface="微软雅黑"/>
                <a:ea typeface="微软雅黑"/>
                <a:cs typeface="Arial" pitchFamily="34" charset="0"/>
              </a:rPr>
              <a:t>2019 </a:t>
            </a:r>
            <a:r>
              <a:rPr lang="zh-CN" altLang="en-US" sz="1200" dirty="0">
                <a:solidFill>
                  <a:srgbClr val="000000"/>
                </a:solidFill>
                <a:latin typeface="微软雅黑"/>
                <a:ea typeface="微软雅黑"/>
                <a:cs typeface="Arial" pitchFamily="34" charset="0"/>
              </a:rPr>
              <a:t>华为技术有限公司</a:t>
            </a:r>
          </a:p>
        </p:txBody>
      </p:sp>
    </p:spTree>
    <p:extLst>
      <p:ext uri="{BB962C8B-B14F-4D97-AF65-F5344CB8AC3E}">
        <p14:creationId xmlns:p14="http://schemas.microsoft.com/office/powerpoint/2010/main" val="213421974"/>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前言">
    <p:bg>
      <p:bgRef idx="1001">
        <a:schemeClr val="bg1"/>
      </p:bgRef>
    </p:bg>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4" y="1233488"/>
            <a:ext cx="10558800" cy="4679788"/>
          </a:xfrm>
        </p:spPr>
        <p:txBody>
          <a:bodyPr/>
          <a:lstStyle>
            <a:lvl1pPr algn="just">
              <a:defRPr>
                <a:latin typeface="+mn-ea"/>
                <a:ea typeface="+mn-ea"/>
                <a:cs typeface="Arial" panose="020B0604020202020204" pitchFamily="34" charset="0"/>
              </a:defRPr>
            </a:lvl1pPr>
            <a:lvl5pPr>
              <a:buNone/>
              <a:defRPr/>
            </a:lvl5pPr>
          </a:lstStyle>
          <a:p>
            <a:pPr eaLnBrk="1" hangingPunct="1"/>
            <a:r>
              <a:rPr lang="zh-CN" altLang="en-US" dirty="0"/>
              <a:t>本章主要讲述</a:t>
            </a:r>
            <a:r>
              <a:rPr lang="en-US" altLang="zh-CN" dirty="0"/>
              <a:t>...</a:t>
            </a:r>
            <a:endParaRPr lang="zh-CN" altLang="en-US" dirty="0"/>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rgbClr val="000000">
                    <a:lumMod val="75000"/>
                    <a:lumOff val="25000"/>
                  </a:srgbClr>
                </a:solidFill>
                <a:latin typeface="微软雅黑"/>
                <a:ea typeface="微软雅黑"/>
                <a:cs typeface="Arial" pitchFamily="34" charset="0"/>
              </a:rPr>
              <a:t>前言</a:t>
            </a:r>
            <a:endParaRPr lang="zh-CN" altLang="en-US" sz="3500" b="1" dirty="0">
              <a:solidFill>
                <a:srgbClr val="000000">
                  <a:lumMod val="75000"/>
                  <a:lumOff val="25000"/>
                </a:srgbClr>
              </a:solidFill>
              <a:latin typeface="微软雅黑"/>
              <a:ea typeface="微软雅黑"/>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335360" y="498828"/>
            <a:ext cx="628158" cy="459460"/>
            <a:chOff x="3275013" y="1363663"/>
            <a:chExt cx="5645150" cy="4129087"/>
          </a:xfrm>
          <a:solidFill>
            <a:schemeClr val="bg1"/>
          </a:solidFill>
        </p:grpSpPr>
        <p:sp>
          <p:nvSpPr>
            <p:cNvPr id="12"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6"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31451674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912284" y="1233487"/>
            <a:ext cx="10558800" cy="4680000"/>
          </a:xfrm>
        </p:spPr>
        <p:txBody>
          <a:bodyPr/>
          <a:lstStyle>
            <a:lvl1pPr marL="301625" marR="0" indent="-301625" algn="just" defTabSz="801688" rtl="0" eaLnBrk="1" fontAlgn="base" latinLnBrk="0" hangingPunct="1">
              <a:lnSpc>
                <a:spcPct val="140000"/>
              </a:lnSpc>
              <a:spcBef>
                <a:spcPct val="30000"/>
              </a:spcBef>
              <a:spcAft>
                <a:spcPct val="0"/>
              </a:spcAft>
              <a:buClr>
                <a:srgbClr val="808080"/>
              </a:buClr>
              <a:buSzPct val="60000"/>
              <a:buFont typeface="Wingdings" pitchFamily="2" charset="2"/>
              <a:buChar char="l"/>
              <a:tabLst/>
              <a:defRPr>
                <a:latin typeface="+mn-ea"/>
                <a:ea typeface="+mn-ea"/>
                <a:cs typeface="Arial" panose="020B0604020202020204" pitchFamily="34" charset="0"/>
              </a:defRPr>
            </a:lvl1pPr>
            <a:lvl2pPr algn="just" eaLnBrk="1" hangingPunct="1">
              <a:defRPr>
                <a:latin typeface="+mn-ea"/>
                <a:ea typeface="+mn-ea"/>
                <a:cs typeface="Arial" panose="020B0604020202020204" pitchFamily="34" charset="0"/>
              </a:defRPr>
            </a:lvl2pPr>
            <a:lvl3pPr algn="just" eaLnBrk="1" hangingPunct="1">
              <a:defRPr>
                <a:latin typeface="+mn-ea"/>
                <a:ea typeface="+mn-ea"/>
                <a:cs typeface="Arial" panose="020B0604020202020204" pitchFamily="34" charset="0"/>
              </a:defRPr>
            </a:lvl3pPr>
            <a:lvl4pPr algn="just" eaLnBrk="1" hangingPunct="1">
              <a:defRPr>
                <a:latin typeface="+mn-ea"/>
                <a:ea typeface="+mn-ea"/>
                <a:cs typeface="Arial" panose="020B0604020202020204" pitchFamily="34" charset="0"/>
              </a:defRPr>
            </a:lvl4pPr>
            <a:lvl5pPr algn="just" eaLnBrk="1" hangingPunct="1">
              <a:defRPr>
                <a:latin typeface="+mn-ea"/>
                <a:ea typeface="+mn-ea"/>
                <a:cs typeface="Arial" panose="020B0604020202020204" pitchFamily="34" charset="0"/>
              </a:defRPr>
            </a:lvl5pPr>
          </a:lstStyle>
          <a:p>
            <a:pPr marL="301625" marR="0" lvl="0" indent="-301625" algn="l" defTabSz="80168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zh-CN" altLang="en-US" sz="2200" b="0" i="0" u="none" strike="noStrike" kern="0" cap="none" spc="0" normalizeH="0" baseline="0" noProof="0" dirty="0">
                <a:ln>
                  <a:noFill/>
                </a:ln>
                <a:solidFill>
                  <a:srgbClr val="000000"/>
                </a:solidFill>
                <a:effectLst/>
                <a:uLnTx/>
                <a:uFillTx/>
                <a:latin typeface="+mn-lt"/>
                <a:ea typeface="+mn-ea"/>
                <a:cs typeface="+mn-cs"/>
              </a:rPr>
              <a:t>学完本课程后，您将能够：</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rgbClr val="000000">
                    <a:lumMod val="75000"/>
                    <a:lumOff val="25000"/>
                  </a:srgbClr>
                </a:solidFill>
                <a:latin typeface="微软雅黑"/>
                <a:ea typeface="微软雅黑"/>
                <a:cs typeface="Arial" pitchFamily="34" charset="0"/>
              </a:rPr>
              <a:t>目标</a:t>
            </a:r>
            <a:endParaRPr lang="en-US" altLang="zh-CN" sz="3500" b="1" dirty="0">
              <a:solidFill>
                <a:srgbClr val="000000">
                  <a:lumMod val="75000"/>
                  <a:lumOff val="25000"/>
                </a:srgbClr>
              </a:solidFill>
              <a:latin typeface="微软雅黑"/>
              <a:ea typeface="微软雅黑"/>
              <a:cs typeface="Arial" pitchFamily="34" charset="0"/>
            </a:endParaRP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0" name="组合 9"/>
          <p:cNvGrpSpPr/>
          <p:nvPr userDrawn="1"/>
        </p:nvGrpSpPr>
        <p:grpSpPr>
          <a:xfrm>
            <a:off x="443372" y="440668"/>
            <a:ext cx="533970" cy="533470"/>
            <a:chOff x="2960687" y="4865687"/>
            <a:chExt cx="1698626" cy="1697038"/>
          </a:xfrm>
          <a:solidFill>
            <a:schemeClr val="bg1"/>
          </a:solidFill>
        </p:grpSpPr>
        <p:sp>
          <p:nvSpPr>
            <p:cNvPr id="11"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2"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6"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538509135"/>
      </p:ext>
    </p:extLst>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3" y="1233487"/>
            <a:ext cx="10558800" cy="4680000"/>
          </a:xfr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a:latin typeface="+mn-ea"/>
                <a:ea typeface="+mn-ea"/>
                <a:cs typeface="Arial" panose="020B0604020202020204" pitchFamily="34" charset="0"/>
              </a:defRPr>
            </a:lvl1pPr>
            <a:lvl2pPr>
              <a:buFont typeface="Wingdings" pitchFamily="2" charset="2"/>
              <a:buChar char="p"/>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rgbClr val="000000">
                    <a:lumMod val="75000"/>
                    <a:lumOff val="25000"/>
                  </a:srgbClr>
                </a:solidFill>
                <a:latin typeface="微软雅黑"/>
                <a:ea typeface="微软雅黑"/>
                <a:cs typeface="Arial" pitchFamily="34" charset="0"/>
              </a:rPr>
              <a:t>目录</a:t>
            </a:r>
            <a:endParaRPr lang="zh-CN" altLang="en-US" sz="3500" b="1" dirty="0">
              <a:solidFill>
                <a:srgbClr val="000000">
                  <a:lumMod val="75000"/>
                  <a:lumOff val="25000"/>
                </a:srgbClr>
              </a:solidFill>
              <a:latin typeface="微软雅黑"/>
              <a:ea typeface="微软雅黑"/>
              <a:cs typeface="Arial" pitchFamily="34" charset="0"/>
            </a:endParaRPr>
          </a:p>
        </p:txBody>
      </p:sp>
      <p:sp>
        <p:nvSpPr>
          <p:cNvPr id="7"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0" name="组合 9"/>
          <p:cNvGrpSpPr/>
          <p:nvPr userDrawn="1"/>
        </p:nvGrpSpPr>
        <p:grpSpPr>
          <a:xfrm>
            <a:off x="587388" y="515379"/>
            <a:ext cx="358335" cy="426359"/>
            <a:chOff x="3295650" y="230188"/>
            <a:chExt cx="936625" cy="1114426"/>
          </a:xfrm>
          <a:solidFill>
            <a:schemeClr val="bg1"/>
          </a:solidFill>
        </p:grpSpPr>
        <p:sp>
          <p:nvSpPr>
            <p:cNvPr id="11"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6"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7"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8"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9"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0"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1"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2"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3"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4"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5"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6"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7"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977480530"/>
      </p:ext>
    </p:extLst>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7" name="内容占位符 6"/>
          <p:cNvSpPr>
            <a:spLocks noGrp="1"/>
          </p:cNvSpPr>
          <p:nvPr>
            <p:ph sz="quarter" idx="10"/>
          </p:nvPr>
        </p:nvSpPr>
        <p:spPr>
          <a:xfrm>
            <a:off x="912285" y="1233487"/>
            <a:ext cx="10560049" cy="4680000"/>
          </a:xfrm>
        </p:spPr>
        <p:txBody>
          <a:bodyPr/>
          <a:lstStyle>
            <a:lvl1pPr algn="just">
              <a:defRPr>
                <a:latin typeface="+mn-ea"/>
                <a:ea typeface="+mn-ea"/>
                <a:cs typeface="Arial" panose="020B0604020202020204" pitchFamily="34" charset="0"/>
              </a:defRPr>
            </a:lvl1pPr>
            <a:lvl2pPr algn="just">
              <a:defRPr>
                <a:latin typeface="+mn-ea"/>
                <a:ea typeface="+mn-ea"/>
                <a:cs typeface="Arial" panose="020B0604020202020204" pitchFamily="34" charset="0"/>
              </a:defRPr>
            </a:lvl2pPr>
            <a:lvl3pPr algn="just">
              <a:defRPr>
                <a:latin typeface="+mn-ea"/>
                <a:ea typeface="+mn-ea"/>
                <a:cs typeface="Arial" panose="020B0604020202020204" pitchFamily="34" charset="0"/>
              </a:defRPr>
            </a:lvl3pPr>
            <a:lvl4pPr algn="just">
              <a:defRPr>
                <a:latin typeface="+mn-ea"/>
                <a:ea typeface="+mn-ea"/>
                <a:cs typeface="Arial" panose="020B0604020202020204" pitchFamily="34" charset="0"/>
              </a:defRPr>
            </a:lvl4pPr>
            <a:lvl5pPr algn="just">
              <a:defRPr>
                <a:latin typeface="+mn-ea"/>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9829738"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rgbClr val="000000">
                    <a:lumMod val="75000"/>
                    <a:lumOff val="25000"/>
                  </a:srgbClr>
                </a:solidFill>
                <a:latin typeface="微软雅黑"/>
                <a:ea typeface="微软雅黑"/>
                <a:cs typeface="Arial" pitchFamily="34" charset="0"/>
              </a:rPr>
              <a:t>本节概述和学习目标</a:t>
            </a:r>
            <a:endParaRPr lang="zh-CN" altLang="en-US" sz="3500" b="1" dirty="0">
              <a:solidFill>
                <a:srgbClr val="000000">
                  <a:lumMod val="75000"/>
                  <a:lumOff val="25000"/>
                </a:srgbClr>
              </a:solidFill>
              <a:latin typeface="微软雅黑"/>
              <a:ea typeface="微软雅黑"/>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587388" y="505779"/>
            <a:ext cx="374708" cy="445558"/>
            <a:chOff x="-1647825" y="2492375"/>
            <a:chExt cx="1947863" cy="2316163"/>
          </a:xfrm>
          <a:solidFill>
            <a:schemeClr val="bg1"/>
          </a:solidFill>
        </p:grpSpPr>
        <p:sp>
          <p:nvSpPr>
            <p:cNvPr id="12"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1059941509"/>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66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
        <p:nvSpPr>
          <p:cNvPr id="3"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4"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5" name="组合 4"/>
          <p:cNvGrpSpPr/>
          <p:nvPr userDrawn="1"/>
        </p:nvGrpSpPr>
        <p:grpSpPr>
          <a:xfrm>
            <a:off x="587388" y="505779"/>
            <a:ext cx="374708" cy="445558"/>
            <a:chOff x="-1647825" y="2492375"/>
            <a:chExt cx="1947863" cy="2316163"/>
          </a:xfrm>
          <a:solidFill>
            <a:schemeClr val="bg1"/>
          </a:solidFill>
        </p:grpSpPr>
        <p:sp>
          <p:nvSpPr>
            <p:cNvPr id="6"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7"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
        <p:nvSpPr>
          <p:cNvPr id="8" name="文本占位符 6"/>
          <p:cNvSpPr>
            <a:spLocks noGrp="1"/>
          </p:cNvSpPr>
          <p:nvPr>
            <p:ph type="body" sz="quarter" idx="10" hasCustomPrompt="1"/>
          </p:nvPr>
        </p:nvSpPr>
        <p:spPr>
          <a:xfrm>
            <a:off x="912285" y="1233488"/>
            <a:ext cx="10560048" cy="4680000"/>
          </a:xfrm>
        </p:spPr>
        <p:txBody>
          <a:bodyPr/>
          <a:lstStyle>
            <a:lvl1pPr algn="just">
              <a:defRPr>
                <a:latin typeface="+mn-ea"/>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158983661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66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10"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ea typeface="宋体" pitchFamily="2" charset="-122"/>
            </a:endParaRPr>
          </a:p>
        </p:txBody>
      </p:sp>
      <p:sp>
        <p:nvSpPr>
          <p:cNvPr id="11"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ea typeface="宋体" pitchFamily="2" charset="-122"/>
            </a:endParaRPr>
          </a:p>
        </p:txBody>
      </p:sp>
      <p:sp>
        <p:nvSpPr>
          <p:cNvPr id="12" name="Freeform 12"/>
          <p:cNvSpPr>
            <a:spLocks noEditPoints="1"/>
          </p:cNvSpPr>
          <p:nvPr userDrawn="1"/>
        </p:nvSpPr>
        <p:spPr bwMode="auto">
          <a:xfrm>
            <a:off x="479376" y="474075"/>
            <a:ext cx="508162"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000000"/>
              </a:solidFill>
            </a:endParaRPr>
          </a:p>
        </p:txBody>
      </p:sp>
      <p:sp>
        <p:nvSpPr>
          <p:cNvPr id="6" name="标题 1"/>
          <p:cNvSpPr>
            <a:spLocks noGrp="1"/>
          </p:cNvSpPr>
          <p:nvPr>
            <p:ph type="title"/>
          </p:nvPr>
        </p:nvSpPr>
        <p:spPr>
          <a:xfrm>
            <a:off x="1594800" y="410400"/>
            <a:ext cx="9831600" cy="640800"/>
          </a:xfrm>
        </p:spPr>
        <p:txBody>
          <a:bodyPr lIns="100800" tIns="50400" rIns="100800" bIns="50400" anchor="t" anchorCtr="0"/>
          <a:lstStyle>
            <a:lvl1pPr>
              <a:defRPr b="1">
                <a:latin typeface="+mn-ea"/>
                <a:ea typeface="+mn-ea"/>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56809864"/>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6364165"/>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912285" y="1233487"/>
            <a:ext cx="10560049" cy="4680000"/>
          </a:xfrm>
        </p:spPr>
        <p:txBody>
          <a:bodyPr/>
          <a:lstStyle>
            <a:lvl1pPr marL="457200" marR="0" indent="-457200" algn="just" defTabSz="801688" rtl="0" eaLnBrk="1" fontAlgn="base" latinLnBrk="0" hangingPunct="1">
              <a:lnSpc>
                <a:spcPct val="140000"/>
              </a:lnSpc>
              <a:spcBef>
                <a:spcPct val="30000"/>
              </a:spcBef>
              <a:spcAft>
                <a:spcPct val="0"/>
              </a:spcAft>
              <a:buClr>
                <a:srgbClr val="808080"/>
              </a:buClr>
              <a:buSzPct val="100000"/>
              <a:buFont typeface="+mj-lt"/>
              <a:buAutoNum type="arabicPeriod"/>
              <a:tabLst/>
              <a:defRPr sz="2000">
                <a:latin typeface="+mn-ea"/>
                <a:ea typeface="+mn-ea"/>
                <a:cs typeface="Arial" panose="020B0604020202020204" pitchFamily="34" charset="0"/>
              </a:defRPr>
            </a:lvl1pPr>
            <a:lvl2pPr marL="401637" indent="0" algn="just">
              <a:buSzPct val="100000"/>
              <a:buFont typeface="+mj-lt"/>
              <a:buNone/>
              <a:defRPr sz="1800"/>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r>
              <a:rPr lang="zh-CN" altLang="en-US" dirty="0" smtClean="0"/>
              <a:t>）</a:t>
            </a:r>
            <a:endParaRPr lang="en-US" altLang="zh-CN"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1665402"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rgbClr val="000000">
                    <a:lumMod val="75000"/>
                    <a:lumOff val="25000"/>
                  </a:srgbClr>
                </a:solidFill>
                <a:latin typeface="微软雅黑"/>
                <a:ea typeface="微软雅黑"/>
                <a:cs typeface="Arial" pitchFamily="34" charset="0"/>
              </a:rPr>
              <a:t>思考题</a:t>
            </a:r>
          </a:p>
        </p:txBody>
      </p:sp>
      <p:sp>
        <p:nvSpPr>
          <p:cNvPr id="8"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9"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0" name="组合 9"/>
          <p:cNvGrpSpPr/>
          <p:nvPr userDrawn="1"/>
        </p:nvGrpSpPr>
        <p:grpSpPr>
          <a:xfrm>
            <a:off x="479376" y="424270"/>
            <a:ext cx="495619" cy="592462"/>
            <a:chOff x="5554662" y="2422526"/>
            <a:chExt cx="690564" cy="825500"/>
          </a:xfrm>
          <a:solidFill>
            <a:schemeClr val="bg1"/>
          </a:solidFill>
        </p:grpSpPr>
        <p:sp>
          <p:nvSpPr>
            <p:cNvPr id="11"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2"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6"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7"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8"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9"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0"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1"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2"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23"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4147639008"/>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此版式用于每一节的</a:t>
            </a:r>
            <a:r>
              <a:rPr lang="zh-CN" altLang="en-US" dirty="0" smtClean="0"/>
              <a:t>总结</a:t>
            </a:r>
            <a:endParaRPr lang="zh-CN" altLang="en-US" dirty="0"/>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016224"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rgbClr val="000000">
                    <a:lumMod val="75000"/>
                    <a:lumOff val="25000"/>
                  </a:srgbClr>
                </a:solidFill>
                <a:latin typeface="微软雅黑"/>
                <a:ea typeface="微软雅黑"/>
                <a:cs typeface="Arial" pitchFamily="34" charset="0"/>
              </a:rPr>
              <a:t>本节小结</a:t>
            </a:r>
            <a:endParaRPr lang="zh-CN" altLang="en-US" sz="3500" b="1" dirty="0">
              <a:solidFill>
                <a:srgbClr val="000000">
                  <a:lumMod val="75000"/>
                  <a:lumOff val="25000"/>
                </a:srgbClr>
              </a:solidFill>
              <a:latin typeface="微软雅黑"/>
              <a:ea typeface="微软雅黑"/>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2332208266"/>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2016224"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smtClean="0">
                <a:solidFill>
                  <a:srgbClr val="000000">
                    <a:lumMod val="75000"/>
                    <a:lumOff val="25000"/>
                  </a:srgbClr>
                </a:solidFill>
                <a:latin typeface="微软雅黑"/>
                <a:ea typeface="微软雅黑"/>
                <a:cs typeface="Arial" pitchFamily="34" charset="0"/>
              </a:rPr>
              <a:t>本章总结</a:t>
            </a:r>
            <a:endParaRPr lang="zh-CN" altLang="en-US" sz="3500" b="1" dirty="0">
              <a:solidFill>
                <a:srgbClr val="000000">
                  <a:lumMod val="75000"/>
                  <a:lumOff val="25000"/>
                </a:srgbClr>
              </a:solidFill>
              <a:latin typeface="微软雅黑"/>
              <a:ea typeface="微软雅黑"/>
              <a:cs typeface="Arial" pitchFamily="34" charset="0"/>
            </a:endParaRP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515380" y="490848"/>
            <a:ext cx="470694" cy="475421"/>
            <a:chOff x="5540375" y="2868613"/>
            <a:chExt cx="1106488" cy="1117600"/>
          </a:xfrm>
          <a:solidFill>
            <a:schemeClr val="bg1"/>
          </a:solidFill>
        </p:grpSpPr>
        <p:sp>
          <p:nvSpPr>
            <p:cNvPr id="12"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
        <p:nvSpPr>
          <p:cNvPr id="14" name="文本占位符 6"/>
          <p:cNvSpPr>
            <a:spLocks noGrp="1"/>
          </p:cNvSpPr>
          <p:nvPr>
            <p:ph type="body" sz="quarter" idx="11"/>
          </p:nvPr>
        </p:nvSpPr>
        <p:spPr>
          <a:xfrm>
            <a:off x="911424" y="1232756"/>
            <a:ext cx="10560049" cy="4680000"/>
          </a:xfrm>
        </p:spPr>
        <p:txBody>
          <a:bodyPr/>
          <a:lstStyle>
            <a:lvl1pPr algn="just">
              <a:defRPr>
                <a:latin typeface="+mn-ea"/>
                <a:ea typeface="+mn-ea"/>
                <a:cs typeface="Arial" panose="020B0604020202020204" pitchFamily="34" charset="0"/>
              </a:defRPr>
            </a:lvl1pPr>
            <a:lvl5pPr>
              <a:buNone/>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Tree>
    <p:extLst>
      <p:ext uri="{BB962C8B-B14F-4D97-AF65-F5344CB8AC3E}">
        <p14:creationId xmlns:p14="http://schemas.microsoft.com/office/powerpoint/2010/main" val="4129741745"/>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9" name="文本占位符 6"/>
          <p:cNvSpPr>
            <a:spLocks noGrp="1"/>
          </p:cNvSpPr>
          <p:nvPr>
            <p:ph type="body" sz="quarter" idx="10" hasCustomPrompt="1"/>
          </p:nvPr>
        </p:nvSpPr>
        <p:spPr>
          <a:xfrm>
            <a:off x="912285" y="1233487"/>
            <a:ext cx="10560049" cy="4680000"/>
          </a:xfrm>
        </p:spPr>
        <p:txBody>
          <a:bodyPr/>
          <a:lstStyle>
            <a:lvl1pPr algn="just">
              <a:defRPr>
                <a:latin typeface="+mn-ea"/>
                <a:ea typeface="+mn-ea"/>
                <a:cs typeface="Arial" panose="020B0604020202020204" pitchFamily="34" charset="0"/>
              </a:defRPr>
            </a:lvl1pPr>
            <a:lvl5pPr>
              <a:buNone/>
              <a:defRPr/>
            </a:lvl5pPr>
          </a:lstStyle>
          <a:p>
            <a:r>
              <a:rPr lang="zh-CN" altLang="en-US" dirty="0"/>
              <a:t>此版式用于提供给学员更多学习信息。</a:t>
            </a:r>
          </a:p>
        </p:txBody>
      </p:sp>
      <p:sp>
        <p:nvSpPr>
          <p:cNvPr id="5"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rgbClr val="000000">
                    <a:lumMod val="75000"/>
                    <a:lumOff val="25000"/>
                  </a:srgbClr>
                </a:solidFill>
                <a:latin typeface="微软雅黑"/>
                <a:ea typeface="微软雅黑"/>
                <a:cs typeface="Arial" pitchFamily="34" charset="0"/>
              </a:rPr>
              <a:t>更多信息</a:t>
            </a:r>
          </a:p>
        </p:txBody>
      </p:sp>
      <p:sp>
        <p:nvSpPr>
          <p:cNvPr id="6"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479376" y="480268"/>
            <a:ext cx="496581" cy="496581"/>
            <a:chOff x="4485904" y="3429000"/>
            <a:chExt cx="2003425" cy="2003425"/>
          </a:xfrm>
          <a:solidFill>
            <a:schemeClr val="bg1"/>
          </a:solidFill>
        </p:grpSpPr>
        <p:sp>
          <p:nvSpPr>
            <p:cNvPr id="12"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1367031208"/>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5" y="1233487"/>
            <a:ext cx="10560049" cy="4680000"/>
          </a:xfrm>
        </p:spPr>
        <p:txBody>
          <a:bodyPr/>
          <a:lstStyle>
            <a:lvl1pPr algn="just">
              <a:defRPr>
                <a:latin typeface="+mn-ea"/>
                <a:ea typeface="+mn-ea"/>
                <a:cs typeface="Arial" panose="020B0604020202020204" pitchFamily="34" charset="0"/>
              </a:defRPr>
            </a:lvl1pPr>
          </a:lstStyle>
          <a:p>
            <a:endParaRPr lang="zh-CN" altLang="en-US" dirty="0"/>
          </a:p>
        </p:txBody>
      </p:sp>
      <p:sp>
        <p:nvSpPr>
          <p:cNvPr id="8" name="TextBox 10">
            <a:extLst>
              <a:ext uri="{FF2B5EF4-FFF2-40B4-BE49-F238E27FC236}">
                <a16:creationId xmlns:a16="http://schemas.microsoft.com/office/drawing/2014/main" xmlns="" id="{18ED692C-39CB-4AC0-81F6-D21CDD086EE4}"/>
              </a:ext>
            </a:extLst>
          </p:cNvPr>
          <p:cNvSpPr txBox="1"/>
          <p:nvPr userDrawn="1"/>
        </p:nvSpPr>
        <p:spPr bwMode="auto">
          <a:xfrm>
            <a:off x="1595500" y="408779"/>
            <a:ext cx="5040560" cy="639559"/>
          </a:xfrm>
          <a:prstGeom prst="rect">
            <a:avLst/>
          </a:prstGeom>
          <a:noFill/>
          <a:ln w="9525">
            <a:noFill/>
            <a:miter lim="800000"/>
            <a:headEnd/>
            <a:tailEnd/>
          </a:ln>
        </p:spPr>
        <p:txBody>
          <a:bodyPr wrap="square" lIns="99980" tIns="49987" rIns="99980" bIns="49987" rtlCol="0">
            <a:spAutoFit/>
          </a:bodyPr>
          <a:lstStyle/>
          <a:p>
            <a:pPr defTabSz="1001624" eaLnBrk="0" hangingPunct="0"/>
            <a:r>
              <a:rPr lang="zh-CN" altLang="en-US" sz="3500" b="1" dirty="0">
                <a:solidFill>
                  <a:srgbClr val="000000">
                    <a:lumMod val="75000"/>
                    <a:lumOff val="25000"/>
                  </a:srgbClr>
                </a:solidFill>
                <a:latin typeface="微软雅黑"/>
                <a:ea typeface="微软雅黑"/>
                <a:cs typeface="Arial" pitchFamily="34" charset="0"/>
              </a:rPr>
              <a:t>学习推荐</a:t>
            </a:r>
          </a:p>
        </p:txBody>
      </p:sp>
      <p:sp>
        <p:nvSpPr>
          <p:cNvPr id="9" name="Freeform 9"/>
          <p:cNvSpPr>
            <a:spLocks/>
          </p:cNvSpPr>
          <p:nvPr userDrawn="1"/>
        </p:nvSpPr>
        <p:spPr bwMode="auto">
          <a:xfrm>
            <a:off x="3113" y="296368"/>
            <a:ext cx="1376363"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70C0"/>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sp>
        <p:nvSpPr>
          <p:cNvPr id="10" name="Freeform 11"/>
          <p:cNvSpPr>
            <a:spLocks/>
          </p:cNvSpPr>
          <p:nvPr userDrawn="1"/>
        </p:nvSpPr>
        <p:spPr bwMode="auto">
          <a:xfrm>
            <a:off x="1246188" y="296368"/>
            <a:ext cx="233363"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srgbClr val="000000"/>
              </a:solidFill>
              <a:latin typeface="微软雅黑"/>
              <a:ea typeface="微软雅黑"/>
            </a:endParaRPr>
          </a:p>
        </p:txBody>
      </p:sp>
      <p:grpSp>
        <p:nvGrpSpPr>
          <p:cNvPr id="11" name="组合 10"/>
          <p:cNvGrpSpPr/>
          <p:nvPr userDrawn="1"/>
        </p:nvGrpSpPr>
        <p:grpSpPr>
          <a:xfrm>
            <a:off x="515380" y="456929"/>
            <a:ext cx="461963" cy="485190"/>
            <a:chOff x="-779463" y="1835151"/>
            <a:chExt cx="1136650" cy="1193799"/>
          </a:xfrm>
          <a:solidFill>
            <a:schemeClr val="bg1"/>
          </a:solidFill>
        </p:grpSpPr>
        <p:sp>
          <p:nvSpPr>
            <p:cNvPr id="12"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3"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4"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5"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6"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sp>
          <p:nvSpPr>
            <p:cNvPr id="17"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rgbClr val="000000"/>
                </a:solidFill>
                <a:latin typeface="微软雅黑"/>
                <a:ea typeface="微软雅黑"/>
              </a:endParaRPr>
            </a:p>
          </p:txBody>
        </p:sp>
      </p:grpSp>
    </p:spTree>
    <p:extLst>
      <p:ext uri="{BB962C8B-B14F-4D97-AF65-F5344CB8AC3E}">
        <p14:creationId xmlns:p14="http://schemas.microsoft.com/office/powerpoint/2010/main" val="1413715644"/>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5#谢谢">
    <p:spTree>
      <p:nvGrpSpPr>
        <p:cNvPr id="1" name=""/>
        <p:cNvGrpSpPr/>
        <p:nvPr/>
      </p:nvGrpSpPr>
      <p:grpSpPr>
        <a:xfrm>
          <a:off x="0" y="0"/>
          <a:ext cx="0" cy="0"/>
          <a:chOff x="0" y="0"/>
          <a:chExt cx="0" cy="0"/>
        </a:xfrm>
      </p:grpSpPr>
      <p:pic>
        <p:nvPicPr>
          <p:cNvPr id="2" name="Picture 3" descr="C:\Users\YOYO\Desktop\shutterstock_1055215934.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15741"/>
          <a:stretch/>
        </p:blipFill>
        <p:spPr bwMode="auto">
          <a:xfrm>
            <a:off x="-7336" y="0"/>
            <a:ext cx="12199336"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userDrawn="1"/>
        </p:nvSpPr>
        <p:spPr bwMode="auto">
          <a:xfrm>
            <a:off x="0" y="0"/>
            <a:ext cx="12192000" cy="6858000"/>
          </a:xfrm>
          <a:prstGeom prst="rect">
            <a:avLst/>
          </a:prstGeom>
          <a:solidFill>
            <a:schemeClr val="tx1">
              <a:lumMod val="95000"/>
              <a:lumOff val="5000"/>
              <a:alpha val="4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smtClean="0">
              <a:solidFill>
                <a:srgbClr val="000000"/>
              </a:solidFill>
              <a:latin typeface="微软雅黑"/>
              <a:ea typeface="微软雅黑"/>
            </a:endParaRPr>
          </a:p>
        </p:txBody>
      </p:sp>
      <p:grpSp>
        <p:nvGrpSpPr>
          <p:cNvPr id="4" name="组合 3"/>
          <p:cNvGrpSpPr/>
          <p:nvPr userDrawn="1"/>
        </p:nvGrpSpPr>
        <p:grpSpPr>
          <a:xfrm>
            <a:off x="4234241" y="2642208"/>
            <a:ext cx="3971726" cy="1573584"/>
            <a:chOff x="4826327" y="2503488"/>
            <a:chExt cx="3971726" cy="1573584"/>
          </a:xfrm>
        </p:grpSpPr>
        <p:sp>
          <p:nvSpPr>
            <p:cNvPr id="5" name="Text Box 9">
              <a:extLst>
                <a:ext uri="{FF2B5EF4-FFF2-40B4-BE49-F238E27FC236}">
                  <a16:creationId xmlns:a16="http://schemas.microsoft.com/office/drawing/2014/main" xmlns="" id="{9D36E720-0E25-41AB-8346-B547D8B86001}"/>
                </a:ext>
              </a:extLst>
            </p:cNvPr>
            <p:cNvSpPr txBox="1">
              <a:spLocks noChangeArrowheads="1"/>
            </p:cNvSpPr>
            <p:nvPr/>
          </p:nvSpPr>
          <p:spPr bwMode="auto">
            <a:xfrm>
              <a:off x="4826327" y="3443951"/>
              <a:ext cx="3971726" cy="633121"/>
            </a:xfrm>
            <a:prstGeom prst="rect">
              <a:avLst/>
            </a:prstGeom>
            <a:noFill/>
            <a:ln w="9525">
              <a:noFill/>
              <a:miter lim="800000"/>
              <a:headEnd/>
              <a:tailEnd/>
            </a:ln>
          </p:spPr>
          <p:txBody>
            <a:bodyPr wrap="none" lIns="78358" tIns="39179" rIns="78358" bIns="39179">
              <a:spAutoFit/>
            </a:bodyPr>
            <a:lstStyle/>
            <a:p>
              <a:pPr defTabSz="784225" eaLnBrk="0" hangingPunct="0">
                <a:buSzPct val="100000"/>
                <a:defRPr/>
              </a:pPr>
              <a:r>
                <a:rPr lang="zh-CN" altLang="zh-CN" sz="3600" dirty="0">
                  <a:solidFill>
                    <a:srgbClr val="FFFFFF"/>
                  </a:solidFill>
                  <a:effectLst>
                    <a:outerShdw blurRad="38100" dist="38100" dir="2700000" algn="tl">
                      <a:srgbClr val="000000">
                        <a:alpha val="43137"/>
                      </a:srgbClr>
                    </a:outerShdw>
                  </a:effectLst>
                  <a:latin typeface="微软雅黑"/>
                  <a:ea typeface="微软雅黑"/>
                  <a:cs typeface="Arial" panose="020B0604020202020204" pitchFamily="34" charset="0"/>
                  <a:sym typeface="FrutigerNext LT Regular" pitchFamily="34" charset="0"/>
                </a:rPr>
                <a:t>www.huawei.com</a:t>
              </a:r>
            </a:p>
          </p:txBody>
        </p:sp>
        <p:sp>
          <p:nvSpPr>
            <p:cNvPr id="6" name="Text Box 8">
              <a:extLst>
                <a:ext uri="{FF2B5EF4-FFF2-40B4-BE49-F238E27FC236}">
                  <a16:creationId xmlns:a16="http://schemas.microsoft.com/office/drawing/2014/main" xmlns="" id="{11ED55EC-FD16-4B98-B04D-4605D3C0D784}"/>
                </a:ext>
              </a:extLst>
            </p:cNvPr>
            <p:cNvSpPr txBox="1">
              <a:spLocks noChangeArrowheads="1"/>
            </p:cNvSpPr>
            <p:nvPr/>
          </p:nvSpPr>
          <p:spPr bwMode="auto">
            <a:xfrm>
              <a:off x="5820286" y="2503488"/>
              <a:ext cx="1735601" cy="910120"/>
            </a:xfrm>
            <a:prstGeom prst="rect">
              <a:avLst/>
            </a:prstGeom>
            <a:noFill/>
            <a:ln w="9525">
              <a:noFill/>
              <a:miter lim="800000"/>
              <a:headEnd/>
              <a:tailEnd/>
            </a:ln>
          </p:spPr>
          <p:txBody>
            <a:bodyPr wrap="none" lIns="78358" tIns="39179" rIns="78358" bIns="39179">
              <a:spAutoFit/>
            </a:bodyPr>
            <a:lstStyle/>
            <a:p>
              <a:pPr defTabSz="784225" eaLnBrk="0" fontAlgn="base" hangingPunct="0">
                <a:buSzPct val="100000"/>
                <a:defRPr/>
              </a:pPr>
              <a:r>
                <a:rPr lang="zh-CN" altLang="en-US" sz="5400" dirty="0" smtClean="0">
                  <a:solidFill>
                    <a:srgbClr val="FFFFFF"/>
                  </a:solidFill>
                  <a:effectLst>
                    <a:outerShdw blurRad="38100" dist="38100" dir="2700000" algn="tl">
                      <a:srgbClr val="000000">
                        <a:alpha val="43137"/>
                      </a:srgbClr>
                    </a:outerShdw>
                  </a:effectLst>
                  <a:latin typeface="微软雅黑"/>
                  <a:ea typeface="微软雅黑"/>
                  <a:sym typeface="FrutigerNext LT Regular" pitchFamily="34" charset="0"/>
                </a:rPr>
                <a:t>谢 谢</a:t>
              </a:r>
              <a:endParaRPr lang="zh-CN" altLang="zh-CN" sz="5400" dirty="0">
                <a:solidFill>
                  <a:srgbClr val="FFFFFF"/>
                </a:solidFill>
                <a:effectLst>
                  <a:outerShdw blurRad="38100" dist="38100" dir="2700000" algn="tl">
                    <a:srgbClr val="000000">
                      <a:alpha val="43137"/>
                    </a:srgbClr>
                  </a:outerShdw>
                </a:effectLst>
                <a:latin typeface="微软雅黑"/>
                <a:ea typeface="微软雅黑"/>
                <a:sym typeface="FrutigerNext LT Regular" pitchFamily="34" charset="0"/>
              </a:endParaRPr>
            </a:p>
          </p:txBody>
        </p:sp>
      </p:grpSp>
    </p:spTree>
    <p:extLst>
      <p:ext uri="{BB962C8B-B14F-4D97-AF65-F5344CB8AC3E}">
        <p14:creationId xmlns:p14="http://schemas.microsoft.com/office/powerpoint/2010/main" val="22914405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image" Target="../media/image1.png"/><Relationship Id="rId2" Type="http://schemas.openxmlformats.org/officeDocument/2006/relationships/slideLayout" Target="../slideLayouts/slideLayout19.xml"/><Relationship Id="rId16" Type="http://schemas.openxmlformats.org/officeDocument/2006/relationships/theme" Target="../theme/theme2.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2" name="Rectangle 6"/>
          <p:cNvSpPr>
            <a:spLocks noGrp="1" noChangeArrowheads="1"/>
          </p:cNvSpPr>
          <p:nvPr>
            <p:ph type="title"/>
          </p:nvPr>
        </p:nvSpPr>
        <p:spPr bwMode="auto">
          <a:xfrm>
            <a:off x="869951" y="260648"/>
            <a:ext cx="10327216"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7173" name="Rectangle 57"/>
          <p:cNvSpPr>
            <a:spLocks noGrp="1" noChangeArrowheads="1"/>
          </p:cNvSpPr>
          <p:nvPr>
            <p:ph type="body" idx="1"/>
          </p:nvPr>
        </p:nvSpPr>
        <p:spPr bwMode="auto">
          <a:xfrm>
            <a:off x="869951" y="1248073"/>
            <a:ext cx="10572749"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Rectangle 69">
            <a:extLst>
              <a:ext uri="{FF2B5EF4-FFF2-40B4-BE49-F238E27FC236}">
                <a16:creationId xmlns="" xmlns:a16="http://schemas.microsoft.com/office/drawing/2014/main" id="{6ED2DBAA-9261-44D2-836C-78E5FB250BAC}"/>
              </a:ext>
            </a:extLst>
          </p:cNvPr>
          <p:cNvSpPr>
            <a:spLocks noChangeArrowheads="1"/>
          </p:cNvSpPr>
          <p:nvPr userDrawn="1"/>
        </p:nvSpPr>
        <p:spPr bwMode="auto">
          <a:xfrm>
            <a:off x="155340" y="6500581"/>
            <a:ext cx="750069"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baseline="0" dirty="0" smtClean="0">
                <a:latin typeface="Arial" panose="020B0604020202020204" pitchFamily="34" charset="0"/>
                <a:ea typeface="黑体" panose="02010609060101010101" pitchFamily="49" charset="-122"/>
                <a:cs typeface="Arial" pitchFamily="34" charset="0"/>
              </a:rPr>
              <a:t>Page </a:t>
            </a:r>
            <a:fld id="{2F2CF7F5-F178-4429-B6CA-28062DF31937}" type="slidenum">
              <a:rPr lang="en-US" altLang="zh-CN" sz="1200" smtClean="0">
                <a:latin typeface="Arial" panose="020B0604020202020204" pitchFamily="34" charset="0"/>
                <a:ea typeface="黑体" panose="02010609060101010101" pitchFamily="49" charset="-122"/>
                <a:cs typeface="Arial" pitchFamily="34" charset="0"/>
              </a:rPr>
              <a:pPr defTabSz="801668" eaLnBrk="0" fontAlgn="base" hangingPunct="0">
                <a:defRPr/>
              </a:pPr>
              <a:t>‹#›</a:t>
            </a:fld>
            <a:endParaRPr lang="en-US" altLang="zh-CN" sz="1200" dirty="0">
              <a:latin typeface="Arial" panose="020B0604020202020204" pitchFamily="34" charset="0"/>
              <a:ea typeface="黑体" panose="02010609060101010101" pitchFamily="49" charset="-122"/>
              <a:cs typeface="Arial" pitchFamily="34" charset="0"/>
            </a:endParaRPr>
          </a:p>
        </p:txBody>
      </p:sp>
      <p:sp>
        <p:nvSpPr>
          <p:cNvPr id="13"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947428" y="6500581"/>
            <a:ext cx="3469788" cy="265552"/>
          </a:xfrm>
          <a:prstGeom prst="rect">
            <a:avLst/>
          </a:prstGeom>
          <a:noFill/>
          <a:ln w="9525" algn="ctr">
            <a:noFill/>
            <a:miter lim="800000"/>
            <a:headEnd/>
            <a:tailEnd/>
          </a:ln>
          <a:effectLst/>
        </p:spPr>
        <p:txBody>
          <a:bodyPr wrap="none" lIns="80101" tIns="40052" rIns="80101" bIns="40052">
            <a:spAutoFit/>
          </a:bodyPr>
          <a:lstStyle/>
          <a:p>
            <a:pPr marL="0" marR="0" lvl="0" indent="0" algn="l" defTabSz="801668" rtl="0" eaLnBrk="0" fontAlgn="base" latinLnBrk="0" hangingPunct="0">
              <a:lnSpc>
                <a:spcPct val="100000"/>
              </a:lnSpc>
              <a:spcBef>
                <a:spcPct val="0"/>
              </a:spcBef>
              <a:spcAft>
                <a:spcPct val="0"/>
              </a:spcAft>
              <a:buClrTx/>
              <a:buSzTx/>
              <a:buFontTx/>
              <a:buNone/>
              <a:tabLst/>
              <a:defRPr/>
            </a:pPr>
            <a:r>
              <a:rPr lang="en-US" altLang="zh-CN" sz="1200" kern="1200" dirty="0" smtClean="0">
                <a:solidFill>
                  <a:schemeClr val="tx1"/>
                </a:solidFill>
                <a:effectLst/>
                <a:latin typeface="Arial" panose="020B0604020202020204" pitchFamily="34" charset="0"/>
                <a:ea typeface="宋体" charset="-122"/>
                <a:cs typeface="Arial" panose="020B0604020202020204" pitchFamily="34" charset="0"/>
              </a:rPr>
              <a:t>Copyright © Huawei Technologies Co., Ltd. 2019</a:t>
            </a:r>
            <a:endParaRPr lang="zh-CN" altLang="en-US" sz="1800" kern="1200" baseline="0" dirty="0" smtClean="0">
              <a:solidFill>
                <a:schemeClr val="tx1"/>
              </a:solidFill>
              <a:latin typeface="Arial" panose="020B0604020202020204" pitchFamily="34" charset="0"/>
              <a:ea typeface="宋体" charset="-122"/>
              <a:cs typeface="Arial" panose="020B0604020202020204" pitchFamily="34" charset="0"/>
            </a:endParaRPr>
          </a:p>
        </p:txBody>
      </p:sp>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74" r:id="rId7"/>
    <p:sldLayoutId id="2147483873" r:id="rId8"/>
    <p:sldLayoutId id="2147483863" r:id="rId9"/>
    <p:sldLayoutId id="2147483862" r:id="rId10"/>
    <p:sldLayoutId id="2147483851" r:id="rId11"/>
    <p:sldLayoutId id="2147483852" r:id="rId12"/>
    <p:sldLayoutId id="2147483850" r:id="rId13"/>
    <p:sldLayoutId id="2147483861" r:id="rId14"/>
    <p:sldLayoutId id="2147483866" r:id="rId15"/>
    <p:sldLayoutId id="2147483875" r:id="rId16"/>
    <p:sldLayoutId id="2147483876" r:id="rId17"/>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35" userDrawn="1">
          <p15:clr>
            <a:srgbClr val="F26B43"/>
          </p15:clr>
        </p15:guide>
        <p15:guide id="2" pos="7227" userDrawn="1">
          <p15:clr>
            <a:srgbClr val="F26B43"/>
          </p15:clr>
        </p15:guide>
        <p15:guide id="3" orient="horz" pos="777" userDrawn="1">
          <p15:clr>
            <a:srgbClr val="F26B43"/>
          </p15:clr>
        </p15:guide>
        <p15:guide id="4" orient="horz" pos="4020" userDrawn="1">
          <p15:clr>
            <a:srgbClr val="F26B43"/>
          </p15:clr>
        </p15:guide>
        <p15:guide id="6" orient="horz" pos="2341" userDrawn="1">
          <p15:clr>
            <a:srgbClr val="F26B43"/>
          </p15:clr>
        </p15:guide>
        <p15:guide id="7"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2" name="Rectangle 6"/>
          <p:cNvSpPr>
            <a:spLocks noGrp="1" noChangeArrowheads="1"/>
          </p:cNvSpPr>
          <p:nvPr>
            <p:ph type="title"/>
          </p:nvPr>
        </p:nvSpPr>
        <p:spPr bwMode="auto">
          <a:xfrm>
            <a:off x="869951" y="260648"/>
            <a:ext cx="10327216"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7173" name="Rectangle 57"/>
          <p:cNvSpPr>
            <a:spLocks noGrp="1" noChangeArrowheads="1"/>
          </p:cNvSpPr>
          <p:nvPr>
            <p:ph type="body" idx="1"/>
          </p:nvPr>
        </p:nvSpPr>
        <p:spPr bwMode="auto">
          <a:xfrm>
            <a:off x="869951" y="1248073"/>
            <a:ext cx="10572749"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Rectangle 69">
            <a:extLst>
              <a:ext uri="{FF2B5EF4-FFF2-40B4-BE49-F238E27FC236}">
                <a16:creationId xmlns="" xmlns:a16="http://schemas.microsoft.com/office/drawing/2014/main" id="{6ED2DBAA-9261-44D2-836C-78E5FB250BAC}"/>
              </a:ext>
            </a:extLst>
          </p:cNvPr>
          <p:cNvSpPr>
            <a:spLocks noChangeArrowheads="1"/>
          </p:cNvSpPr>
          <p:nvPr userDrawn="1"/>
        </p:nvSpPr>
        <p:spPr bwMode="auto">
          <a:xfrm>
            <a:off x="155340" y="6500581"/>
            <a:ext cx="76879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smtClean="0">
                <a:solidFill>
                  <a:srgbClr val="000000"/>
                </a:solidFill>
                <a:latin typeface="Arial" panose="020B0604020202020204" pitchFamily="34" charset="0"/>
                <a:ea typeface="黑体" panose="02010609060101010101" pitchFamily="49" charset="-122"/>
                <a:cs typeface="Arial" panose="020B0604020202020204" pitchFamily="34" charset="0"/>
              </a:rPr>
              <a:t>Page </a:t>
            </a:r>
            <a:fld id="{2F2CF7F5-F178-4429-B6CA-28062DF31937}" type="slidenum">
              <a:rPr lang="en-US" altLang="zh-CN" sz="1200" smtClean="0">
                <a:solidFill>
                  <a:srgbClr val="000000"/>
                </a:solidFill>
                <a:latin typeface="Arial" panose="020B0604020202020204" pitchFamily="34" charset="0"/>
                <a:ea typeface="黑体" panose="02010609060101010101" pitchFamily="49" charset="-122"/>
                <a:cs typeface="Arial" panose="020B0604020202020204" pitchFamily="34" charset="0"/>
              </a:rPr>
              <a:pPr defTabSz="801668" eaLnBrk="0" fontAlgn="base" hangingPunct="0">
                <a:defRPr/>
              </a:pPr>
              <a:t>‹#›</a:t>
            </a:fld>
            <a:endParaRPr lang="en-US" altLang="zh-CN" sz="1200" dirty="0">
              <a:solidFill>
                <a:srgbClr val="000000"/>
              </a:solidFill>
              <a:latin typeface="Arial" panose="020B0604020202020204" pitchFamily="34" charset="0"/>
              <a:ea typeface="黑体" panose="02010609060101010101" pitchFamily="49" charset="-122"/>
              <a:cs typeface="Arial" panose="020B0604020202020204" pitchFamily="34" charset="0"/>
            </a:endParaRPr>
          </a:p>
        </p:txBody>
      </p:sp>
      <p:sp>
        <p:nvSpPr>
          <p:cNvPr id="13"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1006032" y="6500581"/>
            <a:ext cx="3469788"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smtClean="0">
                <a:solidFill>
                  <a:srgbClr val="000000"/>
                </a:solidFill>
                <a:latin typeface="Arial" panose="020B0604020202020204" pitchFamily="34" charset="0"/>
                <a:ea typeface="微软雅黑"/>
                <a:cs typeface="Arial" panose="020B0604020202020204" pitchFamily="34" charset="0"/>
              </a:rPr>
              <a:t>Copyright © Huawei Technologies Co., Ltd. 2019</a:t>
            </a:r>
            <a:endParaRPr lang="zh-CN" altLang="en-US" sz="1200" dirty="0">
              <a:solidFill>
                <a:srgbClr val="000000"/>
              </a:solidFill>
              <a:latin typeface="Arial" panose="020B0604020202020204" pitchFamily="34" charset="0"/>
              <a:ea typeface="微软雅黑"/>
              <a:cs typeface="Arial" panose="020B0604020202020204" pitchFamily="34" charset="0"/>
            </a:endParaRPr>
          </a:p>
        </p:txBody>
      </p:sp>
      <p:pic>
        <p:nvPicPr>
          <p:cNvPr id="8" name="图片 7"/>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4829" y="6504031"/>
            <a:ext cx="1249200" cy="273343"/>
          </a:xfrm>
          <a:prstGeom prst="rect">
            <a:avLst/>
          </a:prstGeom>
        </p:spPr>
      </p:pic>
    </p:spTree>
    <p:extLst>
      <p:ext uri="{BB962C8B-B14F-4D97-AF65-F5344CB8AC3E}">
        <p14:creationId xmlns:p14="http://schemas.microsoft.com/office/powerpoint/2010/main" val="3433137963"/>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 id="2147483890" r:id="rId13"/>
    <p:sldLayoutId id="2147483891" r:id="rId14"/>
    <p:sldLayoutId id="2147483892" r:id="rId15"/>
  </p:sldLayoutIdLst>
  <p:timing>
    <p:tnLst>
      <p:par>
        <p:cTn id="1" dur="indefinite" restart="never" nodeType="tmRoot"/>
      </p:par>
    </p:tnLst>
  </p:timing>
  <p:hf hdr="0" ftr="0" dt="0"/>
  <p:txStyles>
    <p:titleStyle>
      <a:lvl1pPr algn="l" defTabSz="801688" rtl="0" eaLnBrk="0" fontAlgn="base" hangingPunct="0">
        <a:spcBef>
          <a:spcPct val="0"/>
        </a:spcBef>
        <a:spcAft>
          <a:spcPct val="0"/>
        </a:spcAft>
        <a:defRPr sz="3500">
          <a:solidFill>
            <a:schemeClr val="tx1">
              <a:lumMod val="75000"/>
              <a:lumOff val="25000"/>
            </a:schemeClr>
          </a:solidFill>
          <a:latin typeface="+mn-lt"/>
          <a:ea typeface="+mj-ea"/>
          <a:cs typeface="+mj-cs"/>
        </a:defRPr>
      </a:lvl1pPr>
      <a:lvl2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8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fontAlgn="base">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fontAlgn="base">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fontAlgn="base">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19">
          <p15:clr>
            <a:srgbClr val="F26B43"/>
          </p15:clr>
        </p15:guide>
        <p15:guide id="2" pos="7219">
          <p15:clr>
            <a:srgbClr val="F26B43"/>
          </p15:clr>
        </p15:guide>
        <p15:guide id="3" orient="horz" pos="777">
          <p15:clr>
            <a:srgbClr val="F26B43"/>
          </p15:clr>
        </p15:guide>
        <p15:guide id="4" orient="horz" pos="4020">
          <p15:clr>
            <a:srgbClr val="F26B43"/>
          </p15:clr>
        </p15:guide>
        <p15:guide id="5" orient="horz" pos="2341">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2" name="文本占位符 151"/>
          <p:cNvSpPr>
            <a:spLocks noGrp="1"/>
          </p:cNvSpPr>
          <p:nvPr>
            <p:ph type="body" sz="quarter" idx="4294967295"/>
          </p:nvPr>
        </p:nvSpPr>
        <p:spPr>
          <a:xfrm>
            <a:off x="6168008" y="1825691"/>
            <a:ext cx="3024336" cy="504887"/>
          </a:xfrm>
        </p:spPr>
        <p:txBody>
          <a:bodyPr/>
          <a:lstStyle/>
          <a:p>
            <a:pPr marL="0" indent="0" algn="ctr">
              <a:buNone/>
            </a:pPr>
            <a:r>
              <a:rPr lang="en-US" altLang="zh-CN" sz="1800" dirty="0" smtClean="0">
                <a:latin typeface="Arial" panose="020B0604020202020204" pitchFamily="34" charset="0"/>
                <a:cs typeface="Arial" panose="020B0604020202020204" pitchFamily="34" charset="0"/>
              </a:rPr>
              <a:t>V5R2</a:t>
            </a:r>
            <a:endParaRPr lang="zh-CN" altLang="en-US" sz="1800" dirty="0">
              <a:latin typeface="Arial" panose="020B0604020202020204" pitchFamily="34" charset="0"/>
              <a:cs typeface="Arial" panose="020B0604020202020204" pitchFamily="34" charset="0"/>
            </a:endParaRPr>
          </a:p>
        </p:txBody>
      </p:sp>
      <p:sp>
        <p:nvSpPr>
          <p:cNvPr id="153" name="文本占位符 152"/>
          <p:cNvSpPr>
            <a:spLocks noGrp="1"/>
          </p:cNvSpPr>
          <p:nvPr>
            <p:ph type="body" sz="quarter" idx="4294967295"/>
          </p:nvPr>
        </p:nvSpPr>
        <p:spPr>
          <a:xfrm>
            <a:off x="9108599" y="1808820"/>
            <a:ext cx="2351997" cy="504887"/>
          </a:xfrm>
        </p:spPr>
        <p:txBody>
          <a:bodyPr/>
          <a:lstStyle/>
          <a:p>
            <a:pPr marL="0" indent="0" algn="ctr">
              <a:buNone/>
            </a:pPr>
            <a:r>
              <a:rPr lang="en-US" altLang="zh-CN" sz="1800" dirty="0" smtClean="0">
                <a:latin typeface="Arial" panose="020B0604020202020204" pitchFamily="34" charset="0"/>
                <a:cs typeface="Arial" panose="020B0604020202020204" pitchFamily="34" charset="0"/>
              </a:rPr>
              <a:t>V1R1</a:t>
            </a:r>
            <a:endParaRPr lang="zh-CN" altLang="en-US" sz="1800" dirty="0">
              <a:latin typeface="Arial" panose="020B0604020202020204" pitchFamily="34" charset="0"/>
              <a:cs typeface="Arial" panose="020B0604020202020204" pitchFamily="34" charset="0"/>
            </a:endParaRPr>
          </a:p>
        </p:txBody>
      </p:sp>
      <p:sp>
        <p:nvSpPr>
          <p:cNvPr id="3" name="Rectangle 2"/>
          <p:cNvSpPr/>
          <p:nvPr/>
        </p:nvSpPr>
        <p:spPr>
          <a:xfrm>
            <a:off x="1181059" y="3083172"/>
            <a:ext cx="2970725" cy="590931"/>
          </a:xfrm>
          <a:prstGeom prst="rect">
            <a:avLst/>
          </a:prstGeom>
        </p:spPr>
        <p:txBody>
          <a:bodyPr wrap="square">
            <a:spAutoFit/>
          </a:bodyPr>
          <a:lstStyle/>
          <a:p>
            <a:pPr algn="ctr">
              <a:lnSpc>
                <a:spcPct val="90000"/>
              </a:lnSpc>
            </a:pPr>
            <a:r>
              <a:rPr lang="nl-NL" altLang="zh-CN" sz="1800" dirty="0">
                <a:latin typeface="Arial" panose="020B0604020202020204" pitchFamily="34" charset="0"/>
                <a:cs typeface="Arial" panose="020B0604020202020204" pitchFamily="34" charset="0"/>
              </a:rPr>
              <a:t>Yang Lei </a:t>
            </a:r>
            <a:r>
              <a:rPr lang="nl-NL" altLang="zh-CN" sz="1800" dirty="0" smtClean="0">
                <a:latin typeface="Arial" panose="020B0604020202020204" pitchFamily="34" charset="0"/>
                <a:cs typeface="Arial" panose="020B0604020202020204" pitchFamily="34" charset="0"/>
              </a:rPr>
              <a:t>(</a:t>
            </a:r>
            <a:r>
              <a:rPr lang="en-US" altLang="zh-CN" sz="1800" dirty="0" smtClean="0">
                <a:latin typeface="Arial" panose="020B0604020202020204" pitchFamily="34" charset="0"/>
                <a:cs typeface="Arial" panose="020B0604020202020204" pitchFamily="34" charset="0"/>
              </a:rPr>
              <a:t>Employee </a:t>
            </a:r>
            <a:r>
              <a:rPr lang="nl-NL" altLang="zh-CN" sz="1800" dirty="0" smtClean="0">
                <a:latin typeface="Arial" panose="020B0604020202020204" pitchFamily="34" charset="0"/>
                <a:cs typeface="Arial" panose="020B0604020202020204" pitchFamily="34" charset="0"/>
              </a:rPr>
              <a:t>ID</a:t>
            </a:r>
            <a:r>
              <a:rPr lang="nl-NL" altLang="zh-CN" sz="1800" dirty="0">
                <a:latin typeface="Arial" panose="020B0604020202020204" pitchFamily="34" charset="0"/>
                <a:cs typeface="Arial" panose="020B0604020202020204" pitchFamily="34" charset="0"/>
              </a:rPr>
              <a:t>: wx491993)</a:t>
            </a:r>
          </a:p>
        </p:txBody>
      </p:sp>
      <p:sp>
        <p:nvSpPr>
          <p:cNvPr id="11" name="Rectangle 10"/>
          <p:cNvSpPr/>
          <p:nvPr/>
        </p:nvSpPr>
        <p:spPr>
          <a:xfrm>
            <a:off x="4151784" y="3171455"/>
            <a:ext cx="2052228" cy="369332"/>
          </a:xfrm>
          <a:prstGeom prst="rect">
            <a:avLst/>
          </a:prstGeom>
        </p:spPr>
        <p:txBody>
          <a:bodyPr wrap="square">
            <a:spAutoFit/>
          </a:bodyPr>
          <a:lstStyle/>
          <a:p>
            <a:pPr algn="ctr"/>
            <a:r>
              <a:rPr lang="en-US" altLang="zh-CN" sz="1800" dirty="0" smtClean="0">
                <a:latin typeface="Arial" panose="020B0604020202020204" pitchFamily="34" charset="0"/>
                <a:cs typeface="Arial" panose="020B0604020202020204" pitchFamily="34" charset="0"/>
              </a:rPr>
              <a:t>Feb 01, </a:t>
            </a:r>
            <a:r>
              <a:rPr lang="en-US" altLang="zh-CN" sz="1800" dirty="0">
                <a:latin typeface="Arial" panose="020B0604020202020204" pitchFamily="34" charset="0"/>
                <a:cs typeface="Arial" panose="020B0604020202020204" pitchFamily="34" charset="0"/>
              </a:rPr>
              <a:t>2019</a:t>
            </a:r>
          </a:p>
        </p:txBody>
      </p:sp>
    </p:spTree>
    <p:extLst>
      <p:ext uri="{BB962C8B-B14F-4D97-AF65-F5344CB8AC3E}">
        <p14:creationId xmlns:p14="http://schemas.microsoft.com/office/powerpoint/2010/main" val="400946187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latin typeface="Arial" panose="020B0604020202020204" pitchFamily="34" charset="0"/>
            </a:endParaRPr>
          </a:p>
        </p:txBody>
      </p:sp>
      <p:sp>
        <p:nvSpPr>
          <p:cNvPr id="2" name="标题 1"/>
          <p:cNvSpPr>
            <a:spLocks noGrp="1"/>
          </p:cNvSpPr>
          <p:nvPr>
            <p:ph type="ctrTitle" sz="quarter"/>
          </p:nvPr>
        </p:nvSpPr>
        <p:spPr>
          <a:xfrm>
            <a:off x="1031295" y="5045672"/>
            <a:ext cx="10441567" cy="831600"/>
          </a:xfrm>
        </p:spPr>
        <p:txBody>
          <a:bodyPr/>
          <a:lstStyle/>
          <a:p>
            <a:r>
              <a:rPr lang="en-US" dirty="0">
                <a:latin typeface="Arial" panose="020B0604020202020204" pitchFamily="34" charset="0"/>
              </a:rPr>
              <a:t>Storage Virtualization Basics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latin typeface="Arial" panose="020B0604020202020204" pitchFamily="34" charset="0"/>
              </a:rPr>
              <a:t>Data </a:t>
            </a:r>
            <a:r>
              <a:rPr lang="en-US" dirty="0" smtClean="0">
                <a:latin typeface="Arial" panose="020B0604020202020204" pitchFamily="34" charset="0"/>
              </a:rPr>
              <a:t>has become an enterprise’s </a:t>
            </a:r>
            <a:r>
              <a:rPr lang="en-US" dirty="0">
                <a:latin typeface="Arial" panose="020B0604020202020204" pitchFamily="34" charset="0"/>
              </a:rPr>
              <a:t>most important </a:t>
            </a:r>
            <a:r>
              <a:rPr lang="en-US" dirty="0" smtClean="0">
                <a:latin typeface="Arial" panose="020B0604020202020204" pitchFamily="34" charset="0"/>
              </a:rPr>
              <a:t>asset. </a:t>
            </a:r>
            <a:r>
              <a:rPr lang="en-US" dirty="0">
                <a:latin typeface="Arial" panose="020B0604020202020204" pitchFamily="34" charset="0"/>
              </a:rPr>
              <a:t>How is data stored on the cloud? How is </a:t>
            </a:r>
            <a:r>
              <a:rPr lang="en-US" dirty="0" smtClean="0">
                <a:latin typeface="Arial" panose="020B0604020202020204" pitchFamily="34" charset="0"/>
              </a:rPr>
              <a:t>this </a:t>
            </a:r>
            <a:r>
              <a:rPr lang="en-US" dirty="0">
                <a:latin typeface="Arial" panose="020B0604020202020204" pitchFamily="34" charset="0"/>
              </a:rPr>
              <a:t>different from the way it is </a:t>
            </a:r>
            <a:r>
              <a:rPr lang="en-US" dirty="0" smtClean="0">
                <a:latin typeface="Arial" panose="020B0604020202020204" pitchFamily="34" charset="0"/>
              </a:rPr>
              <a:t>stored </a:t>
            </a:r>
            <a:r>
              <a:rPr lang="en-US" dirty="0">
                <a:latin typeface="Arial" panose="020B0604020202020204" pitchFamily="34" charset="0"/>
              </a:rPr>
              <a:t>with traditional IT? This chapter will </a:t>
            </a:r>
            <a:r>
              <a:rPr lang="en-US" dirty="0" smtClean="0">
                <a:latin typeface="Arial" panose="020B0604020202020204" pitchFamily="34" charset="0"/>
              </a:rPr>
              <a:t>answer these questions.</a:t>
            </a:r>
            <a:endParaRPr 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dirty="0">
                <a:latin typeface="Arial" panose="020B0604020202020204" pitchFamily="34" charset="0"/>
              </a:rPr>
              <a:t>Upon completion of this course, you </a:t>
            </a:r>
            <a:r>
              <a:rPr lang="en-US" dirty="0" smtClean="0">
                <a:latin typeface="Arial" panose="020B0604020202020204" pitchFamily="34" charset="0"/>
              </a:rPr>
              <a:t>will:</a:t>
            </a:r>
            <a:endParaRPr lang="en-US" dirty="0">
              <a:latin typeface="Arial" panose="020B0604020202020204" pitchFamily="34" charset="0"/>
            </a:endParaRPr>
          </a:p>
          <a:p>
            <a:pPr lvl="1"/>
            <a:r>
              <a:rPr lang="en-US" dirty="0">
                <a:latin typeface="Arial" panose="020B0604020202020204" pitchFamily="34" charset="0"/>
              </a:rPr>
              <a:t>Understand Huawei’s FusionSphere virtualization solution.</a:t>
            </a:r>
          </a:p>
          <a:p>
            <a:pPr lvl="1"/>
            <a:r>
              <a:rPr lang="en-US" dirty="0">
                <a:latin typeface="Arial" panose="020B0604020202020204" pitchFamily="34" charset="0"/>
              </a:rPr>
              <a:t>Understand the storage architecture used for virtualized environments.</a:t>
            </a:r>
          </a:p>
          <a:p>
            <a:pPr lvl="1"/>
            <a:r>
              <a:rPr lang="en-US" dirty="0">
                <a:latin typeface="Arial" panose="020B0604020202020204" pitchFamily="34" charset="0"/>
              </a:rPr>
              <a:t>Understand different types of disks.</a:t>
            </a:r>
          </a:p>
          <a:p>
            <a:pPr lvl="1"/>
            <a:r>
              <a:rPr lang="en-US" dirty="0" smtClean="0">
                <a:latin typeface="Arial" panose="020B0604020202020204" pitchFamily="34" charset="0"/>
              </a:rPr>
              <a:t>Understand the differences between </a:t>
            </a:r>
            <a:r>
              <a:rPr lang="en-US" dirty="0">
                <a:latin typeface="Arial" panose="020B0604020202020204" pitchFamily="34" charset="0"/>
              </a:rPr>
              <a:t>centralized and distributed storage.</a:t>
            </a:r>
          </a:p>
          <a:p>
            <a:pPr lvl="1"/>
            <a:r>
              <a:rPr lang="en-US" dirty="0" smtClean="0">
                <a:latin typeface="Arial" panose="020B0604020202020204" pitchFamily="34" charset="0"/>
              </a:rPr>
              <a:t>Understand the differences between </a:t>
            </a:r>
            <a:r>
              <a:rPr lang="en-US" dirty="0">
                <a:latin typeface="Arial" panose="020B0604020202020204" pitchFamily="34" charset="0"/>
              </a:rPr>
              <a:t>virtualized and non-virtualized storage.</a:t>
            </a:r>
          </a:p>
          <a:p>
            <a:pPr lvl="1"/>
            <a:r>
              <a:rPr lang="en-US" dirty="0">
                <a:latin typeface="Arial" panose="020B0604020202020204" pitchFamily="34" charset="0"/>
              </a:rPr>
              <a:t>Understand different types of VM disks.</a:t>
            </a:r>
          </a:p>
          <a:p>
            <a:pPr lvl="1"/>
            <a:r>
              <a:rPr lang="en-US" dirty="0">
                <a:latin typeface="Arial" panose="020B0604020202020204" pitchFamily="34" charset="0"/>
              </a:rPr>
              <a:t>Understand the storage features of Huawei’s virtualization product.</a:t>
            </a:r>
          </a:p>
          <a:p>
            <a:endParaRPr lang="zh-CN" alt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dirty="0">
                <a:latin typeface="Arial" panose="020B0604020202020204" pitchFamily="34" charset="0"/>
              </a:rPr>
              <a:t>Storage Architecture for Virtualization</a:t>
            </a:r>
          </a:p>
          <a:p>
            <a:r>
              <a:rPr lang="en-US" dirty="0">
                <a:solidFill>
                  <a:schemeClr val="bg1">
                    <a:lumMod val="50000"/>
                  </a:schemeClr>
                </a:solidFill>
                <a:latin typeface="Arial" panose="020B0604020202020204" pitchFamily="34" charset="0"/>
              </a:rPr>
              <a:t>Physical Disk Types and Related Techniques</a:t>
            </a:r>
          </a:p>
          <a:p>
            <a:r>
              <a:rPr lang="en-US" dirty="0">
                <a:solidFill>
                  <a:schemeClr val="bg1">
                    <a:lumMod val="50000"/>
                  </a:schemeClr>
                </a:solidFill>
                <a:latin typeface="Arial" panose="020B0604020202020204" pitchFamily="34" charset="0"/>
              </a:rPr>
              <a:t>Centralized Storage vs. Distributed Storage</a:t>
            </a:r>
          </a:p>
          <a:p>
            <a:r>
              <a:rPr lang="en-US" dirty="0">
                <a:solidFill>
                  <a:schemeClr val="bg1">
                    <a:lumMod val="50000"/>
                  </a:schemeClr>
                </a:solidFill>
                <a:latin typeface="Arial" panose="020B0604020202020204" pitchFamily="34" charset="0"/>
              </a:rPr>
              <a:t>Virtualized Storage vs. Non-Virtualized Storage</a:t>
            </a:r>
          </a:p>
          <a:p>
            <a:r>
              <a:rPr lang="en-US" dirty="0">
                <a:solidFill>
                  <a:schemeClr val="bg1">
                    <a:lumMod val="50000"/>
                  </a:schemeClr>
                </a:solidFill>
                <a:latin typeface="Arial" panose="020B0604020202020204" pitchFamily="34" charset="0"/>
              </a:rPr>
              <a:t>Introduction to VM Disks</a:t>
            </a:r>
          </a:p>
          <a:p>
            <a:r>
              <a:rPr lang="en-US" dirty="0">
                <a:solidFill>
                  <a:schemeClr val="bg1">
                    <a:lumMod val="50000"/>
                  </a:schemeClr>
                </a:solidFill>
                <a:latin typeface="Arial" panose="020B0604020202020204" pitchFamily="34" charset="0"/>
              </a:rPr>
              <a:t>Storage Features of</a:t>
            </a:r>
            <a:r>
              <a:rPr lang="en-US" dirty="0">
                <a:latin typeface="Arial" panose="020B0604020202020204" pitchFamily="34" charset="0"/>
              </a:rPr>
              <a:t> </a:t>
            </a:r>
            <a:r>
              <a:rPr lang="en-US" dirty="0">
                <a:solidFill>
                  <a:schemeClr val="bg1">
                    <a:lumMod val="50000"/>
                  </a:schemeClr>
                </a:solidFill>
                <a:latin typeface="Arial" panose="020B0604020202020204" pitchFamily="34" charset="0"/>
              </a:rPr>
              <a:t>Huawei’s Virtualization Product</a:t>
            </a:r>
          </a:p>
        </p:txBody>
      </p:sp>
    </p:spTree>
    <p:extLst>
      <p:ext uri="{BB962C8B-B14F-4D97-AF65-F5344CB8AC3E}">
        <p14:creationId xmlns:p14="http://schemas.microsoft.com/office/powerpoint/2010/main" val="40377289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94800" y="159908"/>
            <a:ext cx="9831600" cy="640800"/>
          </a:xfrm>
        </p:spPr>
        <p:txBody>
          <a:bodyPr/>
          <a:lstStyle/>
          <a:p>
            <a:r>
              <a:rPr lang="en-US" dirty="0">
                <a:latin typeface="Arial" panose="020B0604020202020204" pitchFamily="34" charset="0"/>
              </a:rPr>
              <a:t>Where Do the Storage Resources Used by VMs Come From?</a:t>
            </a:r>
          </a:p>
        </p:txBody>
      </p:sp>
      <p:sp>
        <p:nvSpPr>
          <p:cNvPr id="4" name="椭圆形标注 3"/>
          <p:cNvSpPr/>
          <p:nvPr/>
        </p:nvSpPr>
        <p:spPr bwMode="auto">
          <a:xfrm>
            <a:off x="5627948" y="1521350"/>
            <a:ext cx="2741183" cy="1131674"/>
          </a:xfrm>
          <a:prstGeom prst="wedgeEllipseCallout">
            <a:avLst>
              <a:gd name="adj1" fmla="val 50425"/>
              <a:gd name="adj2" fmla="val 39550"/>
            </a:avLst>
          </a:prstGeom>
          <a:noFill/>
          <a:ln w="9525" cap="flat" cmpd="sng" algn="ctr">
            <a:solidFill>
              <a:srgbClr val="60C7C7"/>
            </a:solidFill>
            <a:prstDash val="solid"/>
            <a:round/>
            <a:headEnd type="none" w="med" len="med"/>
            <a:tailEnd type="none" w="med" len="med"/>
          </a:ln>
          <a:effectLst/>
        </p:spPr>
        <p:txBody>
          <a:bodyPr vert="horz" wrap="square" lIns="36000" tIns="45720" rIns="3600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en-US" sz="1600" dirty="0">
                <a:latin typeface="Arial" panose="020B0604020202020204" pitchFamily="34" charset="0"/>
                <a:ea typeface="+mn-ea"/>
              </a:rPr>
              <a:t>How do VMs access the underlying storage resources?</a:t>
            </a:r>
          </a:p>
        </p:txBody>
      </p:sp>
      <p:grpSp>
        <p:nvGrpSpPr>
          <p:cNvPr id="5" name="组合 4"/>
          <p:cNvGrpSpPr/>
          <p:nvPr/>
        </p:nvGrpSpPr>
        <p:grpSpPr>
          <a:xfrm>
            <a:off x="8112224" y="2024844"/>
            <a:ext cx="1872208" cy="4217303"/>
            <a:chOff x="5802054" y="1117793"/>
            <a:chExt cx="2035933" cy="5019482"/>
          </a:xfrm>
        </p:grpSpPr>
        <p:sp>
          <p:nvSpPr>
            <p:cNvPr id="7" name="ïŝ1î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7D3833A-73AB-40E7-B93B-880D6A1C94EF}"/>
                </a:ext>
              </a:extLst>
            </p:cNvPr>
            <p:cNvSpPr/>
            <p:nvPr/>
          </p:nvSpPr>
          <p:spPr bwMode="auto">
            <a:xfrm>
              <a:off x="6934943" y="3804242"/>
              <a:ext cx="204082" cy="270178"/>
            </a:xfrm>
            <a:custGeom>
              <a:avLst/>
              <a:gdLst>
                <a:gd name="T0" fmla="*/ 47 w 99"/>
                <a:gd name="T1" fmla="*/ 0 h 131"/>
                <a:gd name="T2" fmla="*/ 0 w 99"/>
                <a:gd name="T3" fmla="*/ 32 h 131"/>
                <a:gd name="T4" fmla="*/ 65 w 99"/>
                <a:gd name="T5" fmla="*/ 125 h 131"/>
                <a:gd name="T6" fmla="*/ 97 w 99"/>
                <a:gd name="T7" fmla="*/ 78 h 131"/>
                <a:gd name="T8" fmla="*/ 75 w 99"/>
                <a:gd name="T9" fmla="*/ 92 h 131"/>
                <a:gd name="T10" fmla="*/ 77 w 99"/>
                <a:gd name="T11" fmla="*/ 64 h 131"/>
                <a:gd name="T12" fmla="*/ 61 w 99"/>
                <a:gd name="T13" fmla="*/ 72 h 131"/>
                <a:gd name="T14" fmla="*/ 47 w 99"/>
                <a:gd name="T15" fmla="*/ 0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131">
                  <a:moveTo>
                    <a:pt x="47" y="0"/>
                  </a:moveTo>
                  <a:cubicBezTo>
                    <a:pt x="47" y="0"/>
                    <a:pt x="2" y="10"/>
                    <a:pt x="0" y="32"/>
                  </a:cubicBezTo>
                  <a:cubicBezTo>
                    <a:pt x="0" y="54"/>
                    <a:pt x="39" y="113"/>
                    <a:pt x="65" y="125"/>
                  </a:cubicBezTo>
                  <a:cubicBezTo>
                    <a:pt x="79" y="131"/>
                    <a:pt x="99" y="84"/>
                    <a:pt x="97" y="78"/>
                  </a:cubicBezTo>
                  <a:cubicBezTo>
                    <a:pt x="95" y="72"/>
                    <a:pt x="75" y="92"/>
                    <a:pt x="75" y="92"/>
                  </a:cubicBezTo>
                  <a:cubicBezTo>
                    <a:pt x="77" y="64"/>
                    <a:pt x="77" y="64"/>
                    <a:pt x="77" y="64"/>
                  </a:cubicBezTo>
                  <a:cubicBezTo>
                    <a:pt x="61" y="72"/>
                    <a:pt x="61" y="72"/>
                    <a:pt x="61" y="72"/>
                  </a:cubicBezTo>
                  <a:cubicBezTo>
                    <a:pt x="61" y="72"/>
                    <a:pt x="73" y="14"/>
                    <a:pt x="47" y="0"/>
                  </a:cubicBezTo>
                  <a:close/>
                </a:path>
              </a:pathLst>
            </a:custGeom>
            <a:solidFill>
              <a:srgbClr val="E5AE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8" name="íšľí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03733DD-AAD6-47EE-9E37-A74D8D616BC7}"/>
                </a:ext>
              </a:extLst>
            </p:cNvPr>
            <p:cNvSpPr/>
            <p:nvPr/>
          </p:nvSpPr>
          <p:spPr bwMode="auto">
            <a:xfrm>
              <a:off x="6417780" y="1693846"/>
              <a:ext cx="229593" cy="419760"/>
            </a:xfrm>
            <a:custGeom>
              <a:avLst/>
              <a:gdLst>
                <a:gd name="T0" fmla="*/ 27 w 111"/>
                <a:gd name="T1" fmla="*/ 188 h 203"/>
                <a:gd name="T2" fmla="*/ 82 w 111"/>
                <a:gd name="T3" fmla="*/ 174 h 203"/>
                <a:gd name="T4" fmla="*/ 103 w 111"/>
                <a:gd name="T5" fmla="*/ 98 h 203"/>
                <a:gd name="T6" fmla="*/ 69 w 111"/>
                <a:gd name="T7" fmla="*/ 140 h 203"/>
                <a:gd name="T8" fmla="*/ 72 w 111"/>
                <a:gd name="T9" fmla="*/ 100 h 203"/>
                <a:gd name="T10" fmla="*/ 72 w 111"/>
                <a:gd name="T11" fmla="*/ 24 h 203"/>
                <a:gd name="T12" fmla="*/ 50 w 111"/>
                <a:gd name="T13" fmla="*/ 84 h 203"/>
                <a:gd name="T14" fmla="*/ 11 w 111"/>
                <a:gd name="T15" fmla="*/ 151 h 203"/>
                <a:gd name="T16" fmla="*/ 27 w 111"/>
                <a:gd name="T17" fmla="*/ 18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 h="203">
                  <a:moveTo>
                    <a:pt x="27" y="188"/>
                  </a:moveTo>
                  <a:cubicBezTo>
                    <a:pt x="27" y="188"/>
                    <a:pt x="74" y="203"/>
                    <a:pt x="82" y="174"/>
                  </a:cubicBezTo>
                  <a:cubicBezTo>
                    <a:pt x="90" y="145"/>
                    <a:pt x="111" y="103"/>
                    <a:pt x="103" y="98"/>
                  </a:cubicBezTo>
                  <a:cubicBezTo>
                    <a:pt x="95" y="92"/>
                    <a:pt x="69" y="140"/>
                    <a:pt x="69" y="140"/>
                  </a:cubicBezTo>
                  <a:cubicBezTo>
                    <a:pt x="72" y="100"/>
                    <a:pt x="72" y="100"/>
                    <a:pt x="72" y="100"/>
                  </a:cubicBezTo>
                  <a:cubicBezTo>
                    <a:pt x="72" y="100"/>
                    <a:pt x="88" y="47"/>
                    <a:pt x="72" y="24"/>
                  </a:cubicBezTo>
                  <a:cubicBezTo>
                    <a:pt x="56" y="0"/>
                    <a:pt x="61" y="61"/>
                    <a:pt x="50" y="84"/>
                  </a:cubicBezTo>
                  <a:cubicBezTo>
                    <a:pt x="40" y="108"/>
                    <a:pt x="21" y="143"/>
                    <a:pt x="11" y="151"/>
                  </a:cubicBezTo>
                  <a:cubicBezTo>
                    <a:pt x="0" y="158"/>
                    <a:pt x="27" y="188"/>
                    <a:pt x="27" y="188"/>
                  </a:cubicBezTo>
                  <a:close/>
                </a:path>
              </a:pathLst>
            </a:custGeom>
            <a:solidFill>
              <a:srgbClr val="E5AE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9" name="îsľí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509F5EA-B7AF-4737-9E9B-B7F0B82E3229}"/>
                </a:ext>
              </a:extLst>
            </p:cNvPr>
            <p:cNvSpPr/>
            <p:nvPr/>
          </p:nvSpPr>
          <p:spPr bwMode="auto">
            <a:xfrm>
              <a:off x="6555767" y="1865460"/>
              <a:ext cx="240029" cy="427878"/>
            </a:xfrm>
            <a:custGeom>
              <a:avLst/>
              <a:gdLst>
                <a:gd name="T0" fmla="*/ 58 w 116"/>
                <a:gd name="T1" fmla="*/ 0 h 207"/>
                <a:gd name="T2" fmla="*/ 3 w 116"/>
                <a:gd name="T3" fmla="*/ 67 h 207"/>
                <a:gd name="T4" fmla="*/ 29 w 116"/>
                <a:gd name="T5" fmla="*/ 207 h 207"/>
                <a:gd name="T6" fmla="*/ 58 w 116"/>
                <a:gd name="T7" fmla="*/ 0 h 207"/>
              </a:gdLst>
              <a:ahLst/>
              <a:cxnLst>
                <a:cxn ang="0">
                  <a:pos x="T0" y="T1"/>
                </a:cxn>
                <a:cxn ang="0">
                  <a:pos x="T2" y="T3"/>
                </a:cxn>
                <a:cxn ang="0">
                  <a:pos x="T4" y="T5"/>
                </a:cxn>
                <a:cxn ang="0">
                  <a:pos x="T6" y="T7"/>
                </a:cxn>
              </a:cxnLst>
              <a:rect l="0" t="0" r="r" b="b"/>
              <a:pathLst>
                <a:path w="116" h="207">
                  <a:moveTo>
                    <a:pt x="58" y="0"/>
                  </a:moveTo>
                  <a:cubicBezTo>
                    <a:pt x="58" y="0"/>
                    <a:pt x="5" y="29"/>
                    <a:pt x="3" y="67"/>
                  </a:cubicBezTo>
                  <a:cubicBezTo>
                    <a:pt x="0" y="105"/>
                    <a:pt x="29" y="207"/>
                    <a:pt x="29" y="207"/>
                  </a:cubicBezTo>
                  <a:cubicBezTo>
                    <a:pt x="29" y="207"/>
                    <a:pt x="116" y="54"/>
                    <a:pt x="58" y="0"/>
                  </a:cubicBez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0" name="íṣḷ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DC902E2-C100-47BB-A25C-E8D62FA9D0A6}"/>
                </a:ext>
              </a:extLst>
            </p:cNvPr>
            <p:cNvSpPr/>
            <p:nvPr/>
          </p:nvSpPr>
          <p:spPr bwMode="auto">
            <a:xfrm>
              <a:off x="6498949" y="1693846"/>
              <a:ext cx="967072" cy="1064475"/>
            </a:xfrm>
            <a:custGeom>
              <a:avLst/>
              <a:gdLst>
                <a:gd name="T0" fmla="*/ 336 w 468"/>
                <a:gd name="T1" fmla="*/ 394 h 515"/>
                <a:gd name="T2" fmla="*/ 102 w 468"/>
                <a:gd name="T3" fmla="*/ 490 h 515"/>
                <a:gd name="T4" fmla="*/ 25 w 468"/>
                <a:gd name="T5" fmla="*/ 336 h 515"/>
                <a:gd name="T6" fmla="*/ 56 w 468"/>
                <a:gd name="T7" fmla="*/ 169 h 515"/>
                <a:gd name="T8" fmla="*/ 129 w 468"/>
                <a:gd name="T9" fmla="*/ 62 h 515"/>
                <a:gd name="T10" fmla="*/ 362 w 468"/>
                <a:gd name="T11" fmla="*/ 101 h 515"/>
                <a:gd name="T12" fmla="*/ 336 w 468"/>
                <a:gd name="T13" fmla="*/ 394 h 515"/>
              </a:gdLst>
              <a:ahLst/>
              <a:cxnLst>
                <a:cxn ang="0">
                  <a:pos x="T0" y="T1"/>
                </a:cxn>
                <a:cxn ang="0">
                  <a:pos x="T2" y="T3"/>
                </a:cxn>
                <a:cxn ang="0">
                  <a:pos x="T4" y="T5"/>
                </a:cxn>
                <a:cxn ang="0">
                  <a:pos x="T6" y="T7"/>
                </a:cxn>
                <a:cxn ang="0">
                  <a:pos x="T8" y="T9"/>
                </a:cxn>
                <a:cxn ang="0">
                  <a:pos x="T10" y="T11"/>
                </a:cxn>
                <a:cxn ang="0">
                  <a:pos x="T12" y="T13"/>
                </a:cxn>
              </a:cxnLst>
              <a:rect l="0" t="0" r="r" b="b"/>
              <a:pathLst>
                <a:path w="468" h="515">
                  <a:moveTo>
                    <a:pt x="336" y="394"/>
                  </a:moveTo>
                  <a:cubicBezTo>
                    <a:pt x="272" y="503"/>
                    <a:pt x="155" y="515"/>
                    <a:pt x="102" y="490"/>
                  </a:cubicBezTo>
                  <a:cubicBezTo>
                    <a:pt x="49" y="466"/>
                    <a:pt x="0" y="390"/>
                    <a:pt x="25" y="336"/>
                  </a:cubicBezTo>
                  <a:cubicBezTo>
                    <a:pt x="49" y="283"/>
                    <a:pt x="52" y="241"/>
                    <a:pt x="56" y="169"/>
                  </a:cubicBezTo>
                  <a:cubicBezTo>
                    <a:pt x="60" y="98"/>
                    <a:pt x="129" y="62"/>
                    <a:pt x="129" y="62"/>
                  </a:cubicBezTo>
                  <a:cubicBezTo>
                    <a:pt x="129" y="62"/>
                    <a:pt x="256" y="0"/>
                    <a:pt x="362" y="101"/>
                  </a:cubicBezTo>
                  <a:cubicBezTo>
                    <a:pt x="468" y="203"/>
                    <a:pt x="336" y="394"/>
                    <a:pt x="336" y="394"/>
                  </a:cubicBezTo>
                  <a:close/>
                </a:path>
              </a:pathLst>
            </a:custGeom>
            <a:solidFill>
              <a:srgbClr val="E5AE8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1" name="î$1î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CD0900F-05A5-4F09-B8CC-4F00B5DE9D93}"/>
                </a:ext>
              </a:extLst>
            </p:cNvPr>
            <p:cNvSpPr/>
            <p:nvPr/>
          </p:nvSpPr>
          <p:spPr bwMode="auto">
            <a:xfrm>
              <a:off x="7075250" y="2289859"/>
              <a:ext cx="282932" cy="367580"/>
            </a:xfrm>
            <a:custGeom>
              <a:avLst/>
              <a:gdLst>
                <a:gd name="T0" fmla="*/ 60 w 137"/>
                <a:gd name="T1" fmla="*/ 64 h 178"/>
                <a:gd name="T2" fmla="*/ 133 w 137"/>
                <a:gd name="T3" fmla="*/ 58 h 178"/>
                <a:gd name="T4" fmla="*/ 60 w 137"/>
                <a:gd name="T5" fmla="*/ 64 h 178"/>
              </a:gdLst>
              <a:ahLst/>
              <a:cxnLst>
                <a:cxn ang="0">
                  <a:pos x="T0" y="T1"/>
                </a:cxn>
                <a:cxn ang="0">
                  <a:pos x="T2" y="T3"/>
                </a:cxn>
                <a:cxn ang="0">
                  <a:pos x="T4" y="T5"/>
                </a:cxn>
              </a:cxnLst>
              <a:rect l="0" t="0" r="r" b="b"/>
              <a:pathLst>
                <a:path w="137" h="178">
                  <a:moveTo>
                    <a:pt x="60" y="64"/>
                  </a:moveTo>
                  <a:cubicBezTo>
                    <a:pt x="60" y="64"/>
                    <a:pt x="130" y="0"/>
                    <a:pt x="133" y="58"/>
                  </a:cubicBezTo>
                  <a:cubicBezTo>
                    <a:pt x="137" y="117"/>
                    <a:pt x="0" y="178"/>
                    <a:pt x="60" y="64"/>
                  </a:cubicBezTo>
                  <a:close/>
                </a:path>
              </a:pathLst>
            </a:custGeom>
            <a:solidFill>
              <a:srgbClr val="DA896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2" name="iṩḻ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95F16A8-E4D7-481B-AB63-B36122F6C0F6}"/>
                </a:ext>
              </a:extLst>
            </p:cNvPr>
            <p:cNvSpPr/>
            <p:nvPr/>
          </p:nvSpPr>
          <p:spPr bwMode="auto">
            <a:xfrm>
              <a:off x="6594032" y="2092734"/>
              <a:ext cx="731682" cy="663268"/>
            </a:xfrm>
            <a:custGeom>
              <a:avLst/>
              <a:gdLst>
                <a:gd name="T0" fmla="*/ 275 w 354"/>
                <a:gd name="T1" fmla="*/ 0 h 321"/>
                <a:gd name="T2" fmla="*/ 271 w 354"/>
                <a:gd name="T3" fmla="*/ 140 h 321"/>
                <a:gd name="T4" fmla="*/ 101 w 354"/>
                <a:gd name="T5" fmla="*/ 295 h 321"/>
                <a:gd name="T6" fmla="*/ 0 w 354"/>
                <a:gd name="T7" fmla="*/ 250 h 321"/>
                <a:gd name="T8" fmla="*/ 91 w 354"/>
                <a:gd name="T9" fmla="*/ 312 h 321"/>
                <a:gd name="T10" fmla="*/ 289 w 354"/>
                <a:gd name="T11" fmla="*/ 214 h 321"/>
                <a:gd name="T12" fmla="*/ 354 w 354"/>
                <a:gd name="T13" fmla="*/ 21 h 321"/>
                <a:gd name="T14" fmla="*/ 275 w 354"/>
                <a:gd name="T15" fmla="*/ 0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4" h="321">
                  <a:moveTo>
                    <a:pt x="275" y="0"/>
                  </a:moveTo>
                  <a:cubicBezTo>
                    <a:pt x="275" y="0"/>
                    <a:pt x="279" y="97"/>
                    <a:pt x="271" y="140"/>
                  </a:cubicBezTo>
                  <a:cubicBezTo>
                    <a:pt x="263" y="184"/>
                    <a:pt x="230" y="274"/>
                    <a:pt x="101" y="295"/>
                  </a:cubicBezTo>
                  <a:cubicBezTo>
                    <a:pt x="55" y="286"/>
                    <a:pt x="0" y="250"/>
                    <a:pt x="0" y="250"/>
                  </a:cubicBezTo>
                  <a:cubicBezTo>
                    <a:pt x="0" y="250"/>
                    <a:pt x="26" y="303"/>
                    <a:pt x="91" y="312"/>
                  </a:cubicBezTo>
                  <a:cubicBezTo>
                    <a:pt x="157" y="321"/>
                    <a:pt x="243" y="289"/>
                    <a:pt x="289" y="214"/>
                  </a:cubicBezTo>
                  <a:cubicBezTo>
                    <a:pt x="324" y="147"/>
                    <a:pt x="354" y="21"/>
                    <a:pt x="354" y="21"/>
                  </a:cubicBezTo>
                  <a:lnTo>
                    <a:pt x="275" y="0"/>
                  </a:lnTo>
                  <a:close/>
                </a:path>
              </a:pathLst>
            </a:custGeom>
            <a:solidFill>
              <a:srgbClr val="DA896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3" name="iŝľi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4054B8C7-CF9A-4FB2-BDC8-F0ADBD8D99E1}"/>
                </a:ext>
              </a:extLst>
            </p:cNvPr>
            <p:cNvSpPr/>
            <p:nvPr/>
          </p:nvSpPr>
          <p:spPr bwMode="auto">
            <a:xfrm>
              <a:off x="6467641" y="1431785"/>
              <a:ext cx="921850" cy="1059837"/>
            </a:xfrm>
            <a:custGeom>
              <a:avLst/>
              <a:gdLst>
                <a:gd name="T0" fmla="*/ 251 w 446"/>
                <a:gd name="T1" fmla="*/ 258 h 513"/>
                <a:gd name="T2" fmla="*/ 116 w 446"/>
                <a:gd name="T3" fmla="*/ 285 h 513"/>
                <a:gd name="T4" fmla="*/ 80 w 446"/>
                <a:gd name="T5" fmla="*/ 67 h 513"/>
                <a:gd name="T6" fmla="*/ 442 w 446"/>
                <a:gd name="T7" fmla="*/ 240 h 513"/>
                <a:gd name="T8" fmla="*/ 409 w 446"/>
                <a:gd name="T9" fmla="*/ 263 h 513"/>
                <a:gd name="T10" fmla="*/ 445 w 446"/>
                <a:gd name="T11" fmla="*/ 327 h 513"/>
                <a:gd name="T12" fmla="*/ 392 w 446"/>
                <a:gd name="T13" fmla="*/ 457 h 513"/>
                <a:gd name="T14" fmla="*/ 333 w 446"/>
                <a:gd name="T15" fmla="*/ 513 h 513"/>
                <a:gd name="T16" fmla="*/ 316 w 446"/>
                <a:gd name="T17" fmla="*/ 501 h 513"/>
                <a:gd name="T18" fmla="*/ 374 w 446"/>
                <a:gd name="T19" fmla="*/ 372 h 513"/>
                <a:gd name="T20" fmla="*/ 251 w 446"/>
                <a:gd name="T21" fmla="*/ 258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6" h="513">
                  <a:moveTo>
                    <a:pt x="251" y="258"/>
                  </a:moveTo>
                  <a:cubicBezTo>
                    <a:pt x="251" y="258"/>
                    <a:pt x="157" y="327"/>
                    <a:pt x="116" y="285"/>
                  </a:cubicBezTo>
                  <a:cubicBezTo>
                    <a:pt x="76" y="244"/>
                    <a:pt x="0" y="134"/>
                    <a:pt x="80" y="67"/>
                  </a:cubicBezTo>
                  <a:cubicBezTo>
                    <a:pt x="160" y="0"/>
                    <a:pt x="383" y="95"/>
                    <a:pt x="442" y="240"/>
                  </a:cubicBezTo>
                  <a:cubicBezTo>
                    <a:pt x="428" y="262"/>
                    <a:pt x="409" y="263"/>
                    <a:pt x="409" y="263"/>
                  </a:cubicBezTo>
                  <a:cubicBezTo>
                    <a:pt x="409" y="263"/>
                    <a:pt x="446" y="294"/>
                    <a:pt x="445" y="327"/>
                  </a:cubicBezTo>
                  <a:cubicBezTo>
                    <a:pt x="440" y="355"/>
                    <a:pt x="392" y="457"/>
                    <a:pt x="392" y="457"/>
                  </a:cubicBezTo>
                  <a:cubicBezTo>
                    <a:pt x="392" y="457"/>
                    <a:pt x="361" y="470"/>
                    <a:pt x="333" y="513"/>
                  </a:cubicBezTo>
                  <a:cubicBezTo>
                    <a:pt x="316" y="501"/>
                    <a:pt x="316" y="501"/>
                    <a:pt x="316" y="501"/>
                  </a:cubicBezTo>
                  <a:cubicBezTo>
                    <a:pt x="374" y="372"/>
                    <a:pt x="374" y="372"/>
                    <a:pt x="374" y="372"/>
                  </a:cubicBezTo>
                  <a:lnTo>
                    <a:pt x="251" y="258"/>
                  </a:ln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4" name="ïšļi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D3C499A-C7CD-4D8C-94D5-F4AAB4389BAC}"/>
                </a:ext>
              </a:extLst>
            </p:cNvPr>
            <p:cNvSpPr/>
            <p:nvPr/>
          </p:nvSpPr>
          <p:spPr bwMode="auto">
            <a:xfrm>
              <a:off x="6612585" y="1543103"/>
              <a:ext cx="674863" cy="345548"/>
            </a:xfrm>
            <a:custGeom>
              <a:avLst/>
              <a:gdLst>
                <a:gd name="T0" fmla="*/ 89 w 327"/>
                <a:gd name="T1" fmla="*/ 9 h 167"/>
                <a:gd name="T2" fmla="*/ 0 w 327"/>
                <a:gd name="T3" fmla="*/ 59 h 167"/>
                <a:gd name="T4" fmla="*/ 290 w 327"/>
                <a:gd name="T5" fmla="*/ 152 h 167"/>
                <a:gd name="T6" fmla="*/ 182 w 327"/>
                <a:gd name="T7" fmla="*/ 61 h 167"/>
                <a:gd name="T8" fmla="*/ 327 w 327"/>
                <a:gd name="T9" fmla="*/ 159 h 167"/>
                <a:gd name="T10" fmla="*/ 89 w 327"/>
                <a:gd name="T11" fmla="*/ 9 h 167"/>
              </a:gdLst>
              <a:ahLst/>
              <a:cxnLst>
                <a:cxn ang="0">
                  <a:pos x="T0" y="T1"/>
                </a:cxn>
                <a:cxn ang="0">
                  <a:pos x="T2" y="T3"/>
                </a:cxn>
                <a:cxn ang="0">
                  <a:pos x="T4" y="T5"/>
                </a:cxn>
                <a:cxn ang="0">
                  <a:pos x="T6" y="T7"/>
                </a:cxn>
                <a:cxn ang="0">
                  <a:pos x="T8" y="T9"/>
                </a:cxn>
                <a:cxn ang="0">
                  <a:pos x="T10" y="T11"/>
                </a:cxn>
              </a:cxnLst>
              <a:rect l="0" t="0" r="r" b="b"/>
              <a:pathLst>
                <a:path w="327" h="167">
                  <a:moveTo>
                    <a:pt x="89" y="9"/>
                  </a:moveTo>
                  <a:cubicBezTo>
                    <a:pt x="89" y="9"/>
                    <a:pt x="8" y="0"/>
                    <a:pt x="0" y="59"/>
                  </a:cubicBezTo>
                  <a:cubicBezTo>
                    <a:pt x="7" y="122"/>
                    <a:pt x="287" y="167"/>
                    <a:pt x="290" y="152"/>
                  </a:cubicBezTo>
                  <a:cubicBezTo>
                    <a:pt x="293" y="136"/>
                    <a:pt x="169" y="62"/>
                    <a:pt x="182" y="61"/>
                  </a:cubicBezTo>
                  <a:cubicBezTo>
                    <a:pt x="195" y="60"/>
                    <a:pt x="297" y="115"/>
                    <a:pt x="327" y="159"/>
                  </a:cubicBezTo>
                  <a:cubicBezTo>
                    <a:pt x="322" y="135"/>
                    <a:pt x="260" y="37"/>
                    <a:pt x="89" y="9"/>
                  </a:cubicBezTo>
                  <a:close/>
                </a:path>
              </a:pathLst>
            </a:custGeom>
            <a:solidFill>
              <a:srgbClr val="965C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5" name="îṥḻi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A3E9414-1790-4C39-ADC0-6AE02FF48A1C}"/>
                </a:ext>
              </a:extLst>
            </p:cNvPr>
            <p:cNvSpPr/>
            <p:nvPr/>
          </p:nvSpPr>
          <p:spPr bwMode="auto">
            <a:xfrm>
              <a:off x="7078728" y="2002288"/>
              <a:ext cx="275975" cy="184370"/>
            </a:xfrm>
            <a:custGeom>
              <a:avLst/>
              <a:gdLst>
                <a:gd name="T0" fmla="*/ 92 w 133"/>
                <a:gd name="T1" fmla="*/ 10 h 89"/>
                <a:gd name="T2" fmla="*/ 128 w 133"/>
                <a:gd name="T3" fmla="*/ 50 h 89"/>
                <a:gd name="T4" fmla="*/ 89 w 133"/>
                <a:gd name="T5" fmla="*/ 79 h 89"/>
                <a:gd name="T6" fmla="*/ 32 w 133"/>
                <a:gd name="T7" fmla="*/ 8 h 89"/>
                <a:gd name="T8" fmla="*/ 92 w 133"/>
                <a:gd name="T9" fmla="*/ 10 h 89"/>
              </a:gdLst>
              <a:ahLst/>
              <a:cxnLst>
                <a:cxn ang="0">
                  <a:pos x="T0" y="T1"/>
                </a:cxn>
                <a:cxn ang="0">
                  <a:pos x="T2" y="T3"/>
                </a:cxn>
                <a:cxn ang="0">
                  <a:pos x="T4" y="T5"/>
                </a:cxn>
                <a:cxn ang="0">
                  <a:pos x="T6" y="T7"/>
                </a:cxn>
                <a:cxn ang="0">
                  <a:pos x="T8" y="T9"/>
                </a:cxn>
              </a:cxnLst>
              <a:rect l="0" t="0" r="r" b="b"/>
              <a:pathLst>
                <a:path w="133" h="89">
                  <a:moveTo>
                    <a:pt x="92" y="10"/>
                  </a:moveTo>
                  <a:cubicBezTo>
                    <a:pt x="92" y="10"/>
                    <a:pt x="133" y="8"/>
                    <a:pt x="128" y="50"/>
                  </a:cubicBezTo>
                  <a:cubicBezTo>
                    <a:pt x="120" y="89"/>
                    <a:pt x="101" y="88"/>
                    <a:pt x="89" y="79"/>
                  </a:cubicBezTo>
                  <a:cubicBezTo>
                    <a:pt x="76" y="69"/>
                    <a:pt x="0" y="0"/>
                    <a:pt x="32" y="8"/>
                  </a:cubicBezTo>
                  <a:cubicBezTo>
                    <a:pt x="64" y="16"/>
                    <a:pt x="92" y="10"/>
                    <a:pt x="92" y="10"/>
                  </a:cubicBezTo>
                  <a:close/>
                </a:path>
              </a:pathLst>
            </a:custGeom>
            <a:solidFill>
              <a:srgbClr val="965C5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6" name="ïślîď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D4F16D5-BD94-4EDF-B207-702DF9EEC051}"/>
                </a:ext>
              </a:extLst>
            </p:cNvPr>
            <p:cNvSpPr/>
            <p:nvPr/>
          </p:nvSpPr>
          <p:spPr bwMode="auto">
            <a:xfrm>
              <a:off x="6853774" y="2157669"/>
              <a:ext cx="184370" cy="90446"/>
            </a:xfrm>
            <a:custGeom>
              <a:avLst/>
              <a:gdLst>
                <a:gd name="T0" fmla="*/ 0 w 89"/>
                <a:gd name="T1" fmla="*/ 21 h 44"/>
                <a:gd name="T2" fmla="*/ 88 w 89"/>
                <a:gd name="T3" fmla="*/ 44 h 44"/>
                <a:gd name="T4" fmla="*/ 35 w 89"/>
                <a:gd name="T5" fmla="*/ 3 h 44"/>
                <a:gd name="T6" fmla="*/ 0 w 89"/>
                <a:gd name="T7" fmla="*/ 21 h 44"/>
              </a:gdLst>
              <a:ahLst/>
              <a:cxnLst>
                <a:cxn ang="0">
                  <a:pos x="T0" y="T1"/>
                </a:cxn>
                <a:cxn ang="0">
                  <a:pos x="T2" y="T3"/>
                </a:cxn>
                <a:cxn ang="0">
                  <a:pos x="T4" y="T5"/>
                </a:cxn>
                <a:cxn ang="0">
                  <a:pos x="T6" y="T7"/>
                </a:cxn>
              </a:cxnLst>
              <a:rect l="0" t="0" r="r" b="b"/>
              <a:pathLst>
                <a:path w="89" h="44">
                  <a:moveTo>
                    <a:pt x="0" y="21"/>
                  </a:moveTo>
                  <a:cubicBezTo>
                    <a:pt x="0" y="21"/>
                    <a:pt x="62" y="28"/>
                    <a:pt x="88" y="44"/>
                  </a:cubicBezTo>
                  <a:cubicBezTo>
                    <a:pt x="89" y="31"/>
                    <a:pt x="49" y="6"/>
                    <a:pt x="35" y="3"/>
                  </a:cubicBezTo>
                  <a:cubicBezTo>
                    <a:pt x="21" y="0"/>
                    <a:pt x="0" y="21"/>
                    <a:pt x="0" y="21"/>
                  </a:cubicBez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7" name="íṧļîḋ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C0F6C4C2-6278-49C8-BA37-D673C8143465}"/>
                </a:ext>
              </a:extLst>
            </p:cNvPr>
            <p:cNvSpPr/>
            <p:nvPr/>
          </p:nvSpPr>
          <p:spPr bwMode="auto">
            <a:xfrm>
              <a:off x="6595192" y="2129840"/>
              <a:ext cx="139147" cy="52181"/>
            </a:xfrm>
            <a:custGeom>
              <a:avLst/>
              <a:gdLst>
                <a:gd name="T0" fmla="*/ 67 w 67"/>
                <a:gd name="T1" fmla="*/ 18 h 25"/>
                <a:gd name="T2" fmla="*/ 0 w 67"/>
                <a:gd name="T3" fmla="*/ 25 h 25"/>
                <a:gd name="T4" fmla="*/ 44 w 67"/>
                <a:gd name="T5" fmla="*/ 1 h 25"/>
                <a:gd name="T6" fmla="*/ 67 w 67"/>
                <a:gd name="T7" fmla="*/ 18 h 25"/>
              </a:gdLst>
              <a:ahLst/>
              <a:cxnLst>
                <a:cxn ang="0">
                  <a:pos x="T0" y="T1"/>
                </a:cxn>
                <a:cxn ang="0">
                  <a:pos x="T2" y="T3"/>
                </a:cxn>
                <a:cxn ang="0">
                  <a:pos x="T4" y="T5"/>
                </a:cxn>
                <a:cxn ang="0">
                  <a:pos x="T6" y="T7"/>
                </a:cxn>
              </a:cxnLst>
              <a:rect l="0" t="0" r="r" b="b"/>
              <a:pathLst>
                <a:path w="67" h="25">
                  <a:moveTo>
                    <a:pt x="67" y="18"/>
                  </a:moveTo>
                  <a:cubicBezTo>
                    <a:pt x="67" y="18"/>
                    <a:pt x="21" y="16"/>
                    <a:pt x="0" y="25"/>
                  </a:cubicBezTo>
                  <a:cubicBezTo>
                    <a:pt x="1" y="15"/>
                    <a:pt x="33" y="1"/>
                    <a:pt x="44" y="1"/>
                  </a:cubicBezTo>
                  <a:cubicBezTo>
                    <a:pt x="54" y="0"/>
                    <a:pt x="67" y="18"/>
                    <a:pt x="67" y="18"/>
                  </a:cubicBez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8" name="iSľï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DF8C563-AE41-42E5-9D3F-C8C09A1D90FC}"/>
                </a:ext>
              </a:extLst>
            </p:cNvPr>
            <p:cNvSpPr/>
            <p:nvPr/>
          </p:nvSpPr>
          <p:spPr bwMode="auto">
            <a:xfrm>
              <a:off x="6876965" y="2253913"/>
              <a:ext cx="45223" cy="68414"/>
            </a:xfrm>
            <a:custGeom>
              <a:avLst/>
              <a:gdLst>
                <a:gd name="T0" fmla="*/ 20 w 22"/>
                <a:gd name="T1" fmla="*/ 18 h 33"/>
                <a:gd name="T2" fmla="*/ 8 w 22"/>
                <a:gd name="T3" fmla="*/ 32 h 33"/>
                <a:gd name="T4" fmla="*/ 1 w 22"/>
                <a:gd name="T5" fmla="*/ 15 h 33"/>
                <a:gd name="T6" fmla="*/ 14 w 22"/>
                <a:gd name="T7" fmla="*/ 1 h 33"/>
                <a:gd name="T8" fmla="*/ 20 w 22"/>
                <a:gd name="T9" fmla="*/ 18 h 33"/>
              </a:gdLst>
              <a:ahLst/>
              <a:cxnLst>
                <a:cxn ang="0">
                  <a:pos x="T0" y="T1"/>
                </a:cxn>
                <a:cxn ang="0">
                  <a:pos x="T2" y="T3"/>
                </a:cxn>
                <a:cxn ang="0">
                  <a:pos x="T4" y="T5"/>
                </a:cxn>
                <a:cxn ang="0">
                  <a:pos x="T6" y="T7"/>
                </a:cxn>
                <a:cxn ang="0">
                  <a:pos x="T8" y="T9"/>
                </a:cxn>
              </a:cxnLst>
              <a:rect l="0" t="0" r="r" b="b"/>
              <a:pathLst>
                <a:path w="22" h="33">
                  <a:moveTo>
                    <a:pt x="20" y="18"/>
                  </a:moveTo>
                  <a:cubicBezTo>
                    <a:pt x="19" y="27"/>
                    <a:pt x="13" y="33"/>
                    <a:pt x="8" y="32"/>
                  </a:cubicBezTo>
                  <a:cubicBezTo>
                    <a:pt x="3" y="31"/>
                    <a:pt x="0" y="23"/>
                    <a:pt x="1" y="15"/>
                  </a:cubicBezTo>
                  <a:cubicBezTo>
                    <a:pt x="3" y="6"/>
                    <a:pt x="8" y="0"/>
                    <a:pt x="14" y="1"/>
                  </a:cubicBezTo>
                  <a:cubicBezTo>
                    <a:pt x="19" y="2"/>
                    <a:pt x="22" y="10"/>
                    <a:pt x="20" y="18"/>
                  </a:cubicBez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19" name="îśḻiḑ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E0F0422-9F1D-4AF3-9873-FD8CC35E10BA}"/>
                </a:ext>
              </a:extLst>
            </p:cNvPr>
            <p:cNvSpPr/>
            <p:nvPr/>
          </p:nvSpPr>
          <p:spPr bwMode="auto">
            <a:xfrm>
              <a:off x="6645053" y="2211009"/>
              <a:ext cx="45223" cy="68414"/>
            </a:xfrm>
            <a:custGeom>
              <a:avLst/>
              <a:gdLst>
                <a:gd name="T0" fmla="*/ 21 w 22"/>
                <a:gd name="T1" fmla="*/ 19 h 33"/>
                <a:gd name="T2" fmla="*/ 8 w 22"/>
                <a:gd name="T3" fmla="*/ 32 h 33"/>
                <a:gd name="T4" fmla="*/ 2 w 22"/>
                <a:gd name="T5" fmla="*/ 15 h 33"/>
                <a:gd name="T6" fmla="*/ 14 w 22"/>
                <a:gd name="T7" fmla="*/ 1 h 33"/>
                <a:gd name="T8" fmla="*/ 21 w 22"/>
                <a:gd name="T9" fmla="*/ 19 h 33"/>
              </a:gdLst>
              <a:ahLst/>
              <a:cxnLst>
                <a:cxn ang="0">
                  <a:pos x="T0" y="T1"/>
                </a:cxn>
                <a:cxn ang="0">
                  <a:pos x="T2" y="T3"/>
                </a:cxn>
                <a:cxn ang="0">
                  <a:pos x="T4" y="T5"/>
                </a:cxn>
                <a:cxn ang="0">
                  <a:pos x="T6" y="T7"/>
                </a:cxn>
                <a:cxn ang="0">
                  <a:pos x="T8" y="T9"/>
                </a:cxn>
              </a:cxnLst>
              <a:rect l="0" t="0" r="r" b="b"/>
              <a:pathLst>
                <a:path w="22" h="33">
                  <a:moveTo>
                    <a:pt x="21" y="19"/>
                  </a:moveTo>
                  <a:cubicBezTo>
                    <a:pt x="19" y="27"/>
                    <a:pt x="14" y="33"/>
                    <a:pt x="8" y="32"/>
                  </a:cubicBezTo>
                  <a:cubicBezTo>
                    <a:pt x="3" y="31"/>
                    <a:pt x="0" y="24"/>
                    <a:pt x="2" y="15"/>
                  </a:cubicBezTo>
                  <a:cubicBezTo>
                    <a:pt x="3" y="6"/>
                    <a:pt x="9" y="0"/>
                    <a:pt x="14" y="1"/>
                  </a:cubicBezTo>
                  <a:cubicBezTo>
                    <a:pt x="19" y="2"/>
                    <a:pt x="22" y="10"/>
                    <a:pt x="21" y="19"/>
                  </a:cubicBezTo>
                  <a:close/>
                </a:path>
              </a:pathLst>
            </a:custGeom>
            <a:solidFill>
              <a:srgbClr val="7E474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0" name="ïṥ1îd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6804CE0-4495-466E-9B2F-1142CCBA4FAD}"/>
                </a:ext>
              </a:extLst>
            </p:cNvPr>
            <p:cNvSpPr/>
            <p:nvPr/>
          </p:nvSpPr>
          <p:spPr bwMode="auto">
            <a:xfrm>
              <a:off x="6562725" y="2289859"/>
              <a:ext cx="153062" cy="142626"/>
            </a:xfrm>
            <a:custGeom>
              <a:avLst/>
              <a:gdLst>
                <a:gd name="T0" fmla="*/ 74 w 74"/>
                <a:gd name="T1" fmla="*/ 32 h 69"/>
                <a:gd name="T2" fmla="*/ 0 w 74"/>
                <a:gd name="T3" fmla="*/ 0 h 69"/>
                <a:gd name="T4" fmla="*/ 55 w 74"/>
                <a:gd name="T5" fmla="*/ 64 h 69"/>
                <a:gd name="T6" fmla="*/ 74 w 74"/>
                <a:gd name="T7" fmla="*/ 32 h 69"/>
              </a:gdLst>
              <a:ahLst/>
              <a:cxnLst>
                <a:cxn ang="0">
                  <a:pos x="T0" y="T1"/>
                </a:cxn>
                <a:cxn ang="0">
                  <a:pos x="T2" y="T3"/>
                </a:cxn>
                <a:cxn ang="0">
                  <a:pos x="T4" y="T5"/>
                </a:cxn>
                <a:cxn ang="0">
                  <a:pos x="T6" y="T7"/>
                </a:cxn>
              </a:cxnLst>
              <a:rect l="0" t="0" r="r" b="b"/>
              <a:pathLst>
                <a:path w="74" h="69">
                  <a:moveTo>
                    <a:pt x="74" y="32"/>
                  </a:moveTo>
                  <a:cubicBezTo>
                    <a:pt x="0" y="0"/>
                    <a:pt x="0" y="0"/>
                    <a:pt x="0" y="0"/>
                  </a:cubicBezTo>
                  <a:cubicBezTo>
                    <a:pt x="0" y="0"/>
                    <a:pt x="1" y="69"/>
                    <a:pt x="55" y="64"/>
                  </a:cubicBezTo>
                  <a:cubicBezTo>
                    <a:pt x="73" y="63"/>
                    <a:pt x="74" y="32"/>
                    <a:pt x="74" y="32"/>
                  </a:cubicBezTo>
                  <a:close/>
                </a:path>
              </a:pathLst>
            </a:custGeom>
            <a:solidFill>
              <a:srgbClr val="DA896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1" name="ïsļ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0D2A6BF-198B-4FBE-9C91-06A09A95D7F7}"/>
                </a:ext>
              </a:extLst>
            </p:cNvPr>
            <p:cNvSpPr/>
            <p:nvPr/>
          </p:nvSpPr>
          <p:spPr bwMode="auto">
            <a:xfrm>
              <a:off x="6386472" y="3979336"/>
              <a:ext cx="860393" cy="2157939"/>
            </a:xfrm>
            <a:custGeom>
              <a:avLst/>
              <a:gdLst>
                <a:gd name="T0" fmla="*/ 0 w 416"/>
                <a:gd name="T1" fmla="*/ 32 h 1044"/>
                <a:gd name="T2" fmla="*/ 112 w 416"/>
                <a:gd name="T3" fmla="*/ 965 h 1044"/>
                <a:gd name="T4" fmla="*/ 132 w 416"/>
                <a:gd name="T5" fmla="*/ 969 h 1044"/>
                <a:gd name="T6" fmla="*/ 73 w 416"/>
                <a:gd name="T7" fmla="*/ 1008 h 1044"/>
                <a:gd name="T8" fmla="*/ 184 w 416"/>
                <a:gd name="T9" fmla="*/ 1000 h 1044"/>
                <a:gd name="T10" fmla="*/ 156 w 416"/>
                <a:gd name="T11" fmla="*/ 961 h 1044"/>
                <a:gd name="T12" fmla="*/ 150 w 416"/>
                <a:gd name="T13" fmla="*/ 207 h 1044"/>
                <a:gd name="T14" fmla="*/ 355 w 416"/>
                <a:gd name="T15" fmla="*/ 988 h 1044"/>
                <a:gd name="T16" fmla="*/ 351 w 416"/>
                <a:gd name="T17" fmla="*/ 988 h 1044"/>
                <a:gd name="T18" fmla="*/ 378 w 416"/>
                <a:gd name="T19" fmla="*/ 1004 h 1044"/>
                <a:gd name="T20" fmla="*/ 327 w 416"/>
                <a:gd name="T21" fmla="*/ 1044 h 1044"/>
                <a:gd name="T22" fmla="*/ 416 w 416"/>
                <a:gd name="T23" fmla="*/ 1024 h 1044"/>
                <a:gd name="T24" fmla="*/ 408 w 416"/>
                <a:gd name="T25" fmla="*/ 988 h 1044"/>
                <a:gd name="T26" fmla="*/ 280 w 416"/>
                <a:gd name="T27" fmla="*/ 40 h 1044"/>
                <a:gd name="T28" fmla="*/ 0 w 416"/>
                <a:gd name="T29" fmla="*/ 32 h 10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6" h="1044">
                  <a:moveTo>
                    <a:pt x="0" y="32"/>
                  </a:moveTo>
                  <a:cubicBezTo>
                    <a:pt x="0" y="32"/>
                    <a:pt x="112" y="861"/>
                    <a:pt x="112" y="965"/>
                  </a:cubicBezTo>
                  <a:cubicBezTo>
                    <a:pt x="108" y="965"/>
                    <a:pt x="132" y="969"/>
                    <a:pt x="132" y="969"/>
                  </a:cubicBezTo>
                  <a:cubicBezTo>
                    <a:pt x="132" y="969"/>
                    <a:pt x="116" y="992"/>
                    <a:pt x="73" y="1008"/>
                  </a:cubicBezTo>
                  <a:cubicBezTo>
                    <a:pt x="41" y="1024"/>
                    <a:pt x="168" y="1012"/>
                    <a:pt x="184" y="1000"/>
                  </a:cubicBezTo>
                  <a:cubicBezTo>
                    <a:pt x="180" y="988"/>
                    <a:pt x="156" y="961"/>
                    <a:pt x="156" y="961"/>
                  </a:cubicBezTo>
                  <a:cubicBezTo>
                    <a:pt x="164" y="953"/>
                    <a:pt x="150" y="207"/>
                    <a:pt x="150" y="207"/>
                  </a:cubicBezTo>
                  <a:cubicBezTo>
                    <a:pt x="150" y="207"/>
                    <a:pt x="327" y="754"/>
                    <a:pt x="355" y="988"/>
                  </a:cubicBezTo>
                  <a:cubicBezTo>
                    <a:pt x="351" y="988"/>
                    <a:pt x="351" y="988"/>
                    <a:pt x="351" y="988"/>
                  </a:cubicBezTo>
                  <a:cubicBezTo>
                    <a:pt x="378" y="1004"/>
                    <a:pt x="378" y="1004"/>
                    <a:pt x="378" y="1004"/>
                  </a:cubicBezTo>
                  <a:cubicBezTo>
                    <a:pt x="327" y="1044"/>
                    <a:pt x="327" y="1044"/>
                    <a:pt x="327" y="1044"/>
                  </a:cubicBezTo>
                  <a:cubicBezTo>
                    <a:pt x="327" y="1044"/>
                    <a:pt x="412" y="1044"/>
                    <a:pt x="416" y="1024"/>
                  </a:cubicBezTo>
                  <a:cubicBezTo>
                    <a:pt x="412" y="1004"/>
                    <a:pt x="408" y="988"/>
                    <a:pt x="408" y="988"/>
                  </a:cubicBezTo>
                  <a:cubicBezTo>
                    <a:pt x="408" y="988"/>
                    <a:pt x="290" y="115"/>
                    <a:pt x="280" y="40"/>
                  </a:cubicBezTo>
                  <a:cubicBezTo>
                    <a:pt x="232" y="0"/>
                    <a:pt x="0" y="32"/>
                    <a:pt x="0" y="32"/>
                  </a:cubicBezTo>
                  <a:close/>
                </a:path>
              </a:pathLst>
            </a:custGeom>
            <a:solidFill>
              <a:srgbClr val="28354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2" name="iṡḷi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6D0547E-85AB-471E-B6A8-6E35D0ABAE9A}"/>
                </a:ext>
              </a:extLst>
            </p:cNvPr>
            <p:cNvSpPr/>
            <p:nvPr/>
          </p:nvSpPr>
          <p:spPr bwMode="auto">
            <a:xfrm>
              <a:off x="6309941" y="2789629"/>
              <a:ext cx="918370" cy="1392630"/>
            </a:xfrm>
            <a:custGeom>
              <a:avLst/>
              <a:gdLst>
                <a:gd name="T0" fmla="*/ 288 w 444"/>
                <a:gd name="T1" fmla="*/ 0 h 674"/>
                <a:gd name="T2" fmla="*/ 413 w 444"/>
                <a:gd name="T3" fmla="*/ 74 h 674"/>
                <a:gd name="T4" fmla="*/ 444 w 444"/>
                <a:gd name="T5" fmla="*/ 102 h 674"/>
                <a:gd name="T6" fmla="*/ 378 w 444"/>
                <a:gd name="T7" fmla="*/ 182 h 674"/>
                <a:gd name="T8" fmla="*/ 317 w 444"/>
                <a:gd name="T9" fmla="*/ 616 h 674"/>
                <a:gd name="T10" fmla="*/ 37 w 444"/>
                <a:gd name="T11" fmla="*/ 608 h 674"/>
                <a:gd name="T12" fmla="*/ 37 w 444"/>
                <a:gd name="T13" fmla="*/ 129 h 674"/>
                <a:gd name="T14" fmla="*/ 26 w 444"/>
                <a:gd name="T15" fmla="*/ 33 h 674"/>
                <a:gd name="T16" fmla="*/ 225 w 444"/>
                <a:gd name="T17" fmla="*/ 10 h 674"/>
                <a:gd name="T18" fmla="*/ 288 w 444"/>
                <a:gd name="T19" fmla="*/ 0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4" h="674">
                  <a:moveTo>
                    <a:pt x="288" y="0"/>
                  </a:moveTo>
                  <a:cubicBezTo>
                    <a:pt x="288" y="0"/>
                    <a:pt x="401" y="64"/>
                    <a:pt x="413" y="74"/>
                  </a:cubicBezTo>
                  <a:cubicBezTo>
                    <a:pt x="425" y="84"/>
                    <a:pt x="444" y="102"/>
                    <a:pt x="444" y="102"/>
                  </a:cubicBezTo>
                  <a:cubicBezTo>
                    <a:pt x="378" y="182"/>
                    <a:pt x="378" y="182"/>
                    <a:pt x="378" y="182"/>
                  </a:cubicBezTo>
                  <a:cubicBezTo>
                    <a:pt x="378" y="182"/>
                    <a:pt x="262" y="449"/>
                    <a:pt x="317" y="616"/>
                  </a:cubicBezTo>
                  <a:cubicBezTo>
                    <a:pt x="317" y="616"/>
                    <a:pt x="188" y="674"/>
                    <a:pt x="37" y="608"/>
                  </a:cubicBezTo>
                  <a:cubicBezTo>
                    <a:pt x="31" y="568"/>
                    <a:pt x="0" y="552"/>
                    <a:pt x="37" y="129"/>
                  </a:cubicBezTo>
                  <a:cubicBezTo>
                    <a:pt x="42" y="94"/>
                    <a:pt x="26" y="33"/>
                    <a:pt x="26" y="33"/>
                  </a:cubicBezTo>
                  <a:cubicBezTo>
                    <a:pt x="225" y="10"/>
                    <a:pt x="225" y="10"/>
                    <a:pt x="225" y="10"/>
                  </a:cubicBezTo>
                  <a:lnTo>
                    <a:pt x="288" y="0"/>
                  </a:lnTo>
                  <a:close/>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3" name="iśḷi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0081475A-376C-4A6E-815E-865D44115ABD}"/>
                </a:ext>
              </a:extLst>
            </p:cNvPr>
            <p:cNvSpPr/>
            <p:nvPr/>
          </p:nvSpPr>
          <p:spPr bwMode="auto">
            <a:xfrm>
              <a:off x="6729701" y="2704981"/>
              <a:ext cx="179732" cy="179732"/>
            </a:xfrm>
            <a:custGeom>
              <a:avLst/>
              <a:gdLst>
                <a:gd name="T0" fmla="*/ 14 w 87"/>
                <a:gd name="T1" fmla="*/ 0 h 87"/>
                <a:gd name="T2" fmla="*/ 0 w 87"/>
                <a:gd name="T3" fmla="*/ 69 h 87"/>
                <a:gd name="T4" fmla="*/ 30 w 87"/>
                <a:gd name="T5" fmla="*/ 87 h 87"/>
                <a:gd name="T6" fmla="*/ 87 w 87"/>
                <a:gd name="T7" fmla="*/ 59 h 87"/>
                <a:gd name="T8" fmla="*/ 77 w 87"/>
                <a:gd name="T9" fmla="*/ 0 h 87"/>
                <a:gd name="T10" fmla="*/ 14 w 87"/>
                <a:gd name="T11" fmla="*/ 0 h 87"/>
              </a:gdLst>
              <a:ahLst/>
              <a:cxnLst>
                <a:cxn ang="0">
                  <a:pos x="T0" y="T1"/>
                </a:cxn>
                <a:cxn ang="0">
                  <a:pos x="T2" y="T3"/>
                </a:cxn>
                <a:cxn ang="0">
                  <a:pos x="T4" y="T5"/>
                </a:cxn>
                <a:cxn ang="0">
                  <a:pos x="T6" y="T7"/>
                </a:cxn>
                <a:cxn ang="0">
                  <a:pos x="T8" y="T9"/>
                </a:cxn>
                <a:cxn ang="0">
                  <a:pos x="T10" y="T11"/>
                </a:cxn>
              </a:cxnLst>
              <a:rect l="0" t="0" r="r" b="b"/>
              <a:pathLst>
                <a:path w="87" h="87">
                  <a:moveTo>
                    <a:pt x="14" y="0"/>
                  </a:moveTo>
                  <a:cubicBezTo>
                    <a:pt x="14" y="0"/>
                    <a:pt x="22" y="39"/>
                    <a:pt x="0" y="69"/>
                  </a:cubicBezTo>
                  <a:cubicBezTo>
                    <a:pt x="4" y="71"/>
                    <a:pt x="30" y="87"/>
                    <a:pt x="30" y="87"/>
                  </a:cubicBezTo>
                  <a:cubicBezTo>
                    <a:pt x="87" y="59"/>
                    <a:pt x="87" y="59"/>
                    <a:pt x="87" y="59"/>
                  </a:cubicBezTo>
                  <a:cubicBezTo>
                    <a:pt x="77" y="0"/>
                    <a:pt x="77" y="0"/>
                    <a:pt x="77" y="0"/>
                  </a:cubicBezTo>
                  <a:lnTo>
                    <a:pt x="14" y="0"/>
                  </a:lnTo>
                  <a:close/>
                </a:path>
              </a:pathLst>
            </a:custGeom>
            <a:solidFill>
              <a:srgbClr val="DA896F"/>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4" name="iṣ1îḍ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7E0AEEA-2A54-4D66-8F48-13C287F444B6}"/>
                </a:ext>
              </a:extLst>
            </p:cNvPr>
            <p:cNvSpPr/>
            <p:nvPr/>
          </p:nvSpPr>
          <p:spPr bwMode="auto">
            <a:xfrm>
              <a:off x="6610266" y="2831373"/>
              <a:ext cx="340910" cy="217997"/>
            </a:xfrm>
            <a:custGeom>
              <a:avLst/>
              <a:gdLst>
                <a:gd name="T0" fmla="*/ 40 w 165"/>
                <a:gd name="T1" fmla="*/ 0 h 106"/>
                <a:gd name="T2" fmla="*/ 22 w 165"/>
                <a:gd name="T3" fmla="*/ 58 h 106"/>
                <a:gd name="T4" fmla="*/ 75 w 165"/>
                <a:gd name="T5" fmla="*/ 37 h 106"/>
                <a:gd name="T6" fmla="*/ 120 w 165"/>
                <a:gd name="T7" fmla="*/ 87 h 106"/>
                <a:gd name="T8" fmla="*/ 157 w 165"/>
                <a:gd name="T9" fmla="*/ 5 h 106"/>
                <a:gd name="T10" fmla="*/ 125 w 165"/>
                <a:gd name="T11" fmla="*/ 106 h 106"/>
                <a:gd name="T12" fmla="*/ 75 w 165"/>
                <a:gd name="T13" fmla="*/ 53 h 106"/>
                <a:gd name="T14" fmla="*/ 0 w 165"/>
                <a:gd name="T15" fmla="*/ 82 h 106"/>
                <a:gd name="T16" fmla="*/ 40 w 165"/>
                <a:gd name="T17"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5" h="106">
                  <a:moveTo>
                    <a:pt x="40" y="0"/>
                  </a:moveTo>
                  <a:cubicBezTo>
                    <a:pt x="40" y="0"/>
                    <a:pt x="22" y="40"/>
                    <a:pt x="22" y="58"/>
                  </a:cubicBezTo>
                  <a:cubicBezTo>
                    <a:pt x="27" y="58"/>
                    <a:pt x="75" y="37"/>
                    <a:pt x="75" y="37"/>
                  </a:cubicBezTo>
                  <a:cubicBezTo>
                    <a:pt x="120" y="87"/>
                    <a:pt x="120" y="87"/>
                    <a:pt x="120" y="87"/>
                  </a:cubicBezTo>
                  <a:cubicBezTo>
                    <a:pt x="120" y="87"/>
                    <a:pt x="159" y="48"/>
                    <a:pt x="157" y="5"/>
                  </a:cubicBezTo>
                  <a:cubicBezTo>
                    <a:pt x="165" y="27"/>
                    <a:pt x="146" y="93"/>
                    <a:pt x="125" y="106"/>
                  </a:cubicBezTo>
                  <a:cubicBezTo>
                    <a:pt x="104" y="101"/>
                    <a:pt x="75" y="53"/>
                    <a:pt x="75" y="53"/>
                  </a:cubicBezTo>
                  <a:cubicBezTo>
                    <a:pt x="0" y="82"/>
                    <a:pt x="0" y="82"/>
                    <a:pt x="0" y="82"/>
                  </a:cubicBezTo>
                  <a:cubicBezTo>
                    <a:pt x="0" y="82"/>
                    <a:pt x="11" y="32"/>
                    <a:pt x="40" y="0"/>
                  </a:cubicBezTo>
                  <a:close/>
                </a:path>
              </a:pathLst>
            </a:custGeom>
            <a:solidFill>
              <a:srgbClr val="A3803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5" name="îşḷî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68C7823-10A5-434F-B1E5-8F61A06F4851}"/>
                </a:ext>
              </a:extLst>
            </p:cNvPr>
            <p:cNvSpPr/>
            <p:nvPr/>
          </p:nvSpPr>
          <p:spPr bwMode="auto">
            <a:xfrm>
              <a:off x="6708829" y="2907904"/>
              <a:ext cx="95084" cy="127551"/>
            </a:xfrm>
            <a:custGeom>
              <a:avLst/>
              <a:gdLst>
                <a:gd name="T0" fmla="*/ 0 w 82"/>
                <a:gd name="T1" fmla="*/ 37 h 110"/>
                <a:gd name="T2" fmla="*/ 11 w 82"/>
                <a:gd name="T3" fmla="*/ 110 h 110"/>
                <a:gd name="T4" fmla="*/ 82 w 82"/>
                <a:gd name="T5" fmla="*/ 76 h 110"/>
                <a:gd name="T6" fmla="*/ 48 w 82"/>
                <a:gd name="T7" fmla="*/ 0 h 110"/>
                <a:gd name="T8" fmla="*/ 0 w 82"/>
                <a:gd name="T9" fmla="*/ 37 h 110"/>
              </a:gdLst>
              <a:ahLst/>
              <a:cxnLst>
                <a:cxn ang="0">
                  <a:pos x="T0" y="T1"/>
                </a:cxn>
                <a:cxn ang="0">
                  <a:pos x="T2" y="T3"/>
                </a:cxn>
                <a:cxn ang="0">
                  <a:pos x="T4" y="T5"/>
                </a:cxn>
                <a:cxn ang="0">
                  <a:pos x="T6" y="T7"/>
                </a:cxn>
                <a:cxn ang="0">
                  <a:pos x="T8" y="T9"/>
                </a:cxn>
              </a:cxnLst>
              <a:rect l="0" t="0" r="r" b="b"/>
              <a:pathLst>
                <a:path w="82" h="110">
                  <a:moveTo>
                    <a:pt x="0" y="37"/>
                  </a:moveTo>
                  <a:lnTo>
                    <a:pt x="11" y="110"/>
                  </a:lnTo>
                  <a:lnTo>
                    <a:pt x="82" y="76"/>
                  </a:lnTo>
                  <a:lnTo>
                    <a:pt x="48" y="0"/>
                  </a:lnTo>
                  <a:lnTo>
                    <a:pt x="0" y="37"/>
                  </a:lnTo>
                  <a:close/>
                </a:path>
              </a:pathLst>
            </a:custGeom>
            <a:solidFill>
              <a:srgbClr val="A3803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6" name="íṧḷïď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FF54B79-26B6-4337-80E3-01A53956C706}"/>
                </a:ext>
              </a:extLst>
            </p:cNvPr>
            <p:cNvSpPr/>
            <p:nvPr/>
          </p:nvSpPr>
          <p:spPr bwMode="auto">
            <a:xfrm>
              <a:off x="6440971" y="2971679"/>
              <a:ext cx="323517" cy="1009976"/>
            </a:xfrm>
            <a:custGeom>
              <a:avLst/>
              <a:gdLst>
                <a:gd name="T0" fmla="*/ 157 w 157"/>
                <a:gd name="T1" fmla="*/ 12 h 489"/>
                <a:gd name="T2" fmla="*/ 85 w 157"/>
                <a:gd name="T3" fmla="*/ 440 h 489"/>
                <a:gd name="T4" fmla="*/ 35 w 157"/>
                <a:gd name="T5" fmla="*/ 489 h 489"/>
                <a:gd name="T6" fmla="*/ 0 w 157"/>
                <a:gd name="T7" fmla="*/ 418 h 489"/>
                <a:gd name="T8" fmla="*/ 137 w 157"/>
                <a:gd name="T9" fmla="*/ 0 h 489"/>
                <a:gd name="T10" fmla="*/ 157 w 157"/>
                <a:gd name="T11" fmla="*/ 12 h 489"/>
              </a:gdLst>
              <a:ahLst/>
              <a:cxnLst>
                <a:cxn ang="0">
                  <a:pos x="T0" y="T1"/>
                </a:cxn>
                <a:cxn ang="0">
                  <a:pos x="T2" y="T3"/>
                </a:cxn>
                <a:cxn ang="0">
                  <a:pos x="T4" y="T5"/>
                </a:cxn>
                <a:cxn ang="0">
                  <a:pos x="T6" y="T7"/>
                </a:cxn>
                <a:cxn ang="0">
                  <a:pos x="T8" y="T9"/>
                </a:cxn>
                <a:cxn ang="0">
                  <a:pos x="T10" y="T11"/>
                </a:cxn>
              </a:cxnLst>
              <a:rect l="0" t="0" r="r" b="b"/>
              <a:pathLst>
                <a:path w="157" h="489">
                  <a:moveTo>
                    <a:pt x="157" y="12"/>
                  </a:moveTo>
                  <a:cubicBezTo>
                    <a:pt x="157" y="12"/>
                    <a:pt x="90" y="303"/>
                    <a:pt x="85" y="440"/>
                  </a:cubicBezTo>
                  <a:cubicBezTo>
                    <a:pt x="35" y="489"/>
                    <a:pt x="35" y="489"/>
                    <a:pt x="35" y="489"/>
                  </a:cubicBezTo>
                  <a:cubicBezTo>
                    <a:pt x="0" y="418"/>
                    <a:pt x="0" y="418"/>
                    <a:pt x="0" y="418"/>
                  </a:cubicBezTo>
                  <a:cubicBezTo>
                    <a:pt x="0" y="418"/>
                    <a:pt x="98" y="95"/>
                    <a:pt x="137" y="0"/>
                  </a:cubicBezTo>
                  <a:cubicBezTo>
                    <a:pt x="149" y="10"/>
                    <a:pt x="157" y="12"/>
                    <a:pt x="157" y="12"/>
                  </a:cubicBezTo>
                  <a:close/>
                </a:path>
              </a:pathLst>
            </a:custGeom>
            <a:solidFill>
              <a:srgbClr val="A38037"/>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7" name="ïšļi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E47277E-59D5-40E7-9843-06ABC28AF56A}"/>
                </a:ext>
              </a:extLst>
            </p:cNvPr>
            <p:cNvSpPr/>
            <p:nvPr/>
          </p:nvSpPr>
          <p:spPr bwMode="auto">
            <a:xfrm>
              <a:off x="6473438" y="3180400"/>
              <a:ext cx="245826" cy="618045"/>
            </a:xfrm>
            <a:custGeom>
              <a:avLst/>
              <a:gdLst>
                <a:gd name="T0" fmla="*/ 72 w 119"/>
                <a:gd name="T1" fmla="*/ 299 h 299"/>
                <a:gd name="T2" fmla="*/ 119 w 119"/>
                <a:gd name="T3" fmla="*/ 14 h 299"/>
                <a:gd name="T4" fmla="*/ 85 w 119"/>
                <a:gd name="T5" fmla="*/ 0 h 299"/>
                <a:gd name="T6" fmla="*/ 0 w 119"/>
                <a:gd name="T7" fmla="*/ 267 h 299"/>
                <a:gd name="T8" fmla="*/ 72 w 119"/>
                <a:gd name="T9" fmla="*/ 299 h 299"/>
              </a:gdLst>
              <a:ahLst/>
              <a:cxnLst>
                <a:cxn ang="0">
                  <a:pos x="T0" y="T1"/>
                </a:cxn>
                <a:cxn ang="0">
                  <a:pos x="T2" y="T3"/>
                </a:cxn>
                <a:cxn ang="0">
                  <a:pos x="T4" y="T5"/>
                </a:cxn>
                <a:cxn ang="0">
                  <a:pos x="T6" y="T7"/>
                </a:cxn>
                <a:cxn ang="0">
                  <a:pos x="T8" y="T9"/>
                </a:cxn>
              </a:cxnLst>
              <a:rect l="0" t="0" r="r" b="b"/>
              <a:pathLst>
                <a:path w="119" h="299">
                  <a:moveTo>
                    <a:pt x="72" y="299"/>
                  </a:moveTo>
                  <a:cubicBezTo>
                    <a:pt x="80" y="214"/>
                    <a:pt x="101" y="97"/>
                    <a:pt x="119" y="14"/>
                  </a:cubicBezTo>
                  <a:cubicBezTo>
                    <a:pt x="85" y="0"/>
                    <a:pt x="85" y="0"/>
                    <a:pt x="85" y="0"/>
                  </a:cubicBezTo>
                  <a:cubicBezTo>
                    <a:pt x="55" y="89"/>
                    <a:pt x="19" y="203"/>
                    <a:pt x="0" y="267"/>
                  </a:cubicBezTo>
                  <a:cubicBezTo>
                    <a:pt x="23" y="277"/>
                    <a:pt x="49" y="289"/>
                    <a:pt x="72" y="299"/>
                  </a:cubicBezTo>
                  <a:close/>
                </a:path>
              </a:pathLst>
            </a:custGeom>
            <a:solidFill>
              <a:srgbClr val="7E612E"/>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8" name="íṣļiḓ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2BD4A97-0FF3-4412-958B-128823070A74}"/>
                </a:ext>
              </a:extLst>
            </p:cNvPr>
            <p:cNvSpPr/>
            <p:nvPr/>
          </p:nvSpPr>
          <p:spPr bwMode="auto">
            <a:xfrm>
              <a:off x="6372557" y="4007165"/>
              <a:ext cx="599492" cy="187849"/>
            </a:xfrm>
            <a:custGeom>
              <a:avLst/>
              <a:gdLst>
                <a:gd name="T0" fmla="*/ 0 w 290"/>
                <a:gd name="T1" fmla="*/ 0 h 91"/>
                <a:gd name="T2" fmla="*/ 283 w 290"/>
                <a:gd name="T3" fmla="*/ 4 h 91"/>
                <a:gd name="T4" fmla="*/ 290 w 290"/>
                <a:gd name="T5" fmla="*/ 48 h 91"/>
                <a:gd name="T6" fmla="*/ 10 w 290"/>
                <a:gd name="T7" fmla="*/ 40 h 91"/>
                <a:gd name="T8" fmla="*/ 0 w 290"/>
                <a:gd name="T9" fmla="*/ 0 h 91"/>
              </a:gdLst>
              <a:ahLst/>
              <a:cxnLst>
                <a:cxn ang="0">
                  <a:pos x="T0" y="T1"/>
                </a:cxn>
                <a:cxn ang="0">
                  <a:pos x="T2" y="T3"/>
                </a:cxn>
                <a:cxn ang="0">
                  <a:pos x="T4" y="T5"/>
                </a:cxn>
                <a:cxn ang="0">
                  <a:pos x="T6" y="T7"/>
                </a:cxn>
                <a:cxn ang="0">
                  <a:pos x="T8" y="T9"/>
                </a:cxn>
              </a:cxnLst>
              <a:rect l="0" t="0" r="r" b="b"/>
              <a:pathLst>
                <a:path w="290" h="91">
                  <a:moveTo>
                    <a:pt x="0" y="0"/>
                  </a:moveTo>
                  <a:cubicBezTo>
                    <a:pt x="0" y="0"/>
                    <a:pt x="151" y="53"/>
                    <a:pt x="283" y="4"/>
                  </a:cubicBezTo>
                  <a:cubicBezTo>
                    <a:pt x="288" y="28"/>
                    <a:pt x="290" y="48"/>
                    <a:pt x="290" y="48"/>
                  </a:cubicBezTo>
                  <a:cubicBezTo>
                    <a:pt x="290" y="48"/>
                    <a:pt x="141" y="91"/>
                    <a:pt x="10" y="40"/>
                  </a:cubicBezTo>
                  <a:cubicBezTo>
                    <a:pt x="7" y="40"/>
                    <a:pt x="0" y="0"/>
                    <a:pt x="0" y="0"/>
                  </a:cubicBezTo>
                  <a:close/>
                </a:path>
              </a:pathLst>
            </a:custGeom>
            <a:solidFill>
              <a:srgbClr val="242C34"/>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29" name="ïšļï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7EF92CB-2E5E-4FEF-B592-5094F58E5C91}"/>
                </a:ext>
              </a:extLst>
            </p:cNvPr>
            <p:cNvSpPr/>
            <p:nvPr/>
          </p:nvSpPr>
          <p:spPr bwMode="auto">
            <a:xfrm>
              <a:off x="6430535" y="4021080"/>
              <a:ext cx="66095" cy="129871"/>
            </a:xfrm>
            <a:custGeom>
              <a:avLst/>
              <a:gdLst>
                <a:gd name="T0" fmla="*/ 10 w 32"/>
                <a:gd name="T1" fmla="*/ 49 h 63"/>
                <a:gd name="T2" fmla="*/ 0 w 32"/>
                <a:gd name="T3" fmla="*/ 0 h 63"/>
                <a:gd name="T4" fmla="*/ 26 w 32"/>
                <a:gd name="T5" fmla="*/ 8 h 63"/>
                <a:gd name="T6" fmla="*/ 32 w 32"/>
                <a:gd name="T7" fmla="*/ 63 h 63"/>
                <a:gd name="T8" fmla="*/ 10 w 32"/>
                <a:gd name="T9" fmla="*/ 49 h 63"/>
              </a:gdLst>
              <a:ahLst/>
              <a:cxnLst>
                <a:cxn ang="0">
                  <a:pos x="T0" y="T1"/>
                </a:cxn>
                <a:cxn ang="0">
                  <a:pos x="T2" y="T3"/>
                </a:cxn>
                <a:cxn ang="0">
                  <a:pos x="T4" y="T5"/>
                </a:cxn>
                <a:cxn ang="0">
                  <a:pos x="T6" y="T7"/>
                </a:cxn>
                <a:cxn ang="0">
                  <a:pos x="T8" y="T9"/>
                </a:cxn>
              </a:cxnLst>
              <a:rect l="0" t="0" r="r" b="b"/>
              <a:pathLst>
                <a:path w="32" h="63">
                  <a:moveTo>
                    <a:pt x="10" y="49"/>
                  </a:moveTo>
                  <a:cubicBezTo>
                    <a:pt x="0" y="0"/>
                    <a:pt x="0" y="0"/>
                    <a:pt x="0" y="0"/>
                  </a:cubicBezTo>
                  <a:cubicBezTo>
                    <a:pt x="26" y="8"/>
                    <a:pt x="26" y="8"/>
                    <a:pt x="26" y="8"/>
                  </a:cubicBezTo>
                  <a:cubicBezTo>
                    <a:pt x="32" y="63"/>
                    <a:pt x="32" y="63"/>
                    <a:pt x="32" y="63"/>
                  </a:cubicBezTo>
                  <a:cubicBezTo>
                    <a:pt x="32" y="63"/>
                    <a:pt x="14" y="51"/>
                    <a:pt x="10" y="49"/>
                  </a:cubicBezTo>
                  <a:close/>
                </a:path>
              </a:pathLst>
            </a:custGeom>
            <a:solidFill>
              <a:srgbClr val="28354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0" name="îSļi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8F3CF65B-5FD6-4831-ACFF-23CCE1802B81}"/>
                </a:ext>
              </a:extLst>
            </p:cNvPr>
            <p:cNvSpPr/>
            <p:nvPr/>
          </p:nvSpPr>
          <p:spPr bwMode="auto">
            <a:xfrm>
              <a:off x="6793477" y="4041952"/>
              <a:ext cx="70733" cy="121754"/>
            </a:xfrm>
            <a:custGeom>
              <a:avLst/>
              <a:gdLst>
                <a:gd name="T0" fmla="*/ 22 w 34"/>
                <a:gd name="T1" fmla="*/ 45 h 59"/>
                <a:gd name="T2" fmla="*/ 34 w 34"/>
                <a:gd name="T3" fmla="*/ 0 h 59"/>
                <a:gd name="T4" fmla="*/ 6 w 34"/>
                <a:gd name="T5" fmla="*/ 4 h 59"/>
                <a:gd name="T6" fmla="*/ 0 w 34"/>
                <a:gd name="T7" fmla="*/ 59 h 59"/>
                <a:gd name="T8" fmla="*/ 22 w 34"/>
                <a:gd name="T9" fmla="*/ 45 h 59"/>
              </a:gdLst>
              <a:ahLst/>
              <a:cxnLst>
                <a:cxn ang="0">
                  <a:pos x="T0" y="T1"/>
                </a:cxn>
                <a:cxn ang="0">
                  <a:pos x="T2" y="T3"/>
                </a:cxn>
                <a:cxn ang="0">
                  <a:pos x="T4" y="T5"/>
                </a:cxn>
                <a:cxn ang="0">
                  <a:pos x="T6" y="T7"/>
                </a:cxn>
                <a:cxn ang="0">
                  <a:pos x="T8" y="T9"/>
                </a:cxn>
              </a:cxnLst>
              <a:rect l="0" t="0" r="r" b="b"/>
              <a:pathLst>
                <a:path w="34" h="59">
                  <a:moveTo>
                    <a:pt x="22" y="45"/>
                  </a:moveTo>
                  <a:cubicBezTo>
                    <a:pt x="34" y="0"/>
                    <a:pt x="34" y="0"/>
                    <a:pt x="34" y="0"/>
                  </a:cubicBezTo>
                  <a:cubicBezTo>
                    <a:pt x="6" y="4"/>
                    <a:pt x="6" y="4"/>
                    <a:pt x="6" y="4"/>
                  </a:cubicBezTo>
                  <a:cubicBezTo>
                    <a:pt x="0" y="59"/>
                    <a:pt x="0" y="59"/>
                    <a:pt x="0" y="59"/>
                  </a:cubicBezTo>
                  <a:cubicBezTo>
                    <a:pt x="0" y="59"/>
                    <a:pt x="18" y="47"/>
                    <a:pt x="22" y="45"/>
                  </a:cubicBezTo>
                  <a:close/>
                </a:path>
              </a:pathLst>
            </a:custGeom>
            <a:solidFill>
              <a:srgbClr val="283543"/>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1" name="îṩḷíḓ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BD0F6703-532D-4046-BD9A-5F7F5E86B4E5}"/>
                </a:ext>
              </a:extLst>
            </p:cNvPr>
            <p:cNvSpPr/>
            <p:nvPr/>
          </p:nvSpPr>
          <p:spPr bwMode="auto">
            <a:xfrm>
              <a:off x="5802054" y="1977938"/>
              <a:ext cx="723565" cy="1147963"/>
            </a:xfrm>
            <a:custGeom>
              <a:avLst/>
              <a:gdLst>
                <a:gd name="T0" fmla="*/ 310 w 350"/>
                <a:gd name="T1" fmla="*/ 421 h 556"/>
                <a:gd name="T2" fmla="*/ 131 w 350"/>
                <a:gd name="T3" fmla="*/ 211 h 556"/>
                <a:gd name="T4" fmla="*/ 342 w 350"/>
                <a:gd name="T5" fmla="*/ 68 h 556"/>
                <a:gd name="T6" fmla="*/ 302 w 350"/>
                <a:gd name="T7" fmla="*/ 4 h 556"/>
                <a:gd name="T8" fmla="*/ 0 w 350"/>
                <a:gd name="T9" fmla="*/ 203 h 556"/>
                <a:gd name="T10" fmla="*/ 302 w 350"/>
                <a:gd name="T11" fmla="*/ 556 h 556"/>
                <a:gd name="T12" fmla="*/ 325 w 350"/>
                <a:gd name="T13" fmla="*/ 421 h 556"/>
              </a:gdLst>
              <a:ahLst/>
              <a:cxnLst>
                <a:cxn ang="0">
                  <a:pos x="T0" y="T1"/>
                </a:cxn>
                <a:cxn ang="0">
                  <a:pos x="T2" y="T3"/>
                </a:cxn>
                <a:cxn ang="0">
                  <a:pos x="T4" y="T5"/>
                </a:cxn>
                <a:cxn ang="0">
                  <a:pos x="T6" y="T7"/>
                </a:cxn>
                <a:cxn ang="0">
                  <a:pos x="T8" y="T9"/>
                </a:cxn>
                <a:cxn ang="0">
                  <a:pos x="T10" y="T11"/>
                </a:cxn>
                <a:cxn ang="0">
                  <a:pos x="T12" y="T13"/>
                </a:cxn>
              </a:cxnLst>
              <a:rect l="0" t="0" r="r" b="b"/>
              <a:pathLst>
                <a:path w="350" h="556">
                  <a:moveTo>
                    <a:pt x="310" y="421"/>
                  </a:moveTo>
                  <a:cubicBezTo>
                    <a:pt x="310" y="421"/>
                    <a:pt x="179" y="401"/>
                    <a:pt x="131" y="211"/>
                  </a:cubicBezTo>
                  <a:cubicBezTo>
                    <a:pt x="131" y="211"/>
                    <a:pt x="282" y="76"/>
                    <a:pt x="342" y="68"/>
                  </a:cubicBezTo>
                  <a:cubicBezTo>
                    <a:pt x="350" y="48"/>
                    <a:pt x="342" y="0"/>
                    <a:pt x="302" y="4"/>
                  </a:cubicBezTo>
                  <a:cubicBezTo>
                    <a:pt x="302" y="4"/>
                    <a:pt x="116" y="60"/>
                    <a:pt x="0" y="203"/>
                  </a:cubicBezTo>
                  <a:cubicBezTo>
                    <a:pt x="0" y="203"/>
                    <a:pt x="96" y="477"/>
                    <a:pt x="302" y="556"/>
                  </a:cubicBezTo>
                  <a:cubicBezTo>
                    <a:pt x="338" y="528"/>
                    <a:pt x="325" y="421"/>
                    <a:pt x="325" y="421"/>
                  </a:cubicBezTo>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2" name="iṡľîd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804B046-5EE7-4209-B201-D46B2F368855}"/>
                </a:ext>
              </a:extLst>
            </p:cNvPr>
            <p:cNvSpPr/>
            <p:nvPr/>
          </p:nvSpPr>
          <p:spPr bwMode="auto">
            <a:xfrm>
              <a:off x="6909432" y="2996030"/>
              <a:ext cx="691097" cy="909094"/>
            </a:xfrm>
            <a:custGeom>
              <a:avLst/>
              <a:gdLst>
                <a:gd name="T0" fmla="*/ 153 w 334"/>
                <a:gd name="T1" fmla="*/ 0 h 440"/>
                <a:gd name="T2" fmla="*/ 334 w 334"/>
                <a:gd name="T3" fmla="*/ 273 h 440"/>
                <a:gd name="T4" fmla="*/ 76 w 334"/>
                <a:gd name="T5" fmla="*/ 440 h 440"/>
                <a:gd name="T6" fmla="*/ 68 w 334"/>
                <a:gd name="T7" fmla="*/ 377 h 440"/>
                <a:gd name="T8" fmla="*/ 199 w 334"/>
                <a:gd name="T9" fmla="*/ 262 h 440"/>
                <a:gd name="T10" fmla="*/ 52 w 334"/>
                <a:gd name="T11" fmla="*/ 79 h 440"/>
                <a:gd name="T12" fmla="*/ 153 w 334"/>
                <a:gd name="T13" fmla="*/ 0 h 440"/>
              </a:gdLst>
              <a:ahLst/>
              <a:cxnLst>
                <a:cxn ang="0">
                  <a:pos x="T0" y="T1"/>
                </a:cxn>
                <a:cxn ang="0">
                  <a:pos x="T2" y="T3"/>
                </a:cxn>
                <a:cxn ang="0">
                  <a:pos x="T4" y="T5"/>
                </a:cxn>
                <a:cxn ang="0">
                  <a:pos x="T6" y="T7"/>
                </a:cxn>
                <a:cxn ang="0">
                  <a:pos x="T8" y="T9"/>
                </a:cxn>
                <a:cxn ang="0">
                  <a:pos x="T10" y="T11"/>
                </a:cxn>
                <a:cxn ang="0">
                  <a:pos x="T12" y="T13"/>
                </a:cxn>
              </a:cxnLst>
              <a:rect l="0" t="0" r="r" b="b"/>
              <a:pathLst>
                <a:path w="334" h="440">
                  <a:moveTo>
                    <a:pt x="153" y="0"/>
                  </a:moveTo>
                  <a:cubicBezTo>
                    <a:pt x="153" y="0"/>
                    <a:pt x="302" y="154"/>
                    <a:pt x="334" y="273"/>
                  </a:cubicBezTo>
                  <a:cubicBezTo>
                    <a:pt x="334" y="273"/>
                    <a:pt x="211" y="412"/>
                    <a:pt x="76" y="440"/>
                  </a:cubicBezTo>
                  <a:cubicBezTo>
                    <a:pt x="76" y="440"/>
                    <a:pt x="48" y="408"/>
                    <a:pt x="68" y="377"/>
                  </a:cubicBezTo>
                  <a:cubicBezTo>
                    <a:pt x="80" y="361"/>
                    <a:pt x="171" y="317"/>
                    <a:pt x="199" y="262"/>
                  </a:cubicBezTo>
                  <a:cubicBezTo>
                    <a:pt x="207" y="238"/>
                    <a:pt x="104" y="95"/>
                    <a:pt x="52" y="79"/>
                  </a:cubicBezTo>
                  <a:cubicBezTo>
                    <a:pt x="0" y="63"/>
                    <a:pt x="153" y="0"/>
                    <a:pt x="153" y="0"/>
                  </a:cubicBezTo>
                  <a:close/>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3" name="îşḻiḋ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BD05164-3BF1-4D9E-8F7A-4684ECEE177B}"/>
                </a:ext>
              </a:extLst>
            </p:cNvPr>
            <p:cNvSpPr/>
            <p:nvPr/>
          </p:nvSpPr>
          <p:spPr bwMode="auto">
            <a:xfrm>
              <a:off x="6634617" y="2483505"/>
              <a:ext cx="223795" cy="76531"/>
            </a:xfrm>
            <a:custGeom>
              <a:avLst/>
              <a:gdLst>
                <a:gd name="T0" fmla="*/ 5 w 108"/>
                <a:gd name="T1" fmla="*/ 11 h 37"/>
                <a:gd name="T2" fmla="*/ 99 w 108"/>
                <a:gd name="T3" fmla="*/ 29 h 37"/>
                <a:gd name="T4" fmla="*/ 102 w 108"/>
                <a:gd name="T5" fmla="*/ 37 h 37"/>
                <a:gd name="T6" fmla="*/ 108 w 108"/>
                <a:gd name="T7" fmla="*/ 19 h 37"/>
                <a:gd name="T8" fmla="*/ 102 w 108"/>
                <a:gd name="T9" fmla="*/ 27 h 37"/>
                <a:gd name="T10" fmla="*/ 8 w 108"/>
                <a:gd name="T11" fmla="*/ 7 h 37"/>
                <a:gd name="T12" fmla="*/ 6 w 108"/>
                <a:gd name="T13" fmla="*/ 6 h 37"/>
                <a:gd name="T14" fmla="*/ 2 w 108"/>
                <a:gd name="T15" fmla="*/ 1 h 37"/>
                <a:gd name="T16" fmla="*/ 0 w 108"/>
                <a:gd name="T17" fmla="*/ 19 h 37"/>
                <a:gd name="T18" fmla="*/ 5 w 108"/>
                <a:gd name="T19" fmla="*/ 1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37">
                  <a:moveTo>
                    <a:pt x="5" y="11"/>
                  </a:moveTo>
                  <a:cubicBezTo>
                    <a:pt x="5" y="11"/>
                    <a:pt x="69" y="13"/>
                    <a:pt x="99" y="29"/>
                  </a:cubicBezTo>
                  <a:cubicBezTo>
                    <a:pt x="99" y="29"/>
                    <a:pt x="100" y="35"/>
                    <a:pt x="102" y="37"/>
                  </a:cubicBezTo>
                  <a:cubicBezTo>
                    <a:pt x="103" y="35"/>
                    <a:pt x="105" y="24"/>
                    <a:pt x="108" y="19"/>
                  </a:cubicBezTo>
                  <a:cubicBezTo>
                    <a:pt x="106" y="19"/>
                    <a:pt x="102" y="27"/>
                    <a:pt x="102" y="27"/>
                  </a:cubicBezTo>
                  <a:cubicBezTo>
                    <a:pt x="102" y="27"/>
                    <a:pt x="60" y="5"/>
                    <a:pt x="8" y="7"/>
                  </a:cubicBezTo>
                  <a:cubicBezTo>
                    <a:pt x="6" y="6"/>
                    <a:pt x="6" y="6"/>
                    <a:pt x="6" y="6"/>
                  </a:cubicBezTo>
                  <a:cubicBezTo>
                    <a:pt x="6" y="6"/>
                    <a:pt x="3" y="0"/>
                    <a:pt x="2" y="1"/>
                  </a:cubicBezTo>
                  <a:cubicBezTo>
                    <a:pt x="2" y="7"/>
                    <a:pt x="0" y="17"/>
                    <a:pt x="0" y="19"/>
                  </a:cubicBezTo>
                  <a:cubicBezTo>
                    <a:pt x="1" y="16"/>
                    <a:pt x="5" y="11"/>
                    <a:pt x="5" y="11"/>
                  </a:cubicBezTo>
                  <a:close/>
                </a:path>
              </a:pathLst>
            </a:custGeom>
            <a:solidFill>
              <a:srgbClr val="C48056"/>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4" name="i$lï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B4C4C62-592A-4428-9365-DEEA05AB3D57}"/>
                </a:ext>
              </a:extLst>
            </p:cNvPr>
            <p:cNvSpPr/>
            <p:nvPr/>
          </p:nvSpPr>
          <p:spPr bwMode="auto">
            <a:xfrm>
              <a:off x="7453266" y="2420889"/>
              <a:ext cx="3847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anchor="t" anchorCtr="0" compatLnSpc="1">
              <a:prstTxWarp prst="textNoShape">
                <a:avLst/>
              </a:prstTxWarp>
              <a:normAutofit fontScale="92500" lnSpcReduction="10000"/>
            </a:bodyPr>
            <a:lstStyle/>
            <a:p>
              <a:pPr marL="0" marR="0" lvl="0" indent="0" algn="l" defTabSz="914400" rtl="0" eaLnBrk="0" fontAlgn="base" latinLnBrk="0" hangingPunct="0">
                <a:spcBef>
                  <a:spcPct val="0"/>
                </a:spcBef>
                <a:spcAft>
                  <a:spcPct val="0"/>
                </a:spcAft>
                <a:buClrTx/>
                <a:buSzTx/>
                <a:buFontTx/>
                <a:buNone/>
                <a:tabLst/>
              </a:pPr>
              <a:r>
                <a:rPr kumimoji="0" lang="en-US" sz="5400" b="0" i="0" u="none" strike="noStrike" cap="none" normalizeH="0" baseline="0" dirty="0">
                  <a:ln>
                    <a:noFill/>
                  </a:ln>
                  <a:solidFill>
                    <a:srgbClr val="94DADA"/>
                  </a:solidFill>
                  <a:latin typeface="Arial" panose="020B0604020202020204" pitchFamily="34" charset="0"/>
                </a:rPr>
                <a:t>?</a:t>
              </a:r>
            </a:p>
          </p:txBody>
        </p:sp>
        <p:sp>
          <p:nvSpPr>
            <p:cNvPr id="35" name="iŝľiḋ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9ED51354-6E17-48C9-BBD0-FBC41D417C60}"/>
                </a:ext>
              </a:extLst>
            </p:cNvPr>
            <p:cNvSpPr/>
            <p:nvPr/>
          </p:nvSpPr>
          <p:spPr bwMode="auto">
            <a:xfrm rot="19980000">
              <a:off x="6188552" y="1470187"/>
              <a:ext cx="25647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anchor="t" anchorCtr="0" compatLnSpc="1">
              <a:prstTxWarp prst="textNoShape">
                <a:avLst/>
              </a:prstTxWarp>
              <a:normAutofit fontScale="92500" lnSpcReduction="10000"/>
            </a:bodyPr>
            <a:lstStyle/>
            <a:p>
              <a:pPr marL="0" marR="0" lvl="0" indent="0" algn="l" defTabSz="914400" rtl="0" eaLnBrk="0" fontAlgn="base" latinLnBrk="0" hangingPunct="0">
                <a:spcBef>
                  <a:spcPct val="0"/>
                </a:spcBef>
                <a:spcAft>
                  <a:spcPct val="0"/>
                </a:spcAft>
                <a:buClrTx/>
                <a:buSzTx/>
                <a:buFontTx/>
                <a:buNone/>
                <a:tabLst/>
              </a:pPr>
              <a:r>
                <a:rPr kumimoji="0" lang="en-US" sz="3600" b="0" i="0" u="none" strike="noStrike" cap="none" normalizeH="0" baseline="0" dirty="0">
                  <a:ln>
                    <a:noFill/>
                  </a:ln>
                  <a:solidFill>
                    <a:srgbClr val="94DADA"/>
                  </a:solidFill>
                  <a:latin typeface="Arial" panose="020B0604020202020204" pitchFamily="34" charset="0"/>
                </a:rPr>
                <a:t>?</a:t>
              </a:r>
            </a:p>
          </p:txBody>
        </p:sp>
        <p:sp>
          <p:nvSpPr>
            <p:cNvPr id="36" name="îṡlîḋ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29210044-0E14-45B6-AE06-4DAA53161393}"/>
                </a:ext>
              </a:extLst>
            </p:cNvPr>
            <p:cNvSpPr/>
            <p:nvPr/>
          </p:nvSpPr>
          <p:spPr bwMode="auto">
            <a:xfrm>
              <a:off x="7096122" y="2062585"/>
              <a:ext cx="153062" cy="233072"/>
            </a:xfrm>
            <a:custGeom>
              <a:avLst/>
              <a:gdLst>
                <a:gd name="T0" fmla="*/ 74 w 74"/>
                <a:gd name="T1" fmla="*/ 0 h 113"/>
                <a:gd name="T2" fmla="*/ 29 w 74"/>
                <a:gd name="T3" fmla="*/ 73 h 113"/>
                <a:gd name="T4" fmla="*/ 74 w 74"/>
                <a:gd name="T5" fmla="*/ 0 h 113"/>
              </a:gdLst>
              <a:ahLst/>
              <a:cxnLst>
                <a:cxn ang="0">
                  <a:pos x="T0" y="T1"/>
                </a:cxn>
                <a:cxn ang="0">
                  <a:pos x="T2" y="T3"/>
                </a:cxn>
                <a:cxn ang="0">
                  <a:pos x="T4" y="T5"/>
                </a:cxn>
              </a:cxnLst>
              <a:rect l="0" t="0" r="r" b="b"/>
              <a:pathLst>
                <a:path w="74" h="113">
                  <a:moveTo>
                    <a:pt x="74" y="0"/>
                  </a:moveTo>
                  <a:cubicBezTo>
                    <a:pt x="74" y="0"/>
                    <a:pt x="57" y="113"/>
                    <a:pt x="29" y="73"/>
                  </a:cubicBezTo>
                  <a:cubicBezTo>
                    <a:pt x="0" y="33"/>
                    <a:pt x="74" y="0"/>
                    <a:pt x="74" y="0"/>
                  </a:cubicBezTo>
                  <a:close/>
                </a:path>
              </a:pathLst>
            </a:custGeom>
            <a:solidFill>
              <a:srgbClr val="F2F3C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7" name="iṡ1íḑ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D533A033-6384-4B72-B4B8-2809104624AF}"/>
                </a:ext>
              </a:extLst>
            </p:cNvPr>
            <p:cNvSpPr/>
            <p:nvPr/>
          </p:nvSpPr>
          <p:spPr bwMode="auto">
            <a:xfrm>
              <a:off x="6480050" y="1117793"/>
              <a:ext cx="1045923" cy="546152"/>
            </a:xfrm>
            <a:custGeom>
              <a:avLst/>
              <a:gdLst>
                <a:gd name="T0" fmla="*/ 493 w 506"/>
                <a:gd name="T1" fmla="*/ 200 h 264"/>
                <a:gd name="T2" fmla="*/ 366 w 506"/>
                <a:gd name="T3" fmla="*/ 113 h 264"/>
                <a:gd name="T4" fmla="*/ 190 w 506"/>
                <a:gd name="T5" fmla="*/ 56 h 264"/>
                <a:gd name="T6" fmla="*/ 188 w 506"/>
                <a:gd name="T7" fmla="*/ 56 h 264"/>
                <a:gd name="T8" fmla="*/ 249 w 506"/>
                <a:gd name="T9" fmla="*/ 15 h 264"/>
                <a:gd name="T10" fmla="*/ 344 w 506"/>
                <a:gd name="T11" fmla="*/ 13 h 264"/>
                <a:gd name="T12" fmla="*/ 434 w 506"/>
                <a:gd name="T13" fmla="*/ 38 h 264"/>
                <a:gd name="T14" fmla="*/ 436 w 506"/>
                <a:gd name="T15" fmla="*/ 35 h 264"/>
                <a:gd name="T16" fmla="*/ 266 w 506"/>
                <a:gd name="T17" fmla="*/ 7 h 264"/>
                <a:gd name="T18" fmla="*/ 184 w 506"/>
                <a:gd name="T19" fmla="*/ 55 h 264"/>
                <a:gd name="T20" fmla="*/ 101 w 506"/>
                <a:gd name="T21" fmla="*/ 41 h 264"/>
                <a:gd name="T22" fmla="*/ 60 w 506"/>
                <a:gd name="T23" fmla="*/ 43 h 264"/>
                <a:gd name="T24" fmla="*/ 25 w 506"/>
                <a:gd name="T25" fmla="*/ 55 h 264"/>
                <a:gd name="T26" fmla="*/ 29 w 506"/>
                <a:gd name="T27" fmla="*/ 126 h 264"/>
                <a:gd name="T28" fmla="*/ 98 w 506"/>
                <a:gd name="T29" fmla="*/ 189 h 264"/>
                <a:gd name="T30" fmla="*/ 278 w 506"/>
                <a:gd name="T31" fmla="*/ 263 h 264"/>
                <a:gd name="T32" fmla="*/ 279 w 506"/>
                <a:gd name="T33" fmla="*/ 260 h 264"/>
                <a:gd name="T34" fmla="*/ 127 w 506"/>
                <a:gd name="T35" fmla="*/ 203 h 264"/>
                <a:gd name="T36" fmla="*/ 61 w 506"/>
                <a:gd name="T37" fmla="*/ 153 h 264"/>
                <a:gd name="T38" fmla="*/ 15 w 506"/>
                <a:gd name="T39" fmla="*/ 84 h 264"/>
                <a:gd name="T40" fmla="*/ 94 w 506"/>
                <a:gd name="T41" fmla="*/ 45 h 264"/>
                <a:gd name="T42" fmla="*/ 182 w 506"/>
                <a:gd name="T43" fmla="*/ 59 h 264"/>
                <a:gd name="T44" fmla="*/ 173 w 506"/>
                <a:gd name="T45" fmla="*/ 94 h 264"/>
                <a:gd name="T46" fmla="*/ 258 w 506"/>
                <a:gd name="T47" fmla="*/ 203 h 264"/>
                <a:gd name="T48" fmla="*/ 416 w 506"/>
                <a:gd name="T49" fmla="*/ 249 h 264"/>
                <a:gd name="T50" fmla="*/ 487 w 506"/>
                <a:gd name="T51" fmla="*/ 242 h 264"/>
                <a:gd name="T52" fmla="*/ 502 w 506"/>
                <a:gd name="T53" fmla="*/ 226 h 264"/>
                <a:gd name="T54" fmla="*/ 493 w 506"/>
                <a:gd name="T55" fmla="*/ 200 h 264"/>
                <a:gd name="T56" fmla="*/ 471 w 506"/>
                <a:gd name="T57" fmla="*/ 243 h 264"/>
                <a:gd name="T58" fmla="*/ 426 w 506"/>
                <a:gd name="T59" fmla="*/ 245 h 264"/>
                <a:gd name="T60" fmla="*/ 339 w 506"/>
                <a:gd name="T61" fmla="*/ 232 h 264"/>
                <a:gd name="T62" fmla="*/ 193 w 506"/>
                <a:gd name="T63" fmla="*/ 143 h 264"/>
                <a:gd name="T64" fmla="*/ 184 w 506"/>
                <a:gd name="T65" fmla="*/ 64 h 264"/>
                <a:gd name="T66" fmla="*/ 186 w 506"/>
                <a:gd name="T67" fmla="*/ 59 h 264"/>
                <a:gd name="T68" fmla="*/ 189 w 506"/>
                <a:gd name="T69" fmla="*/ 60 h 264"/>
                <a:gd name="T70" fmla="*/ 367 w 506"/>
                <a:gd name="T71" fmla="*/ 118 h 264"/>
                <a:gd name="T72" fmla="*/ 439 w 506"/>
                <a:gd name="T73" fmla="*/ 156 h 264"/>
                <a:gd name="T74" fmla="*/ 471 w 506"/>
                <a:gd name="T75" fmla="*/ 181 h 264"/>
                <a:gd name="T76" fmla="*/ 499 w 506"/>
                <a:gd name="T77" fmla="*/ 221 h 264"/>
                <a:gd name="T78" fmla="*/ 471 w 506"/>
                <a:gd name="T79" fmla="*/ 24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6" h="264">
                  <a:moveTo>
                    <a:pt x="493" y="200"/>
                  </a:moveTo>
                  <a:cubicBezTo>
                    <a:pt x="461" y="159"/>
                    <a:pt x="413" y="133"/>
                    <a:pt x="366" y="113"/>
                  </a:cubicBezTo>
                  <a:cubicBezTo>
                    <a:pt x="309" y="89"/>
                    <a:pt x="250" y="71"/>
                    <a:pt x="190" y="56"/>
                  </a:cubicBezTo>
                  <a:cubicBezTo>
                    <a:pt x="189" y="56"/>
                    <a:pt x="189" y="56"/>
                    <a:pt x="188" y="56"/>
                  </a:cubicBezTo>
                  <a:cubicBezTo>
                    <a:pt x="202" y="35"/>
                    <a:pt x="225" y="21"/>
                    <a:pt x="249" y="15"/>
                  </a:cubicBezTo>
                  <a:cubicBezTo>
                    <a:pt x="280" y="7"/>
                    <a:pt x="313" y="8"/>
                    <a:pt x="344" y="13"/>
                  </a:cubicBezTo>
                  <a:cubicBezTo>
                    <a:pt x="375" y="17"/>
                    <a:pt x="405" y="26"/>
                    <a:pt x="434" y="38"/>
                  </a:cubicBezTo>
                  <a:cubicBezTo>
                    <a:pt x="436" y="39"/>
                    <a:pt x="438" y="36"/>
                    <a:pt x="436" y="35"/>
                  </a:cubicBezTo>
                  <a:cubicBezTo>
                    <a:pt x="383" y="12"/>
                    <a:pt x="323" y="0"/>
                    <a:pt x="266" y="7"/>
                  </a:cubicBezTo>
                  <a:cubicBezTo>
                    <a:pt x="234" y="12"/>
                    <a:pt x="201" y="28"/>
                    <a:pt x="184" y="55"/>
                  </a:cubicBezTo>
                  <a:cubicBezTo>
                    <a:pt x="157" y="48"/>
                    <a:pt x="129" y="43"/>
                    <a:pt x="101" y="41"/>
                  </a:cubicBezTo>
                  <a:cubicBezTo>
                    <a:pt x="87" y="40"/>
                    <a:pt x="74" y="41"/>
                    <a:pt x="60" y="43"/>
                  </a:cubicBezTo>
                  <a:cubicBezTo>
                    <a:pt x="48" y="45"/>
                    <a:pt x="35" y="48"/>
                    <a:pt x="25" y="55"/>
                  </a:cubicBezTo>
                  <a:cubicBezTo>
                    <a:pt x="0" y="75"/>
                    <a:pt x="14" y="105"/>
                    <a:pt x="29" y="126"/>
                  </a:cubicBezTo>
                  <a:cubicBezTo>
                    <a:pt x="48" y="150"/>
                    <a:pt x="73" y="171"/>
                    <a:pt x="98" y="189"/>
                  </a:cubicBezTo>
                  <a:cubicBezTo>
                    <a:pt x="151" y="227"/>
                    <a:pt x="213" y="253"/>
                    <a:pt x="278" y="263"/>
                  </a:cubicBezTo>
                  <a:cubicBezTo>
                    <a:pt x="280" y="264"/>
                    <a:pt x="282" y="260"/>
                    <a:pt x="279" y="260"/>
                  </a:cubicBezTo>
                  <a:cubicBezTo>
                    <a:pt x="225" y="251"/>
                    <a:pt x="174" y="232"/>
                    <a:pt x="127" y="203"/>
                  </a:cubicBezTo>
                  <a:cubicBezTo>
                    <a:pt x="103" y="189"/>
                    <a:pt x="81" y="172"/>
                    <a:pt x="61" y="153"/>
                  </a:cubicBezTo>
                  <a:cubicBezTo>
                    <a:pt x="41" y="135"/>
                    <a:pt x="17" y="112"/>
                    <a:pt x="15" y="84"/>
                  </a:cubicBezTo>
                  <a:cubicBezTo>
                    <a:pt x="12" y="47"/>
                    <a:pt x="69" y="45"/>
                    <a:pt x="94" y="45"/>
                  </a:cubicBezTo>
                  <a:cubicBezTo>
                    <a:pt x="124" y="45"/>
                    <a:pt x="153" y="52"/>
                    <a:pt x="182" y="59"/>
                  </a:cubicBezTo>
                  <a:cubicBezTo>
                    <a:pt x="176" y="69"/>
                    <a:pt x="173" y="81"/>
                    <a:pt x="173" y="94"/>
                  </a:cubicBezTo>
                  <a:cubicBezTo>
                    <a:pt x="171" y="144"/>
                    <a:pt x="220" y="181"/>
                    <a:pt x="258" y="203"/>
                  </a:cubicBezTo>
                  <a:cubicBezTo>
                    <a:pt x="306" y="230"/>
                    <a:pt x="361" y="246"/>
                    <a:pt x="416" y="249"/>
                  </a:cubicBezTo>
                  <a:cubicBezTo>
                    <a:pt x="439" y="250"/>
                    <a:pt x="466" y="252"/>
                    <a:pt x="487" y="242"/>
                  </a:cubicBezTo>
                  <a:cubicBezTo>
                    <a:pt x="494" y="239"/>
                    <a:pt x="500" y="234"/>
                    <a:pt x="502" y="226"/>
                  </a:cubicBezTo>
                  <a:cubicBezTo>
                    <a:pt x="506" y="217"/>
                    <a:pt x="499" y="207"/>
                    <a:pt x="493" y="200"/>
                  </a:cubicBezTo>
                  <a:close/>
                  <a:moveTo>
                    <a:pt x="471" y="243"/>
                  </a:moveTo>
                  <a:cubicBezTo>
                    <a:pt x="456" y="246"/>
                    <a:pt x="441" y="246"/>
                    <a:pt x="426" y="245"/>
                  </a:cubicBezTo>
                  <a:cubicBezTo>
                    <a:pt x="396" y="245"/>
                    <a:pt x="367" y="240"/>
                    <a:pt x="339" y="232"/>
                  </a:cubicBezTo>
                  <a:cubicBezTo>
                    <a:pt x="285" y="217"/>
                    <a:pt x="226" y="189"/>
                    <a:pt x="193" y="143"/>
                  </a:cubicBezTo>
                  <a:cubicBezTo>
                    <a:pt x="177" y="119"/>
                    <a:pt x="171" y="90"/>
                    <a:pt x="184" y="64"/>
                  </a:cubicBezTo>
                  <a:cubicBezTo>
                    <a:pt x="184" y="62"/>
                    <a:pt x="185" y="61"/>
                    <a:pt x="186" y="59"/>
                  </a:cubicBezTo>
                  <a:cubicBezTo>
                    <a:pt x="187" y="60"/>
                    <a:pt x="188" y="60"/>
                    <a:pt x="189" y="60"/>
                  </a:cubicBezTo>
                  <a:cubicBezTo>
                    <a:pt x="250" y="75"/>
                    <a:pt x="310" y="94"/>
                    <a:pt x="367" y="118"/>
                  </a:cubicBezTo>
                  <a:cubicBezTo>
                    <a:pt x="392" y="128"/>
                    <a:pt x="416" y="141"/>
                    <a:pt x="439" y="156"/>
                  </a:cubicBezTo>
                  <a:cubicBezTo>
                    <a:pt x="450" y="164"/>
                    <a:pt x="461" y="172"/>
                    <a:pt x="471" y="181"/>
                  </a:cubicBezTo>
                  <a:cubicBezTo>
                    <a:pt x="482" y="191"/>
                    <a:pt x="498" y="206"/>
                    <a:pt x="499" y="221"/>
                  </a:cubicBezTo>
                  <a:cubicBezTo>
                    <a:pt x="500" y="235"/>
                    <a:pt x="481" y="241"/>
                    <a:pt x="471" y="243"/>
                  </a:cubicBezTo>
                  <a:close/>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solidFill>
                  <a:srgbClr val="94DADA"/>
                </a:solidFill>
                <a:latin typeface="Arial" panose="020B0604020202020204" pitchFamily="34" charset="0"/>
              </a:endParaRPr>
            </a:p>
          </p:txBody>
        </p:sp>
        <p:sp>
          <p:nvSpPr>
            <p:cNvPr id="38" name="išļíḓ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EA1CBB53-2B37-43EB-B782-90FEA1807003}"/>
                </a:ext>
              </a:extLst>
            </p:cNvPr>
            <p:cNvSpPr/>
            <p:nvPr/>
          </p:nvSpPr>
          <p:spPr bwMode="auto">
            <a:xfrm>
              <a:off x="7331512" y="1130300"/>
              <a:ext cx="165817" cy="171615"/>
            </a:xfrm>
            <a:custGeom>
              <a:avLst/>
              <a:gdLst>
                <a:gd name="T0" fmla="*/ 59 w 143"/>
                <a:gd name="T1" fmla="*/ 59 h 148"/>
                <a:gd name="T2" fmla="*/ 82 w 143"/>
                <a:gd name="T3" fmla="*/ 0 h 148"/>
                <a:gd name="T4" fmla="*/ 91 w 143"/>
                <a:gd name="T5" fmla="*/ 69 h 148"/>
                <a:gd name="T6" fmla="*/ 143 w 143"/>
                <a:gd name="T7" fmla="*/ 80 h 148"/>
                <a:gd name="T8" fmla="*/ 93 w 143"/>
                <a:gd name="T9" fmla="*/ 93 h 148"/>
                <a:gd name="T10" fmla="*/ 116 w 143"/>
                <a:gd name="T11" fmla="*/ 148 h 148"/>
                <a:gd name="T12" fmla="*/ 69 w 143"/>
                <a:gd name="T13" fmla="*/ 103 h 148"/>
                <a:gd name="T14" fmla="*/ 16 w 143"/>
                <a:gd name="T15" fmla="*/ 146 h 148"/>
                <a:gd name="T16" fmla="*/ 50 w 143"/>
                <a:gd name="T17" fmla="*/ 82 h 148"/>
                <a:gd name="T18" fmla="*/ 0 w 143"/>
                <a:gd name="T19" fmla="*/ 59 h 148"/>
                <a:gd name="T20" fmla="*/ 59 w 143"/>
                <a:gd name="T21" fmla="*/ 5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3" h="148">
                  <a:moveTo>
                    <a:pt x="59" y="59"/>
                  </a:moveTo>
                  <a:lnTo>
                    <a:pt x="82" y="0"/>
                  </a:lnTo>
                  <a:lnTo>
                    <a:pt x="91" y="69"/>
                  </a:lnTo>
                  <a:lnTo>
                    <a:pt x="143" y="80"/>
                  </a:lnTo>
                  <a:lnTo>
                    <a:pt x="93" y="93"/>
                  </a:lnTo>
                  <a:lnTo>
                    <a:pt x="116" y="148"/>
                  </a:lnTo>
                  <a:lnTo>
                    <a:pt x="69" y="103"/>
                  </a:lnTo>
                  <a:lnTo>
                    <a:pt x="16" y="146"/>
                  </a:lnTo>
                  <a:lnTo>
                    <a:pt x="50" y="82"/>
                  </a:lnTo>
                  <a:lnTo>
                    <a:pt x="0" y="59"/>
                  </a:lnTo>
                  <a:lnTo>
                    <a:pt x="59" y="59"/>
                  </a:lnTo>
                  <a:close/>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39" name="îšḷïď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10647CDE-6990-4BC8-8497-BD25301D176A}"/>
                </a:ext>
              </a:extLst>
            </p:cNvPr>
            <p:cNvSpPr/>
            <p:nvPr/>
          </p:nvSpPr>
          <p:spPr bwMode="auto">
            <a:xfrm>
              <a:off x="6438652" y="1320468"/>
              <a:ext cx="164657" cy="171615"/>
            </a:xfrm>
            <a:custGeom>
              <a:avLst/>
              <a:gdLst>
                <a:gd name="T0" fmla="*/ 59 w 142"/>
                <a:gd name="T1" fmla="*/ 59 h 148"/>
                <a:gd name="T2" fmla="*/ 82 w 142"/>
                <a:gd name="T3" fmla="*/ 0 h 148"/>
                <a:gd name="T4" fmla="*/ 91 w 142"/>
                <a:gd name="T5" fmla="*/ 69 h 148"/>
                <a:gd name="T6" fmla="*/ 142 w 142"/>
                <a:gd name="T7" fmla="*/ 80 h 148"/>
                <a:gd name="T8" fmla="*/ 93 w 142"/>
                <a:gd name="T9" fmla="*/ 92 h 148"/>
                <a:gd name="T10" fmla="*/ 116 w 142"/>
                <a:gd name="T11" fmla="*/ 148 h 148"/>
                <a:gd name="T12" fmla="*/ 69 w 142"/>
                <a:gd name="T13" fmla="*/ 103 h 148"/>
                <a:gd name="T14" fmla="*/ 16 w 142"/>
                <a:gd name="T15" fmla="*/ 146 h 148"/>
                <a:gd name="T16" fmla="*/ 50 w 142"/>
                <a:gd name="T17" fmla="*/ 82 h 148"/>
                <a:gd name="T18" fmla="*/ 0 w 142"/>
                <a:gd name="T19" fmla="*/ 59 h 148"/>
                <a:gd name="T20" fmla="*/ 59 w 142"/>
                <a:gd name="T21" fmla="*/ 5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2" h="148">
                  <a:moveTo>
                    <a:pt x="59" y="59"/>
                  </a:moveTo>
                  <a:lnTo>
                    <a:pt x="82" y="0"/>
                  </a:lnTo>
                  <a:lnTo>
                    <a:pt x="91" y="69"/>
                  </a:lnTo>
                  <a:lnTo>
                    <a:pt x="142" y="80"/>
                  </a:lnTo>
                  <a:lnTo>
                    <a:pt x="93" y="92"/>
                  </a:lnTo>
                  <a:lnTo>
                    <a:pt x="116" y="148"/>
                  </a:lnTo>
                  <a:lnTo>
                    <a:pt x="69" y="103"/>
                  </a:lnTo>
                  <a:lnTo>
                    <a:pt x="16" y="146"/>
                  </a:lnTo>
                  <a:lnTo>
                    <a:pt x="50" y="82"/>
                  </a:lnTo>
                  <a:lnTo>
                    <a:pt x="0" y="59"/>
                  </a:lnTo>
                  <a:lnTo>
                    <a:pt x="59" y="59"/>
                  </a:lnTo>
                  <a:close/>
                </a:path>
              </a:pathLst>
            </a:custGeom>
            <a:solidFill>
              <a:srgbClr val="94DADA"/>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sp>
          <p:nvSpPr>
            <p:cNvPr id="40" name="iṣḷîḍè">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7BFD335E-C7BD-499B-8132-6DAD32BAF71E}"/>
                </a:ext>
              </a:extLst>
            </p:cNvPr>
            <p:cNvSpPr/>
            <p:nvPr/>
          </p:nvSpPr>
          <p:spPr bwMode="auto">
            <a:xfrm>
              <a:off x="7461382" y="1799366"/>
              <a:ext cx="83488" cy="86967"/>
            </a:xfrm>
            <a:custGeom>
              <a:avLst/>
              <a:gdLst>
                <a:gd name="T0" fmla="*/ 31 w 72"/>
                <a:gd name="T1" fmla="*/ 29 h 75"/>
                <a:gd name="T2" fmla="*/ 41 w 72"/>
                <a:gd name="T3" fmla="*/ 0 h 75"/>
                <a:gd name="T4" fmla="*/ 47 w 72"/>
                <a:gd name="T5" fmla="*/ 34 h 75"/>
                <a:gd name="T6" fmla="*/ 72 w 72"/>
                <a:gd name="T7" fmla="*/ 39 h 75"/>
                <a:gd name="T8" fmla="*/ 47 w 72"/>
                <a:gd name="T9" fmla="*/ 47 h 75"/>
                <a:gd name="T10" fmla="*/ 59 w 72"/>
                <a:gd name="T11" fmla="*/ 75 h 75"/>
                <a:gd name="T12" fmla="*/ 36 w 72"/>
                <a:gd name="T13" fmla="*/ 52 h 75"/>
                <a:gd name="T14" fmla="*/ 9 w 72"/>
                <a:gd name="T15" fmla="*/ 73 h 75"/>
                <a:gd name="T16" fmla="*/ 25 w 72"/>
                <a:gd name="T17" fmla="*/ 41 h 75"/>
                <a:gd name="T18" fmla="*/ 0 w 72"/>
                <a:gd name="T19" fmla="*/ 29 h 75"/>
                <a:gd name="T20" fmla="*/ 31 w 72"/>
                <a:gd name="T21" fmla="*/ 29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75">
                  <a:moveTo>
                    <a:pt x="31" y="29"/>
                  </a:moveTo>
                  <a:lnTo>
                    <a:pt x="41" y="0"/>
                  </a:lnTo>
                  <a:lnTo>
                    <a:pt x="47" y="34"/>
                  </a:lnTo>
                  <a:lnTo>
                    <a:pt x="72" y="39"/>
                  </a:lnTo>
                  <a:lnTo>
                    <a:pt x="47" y="47"/>
                  </a:lnTo>
                  <a:lnTo>
                    <a:pt x="59" y="75"/>
                  </a:lnTo>
                  <a:lnTo>
                    <a:pt x="36" y="52"/>
                  </a:lnTo>
                  <a:lnTo>
                    <a:pt x="9" y="73"/>
                  </a:lnTo>
                  <a:lnTo>
                    <a:pt x="25" y="41"/>
                  </a:lnTo>
                  <a:lnTo>
                    <a:pt x="0" y="29"/>
                  </a:lnTo>
                  <a:lnTo>
                    <a:pt x="31" y="29"/>
                  </a:lnTo>
                  <a:close/>
                </a:path>
              </a:pathLst>
            </a:custGeom>
            <a:solidFill>
              <a:srgbClr val="F2F3CD"/>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dirty="0">
                <a:latin typeface="Arial" panose="020B0604020202020204" pitchFamily="34" charset="0"/>
              </a:endParaRPr>
            </a:p>
          </p:txBody>
        </p:sp>
      </p:grpSp>
      <p:grpSp>
        <p:nvGrpSpPr>
          <p:cNvPr id="62" name="组合 61"/>
          <p:cNvGrpSpPr/>
          <p:nvPr/>
        </p:nvGrpSpPr>
        <p:grpSpPr>
          <a:xfrm>
            <a:off x="1415480" y="1736812"/>
            <a:ext cx="4541851" cy="4541851"/>
            <a:chOff x="3481323" y="1021593"/>
            <a:chExt cx="5281222" cy="5281222"/>
          </a:xfrm>
        </p:grpSpPr>
        <p:sp>
          <p:nvSpPr>
            <p:cNvPr id="63" name="Oval 11"/>
            <p:cNvSpPr>
              <a:spLocks noChangeArrowheads="1"/>
            </p:cNvSpPr>
            <p:nvPr/>
          </p:nvSpPr>
          <p:spPr bwMode="auto">
            <a:xfrm rot="3600000" flipH="1">
              <a:off x="3481323" y="2798004"/>
              <a:ext cx="5281222" cy="1728400"/>
            </a:xfrm>
            <a:prstGeom prst="ellipse">
              <a:avLst/>
            </a:prstGeom>
            <a:noFill/>
            <a:ln w="12700">
              <a:solidFill>
                <a:schemeClr val="bg1">
                  <a:lumMod val="75000"/>
                </a:schemeClr>
              </a:solidFill>
            </a:ln>
            <a:effectLst/>
          </p:spPr>
          <p:style>
            <a:lnRef idx="1">
              <a:schemeClr val="accent2"/>
            </a:lnRef>
            <a:fillRef idx="3">
              <a:schemeClr val="accent2"/>
            </a:fillRef>
            <a:effectRef idx="2">
              <a:schemeClr val="accent2"/>
            </a:effectRef>
            <a:fontRef idx="minor">
              <a:schemeClr val="lt1"/>
            </a:fontRef>
          </p:style>
          <p:txBody>
            <a:bodyPr anchor="ctr">
              <a:sp3d/>
            </a:bodyPr>
            <a:lstStyle/>
            <a:p>
              <a:pPr algn="ctr" eaLnBrk="0" fontAlgn="ctr" hangingPunct="0">
                <a:buClr>
                  <a:srgbClr val="FF0000"/>
                </a:buClr>
                <a:buSzPct val="70000"/>
                <a:defRPr/>
              </a:pPr>
              <a:endParaRPr lang="zh-CN" altLang="en-US" sz="2134" b="1" dirty="0">
                <a:solidFill>
                  <a:srgbClr val="FFFFFF"/>
                </a:solidFill>
                <a:latin typeface="Arial" panose="020B0604020202020204" pitchFamily="34" charset="0"/>
                <a:ea typeface="微软雅黑" pitchFamily="34" charset="-122"/>
                <a:cs typeface="Arial" pitchFamily="34" charset="0"/>
              </a:endParaRPr>
            </a:p>
          </p:txBody>
        </p:sp>
        <p:sp>
          <p:nvSpPr>
            <p:cNvPr id="64" name="Oval 11"/>
            <p:cNvSpPr>
              <a:spLocks noChangeArrowheads="1"/>
            </p:cNvSpPr>
            <p:nvPr/>
          </p:nvSpPr>
          <p:spPr bwMode="auto">
            <a:xfrm rot="10800000" flipH="1">
              <a:off x="3481323" y="2798004"/>
              <a:ext cx="5281222" cy="1728400"/>
            </a:xfrm>
            <a:prstGeom prst="ellipse">
              <a:avLst/>
            </a:prstGeom>
            <a:noFill/>
            <a:ln w="12700">
              <a:solidFill>
                <a:schemeClr val="bg1">
                  <a:lumMod val="75000"/>
                </a:schemeClr>
              </a:solidFill>
            </a:ln>
            <a:effectLst/>
          </p:spPr>
          <p:style>
            <a:lnRef idx="1">
              <a:schemeClr val="accent2"/>
            </a:lnRef>
            <a:fillRef idx="3">
              <a:schemeClr val="accent2"/>
            </a:fillRef>
            <a:effectRef idx="2">
              <a:schemeClr val="accent2"/>
            </a:effectRef>
            <a:fontRef idx="minor">
              <a:schemeClr val="lt1"/>
            </a:fontRef>
          </p:style>
          <p:txBody>
            <a:bodyPr anchor="ctr">
              <a:sp3d/>
            </a:bodyPr>
            <a:lstStyle/>
            <a:p>
              <a:pPr algn="ctr" eaLnBrk="0" fontAlgn="ctr" hangingPunct="0">
                <a:buClr>
                  <a:srgbClr val="FF0000"/>
                </a:buClr>
                <a:buSzPct val="70000"/>
                <a:defRPr/>
              </a:pPr>
              <a:endParaRPr lang="zh-CN" altLang="en-US" sz="2134" b="1" dirty="0">
                <a:solidFill>
                  <a:srgbClr val="FFFFFF"/>
                </a:solidFill>
                <a:latin typeface="Arial" panose="020B0604020202020204" pitchFamily="34" charset="0"/>
                <a:ea typeface="微软雅黑" pitchFamily="34" charset="-122"/>
                <a:cs typeface="Arial" pitchFamily="34" charset="0"/>
              </a:endParaRPr>
            </a:p>
          </p:txBody>
        </p:sp>
        <p:sp>
          <p:nvSpPr>
            <p:cNvPr id="65" name="Oval 11"/>
            <p:cNvSpPr>
              <a:spLocks noChangeArrowheads="1"/>
            </p:cNvSpPr>
            <p:nvPr/>
          </p:nvSpPr>
          <p:spPr bwMode="auto">
            <a:xfrm rot="7200000" flipH="1">
              <a:off x="3481323" y="2798004"/>
              <a:ext cx="5281222" cy="1728400"/>
            </a:xfrm>
            <a:prstGeom prst="ellipse">
              <a:avLst/>
            </a:prstGeom>
            <a:noFill/>
            <a:ln w="12700">
              <a:solidFill>
                <a:schemeClr val="bg1">
                  <a:lumMod val="75000"/>
                </a:schemeClr>
              </a:solidFill>
            </a:ln>
            <a:effectLst/>
          </p:spPr>
          <p:style>
            <a:lnRef idx="1">
              <a:schemeClr val="accent2"/>
            </a:lnRef>
            <a:fillRef idx="3">
              <a:schemeClr val="accent2"/>
            </a:fillRef>
            <a:effectRef idx="2">
              <a:schemeClr val="accent2"/>
            </a:effectRef>
            <a:fontRef idx="minor">
              <a:schemeClr val="lt1"/>
            </a:fontRef>
          </p:style>
          <p:txBody>
            <a:bodyPr anchor="ctr">
              <a:sp3d/>
            </a:bodyPr>
            <a:lstStyle/>
            <a:p>
              <a:pPr algn="ctr" eaLnBrk="0" fontAlgn="ctr" hangingPunct="0">
                <a:buClr>
                  <a:srgbClr val="FF0000"/>
                </a:buClr>
                <a:buSzPct val="70000"/>
                <a:defRPr/>
              </a:pPr>
              <a:endParaRPr lang="zh-CN" altLang="en-US" sz="2134" b="1" dirty="0">
                <a:solidFill>
                  <a:srgbClr val="FFFFFF"/>
                </a:solidFill>
                <a:latin typeface="Arial" panose="020B0604020202020204" pitchFamily="34" charset="0"/>
                <a:ea typeface="微软雅黑" pitchFamily="34" charset="-122"/>
                <a:cs typeface="Arial" pitchFamily="34" charset="0"/>
              </a:endParaRPr>
            </a:p>
          </p:txBody>
        </p:sp>
      </p:grpSp>
      <p:sp>
        <p:nvSpPr>
          <p:cNvPr id="73" name="linux_154873"/>
          <p:cNvSpPr>
            <a:spLocks noChangeAspect="1"/>
          </p:cNvSpPr>
          <p:nvPr/>
        </p:nvSpPr>
        <p:spPr bwMode="auto">
          <a:xfrm>
            <a:off x="3424322" y="3728134"/>
            <a:ext cx="609685" cy="586094"/>
          </a:xfrm>
          <a:custGeom>
            <a:avLst/>
            <a:gdLst>
              <a:gd name="connsiteX0" fmla="*/ 241391 w 516922"/>
              <a:gd name="connsiteY0" fmla="*/ 466920 h 496921"/>
              <a:gd name="connsiteX1" fmla="*/ 374792 w 516922"/>
              <a:gd name="connsiteY1" fmla="*/ 466920 h 496921"/>
              <a:gd name="connsiteX2" fmla="*/ 394157 w 516922"/>
              <a:gd name="connsiteY2" fmla="*/ 492438 h 496921"/>
              <a:gd name="connsiteX3" fmla="*/ 241391 w 516922"/>
              <a:gd name="connsiteY3" fmla="*/ 492438 h 496921"/>
              <a:gd name="connsiteX4" fmla="*/ 45175 w 516922"/>
              <a:gd name="connsiteY4" fmla="*/ 266910 h 496921"/>
              <a:gd name="connsiteX5" fmla="*/ 178975 w 516922"/>
              <a:gd name="connsiteY5" fmla="*/ 266910 h 496921"/>
              <a:gd name="connsiteX6" fmla="*/ 178975 w 516922"/>
              <a:gd name="connsiteY6" fmla="*/ 312085 h 496921"/>
              <a:gd name="connsiteX7" fmla="*/ 45175 w 516922"/>
              <a:gd name="connsiteY7" fmla="*/ 312085 h 496921"/>
              <a:gd name="connsiteX8" fmla="*/ 45175 w 516922"/>
              <a:gd name="connsiteY8" fmla="*/ 167939 h 496921"/>
              <a:gd name="connsiteX9" fmla="*/ 178975 w 516922"/>
              <a:gd name="connsiteY9" fmla="*/ 167939 h 496921"/>
              <a:gd name="connsiteX10" fmla="*/ 178975 w 516922"/>
              <a:gd name="connsiteY10" fmla="*/ 213114 h 496921"/>
              <a:gd name="connsiteX11" fmla="*/ 45175 w 516922"/>
              <a:gd name="connsiteY11" fmla="*/ 213114 h 496921"/>
              <a:gd name="connsiteX12" fmla="*/ 254150 w 516922"/>
              <a:gd name="connsiteY12" fmla="*/ 92418 h 496921"/>
              <a:gd name="connsiteX13" fmla="*/ 497537 w 516922"/>
              <a:gd name="connsiteY13" fmla="*/ 92418 h 496921"/>
              <a:gd name="connsiteX14" fmla="*/ 516922 w 516922"/>
              <a:gd name="connsiteY14" fmla="*/ 111788 h 496921"/>
              <a:gd name="connsiteX15" fmla="*/ 516922 w 516922"/>
              <a:gd name="connsiteY15" fmla="*/ 402340 h 496921"/>
              <a:gd name="connsiteX16" fmla="*/ 497537 w 516922"/>
              <a:gd name="connsiteY16" fmla="*/ 421710 h 496921"/>
              <a:gd name="connsiteX17" fmla="*/ 359690 w 516922"/>
              <a:gd name="connsiteY17" fmla="*/ 421710 h 496921"/>
              <a:gd name="connsiteX18" fmla="*/ 359690 w 516922"/>
              <a:gd name="connsiteY18" fmla="*/ 458298 h 496921"/>
              <a:gd name="connsiteX19" fmla="*/ 254150 w 516922"/>
              <a:gd name="connsiteY19" fmla="*/ 458298 h 496921"/>
              <a:gd name="connsiteX20" fmla="*/ 254150 w 516922"/>
              <a:gd name="connsiteY20" fmla="*/ 382970 h 496921"/>
              <a:gd name="connsiteX21" fmla="*/ 478152 w 516922"/>
              <a:gd name="connsiteY21" fmla="*/ 382970 h 496921"/>
              <a:gd name="connsiteX22" fmla="*/ 478152 w 516922"/>
              <a:gd name="connsiteY22" fmla="*/ 131158 h 496921"/>
              <a:gd name="connsiteX23" fmla="*/ 254150 w 516922"/>
              <a:gd name="connsiteY23" fmla="*/ 131158 h 496921"/>
              <a:gd name="connsiteX24" fmla="*/ 45175 w 516922"/>
              <a:gd name="connsiteY24" fmla="*/ 75176 h 496921"/>
              <a:gd name="connsiteX25" fmla="*/ 178975 w 516922"/>
              <a:gd name="connsiteY25" fmla="*/ 75176 h 496921"/>
              <a:gd name="connsiteX26" fmla="*/ 178975 w 516922"/>
              <a:gd name="connsiteY26" fmla="*/ 120351 h 496921"/>
              <a:gd name="connsiteX27" fmla="*/ 45175 w 516922"/>
              <a:gd name="connsiteY27" fmla="*/ 120351 h 496921"/>
              <a:gd name="connsiteX28" fmla="*/ 28019 w 516922"/>
              <a:gd name="connsiteY28" fmla="*/ 27965 h 496921"/>
              <a:gd name="connsiteX29" fmla="*/ 28019 w 516922"/>
              <a:gd name="connsiteY29" fmla="*/ 466805 h 496921"/>
              <a:gd name="connsiteX30" fmla="*/ 196130 w 516922"/>
              <a:gd name="connsiteY30" fmla="*/ 466805 h 496921"/>
              <a:gd name="connsiteX31" fmla="*/ 196130 w 516922"/>
              <a:gd name="connsiteY31" fmla="*/ 27965 h 496921"/>
              <a:gd name="connsiteX32" fmla="*/ 28019 w 516922"/>
              <a:gd name="connsiteY32" fmla="*/ 0 h 496921"/>
              <a:gd name="connsiteX33" fmla="*/ 196130 w 516922"/>
              <a:gd name="connsiteY33" fmla="*/ 0 h 496921"/>
              <a:gd name="connsiteX34" fmla="*/ 224149 w 516922"/>
              <a:gd name="connsiteY34" fmla="*/ 27965 h 496921"/>
              <a:gd name="connsiteX35" fmla="*/ 224149 w 516922"/>
              <a:gd name="connsiteY35" fmla="*/ 466805 h 496921"/>
              <a:gd name="connsiteX36" fmla="*/ 196130 w 516922"/>
              <a:gd name="connsiteY36" fmla="*/ 496921 h 496921"/>
              <a:gd name="connsiteX37" fmla="*/ 28019 w 516922"/>
              <a:gd name="connsiteY37" fmla="*/ 496921 h 496921"/>
              <a:gd name="connsiteX38" fmla="*/ 0 w 516922"/>
              <a:gd name="connsiteY38" fmla="*/ 466805 h 496921"/>
              <a:gd name="connsiteX39" fmla="*/ 0 w 516922"/>
              <a:gd name="connsiteY39" fmla="*/ 27965 h 496921"/>
              <a:gd name="connsiteX40" fmla="*/ 28019 w 516922"/>
              <a:gd name="connsiteY40" fmla="*/ 0 h 49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16922" h="496921">
                <a:moveTo>
                  <a:pt x="241391" y="466920"/>
                </a:moveTo>
                <a:lnTo>
                  <a:pt x="374792" y="466920"/>
                </a:lnTo>
                <a:lnTo>
                  <a:pt x="394157" y="492438"/>
                </a:lnTo>
                <a:lnTo>
                  <a:pt x="241391" y="492438"/>
                </a:lnTo>
                <a:close/>
                <a:moveTo>
                  <a:pt x="45175" y="266910"/>
                </a:moveTo>
                <a:lnTo>
                  <a:pt x="178975" y="266910"/>
                </a:lnTo>
                <a:lnTo>
                  <a:pt x="178975" y="312085"/>
                </a:lnTo>
                <a:lnTo>
                  <a:pt x="45175" y="312085"/>
                </a:lnTo>
                <a:close/>
                <a:moveTo>
                  <a:pt x="45175" y="167939"/>
                </a:moveTo>
                <a:lnTo>
                  <a:pt x="178975" y="167939"/>
                </a:lnTo>
                <a:lnTo>
                  <a:pt x="178975" y="213114"/>
                </a:lnTo>
                <a:lnTo>
                  <a:pt x="45175" y="213114"/>
                </a:lnTo>
                <a:close/>
                <a:moveTo>
                  <a:pt x="254150" y="92418"/>
                </a:moveTo>
                <a:lnTo>
                  <a:pt x="497537" y="92418"/>
                </a:lnTo>
                <a:cubicBezTo>
                  <a:pt x="508307" y="92418"/>
                  <a:pt x="516922" y="101027"/>
                  <a:pt x="516922" y="111788"/>
                </a:cubicBezTo>
                <a:lnTo>
                  <a:pt x="516922" y="402340"/>
                </a:lnTo>
                <a:cubicBezTo>
                  <a:pt x="516922" y="413101"/>
                  <a:pt x="508307" y="421710"/>
                  <a:pt x="497537" y="421710"/>
                </a:cubicBezTo>
                <a:lnTo>
                  <a:pt x="359690" y="421710"/>
                </a:lnTo>
                <a:lnTo>
                  <a:pt x="359690" y="458298"/>
                </a:lnTo>
                <a:lnTo>
                  <a:pt x="254150" y="458298"/>
                </a:lnTo>
                <a:lnTo>
                  <a:pt x="254150" y="382970"/>
                </a:lnTo>
                <a:lnTo>
                  <a:pt x="478152" y="382970"/>
                </a:lnTo>
                <a:lnTo>
                  <a:pt x="478152" y="131158"/>
                </a:lnTo>
                <a:lnTo>
                  <a:pt x="254150" y="131158"/>
                </a:lnTo>
                <a:close/>
                <a:moveTo>
                  <a:pt x="45175" y="75176"/>
                </a:moveTo>
                <a:lnTo>
                  <a:pt x="178975" y="75176"/>
                </a:lnTo>
                <a:lnTo>
                  <a:pt x="178975" y="120351"/>
                </a:lnTo>
                <a:lnTo>
                  <a:pt x="45175" y="120351"/>
                </a:lnTo>
                <a:close/>
                <a:moveTo>
                  <a:pt x="28019" y="27965"/>
                </a:moveTo>
                <a:lnTo>
                  <a:pt x="28019" y="466805"/>
                </a:lnTo>
                <a:lnTo>
                  <a:pt x="196130" y="466805"/>
                </a:lnTo>
                <a:lnTo>
                  <a:pt x="196130" y="27965"/>
                </a:lnTo>
                <a:close/>
                <a:moveTo>
                  <a:pt x="28019" y="0"/>
                </a:moveTo>
                <a:lnTo>
                  <a:pt x="196130" y="0"/>
                </a:lnTo>
                <a:cubicBezTo>
                  <a:pt x="211217" y="0"/>
                  <a:pt x="224149" y="12907"/>
                  <a:pt x="224149" y="27965"/>
                </a:cubicBezTo>
                <a:lnTo>
                  <a:pt x="224149" y="466805"/>
                </a:lnTo>
                <a:cubicBezTo>
                  <a:pt x="224149" y="484014"/>
                  <a:pt x="211217" y="496921"/>
                  <a:pt x="196130" y="496921"/>
                </a:cubicBezTo>
                <a:lnTo>
                  <a:pt x="28019" y="496921"/>
                </a:lnTo>
                <a:cubicBezTo>
                  <a:pt x="12932" y="496921"/>
                  <a:pt x="0" y="484014"/>
                  <a:pt x="0" y="466805"/>
                </a:cubicBezTo>
                <a:lnTo>
                  <a:pt x="0" y="27965"/>
                </a:lnTo>
                <a:cubicBezTo>
                  <a:pt x="0" y="12907"/>
                  <a:pt x="12932" y="0"/>
                  <a:pt x="28019" y="0"/>
                </a:cubicBezTo>
                <a:close/>
              </a:path>
            </a:pathLst>
          </a:custGeom>
          <a:noFill/>
          <a:ln>
            <a:solidFill>
              <a:srgbClr val="57C4C4"/>
            </a:solidFill>
          </a:ln>
        </p:spPr>
        <p:txBody>
          <a:bodyPr/>
          <a:lstStyle/>
          <a:p>
            <a:endParaRPr lang="en-US" dirty="0">
              <a:latin typeface="Arial" panose="020B0604020202020204" pitchFamily="34" charset="0"/>
            </a:endParaRPr>
          </a:p>
        </p:txBody>
      </p:sp>
      <p:sp>
        <p:nvSpPr>
          <p:cNvPr id="67" name="computer-screen-linux_18018"/>
          <p:cNvSpPr>
            <a:spLocks noChangeAspect="1"/>
          </p:cNvSpPr>
          <p:nvPr/>
        </p:nvSpPr>
        <p:spPr bwMode="auto">
          <a:xfrm>
            <a:off x="2563336" y="2445410"/>
            <a:ext cx="609685" cy="416625"/>
          </a:xfrm>
          <a:custGeom>
            <a:avLst/>
            <a:gdLst>
              <a:gd name="connsiteX0" fmla="*/ 549895 w 605028"/>
              <a:gd name="connsiteY0" fmla="*/ 329132 h 413443"/>
              <a:gd name="connsiteX1" fmla="*/ 532846 w 605028"/>
              <a:gd name="connsiteY1" fmla="*/ 345994 h 413443"/>
              <a:gd name="connsiteX2" fmla="*/ 549895 w 605028"/>
              <a:gd name="connsiteY2" fmla="*/ 363015 h 413443"/>
              <a:gd name="connsiteX3" fmla="*/ 566945 w 605028"/>
              <a:gd name="connsiteY3" fmla="*/ 345994 h 413443"/>
              <a:gd name="connsiteX4" fmla="*/ 549895 w 605028"/>
              <a:gd name="connsiteY4" fmla="*/ 329132 h 413443"/>
              <a:gd name="connsiteX5" fmla="*/ 549895 w 605028"/>
              <a:gd name="connsiteY5" fmla="*/ 250070 h 413443"/>
              <a:gd name="connsiteX6" fmla="*/ 532846 w 605028"/>
              <a:gd name="connsiteY6" fmla="*/ 267092 h 413443"/>
              <a:gd name="connsiteX7" fmla="*/ 549895 w 605028"/>
              <a:gd name="connsiteY7" fmla="*/ 284113 h 413443"/>
              <a:gd name="connsiteX8" fmla="*/ 566945 w 605028"/>
              <a:gd name="connsiteY8" fmla="*/ 267092 h 413443"/>
              <a:gd name="connsiteX9" fmla="*/ 549895 w 605028"/>
              <a:gd name="connsiteY9" fmla="*/ 250070 h 413443"/>
              <a:gd name="connsiteX10" fmla="*/ 206334 w 605028"/>
              <a:gd name="connsiteY10" fmla="*/ 198501 h 413443"/>
              <a:gd name="connsiteX11" fmla="*/ 218260 w 605028"/>
              <a:gd name="connsiteY11" fmla="*/ 210533 h 413443"/>
              <a:gd name="connsiteX12" fmla="*/ 206334 w 605028"/>
              <a:gd name="connsiteY12" fmla="*/ 222565 h 413443"/>
              <a:gd name="connsiteX13" fmla="*/ 194408 w 605028"/>
              <a:gd name="connsiteY13" fmla="*/ 210533 h 413443"/>
              <a:gd name="connsiteX14" fmla="*/ 206334 w 605028"/>
              <a:gd name="connsiteY14" fmla="*/ 198501 h 413443"/>
              <a:gd name="connsiteX15" fmla="*/ 206334 w 605028"/>
              <a:gd name="connsiteY15" fmla="*/ 172415 h 413443"/>
              <a:gd name="connsiteX16" fmla="*/ 168106 w 605028"/>
              <a:gd name="connsiteY16" fmla="*/ 210461 h 413443"/>
              <a:gd name="connsiteX17" fmla="*/ 206334 w 605028"/>
              <a:gd name="connsiteY17" fmla="*/ 248666 h 413443"/>
              <a:gd name="connsiteX18" fmla="*/ 244561 w 605028"/>
              <a:gd name="connsiteY18" fmla="*/ 210461 h 413443"/>
              <a:gd name="connsiteX19" fmla="*/ 206334 w 605028"/>
              <a:gd name="connsiteY19" fmla="*/ 172415 h 413443"/>
              <a:gd name="connsiteX20" fmla="*/ 549895 w 605028"/>
              <a:gd name="connsiteY20" fmla="*/ 171009 h 413443"/>
              <a:gd name="connsiteX21" fmla="*/ 532846 w 605028"/>
              <a:gd name="connsiteY21" fmla="*/ 188030 h 413443"/>
              <a:gd name="connsiteX22" fmla="*/ 549895 w 605028"/>
              <a:gd name="connsiteY22" fmla="*/ 205051 h 413443"/>
              <a:gd name="connsiteX23" fmla="*/ 566945 w 605028"/>
              <a:gd name="connsiteY23" fmla="*/ 188030 h 413443"/>
              <a:gd name="connsiteX24" fmla="*/ 549895 w 605028"/>
              <a:gd name="connsiteY24" fmla="*/ 171009 h 413443"/>
              <a:gd name="connsiteX25" fmla="*/ 206334 w 605028"/>
              <a:gd name="connsiteY25" fmla="*/ 149810 h 413443"/>
              <a:gd name="connsiteX26" fmla="*/ 267020 w 605028"/>
              <a:gd name="connsiteY26" fmla="*/ 210461 h 413443"/>
              <a:gd name="connsiteX27" fmla="*/ 206334 w 605028"/>
              <a:gd name="connsiteY27" fmla="*/ 271112 h 413443"/>
              <a:gd name="connsiteX28" fmla="*/ 145647 w 605028"/>
              <a:gd name="connsiteY28" fmla="*/ 210461 h 413443"/>
              <a:gd name="connsiteX29" fmla="*/ 206334 w 605028"/>
              <a:gd name="connsiteY29" fmla="*/ 149810 h 413443"/>
              <a:gd name="connsiteX30" fmla="*/ 206350 w 605028"/>
              <a:gd name="connsiteY30" fmla="*/ 61722 h 413443"/>
              <a:gd name="connsiteX31" fmla="*/ 57364 w 605028"/>
              <a:gd name="connsiteY31" fmla="*/ 210460 h 413443"/>
              <a:gd name="connsiteX32" fmla="*/ 206350 w 605028"/>
              <a:gd name="connsiteY32" fmla="*/ 359198 h 413443"/>
              <a:gd name="connsiteX33" fmla="*/ 355337 w 605028"/>
              <a:gd name="connsiteY33" fmla="*/ 210460 h 413443"/>
              <a:gd name="connsiteX34" fmla="*/ 354062 w 605028"/>
              <a:gd name="connsiteY34" fmla="*/ 191211 h 413443"/>
              <a:gd name="connsiteX35" fmla="*/ 305621 w 605028"/>
              <a:gd name="connsiteY35" fmla="*/ 263751 h 413443"/>
              <a:gd name="connsiteX36" fmla="*/ 301797 w 605028"/>
              <a:gd name="connsiteY36" fmla="*/ 267728 h 413443"/>
              <a:gd name="connsiteX37" fmla="*/ 223719 w 605028"/>
              <a:gd name="connsiteY37" fmla="*/ 328336 h 413443"/>
              <a:gd name="connsiteX38" fmla="*/ 213361 w 605028"/>
              <a:gd name="connsiteY38" fmla="*/ 331995 h 413443"/>
              <a:gd name="connsiteX39" fmla="*/ 199977 w 605028"/>
              <a:gd name="connsiteY39" fmla="*/ 325473 h 413443"/>
              <a:gd name="connsiteX40" fmla="*/ 203004 w 605028"/>
              <a:gd name="connsiteY40" fmla="*/ 301770 h 413443"/>
              <a:gd name="connsiteX41" fmla="*/ 279011 w 605028"/>
              <a:gd name="connsiteY41" fmla="*/ 242753 h 413443"/>
              <a:gd name="connsiteX42" fmla="*/ 341792 w 605028"/>
              <a:gd name="connsiteY42" fmla="*/ 148738 h 413443"/>
              <a:gd name="connsiteX43" fmla="*/ 206350 w 605028"/>
              <a:gd name="connsiteY43" fmla="*/ 61722 h 413443"/>
              <a:gd name="connsiteX44" fmla="*/ 549895 w 605028"/>
              <a:gd name="connsiteY44" fmla="*/ 50109 h 413443"/>
              <a:gd name="connsiteX45" fmla="*/ 523922 w 605028"/>
              <a:gd name="connsiteY45" fmla="*/ 76039 h 413443"/>
              <a:gd name="connsiteX46" fmla="*/ 549895 w 605028"/>
              <a:gd name="connsiteY46" fmla="*/ 102128 h 413443"/>
              <a:gd name="connsiteX47" fmla="*/ 576028 w 605028"/>
              <a:gd name="connsiteY47" fmla="*/ 76039 h 413443"/>
              <a:gd name="connsiteX48" fmla="*/ 549895 w 605028"/>
              <a:gd name="connsiteY48" fmla="*/ 50109 h 413443"/>
              <a:gd name="connsiteX49" fmla="*/ 404096 w 605028"/>
              <a:gd name="connsiteY49" fmla="*/ 26884 h 413443"/>
              <a:gd name="connsiteX50" fmla="*/ 344820 w 605028"/>
              <a:gd name="connsiteY50" fmla="*/ 85902 h 413443"/>
              <a:gd name="connsiteX51" fmla="*/ 358683 w 605028"/>
              <a:gd name="connsiteY51" fmla="*/ 123603 h 413443"/>
              <a:gd name="connsiteX52" fmla="*/ 377804 w 605028"/>
              <a:gd name="connsiteY52" fmla="*/ 94969 h 413443"/>
              <a:gd name="connsiteX53" fmla="*/ 376051 w 605028"/>
              <a:gd name="connsiteY53" fmla="*/ 85902 h 413443"/>
              <a:gd name="connsiteX54" fmla="*/ 402343 w 605028"/>
              <a:gd name="connsiteY54" fmla="*/ 58222 h 413443"/>
              <a:gd name="connsiteX55" fmla="*/ 408717 w 605028"/>
              <a:gd name="connsiteY55" fmla="*/ 48678 h 413443"/>
              <a:gd name="connsiteX56" fmla="*/ 432140 w 605028"/>
              <a:gd name="connsiteY56" fmla="*/ 44065 h 413443"/>
              <a:gd name="connsiteX57" fmla="*/ 436761 w 605028"/>
              <a:gd name="connsiteY57" fmla="*/ 67449 h 413443"/>
              <a:gd name="connsiteX58" fmla="*/ 430388 w 605028"/>
              <a:gd name="connsiteY58" fmla="*/ 76994 h 413443"/>
              <a:gd name="connsiteX59" fmla="*/ 431981 w 605028"/>
              <a:gd name="connsiteY59" fmla="*/ 85902 h 413443"/>
              <a:gd name="connsiteX60" fmla="*/ 405849 w 605028"/>
              <a:gd name="connsiteY60" fmla="*/ 113741 h 413443"/>
              <a:gd name="connsiteX61" fmla="*/ 386727 w 605028"/>
              <a:gd name="connsiteY61" fmla="*/ 142216 h 413443"/>
              <a:gd name="connsiteX62" fmla="*/ 404096 w 605028"/>
              <a:gd name="connsiteY62" fmla="*/ 145079 h 413443"/>
              <a:gd name="connsiteX63" fmla="*/ 463372 w 605028"/>
              <a:gd name="connsiteY63" fmla="*/ 85902 h 413443"/>
              <a:gd name="connsiteX64" fmla="*/ 404096 w 605028"/>
              <a:gd name="connsiteY64" fmla="*/ 26884 h 413443"/>
              <a:gd name="connsiteX65" fmla="*/ 497153 w 605028"/>
              <a:gd name="connsiteY65" fmla="*/ 15749 h 413443"/>
              <a:gd name="connsiteX66" fmla="*/ 485839 w 605028"/>
              <a:gd name="connsiteY66" fmla="*/ 27043 h 413443"/>
              <a:gd name="connsiteX67" fmla="*/ 485839 w 605028"/>
              <a:gd name="connsiteY67" fmla="*/ 378128 h 413443"/>
              <a:gd name="connsiteX68" fmla="*/ 497153 w 605028"/>
              <a:gd name="connsiteY68" fmla="*/ 389263 h 413443"/>
              <a:gd name="connsiteX69" fmla="*/ 508307 w 605028"/>
              <a:gd name="connsiteY69" fmla="*/ 378128 h 413443"/>
              <a:gd name="connsiteX70" fmla="*/ 508307 w 605028"/>
              <a:gd name="connsiteY70" fmla="*/ 27043 h 413443"/>
              <a:gd name="connsiteX71" fmla="*/ 497153 w 605028"/>
              <a:gd name="connsiteY71" fmla="*/ 15749 h 413443"/>
              <a:gd name="connsiteX72" fmla="*/ 39996 w 605028"/>
              <a:gd name="connsiteY72" fmla="*/ 0 h 413443"/>
              <a:gd name="connsiteX73" fmla="*/ 565033 w 605028"/>
              <a:gd name="connsiteY73" fmla="*/ 0 h 413443"/>
              <a:gd name="connsiteX74" fmla="*/ 605028 w 605028"/>
              <a:gd name="connsiteY74" fmla="*/ 40088 h 413443"/>
              <a:gd name="connsiteX75" fmla="*/ 605028 w 605028"/>
              <a:gd name="connsiteY75" fmla="*/ 373355 h 413443"/>
              <a:gd name="connsiteX76" fmla="*/ 565033 w 605028"/>
              <a:gd name="connsiteY76" fmla="*/ 413443 h 413443"/>
              <a:gd name="connsiteX77" fmla="*/ 39996 w 605028"/>
              <a:gd name="connsiteY77" fmla="*/ 413443 h 413443"/>
              <a:gd name="connsiteX78" fmla="*/ 0 w 605028"/>
              <a:gd name="connsiteY78" fmla="*/ 373355 h 413443"/>
              <a:gd name="connsiteX79" fmla="*/ 0 w 605028"/>
              <a:gd name="connsiteY79" fmla="*/ 40088 h 413443"/>
              <a:gd name="connsiteX80" fmla="*/ 39996 w 605028"/>
              <a:gd name="connsiteY80" fmla="*/ 0 h 41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5028" h="413443">
                <a:moveTo>
                  <a:pt x="549895" y="329132"/>
                </a:moveTo>
                <a:cubicBezTo>
                  <a:pt x="540494" y="329132"/>
                  <a:pt x="532846" y="336608"/>
                  <a:pt x="532846" y="345994"/>
                </a:cubicBezTo>
                <a:cubicBezTo>
                  <a:pt x="532846" y="355539"/>
                  <a:pt x="540494" y="363015"/>
                  <a:pt x="549895" y="363015"/>
                </a:cubicBezTo>
                <a:cubicBezTo>
                  <a:pt x="559297" y="363015"/>
                  <a:pt x="566945" y="355539"/>
                  <a:pt x="566945" y="345994"/>
                </a:cubicBezTo>
                <a:cubicBezTo>
                  <a:pt x="566945" y="336608"/>
                  <a:pt x="559297" y="329132"/>
                  <a:pt x="549895" y="329132"/>
                </a:cubicBezTo>
                <a:close/>
                <a:moveTo>
                  <a:pt x="549895" y="250070"/>
                </a:moveTo>
                <a:cubicBezTo>
                  <a:pt x="540494" y="250070"/>
                  <a:pt x="532846" y="257706"/>
                  <a:pt x="532846" y="267092"/>
                </a:cubicBezTo>
                <a:cubicBezTo>
                  <a:pt x="532846" y="276477"/>
                  <a:pt x="540494" y="284113"/>
                  <a:pt x="549895" y="284113"/>
                </a:cubicBezTo>
                <a:cubicBezTo>
                  <a:pt x="559297" y="284113"/>
                  <a:pt x="566945" y="276477"/>
                  <a:pt x="566945" y="267092"/>
                </a:cubicBezTo>
                <a:cubicBezTo>
                  <a:pt x="566945" y="257706"/>
                  <a:pt x="559297" y="250070"/>
                  <a:pt x="549895" y="250070"/>
                </a:cubicBezTo>
                <a:close/>
                <a:moveTo>
                  <a:pt x="206334" y="198501"/>
                </a:moveTo>
                <a:cubicBezTo>
                  <a:pt x="212921" y="198501"/>
                  <a:pt x="218260" y="203888"/>
                  <a:pt x="218260" y="210533"/>
                </a:cubicBezTo>
                <a:cubicBezTo>
                  <a:pt x="218260" y="217178"/>
                  <a:pt x="212921" y="222565"/>
                  <a:pt x="206334" y="222565"/>
                </a:cubicBezTo>
                <a:cubicBezTo>
                  <a:pt x="199747" y="222565"/>
                  <a:pt x="194408" y="217178"/>
                  <a:pt x="194408" y="210533"/>
                </a:cubicBezTo>
                <a:cubicBezTo>
                  <a:pt x="194408" y="203888"/>
                  <a:pt x="199747" y="198501"/>
                  <a:pt x="206334" y="198501"/>
                </a:cubicBezTo>
                <a:close/>
                <a:moveTo>
                  <a:pt x="206334" y="172415"/>
                </a:moveTo>
                <a:cubicBezTo>
                  <a:pt x="185309" y="172415"/>
                  <a:pt x="168106" y="189448"/>
                  <a:pt x="168106" y="210461"/>
                </a:cubicBezTo>
                <a:cubicBezTo>
                  <a:pt x="168106" y="231474"/>
                  <a:pt x="185309" y="248666"/>
                  <a:pt x="206334" y="248666"/>
                </a:cubicBezTo>
                <a:cubicBezTo>
                  <a:pt x="227359" y="248666"/>
                  <a:pt x="244561" y="231474"/>
                  <a:pt x="244561" y="210461"/>
                </a:cubicBezTo>
                <a:cubicBezTo>
                  <a:pt x="244561" y="189448"/>
                  <a:pt x="227359" y="172415"/>
                  <a:pt x="206334" y="172415"/>
                </a:cubicBezTo>
                <a:close/>
                <a:moveTo>
                  <a:pt x="549895" y="171009"/>
                </a:moveTo>
                <a:cubicBezTo>
                  <a:pt x="540494" y="171009"/>
                  <a:pt x="532846" y="178644"/>
                  <a:pt x="532846" y="188030"/>
                </a:cubicBezTo>
                <a:cubicBezTo>
                  <a:pt x="532846" y="197415"/>
                  <a:pt x="540494" y="205051"/>
                  <a:pt x="549895" y="205051"/>
                </a:cubicBezTo>
                <a:cubicBezTo>
                  <a:pt x="559297" y="205051"/>
                  <a:pt x="566945" y="197415"/>
                  <a:pt x="566945" y="188030"/>
                </a:cubicBezTo>
                <a:cubicBezTo>
                  <a:pt x="566945" y="178644"/>
                  <a:pt x="559297" y="171009"/>
                  <a:pt x="549895" y="171009"/>
                </a:cubicBezTo>
                <a:close/>
                <a:moveTo>
                  <a:pt x="206334" y="149810"/>
                </a:moveTo>
                <a:cubicBezTo>
                  <a:pt x="239783" y="149810"/>
                  <a:pt x="267020" y="177031"/>
                  <a:pt x="267020" y="210461"/>
                </a:cubicBezTo>
                <a:cubicBezTo>
                  <a:pt x="267020" y="243891"/>
                  <a:pt x="239783" y="271112"/>
                  <a:pt x="206334" y="271112"/>
                </a:cubicBezTo>
                <a:cubicBezTo>
                  <a:pt x="172884" y="271112"/>
                  <a:pt x="145647" y="243891"/>
                  <a:pt x="145647" y="210461"/>
                </a:cubicBezTo>
                <a:cubicBezTo>
                  <a:pt x="145647" y="177031"/>
                  <a:pt x="172884" y="149810"/>
                  <a:pt x="206334" y="149810"/>
                </a:cubicBezTo>
                <a:close/>
                <a:moveTo>
                  <a:pt x="206350" y="61722"/>
                </a:moveTo>
                <a:cubicBezTo>
                  <a:pt x="123970" y="61722"/>
                  <a:pt x="57205" y="128376"/>
                  <a:pt x="57364" y="210460"/>
                </a:cubicBezTo>
                <a:cubicBezTo>
                  <a:pt x="57364" y="292703"/>
                  <a:pt x="123970" y="359198"/>
                  <a:pt x="206350" y="359198"/>
                </a:cubicBezTo>
                <a:cubicBezTo>
                  <a:pt x="288731" y="359198"/>
                  <a:pt x="355337" y="292703"/>
                  <a:pt x="355337" y="210460"/>
                </a:cubicBezTo>
                <a:cubicBezTo>
                  <a:pt x="355337" y="203938"/>
                  <a:pt x="354859" y="197575"/>
                  <a:pt x="354062" y="191211"/>
                </a:cubicBezTo>
                <a:lnTo>
                  <a:pt x="305621" y="263751"/>
                </a:lnTo>
                <a:cubicBezTo>
                  <a:pt x="304506" y="265342"/>
                  <a:pt x="303231" y="266614"/>
                  <a:pt x="301797" y="267728"/>
                </a:cubicBezTo>
                <a:lnTo>
                  <a:pt x="223719" y="328336"/>
                </a:lnTo>
                <a:cubicBezTo>
                  <a:pt x="220691" y="330723"/>
                  <a:pt x="217026" y="331995"/>
                  <a:pt x="213361" y="331995"/>
                </a:cubicBezTo>
                <a:cubicBezTo>
                  <a:pt x="208262" y="331995"/>
                  <a:pt x="203323" y="329768"/>
                  <a:pt x="199977" y="325473"/>
                </a:cubicBezTo>
                <a:cubicBezTo>
                  <a:pt x="194240" y="317996"/>
                  <a:pt x="195674" y="307497"/>
                  <a:pt x="203004" y="301770"/>
                </a:cubicBezTo>
                <a:lnTo>
                  <a:pt x="279011" y="242753"/>
                </a:lnTo>
                <a:lnTo>
                  <a:pt x="341792" y="148738"/>
                </a:lnTo>
                <a:cubicBezTo>
                  <a:pt x="318369" y="97356"/>
                  <a:pt x="266582" y="61722"/>
                  <a:pt x="206350" y="61722"/>
                </a:cubicBezTo>
                <a:close/>
                <a:moveTo>
                  <a:pt x="549895" y="50109"/>
                </a:moveTo>
                <a:cubicBezTo>
                  <a:pt x="535554" y="50109"/>
                  <a:pt x="523922" y="61722"/>
                  <a:pt x="523922" y="76039"/>
                </a:cubicBezTo>
                <a:cubicBezTo>
                  <a:pt x="523922" y="90515"/>
                  <a:pt x="535554" y="102128"/>
                  <a:pt x="549895" y="102128"/>
                </a:cubicBezTo>
                <a:cubicBezTo>
                  <a:pt x="564236" y="102128"/>
                  <a:pt x="576028" y="90356"/>
                  <a:pt x="576028" y="76039"/>
                </a:cubicBezTo>
                <a:cubicBezTo>
                  <a:pt x="576028" y="61722"/>
                  <a:pt x="564236" y="50109"/>
                  <a:pt x="549895" y="50109"/>
                </a:cubicBezTo>
                <a:close/>
                <a:moveTo>
                  <a:pt x="404096" y="26884"/>
                </a:moveTo>
                <a:cubicBezTo>
                  <a:pt x="371271" y="26884"/>
                  <a:pt x="344820" y="53291"/>
                  <a:pt x="344820" y="85902"/>
                </a:cubicBezTo>
                <a:cubicBezTo>
                  <a:pt x="344820" y="100378"/>
                  <a:pt x="350238" y="113263"/>
                  <a:pt x="358683" y="123603"/>
                </a:cubicBezTo>
                <a:lnTo>
                  <a:pt x="377804" y="94969"/>
                </a:lnTo>
                <a:cubicBezTo>
                  <a:pt x="376848" y="92106"/>
                  <a:pt x="376051" y="89084"/>
                  <a:pt x="376051" y="85902"/>
                </a:cubicBezTo>
                <a:cubicBezTo>
                  <a:pt x="376051" y="71108"/>
                  <a:pt x="387683" y="59177"/>
                  <a:pt x="402343" y="58222"/>
                </a:cubicBezTo>
                <a:lnTo>
                  <a:pt x="408717" y="48678"/>
                </a:lnTo>
                <a:cubicBezTo>
                  <a:pt x="413816" y="40883"/>
                  <a:pt x="424332" y="38815"/>
                  <a:pt x="432140" y="44065"/>
                </a:cubicBezTo>
                <a:cubicBezTo>
                  <a:pt x="439789" y="49155"/>
                  <a:pt x="442020" y="59654"/>
                  <a:pt x="436761" y="67449"/>
                </a:cubicBezTo>
                <a:lnTo>
                  <a:pt x="430388" y="76994"/>
                </a:lnTo>
                <a:cubicBezTo>
                  <a:pt x="431344" y="79857"/>
                  <a:pt x="431981" y="82720"/>
                  <a:pt x="431981" y="85902"/>
                </a:cubicBezTo>
                <a:cubicBezTo>
                  <a:pt x="431981" y="100855"/>
                  <a:pt x="420508" y="112786"/>
                  <a:pt x="405849" y="113741"/>
                </a:cubicBezTo>
                <a:lnTo>
                  <a:pt x="386727" y="142216"/>
                </a:lnTo>
                <a:cubicBezTo>
                  <a:pt x="392304" y="143965"/>
                  <a:pt x="398041" y="145079"/>
                  <a:pt x="404096" y="145079"/>
                </a:cubicBezTo>
                <a:cubicBezTo>
                  <a:pt x="436761" y="145079"/>
                  <a:pt x="463372" y="118672"/>
                  <a:pt x="463372" y="85902"/>
                </a:cubicBezTo>
                <a:cubicBezTo>
                  <a:pt x="463372" y="53291"/>
                  <a:pt x="436761" y="26884"/>
                  <a:pt x="404096" y="26884"/>
                </a:cubicBezTo>
                <a:close/>
                <a:moveTo>
                  <a:pt x="497153" y="15749"/>
                </a:moveTo>
                <a:cubicBezTo>
                  <a:pt x="490779" y="15749"/>
                  <a:pt x="485839" y="20839"/>
                  <a:pt x="485839" y="27043"/>
                </a:cubicBezTo>
                <a:lnTo>
                  <a:pt x="485839" y="378128"/>
                </a:lnTo>
                <a:cubicBezTo>
                  <a:pt x="485839" y="384332"/>
                  <a:pt x="490779" y="389263"/>
                  <a:pt x="497153" y="389263"/>
                </a:cubicBezTo>
                <a:cubicBezTo>
                  <a:pt x="503367" y="389263"/>
                  <a:pt x="508307" y="384332"/>
                  <a:pt x="508307" y="378128"/>
                </a:cubicBezTo>
                <a:lnTo>
                  <a:pt x="508307" y="27043"/>
                </a:lnTo>
                <a:cubicBezTo>
                  <a:pt x="508307" y="20839"/>
                  <a:pt x="503367" y="15749"/>
                  <a:pt x="497153" y="15749"/>
                </a:cubicBezTo>
                <a:close/>
                <a:moveTo>
                  <a:pt x="39996" y="0"/>
                </a:moveTo>
                <a:lnTo>
                  <a:pt x="565033" y="0"/>
                </a:lnTo>
                <a:cubicBezTo>
                  <a:pt x="587182" y="0"/>
                  <a:pt x="605028" y="17976"/>
                  <a:pt x="605028" y="40088"/>
                </a:cubicBezTo>
                <a:lnTo>
                  <a:pt x="605028" y="373355"/>
                </a:lnTo>
                <a:cubicBezTo>
                  <a:pt x="605028" y="395467"/>
                  <a:pt x="587182" y="413443"/>
                  <a:pt x="565033" y="413443"/>
                </a:cubicBezTo>
                <a:lnTo>
                  <a:pt x="39996" y="413443"/>
                </a:lnTo>
                <a:cubicBezTo>
                  <a:pt x="18006" y="413443"/>
                  <a:pt x="0" y="395467"/>
                  <a:pt x="0" y="373355"/>
                </a:cubicBezTo>
                <a:lnTo>
                  <a:pt x="0" y="40088"/>
                </a:lnTo>
                <a:cubicBezTo>
                  <a:pt x="0" y="17976"/>
                  <a:pt x="18006" y="0"/>
                  <a:pt x="39996" y="0"/>
                </a:cubicBezTo>
                <a:close/>
              </a:path>
            </a:pathLst>
          </a:custGeom>
          <a:noFill/>
          <a:ln>
            <a:solidFill>
              <a:srgbClr val="57C4C4"/>
            </a:solidFill>
          </a:ln>
        </p:spPr>
        <p:txBody>
          <a:bodyPr/>
          <a:lstStyle/>
          <a:p>
            <a:endParaRPr lang="en-US" dirty="0">
              <a:latin typeface="Arial" panose="020B0604020202020204" pitchFamily="34" charset="0"/>
            </a:endParaRPr>
          </a:p>
        </p:txBody>
      </p:sp>
      <p:sp>
        <p:nvSpPr>
          <p:cNvPr id="68" name="computer-configuration_72677"/>
          <p:cNvSpPr>
            <a:spLocks noChangeAspect="1"/>
          </p:cNvSpPr>
          <p:nvPr/>
        </p:nvSpPr>
        <p:spPr bwMode="auto">
          <a:xfrm>
            <a:off x="4278611" y="2307368"/>
            <a:ext cx="428040" cy="609685"/>
          </a:xfrm>
          <a:custGeom>
            <a:avLst/>
            <a:gdLst>
              <a:gd name="connsiteX0" fmla="*/ 370500 w 426356"/>
              <a:gd name="connsiteY0" fmla="*/ 540837 h 607286"/>
              <a:gd name="connsiteX1" fmla="*/ 353803 w 426356"/>
              <a:gd name="connsiteY1" fmla="*/ 557511 h 607286"/>
              <a:gd name="connsiteX2" fmla="*/ 370500 w 426356"/>
              <a:gd name="connsiteY2" fmla="*/ 574135 h 607286"/>
              <a:gd name="connsiteX3" fmla="*/ 387149 w 426356"/>
              <a:gd name="connsiteY3" fmla="*/ 557511 h 607286"/>
              <a:gd name="connsiteX4" fmla="*/ 370500 w 426356"/>
              <a:gd name="connsiteY4" fmla="*/ 540837 h 607286"/>
              <a:gd name="connsiteX5" fmla="*/ 50930 w 426356"/>
              <a:gd name="connsiteY5" fmla="*/ 540837 h 607286"/>
              <a:gd name="connsiteX6" fmla="*/ 34233 w 426356"/>
              <a:gd name="connsiteY6" fmla="*/ 557511 h 607286"/>
              <a:gd name="connsiteX7" fmla="*/ 50930 w 426356"/>
              <a:gd name="connsiteY7" fmla="*/ 574135 h 607286"/>
              <a:gd name="connsiteX8" fmla="*/ 67579 w 426356"/>
              <a:gd name="connsiteY8" fmla="*/ 557511 h 607286"/>
              <a:gd name="connsiteX9" fmla="*/ 50930 w 426356"/>
              <a:gd name="connsiteY9" fmla="*/ 540837 h 607286"/>
              <a:gd name="connsiteX10" fmla="*/ 301032 w 426356"/>
              <a:gd name="connsiteY10" fmla="*/ 264409 h 607286"/>
              <a:gd name="connsiteX11" fmla="*/ 311829 w 426356"/>
              <a:gd name="connsiteY11" fmla="*/ 264409 h 607286"/>
              <a:gd name="connsiteX12" fmla="*/ 331549 w 426356"/>
              <a:gd name="connsiteY12" fmla="*/ 265540 h 607286"/>
              <a:gd name="connsiteX13" fmla="*/ 342642 w 426356"/>
              <a:gd name="connsiteY13" fmla="*/ 271097 h 607286"/>
              <a:gd name="connsiteX14" fmla="*/ 349494 w 426356"/>
              <a:gd name="connsiteY14" fmla="*/ 282556 h 607286"/>
              <a:gd name="connsiteX15" fmla="*/ 351910 w 426356"/>
              <a:gd name="connsiteY15" fmla="*/ 303703 h 607286"/>
              <a:gd name="connsiteX16" fmla="*/ 349494 w 426356"/>
              <a:gd name="connsiteY16" fmla="*/ 325391 h 607286"/>
              <a:gd name="connsiteX17" fmla="*/ 343184 w 426356"/>
              <a:gd name="connsiteY17" fmla="*/ 336850 h 607286"/>
              <a:gd name="connsiteX18" fmla="*/ 333521 w 426356"/>
              <a:gd name="connsiteY18" fmla="*/ 341768 h 607286"/>
              <a:gd name="connsiteX19" fmla="*/ 318977 w 426356"/>
              <a:gd name="connsiteY19" fmla="*/ 342948 h 607286"/>
              <a:gd name="connsiteX20" fmla="*/ 301032 w 426356"/>
              <a:gd name="connsiteY20" fmla="*/ 342948 h 607286"/>
              <a:gd name="connsiteX21" fmla="*/ 288933 w 426356"/>
              <a:gd name="connsiteY21" fmla="*/ 244301 h 607286"/>
              <a:gd name="connsiteX22" fmla="*/ 277112 w 426356"/>
              <a:gd name="connsiteY22" fmla="*/ 256106 h 607286"/>
              <a:gd name="connsiteX23" fmla="*/ 277013 w 426356"/>
              <a:gd name="connsiteY23" fmla="*/ 256106 h 607286"/>
              <a:gd name="connsiteX24" fmla="*/ 277013 w 426356"/>
              <a:gd name="connsiteY24" fmla="*/ 351180 h 607286"/>
              <a:gd name="connsiteX25" fmla="*/ 288835 w 426356"/>
              <a:gd name="connsiteY25" fmla="*/ 362985 h 607286"/>
              <a:gd name="connsiteX26" fmla="*/ 322230 w 426356"/>
              <a:gd name="connsiteY26" fmla="*/ 362985 h 607286"/>
              <a:gd name="connsiteX27" fmla="*/ 343410 w 426356"/>
              <a:gd name="connsiteY27" fmla="*/ 360476 h 607286"/>
              <a:gd name="connsiteX28" fmla="*/ 360304 w 426356"/>
              <a:gd name="connsiteY28" fmla="*/ 351033 h 607286"/>
              <a:gd name="connsiteX29" fmla="*/ 373062 w 426356"/>
              <a:gd name="connsiteY29" fmla="*/ 330080 h 607286"/>
              <a:gd name="connsiteX30" fmla="*/ 376706 w 426356"/>
              <a:gd name="connsiteY30" fmla="*/ 304799 h 607286"/>
              <a:gd name="connsiteX31" fmla="*/ 372864 w 426356"/>
              <a:gd name="connsiteY31" fmla="*/ 276763 h 607286"/>
              <a:gd name="connsiteX32" fmla="*/ 361486 w 426356"/>
              <a:gd name="connsiteY32" fmla="*/ 257532 h 607286"/>
              <a:gd name="connsiteX33" fmla="*/ 343557 w 426356"/>
              <a:gd name="connsiteY33" fmla="*/ 246564 h 607286"/>
              <a:gd name="connsiteX34" fmla="*/ 320949 w 426356"/>
              <a:gd name="connsiteY34" fmla="*/ 244301 h 607286"/>
              <a:gd name="connsiteX35" fmla="*/ 208006 w 426356"/>
              <a:gd name="connsiteY35" fmla="*/ 242236 h 607286"/>
              <a:gd name="connsiteX36" fmla="*/ 184610 w 426356"/>
              <a:gd name="connsiteY36" fmla="*/ 246367 h 607286"/>
              <a:gd name="connsiteX37" fmla="*/ 169784 w 426356"/>
              <a:gd name="connsiteY37" fmla="*/ 258368 h 607286"/>
              <a:gd name="connsiteX38" fmla="*/ 164661 w 426356"/>
              <a:gd name="connsiteY38" fmla="*/ 275386 h 607286"/>
              <a:gd name="connsiteX39" fmla="*/ 175645 w 426356"/>
              <a:gd name="connsiteY39" fmla="*/ 299241 h 607286"/>
              <a:gd name="connsiteX40" fmla="*/ 202687 w 426356"/>
              <a:gd name="connsiteY40" fmla="*/ 310996 h 607286"/>
              <a:gd name="connsiteX41" fmla="*/ 221945 w 426356"/>
              <a:gd name="connsiteY41" fmla="*/ 316161 h 607286"/>
              <a:gd name="connsiteX42" fmla="*/ 230516 w 426356"/>
              <a:gd name="connsiteY42" fmla="*/ 321276 h 607286"/>
              <a:gd name="connsiteX43" fmla="*/ 233028 w 426356"/>
              <a:gd name="connsiteY43" fmla="*/ 328162 h 607286"/>
              <a:gd name="connsiteX44" fmla="*/ 227167 w 426356"/>
              <a:gd name="connsiteY44" fmla="*/ 339622 h 607286"/>
              <a:gd name="connsiteX45" fmla="*/ 209730 w 426356"/>
              <a:gd name="connsiteY45" fmla="*/ 344540 h 607286"/>
              <a:gd name="connsiteX46" fmla="*/ 192294 w 426356"/>
              <a:gd name="connsiteY46" fmla="*/ 339032 h 607286"/>
              <a:gd name="connsiteX47" fmla="*/ 186087 w 426356"/>
              <a:gd name="connsiteY47" fmla="*/ 329982 h 607286"/>
              <a:gd name="connsiteX48" fmla="*/ 173872 w 426356"/>
              <a:gd name="connsiteY48" fmla="*/ 322801 h 607286"/>
              <a:gd name="connsiteX49" fmla="*/ 163922 w 426356"/>
              <a:gd name="connsiteY49" fmla="*/ 338786 h 607286"/>
              <a:gd name="connsiteX50" fmla="*/ 174857 w 426356"/>
              <a:gd name="connsiteY50" fmla="*/ 354476 h 607286"/>
              <a:gd name="connsiteX51" fmla="*/ 209435 w 426356"/>
              <a:gd name="connsiteY51" fmla="*/ 364903 h 607286"/>
              <a:gd name="connsiteX52" fmla="*/ 235343 w 426356"/>
              <a:gd name="connsiteY52" fmla="*/ 360575 h 607286"/>
              <a:gd name="connsiteX53" fmla="*/ 251351 w 426356"/>
              <a:gd name="connsiteY53" fmla="*/ 347295 h 607286"/>
              <a:gd name="connsiteX54" fmla="*/ 257015 w 426356"/>
              <a:gd name="connsiteY54" fmla="*/ 328211 h 607286"/>
              <a:gd name="connsiteX55" fmla="*/ 252287 w 426356"/>
              <a:gd name="connsiteY55" fmla="*/ 309324 h 607286"/>
              <a:gd name="connsiteX56" fmla="*/ 239136 w 426356"/>
              <a:gd name="connsiteY56" fmla="*/ 297274 h 607286"/>
              <a:gd name="connsiteX57" fmla="*/ 213277 w 426356"/>
              <a:gd name="connsiteY57" fmla="*/ 288765 h 607286"/>
              <a:gd name="connsiteX58" fmla="*/ 191210 w 426356"/>
              <a:gd name="connsiteY58" fmla="*/ 280797 h 607286"/>
              <a:gd name="connsiteX59" fmla="*/ 187664 w 426356"/>
              <a:gd name="connsiteY59" fmla="*/ 273616 h 607286"/>
              <a:gd name="connsiteX60" fmla="*/ 191456 w 426356"/>
              <a:gd name="connsiteY60" fmla="*/ 266238 h 607286"/>
              <a:gd name="connsiteX61" fmla="*/ 207809 w 426356"/>
              <a:gd name="connsiteY61" fmla="*/ 262008 h 607286"/>
              <a:gd name="connsiteX62" fmla="*/ 222980 w 426356"/>
              <a:gd name="connsiteY62" fmla="*/ 265992 h 607286"/>
              <a:gd name="connsiteX63" fmla="*/ 227511 w 426356"/>
              <a:gd name="connsiteY63" fmla="*/ 272042 h 607286"/>
              <a:gd name="connsiteX64" fmla="*/ 238692 w 426356"/>
              <a:gd name="connsiteY64" fmla="*/ 278780 h 607286"/>
              <a:gd name="connsiteX65" fmla="*/ 239382 w 426356"/>
              <a:gd name="connsiteY65" fmla="*/ 278780 h 607286"/>
              <a:gd name="connsiteX66" fmla="*/ 249381 w 426356"/>
              <a:gd name="connsiteY66" fmla="*/ 261516 h 607286"/>
              <a:gd name="connsiteX67" fmla="*/ 241697 w 426356"/>
              <a:gd name="connsiteY67" fmla="*/ 252023 h 607286"/>
              <a:gd name="connsiteX68" fmla="*/ 208006 w 426356"/>
              <a:gd name="connsiteY68" fmla="*/ 242236 h 607286"/>
              <a:gd name="connsiteX69" fmla="*/ 97329 w 426356"/>
              <a:gd name="connsiteY69" fmla="*/ 242236 h 607286"/>
              <a:gd name="connsiteX70" fmla="*/ 73982 w 426356"/>
              <a:gd name="connsiteY70" fmla="*/ 246121 h 607286"/>
              <a:gd name="connsiteX71" fmla="*/ 59107 w 426356"/>
              <a:gd name="connsiteY71" fmla="*/ 258122 h 607286"/>
              <a:gd name="connsiteX72" fmla="*/ 53984 w 426356"/>
              <a:gd name="connsiteY72" fmla="*/ 275091 h 607286"/>
              <a:gd name="connsiteX73" fmla="*/ 64968 w 426356"/>
              <a:gd name="connsiteY73" fmla="*/ 298995 h 607286"/>
              <a:gd name="connsiteX74" fmla="*/ 92009 w 426356"/>
              <a:gd name="connsiteY74" fmla="*/ 310701 h 607286"/>
              <a:gd name="connsiteX75" fmla="*/ 111268 w 426356"/>
              <a:gd name="connsiteY75" fmla="*/ 315915 h 607286"/>
              <a:gd name="connsiteX76" fmla="*/ 119888 w 426356"/>
              <a:gd name="connsiteY76" fmla="*/ 321030 h 607286"/>
              <a:gd name="connsiteX77" fmla="*/ 122351 w 426356"/>
              <a:gd name="connsiteY77" fmla="*/ 328162 h 607286"/>
              <a:gd name="connsiteX78" fmla="*/ 116539 w 426356"/>
              <a:gd name="connsiteY78" fmla="*/ 339622 h 607286"/>
              <a:gd name="connsiteX79" fmla="*/ 99053 w 426356"/>
              <a:gd name="connsiteY79" fmla="*/ 344540 h 607286"/>
              <a:gd name="connsiteX80" fmla="*/ 81666 w 426356"/>
              <a:gd name="connsiteY80" fmla="*/ 339032 h 607286"/>
              <a:gd name="connsiteX81" fmla="*/ 75410 w 426356"/>
              <a:gd name="connsiteY81" fmla="*/ 329982 h 607286"/>
              <a:gd name="connsiteX82" fmla="*/ 63195 w 426356"/>
              <a:gd name="connsiteY82" fmla="*/ 322801 h 607286"/>
              <a:gd name="connsiteX83" fmla="*/ 53294 w 426356"/>
              <a:gd name="connsiteY83" fmla="*/ 338786 h 607286"/>
              <a:gd name="connsiteX84" fmla="*/ 64180 w 426356"/>
              <a:gd name="connsiteY84" fmla="*/ 354476 h 607286"/>
              <a:gd name="connsiteX85" fmla="*/ 98807 w 426356"/>
              <a:gd name="connsiteY85" fmla="*/ 364903 h 607286"/>
              <a:gd name="connsiteX86" fmla="*/ 124666 w 426356"/>
              <a:gd name="connsiteY86" fmla="*/ 360575 h 607286"/>
              <a:gd name="connsiteX87" fmla="*/ 140674 w 426356"/>
              <a:gd name="connsiteY87" fmla="*/ 347295 h 607286"/>
              <a:gd name="connsiteX88" fmla="*/ 146338 w 426356"/>
              <a:gd name="connsiteY88" fmla="*/ 328211 h 607286"/>
              <a:gd name="connsiteX89" fmla="*/ 141610 w 426356"/>
              <a:gd name="connsiteY89" fmla="*/ 309324 h 607286"/>
              <a:gd name="connsiteX90" fmla="*/ 128458 w 426356"/>
              <a:gd name="connsiteY90" fmla="*/ 297274 h 607286"/>
              <a:gd name="connsiteX91" fmla="*/ 102599 w 426356"/>
              <a:gd name="connsiteY91" fmla="*/ 288765 h 607286"/>
              <a:gd name="connsiteX92" fmla="*/ 80533 w 426356"/>
              <a:gd name="connsiteY92" fmla="*/ 280797 h 607286"/>
              <a:gd name="connsiteX93" fmla="*/ 76986 w 426356"/>
              <a:gd name="connsiteY93" fmla="*/ 273616 h 607286"/>
              <a:gd name="connsiteX94" fmla="*/ 80779 w 426356"/>
              <a:gd name="connsiteY94" fmla="*/ 266238 h 607286"/>
              <a:gd name="connsiteX95" fmla="*/ 97132 w 426356"/>
              <a:gd name="connsiteY95" fmla="*/ 262008 h 607286"/>
              <a:gd name="connsiteX96" fmla="*/ 112303 w 426356"/>
              <a:gd name="connsiteY96" fmla="*/ 265992 h 607286"/>
              <a:gd name="connsiteX97" fmla="*/ 116834 w 426356"/>
              <a:gd name="connsiteY97" fmla="*/ 272042 h 607286"/>
              <a:gd name="connsiteX98" fmla="*/ 128015 w 426356"/>
              <a:gd name="connsiteY98" fmla="*/ 278780 h 607286"/>
              <a:gd name="connsiteX99" fmla="*/ 128754 w 426356"/>
              <a:gd name="connsiteY99" fmla="*/ 278780 h 607286"/>
              <a:gd name="connsiteX100" fmla="*/ 138704 w 426356"/>
              <a:gd name="connsiteY100" fmla="*/ 261516 h 607286"/>
              <a:gd name="connsiteX101" fmla="*/ 131020 w 426356"/>
              <a:gd name="connsiteY101" fmla="*/ 252023 h 607286"/>
              <a:gd name="connsiteX102" fmla="*/ 97329 w 426356"/>
              <a:gd name="connsiteY102" fmla="*/ 242236 h 607286"/>
              <a:gd name="connsiteX103" fmla="*/ 370500 w 426356"/>
              <a:gd name="connsiteY103" fmla="*/ 36151 h 607286"/>
              <a:gd name="connsiteX104" fmla="*/ 353803 w 426356"/>
              <a:gd name="connsiteY104" fmla="*/ 52775 h 607286"/>
              <a:gd name="connsiteX105" fmla="*/ 370500 w 426356"/>
              <a:gd name="connsiteY105" fmla="*/ 69449 h 607286"/>
              <a:gd name="connsiteX106" fmla="*/ 387149 w 426356"/>
              <a:gd name="connsiteY106" fmla="*/ 52775 h 607286"/>
              <a:gd name="connsiteX107" fmla="*/ 370500 w 426356"/>
              <a:gd name="connsiteY107" fmla="*/ 36151 h 607286"/>
              <a:gd name="connsiteX108" fmla="*/ 50930 w 426356"/>
              <a:gd name="connsiteY108" fmla="*/ 36151 h 607286"/>
              <a:gd name="connsiteX109" fmla="*/ 34233 w 426356"/>
              <a:gd name="connsiteY109" fmla="*/ 52775 h 607286"/>
              <a:gd name="connsiteX110" fmla="*/ 50930 w 426356"/>
              <a:gd name="connsiteY110" fmla="*/ 69449 h 607286"/>
              <a:gd name="connsiteX111" fmla="*/ 67579 w 426356"/>
              <a:gd name="connsiteY111" fmla="*/ 52775 h 607286"/>
              <a:gd name="connsiteX112" fmla="*/ 50930 w 426356"/>
              <a:gd name="connsiteY112" fmla="*/ 36151 h 607286"/>
              <a:gd name="connsiteX113" fmla="*/ 34971 w 426356"/>
              <a:gd name="connsiteY113" fmla="*/ 0 h 607286"/>
              <a:gd name="connsiteX114" fmla="*/ 391434 w 426356"/>
              <a:gd name="connsiteY114" fmla="*/ 0 h 607286"/>
              <a:gd name="connsiteX115" fmla="*/ 426356 w 426356"/>
              <a:gd name="connsiteY115" fmla="*/ 34872 h 607286"/>
              <a:gd name="connsiteX116" fmla="*/ 426356 w 426356"/>
              <a:gd name="connsiteY116" fmla="*/ 572365 h 607286"/>
              <a:gd name="connsiteX117" fmla="*/ 391434 w 426356"/>
              <a:gd name="connsiteY117" fmla="*/ 607286 h 607286"/>
              <a:gd name="connsiteX118" fmla="*/ 34971 w 426356"/>
              <a:gd name="connsiteY118" fmla="*/ 607286 h 607286"/>
              <a:gd name="connsiteX119" fmla="*/ 0 w 426356"/>
              <a:gd name="connsiteY119" fmla="*/ 572365 h 607286"/>
              <a:gd name="connsiteX120" fmla="*/ 0 w 426356"/>
              <a:gd name="connsiteY120" fmla="*/ 34872 h 607286"/>
              <a:gd name="connsiteX121" fmla="*/ 34971 w 426356"/>
              <a:gd name="connsiteY121" fmla="*/ 0 h 607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26356" h="607286">
                <a:moveTo>
                  <a:pt x="370500" y="540837"/>
                </a:moveTo>
                <a:cubicBezTo>
                  <a:pt x="361289" y="540837"/>
                  <a:pt x="353803" y="548313"/>
                  <a:pt x="353803" y="557511"/>
                </a:cubicBezTo>
                <a:cubicBezTo>
                  <a:pt x="353803" y="566659"/>
                  <a:pt x="361289" y="574135"/>
                  <a:pt x="370500" y="574135"/>
                </a:cubicBezTo>
                <a:cubicBezTo>
                  <a:pt x="379760" y="574135"/>
                  <a:pt x="387149" y="566659"/>
                  <a:pt x="387149" y="557511"/>
                </a:cubicBezTo>
                <a:cubicBezTo>
                  <a:pt x="387149" y="548313"/>
                  <a:pt x="379662" y="540837"/>
                  <a:pt x="370500" y="540837"/>
                </a:cubicBezTo>
                <a:close/>
                <a:moveTo>
                  <a:pt x="50930" y="540837"/>
                </a:moveTo>
                <a:cubicBezTo>
                  <a:pt x="41719" y="540837"/>
                  <a:pt x="34233" y="548313"/>
                  <a:pt x="34233" y="557511"/>
                </a:cubicBezTo>
                <a:cubicBezTo>
                  <a:pt x="34233" y="566659"/>
                  <a:pt x="41719" y="574135"/>
                  <a:pt x="50930" y="574135"/>
                </a:cubicBezTo>
                <a:cubicBezTo>
                  <a:pt x="60092" y="574135"/>
                  <a:pt x="67579" y="566659"/>
                  <a:pt x="67579" y="557511"/>
                </a:cubicBezTo>
                <a:cubicBezTo>
                  <a:pt x="67579" y="548313"/>
                  <a:pt x="60092" y="540837"/>
                  <a:pt x="50930" y="540837"/>
                </a:cubicBezTo>
                <a:close/>
                <a:moveTo>
                  <a:pt x="301032" y="264409"/>
                </a:moveTo>
                <a:lnTo>
                  <a:pt x="311829" y="264409"/>
                </a:lnTo>
                <a:cubicBezTo>
                  <a:pt x="321640" y="264409"/>
                  <a:pt x="328197" y="264753"/>
                  <a:pt x="331549" y="265540"/>
                </a:cubicBezTo>
                <a:cubicBezTo>
                  <a:pt x="336035" y="266524"/>
                  <a:pt x="339782" y="268343"/>
                  <a:pt x="342642" y="271097"/>
                </a:cubicBezTo>
                <a:cubicBezTo>
                  <a:pt x="345600" y="273851"/>
                  <a:pt x="347867" y="277638"/>
                  <a:pt x="349494" y="282556"/>
                </a:cubicBezTo>
                <a:cubicBezTo>
                  <a:pt x="351121" y="287474"/>
                  <a:pt x="351910" y="294507"/>
                  <a:pt x="351910" y="303703"/>
                </a:cubicBezTo>
                <a:cubicBezTo>
                  <a:pt x="351910" y="312801"/>
                  <a:pt x="351121" y="320080"/>
                  <a:pt x="349494" y="325391"/>
                </a:cubicBezTo>
                <a:cubicBezTo>
                  <a:pt x="347867" y="330702"/>
                  <a:pt x="345747" y="334588"/>
                  <a:pt x="343184" y="336850"/>
                </a:cubicBezTo>
                <a:cubicBezTo>
                  <a:pt x="340620" y="339161"/>
                  <a:pt x="337416" y="340784"/>
                  <a:pt x="333521" y="341768"/>
                </a:cubicBezTo>
                <a:cubicBezTo>
                  <a:pt x="330563" y="342505"/>
                  <a:pt x="325781" y="342899"/>
                  <a:pt x="318977" y="342948"/>
                </a:cubicBezTo>
                <a:lnTo>
                  <a:pt x="301032" y="342948"/>
                </a:lnTo>
                <a:close/>
                <a:moveTo>
                  <a:pt x="288933" y="244301"/>
                </a:moveTo>
                <a:cubicBezTo>
                  <a:pt x="282431" y="244301"/>
                  <a:pt x="277112" y="249613"/>
                  <a:pt x="277112" y="256106"/>
                </a:cubicBezTo>
                <a:lnTo>
                  <a:pt x="277013" y="256106"/>
                </a:lnTo>
                <a:lnTo>
                  <a:pt x="277013" y="351180"/>
                </a:lnTo>
                <a:cubicBezTo>
                  <a:pt x="277013" y="357673"/>
                  <a:pt x="282333" y="362985"/>
                  <a:pt x="288835" y="362985"/>
                </a:cubicBezTo>
                <a:lnTo>
                  <a:pt x="322230" y="362985"/>
                </a:lnTo>
                <a:cubicBezTo>
                  <a:pt x="331096" y="362985"/>
                  <a:pt x="338090" y="362198"/>
                  <a:pt x="343410" y="360476"/>
                </a:cubicBezTo>
                <a:cubicBezTo>
                  <a:pt x="350502" y="358263"/>
                  <a:pt x="356167" y="355115"/>
                  <a:pt x="360304" y="351033"/>
                </a:cubicBezTo>
                <a:cubicBezTo>
                  <a:pt x="365821" y="345671"/>
                  <a:pt x="370106" y="338736"/>
                  <a:pt x="373062" y="330080"/>
                </a:cubicBezTo>
                <a:cubicBezTo>
                  <a:pt x="375475" y="322997"/>
                  <a:pt x="376706" y="314587"/>
                  <a:pt x="376706" y="304799"/>
                </a:cubicBezTo>
                <a:cubicBezTo>
                  <a:pt x="376706" y="293683"/>
                  <a:pt x="375426" y="284338"/>
                  <a:pt x="372864" y="276763"/>
                </a:cubicBezTo>
                <a:cubicBezTo>
                  <a:pt x="370205" y="269189"/>
                  <a:pt x="366461" y="262795"/>
                  <a:pt x="361486" y="257532"/>
                </a:cubicBezTo>
                <a:cubicBezTo>
                  <a:pt x="356512" y="252269"/>
                  <a:pt x="350502" y="248630"/>
                  <a:pt x="343557" y="246564"/>
                </a:cubicBezTo>
                <a:cubicBezTo>
                  <a:pt x="338386" y="245088"/>
                  <a:pt x="330899" y="244301"/>
                  <a:pt x="320949" y="244301"/>
                </a:cubicBezTo>
                <a:close/>
                <a:moveTo>
                  <a:pt x="208006" y="242236"/>
                </a:moveTo>
                <a:cubicBezTo>
                  <a:pt x="198894" y="242236"/>
                  <a:pt x="191062" y="243613"/>
                  <a:pt x="184610" y="246367"/>
                </a:cubicBezTo>
                <a:cubicBezTo>
                  <a:pt x="178207" y="249122"/>
                  <a:pt x="173182" y="253155"/>
                  <a:pt x="169784" y="258368"/>
                </a:cubicBezTo>
                <a:cubicBezTo>
                  <a:pt x="166385" y="263680"/>
                  <a:pt x="164661" y="269337"/>
                  <a:pt x="164661" y="275386"/>
                </a:cubicBezTo>
                <a:cubicBezTo>
                  <a:pt x="164661" y="284731"/>
                  <a:pt x="168355" y="292699"/>
                  <a:pt x="175645" y="299241"/>
                </a:cubicBezTo>
                <a:cubicBezTo>
                  <a:pt x="180817" y="303914"/>
                  <a:pt x="189831" y="307750"/>
                  <a:pt x="202687" y="310996"/>
                </a:cubicBezTo>
                <a:cubicBezTo>
                  <a:pt x="212735" y="313455"/>
                  <a:pt x="219089" y="315177"/>
                  <a:pt x="221945" y="316161"/>
                </a:cubicBezTo>
                <a:cubicBezTo>
                  <a:pt x="225984" y="317587"/>
                  <a:pt x="228891" y="319308"/>
                  <a:pt x="230516" y="321276"/>
                </a:cubicBezTo>
                <a:cubicBezTo>
                  <a:pt x="232191" y="323243"/>
                  <a:pt x="233028" y="325653"/>
                  <a:pt x="233028" y="328162"/>
                </a:cubicBezTo>
                <a:cubicBezTo>
                  <a:pt x="233028" y="332539"/>
                  <a:pt x="231107" y="336376"/>
                  <a:pt x="227167" y="339622"/>
                </a:cubicBezTo>
                <a:cubicBezTo>
                  <a:pt x="223226" y="342917"/>
                  <a:pt x="217463" y="344540"/>
                  <a:pt x="209730" y="344540"/>
                </a:cubicBezTo>
                <a:cubicBezTo>
                  <a:pt x="202440" y="344540"/>
                  <a:pt x="196579" y="342720"/>
                  <a:pt x="192294" y="339032"/>
                </a:cubicBezTo>
                <a:cubicBezTo>
                  <a:pt x="189683" y="336818"/>
                  <a:pt x="187664" y="333818"/>
                  <a:pt x="186087" y="329982"/>
                </a:cubicBezTo>
                <a:cubicBezTo>
                  <a:pt x="184117" y="325161"/>
                  <a:pt x="179044" y="322259"/>
                  <a:pt x="173872" y="322801"/>
                </a:cubicBezTo>
                <a:cubicBezTo>
                  <a:pt x="166040" y="323587"/>
                  <a:pt x="161066" y="331506"/>
                  <a:pt x="163922" y="338786"/>
                </a:cubicBezTo>
                <a:cubicBezTo>
                  <a:pt x="166434" y="345130"/>
                  <a:pt x="170030" y="350344"/>
                  <a:pt x="174857" y="354476"/>
                </a:cubicBezTo>
                <a:cubicBezTo>
                  <a:pt x="182935" y="361411"/>
                  <a:pt x="194412" y="364903"/>
                  <a:pt x="209435" y="364903"/>
                </a:cubicBezTo>
                <a:cubicBezTo>
                  <a:pt x="219778" y="364903"/>
                  <a:pt x="228447" y="363427"/>
                  <a:pt x="235343" y="360575"/>
                </a:cubicBezTo>
                <a:cubicBezTo>
                  <a:pt x="242239" y="357673"/>
                  <a:pt x="247558" y="353295"/>
                  <a:pt x="251351" y="347295"/>
                </a:cubicBezTo>
                <a:cubicBezTo>
                  <a:pt x="255094" y="341392"/>
                  <a:pt x="257015" y="335048"/>
                  <a:pt x="257015" y="328211"/>
                </a:cubicBezTo>
                <a:cubicBezTo>
                  <a:pt x="257015" y="320735"/>
                  <a:pt x="255439" y="314439"/>
                  <a:pt x="252287" y="309324"/>
                </a:cubicBezTo>
                <a:cubicBezTo>
                  <a:pt x="249135" y="304209"/>
                  <a:pt x="244702" y="300225"/>
                  <a:pt x="239136" y="297274"/>
                </a:cubicBezTo>
                <a:cubicBezTo>
                  <a:pt x="233570" y="294322"/>
                  <a:pt x="224950" y="291519"/>
                  <a:pt x="213277" y="288765"/>
                </a:cubicBezTo>
                <a:cubicBezTo>
                  <a:pt x="201554" y="286010"/>
                  <a:pt x="194215" y="283354"/>
                  <a:pt x="191210" y="280797"/>
                </a:cubicBezTo>
                <a:cubicBezTo>
                  <a:pt x="188846" y="278780"/>
                  <a:pt x="187664" y="276419"/>
                  <a:pt x="187664" y="273616"/>
                </a:cubicBezTo>
                <a:cubicBezTo>
                  <a:pt x="187664" y="270517"/>
                  <a:pt x="188895" y="268107"/>
                  <a:pt x="191456" y="266238"/>
                </a:cubicBezTo>
                <a:cubicBezTo>
                  <a:pt x="195397" y="263434"/>
                  <a:pt x="200864" y="262008"/>
                  <a:pt x="207809" y="262008"/>
                </a:cubicBezTo>
                <a:cubicBezTo>
                  <a:pt x="214508" y="262008"/>
                  <a:pt x="219630" y="263287"/>
                  <a:pt x="222980" y="265992"/>
                </a:cubicBezTo>
                <a:cubicBezTo>
                  <a:pt x="224901" y="267517"/>
                  <a:pt x="226329" y="269484"/>
                  <a:pt x="227511" y="272042"/>
                </a:cubicBezTo>
                <a:cubicBezTo>
                  <a:pt x="229432" y="276370"/>
                  <a:pt x="233964" y="278977"/>
                  <a:pt x="238692" y="278780"/>
                </a:cubicBezTo>
                <a:lnTo>
                  <a:pt x="239382" y="278780"/>
                </a:lnTo>
                <a:cubicBezTo>
                  <a:pt x="248051" y="278387"/>
                  <a:pt x="253469" y="269140"/>
                  <a:pt x="249381" y="261516"/>
                </a:cubicBezTo>
                <a:cubicBezTo>
                  <a:pt x="247460" y="257975"/>
                  <a:pt x="244899" y="254778"/>
                  <a:pt x="241697" y="252023"/>
                </a:cubicBezTo>
                <a:cubicBezTo>
                  <a:pt x="234161" y="245531"/>
                  <a:pt x="222931" y="242236"/>
                  <a:pt x="208006" y="242236"/>
                </a:cubicBezTo>
                <a:close/>
                <a:moveTo>
                  <a:pt x="97329" y="242236"/>
                </a:moveTo>
                <a:cubicBezTo>
                  <a:pt x="88217" y="242236"/>
                  <a:pt x="80385" y="243613"/>
                  <a:pt x="73982" y="246121"/>
                </a:cubicBezTo>
                <a:cubicBezTo>
                  <a:pt x="67529" y="248876"/>
                  <a:pt x="62555" y="252860"/>
                  <a:pt x="59107" y="258122"/>
                </a:cubicBezTo>
                <a:cubicBezTo>
                  <a:pt x="55708" y="263434"/>
                  <a:pt x="53984" y="269091"/>
                  <a:pt x="53984" y="275091"/>
                </a:cubicBezTo>
                <a:cubicBezTo>
                  <a:pt x="53984" y="284485"/>
                  <a:pt x="57678" y="292404"/>
                  <a:pt x="64968" y="298995"/>
                </a:cubicBezTo>
                <a:cubicBezTo>
                  <a:pt x="70140" y="303618"/>
                  <a:pt x="79154" y="307504"/>
                  <a:pt x="92009" y="310701"/>
                </a:cubicBezTo>
                <a:cubicBezTo>
                  <a:pt x="102057" y="313209"/>
                  <a:pt x="108461" y="314931"/>
                  <a:pt x="111268" y="315915"/>
                </a:cubicBezTo>
                <a:cubicBezTo>
                  <a:pt x="115356" y="317341"/>
                  <a:pt x="118213" y="319062"/>
                  <a:pt x="119888" y="321030"/>
                </a:cubicBezTo>
                <a:cubicBezTo>
                  <a:pt x="121513" y="322997"/>
                  <a:pt x="122351" y="325358"/>
                  <a:pt x="122351" y="328162"/>
                </a:cubicBezTo>
                <a:cubicBezTo>
                  <a:pt x="122351" y="332539"/>
                  <a:pt x="120479" y="336376"/>
                  <a:pt x="116539" y="339622"/>
                </a:cubicBezTo>
                <a:cubicBezTo>
                  <a:pt x="112598" y="342917"/>
                  <a:pt x="106786" y="344540"/>
                  <a:pt x="99053" y="344540"/>
                </a:cubicBezTo>
                <a:cubicBezTo>
                  <a:pt x="91763" y="344540"/>
                  <a:pt x="85902" y="342720"/>
                  <a:pt x="81666" y="339032"/>
                </a:cubicBezTo>
                <a:cubicBezTo>
                  <a:pt x="79006" y="336818"/>
                  <a:pt x="76986" y="333818"/>
                  <a:pt x="75410" y="329982"/>
                </a:cubicBezTo>
                <a:cubicBezTo>
                  <a:pt x="73440" y="325161"/>
                  <a:pt x="68367" y="322259"/>
                  <a:pt x="63195" y="322801"/>
                </a:cubicBezTo>
                <a:cubicBezTo>
                  <a:pt x="55363" y="323587"/>
                  <a:pt x="50388" y="331506"/>
                  <a:pt x="53294" y="338786"/>
                </a:cubicBezTo>
                <a:cubicBezTo>
                  <a:pt x="55757" y="345130"/>
                  <a:pt x="59402" y="350344"/>
                  <a:pt x="64180" y="354476"/>
                </a:cubicBezTo>
                <a:cubicBezTo>
                  <a:pt x="72258" y="361411"/>
                  <a:pt x="83734" y="364903"/>
                  <a:pt x="98807" y="364903"/>
                </a:cubicBezTo>
                <a:cubicBezTo>
                  <a:pt x="109101" y="364903"/>
                  <a:pt x="117770" y="363427"/>
                  <a:pt x="124666" y="360575"/>
                </a:cubicBezTo>
                <a:cubicBezTo>
                  <a:pt x="131562" y="357673"/>
                  <a:pt x="136881" y="353295"/>
                  <a:pt x="140674" y="347295"/>
                </a:cubicBezTo>
                <a:cubicBezTo>
                  <a:pt x="144417" y="341392"/>
                  <a:pt x="146338" y="335048"/>
                  <a:pt x="146338" y="328211"/>
                </a:cubicBezTo>
                <a:cubicBezTo>
                  <a:pt x="146338" y="320735"/>
                  <a:pt x="144762" y="314439"/>
                  <a:pt x="141610" y="309324"/>
                </a:cubicBezTo>
                <a:cubicBezTo>
                  <a:pt x="138457" y="304209"/>
                  <a:pt x="134074" y="300225"/>
                  <a:pt x="128458" y="297274"/>
                </a:cubicBezTo>
                <a:cubicBezTo>
                  <a:pt x="122893" y="294322"/>
                  <a:pt x="114273" y="291519"/>
                  <a:pt x="102599" y="288765"/>
                </a:cubicBezTo>
                <a:cubicBezTo>
                  <a:pt x="90926" y="286010"/>
                  <a:pt x="83537" y="283354"/>
                  <a:pt x="80533" y="280797"/>
                </a:cubicBezTo>
                <a:cubicBezTo>
                  <a:pt x="78169" y="278780"/>
                  <a:pt x="76986" y="276419"/>
                  <a:pt x="76986" y="273616"/>
                </a:cubicBezTo>
                <a:cubicBezTo>
                  <a:pt x="76986" y="270517"/>
                  <a:pt x="78218" y="268107"/>
                  <a:pt x="80779" y="266238"/>
                </a:cubicBezTo>
                <a:cubicBezTo>
                  <a:pt x="84720" y="263434"/>
                  <a:pt x="90187" y="262008"/>
                  <a:pt x="97132" y="262008"/>
                </a:cubicBezTo>
                <a:cubicBezTo>
                  <a:pt x="103831" y="262008"/>
                  <a:pt x="108953" y="263287"/>
                  <a:pt x="112303" y="265992"/>
                </a:cubicBezTo>
                <a:cubicBezTo>
                  <a:pt x="114224" y="267517"/>
                  <a:pt x="115652" y="269484"/>
                  <a:pt x="116834" y="272042"/>
                </a:cubicBezTo>
                <a:cubicBezTo>
                  <a:pt x="118755" y="276370"/>
                  <a:pt x="123287" y="278977"/>
                  <a:pt x="128015" y="278780"/>
                </a:cubicBezTo>
                <a:lnTo>
                  <a:pt x="128754" y="278780"/>
                </a:lnTo>
                <a:cubicBezTo>
                  <a:pt x="137423" y="278387"/>
                  <a:pt x="142792" y="269140"/>
                  <a:pt x="138704" y="261516"/>
                </a:cubicBezTo>
                <a:cubicBezTo>
                  <a:pt x="136832" y="257975"/>
                  <a:pt x="134271" y="254778"/>
                  <a:pt x="131020" y="252023"/>
                </a:cubicBezTo>
                <a:cubicBezTo>
                  <a:pt x="123484" y="245531"/>
                  <a:pt x="112253" y="242236"/>
                  <a:pt x="97329" y="242236"/>
                </a:cubicBezTo>
                <a:close/>
                <a:moveTo>
                  <a:pt x="370500" y="36151"/>
                </a:moveTo>
                <a:cubicBezTo>
                  <a:pt x="361289" y="36151"/>
                  <a:pt x="353852" y="43627"/>
                  <a:pt x="353803" y="52775"/>
                </a:cubicBezTo>
                <a:cubicBezTo>
                  <a:pt x="353803" y="61973"/>
                  <a:pt x="361289" y="69449"/>
                  <a:pt x="370500" y="69449"/>
                </a:cubicBezTo>
                <a:cubicBezTo>
                  <a:pt x="379662" y="69449"/>
                  <a:pt x="387149" y="61973"/>
                  <a:pt x="387149" y="52775"/>
                </a:cubicBezTo>
                <a:cubicBezTo>
                  <a:pt x="387149" y="43627"/>
                  <a:pt x="379662" y="36151"/>
                  <a:pt x="370500" y="36151"/>
                </a:cubicBezTo>
                <a:close/>
                <a:moveTo>
                  <a:pt x="50930" y="36151"/>
                </a:moveTo>
                <a:cubicBezTo>
                  <a:pt x="41719" y="36151"/>
                  <a:pt x="34233" y="43627"/>
                  <a:pt x="34233" y="52775"/>
                </a:cubicBezTo>
                <a:cubicBezTo>
                  <a:pt x="34233" y="61973"/>
                  <a:pt x="41719" y="69449"/>
                  <a:pt x="50930" y="69449"/>
                </a:cubicBezTo>
                <a:cubicBezTo>
                  <a:pt x="60092" y="69449"/>
                  <a:pt x="67579" y="61973"/>
                  <a:pt x="67579" y="52775"/>
                </a:cubicBezTo>
                <a:cubicBezTo>
                  <a:pt x="67579" y="43627"/>
                  <a:pt x="60092" y="36151"/>
                  <a:pt x="50930" y="36151"/>
                </a:cubicBezTo>
                <a:close/>
                <a:moveTo>
                  <a:pt x="34971" y="0"/>
                </a:moveTo>
                <a:lnTo>
                  <a:pt x="391434" y="0"/>
                </a:lnTo>
                <a:cubicBezTo>
                  <a:pt x="410742" y="0"/>
                  <a:pt x="426356" y="15592"/>
                  <a:pt x="426356" y="34872"/>
                </a:cubicBezTo>
                <a:lnTo>
                  <a:pt x="426356" y="572365"/>
                </a:lnTo>
                <a:cubicBezTo>
                  <a:pt x="426356" y="591645"/>
                  <a:pt x="410742" y="607286"/>
                  <a:pt x="391434" y="607286"/>
                </a:cubicBezTo>
                <a:lnTo>
                  <a:pt x="34971" y="607286"/>
                </a:lnTo>
                <a:cubicBezTo>
                  <a:pt x="15663" y="607286"/>
                  <a:pt x="0" y="591645"/>
                  <a:pt x="0" y="572365"/>
                </a:cubicBezTo>
                <a:lnTo>
                  <a:pt x="0" y="34872"/>
                </a:lnTo>
                <a:cubicBezTo>
                  <a:pt x="0" y="15592"/>
                  <a:pt x="15663" y="0"/>
                  <a:pt x="34971" y="0"/>
                </a:cubicBezTo>
                <a:close/>
              </a:path>
            </a:pathLst>
          </a:custGeom>
          <a:noFill/>
          <a:ln>
            <a:solidFill>
              <a:srgbClr val="57C4C4"/>
            </a:solidFill>
          </a:ln>
        </p:spPr>
        <p:txBody>
          <a:bodyPr/>
          <a:lstStyle/>
          <a:p>
            <a:endParaRPr lang="en-US" dirty="0">
              <a:latin typeface="Arial" panose="020B0604020202020204" pitchFamily="34" charset="0"/>
            </a:endParaRPr>
          </a:p>
        </p:txBody>
      </p:sp>
      <p:sp>
        <p:nvSpPr>
          <p:cNvPr id="69" name="linux-computer_1741"/>
          <p:cNvSpPr>
            <a:spLocks noChangeAspect="1"/>
          </p:cNvSpPr>
          <p:nvPr/>
        </p:nvSpPr>
        <p:spPr bwMode="auto">
          <a:xfrm>
            <a:off x="1847528" y="3821705"/>
            <a:ext cx="609685" cy="338203"/>
          </a:xfrm>
          <a:custGeom>
            <a:avLst/>
            <a:gdLst>
              <a:gd name="connsiteX0" fmla="*/ 508129 w 608062"/>
              <a:gd name="connsiteY0" fmla="*/ 204395 h 337303"/>
              <a:gd name="connsiteX1" fmla="*/ 468893 w 608062"/>
              <a:gd name="connsiteY1" fmla="*/ 243616 h 337303"/>
              <a:gd name="connsiteX2" fmla="*/ 508129 w 608062"/>
              <a:gd name="connsiteY2" fmla="*/ 282790 h 337303"/>
              <a:gd name="connsiteX3" fmla="*/ 547412 w 608062"/>
              <a:gd name="connsiteY3" fmla="*/ 243616 h 337303"/>
              <a:gd name="connsiteX4" fmla="*/ 508129 w 608062"/>
              <a:gd name="connsiteY4" fmla="*/ 204395 h 337303"/>
              <a:gd name="connsiteX5" fmla="*/ 25196 w 608062"/>
              <a:gd name="connsiteY5" fmla="*/ 149881 h 337303"/>
              <a:gd name="connsiteX6" fmla="*/ 582819 w 608062"/>
              <a:gd name="connsiteY6" fmla="*/ 149881 h 337303"/>
              <a:gd name="connsiteX7" fmla="*/ 608062 w 608062"/>
              <a:gd name="connsiteY7" fmla="*/ 175085 h 337303"/>
              <a:gd name="connsiteX8" fmla="*/ 608062 w 608062"/>
              <a:gd name="connsiteY8" fmla="*/ 312147 h 337303"/>
              <a:gd name="connsiteX9" fmla="*/ 582819 w 608062"/>
              <a:gd name="connsiteY9" fmla="*/ 337303 h 337303"/>
              <a:gd name="connsiteX10" fmla="*/ 25196 w 608062"/>
              <a:gd name="connsiteY10" fmla="*/ 337303 h 337303"/>
              <a:gd name="connsiteX11" fmla="*/ 0 w 608062"/>
              <a:gd name="connsiteY11" fmla="*/ 312147 h 337303"/>
              <a:gd name="connsiteX12" fmla="*/ 0 w 608062"/>
              <a:gd name="connsiteY12" fmla="*/ 175085 h 337303"/>
              <a:gd name="connsiteX13" fmla="*/ 25196 w 608062"/>
              <a:gd name="connsiteY13" fmla="*/ 149881 h 337303"/>
              <a:gd name="connsiteX14" fmla="*/ 126698 w 608062"/>
              <a:gd name="connsiteY14" fmla="*/ 0 h 337303"/>
              <a:gd name="connsiteX15" fmla="*/ 304067 w 608062"/>
              <a:gd name="connsiteY15" fmla="*/ 0 h 337303"/>
              <a:gd name="connsiteX16" fmla="*/ 481483 w 608062"/>
              <a:gd name="connsiteY16" fmla="*/ 0 h 337303"/>
              <a:gd name="connsiteX17" fmla="*/ 509374 w 608062"/>
              <a:gd name="connsiteY17" fmla="*/ 12276 h 337303"/>
              <a:gd name="connsiteX18" fmla="*/ 604393 w 608062"/>
              <a:gd name="connsiteY18" fmla="*/ 115869 h 337303"/>
              <a:gd name="connsiteX19" fmla="*/ 582931 w 608062"/>
              <a:gd name="connsiteY19" fmla="*/ 112091 h 337303"/>
              <a:gd name="connsiteX20" fmla="*/ 25202 w 608062"/>
              <a:gd name="connsiteY20" fmla="*/ 112091 h 337303"/>
              <a:gd name="connsiteX21" fmla="*/ 3740 w 608062"/>
              <a:gd name="connsiteY21" fmla="*/ 115869 h 337303"/>
              <a:gd name="connsiteX22" fmla="*/ 98854 w 608062"/>
              <a:gd name="connsiteY22" fmla="*/ 12276 h 337303"/>
              <a:gd name="connsiteX23" fmla="*/ 126698 w 608062"/>
              <a:gd name="connsiteY23" fmla="*/ 0 h 337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8062" h="337303">
                <a:moveTo>
                  <a:pt x="508129" y="204395"/>
                </a:moveTo>
                <a:cubicBezTo>
                  <a:pt x="486478" y="204395"/>
                  <a:pt x="468940" y="221952"/>
                  <a:pt x="468893" y="243616"/>
                </a:cubicBezTo>
                <a:cubicBezTo>
                  <a:pt x="468893" y="265232"/>
                  <a:pt x="486478" y="282790"/>
                  <a:pt x="508129" y="282790"/>
                </a:cubicBezTo>
                <a:cubicBezTo>
                  <a:pt x="529827" y="282790"/>
                  <a:pt x="547412" y="265232"/>
                  <a:pt x="547412" y="243616"/>
                </a:cubicBezTo>
                <a:cubicBezTo>
                  <a:pt x="547412" y="221952"/>
                  <a:pt x="529827" y="204395"/>
                  <a:pt x="508129" y="204395"/>
                </a:cubicBezTo>
                <a:close/>
                <a:moveTo>
                  <a:pt x="25196" y="149881"/>
                </a:moveTo>
                <a:lnTo>
                  <a:pt x="582819" y="149881"/>
                </a:lnTo>
                <a:cubicBezTo>
                  <a:pt x="596764" y="149881"/>
                  <a:pt x="608062" y="161161"/>
                  <a:pt x="608062" y="175085"/>
                </a:cubicBezTo>
                <a:lnTo>
                  <a:pt x="608062" y="312147"/>
                </a:lnTo>
                <a:cubicBezTo>
                  <a:pt x="608062" y="326023"/>
                  <a:pt x="596764" y="337303"/>
                  <a:pt x="582819" y="337303"/>
                </a:cubicBezTo>
                <a:lnTo>
                  <a:pt x="25196" y="337303"/>
                </a:lnTo>
                <a:cubicBezTo>
                  <a:pt x="11346" y="337303"/>
                  <a:pt x="0" y="326023"/>
                  <a:pt x="0" y="312147"/>
                </a:cubicBezTo>
                <a:lnTo>
                  <a:pt x="0" y="175085"/>
                </a:lnTo>
                <a:cubicBezTo>
                  <a:pt x="0" y="161161"/>
                  <a:pt x="11298" y="149881"/>
                  <a:pt x="25196" y="149881"/>
                </a:cubicBezTo>
                <a:close/>
                <a:moveTo>
                  <a:pt x="126698" y="0"/>
                </a:moveTo>
                <a:lnTo>
                  <a:pt x="304067" y="0"/>
                </a:lnTo>
                <a:lnTo>
                  <a:pt x="481483" y="0"/>
                </a:lnTo>
                <a:cubicBezTo>
                  <a:pt x="492072" y="0"/>
                  <a:pt x="502189" y="4438"/>
                  <a:pt x="509374" y="12276"/>
                </a:cubicBezTo>
                <a:lnTo>
                  <a:pt x="604393" y="115869"/>
                </a:lnTo>
                <a:cubicBezTo>
                  <a:pt x="597728" y="113414"/>
                  <a:pt x="590495" y="112091"/>
                  <a:pt x="582931" y="112091"/>
                </a:cubicBezTo>
                <a:lnTo>
                  <a:pt x="25202" y="112091"/>
                </a:lnTo>
                <a:cubicBezTo>
                  <a:pt x="17733" y="112091"/>
                  <a:pt x="10453" y="113414"/>
                  <a:pt x="3740" y="115869"/>
                </a:cubicBezTo>
                <a:lnTo>
                  <a:pt x="98854" y="12276"/>
                </a:lnTo>
                <a:cubicBezTo>
                  <a:pt x="105945" y="4438"/>
                  <a:pt x="116109" y="0"/>
                  <a:pt x="126698" y="0"/>
                </a:cubicBezTo>
                <a:close/>
              </a:path>
            </a:pathLst>
          </a:custGeom>
          <a:noFill/>
          <a:ln>
            <a:solidFill>
              <a:srgbClr val="57C4C4"/>
            </a:solidFill>
          </a:ln>
        </p:spPr>
        <p:txBody>
          <a:bodyPr/>
          <a:lstStyle/>
          <a:p>
            <a:endParaRPr lang="en-US" dirty="0">
              <a:latin typeface="Arial" panose="020B0604020202020204" pitchFamily="34" charset="0"/>
            </a:endParaRPr>
          </a:p>
        </p:txBody>
      </p:sp>
      <p:sp>
        <p:nvSpPr>
          <p:cNvPr id="70" name="linux_142424"/>
          <p:cNvSpPr>
            <a:spLocks noChangeAspect="1"/>
          </p:cNvSpPr>
          <p:nvPr/>
        </p:nvSpPr>
        <p:spPr bwMode="auto">
          <a:xfrm>
            <a:off x="2639616" y="5182082"/>
            <a:ext cx="609684" cy="416806"/>
          </a:xfrm>
          <a:custGeom>
            <a:avLst/>
            <a:gdLst>
              <a:gd name="connsiteX0" fmla="*/ 609614 w 609614"/>
              <a:gd name="connsiteY0" fmla="*/ 301385 h 416759"/>
              <a:gd name="connsiteX1" fmla="*/ 609614 w 609614"/>
              <a:gd name="connsiteY1" fmla="*/ 333374 h 416759"/>
              <a:gd name="connsiteX2" fmla="*/ 92158 w 609614"/>
              <a:gd name="connsiteY2" fmla="*/ 416759 h 416759"/>
              <a:gd name="connsiteX3" fmla="*/ 92158 w 609614"/>
              <a:gd name="connsiteY3" fmla="*/ 385679 h 416759"/>
              <a:gd name="connsiteX4" fmla="*/ 245532 w 609614"/>
              <a:gd name="connsiteY4" fmla="*/ 131746 h 416759"/>
              <a:gd name="connsiteX5" fmla="*/ 260104 w 609614"/>
              <a:gd name="connsiteY5" fmla="*/ 146318 h 416759"/>
              <a:gd name="connsiteX6" fmla="*/ 245532 w 609614"/>
              <a:gd name="connsiteY6" fmla="*/ 160890 h 416759"/>
              <a:gd name="connsiteX7" fmla="*/ 230960 w 609614"/>
              <a:gd name="connsiteY7" fmla="*/ 146318 h 416759"/>
              <a:gd name="connsiteX8" fmla="*/ 245532 w 609614"/>
              <a:gd name="connsiteY8" fmla="*/ 131746 h 416759"/>
              <a:gd name="connsiteX9" fmla="*/ 47494 w 609614"/>
              <a:gd name="connsiteY9" fmla="*/ 90971 h 416759"/>
              <a:gd name="connsiteX10" fmla="*/ 30942 w 609614"/>
              <a:gd name="connsiteY10" fmla="*/ 98855 h 416759"/>
              <a:gd name="connsiteX11" fmla="*/ 47494 w 609614"/>
              <a:gd name="connsiteY11" fmla="*/ 106588 h 416759"/>
              <a:gd name="connsiteX12" fmla="*/ 63893 w 609614"/>
              <a:gd name="connsiteY12" fmla="*/ 98855 h 416759"/>
              <a:gd name="connsiteX13" fmla="*/ 47494 w 609614"/>
              <a:gd name="connsiteY13" fmla="*/ 90971 h 416759"/>
              <a:gd name="connsiteX14" fmla="*/ 0 w 609614"/>
              <a:gd name="connsiteY14" fmla="*/ 83267 h 416759"/>
              <a:gd name="connsiteX15" fmla="*/ 83479 w 609614"/>
              <a:gd name="connsiteY15" fmla="*/ 387654 h 416759"/>
              <a:gd name="connsiteX16" fmla="*/ 83479 w 609614"/>
              <a:gd name="connsiteY16" fmla="*/ 416759 h 416759"/>
              <a:gd name="connsiteX17" fmla="*/ 0 w 609614"/>
              <a:gd name="connsiteY17" fmla="*/ 119193 h 416759"/>
              <a:gd name="connsiteX18" fmla="*/ 430887 w 609614"/>
              <a:gd name="connsiteY18" fmla="*/ 43058 h 416759"/>
              <a:gd name="connsiteX19" fmla="*/ 433468 w 609614"/>
              <a:gd name="connsiteY19" fmla="*/ 50182 h 416759"/>
              <a:gd name="connsiteX20" fmla="*/ 414493 w 609614"/>
              <a:gd name="connsiteY20" fmla="*/ 91869 h 416759"/>
              <a:gd name="connsiteX21" fmla="*/ 414493 w 609614"/>
              <a:gd name="connsiteY21" fmla="*/ 141589 h 416759"/>
              <a:gd name="connsiteX22" fmla="*/ 412520 w 609614"/>
              <a:gd name="connsiteY22" fmla="*/ 145834 h 416759"/>
              <a:gd name="connsiteX23" fmla="*/ 379124 w 609614"/>
              <a:gd name="connsiteY23" fmla="*/ 171452 h 416759"/>
              <a:gd name="connsiteX24" fmla="*/ 381553 w 609614"/>
              <a:gd name="connsiteY24" fmla="*/ 174635 h 416759"/>
              <a:gd name="connsiteX25" fmla="*/ 349068 w 609614"/>
              <a:gd name="connsiteY25" fmla="*/ 198434 h 416759"/>
              <a:gd name="connsiteX26" fmla="*/ 353622 w 609614"/>
              <a:gd name="connsiteY26" fmla="*/ 203891 h 416759"/>
              <a:gd name="connsiteX27" fmla="*/ 332674 w 609614"/>
              <a:gd name="connsiteY27" fmla="*/ 220869 h 416759"/>
              <a:gd name="connsiteX28" fmla="*/ 326754 w 609614"/>
              <a:gd name="connsiteY28" fmla="*/ 213744 h 416759"/>
              <a:gd name="connsiteX29" fmla="*/ 312181 w 609614"/>
              <a:gd name="connsiteY29" fmla="*/ 217079 h 416759"/>
              <a:gd name="connsiteX30" fmla="*/ 317949 w 609614"/>
              <a:gd name="connsiteY30" fmla="*/ 202830 h 416759"/>
              <a:gd name="connsiteX31" fmla="*/ 313092 w 609614"/>
              <a:gd name="connsiteY31" fmla="*/ 196918 h 416759"/>
              <a:gd name="connsiteX32" fmla="*/ 333888 w 609614"/>
              <a:gd name="connsiteY32" fmla="*/ 179486 h 416759"/>
              <a:gd name="connsiteX33" fmla="*/ 338290 w 609614"/>
              <a:gd name="connsiteY33" fmla="*/ 184943 h 416759"/>
              <a:gd name="connsiteX34" fmla="*/ 370320 w 609614"/>
              <a:gd name="connsiteY34" fmla="*/ 160083 h 416759"/>
              <a:gd name="connsiteX35" fmla="*/ 372597 w 609614"/>
              <a:gd name="connsiteY35" fmla="*/ 162963 h 416759"/>
              <a:gd name="connsiteX36" fmla="*/ 403867 w 609614"/>
              <a:gd name="connsiteY36" fmla="*/ 138861 h 416759"/>
              <a:gd name="connsiteX37" fmla="*/ 403867 w 609614"/>
              <a:gd name="connsiteY37" fmla="*/ 90656 h 416759"/>
              <a:gd name="connsiteX38" fmla="*/ 404322 w 609614"/>
              <a:gd name="connsiteY38" fmla="*/ 88382 h 416759"/>
              <a:gd name="connsiteX39" fmla="*/ 423753 w 609614"/>
              <a:gd name="connsiteY39" fmla="*/ 45786 h 416759"/>
              <a:gd name="connsiteX40" fmla="*/ 430887 w 609614"/>
              <a:gd name="connsiteY40" fmla="*/ 43058 h 416759"/>
              <a:gd name="connsiteX41" fmla="*/ 371997 w 609614"/>
              <a:gd name="connsiteY41" fmla="*/ 33659 h 416759"/>
              <a:gd name="connsiteX42" fmla="*/ 346790 w 609614"/>
              <a:gd name="connsiteY42" fmla="*/ 45486 h 416759"/>
              <a:gd name="connsiteX43" fmla="*/ 371997 w 609614"/>
              <a:gd name="connsiteY43" fmla="*/ 57312 h 416759"/>
              <a:gd name="connsiteX44" fmla="*/ 397204 w 609614"/>
              <a:gd name="connsiteY44" fmla="*/ 45486 h 416759"/>
              <a:gd name="connsiteX45" fmla="*/ 371997 w 609614"/>
              <a:gd name="connsiteY45" fmla="*/ 33659 h 416759"/>
              <a:gd name="connsiteX46" fmla="*/ 435774 w 609614"/>
              <a:gd name="connsiteY46" fmla="*/ 20317 h 416759"/>
              <a:gd name="connsiteX47" fmla="*/ 416489 w 609614"/>
              <a:gd name="connsiteY47" fmla="*/ 39724 h 416759"/>
              <a:gd name="connsiteX48" fmla="*/ 417704 w 609614"/>
              <a:gd name="connsiteY48" fmla="*/ 46395 h 416759"/>
              <a:gd name="connsiteX49" fmla="*/ 400697 w 609614"/>
              <a:gd name="connsiteY49" fmla="*/ 83693 h 416759"/>
              <a:gd name="connsiteX50" fmla="*/ 399786 w 609614"/>
              <a:gd name="connsiteY50" fmla="*/ 88090 h 416759"/>
              <a:gd name="connsiteX51" fmla="*/ 399786 w 609614"/>
              <a:gd name="connsiteY51" fmla="*/ 118869 h 416759"/>
              <a:gd name="connsiteX52" fmla="*/ 247025 w 609614"/>
              <a:gd name="connsiteY52" fmla="*/ 57312 h 416759"/>
              <a:gd name="connsiteX53" fmla="*/ 77560 w 609614"/>
              <a:gd name="connsiteY53" fmla="*/ 165264 h 416759"/>
              <a:gd name="connsiteX54" fmla="*/ 247025 w 609614"/>
              <a:gd name="connsiteY54" fmla="*/ 273368 h 416759"/>
              <a:gd name="connsiteX55" fmla="*/ 416489 w 609614"/>
              <a:gd name="connsiteY55" fmla="*/ 165264 h 416759"/>
              <a:gd name="connsiteX56" fmla="*/ 414515 w 609614"/>
              <a:gd name="connsiteY56" fmla="*/ 149496 h 416759"/>
              <a:gd name="connsiteX57" fmla="*/ 417097 w 609614"/>
              <a:gd name="connsiteY57" fmla="*/ 147525 h 416759"/>
              <a:gd name="connsiteX58" fmla="*/ 421349 w 609614"/>
              <a:gd name="connsiteY58" fmla="*/ 139034 h 416759"/>
              <a:gd name="connsiteX59" fmla="*/ 421349 w 609614"/>
              <a:gd name="connsiteY59" fmla="*/ 90516 h 416759"/>
              <a:gd name="connsiteX60" fmla="*/ 435622 w 609614"/>
              <a:gd name="connsiteY60" fmla="*/ 58980 h 416759"/>
              <a:gd name="connsiteX61" fmla="*/ 435774 w 609614"/>
              <a:gd name="connsiteY61" fmla="*/ 58980 h 416759"/>
              <a:gd name="connsiteX62" fmla="*/ 455059 w 609614"/>
              <a:gd name="connsiteY62" fmla="*/ 39724 h 416759"/>
              <a:gd name="connsiteX63" fmla="*/ 435774 w 609614"/>
              <a:gd name="connsiteY63" fmla="*/ 20317 h 416759"/>
              <a:gd name="connsiteX64" fmla="*/ 462044 w 609614"/>
              <a:gd name="connsiteY64" fmla="*/ 0 h 416759"/>
              <a:gd name="connsiteX65" fmla="*/ 605239 w 609614"/>
              <a:gd name="connsiteY65" fmla="*/ 284891 h 416759"/>
              <a:gd name="connsiteX66" fmla="*/ 89556 w 609614"/>
              <a:gd name="connsiteY66" fmla="*/ 368281 h 416759"/>
              <a:gd name="connsiteX67" fmla="*/ 8468 w 609614"/>
              <a:gd name="connsiteY67" fmla="*/ 75658 h 41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9614" h="416759">
                <a:moveTo>
                  <a:pt x="609614" y="301385"/>
                </a:moveTo>
                <a:lnTo>
                  <a:pt x="609614" y="333374"/>
                </a:lnTo>
                <a:lnTo>
                  <a:pt x="92158" y="416759"/>
                </a:lnTo>
                <a:lnTo>
                  <a:pt x="92158" y="385679"/>
                </a:lnTo>
                <a:close/>
                <a:moveTo>
                  <a:pt x="245532" y="131746"/>
                </a:moveTo>
                <a:cubicBezTo>
                  <a:pt x="253580" y="131746"/>
                  <a:pt x="260104" y="138270"/>
                  <a:pt x="260104" y="146318"/>
                </a:cubicBezTo>
                <a:cubicBezTo>
                  <a:pt x="260104" y="154366"/>
                  <a:pt x="253580" y="160890"/>
                  <a:pt x="245532" y="160890"/>
                </a:cubicBezTo>
                <a:cubicBezTo>
                  <a:pt x="237484" y="160890"/>
                  <a:pt x="230960" y="154366"/>
                  <a:pt x="230960" y="146318"/>
                </a:cubicBezTo>
                <a:cubicBezTo>
                  <a:pt x="230960" y="138270"/>
                  <a:pt x="237484" y="131746"/>
                  <a:pt x="245532" y="131746"/>
                </a:cubicBezTo>
                <a:close/>
                <a:moveTo>
                  <a:pt x="47494" y="90971"/>
                </a:moveTo>
                <a:cubicBezTo>
                  <a:pt x="38383" y="90971"/>
                  <a:pt x="30942" y="94458"/>
                  <a:pt x="30942" y="98855"/>
                </a:cubicBezTo>
                <a:cubicBezTo>
                  <a:pt x="30942" y="103100"/>
                  <a:pt x="38383" y="106588"/>
                  <a:pt x="47494" y="106588"/>
                </a:cubicBezTo>
                <a:cubicBezTo>
                  <a:pt x="56605" y="106588"/>
                  <a:pt x="63893" y="103100"/>
                  <a:pt x="63893" y="98855"/>
                </a:cubicBezTo>
                <a:cubicBezTo>
                  <a:pt x="63893" y="94458"/>
                  <a:pt x="56605" y="90971"/>
                  <a:pt x="47494" y="90971"/>
                </a:cubicBezTo>
                <a:close/>
                <a:moveTo>
                  <a:pt x="0" y="83267"/>
                </a:moveTo>
                <a:lnTo>
                  <a:pt x="83479" y="387654"/>
                </a:lnTo>
                <a:lnTo>
                  <a:pt x="83479" y="416759"/>
                </a:lnTo>
                <a:lnTo>
                  <a:pt x="0" y="119193"/>
                </a:lnTo>
                <a:close/>
                <a:moveTo>
                  <a:pt x="430887" y="43058"/>
                </a:moveTo>
                <a:cubicBezTo>
                  <a:pt x="433468" y="44422"/>
                  <a:pt x="434682" y="47454"/>
                  <a:pt x="433468" y="50182"/>
                </a:cubicBezTo>
                <a:lnTo>
                  <a:pt x="414493" y="91869"/>
                </a:lnTo>
                <a:lnTo>
                  <a:pt x="414493" y="141589"/>
                </a:lnTo>
                <a:cubicBezTo>
                  <a:pt x="414493" y="143257"/>
                  <a:pt x="413734" y="144772"/>
                  <a:pt x="412520" y="145834"/>
                </a:cubicBezTo>
                <a:lnTo>
                  <a:pt x="379124" y="171452"/>
                </a:lnTo>
                <a:lnTo>
                  <a:pt x="381553" y="174635"/>
                </a:lnTo>
                <a:lnTo>
                  <a:pt x="349068" y="198434"/>
                </a:lnTo>
                <a:lnTo>
                  <a:pt x="353622" y="203891"/>
                </a:lnTo>
                <a:lnTo>
                  <a:pt x="332674" y="220869"/>
                </a:lnTo>
                <a:lnTo>
                  <a:pt x="326754" y="213744"/>
                </a:lnTo>
                <a:lnTo>
                  <a:pt x="312181" y="217079"/>
                </a:lnTo>
                <a:lnTo>
                  <a:pt x="317949" y="202830"/>
                </a:lnTo>
                <a:lnTo>
                  <a:pt x="313092" y="196918"/>
                </a:lnTo>
                <a:lnTo>
                  <a:pt x="333888" y="179486"/>
                </a:lnTo>
                <a:lnTo>
                  <a:pt x="338290" y="184943"/>
                </a:lnTo>
                <a:lnTo>
                  <a:pt x="370320" y="160083"/>
                </a:lnTo>
                <a:lnTo>
                  <a:pt x="372597" y="162963"/>
                </a:lnTo>
                <a:lnTo>
                  <a:pt x="403867" y="138861"/>
                </a:lnTo>
                <a:lnTo>
                  <a:pt x="403867" y="90656"/>
                </a:lnTo>
                <a:cubicBezTo>
                  <a:pt x="403867" y="89898"/>
                  <a:pt x="404019" y="89140"/>
                  <a:pt x="404322" y="88382"/>
                </a:cubicBezTo>
                <a:lnTo>
                  <a:pt x="423753" y="45786"/>
                </a:lnTo>
                <a:cubicBezTo>
                  <a:pt x="424967" y="43058"/>
                  <a:pt x="428155" y="41845"/>
                  <a:pt x="430887" y="43058"/>
                </a:cubicBezTo>
                <a:close/>
                <a:moveTo>
                  <a:pt x="371997" y="33659"/>
                </a:moveTo>
                <a:cubicBezTo>
                  <a:pt x="358027" y="33659"/>
                  <a:pt x="346790" y="38966"/>
                  <a:pt x="346790" y="45486"/>
                </a:cubicBezTo>
                <a:cubicBezTo>
                  <a:pt x="346790" y="52005"/>
                  <a:pt x="358027" y="57312"/>
                  <a:pt x="371997" y="57312"/>
                </a:cubicBezTo>
                <a:cubicBezTo>
                  <a:pt x="385967" y="57312"/>
                  <a:pt x="397204" y="52005"/>
                  <a:pt x="397204" y="45486"/>
                </a:cubicBezTo>
                <a:cubicBezTo>
                  <a:pt x="397204" y="38966"/>
                  <a:pt x="385967" y="33659"/>
                  <a:pt x="371997" y="33659"/>
                </a:cubicBezTo>
                <a:close/>
                <a:moveTo>
                  <a:pt x="435774" y="20317"/>
                </a:moveTo>
                <a:cubicBezTo>
                  <a:pt x="425145" y="20317"/>
                  <a:pt x="416489" y="28959"/>
                  <a:pt x="416489" y="39724"/>
                </a:cubicBezTo>
                <a:cubicBezTo>
                  <a:pt x="416489" y="41998"/>
                  <a:pt x="416945" y="44273"/>
                  <a:pt x="417704" y="46395"/>
                </a:cubicBezTo>
                <a:lnTo>
                  <a:pt x="400697" y="83693"/>
                </a:lnTo>
                <a:cubicBezTo>
                  <a:pt x="400090" y="85058"/>
                  <a:pt x="399786" y="86574"/>
                  <a:pt x="399786" y="88090"/>
                </a:cubicBezTo>
                <a:lnTo>
                  <a:pt x="399786" y="118869"/>
                </a:lnTo>
                <a:cubicBezTo>
                  <a:pt x="372605" y="82480"/>
                  <a:pt x="314446" y="57312"/>
                  <a:pt x="247025" y="57312"/>
                </a:cubicBezTo>
                <a:cubicBezTo>
                  <a:pt x="153485" y="57312"/>
                  <a:pt x="77560" y="105678"/>
                  <a:pt x="77560" y="165264"/>
                </a:cubicBezTo>
                <a:cubicBezTo>
                  <a:pt x="77560" y="225002"/>
                  <a:pt x="153485" y="273368"/>
                  <a:pt x="247025" y="273368"/>
                </a:cubicBezTo>
                <a:cubicBezTo>
                  <a:pt x="340564" y="273368"/>
                  <a:pt x="416489" y="225002"/>
                  <a:pt x="416489" y="165264"/>
                </a:cubicBezTo>
                <a:cubicBezTo>
                  <a:pt x="416489" y="159957"/>
                  <a:pt x="415730" y="154651"/>
                  <a:pt x="414515" y="149496"/>
                </a:cubicBezTo>
                <a:lnTo>
                  <a:pt x="417097" y="147525"/>
                </a:lnTo>
                <a:cubicBezTo>
                  <a:pt x="419678" y="145554"/>
                  <a:pt x="421349" y="142370"/>
                  <a:pt x="421349" y="139034"/>
                </a:cubicBezTo>
                <a:lnTo>
                  <a:pt x="421349" y="90516"/>
                </a:lnTo>
                <a:lnTo>
                  <a:pt x="435622" y="58980"/>
                </a:lnTo>
                <a:cubicBezTo>
                  <a:pt x="435774" y="58980"/>
                  <a:pt x="435774" y="58980"/>
                  <a:pt x="435774" y="58980"/>
                </a:cubicBezTo>
                <a:cubicBezTo>
                  <a:pt x="446404" y="58980"/>
                  <a:pt x="455059" y="50337"/>
                  <a:pt x="455059" y="39724"/>
                </a:cubicBezTo>
                <a:cubicBezTo>
                  <a:pt x="455059" y="28959"/>
                  <a:pt x="446404" y="20317"/>
                  <a:pt x="435774" y="20317"/>
                </a:cubicBezTo>
                <a:close/>
                <a:moveTo>
                  <a:pt x="462044" y="0"/>
                </a:moveTo>
                <a:lnTo>
                  <a:pt x="605239" y="284891"/>
                </a:lnTo>
                <a:lnTo>
                  <a:pt x="89556" y="368281"/>
                </a:lnTo>
                <a:lnTo>
                  <a:pt x="8468" y="75658"/>
                </a:lnTo>
                <a:close/>
              </a:path>
            </a:pathLst>
          </a:custGeom>
          <a:noFill/>
          <a:ln>
            <a:solidFill>
              <a:srgbClr val="57C4C4"/>
            </a:solidFill>
          </a:ln>
        </p:spPr>
        <p:txBody>
          <a:bodyPr/>
          <a:lstStyle/>
          <a:p>
            <a:endParaRPr lang="en-US" dirty="0">
              <a:latin typeface="Arial" panose="020B0604020202020204" pitchFamily="34" charset="0"/>
            </a:endParaRPr>
          </a:p>
        </p:txBody>
      </p:sp>
      <p:sp>
        <p:nvSpPr>
          <p:cNvPr id="71" name="pc-user_64927"/>
          <p:cNvSpPr>
            <a:spLocks noChangeAspect="1"/>
          </p:cNvSpPr>
          <p:nvPr/>
        </p:nvSpPr>
        <p:spPr bwMode="auto">
          <a:xfrm>
            <a:off x="4177047" y="5150472"/>
            <a:ext cx="609684" cy="479109"/>
          </a:xfrm>
          <a:custGeom>
            <a:avLst/>
            <a:gdLst>
              <a:gd name="T0" fmla="*/ 4559 w 5200"/>
              <a:gd name="T1" fmla="*/ 2230 h 4092"/>
              <a:gd name="T2" fmla="*/ 3930 w 5200"/>
              <a:gd name="T3" fmla="*/ 2850 h 4092"/>
              <a:gd name="T4" fmla="*/ 3570 w 5200"/>
              <a:gd name="T5" fmla="*/ 1840 h 4092"/>
              <a:gd name="T6" fmla="*/ 4821 w 5200"/>
              <a:gd name="T7" fmla="*/ 1212 h 4092"/>
              <a:gd name="T8" fmla="*/ 4821 w 5200"/>
              <a:gd name="T9" fmla="*/ 741 h 4092"/>
              <a:gd name="T10" fmla="*/ 4320 w 5200"/>
              <a:gd name="T11" fmla="*/ 88 h 4092"/>
              <a:gd name="T12" fmla="*/ 3820 w 5200"/>
              <a:gd name="T13" fmla="*/ 618 h 4092"/>
              <a:gd name="T14" fmla="*/ 3820 w 5200"/>
              <a:gd name="T15" fmla="*/ 1035 h 4092"/>
              <a:gd name="T16" fmla="*/ 3820 w 5200"/>
              <a:gd name="T17" fmla="*/ 1335 h 4092"/>
              <a:gd name="T18" fmla="*/ 3570 w 5200"/>
              <a:gd name="T19" fmla="*/ 1265 h 4092"/>
              <a:gd name="T20" fmla="*/ 2600 w 5200"/>
              <a:gd name="T21" fmla="*/ 0 h 4092"/>
              <a:gd name="T22" fmla="*/ 1631 w 5200"/>
              <a:gd name="T23" fmla="*/ 1027 h 4092"/>
              <a:gd name="T24" fmla="*/ 1631 w 5200"/>
              <a:gd name="T25" fmla="*/ 1618 h 4092"/>
              <a:gd name="T26" fmla="*/ 1380 w 5200"/>
              <a:gd name="T27" fmla="*/ 1038 h 4092"/>
              <a:gd name="T28" fmla="*/ 1337 w 5200"/>
              <a:gd name="T29" fmla="*/ 519 h 4092"/>
              <a:gd name="T30" fmla="*/ 379 w 5200"/>
              <a:gd name="T31" fmla="*/ 441 h 4092"/>
              <a:gd name="T32" fmla="*/ 380 w 5200"/>
              <a:gd name="T33" fmla="*/ 741 h 4092"/>
              <a:gd name="T34" fmla="*/ 422 w 5200"/>
              <a:gd name="T35" fmla="*/ 1113 h 4092"/>
              <a:gd name="T36" fmla="*/ 960 w 5200"/>
              <a:gd name="T37" fmla="*/ 1539 h 4092"/>
              <a:gd name="T38" fmla="*/ 1631 w 5200"/>
              <a:gd name="T39" fmla="*/ 2410 h 4092"/>
              <a:gd name="T40" fmla="*/ 1281 w 5200"/>
              <a:gd name="T41" fmla="*/ 2686 h 4092"/>
              <a:gd name="T42" fmla="*/ 1 w 5200"/>
              <a:gd name="T43" fmla="*/ 2686 h 4092"/>
              <a:gd name="T44" fmla="*/ 55 w 5200"/>
              <a:gd name="T45" fmla="*/ 3162 h 4092"/>
              <a:gd name="T46" fmla="*/ 0 w 5200"/>
              <a:gd name="T47" fmla="*/ 3669 h 4092"/>
              <a:gd name="T48" fmla="*/ 1281 w 5200"/>
              <a:gd name="T49" fmla="*/ 3669 h 4092"/>
              <a:gd name="T50" fmla="*/ 1275 w 5200"/>
              <a:gd name="T51" fmla="*/ 3088 h 4092"/>
              <a:gd name="T52" fmla="*/ 3973 w 5200"/>
              <a:gd name="T53" fmla="*/ 3162 h 4092"/>
              <a:gd name="T54" fmla="*/ 3919 w 5200"/>
              <a:gd name="T55" fmla="*/ 3669 h 4092"/>
              <a:gd name="T56" fmla="*/ 5200 w 5200"/>
              <a:gd name="T57" fmla="*/ 3669 h 4092"/>
              <a:gd name="T58" fmla="*/ 5200 w 5200"/>
              <a:gd name="T59" fmla="*/ 3066 h 4092"/>
              <a:gd name="T60" fmla="*/ 3930 w 5200"/>
              <a:gd name="T61" fmla="*/ 321 h 4092"/>
              <a:gd name="T62" fmla="*/ 4711 w 5200"/>
              <a:gd name="T63" fmla="*/ 618 h 4092"/>
              <a:gd name="T64" fmla="*/ 4320 w 5200"/>
              <a:gd name="T65" fmla="*/ 949 h 4092"/>
              <a:gd name="T66" fmla="*/ 3956 w 5200"/>
              <a:gd name="T67" fmla="*/ 879 h 4092"/>
              <a:gd name="T68" fmla="*/ 4320 w 5200"/>
              <a:gd name="T69" fmla="*/ 1335 h 4092"/>
              <a:gd name="T70" fmla="*/ 880 w 5200"/>
              <a:gd name="T71" fmla="*/ 444 h 4092"/>
              <a:gd name="T72" fmla="*/ 1245 w 5200"/>
              <a:gd name="T73" fmla="*/ 582 h 4092"/>
              <a:gd name="T74" fmla="*/ 515 w 5200"/>
              <a:gd name="T75" fmla="*/ 879 h 4092"/>
              <a:gd name="T76" fmla="*/ 489 w 5200"/>
              <a:gd name="T77" fmla="*/ 915 h 4092"/>
              <a:gd name="T78" fmla="*/ 1245 w 5200"/>
              <a:gd name="T79" fmla="*/ 1176 h 4092"/>
              <a:gd name="T80" fmla="*/ 3356 w 5200"/>
              <a:gd name="T81" fmla="*/ 452 h 4092"/>
              <a:gd name="T82" fmla="*/ 2600 w 5200"/>
              <a:gd name="T83" fmla="*/ 1092 h 4092"/>
              <a:gd name="T84" fmla="*/ 1893 w 5200"/>
              <a:gd name="T85" fmla="*/ 957 h 4092"/>
              <a:gd name="T86" fmla="*/ 2600 w 5200"/>
              <a:gd name="T87" fmla="*/ 1841 h 4092"/>
              <a:gd name="T88" fmla="*/ 641 w 5200"/>
              <a:gd name="T89" fmla="*/ 2686 h 4092"/>
              <a:gd name="T90" fmla="*/ 1108 w 5200"/>
              <a:gd name="T91" fmla="*/ 2863 h 4092"/>
              <a:gd name="T92" fmla="*/ 641 w 5200"/>
              <a:gd name="T93" fmla="*/ 3826 h 4092"/>
              <a:gd name="T94" fmla="*/ 1140 w 5200"/>
              <a:gd name="T95" fmla="*/ 3669 h 4092"/>
              <a:gd name="T96" fmla="*/ 641 w 5200"/>
              <a:gd name="T97" fmla="*/ 3332 h 4092"/>
              <a:gd name="T98" fmla="*/ 1893 w 5200"/>
              <a:gd name="T99" fmla="*/ 2108 h 4092"/>
              <a:gd name="T100" fmla="*/ 1844 w 5200"/>
              <a:gd name="T101" fmla="*/ 2178 h 4092"/>
              <a:gd name="T102" fmla="*/ 5027 w 5200"/>
              <a:gd name="T103" fmla="*/ 3623 h 4092"/>
              <a:gd name="T104" fmla="*/ 4092 w 5200"/>
              <a:gd name="T105" fmla="*/ 3243 h 4092"/>
              <a:gd name="T106" fmla="*/ 4559 w 5200"/>
              <a:gd name="T107" fmla="*/ 3066 h 4092"/>
              <a:gd name="T108" fmla="*/ 5059 w 5200"/>
              <a:gd name="T109" fmla="*/ 2909 h 4092"/>
              <a:gd name="T110" fmla="*/ 5059 w 5200"/>
              <a:gd name="T111" fmla="*/ 2529 h 40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200" h="4092">
                <a:moveTo>
                  <a:pt x="5200" y="2909"/>
                </a:moveTo>
                <a:cubicBezTo>
                  <a:pt x="5200" y="2861"/>
                  <a:pt x="5180" y="2819"/>
                  <a:pt x="5145" y="2782"/>
                </a:cubicBezTo>
                <a:cubicBezTo>
                  <a:pt x="5173" y="2754"/>
                  <a:pt x="5193" y="2722"/>
                  <a:pt x="5200" y="2686"/>
                </a:cubicBezTo>
                <a:lnTo>
                  <a:pt x="5200" y="2529"/>
                </a:lnTo>
                <a:cubicBezTo>
                  <a:pt x="5200" y="2335"/>
                  <a:pt x="4870" y="2230"/>
                  <a:pt x="4559" y="2230"/>
                </a:cubicBezTo>
                <a:cubicBezTo>
                  <a:pt x="4249" y="2230"/>
                  <a:pt x="3919" y="2335"/>
                  <a:pt x="3919" y="2529"/>
                </a:cubicBezTo>
                <a:lnTo>
                  <a:pt x="3919" y="2682"/>
                </a:lnTo>
                <a:lnTo>
                  <a:pt x="3919" y="2686"/>
                </a:lnTo>
                <a:cubicBezTo>
                  <a:pt x="3927" y="2721"/>
                  <a:pt x="3946" y="2753"/>
                  <a:pt x="3973" y="2782"/>
                </a:cubicBezTo>
                <a:cubicBezTo>
                  <a:pt x="3954" y="2803"/>
                  <a:pt x="3939" y="2825"/>
                  <a:pt x="3930" y="2850"/>
                </a:cubicBezTo>
                <a:lnTo>
                  <a:pt x="3493" y="2555"/>
                </a:lnTo>
                <a:cubicBezTo>
                  <a:pt x="3532" y="2513"/>
                  <a:pt x="3559" y="2467"/>
                  <a:pt x="3570" y="2415"/>
                </a:cubicBezTo>
                <a:lnTo>
                  <a:pt x="3570" y="2178"/>
                </a:lnTo>
                <a:cubicBezTo>
                  <a:pt x="3570" y="2106"/>
                  <a:pt x="3539" y="2042"/>
                  <a:pt x="3487" y="1986"/>
                </a:cubicBezTo>
                <a:cubicBezTo>
                  <a:pt x="3529" y="1943"/>
                  <a:pt x="3558" y="1894"/>
                  <a:pt x="3570" y="1840"/>
                </a:cubicBezTo>
                <a:lnTo>
                  <a:pt x="3570" y="1836"/>
                </a:lnTo>
                <a:lnTo>
                  <a:pt x="4240" y="1539"/>
                </a:lnTo>
                <a:cubicBezTo>
                  <a:pt x="4267" y="1541"/>
                  <a:pt x="4294" y="1542"/>
                  <a:pt x="4320" y="1542"/>
                </a:cubicBezTo>
                <a:cubicBezTo>
                  <a:pt x="4548" y="1542"/>
                  <a:pt x="4793" y="1471"/>
                  <a:pt x="4821" y="1335"/>
                </a:cubicBezTo>
                <a:lnTo>
                  <a:pt x="4821" y="1212"/>
                </a:lnTo>
                <a:cubicBezTo>
                  <a:pt x="4821" y="1175"/>
                  <a:pt x="4805" y="1142"/>
                  <a:pt x="4778" y="1113"/>
                </a:cubicBezTo>
                <a:cubicBezTo>
                  <a:pt x="4800" y="1091"/>
                  <a:pt x="4815" y="1066"/>
                  <a:pt x="4821" y="1038"/>
                </a:cubicBezTo>
                <a:lnTo>
                  <a:pt x="4821" y="915"/>
                </a:lnTo>
                <a:cubicBezTo>
                  <a:pt x="4821" y="878"/>
                  <a:pt x="4805" y="845"/>
                  <a:pt x="4778" y="816"/>
                </a:cubicBezTo>
                <a:cubicBezTo>
                  <a:pt x="4800" y="794"/>
                  <a:pt x="4815" y="769"/>
                  <a:pt x="4821" y="741"/>
                </a:cubicBezTo>
                <a:lnTo>
                  <a:pt x="4821" y="618"/>
                </a:lnTo>
                <a:cubicBezTo>
                  <a:pt x="4821" y="581"/>
                  <a:pt x="4805" y="548"/>
                  <a:pt x="4778" y="519"/>
                </a:cubicBezTo>
                <a:cubicBezTo>
                  <a:pt x="4800" y="497"/>
                  <a:pt x="4815" y="472"/>
                  <a:pt x="4821" y="444"/>
                </a:cubicBezTo>
                <a:lnTo>
                  <a:pt x="4821" y="321"/>
                </a:lnTo>
                <a:cubicBezTo>
                  <a:pt x="4821" y="170"/>
                  <a:pt x="4563" y="88"/>
                  <a:pt x="4320" y="88"/>
                </a:cubicBezTo>
                <a:cubicBezTo>
                  <a:pt x="4078" y="88"/>
                  <a:pt x="3820" y="170"/>
                  <a:pt x="3820" y="321"/>
                </a:cubicBezTo>
                <a:lnTo>
                  <a:pt x="3820" y="441"/>
                </a:lnTo>
                <a:lnTo>
                  <a:pt x="3820" y="444"/>
                </a:lnTo>
                <a:cubicBezTo>
                  <a:pt x="3826" y="472"/>
                  <a:pt x="3841" y="497"/>
                  <a:pt x="3863" y="519"/>
                </a:cubicBezTo>
                <a:cubicBezTo>
                  <a:pt x="3836" y="548"/>
                  <a:pt x="3820" y="581"/>
                  <a:pt x="3820" y="618"/>
                </a:cubicBezTo>
                <a:lnTo>
                  <a:pt x="3820" y="738"/>
                </a:lnTo>
                <a:lnTo>
                  <a:pt x="3820" y="741"/>
                </a:lnTo>
                <a:cubicBezTo>
                  <a:pt x="3826" y="769"/>
                  <a:pt x="3841" y="794"/>
                  <a:pt x="3863" y="816"/>
                </a:cubicBezTo>
                <a:cubicBezTo>
                  <a:pt x="3836" y="845"/>
                  <a:pt x="3820" y="878"/>
                  <a:pt x="3820" y="915"/>
                </a:cubicBezTo>
                <a:lnTo>
                  <a:pt x="3820" y="1035"/>
                </a:lnTo>
                <a:lnTo>
                  <a:pt x="3820" y="1038"/>
                </a:lnTo>
                <a:cubicBezTo>
                  <a:pt x="3826" y="1066"/>
                  <a:pt x="3841" y="1091"/>
                  <a:pt x="3863" y="1113"/>
                </a:cubicBezTo>
                <a:cubicBezTo>
                  <a:pt x="3836" y="1142"/>
                  <a:pt x="3820" y="1175"/>
                  <a:pt x="3820" y="1212"/>
                </a:cubicBezTo>
                <a:lnTo>
                  <a:pt x="3820" y="1332"/>
                </a:lnTo>
                <a:lnTo>
                  <a:pt x="3820" y="1335"/>
                </a:lnTo>
                <a:cubicBezTo>
                  <a:pt x="3831" y="1385"/>
                  <a:pt x="3871" y="1426"/>
                  <a:pt x="3928" y="1459"/>
                </a:cubicBezTo>
                <a:lnTo>
                  <a:pt x="3570" y="1618"/>
                </a:lnTo>
                <a:lnTo>
                  <a:pt x="3570" y="1602"/>
                </a:lnTo>
                <a:cubicBezTo>
                  <a:pt x="3570" y="1530"/>
                  <a:pt x="3539" y="1467"/>
                  <a:pt x="3487" y="1411"/>
                </a:cubicBezTo>
                <a:cubicBezTo>
                  <a:pt x="3529" y="1368"/>
                  <a:pt x="3558" y="1319"/>
                  <a:pt x="3570" y="1265"/>
                </a:cubicBezTo>
                <a:lnTo>
                  <a:pt x="3570" y="1027"/>
                </a:lnTo>
                <a:cubicBezTo>
                  <a:pt x="3570" y="955"/>
                  <a:pt x="3539" y="892"/>
                  <a:pt x="3487" y="836"/>
                </a:cubicBezTo>
                <a:cubicBezTo>
                  <a:pt x="3529" y="793"/>
                  <a:pt x="3558" y="744"/>
                  <a:pt x="3570" y="690"/>
                </a:cubicBezTo>
                <a:lnTo>
                  <a:pt x="3570" y="452"/>
                </a:lnTo>
                <a:cubicBezTo>
                  <a:pt x="3570" y="159"/>
                  <a:pt x="3070" y="0"/>
                  <a:pt x="2600" y="0"/>
                </a:cubicBezTo>
                <a:cubicBezTo>
                  <a:pt x="2130" y="0"/>
                  <a:pt x="1631" y="159"/>
                  <a:pt x="1631" y="452"/>
                </a:cubicBezTo>
                <a:lnTo>
                  <a:pt x="1631" y="685"/>
                </a:lnTo>
                <a:lnTo>
                  <a:pt x="1631" y="690"/>
                </a:lnTo>
                <a:cubicBezTo>
                  <a:pt x="1642" y="744"/>
                  <a:pt x="1671" y="792"/>
                  <a:pt x="1713" y="836"/>
                </a:cubicBezTo>
                <a:cubicBezTo>
                  <a:pt x="1661" y="891"/>
                  <a:pt x="1631" y="955"/>
                  <a:pt x="1631" y="1027"/>
                </a:cubicBezTo>
                <a:lnTo>
                  <a:pt x="1631" y="1260"/>
                </a:lnTo>
                <a:lnTo>
                  <a:pt x="1631" y="1265"/>
                </a:lnTo>
                <a:cubicBezTo>
                  <a:pt x="1642" y="1319"/>
                  <a:pt x="1671" y="1368"/>
                  <a:pt x="1713" y="1411"/>
                </a:cubicBezTo>
                <a:cubicBezTo>
                  <a:pt x="1661" y="1466"/>
                  <a:pt x="1631" y="1530"/>
                  <a:pt x="1631" y="1602"/>
                </a:cubicBezTo>
                <a:lnTo>
                  <a:pt x="1631" y="1618"/>
                </a:lnTo>
                <a:lnTo>
                  <a:pt x="1272" y="1459"/>
                </a:lnTo>
                <a:cubicBezTo>
                  <a:pt x="1330" y="1426"/>
                  <a:pt x="1370" y="1385"/>
                  <a:pt x="1380" y="1335"/>
                </a:cubicBezTo>
                <a:lnTo>
                  <a:pt x="1380" y="1212"/>
                </a:lnTo>
                <a:cubicBezTo>
                  <a:pt x="1380" y="1175"/>
                  <a:pt x="1364" y="1142"/>
                  <a:pt x="1337" y="1113"/>
                </a:cubicBezTo>
                <a:cubicBezTo>
                  <a:pt x="1359" y="1091"/>
                  <a:pt x="1374" y="1066"/>
                  <a:pt x="1380" y="1038"/>
                </a:cubicBezTo>
                <a:lnTo>
                  <a:pt x="1380" y="915"/>
                </a:lnTo>
                <a:cubicBezTo>
                  <a:pt x="1380" y="878"/>
                  <a:pt x="1364" y="845"/>
                  <a:pt x="1337" y="816"/>
                </a:cubicBezTo>
                <a:cubicBezTo>
                  <a:pt x="1359" y="794"/>
                  <a:pt x="1374" y="769"/>
                  <a:pt x="1380" y="741"/>
                </a:cubicBezTo>
                <a:lnTo>
                  <a:pt x="1380" y="618"/>
                </a:lnTo>
                <a:cubicBezTo>
                  <a:pt x="1380" y="581"/>
                  <a:pt x="1364" y="548"/>
                  <a:pt x="1337" y="519"/>
                </a:cubicBezTo>
                <a:cubicBezTo>
                  <a:pt x="1359" y="497"/>
                  <a:pt x="1374" y="472"/>
                  <a:pt x="1380" y="444"/>
                </a:cubicBezTo>
                <a:lnTo>
                  <a:pt x="1380" y="321"/>
                </a:lnTo>
                <a:cubicBezTo>
                  <a:pt x="1380" y="170"/>
                  <a:pt x="1122" y="88"/>
                  <a:pt x="880" y="88"/>
                </a:cubicBezTo>
                <a:cubicBezTo>
                  <a:pt x="637" y="88"/>
                  <a:pt x="379" y="170"/>
                  <a:pt x="379" y="321"/>
                </a:cubicBezTo>
                <a:lnTo>
                  <a:pt x="379" y="441"/>
                </a:lnTo>
                <a:lnTo>
                  <a:pt x="380" y="444"/>
                </a:lnTo>
                <a:cubicBezTo>
                  <a:pt x="385" y="472"/>
                  <a:pt x="400" y="497"/>
                  <a:pt x="422" y="519"/>
                </a:cubicBezTo>
                <a:cubicBezTo>
                  <a:pt x="395" y="548"/>
                  <a:pt x="379" y="581"/>
                  <a:pt x="379" y="618"/>
                </a:cubicBezTo>
                <a:lnTo>
                  <a:pt x="379" y="738"/>
                </a:lnTo>
                <a:lnTo>
                  <a:pt x="380" y="741"/>
                </a:lnTo>
                <a:cubicBezTo>
                  <a:pt x="385" y="769"/>
                  <a:pt x="400" y="794"/>
                  <a:pt x="422" y="816"/>
                </a:cubicBezTo>
                <a:cubicBezTo>
                  <a:pt x="395" y="845"/>
                  <a:pt x="379" y="878"/>
                  <a:pt x="379" y="915"/>
                </a:cubicBezTo>
                <a:lnTo>
                  <a:pt x="379" y="1035"/>
                </a:lnTo>
                <a:lnTo>
                  <a:pt x="380" y="1038"/>
                </a:lnTo>
                <a:cubicBezTo>
                  <a:pt x="385" y="1066"/>
                  <a:pt x="400" y="1091"/>
                  <a:pt x="422" y="1113"/>
                </a:cubicBezTo>
                <a:cubicBezTo>
                  <a:pt x="395" y="1142"/>
                  <a:pt x="379" y="1175"/>
                  <a:pt x="379" y="1212"/>
                </a:cubicBezTo>
                <a:lnTo>
                  <a:pt x="379" y="1332"/>
                </a:lnTo>
                <a:lnTo>
                  <a:pt x="380" y="1335"/>
                </a:lnTo>
                <a:cubicBezTo>
                  <a:pt x="408" y="1471"/>
                  <a:pt x="652" y="1542"/>
                  <a:pt x="880" y="1542"/>
                </a:cubicBezTo>
                <a:cubicBezTo>
                  <a:pt x="906" y="1542"/>
                  <a:pt x="933" y="1541"/>
                  <a:pt x="960" y="1539"/>
                </a:cubicBezTo>
                <a:lnTo>
                  <a:pt x="1631" y="1836"/>
                </a:lnTo>
                <a:lnTo>
                  <a:pt x="1631" y="1840"/>
                </a:lnTo>
                <a:cubicBezTo>
                  <a:pt x="1642" y="1894"/>
                  <a:pt x="1671" y="1943"/>
                  <a:pt x="1713" y="1986"/>
                </a:cubicBezTo>
                <a:cubicBezTo>
                  <a:pt x="1661" y="2042"/>
                  <a:pt x="1631" y="2105"/>
                  <a:pt x="1631" y="2178"/>
                </a:cubicBezTo>
                <a:lnTo>
                  <a:pt x="1631" y="2410"/>
                </a:lnTo>
                <a:lnTo>
                  <a:pt x="1631" y="2415"/>
                </a:lnTo>
                <a:cubicBezTo>
                  <a:pt x="1642" y="2467"/>
                  <a:pt x="1668" y="2513"/>
                  <a:pt x="1707" y="2555"/>
                </a:cubicBezTo>
                <a:lnTo>
                  <a:pt x="1270" y="2850"/>
                </a:lnTo>
                <a:cubicBezTo>
                  <a:pt x="1261" y="2826"/>
                  <a:pt x="1246" y="2803"/>
                  <a:pt x="1227" y="2782"/>
                </a:cubicBezTo>
                <a:cubicBezTo>
                  <a:pt x="1255" y="2754"/>
                  <a:pt x="1274" y="2722"/>
                  <a:pt x="1281" y="2686"/>
                </a:cubicBezTo>
                <a:lnTo>
                  <a:pt x="1281" y="2529"/>
                </a:lnTo>
                <a:cubicBezTo>
                  <a:pt x="1281" y="2335"/>
                  <a:pt x="951" y="2230"/>
                  <a:pt x="641" y="2230"/>
                </a:cubicBezTo>
                <a:cubicBezTo>
                  <a:pt x="330" y="2230"/>
                  <a:pt x="0" y="2335"/>
                  <a:pt x="0" y="2529"/>
                </a:cubicBezTo>
                <a:lnTo>
                  <a:pt x="0" y="2683"/>
                </a:lnTo>
                <a:lnTo>
                  <a:pt x="1" y="2686"/>
                </a:lnTo>
                <a:cubicBezTo>
                  <a:pt x="8" y="2721"/>
                  <a:pt x="27" y="2754"/>
                  <a:pt x="55" y="2782"/>
                </a:cubicBezTo>
                <a:cubicBezTo>
                  <a:pt x="20" y="2819"/>
                  <a:pt x="0" y="2861"/>
                  <a:pt x="0" y="2909"/>
                </a:cubicBezTo>
                <a:lnTo>
                  <a:pt x="0" y="3063"/>
                </a:lnTo>
                <a:lnTo>
                  <a:pt x="0" y="3066"/>
                </a:lnTo>
                <a:cubicBezTo>
                  <a:pt x="8" y="3101"/>
                  <a:pt x="27" y="3134"/>
                  <a:pt x="55" y="3162"/>
                </a:cubicBezTo>
                <a:cubicBezTo>
                  <a:pt x="20" y="3199"/>
                  <a:pt x="0" y="3241"/>
                  <a:pt x="0" y="3289"/>
                </a:cubicBezTo>
                <a:lnTo>
                  <a:pt x="0" y="3443"/>
                </a:lnTo>
                <a:lnTo>
                  <a:pt x="0" y="3446"/>
                </a:lnTo>
                <a:cubicBezTo>
                  <a:pt x="8" y="3481"/>
                  <a:pt x="27" y="3514"/>
                  <a:pt x="55" y="3542"/>
                </a:cubicBezTo>
                <a:cubicBezTo>
                  <a:pt x="20" y="3579"/>
                  <a:pt x="0" y="3621"/>
                  <a:pt x="0" y="3669"/>
                </a:cubicBezTo>
                <a:lnTo>
                  <a:pt x="0" y="3823"/>
                </a:lnTo>
                <a:lnTo>
                  <a:pt x="0" y="3826"/>
                </a:lnTo>
                <a:cubicBezTo>
                  <a:pt x="37" y="4000"/>
                  <a:pt x="350" y="4092"/>
                  <a:pt x="641" y="4092"/>
                </a:cubicBezTo>
                <a:cubicBezTo>
                  <a:pt x="931" y="4092"/>
                  <a:pt x="1245" y="4000"/>
                  <a:pt x="1281" y="3826"/>
                </a:cubicBezTo>
                <a:lnTo>
                  <a:pt x="1281" y="3669"/>
                </a:lnTo>
                <a:cubicBezTo>
                  <a:pt x="1281" y="3621"/>
                  <a:pt x="1261" y="3579"/>
                  <a:pt x="1227" y="3542"/>
                </a:cubicBezTo>
                <a:cubicBezTo>
                  <a:pt x="1255" y="3514"/>
                  <a:pt x="1274" y="3482"/>
                  <a:pt x="1281" y="3446"/>
                </a:cubicBezTo>
                <a:lnTo>
                  <a:pt x="1281" y="3289"/>
                </a:lnTo>
                <a:cubicBezTo>
                  <a:pt x="1281" y="3241"/>
                  <a:pt x="1261" y="3199"/>
                  <a:pt x="1227" y="3162"/>
                </a:cubicBezTo>
                <a:cubicBezTo>
                  <a:pt x="1249" y="3140"/>
                  <a:pt x="1266" y="3115"/>
                  <a:pt x="1275" y="3088"/>
                </a:cubicBezTo>
                <a:lnTo>
                  <a:pt x="1883" y="2678"/>
                </a:lnTo>
                <a:cubicBezTo>
                  <a:pt x="2073" y="2770"/>
                  <a:pt x="2342" y="2818"/>
                  <a:pt x="2600" y="2818"/>
                </a:cubicBezTo>
                <a:cubicBezTo>
                  <a:pt x="2858" y="2818"/>
                  <a:pt x="3127" y="2770"/>
                  <a:pt x="3318" y="2678"/>
                </a:cubicBezTo>
                <a:lnTo>
                  <a:pt x="3926" y="3088"/>
                </a:lnTo>
                <a:cubicBezTo>
                  <a:pt x="3935" y="3115"/>
                  <a:pt x="3951" y="3140"/>
                  <a:pt x="3973" y="3162"/>
                </a:cubicBezTo>
                <a:cubicBezTo>
                  <a:pt x="3939" y="3199"/>
                  <a:pt x="3919" y="3241"/>
                  <a:pt x="3919" y="3289"/>
                </a:cubicBezTo>
                <a:lnTo>
                  <a:pt x="3919" y="3443"/>
                </a:lnTo>
                <a:lnTo>
                  <a:pt x="3919" y="3446"/>
                </a:lnTo>
                <a:cubicBezTo>
                  <a:pt x="3927" y="3482"/>
                  <a:pt x="3946" y="3514"/>
                  <a:pt x="3973" y="3542"/>
                </a:cubicBezTo>
                <a:cubicBezTo>
                  <a:pt x="3939" y="3579"/>
                  <a:pt x="3919" y="3621"/>
                  <a:pt x="3919" y="3669"/>
                </a:cubicBezTo>
                <a:lnTo>
                  <a:pt x="3919" y="3823"/>
                </a:lnTo>
                <a:lnTo>
                  <a:pt x="3919" y="3826"/>
                </a:lnTo>
                <a:cubicBezTo>
                  <a:pt x="3955" y="4001"/>
                  <a:pt x="4268" y="4092"/>
                  <a:pt x="4559" y="4092"/>
                </a:cubicBezTo>
                <a:cubicBezTo>
                  <a:pt x="4850" y="4092"/>
                  <a:pt x="5164" y="4001"/>
                  <a:pt x="5200" y="3826"/>
                </a:cubicBezTo>
                <a:lnTo>
                  <a:pt x="5200" y="3669"/>
                </a:lnTo>
                <a:cubicBezTo>
                  <a:pt x="5200" y="3621"/>
                  <a:pt x="5180" y="3579"/>
                  <a:pt x="5145" y="3543"/>
                </a:cubicBezTo>
                <a:cubicBezTo>
                  <a:pt x="5173" y="3514"/>
                  <a:pt x="5193" y="3482"/>
                  <a:pt x="5200" y="3446"/>
                </a:cubicBezTo>
                <a:lnTo>
                  <a:pt x="5200" y="3289"/>
                </a:lnTo>
                <a:cubicBezTo>
                  <a:pt x="5200" y="3241"/>
                  <a:pt x="5180" y="3199"/>
                  <a:pt x="5145" y="3162"/>
                </a:cubicBezTo>
                <a:cubicBezTo>
                  <a:pt x="5173" y="3134"/>
                  <a:pt x="5193" y="3102"/>
                  <a:pt x="5200" y="3066"/>
                </a:cubicBezTo>
                <a:lnTo>
                  <a:pt x="5200" y="2909"/>
                </a:lnTo>
                <a:close/>
                <a:moveTo>
                  <a:pt x="4320" y="198"/>
                </a:moveTo>
                <a:cubicBezTo>
                  <a:pt x="4562" y="198"/>
                  <a:pt x="4711" y="278"/>
                  <a:pt x="4711" y="321"/>
                </a:cubicBezTo>
                <a:cubicBezTo>
                  <a:pt x="4711" y="365"/>
                  <a:pt x="4562" y="444"/>
                  <a:pt x="4320" y="444"/>
                </a:cubicBezTo>
                <a:cubicBezTo>
                  <a:pt x="4078" y="444"/>
                  <a:pt x="3930" y="365"/>
                  <a:pt x="3930" y="321"/>
                </a:cubicBezTo>
                <a:cubicBezTo>
                  <a:pt x="3930" y="278"/>
                  <a:pt x="4078" y="198"/>
                  <a:pt x="4320" y="198"/>
                </a:cubicBezTo>
                <a:close/>
                <a:moveTo>
                  <a:pt x="3956" y="582"/>
                </a:moveTo>
                <a:cubicBezTo>
                  <a:pt x="4053" y="628"/>
                  <a:pt x="4190" y="652"/>
                  <a:pt x="4320" y="652"/>
                </a:cubicBezTo>
                <a:cubicBezTo>
                  <a:pt x="4451" y="652"/>
                  <a:pt x="4588" y="628"/>
                  <a:pt x="4685" y="582"/>
                </a:cubicBezTo>
                <a:cubicBezTo>
                  <a:pt x="4702" y="595"/>
                  <a:pt x="4711" y="608"/>
                  <a:pt x="4711" y="618"/>
                </a:cubicBezTo>
                <a:cubicBezTo>
                  <a:pt x="4711" y="661"/>
                  <a:pt x="4563" y="741"/>
                  <a:pt x="4320" y="741"/>
                </a:cubicBezTo>
                <a:cubicBezTo>
                  <a:pt x="4078" y="741"/>
                  <a:pt x="3930" y="661"/>
                  <a:pt x="3930" y="618"/>
                </a:cubicBezTo>
                <a:cubicBezTo>
                  <a:pt x="3930" y="608"/>
                  <a:pt x="3939" y="595"/>
                  <a:pt x="3956" y="582"/>
                </a:cubicBezTo>
                <a:close/>
                <a:moveTo>
                  <a:pt x="3956" y="879"/>
                </a:moveTo>
                <a:cubicBezTo>
                  <a:pt x="4053" y="925"/>
                  <a:pt x="4190" y="949"/>
                  <a:pt x="4320" y="949"/>
                </a:cubicBezTo>
                <a:cubicBezTo>
                  <a:pt x="4451" y="949"/>
                  <a:pt x="4588" y="925"/>
                  <a:pt x="4685" y="879"/>
                </a:cubicBezTo>
                <a:cubicBezTo>
                  <a:pt x="4702" y="892"/>
                  <a:pt x="4711" y="904"/>
                  <a:pt x="4711" y="915"/>
                </a:cubicBezTo>
                <a:cubicBezTo>
                  <a:pt x="4711" y="958"/>
                  <a:pt x="4563" y="1038"/>
                  <a:pt x="4320" y="1038"/>
                </a:cubicBezTo>
                <a:cubicBezTo>
                  <a:pt x="4078" y="1038"/>
                  <a:pt x="3930" y="958"/>
                  <a:pt x="3930" y="915"/>
                </a:cubicBezTo>
                <a:cubicBezTo>
                  <a:pt x="3930" y="904"/>
                  <a:pt x="3939" y="892"/>
                  <a:pt x="3956" y="879"/>
                </a:cubicBezTo>
                <a:close/>
                <a:moveTo>
                  <a:pt x="3956" y="1176"/>
                </a:moveTo>
                <a:cubicBezTo>
                  <a:pt x="4053" y="1222"/>
                  <a:pt x="4190" y="1245"/>
                  <a:pt x="4320" y="1245"/>
                </a:cubicBezTo>
                <a:cubicBezTo>
                  <a:pt x="4451" y="1245"/>
                  <a:pt x="4588" y="1222"/>
                  <a:pt x="4685" y="1176"/>
                </a:cubicBezTo>
                <a:cubicBezTo>
                  <a:pt x="4702" y="1189"/>
                  <a:pt x="4711" y="1201"/>
                  <a:pt x="4711" y="1212"/>
                </a:cubicBezTo>
                <a:cubicBezTo>
                  <a:pt x="4711" y="1255"/>
                  <a:pt x="4563" y="1335"/>
                  <a:pt x="4320" y="1335"/>
                </a:cubicBezTo>
                <a:cubicBezTo>
                  <a:pt x="4078" y="1335"/>
                  <a:pt x="3930" y="1255"/>
                  <a:pt x="3930" y="1212"/>
                </a:cubicBezTo>
                <a:cubicBezTo>
                  <a:pt x="3930" y="1201"/>
                  <a:pt x="3939" y="1189"/>
                  <a:pt x="3956" y="1176"/>
                </a:cubicBezTo>
                <a:close/>
                <a:moveTo>
                  <a:pt x="880" y="198"/>
                </a:moveTo>
                <a:cubicBezTo>
                  <a:pt x="1122" y="198"/>
                  <a:pt x="1270" y="278"/>
                  <a:pt x="1270" y="321"/>
                </a:cubicBezTo>
                <a:cubicBezTo>
                  <a:pt x="1270" y="365"/>
                  <a:pt x="1122" y="444"/>
                  <a:pt x="880" y="444"/>
                </a:cubicBezTo>
                <a:cubicBezTo>
                  <a:pt x="637" y="444"/>
                  <a:pt x="489" y="365"/>
                  <a:pt x="489" y="321"/>
                </a:cubicBezTo>
                <a:cubicBezTo>
                  <a:pt x="489" y="278"/>
                  <a:pt x="637" y="198"/>
                  <a:pt x="880" y="198"/>
                </a:cubicBezTo>
                <a:close/>
                <a:moveTo>
                  <a:pt x="515" y="582"/>
                </a:moveTo>
                <a:cubicBezTo>
                  <a:pt x="612" y="628"/>
                  <a:pt x="749" y="652"/>
                  <a:pt x="880" y="652"/>
                </a:cubicBezTo>
                <a:cubicBezTo>
                  <a:pt x="1010" y="652"/>
                  <a:pt x="1147" y="628"/>
                  <a:pt x="1245" y="582"/>
                </a:cubicBezTo>
                <a:cubicBezTo>
                  <a:pt x="1261" y="595"/>
                  <a:pt x="1270" y="608"/>
                  <a:pt x="1270" y="618"/>
                </a:cubicBezTo>
                <a:cubicBezTo>
                  <a:pt x="1270" y="661"/>
                  <a:pt x="1122" y="741"/>
                  <a:pt x="880" y="741"/>
                </a:cubicBezTo>
                <a:cubicBezTo>
                  <a:pt x="637" y="741"/>
                  <a:pt x="489" y="661"/>
                  <a:pt x="489" y="618"/>
                </a:cubicBezTo>
                <a:cubicBezTo>
                  <a:pt x="489" y="608"/>
                  <a:pt x="498" y="595"/>
                  <a:pt x="515" y="582"/>
                </a:cubicBezTo>
                <a:close/>
                <a:moveTo>
                  <a:pt x="515" y="879"/>
                </a:moveTo>
                <a:cubicBezTo>
                  <a:pt x="612" y="925"/>
                  <a:pt x="749" y="949"/>
                  <a:pt x="880" y="949"/>
                </a:cubicBezTo>
                <a:cubicBezTo>
                  <a:pt x="1010" y="949"/>
                  <a:pt x="1147" y="925"/>
                  <a:pt x="1245" y="879"/>
                </a:cubicBezTo>
                <a:cubicBezTo>
                  <a:pt x="1261" y="892"/>
                  <a:pt x="1270" y="904"/>
                  <a:pt x="1270" y="915"/>
                </a:cubicBezTo>
                <a:cubicBezTo>
                  <a:pt x="1270" y="958"/>
                  <a:pt x="1122" y="1038"/>
                  <a:pt x="880" y="1038"/>
                </a:cubicBezTo>
                <a:cubicBezTo>
                  <a:pt x="637" y="1038"/>
                  <a:pt x="489" y="958"/>
                  <a:pt x="489" y="915"/>
                </a:cubicBezTo>
                <a:cubicBezTo>
                  <a:pt x="489" y="904"/>
                  <a:pt x="498" y="892"/>
                  <a:pt x="515" y="879"/>
                </a:cubicBezTo>
                <a:close/>
                <a:moveTo>
                  <a:pt x="489" y="1212"/>
                </a:moveTo>
                <a:cubicBezTo>
                  <a:pt x="489" y="1201"/>
                  <a:pt x="498" y="1189"/>
                  <a:pt x="515" y="1176"/>
                </a:cubicBezTo>
                <a:cubicBezTo>
                  <a:pt x="612" y="1222"/>
                  <a:pt x="749" y="1245"/>
                  <a:pt x="880" y="1245"/>
                </a:cubicBezTo>
                <a:cubicBezTo>
                  <a:pt x="1010" y="1245"/>
                  <a:pt x="1147" y="1222"/>
                  <a:pt x="1245" y="1176"/>
                </a:cubicBezTo>
                <a:cubicBezTo>
                  <a:pt x="1261" y="1189"/>
                  <a:pt x="1270" y="1201"/>
                  <a:pt x="1270" y="1212"/>
                </a:cubicBezTo>
                <a:cubicBezTo>
                  <a:pt x="1270" y="1255"/>
                  <a:pt x="1122" y="1335"/>
                  <a:pt x="880" y="1335"/>
                </a:cubicBezTo>
                <a:cubicBezTo>
                  <a:pt x="637" y="1335"/>
                  <a:pt x="489" y="1255"/>
                  <a:pt x="489" y="1212"/>
                </a:cubicBezTo>
                <a:close/>
                <a:moveTo>
                  <a:pt x="2600" y="214"/>
                </a:moveTo>
                <a:cubicBezTo>
                  <a:pt x="3069" y="214"/>
                  <a:pt x="3356" y="368"/>
                  <a:pt x="3356" y="452"/>
                </a:cubicBezTo>
                <a:cubicBezTo>
                  <a:pt x="3356" y="536"/>
                  <a:pt x="3069" y="690"/>
                  <a:pt x="2600" y="690"/>
                </a:cubicBezTo>
                <a:cubicBezTo>
                  <a:pt x="2131" y="690"/>
                  <a:pt x="1844" y="536"/>
                  <a:pt x="1844" y="452"/>
                </a:cubicBezTo>
                <a:cubicBezTo>
                  <a:pt x="1844" y="368"/>
                  <a:pt x="2131" y="214"/>
                  <a:pt x="2600" y="214"/>
                </a:cubicBezTo>
                <a:close/>
                <a:moveTo>
                  <a:pt x="1893" y="957"/>
                </a:moveTo>
                <a:cubicBezTo>
                  <a:pt x="2082" y="1046"/>
                  <a:pt x="2347" y="1092"/>
                  <a:pt x="2600" y="1092"/>
                </a:cubicBezTo>
                <a:cubicBezTo>
                  <a:pt x="2853" y="1092"/>
                  <a:pt x="3118" y="1046"/>
                  <a:pt x="3307" y="957"/>
                </a:cubicBezTo>
                <a:cubicBezTo>
                  <a:pt x="3339" y="983"/>
                  <a:pt x="3356" y="1007"/>
                  <a:pt x="3356" y="1027"/>
                </a:cubicBezTo>
                <a:cubicBezTo>
                  <a:pt x="3356" y="1111"/>
                  <a:pt x="3069" y="1266"/>
                  <a:pt x="2600" y="1266"/>
                </a:cubicBezTo>
                <a:cubicBezTo>
                  <a:pt x="2131" y="1266"/>
                  <a:pt x="1844" y="1111"/>
                  <a:pt x="1844" y="1027"/>
                </a:cubicBezTo>
                <a:cubicBezTo>
                  <a:pt x="1844" y="1007"/>
                  <a:pt x="1861" y="983"/>
                  <a:pt x="1893" y="957"/>
                </a:cubicBezTo>
                <a:close/>
                <a:moveTo>
                  <a:pt x="1893" y="1532"/>
                </a:moveTo>
                <a:cubicBezTo>
                  <a:pt x="2082" y="1622"/>
                  <a:pt x="2347" y="1667"/>
                  <a:pt x="2600" y="1667"/>
                </a:cubicBezTo>
                <a:cubicBezTo>
                  <a:pt x="2853" y="1667"/>
                  <a:pt x="3118" y="1622"/>
                  <a:pt x="3307" y="1533"/>
                </a:cubicBezTo>
                <a:cubicBezTo>
                  <a:pt x="3339" y="1558"/>
                  <a:pt x="3356" y="1582"/>
                  <a:pt x="3356" y="1602"/>
                </a:cubicBezTo>
                <a:cubicBezTo>
                  <a:pt x="3356" y="1686"/>
                  <a:pt x="3069" y="1841"/>
                  <a:pt x="2600" y="1841"/>
                </a:cubicBezTo>
                <a:cubicBezTo>
                  <a:pt x="2131" y="1841"/>
                  <a:pt x="1844" y="1686"/>
                  <a:pt x="1844" y="1602"/>
                </a:cubicBezTo>
                <a:cubicBezTo>
                  <a:pt x="1844" y="1582"/>
                  <a:pt x="1861" y="1558"/>
                  <a:pt x="1893" y="1532"/>
                </a:cubicBezTo>
                <a:close/>
                <a:moveTo>
                  <a:pt x="641" y="2371"/>
                </a:moveTo>
                <a:cubicBezTo>
                  <a:pt x="950" y="2371"/>
                  <a:pt x="1140" y="2473"/>
                  <a:pt x="1140" y="2529"/>
                </a:cubicBezTo>
                <a:cubicBezTo>
                  <a:pt x="1140" y="2584"/>
                  <a:pt x="950" y="2686"/>
                  <a:pt x="641" y="2686"/>
                </a:cubicBezTo>
                <a:cubicBezTo>
                  <a:pt x="331" y="2686"/>
                  <a:pt x="141" y="2584"/>
                  <a:pt x="141" y="2529"/>
                </a:cubicBezTo>
                <a:cubicBezTo>
                  <a:pt x="141" y="2473"/>
                  <a:pt x="331" y="2371"/>
                  <a:pt x="641" y="2371"/>
                </a:cubicBezTo>
                <a:close/>
                <a:moveTo>
                  <a:pt x="174" y="2862"/>
                </a:moveTo>
                <a:cubicBezTo>
                  <a:pt x="299" y="2921"/>
                  <a:pt x="473" y="2952"/>
                  <a:pt x="641" y="2952"/>
                </a:cubicBezTo>
                <a:cubicBezTo>
                  <a:pt x="808" y="2952"/>
                  <a:pt x="983" y="2921"/>
                  <a:pt x="1108" y="2863"/>
                </a:cubicBezTo>
                <a:cubicBezTo>
                  <a:pt x="1129" y="2879"/>
                  <a:pt x="1140" y="2895"/>
                  <a:pt x="1140" y="2909"/>
                </a:cubicBezTo>
                <a:cubicBezTo>
                  <a:pt x="1140" y="2964"/>
                  <a:pt x="950" y="3066"/>
                  <a:pt x="641" y="3066"/>
                </a:cubicBezTo>
                <a:cubicBezTo>
                  <a:pt x="331" y="3066"/>
                  <a:pt x="141" y="2964"/>
                  <a:pt x="141" y="2909"/>
                </a:cubicBezTo>
                <a:cubicBezTo>
                  <a:pt x="141" y="2895"/>
                  <a:pt x="152" y="2879"/>
                  <a:pt x="174" y="2862"/>
                </a:cubicBezTo>
                <a:close/>
                <a:moveTo>
                  <a:pt x="641" y="3826"/>
                </a:moveTo>
                <a:cubicBezTo>
                  <a:pt x="331" y="3826"/>
                  <a:pt x="141" y="3724"/>
                  <a:pt x="141" y="3669"/>
                </a:cubicBezTo>
                <a:cubicBezTo>
                  <a:pt x="141" y="3655"/>
                  <a:pt x="152" y="3639"/>
                  <a:pt x="174" y="3623"/>
                </a:cubicBezTo>
                <a:cubicBezTo>
                  <a:pt x="299" y="3681"/>
                  <a:pt x="473" y="3712"/>
                  <a:pt x="641" y="3712"/>
                </a:cubicBezTo>
                <a:cubicBezTo>
                  <a:pt x="808" y="3712"/>
                  <a:pt x="983" y="3681"/>
                  <a:pt x="1108" y="3623"/>
                </a:cubicBezTo>
                <a:cubicBezTo>
                  <a:pt x="1129" y="3639"/>
                  <a:pt x="1140" y="3655"/>
                  <a:pt x="1140" y="3669"/>
                </a:cubicBezTo>
                <a:cubicBezTo>
                  <a:pt x="1140" y="3724"/>
                  <a:pt x="950" y="3826"/>
                  <a:pt x="641" y="3826"/>
                </a:cubicBezTo>
                <a:close/>
                <a:moveTo>
                  <a:pt x="641" y="3446"/>
                </a:moveTo>
                <a:cubicBezTo>
                  <a:pt x="331" y="3446"/>
                  <a:pt x="141" y="3344"/>
                  <a:pt x="141" y="3289"/>
                </a:cubicBezTo>
                <a:cubicBezTo>
                  <a:pt x="141" y="3275"/>
                  <a:pt x="152" y="3259"/>
                  <a:pt x="174" y="3243"/>
                </a:cubicBezTo>
                <a:cubicBezTo>
                  <a:pt x="299" y="3301"/>
                  <a:pt x="473" y="3332"/>
                  <a:pt x="641" y="3332"/>
                </a:cubicBezTo>
                <a:cubicBezTo>
                  <a:pt x="808" y="3332"/>
                  <a:pt x="983" y="3301"/>
                  <a:pt x="1108" y="3243"/>
                </a:cubicBezTo>
                <a:cubicBezTo>
                  <a:pt x="1129" y="3259"/>
                  <a:pt x="1140" y="3275"/>
                  <a:pt x="1140" y="3289"/>
                </a:cubicBezTo>
                <a:cubicBezTo>
                  <a:pt x="1140" y="3344"/>
                  <a:pt x="950" y="3446"/>
                  <a:pt x="641" y="3446"/>
                </a:cubicBezTo>
                <a:close/>
                <a:moveTo>
                  <a:pt x="1844" y="2178"/>
                </a:moveTo>
                <a:cubicBezTo>
                  <a:pt x="1844" y="2157"/>
                  <a:pt x="1861" y="2133"/>
                  <a:pt x="1893" y="2108"/>
                </a:cubicBezTo>
                <a:cubicBezTo>
                  <a:pt x="2082" y="2197"/>
                  <a:pt x="2347" y="2243"/>
                  <a:pt x="2600" y="2243"/>
                </a:cubicBezTo>
                <a:cubicBezTo>
                  <a:pt x="2853" y="2243"/>
                  <a:pt x="3118" y="2197"/>
                  <a:pt x="3307" y="2108"/>
                </a:cubicBezTo>
                <a:cubicBezTo>
                  <a:pt x="3339" y="2133"/>
                  <a:pt x="3356" y="2157"/>
                  <a:pt x="3356" y="2178"/>
                </a:cubicBezTo>
                <a:cubicBezTo>
                  <a:pt x="3356" y="2262"/>
                  <a:pt x="3069" y="2416"/>
                  <a:pt x="2600" y="2416"/>
                </a:cubicBezTo>
                <a:cubicBezTo>
                  <a:pt x="2131" y="2416"/>
                  <a:pt x="1844" y="2262"/>
                  <a:pt x="1844" y="2178"/>
                </a:cubicBezTo>
                <a:close/>
                <a:moveTo>
                  <a:pt x="4559" y="3826"/>
                </a:moveTo>
                <a:cubicBezTo>
                  <a:pt x="4249" y="3826"/>
                  <a:pt x="4060" y="3724"/>
                  <a:pt x="4060" y="3669"/>
                </a:cubicBezTo>
                <a:cubicBezTo>
                  <a:pt x="4060" y="3655"/>
                  <a:pt x="4071" y="3639"/>
                  <a:pt x="4092" y="3623"/>
                </a:cubicBezTo>
                <a:cubicBezTo>
                  <a:pt x="4217" y="3681"/>
                  <a:pt x="4392" y="3712"/>
                  <a:pt x="4559" y="3712"/>
                </a:cubicBezTo>
                <a:cubicBezTo>
                  <a:pt x="4727" y="3712"/>
                  <a:pt x="4901" y="3681"/>
                  <a:pt x="5027" y="3623"/>
                </a:cubicBezTo>
                <a:cubicBezTo>
                  <a:pt x="5048" y="3639"/>
                  <a:pt x="5059" y="3655"/>
                  <a:pt x="5059" y="3669"/>
                </a:cubicBezTo>
                <a:cubicBezTo>
                  <a:pt x="5059" y="3724"/>
                  <a:pt x="4869" y="3826"/>
                  <a:pt x="4559" y="3826"/>
                </a:cubicBezTo>
                <a:close/>
                <a:moveTo>
                  <a:pt x="4559" y="3446"/>
                </a:moveTo>
                <a:cubicBezTo>
                  <a:pt x="4249" y="3446"/>
                  <a:pt x="4060" y="3344"/>
                  <a:pt x="4060" y="3289"/>
                </a:cubicBezTo>
                <a:cubicBezTo>
                  <a:pt x="4060" y="3275"/>
                  <a:pt x="4071" y="3259"/>
                  <a:pt x="4092" y="3243"/>
                </a:cubicBezTo>
                <a:cubicBezTo>
                  <a:pt x="4217" y="3301"/>
                  <a:pt x="4392" y="3332"/>
                  <a:pt x="4559" y="3332"/>
                </a:cubicBezTo>
                <a:cubicBezTo>
                  <a:pt x="4727" y="3332"/>
                  <a:pt x="4901" y="3301"/>
                  <a:pt x="5027" y="3243"/>
                </a:cubicBezTo>
                <a:cubicBezTo>
                  <a:pt x="5048" y="3259"/>
                  <a:pt x="5059" y="3275"/>
                  <a:pt x="5059" y="3289"/>
                </a:cubicBezTo>
                <a:cubicBezTo>
                  <a:pt x="5059" y="3344"/>
                  <a:pt x="4869" y="3446"/>
                  <a:pt x="4559" y="3446"/>
                </a:cubicBezTo>
                <a:close/>
                <a:moveTo>
                  <a:pt x="4559" y="3066"/>
                </a:moveTo>
                <a:cubicBezTo>
                  <a:pt x="4249" y="3066"/>
                  <a:pt x="4060" y="2964"/>
                  <a:pt x="4060" y="2909"/>
                </a:cubicBezTo>
                <a:cubicBezTo>
                  <a:pt x="4060" y="2895"/>
                  <a:pt x="4071" y="2879"/>
                  <a:pt x="4092" y="2862"/>
                </a:cubicBezTo>
                <a:cubicBezTo>
                  <a:pt x="4217" y="2921"/>
                  <a:pt x="4392" y="2952"/>
                  <a:pt x="4559" y="2952"/>
                </a:cubicBezTo>
                <a:cubicBezTo>
                  <a:pt x="4727" y="2952"/>
                  <a:pt x="4901" y="2921"/>
                  <a:pt x="5027" y="2863"/>
                </a:cubicBezTo>
                <a:cubicBezTo>
                  <a:pt x="5048" y="2879"/>
                  <a:pt x="5059" y="2895"/>
                  <a:pt x="5059" y="2909"/>
                </a:cubicBezTo>
                <a:cubicBezTo>
                  <a:pt x="5059" y="2964"/>
                  <a:pt x="4869" y="3066"/>
                  <a:pt x="4559" y="3066"/>
                </a:cubicBezTo>
                <a:close/>
                <a:moveTo>
                  <a:pt x="4559" y="2686"/>
                </a:moveTo>
                <a:cubicBezTo>
                  <a:pt x="4249" y="2686"/>
                  <a:pt x="4060" y="2584"/>
                  <a:pt x="4060" y="2529"/>
                </a:cubicBezTo>
                <a:cubicBezTo>
                  <a:pt x="4060" y="2473"/>
                  <a:pt x="4249" y="2371"/>
                  <a:pt x="4559" y="2371"/>
                </a:cubicBezTo>
                <a:cubicBezTo>
                  <a:pt x="4869" y="2371"/>
                  <a:pt x="5059" y="2473"/>
                  <a:pt x="5059" y="2529"/>
                </a:cubicBezTo>
                <a:cubicBezTo>
                  <a:pt x="5059" y="2584"/>
                  <a:pt x="4869" y="2686"/>
                  <a:pt x="4559" y="2686"/>
                </a:cubicBezTo>
                <a:close/>
              </a:path>
            </a:pathLst>
          </a:custGeom>
          <a:noFill/>
          <a:ln>
            <a:solidFill>
              <a:srgbClr val="57C4C4"/>
            </a:solidFill>
          </a:ln>
        </p:spPr>
        <p:txBody>
          <a:bodyPr/>
          <a:lstStyle/>
          <a:p>
            <a:endParaRPr lang="en-US" dirty="0">
              <a:latin typeface="Arial" panose="020B0604020202020204" pitchFamily="34" charset="0"/>
            </a:endParaRPr>
          </a:p>
        </p:txBody>
      </p:sp>
      <p:sp>
        <p:nvSpPr>
          <p:cNvPr id="72" name="monitor-and-computer-mouse_68085"/>
          <p:cNvSpPr>
            <a:spLocks noChangeAspect="1"/>
          </p:cNvSpPr>
          <p:nvPr/>
        </p:nvSpPr>
        <p:spPr bwMode="auto">
          <a:xfrm>
            <a:off x="4871864" y="3683620"/>
            <a:ext cx="609685" cy="608764"/>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7639" h="606722">
                <a:moveTo>
                  <a:pt x="497068" y="457405"/>
                </a:moveTo>
                <a:lnTo>
                  <a:pt x="552354" y="512510"/>
                </a:lnTo>
                <a:lnTo>
                  <a:pt x="552354" y="505578"/>
                </a:lnTo>
                <a:cubicBezTo>
                  <a:pt x="552354" y="490379"/>
                  <a:pt x="564728" y="478025"/>
                  <a:pt x="579952" y="478025"/>
                </a:cubicBezTo>
                <a:cubicBezTo>
                  <a:pt x="595264" y="478025"/>
                  <a:pt x="607639" y="490379"/>
                  <a:pt x="607639" y="505578"/>
                </a:cubicBezTo>
                <a:lnTo>
                  <a:pt x="607639" y="579081"/>
                </a:lnTo>
                <a:cubicBezTo>
                  <a:pt x="607639" y="594368"/>
                  <a:pt x="595264" y="606722"/>
                  <a:pt x="579952" y="606722"/>
                </a:cubicBezTo>
                <a:lnTo>
                  <a:pt x="506327" y="606722"/>
                </a:lnTo>
                <a:cubicBezTo>
                  <a:pt x="491014" y="606722"/>
                  <a:pt x="478729" y="594368"/>
                  <a:pt x="478729" y="579081"/>
                </a:cubicBezTo>
                <a:cubicBezTo>
                  <a:pt x="478729" y="563882"/>
                  <a:pt x="491014" y="551528"/>
                  <a:pt x="506327" y="551528"/>
                </a:cubicBezTo>
                <a:lnTo>
                  <a:pt x="513271" y="551528"/>
                </a:lnTo>
                <a:lnTo>
                  <a:pt x="473565" y="511888"/>
                </a:lnTo>
                <a:cubicBezTo>
                  <a:pt x="488343" y="500245"/>
                  <a:pt x="497068" y="485935"/>
                  <a:pt x="497068" y="468782"/>
                </a:cubicBezTo>
                <a:close/>
                <a:moveTo>
                  <a:pt x="110482" y="457405"/>
                </a:moveTo>
                <a:lnTo>
                  <a:pt x="110482" y="468782"/>
                </a:lnTo>
                <a:cubicBezTo>
                  <a:pt x="110482" y="485935"/>
                  <a:pt x="119207" y="500245"/>
                  <a:pt x="134074" y="511888"/>
                </a:cubicBezTo>
                <a:lnTo>
                  <a:pt x="94279" y="551528"/>
                </a:lnTo>
                <a:lnTo>
                  <a:pt x="101312" y="551528"/>
                </a:lnTo>
                <a:cubicBezTo>
                  <a:pt x="116536" y="551528"/>
                  <a:pt x="128910" y="563882"/>
                  <a:pt x="128910" y="579081"/>
                </a:cubicBezTo>
                <a:cubicBezTo>
                  <a:pt x="128910" y="594368"/>
                  <a:pt x="116536" y="606722"/>
                  <a:pt x="101312" y="606722"/>
                </a:cubicBezTo>
                <a:lnTo>
                  <a:pt x="27598" y="606722"/>
                </a:lnTo>
                <a:cubicBezTo>
                  <a:pt x="12375" y="606722"/>
                  <a:pt x="0" y="594368"/>
                  <a:pt x="0" y="579081"/>
                </a:cubicBezTo>
                <a:lnTo>
                  <a:pt x="0" y="505578"/>
                </a:lnTo>
                <a:cubicBezTo>
                  <a:pt x="0" y="490379"/>
                  <a:pt x="12375" y="478025"/>
                  <a:pt x="27598" y="478025"/>
                </a:cubicBezTo>
                <a:cubicBezTo>
                  <a:pt x="42911" y="478025"/>
                  <a:pt x="55285" y="490290"/>
                  <a:pt x="55285" y="505578"/>
                </a:cubicBezTo>
                <a:lnTo>
                  <a:pt x="55285" y="512510"/>
                </a:lnTo>
                <a:close/>
                <a:moveTo>
                  <a:pt x="165758" y="419230"/>
                </a:moveTo>
                <a:cubicBezTo>
                  <a:pt x="202598" y="434158"/>
                  <a:pt x="253320" y="441267"/>
                  <a:pt x="303775" y="441267"/>
                </a:cubicBezTo>
                <a:cubicBezTo>
                  <a:pt x="354319" y="441267"/>
                  <a:pt x="405041" y="434158"/>
                  <a:pt x="441881" y="419230"/>
                </a:cubicBezTo>
                <a:lnTo>
                  <a:pt x="441881" y="466502"/>
                </a:lnTo>
                <a:cubicBezTo>
                  <a:pt x="433783" y="476099"/>
                  <a:pt x="386354" y="496358"/>
                  <a:pt x="303775" y="496358"/>
                </a:cubicBezTo>
                <a:cubicBezTo>
                  <a:pt x="221285" y="496358"/>
                  <a:pt x="173856" y="476099"/>
                  <a:pt x="165758" y="466502"/>
                </a:cubicBezTo>
                <a:close/>
                <a:moveTo>
                  <a:pt x="165758" y="308936"/>
                </a:moveTo>
                <a:cubicBezTo>
                  <a:pt x="202598" y="323864"/>
                  <a:pt x="253320" y="330973"/>
                  <a:pt x="303775" y="330973"/>
                </a:cubicBezTo>
                <a:cubicBezTo>
                  <a:pt x="354319" y="330973"/>
                  <a:pt x="405041" y="323864"/>
                  <a:pt x="441881" y="308936"/>
                </a:cubicBezTo>
                <a:lnTo>
                  <a:pt x="441881" y="356208"/>
                </a:lnTo>
                <a:cubicBezTo>
                  <a:pt x="441258" y="356919"/>
                  <a:pt x="440368" y="357719"/>
                  <a:pt x="439300" y="358518"/>
                </a:cubicBezTo>
                <a:cubicBezTo>
                  <a:pt x="426397" y="368737"/>
                  <a:pt x="380125" y="386064"/>
                  <a:pt x="303775" y="386064"/>
                </a:cubicBezTo>
                <a:cubicBezTo>
                  <a:pt x="227514" y="386064"/>
                  <a:pt x="181242" y="368737"/>
                  <a:pt x="168250" y="358518"/>
                </a:cubicBezTo>
                <a:cubicBezTo>
                  <a:pt x="167182" y="357719"/>
                  <a:pt x="166381" y="356919"/>
                  <a:pt x="165758" y="356208"/>
                </a:cubicBezTo>
                <a:close/>
                <a:moveTo>
                  <a:pt x="165758" y="198642"/>
                </a:moveTo>
                <a:cubicBezTo>
                  <a:pt x="202598" y="213570"/>
                  <a:pt x="253320" y="220590"/>
                  <a:pt x="303775" y="220590"/>
                </a:cubicBezTo>
                <a:cubicBezTo>
                  <a:pt x="354319" y="220590"/>
                  <a:pt x="405041" y="213570"/>
                  <a:pt x="441881" y="198642"/>
                </a:cubicBezTo>
                <a:lnTo>
                  <a:pt x="441881" y="245825"/>
                </a:lnTo>
                <a:cubicBezTo>
                  <a:pt x="441258" y="246625"/>
                  <a:pt x="440368" y="247336"/>
                  <a:pt x="439300" y="248224"/>
                </a:cubicBezTo>
                <a:cubicBezTo>
                  <a:pt x="426397" y="258354"/>
                  <a:pt x="380125" y="275770"/>
                  <a:pt x="303775" y="275770"/>
                </a:cubicBezTo>
                <a:cubicBezTo>
                  <a:pt x="227514" y="275770"/>
                  <a:pt x="181242" y="258354"/>
                  <a:pt x="168250" y="248224"/>
                </a:cubicBezTo>
                <a:cubicBezTo>
                  <a:pt x="167182" y="247336"/>
                  <a:pt x="166381" y="246625"/>
                  <a:pt x="165758" y="245825"/>
                </a:cubicBezTo>
                <a:close/>
                <a:moveTo>
                  <a:pt x="303775" y="110294"/>
                </a:moveTo>
                <a:cubicBezTo>
                  <a:pt x="380137" y="110294"/>
                  <a:pt x="426417" y="127711"/>
                  <a:pt x="439411" y="137929"/>
                </a:cubicBezTo>
                <a:cubicBezTo>
                  <a:pt x="426417" y="148060"/>
                  <a:pt x="380137" y="165476"/>
                  <a:pt x="303775" y="165476"/>
                </a:cubicBezTo>
                <a:cubicBezTo>
                  <a:pt x="227502" y="165476"/>
                  <a:pt x="181222" y="148060"/>
                  <a:pt x="168228" y="137929"/>
                </a:cubicBezTo>
                <a:cubicBezTo>
                  <a:pt x="181222" y="127711"/>
                  <a:pt x="227502" y="110294"/>
                  <a:pt x="303775" y="110294"/>
                </a:cubicBezTo>
                <a:close/>
                <a:moveTo>
                  <a:pt x="506327" y="0"/>
                </a:moveTo>
                <a:lnTo>
                  <a:pt x="579952" y="0"/>
                </a:lnTo>
                <a:cubicBezTo>
                  <a:pt x="595264" y="0"/>
                  <a:pt x="607639" y="12354"/>
                  <a:pt x="607639" y="27552"/>
                </a:cubicBezTo>
                <a:lnTo>
                  <a:pt x="607639" y="101144"/>
                </a:lnTo>
                <a:cubicBezTo>
                  <a:pt x="607639" y="116343"/>
                  <a:pt x="595264" y="128697"/>
                  <a:pt x="579952" y="128697"/>
                </a:cubicBezTo>
                <a:cubicBezTo>
                  <a:pt x="564728" y="128697"/>
                  <a:pt x="552354" y="116343"/>
                  <a:pt x="552354" y="101144"/>
                </a:cubicBezTo>
                <a:lnTo>
                  <a:pt x="552354" y="94123"/>
                </a:lnTo>
                <a:lnTo>
                  <a:pt x="497068" y="149317"/>
                </a:lnTo>
                <a:lnTo>
                  <a:pt x="497068" y="137941"/>
                </a:lnTo>
                <a:cubicBezTo>
                  <a:pt x="497068" y="120787"/>
                  <a:pt x="488343" y="106477"/>
                  <a:pt x="473565" y="94834"/>
                </a:cubicBezTo>
                <a:lnTo>
                  <a:pt x="513271" y="55194"/>
                </a:lnTo>
                <a:lnTo>
                  <a:pt x="506327" y="55194"/>
                </a:lnTo>
                <a:cubicBezTo>
                  <a:pt x="491014" y="55194"/>
                  <a:pt x="478729" y="42840"/>
                  <a:pt x="478729" y="27552"/>
                </a:cubicBezTo>
                <a:cubicBezTo>
                  <a:pt x="478729" y="12354"/>
                  <a:pt x="491103" y="0"/>
                  <a:pt x="506327" y="0"/>
                </a:cubicBezTo>
                <a:close/>
                <a:moveTo>
                  <a:pt x="27598" y="0"/>
                </a:moveTo>
                <a:lnTo>
                  <a:pt x="101312" y="0"/>
                </a:lnTo>
                <a:cubicBezTo>
                  <a:pt x="116536" y="0"/>
                  <a:pt x="128910" y="12354"/>
                  <a:pt x="128910" y="27552"/>
                </a:cubicBezTo>
                <a:cubicBezTo>
                  <a:pt x="128910" y="42840"/>
                  <a:pt x="116536" y="55194"/>
                  <a:pt x="101312" y="55194"/>
                </a:cubicBezTo>
                <a:lnTo>
                  <a:pt x="94279" y="55194"/>
                </a:lnTo>
                <a:lnTo>
                  <a:pt x="134074" y="94834"/>
                </a:lnTo>
                <a:cubicBezTo>
                  <a:pt x="119207" y="106477"/>
                  <a:pt x="110482" y="120787"/>
                  <a:pt x="110482" y="137852"/>
                </a:cubicBezTo>
                <a:lnTo>
                  <a:pt x="110482" y="149317"/>
                </a:lnTo>
                <a:lnTo>
                  <a:pt x="55285" y="94123"/>
                </a:lnTo>
                <a:lnTo>
                  <a:pt x="55285" y="101144"/>
                </a:lnTo>
                <a:cubicBezTo>
                  <a:pt x="55285" y="116343"/>
                  <a:pt x="42911" y="128697"/>
                  <a:pt x="27598" y="128697"/>
                </a:cubicBezTo>
                <a:cubicBezTo>
                  <a:pt x="12375" y="128697"/>
                  <a:pt x="0" y="116343"/>
                  <a:pt x="0" y="101144"/>
                </a:cubicBezTo>
                <a:lnTo>
                  <a:pt x="0" y="27552"/>
                </a:lnTo>
                <a:cubicBezTo>
                  <a:pt x="0" y="12354"/>
                  <a:pt x="12375" y="0"/>
                  <a:pt x="27598" y="0"/>
                </a:cubicBezTo>
                <a:close/>
              </a:path>
            </a:pathLst>
          </a:custGeom>
          <a:noFill/>
          <a:ln>
            <a:solidFill>
              <a:srgbClr val="57C4C4"/>
            </a:solidFill>
          </a:ln>
        </p:spPr>
        <p:txBody>
          <a:bodyPr/>
          <a:lstStyle/>
          <a:p>
            <a:endParaRPr lang="en-US" dirty="0">
              <a:latin typeface="Arial" panose="020B0604020202020204" pitchFamily="34" charset="0"/>
            </a:endParaRPr>
          </a:p>
        </p:txBody>
      </p:sp>
    </p:spTree>
    <p:extLst>
      <p:ext uri="{BB962C8B-B14F-4D97-AF65-F5344CB8AC3E}">
        <p14:creationId xmlns:p14="http://schemas.microsoft.com/office/powerpoint/2010/main" val="409828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1850" fill="hold"/>
                                        <p:tgtEl>
                                          <p:spTgt spid="62"/>
                                        </p:tgtEl>
                                        <p:attrNameLst>
                                          <p:attrName>ppt_w</p:attrName>
                                        </p:attrNameLst>
                                      </p:cBhvr>
                                      <p:tavLst>
                                        <p:tav tm="0">
                                          <p:val>
                                            <p:fltVal val="0"/>
                                          </p:val>
                                        </p:tav>
                                        <p:tav tm="100000">
                                          <p:val>
                                            <p:strVal val="#ppt_w"/>
                                          </p:val>
                                        </p:tav>
                                      </p:tavLst>
                                    </p:anim>
                                    <p:anim calcmode="lin" valueType="num">
                                      <p:cBhvr>
                                        <p:cTn id="8" dur="1850" fill="hold"/>
                                        <p:tgtEl>
                                          <p:spTgt spid="62"/>
                                        </p:tgtEl>
                                        <p:attrNameLst>
                                          <p:attrName>ppt_h</p:attrName>
                                        </p:attrNameLst>
                                      </p:cBhvr>
                                      <p:tavLst>
                                        <p:tav tm="0">
                                          <p:val>
                                            <p:fltVal val="0"/>
                                          </p:val>
                                        </p:tav>
                                        <p:tav tm="100000">
                                          <p:val>
                                            <p:strVal val="#ppt_h"/>
                                          </p:val>
                                        </p:tav>
                                      </p:tavLst>
                                    </p:anim>
                                    <p:animEffect transition="in" filter="fade">
                                      <p:cBhvr>
                                        <p:cTn id="9" dur="1850"/>
                                        <p:tgtEl>
                                          <p:spTgt spid="6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7"/>
                                        </p:tgtEl>
                                        <p:attrNameLst>
                                          <p:attrName>style.visibility</p:attrName>
                                        </p:attrNameLst>
                                      </p:cBhvr>
                                      <p:to>
                                        <p:strVal val="visible"/>
                                      </p:to>
                                    </p:set>
                                    <p:anim calcmode="lin" valueType="num">
                                      <p:cBhvr>
                                        <p:cTn id="14" dur="100" fill="hold"/>
                                        <p:tgtEl>
                                          <p:spTgt spid="67"/>
                                        </p:tgtEl>
                                        <p:attrNameLst>
                                          <p:attrName>ppt_w</p:attrName>
                                        </p:attrNameLst>
                                      </p:cBhvr>
                                      <p:tavLst>
                                        <p:tav tm="0">
                                          <p:val>
                                            <p:fltVal val="0"/>
                                          </p:val>
                                        </p:tav>
                                        <p:tav tm="100000">
                                          <p:val>
                                            <p:strVal val="#ppt_w"/>
                                          </p:val>
                                        </p:tav>
                                      </p:tavLst>
                                    </p:anim>
                                    <p:anim calcmode="lin" valueType="num">
                                      <p:cBhvr>
                                        <p:cTn id="15" dur="100" fill="hold"/>
                                        <p:tgtEl>
                                          <p:spTgt spid="67"/>
                                        </p:tgtEl>
                                        <p:attrNameLst>
                                          <p:attrName>ppt_h</p:attrName>
                                        </p:attrNameLst>
                                      </p:cBhvr>
                                      <p:tavLst>
                                        <p:tav tm="0">
                                          <p:val>
                                            <p:fltVal val="0"/>
                                          </p:val>
                                        </p:tav>
                                        <p:tav tm="100000">
                                          <p:val>
                                            <p:strVal val="#ppt_h"/>
                                          </p:val>
                                        </p:tav>
                                      </p:tavLst>
                                    </p:anim>
                                    <p:animEffect transition="in" filter="fade">
                                      <p:cBhvr>
                                        <p:cTn id="16" dur="100"/>
                                        <p:tgtEl>
                                          <p:spTgt spid="6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p:cTn id="19" dur="350" fill="hold"/>
                                        <p:tgtEl>
                                          <p:spTgt spid="68"/>
                                        </p:tgtEl>
                                        <p:attrNameLst>
                                          <p:attrName>ppt_w</p:attrName>
                                        </p:attrNameLst>
                                      </p:cBhvr>
                                      <p:tavLst>
                                        <p:tav tm="0">
                                          <p:val>
                                            <p:fltVal val="0"/>
                                          </p:val>
                                        </p:tav>
                                        <p:tav tm="100000">
                                          <p:val>
                                            <p:strVal val="#ppt_w"/>
                                          </p:val>
                                        </p:tav>
                                      </p:tavLst>
                                    </p:anim>
                                    <p:anim calcmode="lin" valueType="num">
                                      <p:cBhvr>
                                        <p:cTn id="20" dur="350" fill="hold"/>
                                        <p:tgtEl>
                                          <p:spTgt spid="68"/>
                                        </p:tgtEl>
                                        <p:attrNameLst>
                                          <p:attrName>ppt_h</p:attrName>
                                        </p:attrNameLst>
                                      </p:cBhvr>
                                      <p:tavLst>
                                        <p:tav tm="0">
                                          <p:val>
                                            <p:fltVal val="0"/>
                                          </p:val>
                                        </p:tav>
                                        <p:tav tm="100000">
                                          <p:val>
                                            <p:strVal val="#ppt_h"/>
                                          </p:val>
                                        </p:tav>
                                      </p:tavLst>
                                    </p:anim>
                                    <p:animEffect transition="in" filter="fade">
                                      <p:cBhvr>
                                        <p:cTn id="21" dur="350"/>
                                        <p:tgtEl>
                                          <p:spTgt spid="68"/>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2"/>
                                        </p:tgtEl>
                                        <p:attrNameLst>
                                          <p:attrName>style.visibility</p:attrName>
                                        </p:attrNameLst>
                                      </p:cBhvr>
                                      <p:to>
                                        <p:strVal val="visible"/>
                                      </p:to>
                                    </p:set>
                                    <p:anim calcmode="lin" valueType="num">
                                      <p:cBhvr>
                                        <p:cTn id="24" dur="600" fill="hold"/>
                                        <p:tgtEl>
                                          <p:spTgt spid="72"/>
                                        </p:tgtEl>
                                        <p:attrNameLst>
                                          <p:attrName>ppt_w</p:attrName>
                                        </p:attrNameLst>
                                      </p:cBhvr>
                                      <p:tavLst>
                                        <p:tav tm="0">
                                          <p:val>
                                            <p:fltVal val="0"/>
                                          </p:val>
                                        </p:tav>
                                        <p:tav tm="100000">
                                          <p:val>
                                            <p:strVal val="#ppt_w"/>
                                          </p:val>
                                        </p:tav>
                                      </p:tavLst>
                                    </p:anim>
                                    <p:anim calcmode="lin" valueType="num">
                                      <p:cBhvr>
                                        <p:cTn id="25" dur="600" fill="hold"/>
                                        <p:tgtEl>
                                          <p:spTgt spid="72"/>
                                        </p:tgtEl>
                                        <p:attrNameLst>
                                          <p:attrName>ppt_h</p:attrName>
                                        </p:attrNameLst>
                                      </p:cBhvr>
                                      <p:tavLst>
                                        <p:tav tm="0">
                                          <p:val>
                                            <p:fltVal val="0"/>
                                          </p:val>
                                        </p:tav>
                                        <p:tav tm="100000">
                                          <p:val>
                                            <p:strVal val="#ppt_h"/>
                                          </p:val>
                                        </p:tav>
                                      </p:tavLst>
                                    </p:anim>
                                    <p:animEffect transition="in" filter="fade">
                                      <p:cBhvr>
                                        <p:cTn id="26" dur="600"/>
                                        <p:tgtEl>
                                          <p:spTgt spid="7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1"/>
                                        </p:tgtEl>
                                        <p:attrNameLst>
                                          <p:attrName>style.visibility</p:attrName>
                                        </p:attrNameLst>
                                      </p:cBhvr>
                                      <p:to>
                                        <p:strVal val="visible"/>
                                      </p:to>
                                    </p:set>
                                    <p:anim calcmode="lin" valueType="num">
                                      <p:cBhvr>
                                        <p:cTn id="29" dur="850" fill="hold"/>
                                        <p:tgtEl>
                                          <p:spTgt spid="71"/>
                                        </p:tgtEl>
                                        <p:attrNameLst>
                                          <p:attrName>ppt_w</p:attrName>
                                        </p:attrNameLst>
                                      </p:cBhvr>
                                      <p:tavLst>
                                        <p:tav tm="0">
                                          <p:val>
                                            <p:fltVal val="0"/>
                                          </p:val>
                                        </p:tav>
                                        <p:tav tm="100000">
                                          <p:val>
                                            <p:strVal val="#ppt_w"/>
                                          </p:val>
                                        </p:tav>
                                      </p:tavLst>
                                    </p:anim>
                                    <p:anim calcmode="lin" valueType="num">
                                      <p:cBhvr>
                                        <p:cTn id="30" dur="850" fill="hold"/>
                                        <p:tgtEl>
                                          <p:spTgt spid="71"/>
                                        </p:tgtEl>
                                        <p:attrNameLst>
                                          <p:attrName>ppt_h</p:attrName>
                                        </p:attrNameLst>
                                      </p:cBhvr>
                                      <p:tavLst>
                                        <p:tav tm="0">
                                          <p:val>
                                            <p:fltVal val="0"/>
                                          </p:val>
                                        </p:tav>
                                        <p:tav tm="100000">
                                          <p:val>
                                            <p:strVal val="#ppt_h"/>
                                          </p:val>
                                        </p:tav>
                                      </p:tavLst>
                                    </p:anim>
                                    <p:animEffect transition="in" filter="fade">
                                      <p:cBhvr>
                                        <p:cTn id="31" dur="850"/>
                                        <p:tgtEl>
                                          <p:spTgt spid="7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70"/>
                                        </p:tgtEl>
                                        <p:attrNameLst>
                                          <p:attrName>style.visibility</p:attrName>
                                        </p:attrNameLst>
                                      </p:cBhvr>
                                      <p:to>
                                        <p:strVal val="visible"/>
                                      </p:to>
                                    </p:set>
                                    <p:anim calcmode="lin" valueType="num">
                                      <p:cBhvr>
                                        <p:cTn id="34" dur="1100" fill="hold"/>
                                        <p:tgtEl>
                                          <p:spTgt spid="70"/>
                                        </p:tgtEl>
                                        <p:attrNameLst>
                                          <p:attrName>ppt_w</p:attrName>
                                        </p:attrNameLst>
                                      </p:cBhvr>
                                      <p:tavLst>
                                        <p:tav tm="0">
                                          <p:val>
                                            <p:fltVal val="0"/>
                                          </p:val>
                                        </p:tav>
                                        <p:tav tm="100000">
                                          <p:val>
                                            <p:strVal val="#ppt_w"/>
                                          </p:val>
                                        </p:tav>
                                      </p:tavLst>
                                    </p:anim>
                                    <p:anim calcmode="lin" valueType="num">
                                      <p:cBhvr>
                                        <p:cTn id="35" dur="1100" fill="hold"/>
                                        <p:tgtEl>
                                          <p:spTgt spid="70"/>
                                        </p:tgtEl>
                                        <p:attrNameLst>
                                          <p:attrName>ppt_h</p:attrName>
                                        </p:attrNameLst>
                                      </p:cBhvr>
                                      <p:tavLst>
                                        <p:tav tm="0">
                                          <p:val>
                                            <p:fltVal val="0"/>
                                          </p:val>
                                        </p:tav>
                                        <p:tav tm="100000">
                                          <p:val>
                                            <p:strVal val="#ppt_h"/>
                                          </p:val>
                                        </p:tav>
                                      </p:tavLst>
                                    </p:anim>
                                    <p:animEffect transition="in" filter="fade">
                                      <p:cBhvr>
                                        <p:cTn id="36" dur="1100"/>
                                        <p:tgtEl>
                                          <p:spTgt spid="70"/>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anim calcmode="lin" valueType="num">
                                      <p:cBhvr>
                                        <p:cTn id="39" dur="1350" fill="hold"/>
                                        <p:tgtEl>
                                          <p:spTgt spid="69"/>
                                        </p:tgtEl>
                                        <p:attrNameLst>
                                          <p:attrName>ppt_w</p:attrName>
                                        </p:attrNameLst>
                                      </p:cBhvr>
                                      <p:tavLst>
                                        <p:tav tm="0">
                                          <p:val>
                                            <p:fltVal val="0"/>
                                          </p:val>
                                        </p:tav>
                                        <p:tav tm="100000">
                                          <p:val>
                                            <p:strVal val="#ppt_w"/>
                                          </p:val>
                                        </p:tav>
                                      </p:tavLst>
                                    </p:anim>
                                    <p:anim calcmode="lin" valueType="num">
                                      <p:cBhvr>
                                        <p:cTn id="40" dur="1350" fill="hold"/>
                                        <p:tgtEl>
                                          <p:spTgt spid="69"/>
                                        </p:tgtEl>
                                        <p:attrNameLst>
                                          <p:attrName>ppt_h</p:attrName>
                                        </p:attrNameLst>
                                      </p:cBhvr>
                                      <p:tavLst>
                                        <p:tav tm="0">
                                          <p:val>
                                            <p:fltVal val="0"/>
                                          </p:val>
                                        </p:tav>
                                        <p:tav tm="100000">
                                          <p:val>
                                            <p:strVal val="#ppt_h"/>
                                          </p:val>
                                        </p:tav>
                                      </p:tavLst>
                                    </p:anim>
                                    <p:animEffect transition="in" filter="fade">
                                      <p:cBhvr>
                                        <p:cTn id="41" dur="1350"/>
                                        <p:tgtEl>
                                          <p:spTgt spid="6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73"/>
                                        </p:tgtEl>
                                        <p:attrNameLst>
                                          <p:attrName>style.visibility</p:attrName>
                                        </p:attrNameLst>
                                      </p:cBhvr>
                                      <p:to>
                                        <p:strVal val="visible"/>
                                      </p:to>
                                    </p:set>
                                    <p:anim calcmode="lin" valueType="num">
                                      <p:cBhvr>
                                        <p:cTn id="44" dur="1600" fill="hold"/>
                                        <p:tgtEl>
                                          <p:spTgt spid="73"/>
                                        </p:tgtEl>
                                        <p:attrNameLst>
                                          <p:attrName>ppt_w</p:attrName>
                                        </p:attrNameLst>
                                      </p:cBhvr>
                                      <p:tavLst>
                                        <p:tav tm="0">
                                          <p:val>
                                            <p:fltVal val="0"/>
                                          </p:val>
                                        </p:tav>
                                        <p:tav tm="100000">
                                          <p:val>
                                            <p:strVal val="#ppt_w"/>
                                          </p:val>
                                        </p:tav>
                                      </p:tavLst>
                                    </p:anim>
                                    <p:anim calcmode="lin" valueType="num">
                                      <p:cBhvr>
                                        <p:cTn id="45" dur="1600" fill="hold"/>
                                        <p:tgtEl>
                                          <p:spTgt spid="73"/>
                                        </p:tgtEl>
                                        <p:attrNameLst>
                                          <p:attrName>ppt_h</p:attrName>
                                        </p:attrNameLst>
                                      </p:cBhvr>
                                      <p:tavLst>
                                        <p:tav tm="0">
                                          <p:val>
                                            <p:fltVal val="0"/>
                                          </p:val>
                                        </p:tav>
                                        <p:tav tm="100000">
                                          <p:val>
                                            <p:strVal val="#ppt_h"/>
                                          </p:val>
                                        </p:tav>
                                      </p:tavLst>
                                    </p:anim>
                                    <p:animEffect transition="in" filter="fade">
                                      <p:cBhvr>
                                        <p:cTn id="46" dur="1600"/>
                                        <p:tgtEl>
                                          <p:spTgt spid="7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down)">
                                      <p:cBhvr>
                                        <p:cTn id="51" dur="500"/>
                                        <p:tgtEl>
                                          <p:spTgt spid="5"/>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down)">
                                      <p:cBhvr>
                                        <p:cTn id="5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3" grpId="0" animBg="1"/>
      <p:bldP spid="67" grpId="0" animBg="1"/>
      <p:bldP spid="68" grpId="0" animBg="1"/>
      <p:bldP spid="69" grpId="0" animBg="1"/>
      <p:bldP spid="70" grpId="0" animBg="1"/>
      <p:bldP spid="71" grpId="0" animBg="1"/>
      <p:bldP spid="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Storage Architecture for Virtualization</a:t>
            </a:r>
          </a:p>
        </p:txBody>
      </p:sp>
      <p:sp>
        <p:nvSpPr>
          <p:cNvPr id="3" name="流程图: 数据 2"/>
          <p:cNvSpPr/>
          <p:nvPr/>
        </p:nvSpPr>
        <p:spPr bwMode="auto">
          <a:xfrm>
            <a:off x="1055440" y="2636912"/>
            <a:ext cx="5292588" cy="418360"/>
          </a:xfrm>
          <a:prstGeom prst="flowChartInputOutpu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latin typeface="Arial" panose="020B0604020202020204" pitchFamily="34" charset="0"/>
                <a:ea typeface="+mn-ea"/>
              </a:rPr>
              <a:t>Shared Catalog</a:t>
            </a:r>
          </a:p>
        </p:txBody>
      </p:sp>
      <p:sp>
        <p:nvSpPr>
          <p:cNvPr id="4" name="data-storage_30236"/>
          <p:cNvSpPr>
            <a:spLocks noChangeAspect="1"/>
          </p:cNvSpPr>
          <p:nvPr/>
        </p:nvSpPr>
        <p:spPr bwMode="auto">
          <a:xfrm>
            <a:off x="2487703" y="1376772"/>
            <a:ext cx="583961" cy="609685"/>
          </a:xfrm>
          <a:custGeom>
            <a:avLst/>
            <a:gdLst>
              <a:gd name="connsiteX0" fmla="*/ 83515 w 581529"/>
              <a:gd name="connsiteY0" fmla="*/ 508777 h 607145"/>
              <a:gd name="connsiteX1" fmla="*/ 102533 w 581529"/>
              <a:gd name="connsiteY1" fmla="*/ 527759 h 607145"/>
              <a:gd name="connsiteX2" fmla="*/ 83515 w 581529"/>
              <a:gd name="connsiteY2" fmla="*/ 546741 h 607145"/>
              <a:gd name="connsiteX3" fmla="*/ 64497 w 581529"/>
              <a:gd name="connsiteY3" fmla="*/ 527759 h 607145"/>
              <a:gd name="connsiteX4" fmla="*/ 83515 w 581529"/>
              <a:gd name="connsiteY4" fmla="*/ 508777 h 607145"/>
              <a:gd name="connsiteX5" fmla="*/ 52990 w 581529"/>
              <a:gd name="connsiteY5" fmla="*/ 475201 h 607145"/>
              <a:gd name="connsiteX6" fmla="*/ 26495 w 581529"/>
              <a:gd name="connsiteY6" fmla="*/ 501658 h 607145"/>
              <a:gd name="connsiteX7" fmla="*/ 26495 w 581529"/>
              <a:gd name="connsiteY7" fmla="*/ 554232 h 607145"/>
              <a:gd name="connsiteX8" fmla="*/ 52990 w 581529"/>
              <a:gd name="connsiteY8" fmla="*/ 580689 h 607145"/>
              <a:gd name="connsiteX9" fmla="*/ 528539 w 581529"/>
              <a:gd name="connsiteY9" fmla="*/ 580689 h 607145"/>
              <a:gd name="connsiteX10" fmla="*/ 555034 w 581529"/>
              <a:gd name="connsiteY10" fmla="*/ 554232 h 607145"/>
              <a:gd name="connsiteX11" fmla="*/ 555034 w 581529"/>
              <a:gd name="connsiteY11" fmla="*/ 501658 h 607145"/>
              <a:gd name="connsiteX12" fmla="*/ 528539 w 581529"/>
              <a:gd name="connsiteY12" fmla="*/ 475201 h 607145"/>
              <a:gd name="connsiteX13" fmla="*/ 389271 w 581529"/>
              <a:gd name="connsiteY13" fmla="*/ 131944 h 607145"/>
              <a:gd name="connsiteX14" fmla="*/ 256118 w 581529"/>
              <a:gd name="connsiteY14" fmla="*/ 242858 h 607145"/>
              <a:gd name="connsiteX15" fmla="*/ 197693 w 581529"/>
              <a:gd name="connsiteY15" fmla="*/ 178412 h 607145"/>
              <a:gd name="connsiteX16" fmla="*/ 155913 w 581529"/>
              <a:gd name="connsiteY16" fmla="*/ 216401 h 607145"/>
              <a:gd name="connsiteX17" fmla="*/ 250683 w 581529"/>
              <a:gd name="connsiteY17" fmla="*/ 320871 h 607145"/>
              <a:gd name="connsiteX18" fmla="*/ 425617 w 581529"/>
              <a:gd name="connsiteY18" fmla="*/ 175360 h 607145"/>
              <a:gd name="connsiteX19" fmla="*/ 85259 w 581529"/>
              <a:gd name="connsiteY19" fmla="*/ 0 h 607145"/>
              <a:gd name="connsiteX20" fmla="*/ 496270 w 581529"/>
              <a:gd name="connsiteY20" fmla="*/ 0 h 607145"/>
              <a:gd name="connsiteX21" fmla="*/ 528539 w 581529"/>
              <a:gd name="connsiteY21" fmla="*/ 26117 h 607145"/>
              <a:gd name="connsiteX22" fmla="*/ 581190 w 581529"/>
              <a:gd name="connsiteY22" fmla="*/ 499962 h 607145"/>
              <a:gd name="connsiteX23" fmla="*/ 581529 w 581529"/>
              <a:gd name="connsiteY23" fmla="*/ 501658 h 607145"/>
              <a:gd name="connsiteX24" fmla="*/ 581529 w 581529"/>
              <a:gd name="connsiteY24" fmla="*/ 554232 h 607145"/>
              <a:gd name="connsiteX25" fmla="*/ 528539 w 581529"/>
              <a:gd name="connsiteY25" fmla="*/ 607145 h 607145"/>
              <a:gd name="connsiteX26" fmla="*/ 52990 w 581529"/>
              <a:gd name="connsiteY26" fmla="*/ 607145 h 607145"/>
              <a:gd name="connsiteX27" fmla="*/ 0 w 581529"/>
              <a:gd name="connsiteY27" fmla="*/ 554232 h 607145"/>
              <a:gd name="connsiteX28" fmla="*/ 0 w 581529"/>
              <a:gd name="connsiteY28" fmla="*/ 501658 h 607145"/>
              <a:gd name="connsiteX29" fmla="*/ 339 w 581529"/>
              <a:gd name="connsiteY29" fmla="*/ 499962 h 607145"/>
              <a:gd name="connsiteX30" fmla="*/ 52990 w 581529"/>
              <a:gd name="connsiteY30" fmla="*/ 26117 h 607145"/>
              <a:gd name="connsiteX31" fmla="*/ 85259 w 581529"/>
              <a:gd name="connsiteY31"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81529" h="607145">
                <a:moveTo>
                  <a:pt x="83515" y="508777"/>
                </a:moveTo>
                <a:cubicBezTo>
                  <a:pt x="94018" y="508777"/>
                  <a:pt x="102533" y="517276"/>
                  <a:pt x="102533" y="527759"/>
                </a:cubicBezTo>
                <a:cubicBezTo>
                  <a:pt x="102533" y="538242"/>
                  <a:pt x="94018" y="546741"/>
                  <a:pt x="83515" y="546741"/>
                </a:cubicBezTo>
                <a:cubicBezTo>
                  <a:pt x="73012" y="546741"/>
                  <a:pt x="64497" y="538242"/>
                  <a:pt x="64497" y="527759"/>
                </a:cubicBezTo>
                <a:cubicBezTo>
                  <a:pt x="64497" y="517276"/>
                  <a:pt x="73012" y="508777"/>
                  <a:pt x="83515" y="508777"/>
                </a:cubicBezTo>
                <a:close/>
                <a:moveTo>
                  <a:pt x="52990" y="475201"/>
                </a:moveTo>
                <a:cubicBezTo>
                  <a:pt x="38383" y="475201"/>
                  <a:pt x="26495" y="487073"/>
                  <a:pt x="26495" y="501658"/>
                </a:cubicBezTo>
                <a:lnTo>
                  <a:pt x="26495" y="554232"/>
                </a:lnTo>
                <a:cubicBezTo>
                  <a:pt x="26495" y="568817"/>
                  <a:pt x="38383" y="580689"/>
                  <a:pt x="52990" y="580689"/>
                </a:cubicBezTo>
                <a:lnTo>
                  <a:pt x="528539" y="580689"/>
                </a:lnTo>
                <a:cubicBezTo>
                  <a:pt x="543146" y="580689"/>
                  <a:pt x="555034" y="568817"/>
                  <a:pt x="555034" y="554232"/>
                </a:cubicBezTo>
                <a:lnTo>
                  <a:pt x="555034" y="501658"/>
                </a:lnTo>
                <a:cubicBezTo>
                  <a:pt x="555034" y="487073"/>
                  <a:pt x="543146" y="475201"/>
                  <a:pt x="528539" y="475201"/>
                </a:cubicBezTo>
                <a:close/>
                <a:moveTo>
                  <a:pt x="389271" y="131944"/>
                </a:moveTo>
                <a:lnTo>
                  <a:pt x="256118" y="242858"/>
                </a:lnTo>
                <a:lnTo>
                  <a:pt x="197693" y="178412"/>
                </a:lnTo>
                <a:lnTo>
                  <a:pt x="155913" y="216401"/>
                </a:lnTo>
                <a:lnTo>
                  <a:pt x="250683" y="320871"/>
                </a:lnTo>
                <a:lnTo>
                  <a:pt x="425617" y="175360"/>
                </a:lnTo>
                <a:close/>
                <a:moveTo>
                  <a:pt x="85259" y="0"/>
                </a:moveTo>
                <a:lnTo>
                  <a:pt x="496270" y="0"/>
                </a:lnTo>
                <a:cubicBezTo>
                  <a:pt x="512235" y="0"/>
                  <a:pt x="526841" y="11871"/>
                  <a:pt x="528539" y="26117"/>
                </a:cubicBezTo>
                <a:lnTo>
                  <a:pt x="581190" y="499962"/>
                </a:lnTo>
                <a:cubicBezTo>
                  <a:pt x="581190" y="500301"/>
                  <a:pt x="581529" y="500979"/>
                  <a:pt x="581529" y="501658"/>
                </a:cubicBezTo>
                <a:lnTo>
                  <a:pt x="581529" y="554232"/>
                </a:lnTo>
                <a:cubicBezTo>
                  <a:pt x="581529" y="583402"/>
                  <a:pt x="557752" y="607145"/>
                  <a:pt x="528539" y="607145"/>
                </a:cubicBezTo>
                <a:lnTo>
                  <a:pt x="52990" y="607145"/>
                </a:lnTo>
                <a:cubicBezTo>
                  <a:pt x="23777" y="607145"/>
                  <a:pt x="0" y="583402"/>
                  <a:pt x="0" y="554232"/>
                </a:cubicBezTo>
                <a:lnTo>
                  <a:pt x="0" y="501658"/>
                </a:lnTo>
                <a:cubicBezTo>
                  <a:pt x="0" y="500979"/>
                  <a:pt x="339" y="500301"/>
                  <a:pt x="339" y="499962"/>
                </a:cubicBezTo>
                <a:lnTo>
                  <a:pt x="52990" y="26117"/>
                </a:lnTo>
                <a:cubicBezTo>
                  <a:pt x="54688" y="11871"/>
                  <a:pt x="69295" y="0"/>
                  <a:pt x="85259"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 name="data-storage_30236"/>
          <p:cNvSpPr>
            <a:spLocks noChangeAspect="1"/>
          </p:cNvSpPr>
          <p:nvPr/>
        </p:nvSpPr>
        <p:spPr bwMode="auto">
          <a:xfrm>
            <a:off x="4879761" y="1376772"/>
            <a:ext cx="583961" cy="609685"/>
          </a:xfrm>
          <a:custGeom>
            <a:avLst/>
            <a:gdLst>
              <a:gd name="connsiteX0" fmla="*/ 83515 w 581529"/>
              <a:gd name="connsiteY0" fmla="*/ 508777 h 607145"/>
              <a:gd name="connsiteX1" fmla="*/ 102533 w 581529"/>
              <a:gd name="connsiteY1" fmla="*/ 527759 h 607145"/>
              <a:gd name="connsiteX2" fmla="*/ 83515 w 581529"/>
              <a:gd name="connsiteY2" fmla="*/ 546741 h 607145"/>
              <a:gd name="connsiteX3" fmla="*/ 64497 w 581529"/>
              <a:gd name="connsiteY3" fmla="*/ 527759 h 607145"/>
              <a:gd name="connsiteX4" fmla="*/ 83515 w 581529"/>
              <a:gd name="connsiteY4" fmla="*/ 508777 h 607145"/>
              <a:gd name="connsiteX5" fmla="*/ 52990 w 581529"/>
              <a:gd name="connsiteY5" fmla="*/ 475201 h 607145"/>
              <a:gd name="connsiteX6" fmla="*/ 26495 w 581529"/>
              <a:gd name="connsiteY6" fmla="*/ 501658 h 607145"/>
              <a:gd name="connsiteX7" fmla="*/ 26495 w 581529"/>
              <a:gd name="connsiteY7" fmla="*/ 554232 h 607145"/>
              <a:gd name="connsiteX8" fmla="*/ 52990 w 581529"/>
              <a:gd name="connsiteY8" fmla="*/ 580689 h 607145"/>
              <a:gd name="connsiteX9" fmla="*/ 528539 w 581529"/>
              <a:gd name="connsiteY9" fmla="*/ 580689 h 607145"/>
              <a:gd name="connsiteX10" fmla="*/ 555034 w 581529"/>
              <a:gd name="connsiteY10" fmla="*/ 554232 h 607145"/>
              <a:gd name="connsiteX11" fmla="*/ 555034 w 581529"/>
              <a:gd name="connsiteY11" fmla="*/ 501658 h 607145"/>
              <a:gd name="connsiteX12" fmla="*/ 528539 w 581529"/>
              <a:gd name="connsiteY12" fmla="*/ 475201 h 607145"/>
              <a:gd name="connsiteX13" fmla="*/ 389271 w 581529"/>
              <a:gd name="connsiteY13" fmla="*/ 131944 h 607145"/>
              <a:gd name="connsiteX14" fmla="*/ 256118 w 581529"/>
              <a:gd name="connsiteY14" fmla="*/ 242858 h 607145"/>
              <a:gd name="connsiteX15" fmla="*/ 197693 w 581529"/>
              <a:gd name="connsiteY15" fmla="*/ 178412 h 607145"/>
              <a:gd name="connsiteX16" fmla="*/ 155913 w 581529"/>
              <a:gd name="connsiteY16" fmla="*/ 216401 h 607145"/>
              <a:gd name="connsiteX17" fmla="*/ 250683 w 581529"/>
              <a:gd name="connsiteY17" fmla="*/ 320871 h 607145"/>
              <a:gd name="connsiteX18" fmla="*/ 425617 w 581529"/>
              <a:gd name="connsiteY18" fmla="*/ 175360 h 607145"/>
              <a:gd name="connsiteX19" fmla="*/ 85259 w 581529"/>
              <a:gd name="connsiteY19" fmla="*/ 0 h 607145"/>
              <a:gd name="connsiteX20" fmla="*/ 496270 w 581529"/>
              <a:gd name="connsiteY20" fmla="*/ 0 h 607145"/>
              <a:gd name="connsiteX21" fmla="*/ 528539 w 581529"/>
              <a:gd name="connsiteY21" fmla="*/ 26117 h 607145"/>
              <a:gd name="connsiteX22" fmla="*/ 581190 w 581529"/>
              <a:gd name="connsiteY22" fmla="*/ 499962 h 607145"/>
              <a:gd name="connsiteX23" fmla="*/ 581529 w 581529"/>
              <a:gd name="connsiteY23" fmla="*/ 501658 h 607145"/>
              <a:gd name="connsiteX24" fmla="*/ 581529 w 581529"/>
              <a:gd name="connsiteY24" fmla="*/ 554232 h 607145"/>
              <a:gd name="connsiteX25" fmla="*/ 528539 w 581529"/>
              <a:gd name="connsiteY25" fmla="*/ 607145 h 607145"/>
              <a:gd name="connsiteX26" fmla="*/ 52990 w 581529"/>
              <a:gd name="connsiteY26" fmla="*/ 607145 h 607145"/>
              <a:gd name="connsiteX27" fmla="*/ 0 w 581529"/>
              <a:gd name="connsiteY27" fmla="*/ 554232 h 607145"/>
              <a:gd name="connsiteX28" fmla="*/ 0 w 581529"/>
              <a:gd name="connsiteY28" fmla="*/ 501658 h 607145"/>
              <a:gd name="connsiteX29" fmla="*/ 339 w 581529"/>
              <a:gd name="connsiteY29" fmla="*/ 499962 h 607145"/>
              <a:gd name="connsiteX30" fmla="*/ 52990 w 581529"/>
              <a:gd name="connsiteY30" fmla="*/ 26117 h 607145"/>
              <a:gd name="connsiteX31" fmla="*/ 85259 w 581529"/>
              <a:gd name="connsiteY31"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81529" h="607145">
                <a:moveTo>
                  <a:pt x="83515" y="508777"/>
                </a:moveTo>
                <a:cubicBezTo>
                  <a:pt x="94018" y="508777"/>
                  <a:pt x="102533" y="517276"/>
                  <a:pt x="102533" y="527759"/>
                </a:cubicBezTo>
                <a:cubicBezTo>
                  <a:pt x="102533" y="538242"/>
                  <a:pt x="94018" y="546741"/>
                  <a:pt x="83515" y="546741"/>
                </a:cubicBezTo>
                <a:cubicBezTo>
                  <a:pt x="73012" y="546741"/>
                  <a:pt x="64497" y="538242"/>
                  <a:pt x="64497" y="527759"/>
                </a:cubicBezTo>
                <a:cubicBezTo>
                  <a:pt x="64497" y="517276"/>
                  <a:pt x="73012" y="508777"/>
                  <a:pt x="83515" y="508777"/>
                </a:cubicBezTo>
                <a:close/>
                <a:moveTo>
                  <a:pt x="52990" y="475201"/>
                </a:moveTo>
                <a:cubicBezTo>
                  <a:pt x="38383" y="475201"/>
                  <a:pt x="26495" y="487073"/>
                  <a:pt x="26495" y="501658"/>
                </a:cubicBezTo>
                <a:lnTo>
                  <a:pt x="26495" y="554232"/>
                </a:lnTo>
                <a:cubicBezTo>
                  <a:pt x="26495" y="568817"/>
                  <a:pt x="38383" y="580689"/>
                  <a:pt x="52990" y="580689"/>
                </a:cubicBezTo>
                <a:lnTo>
                  <a:pt x="528539" y="580689"/>
                </a:lnTo>
                <a:cubicBezTo>
                  <a:pt x="543146" y="580689"/>
                  <a:pt x="555034" y="568817"/>
                  <a:pt x="555034" y="554232"/>
                </a:cubicBezTo>
                <a:lnTo>
                  <a:pt x="555034" y="501658"/>
                </a:lnTo>
                <a:cubicBezTo>
                  <a:pt x="555034" y="487073"/>
                  <a:pt x="543146" y="475201"/>
                  <a:pt x="528539" y="475201"/>
                </a:cubicBezTo>
                <a:close/>
                <a:moveTo>
                  <a:pt x="389271" y="131944"/>
                </a:moveTo>
                <a:lnTo>
                  <a:pt x="256118" y="242858"/>
                </a:lnTo>
                <a:lnTo>
                  <a:pt x="197693" y="178412"/>
                </a:lnTo>
                <a:lnTo>
                  <a:pt x="155913" y="216401"/>
                </a:lnTo>
                <a:lnTo>
                  <a:pt x="250683" y="320871"/>
                </a:lnTo>
                <a:lnTo>
                  <a:pt x="425617" y="175360"/>
                </a:lnTo>
                <a:close/>
                <a:moveTo>
                  <a:pt x="85259" y="0"/>
                </a:moveTo>
                <a:lnTo>
                  <a:pt x="496270" y="0"/>
                </a:lnTo>
                <a:cubicBezTo>
                  <a:pt x="512235" y="0"/>
                  <a:pt x="526841" y="11871"/>
                  <a:pt x="528539" y="26117"/>
                </a:cubicBezTo>
                <a:lnTo>
                  <a:pt x="581190" y="499962"/>
                </a:lnTo>
                <a:cubicBezTo>
                  <a:pt x="581190" y="500301"/>
                  <a:pt x="581529" y="500979"/>
                  <a:pt x="581529" y="501658"/>
                </a:cubicBezTo>
                <a:lnTo>
                  <a:pt x="581529" y="554232"/>
                </a:lnTo>
                <a:cubicBezTo>
                  <a:pt x="581529" y="583402"/>
                  <a:pt x="557752" y="607145"/>
                  <a:pt x="528539" y="607145"/>
                </a:cubicBezTo>
                <a:lnTo>
                  <a:pt x="52990" y="607145"/>
                </a:lnTo>
                <a:cubicBezTo>
                  <a:pt x="23777" y="607145"/>
                  <a:pt x="0" y="583402"/>
                  <a:pt x="0" y="554232"/>
                </a:cubicBezTo>
                <a:lnTo>
                  <a:pt x="0" y="501658"/>
                </a:lnTo>
                <a:cubicBezTo>
                  <a:pt x="0" y="500979"/>
                  <a:pt x="339" y="500301"/>
                  <a:pt x="339" y="499962"/>
                </a:cubicBezTo>
                <a:lnTo>
                  <a:pt x="52990" y="26117"/>
                </a:lnTo>
                <a:cubicBezTo>
                  <a:pt x="54688" y="11871"/>
                  <a:pt x="69295" y="0"/>
                  <a:pt x="85259"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 name="data-storage_30236"/>
          <p:cNvSpPr>
            <a:spLocks noChangeAspect="1"/>
          </p:cNvSpPr>
          <p:nvPr/>
        </p:nvSpPr>
        <p:spPr bwMode="auto">
          <a:xfrm>
            <a:off x="7672279" y="1376772"/>
            <a:ext cx="583961" cy="609685"/>
          </a:xfrm>
          <a:custGeom>
            <a:avLst/>
            <a:gdLst>
              <a:gd name="connsiteX0" fmla="*/ 83515 w 581529"/>
              <a:gd name="connsiteY0" fmla="*/ 508777 h 607145"/>
              <a:gd name="connsiteX1" fmla="*/ 102533 w 581529"/>
              <a:gd name="connsiteY1" fmla="*/ 527759 h 607145"/>
              <a:gd name="connsiteX2" fmla="*/ 83515 w 581529"/>
              <a:gd name="connsiteY2" fmla="*/ 546741 h 607145"/>
              <a:gd name="connsiteX3" fmla="*/ 64497 w 581529"/>
              <a:gd name="connsiteY3" fmla="*/ 527759 h 607145"/>
              <a:gd name="connsiteX4" fmla="*/ 83515 w 581529"/>
              <a:gd name="connsiteY4" fmla="*/ 508777 h 607145"/>
              <a:gd name="connsiteX5" fmla="*/ 52990 w 581529"/>
              <a:gd name="connsiteY5" fmla="*/ 475201 h 607145"/>
              <a:gd name="connsiteX6" fmla="*/ 26495 w 581529"/>
              <a:gd name="connsiteY6" fmla="*/ 501658 h 607145"/>
              <a:gd name="connsiteX7" fmla="*/ 26495 w 581529"/>
              <a:gd name="connsiteY7" fmla="*/ 554232 h 607145"/>
              <a:gd name="connsiteX8" fmla="*/ 52990 w 581529"/>
              <a:gd name="connsiteY8" fmla="*/ 580689 h 607145"/>
              <a:gd name="connsiteX9" fmla="*/ 528539 w 581529"/>
              <a:gd name="connsiteY9" fmla="*/ 580689 h 607145"/>
              <a:gd name="connsiteX10" fmla="*/ 555034 w 581529"/>
              <a:gd name="connsiteY10" fmla="*/ 554232 h 607145"/>
              <a:gd name="connsiteX11" fmla="*/ 555034 w 581529"/>
              <a:gd name="connsiteY11" fmla="*/ 501658 h 607145"/>
              <a:gd name="connsiteX12" fmla="*/ 528539 w 581529"/>
              <a:gd name="connsiteY12" fmla="*/ 475201 h 607145"/>
              <a:gd name="connsiteX13" fmla="*/ 389271 w 581529"/>
              <a:gd name="connsiteY13" fmla="*/ 131944 h 607145"/>
              <a:gd name="connsiteX14" fmla="*/ 256118 w 581529"/>
              <a:gd name="connsiteY14" fmla="*/ 242858 h 607145"/>
              <a:gd name="connsiteX15" fmla="*/ 197693 w 581529"/>
              <a:gd name="connsiteY15" fmla="*/ 178412 h 607145"/>
              <a:gd name="connsiteX16" fmla="*/ 155913 w 581529"/>
              <a:gd name="connsiteY16" fmla="*/ 216401 h 607145"/>
              <a:gd name="connsiteX17" fmla="*/ 250683 w 581529"/>
              <a:gd name="connsiteY17" fmla="*/ 320871 h 607145"/>
              <a:gd name="connsiteX18" fmla="*/ 425617 w 581529"/>
              <a:gd name="connsiteY18" fmla="*/ 175360 h 607145"/>
              <a:gd name="connsiteX19" fmla="*/ 85259 w 581529"/>
              <a:gd name="connsiteY19" fmla="*/ 0 h 607145"/>
              <a:gd name="connsiteX20" fmla="*/ 496270 w 581529"/>
              <a:gd name="connsiteY20" fmla="*/ 0 h 607145"/>
              <a:gd name="connsiteX21" fmla="*/ 528539 w 581529"/>
              <a:gd name="connsiteY21" fmla="*/ 26117 h 607145"/>
              <a:gd name="connsiteX22" fmla="*/ 581190 w 581529"/>
              <a:gd name="connsiteY22" fmla="*/ 499962 h 607145"/>
              <a:gd name="connsiteX23" fmla="*/ 581529 w 581529"/>
              <a:gd name="connsiteY23" fmla="*/ 501658 h 607145"/>
              <a:gd name="connsiteX24" fmla="*/ 581529 w 581529"/>
              <a:gd name="connsiteY24" fmla="*/ 554232 h 607145"/>
              <a:gd name="connsiteX25" fmla="*/ 528539 w 581529"/>
              <a:gd name="connsiteY25" fmla="*/ 607145 h 607145"/>
              <a:gd name="connsiteX26" fmla="*/ 52990 w 581529"/>
              <a:gd name="connsiteY26" fmla="*/ 607145 h 607145"/>
              <a:gd name="connsiteX27" fmla="*/ 0 w 581529"/>
              <a:gd name="connsiteY27" fmla="*/ 554232 h 607145"/>
              <a:gd name="connsiteX28" fmla="*/ 0 w 581529"/>
              <a:gd name="connsiteY28" fmla="*/ 501658 h 607145"/>
              <a:gd name="connsiteX29" fmla="*/ 339 w 581529"/>
              <a:gd name="connsiteY29" fmla="*/ 499962 h 607145"/>
              <a:gd name="connsiteX30" fmla="*/ 52990 w 581529"/>
              <a:gd name="connsiteY30" fmla="*/ 26117 h 607145"/>
              <a:gd name="connsiteX31" fmla="*/ 85259 w 581529"/>
              <a:gd name="connsiteY31"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81529" h="607145">
                <a:moveTo>
                  <a:pt x="83515" y="508777"/>
                </a:moveTo>
                <a:cubicBezTo>
                  <a:pt x="94018" y="508777"/>
                  <a:pt x="102533" y="517276"/>
                  <a:pt x="102533" y="527759"/>
                </a:cubicBezTo>
                <a:cubicBezTo>
                  <a:pt x="102533" y="538242"/>
                  <a:pt x="94018" y="546741"/>
                  <a:pt x="83515" y="546741"/>
                </a:cubicBezTo>
                <a:cubicBezTo>
                  <a:pt x="73012" y="546741"/>
                  <a:pt x="64497" y="538242"/>
                  <a:pt x="64497" y="527759"/>
                </a:cubicBezTo>
                <a:cubicBezTo>
                  <a:pt x="64497" y="517276"/>
                  <a:pt x="73012" y="508777"/>
                  <a:pt x="83515" y="508777"/>
                </a:cubicBezTo>
                <a:close/>
                <a:moveTo>
                  <a:pt x="52990" y="475201"/>
                </a:moveTo>
                <a:cubicBezTo>
                  <a:pt x="38383" y="475201"/>
                  <a:pt x="26495" y="487073"/>
                  <a:pt x="26495" y="501658"/>
                </a:cubicBezTo>
                <a:lnTo>
                  <a:pt x="26495" y="554232"/>
                </a:lnTo>
                <a:cubicBezTo>
                  <a:pt x="26495" y="568817"/>
                  <a:pt x="38383" y="580689"/>
                  <a:pt x="52990" y="580689"/>
                </a:cubicBezTo>
                <a:lnTo>
                  <a:pt x="528539" y="580689"/>
                </a:lnTo>
                <a:cubicBezTo>
                  <a:pt x="543146" y="580689"/>
                  <a:pt x="555034" y="568817"/>
                  <a:pt x="555034" y="554232"/>
                </a:cubicBezTo>
                <a:lnTo>
                  <a:pt x="555034" y="501658"/>
                </a:lnTo>
                <a:cubicBezTo>
                  <a:pt x="555034" y="487073"/>
                  <a:pt x="543146" y="475201"/>
                  <a:pt x="528539" y="475201"/>
                </a:cubicBezTo>
                <a:close/>
                <a:moveTo>
                  <a:pt x="389271" y="131944"/>
                </a:moveTo>
                <a:lnTo>
                  <a:pt x="256118" y="242858"/>
                </a:lnTo>
                <a:lnTo>
                  <a:pt x="197693" y="178412"/>
                </a:lnTo>
                <a:lnTo>
                  <a:pt x="155913" y="216401"/>
                </a:lnTo>
                <a:lnTo>
                  <a:pt x="250683" y="320871"/>
                </a:lnTo>
                <a:lnTo>
                  <a:pt x="425617" y="175360"/>
                </a:lnTo>
                <a:close/>
                <a:moveTo>
                  <a:pt x="85259" y="0"/>
                </a:moveTo>
                <a:lnTo>
                  <a:pt x="496270" y="0"/>
                </a:lnTo>
                <a:cubicBezTo>
                  <a:pt x="512235" y="0"/>
                  <a:pt x="526841" y="11871"/>
                  <a:pt x="528539" y="26117"/>
                </a:cubicBezTo>
                <a:lnTo>
                  <a:pt x="581190" y="499962"/>
                </a:lnTo>
                <a:cubicBezTo>
                  <a:pt x="581190" y="500301"/>
                  <a:pt x="581529" y="500979"/>
                  <a:pt x="581529" y="501658"/>
                </a:cubicBezTo>
                <a:lnTo>
                  <a:pt x="581529" y="554232"/>
                </a:lnTo>
                <a:cubicBezTo>
                  <a:pt x="581529" y="583402"/>
                  <a:pt x="557752" y="607145"/>
                  <a:pt x="528539" y="607145"/>
                </a:cubicBezTo>
                <a:lnTo>
                  <a:pt x="52990" y="607145"/>
                </a:lnTo>
                <a:cubicBezTo>
                  <a:pt x="23777" y="607145"/>
                  <a:pt x="0" y="583402"/>
                  <a:pt x="0" y="554232"/>
                </a:cubicBezTo>
                <a:lnTo>
                  <a:pt x="0" y="501658"/>
                </a:lnTo>
                <a:cubicBezTo>
                  <a:pt x="0" y="500979"/>
                  <a:pt x="339" y="500301"/>
                  <a:pt x="339" y="499962"/>
                </a:cubicBezTo>
                <a:lnTo>
                  <a:pt x="52990" y="26117"/>
                </a:lnTo>
                <a:cubicBezTo>
                  <a:pt x="54688" y="11871"/>
                  <a:pt x="69295" y="0"/>
                  <a:pt x="85259"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7" name="组合 6"/>
          <p:cNvGrpSpPr/>
          <p:nvPr/>
        </p:nvGrpSpPr>
        <p:grpSpPr>
          <a:xfrm>
            <a:off x="2351584" y="2204864"/>
            <a:ext cx="648072" cy="609685"/>
            <a:chOff x="4223792" y="2384884"/>
            <a:chExt cx="648072" cy="609685"/>
          </a:xfrm>
        </p:grpSpPr>
        <p:sp>
          <p:nvSpPr>
            <p:cNvPr id="8" name="file_263091"/>
            <p:cNvSpPr>
              <a:spLocks noChangeAspect="1"/>
            </p:cNvSpPr>
            <p:nvPr/>
          </p:nvSpPr>
          <p:spPr bwMode="auto">
            <a:xfrm>
              <a:off x="4331804" y="2384884"/>
              <a:ext cx="457866" cy="609685"/>
            </a:xfrm>
            <a:custGeom>
              <a:avLst/>
              <a:gdLst>
                <a:gd name="T0" fmla="*/ 5119 w 5119"/>
                <a:gd name="T1" fmla="*/ 1729 h 6827"/>
                <a:gd name="T2" fmla="*/ 5072 w 5119"/>
                <a:gd name="T3" fmla="*/ 1621 h 6827"/>
                <a:gd name="T4" fmla="*/ 3498 w 5119"/>
                <a:gd name="T5" fmla="*/ 47 h 6827"/>
                <a:gd name="T6" fmla="*/ 3498 w 5119"/>
                <a:gd name="T7" fmla="*/ 47 h 6827"/>
                <a:gd name="T8" fmla="*/ 3385 w 5119"/>
                <a:gd name="T9" fmla="*/ 0 h 6827"/>
                <a:gd name="T10" fmla="*/ 336 w 5119"/>
                <a:gd name="T11" fmla="*/ 0 h 6827"/>
                <a:gd name="T12" fmla="*/ 0 w 5119"/>
                <a:gd name="T13" fmla="*/ 336 h 6827"/>
                <a:gd name="T14" fmla="*/ 0 w 5119"/>
                <a:gd name="T15" fmla="*/ 6490 h 6827"/>
                <a:gd name="T16" fmla="*/ 336 w 5119"/>
                <a:gd name="T17" fmla="*/ 6827 h 6827"/>
                <a:gd name="T18" fmla="*/ 4782 w 5119"/>
                <a:gd name="T19" fmla="*/ 6827 h 6827"/>
                <a:gd name="T20" fmla="*/ 5119 w 5119"/>
                <a:gd name="T21" fmla="*/ 6490 h 6827"/>
                <a:gd name="T22" fmla="*/ 5119 w 5119"/>
                <a:gd name="T23" fmla="*/ 1734 h 6827"/>
                <a:gd name="T24" fmla="*/ 5119 w 5119"/>
                <a:gd name="T25" fmla="*/ 1729 h 6827"/>
                <a:gd name="T26" fmla="*/ 3545 w 5119"/>
                <a:gd name="T27" fmla="*/ 546 h 6827"/>
                <a:gd name="T28" fmla="*/ 4573 w 5119"/>
                <a:gd name="T29" fmla="*/ 1574 h 6827"/>
                <a:gd name="T30" fmla="*/ 3612 w 5119"/>
                <a:gd name="T31" fmla="*/ 1574 h 6827"/>
                <a:gd name="T32" fmla="*/ 3545 w 5119"/>
                <a:gd name="T33" fmla="*/ 1507 h 6827"/>
                <a:gd name="T34" fmla="*/ 3545 w 5119"/>
                <a:gd name="T35" fmla="*/ 546 h 6827"/>
                <a:gd name="T36" fmla="*/ 4799 w 5119"/>
                <a:gd name="T37" fmla="*/ 6490 h 6827"/>
                <a:gd name="T38" fmla="*/ 4782 w 5119"/>
                <a:gd name="T39" fmla="*/ 6507 h 6827"/>
                <a:gd name="T40" fmla="*/ 336 w 5119"/>
                <a:gd name="T41" fmla="*/ 6507 h 6827"/>
                <a:gd name="T42" fmla="*/ 320 w 5119"/>
                <a:gd name="T43" fmla="*/ 6490 h 6827"/>
                <a:gd name="T44" fmla="*/ 320 w 5119"/>
                <a:gd name="T45" fmla="*/ 336 h 6827"/>
                <a:gd name="T46" fmla="*/ 336 w 5119"/>
                <a:gd name="T47" fmla="*/ 320 h 6827"/>
                <a:gd name="T48" fmla="*/ 3225 w 5119"/>
                <a:gd name="T49" fmla="*/ 320 h 6827"/>
                <a:gd name="T50" fmla="*/ 3225 w 5119"/>
                <a:gd name="T51" fmla="*/ 1507 h 6827"/>
                <a:gd name="T52" fmla="*/ 3612 w 5119"/>
                <a:gd name="T53" fmla="*/ 1894 h 6827"/>
                <a:gd name="T54" fmla="*/ 4799 w 5119"/>
                <a:gd name="T55" fmla="*/ 1894 h 6827"/>
                <a:gd name="T56" fmla="*/ 4799 w 5119"/>
                <a:gd name="T57" fmla="*/ 649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19" h="6827">
                  <a:moveTo>
                    <a:pt x="5119" y="1729"/>
                  </a:moveTo>
                  <a:cubicBezTo>
                    <a:pt x="5117" y="1689"/>
                    <a:pt x="5101" y="1650"/>
                    <a:pt x="5072" y="1621"/>
                  </a:cubicBezTo>
                  <a:lnTo>
                    <a:pt x="3498" y="47"/>
                  </a:lnTo>
                  <a:cubicBezTo>
                    <a:pt x="3498" y="47"/>
                    <a:pt x="3498" y="47"/>
                    <a:pt x="3498" y="47"/>
                  </a:cubicBezTo>
                  <a:cubicBezTo>
                    <a:pt x="3469" y="18"/>
                    <a:pt x="3429" y="0"/>
                    <a:pt x="3385" y="0"/>
                  </a:cubicBezTo>
                  <a:lnTo>
                    <a:pt x="336" y="0"/>
                  </a:lnTo>
                  <a:cubicBezTo>
                    <a:pt x="151" y="0"/>
                    <a:pt x="0" y="151"/>
                    <a:pt x="0" y="336"/>
                  </a:cubicBezTo>
                  <a:lnTo>
                    <a:pt x="0" y="6490"/>
                  </a:lnTo>
                  <a:cubicBezTo>
                    <a:pt x="0" y="6676"/>
                    <a:pt x="151" y="6827"/>
                    <a:pt x="336" y="6827"/>
                  </a:cubicBezTo>
                  <a:lnTo>
                    <a:pt x="4782" y="6827"/>
                  </a:lnTo>
                  <a:cubicBezTo>
                    <a:pt x="4968" y="6827"/>
                    <a:pt x="5119" y="6676"/>
                    <a:pt x="5119" y="6490"/>
                  </a:cubicBezTo>
                  <a:lnTo>
                    <a:pt x="5119" y="1734"/>
                  </a:lnTo>
                  <a:cubicBezTo>
                    <a:pt x="5119" y="1732"/>
                    <a:pt x="5119" y="1731"/>
                    <a:pt x="5119" y="1729"/>
                  </a:cubicBezTo>
                  <a:close/>
                  <a:moveTo>
                    <a:pt x="3545" y="546"/>
                  </a:moveTo>
                  <a:lnTo>
                    <a:pt x="4573" y="1574"/>
                  </a:lnTo>
                  <a:lnTo>
                    <a:pt x="3612" y="1574"/>
                  </a:lnTo>
                  <a:cubicBezTo>
                    <a:pt x="3575" y="1574"/>
                    <a:pt x="3545" y="1544"/>
                    <a:pt x="3545" y="1507"/>
                  </a:cubicBezTo>
                  <a:lnTo>
                    <a:pt x="3545" y="546"/>
                  </a:lnTo>
                  <a:close/>
                  <a:moveTo>
                    <a:pt x="4799" y="6490"/>
                  </a:moveTo>
                  <a:cubicBezTo>
                    <a:pt x="4799" y="6499"/>
                    <a:pt x="4792" y="6507"/>
                    <a:pt x="4782" y="6507"/>
                  </a:cubicBezTo>
                  <a:lnTo>
                    <a:pt x="336" y="6507"/>
                  </a:lnTo>
                  <a:cubicBezTo>
                    <a:pt x="327" y="6507"/>
                    <a:pt x="320" y="6499"/>
                    <a:pt x="320" y="6490"/>
                  </a:cubicBezTo>
                  <a:lnTo>
                    <a:pt x="320" y="336"/>
                  </a:lnTo>
                  <a:cubicBezTo>
                    <a:pt x="320" y="327"/>
                    <a:pt x="327" y="320"/>
                    <a:pt x="336" y="320"/>
                  </a:cubicBezTo>
                  <a:lnTo>
                    <a:pt x="3225" y="320"/>
                  </a:lnTo>
                  <a:lnTo>
                    <a:pt x="3225" y="1507"/>
                  </a:lnTo>
                  <a:cubicBezTo>
                    <a:pt x="3225" y="1720"/>
                    <a:pt x="3399" y="1894"/>
                    <a:pt x="3612" y="1894"/>
                  </a:cubicBezTo>
                  <a:lnTo>
                    <a:pt x="4799" y="1894"/>
                  </a:lnTo>
                  <a:lnTo>
                    <a:pt x="4799" y="6490"/>
                  </a:lnTo>
                  <a:close/>
                </a:path>
              </a:pathLst>
            </a:custGeom>
            <a:solidFill>
              <a:srgbClr val="3ABABA"/>
            </a:solidFill>
            <a:ln>
              <a:noFill/>
            </a:ln>
          </p:spPr>
        </p:sp>
        <p:sp>
          <p:nvSpPr>
            <p:cNvPr id="9" name="文本框 8"/>
            <p:cNvSpPr txBox="1"/>
            <p:nvPr/>
          </p:nvSpPr>
          <p:spPr bwMode="auto">
            <a:xfrm>
              <a:off x="4223792" y="2600908"/>
              <a:ext cx="648072" cy="28803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200" dirty="0">
                  <a:solidFill>
                    <a:srgbClr val="000000"/>
                  </a:solidFill>
                  <a:latin typeface="Arial" panose="020B0604020202020204" pitchFamily="34" charset="0"/>
                  <a:ea typeface="+mn-ea"/>
                  <a:cs typeface="Arial" pitchFamily="34" charset="0"/>
                </a:rPr>
                <a:t>qcow</a:t>
              </a:r>
            </a:p>
          </p:txBody>
        </p:sp>
      </p:grpSp>
      <p:grpSp>
        <p:nvGrpSpPr>
          <p:cNvPr id="10" name="组合 9"/>
          <p:cNvGrpSpPr/>
          <p:nvPr/>
        </p:nvGrpSpPr>
        <p:grpSpPr>
          <a:xfrm>
            <a:off x="2999656" y="2204864"/>
            <a:ext cx="648072" cy="609685"/>
            <a:chOff x="4223792" y="2384884"/>
            <a:chExt cx="648072" cy="609685"/>
          </a:xfrm>
        </p:grpSpPr>
        <p:sp>
          <p:nvSpPr>
            <p:cNvPr id="11" name="file_263091"/>
            <p:cNvSpPr>
              <a:spLocks noChangeAspect="1"/>
            </p:cNvSpPr>
            <p:nvPr/>
          </p:nvSpPr>
          <p:spPr bwMode="auto">
            <a:xfrm>
              <a:off x="4331804" y="2384884"/>
              <a:ext cx="457866" cy="609685"/>
            </a:xfrm>
            <a:custGeom>
              <a:avLst/>
              <a:gdLst>
                <a:gd name="T0" fmla="*/ 5119 w 5119"/>
                <a:gd name="T1" fmla="*/ 1729 h 6827"/>
                <a:gd name="T2" fmla="*/ 5072 w 5119"/>
                <a:gd name="T3" fmla="*/ 1621 h 6827"/>
                <a:gd name="T4" fmla="*/ 3498 w 5119"/>
                <a:gd name="T5" fmla="*/ 47 h 6827"/>
                <a:gd name="T6" fmla="*/ 3498 w 5119"/>
                <a:gd name="T7" fmla="*/ 47 h 6827"/>
                <a:gd name="T8" fmla="*/ 3385 w 5119"/>
                <a:gd name="T9" fmla="*/ 0 h 6827"/>
                <a:gd name="T10" fmla="*/ 336 w 5119"/>
                <a:gd name="T11" fmla="*/ 0 h 6827"/>
                <a:gd name="T12" fmla="*/ 0 w 5119"/>
                <a:gd name="T13" fmla="*/ 336 h 6827"/>
                <a:gd name="T14" fmla="*/ 0 w 5119"/>
                <a:gd name="T15" fmla="*/ 6490 h 6827"/>
                <a:gd name="T16" fmla="*/ 336 w 5119"/>
                <a:gd name="T17" fmla="*/ 6827 h 6827"/>
                <a:gd name="T18" fmla="*/ 4782 w 5119"/>
                <a:gd name="T19" fmla="*/ 6827 h 6827"/>
                <a:gd name="T20" fmla="*/ 5119 w 5119"/>
                <a:gd name="T21" fmla="*/ 6490 h 6827"/>
                <a:gd name="T22" fmla="*/ 5119 w 5119"/>
                <a:gd name="T23" fmla="*/ 1734 h 6827"/>
                <a:gd name="T24" fmla="*/ 5119 w 5119"/>
                <a:gd name="T25" fmla="*/ 1729 h 6827"/>
                <a:gd name="T26" fmla="*/ 3545 w 5119"/>
                <a:gd name="T27" fmla="*/ 546 h 6827"/>
                <a:gd name="T28" fmla="*/ 4573 w 5119"/>
                <a:gd name="T29" fmla="*/ 1574 h 6827"/>
                <a:gd name="T30" fmla="*/ 3612 w 5119"/>
                <a:gd name="T31" fmla="*/ 1574 h 6827"/>
                <a:gd name="T32" fmla="*/ 3545 w 5119"/>
                <a:gd name="T33" fmla="*/ 1507 h 6827"/>
                <a:gd name="T34" fmla="*/ 3545 w 5119"/>
                <a:gd name="T35" fmla="*/ 546 h 6827"/>
                <a:gd name="T36" fmla="*/ 4799 w 5119"/>
                <a:gd name="T37" fmla="*/ 6490 h 6827"/>
                <a:gd name="T38" fmla="*/ 4782 w 5119"/>
                <a:gd name="T39" fmla="*/ 6507 h 6827"/>
                <a:gd name="T40" fmla="*/ 336 w 5119"/>
                <a:gd name="T41" fmla="*/ 6507 h 6827"/>
                <a:gd name="T42" fmla="*/ 320 w 5119"/>
                <a:gd name="T43" fmla="*/ 6490 h 6827"/>
                <a:gd name="T44" fmla="*/ 320 w 5119"/>
                <a:gd name="T45" fmla="*/ 336 h 6827"/>
                <a:gd name="T46" fmla="*/ 336 w 5119"/>
                <a:gd name="T47" fmla="*/ 320 h 6827"/>
                <a:gd name="T48" fmla="*/ 3225 w 5119"/>
                <a:gd name="T49" fmla="*/ 320 h 6827"/>
                <a:gd name="T50" fmla="*/ 3225 w 5119"/>
                <a:gd name="T51" fmla="*/ 1507 h 6827"/>
                <a:gd name="T52" fmla="*/ 3612 w 5119"/>
                <a:gd name="T53" fmla="*/ 1894 h 6827"/>
                <a:gd name="T54" fmla="*/ 4799 w 5119"/>
                <a:gd name="T55" fmla="*/ 1894 h 6827"/>
                <a:gd name="T56" fmla="*/ 4799 w 5119"/>
                <a:gd name="T57" fmla="*/ 649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19" h="6827">
                  <a:moveTo>
                    <a:pt x="5119" y="1729"/>
                  </a:moveTo>
                  <a:cubicBezTo>
                    <a:pt x="5117" y="1689"/>
                    <a:pt x="5101" y="1650"/>
                    <a:pt x="5072" y="1621"/>
                  </a:cubicBezTo>
                  <a:lnTo>
                    <a:pt x="3498" y="47"/>
                  </a:lnTo>
                  <a:cubicBezTo>
                    <a:pt x="3498" y="47"/>
                    <a:pt x="3498" y="47"/>
                    <a:pt x="3498" y="47"/>
                  </a:cubicBezTo>
                  <a:cubicBezTo>
                    <a:pt x="3469" y="18"/>
                    <a:pt x="3429" y="0"/>
                    <a:pt x="3385" y="0"/>
                  </a:cubicBezTo>
                  <a:lnTo>
                    <a:pt x="336" y="0"/>
                  </a:lnTo>
                  <a:cubicBezTo>
                    <a:pt x="151" y="0"/>
                    <a:pt x="0" y="151"/>
                    <a:pt x="0" y="336"/>
                  </a:cubicBezTo>
                  <a:lnTo>
                    <a:pt x="0" y="6490"/>
                  </a:lnTo>
                  <a:cubicBezTo>
                    <a:pt x="0" y="6676"/>
                    <a:pt x="151" y="6827"/>
                    <a:pt x="336" y="6827"/>
                  </a:cubicBezTo>
                  <a:lnTo>
                    <a:pt x="4782" y="6827"/>
                  </a:lnTo>
                  <a:cubicBezTo>
                    <a:pt x="4968" y="6827"/>
                    <a:pt x="5119" y="6676"/>
                    <a:pt x="5119" y="6490"/>
                  </a:cubicBezTo>
                  <a:lnTo>
                    <a:pt x="5119" y="1734"/>
                  </a:lnTo>
                  <a:cubicBezTo>
                    <a:pt x="5119" y="1732"/>
                    <a:pt x="5119" y="1731"/>
                    <a:pt x="5119" y="1729"/>
                  </a:cubicBezTo>
                  <a:close/>
                  <a:moveTo>
                    <a:pt x="3545" y="546"/>
                  </a:moveTo>
                  <a:lnTo>
                    <a:pt x="4573" y="1574"/>
                  </a:lnTo>
                  <a:lnTo>
                    <a:pt x="3612" y="1574"/>
                  </a:lnTo>
                  <a:cubicBezTo>
                    <a:pt x="3575" y="1574"/>
                    <a:pt x="3545" y="1544"/>
                    <a:pt x="3545" y="1507"/>
                  </a:cubicBezTo>
                  <a:lnTo>
                    <a:pt x="3545" y="546"/>
                  </a:lnTo>
                  <a:close/>
                  <a:moveTo>
                    <a:pt x="4799" y="6490"/>
                  </a:moveTo>
                  <a:cubicBezTo>
                    <a:pt x="4799" y="6499"/>
                    <a:pt x="4792" y="6507"/>
                    <a:pt x="4782" y="6507"/>
                  </a:cubicBezTo>
                  <a:lnTo>
                    <a:pt x="336" y="6507"/>
                  </a:lnTo>
                  <a:cubicBezTo>
                    <a:pt x="327" y="6507"/>
                    <a:pt x="320" y="6499"/>
                    <a:pt x="320" y="6490"/>
                  </a:cubicBezTo>
                  <a:lnTo>
                    <a:pt x="320" y="336"/>
                  </a:lnTo>
                  <a:cubicBezTo>
                    <a:pt x="320" y="327"/>
                    <a:pt x="327" y="320"/>
                    <a:pt x="336" y="320"/>
                  </a:cubicBezTo>
                  <a:lnTo>
                    <a:pt x="3225" y="320"/>
                  </a:lnTo>
                  <a:lnTo>
                    <a:pt x="3225" y="1507"/>
                  </a:lnTo>
                  <a:cubicBezTo>
                    <a:pt x="3225" y="1720"/>
                    <a:pt x="3399" y="1894"/>
                    <a:pt x="3612" y="1894"/>
                  </a:cubicBezTo>
                  <a:lnTo>
                    <a:pt x="4799" y="1894"/>
                  </a:lnTo>
                  <a:lnTo>
                    <a:pt x="4799" y="6490"/>
                  </a:lnTo>
                  <a:close/>
                </a:path>
              </a:pathLst>
            </a:custGeom>
            <a:solidFill>
              <a:srgbClr val="3ABABA"/>
            </a:solidFill>
            <a:ln>
              <a:noFill/>
            </a:ln>
          </p:spPr>
        </p:sp>
        <p:sp>
          <p:nvSpPr>
            <p:cNvPr id="12" name="文本框 11"/>
            <p:cNvSpPr txBox="1"/>
            <p:nvPr/>
          </p:nvSpPr>
          <p:spPr bwMode="auto">
            <a:xfrm>
              <a:off x="4223792" y="2600908"/>
              <a:ext cx="648072" cy="28803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200" dirty="0">
                  <a:solidFill>
                    <a:srgbClr val="000000"/>
                  </a:solidFill>
                  <a:latin typeface="Arial" panose="020B0604020202020204" pitchFamily="34" charset="0"/>
                  <a:ea typeface="+mn-ea"/>
                  <a:cs typeface="Arial" pitchFamily="34" charset="0"/>
                </a:rPr>
                <a:t>raw</a:t>
              </a:r>
            </a:p>
          </p:txBody>
        </p:sp>
      </p:grpSp>
      <p:grpSp>
        <p:nvGrpSpPr>
          <p:cNvPr id="13" name="组合 12"/>
          <p:cNvGrpSpPr/>
          <p:nvPr/>
        </p:nvGrpSpPr>
        <p:grpSpPr>
          <a:xfrm>
            <a:off x="3647728" y="2204864"/>
            <a:ext cx="648072" cy="609685"/>
            <a:chOff x="4223792" y="2384884"/>
            <a:chExt cx="648072" cy="609685"/>
          </a:xfrm>
        </p:grpSpPr>
        <p:sp>
          <p:nvSpPr>
            <p:cNvPr id="14" name="file_263091"/>
            <p:cNvSpPr>
              <a:spLocks noChangeAspect="1"/>
            </p:cNvSpPr>
            <p:nvPr/>
          </p:nvSpPr>
          <p:spPr bwMode="auto">
            <a:xfrm>
              <a:off x="4331804" y="2384884"/>
              <a:ext cx="457866" cy="609685"/>
            </a:xfrm>
            <a:custGeom>
              <a:avLst/>
              <a:gdLst>
                <a:gd name="T0" fmla="*/ 5119 w 5119"/>
                <a:gd name="T1" fmla="*/ 1729 h 6827"/>
                <a:gd name="T2" fmla="*/ 5072 w 5119"/>
                <a:gd name="T3" fmla="*/ 1621 h 6827"/>
                <a:gd name="T4" fmla="*/ 3498 w 5119"/>
                <a:gd name="T5" fmla="*/ 47 h 6827"/>
                <a:gd name="T6" fmla="*/ 3498 w 5119"/>
                <a:gd name="T7" fmla="*/ 47 h 6827"/>
                <a:gd name="T8" fmla="*/ 3385 w 5119"/>
                <a:gd name="T9" fmla="*/ 0 h 6827"/>
                <a:gd name="T10" fmla="*/ 336 w 5119"/>
                <a:gd name="T11" fmla="*/ 0 h 6827"/>
                <a:gd name="T12" fmla="*/ 0 w 5119"/>
                <a:gd name="T13" fmla="*/ 336 h 6827"/>
                <a:gd name="T14" fmla="*/ 0 w 5119"/>
                <a:gd name="T15" fmla="*/ 6490 h 6827"/>
                <a:gd name="T16" fmla="*/ 336 w 5119"/>
                <a:gd name="T17" fmla="*/ 6827 h 6827"/>
                <a:gd name="T18" fmla="*/ 4782 w 5119"/>
                <a:gd name="T19" fmla="*/ 6827 h 6827"/>
                <a:gd name="T20" fmla="*/ 5119 w 5119"/>
                <a:gd name="T21" fmla="*/ 6490 h 6827"/>
                <a:gd name="T22" fmla="*/ 5119 w 5119"/>
                <a:gd name="T23" fmla="*/ 1734 h 6827"/>
                <a:gd name="T24" fmla="*/ 5119 w 5119"/>
                <a:gd name="T25" fmla="*/ 1729 h 6827"/>
                <a:gd name="T26" fmla="*/ 3545 w 5119"/>
                <a:gd name="T27" fmla="*/ 546 h 6827"/>
                <a:gd name="T28" fmla="*/ 4573 w 5119"/>
                <a:gd name="T29" fmla="*/ 1574 h 6827"/>
                <a:gd name="T30" fmla="*/ 3612 w 5119"/>
                <a:gd name="T31" fmla="*/ 1574 h 6827"/>
                <a:gd name="T32" fmla="*/ 3545 w 5119"/>
                <a:gd name="T33" fmla="*/ 1507 h 6827"/>
                <a:gd name="T34" fmla="*/ 3545 w 5119"/>
                <a:gd name="T35" fmla="*/ 546 h 6827"/>
                <a:gd name="T36" fmla="*/ 4799 w 5119"/>
                <a:gd name="T37" fmla="*/ 6490 h 6827"/>
                <a:gd name="T38" fmla="*/ 4782 w 5119"/>
                <a:gd name="T39" fmla="*/ 6507 h 6827"/>
                <a:gd name="T40" fmla="*/ 336 w 5119"/>
                <a:gd name="T41" fmla="*/ 6507 h 6827"/>
                <a:gd name="T42" fmla="*/ 320 w 5119"/>
                <a:gd name="T43" fmla="*/ 6490 h 6827"/>
                <a:gd name="T44" fmla="*/ 320 w 5119"/>
                <a:gd name="T45" fmla="*/ 336 h 6827"/>
                <a:gd name="T46" fmla="*/ 336 w 5119"/>
                <a:gd name="T47" fmla="*/ 320 h 6827"/>
                <a:gd name="T48" fmla="*/ 3225 w 5119"/>
                <a:gd name="T49" fmla="*/ 320 h 6827"/>
                <a:gd name="T50" fmla="*/ 3225 w 5119"/>
                <a:gd name="T51" fmla="*/ 1507 h 6827"/>
                <a:gd name="T52" fmla="*/ 3612 w 5119"/>
                <a:gd name="T53" fmla="*/ 1894 h 6827"/>
                <a:gd name="T54" fmla="*/ 4799 w 5119"/>
                <a:gd name="T55" fmla="*/ 1894 h 6827"/>
                <a:gd name="T56" fmla="*/ 4799 w 5119"/>
                <a:gd name="T57" fmla="*/ 649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19" h="6827">
                  <a:moveTo>
                    <a:pt x="5119" y="1729"/>
                  </a:moveTo>
                  <a:cubicBezTo>
                    <a:pt x="5117" y="1689"/>
                    <a:pt x="5101" y="1650"/>
                    <a:pt x="5072" y="1621"/>
                  </a:cubicBezTo>
                  <a:lnTo>
                    <a:pt x="3498" y="47"/>
                  </a:lnTo>
                  <a:cubicBezTo>
                    <a:pt x="3498" y="47"/>
                    <a:pt x="3498" y="47"/>
                    <a:pt x="3498" y="47"/>
                  </a:cubicBezTo>
                  <a:cubicBezTo>
                    <a:pt x="3469" y="18"/>
                    <a:pt x="3429" y="0"/>
                    <a:pt x="3385" y="0"/>
                  </a:cubicBezTo>
                  <a:lnTo>
                    <a:pt x="336" y="0"/>
                  </a:lnTo>
                  <a:cubicBezTo>
                    <a:pt x="151" y="0"/>
                    <a:pt x="0" y="151"/>
                    <a:pt x="0" y="336"/>
                  </a:cubicBezTo>
                  <a:lnTo>
                    <a:pt x="0" y="6490"/>
                  </a:lnTo>
                  <a:cubicBezTo>
                    <a:pt x="0" y="6676"/>
                    <a:pt x="151" y="6827"/>
                    <a:pt x="336" y="6827"/>
                  </a:cubicBezTo>
                  <a:lnTo>
                    <a:pt x="4782" y="6827"/>
                  </a:lnTo>
                  <a:cubicBezTo>
                    <a:pt x="4968" y="6827"/>
                    <a:pt x="5119" y="6676"/>
                    <a:pt x="5119" y="6490"/>
                  </a:cubicBezTo>
                  <a:lnTo>
                    <a:pt x="5119" y="1734"/>
                  </a:lnTo>
                  <a:cubicBezTo>
                    <a:pt x="5119" y="1732"/>
                    <a:pt x="5119" y="1731"/>
                    <a:pt x="5119" y="1729"/>
                  </a:cubicBezTo>
                  <a:close/>
                  <a:moveTo>
                    <a:pt x="3545" y="546"/>
                  </a:moveTo>
                  <a:lnTo>
                    <a:pt x="4573" y="1574"/>
                  </a:lnTo>
                  <a:lnTo>
                    <a:pt x="3612" y="1574"/>
                  </a:lnTo>
                  <a:cubicBezTo>
                    <a:pt x="3575" y="1574"/>
                    <a:pt x="3545" y="1544"/>
                    <a:pt x="3545" y="1507"/>
                  </a:cubicBezTo>
                  <a:lnTo>
                    <a:pt x="3545" y="546"/>
                  </a:lnTo>
                  <a:close/>
                  <a:moveTo>
                    <a:pt x="4799" y="6490"/>
                  </a:moveTo>
                  <a:cubicBezTo>
                    <a:pt x="4799" y="6499"/>
                    <a:pt x="4792" y="6507"/>
                    <a:pt x="4782" y="6507"/>
                  </a:cubicBezTo>
                  <a:lnTo>
                    <a:pt x="336" y="6507"/>
                  </a:lnTo>
                  <a:cubicBezTo>
                    <a:pt x="327" y="6507"/>
                    <a:pt x="320" y="6499"/>
                    <a:pt x="320" y="6490"/>
                  </a:cubicBezTo>
                  <a:lnTo>
                    <a:pt x="320" y="336"/>
                  </a:lnTo>
                  <a:cubicBezTo>
                    <a:pt x="320" y="327"/>
                    <a:pt x="327" y="320"/>
                    <a:pt x="336" y="320"/>
                  </a:cubicBezTo>
                  <a:lnTo>
                    <a:pt x="3225" y="320"/>
                  </a:lnTo>
                  <a:lnTo>
                    <a:pt x="3225" y="1507"/>
                  </a:lnTo>
                  <a:cubicBezTo>
                    <a:pt x="3225" y="1720"/>
                    <a:pt x="3399" y="1894"/>
                    <a:pt x="3612" y="1894"/>
                  </a:cubicBezTo>
                  <a:lnTo>
                    <a:pt x="4799" y="1894"/>
                  </a:lnTo>
                  <a:lnTo>
                    <a:pt x="4799" y="6490"/>
                  </a:lnTo>
                  <a:close/>
                </a:path>
              </a:pathLst>
            </a:custGeom>
            <a:solidFill>
              <a:srgbClr val="3ABABA"/>
            </a:solidFill>
            <a:ln>
              <a:noFill/>
            </a:ln>
          </p:spPr>
        </p:sp>
        <p:sp>
          <p:nvSpPr>
            <p:cNvPr id="15" name="文本框 14"/>
            <p:cNvSpPr txBox="1"/>
            <p:nvPr/>
          </p:nvSpPr>
          <p:spPr bwMode="auto">
            <a:xfrm>
              <a:off x="4223792" y="2600908"/>
              <a:ext cx="648072" cy="28803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200" dirty="0">
                  <a:solidFill>
                    <a:srgbClr val="000000"/>
                  </a:solidFill>
                  <a:latin typeface="Arial" panose="020B0604020202020204" pitchFamily="34" charset="0"/>
                  <a:ea typeface="+mn-ea"/>
                  <a:cs typeface="Arial" pitchFamily="34" charset="0"/>
                </a:rPr>
                <a:t>vmdk</a:t>
              </a:r>
            </a:p>
          </p:txBody>
        </p:sp>
      </p:grpSp>
      <p:grpSp>
        <p:nvGrpSpPr>
          <p:cNvPr id="16" name="组合 15"/>
          <p:cNvGrpSpPr/>
          <p:nvPr/>
        </p:nvGrpSpPr>
        <p:grpSpPr>
          <a:xfrm>
            <a:off x="4295800" y="2204864"/>
            <a:ext cx="648072" cy="609685"/>
            <a:chOff x="4223792" y="2384884"/>
            <a:chExt cx="648072" cy="609685"/>
          </a:xfrm>
        </p:grpSpPr>
        <p:sp>
          <p:nvSpPr>
            <p:cNvPr id="17" name="file_263091"/>
            <p:cNvSpPr>
              <a:spLocks noChangeAspect="1"/>
            </p:cNvSpPr>
            <p:nvPr/>
          </p:nvSpPr>
          <p:spPr bwMode="auto">
            <a:xfrm>
              <a:off x="4331804" y="2384884"/>
              <a:ext cx="457866" cy="609685"/>
            </a:xfrm>
            <a:custGeom>
              <a:avLst/>
              <a:gdLst>
                <a:gd name="T0" fmla="*/ 5119 w 5119"/>
                <a:gd name="T1" fmla="*/ 1729 h 6827"/>
                <a:gd name="T2" fmla="*/ 5072 w 5119"/>
                <a:gd name="T3" fmla="*/ 1621 h 6827"/>
                <a:gd name="T4" fmla="*/ 3498 w 5119"/>
                <a:gd name="T5" fmla="*/ 47 h 6827"/>
                <a:gd name="T6" fmla="*/ 3498 w 5119"/>
                <a:gd name="T7" fmla="*/ 47 h 6827"/>
                <a:gd name="T8" fmla="*/ 3385 w 5119"/>
                <a:gd name="T9" fmla="*/ 0 h 6827"/>
                <a:gd name="T10" fmla="*/ 336 w 5119"/>
                <a:gd name="T11" fmla="*/ 0 h 6827"/>
                <a:gd name="T12" fmla="*/ 0 w 5119"/>
                <a:gd name="T13" fmla="*/ 336 h 6827"/>
                <a:gd name="T14" fmla="*/ 0 w 5119"/>
                <a:gd name="T15" fmla="*/ 6490 h 6827"/>
                <a:gd name="T16" fmla="*/ 336 w 5119"/>
                <a:gd name="T17" fmla="*/ 6827 h 6827"/>
                <a:gd name="T18" fmla="*/ 4782 w 5119"/>
                <a:gd name="T19" fmla="*/ 6827 h 6827"/>
                <a:gd name="T20" fmla="*/ 5119 w 5119"/>
                <a:gd name="T21" fmla="*/ 6490 h 6827"/>
                <a:gd name="T22" fmla="*/ 5119 w 5119"/>
                <a:gd name="T23" fmla="*/ 1734 h 6827"/>
                <a:gd name="T24" fmla="*/ 5119 w 5119"/>
                <a:gd name="T25" fmla="*/ 1729 h 6827"/>
                <a:gd name="T26" fmla="*/ 3545 w 5119"/>
                <a:gd name="T27" fmla="*/ 546 h 6827"/>
                <a:gd name="T28" fmla="*/ 4573 w 5119"/>
                <a:gd name="T29" fmla="*/ 1574 h 6827"/>
                <a:gd name="T30" fmla="*/ 3612 w 5119"/>
                <a:gd name="T31" fmla="*/ 1574 h 6827"/>
                <a:gd name="T32" fmla="*/ 3545 w 5119"/>
                <a:gd name="T33" fmla="*/ 1507 h 6827"/>
                <a:gd name="T34" fmla="*/ 3545 w 5119"/>
                <a:gd name="T35" fmla="*/ 546 h 6827"/>
                <a:gd name="T36" fmla="*/ 4799 w 5119"/>
                <a:gd name="T37" fmla="*/ 6490 h 6827"/>
                <a:gd name="T38" fmla="*/ 4782 w 5119"/>
                <a:gd name="T39" fmla="*/ 6507 h 6827"/>
                <a:gd name="T40" fmla="*/ 336 w 5119"/>
                <a:gd name="T41" fmla="*/ 6507 h 6827"/>
                <a:gd name="T42" fmla="*/ 320 w 5119"/>
                <a:gd name="T43" fmla="*/ 6490 h 6827"/>
                <a:gd name="T44" fmla="*/ 320 w 5119"/>
                <a:gd name="T45" fmla="*/ 336 h 6827"/>
                <a:gd name="T46" fmla="*/ 336 w 5119"/>
                <a:gd name="T47" fmla="*/ 320 h 6827"/>
                <a:gd name="T48" fmla="*/ 3225 w 5119"/>
                <a:gd name="T49" fmla="*/ 320 h 6827"/>
                <a:gd name="T50" fmla="*/ 3225 w 5119"/>
                <a:gd name="T51" fmla="*/ 1507 h 6827"/>
                <a:gd name="T52" fmla="*/ 3612 w 5119"/>
                <a:gd name="T53" fmla="*/ 1894 h 6827"/>
                <a:gd name="T54" fmla="*/ 4799 w 5119"/>
                <a:gd name="T55" fmla="*/ 1894 h 6827"/>
                <a:gd name="T56" fmla="*/ 4799 w 5119"/>
                <a:gd name="T57" fmla="*/ 649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19" h="6827">
                  <a:moveTo>
                    <a:pt x="5119" y="1729"/>
                  </a:moveTo>
                  <a:cubicBezTo>
                    <a:pt x="5117" y="1689"/>
                    <a:pt x="5101" y="1650"/>
                    <a:pt x="5072" y="1621"/>
                  </a:cubicBezTo>
                  <a:lnTo>
                    <a:pt x="3498" y="47"/>
                  </a:lnTo>
                  <a:cubicBezTo>
                    <a:pt x="3498" y="47"/>
                    <a:pt x="3498" y="47"/>
                    <a:pt x="3498" y="47"/>
                  </a:cubicBezTo>
                  <a:cubicBezTo>
                    <a:pt x="3469" y="18"/>
                    <a:pt x="3429" y="0"/>
                    <a:pt x="3385" y="0"/>
                  </a:cubicBezTo>
                  <a:lnTo>
                    <a:pt x="336" y="0"/>
                  </a:lnTo>
                  <a:cubicBezTo>
                    <a:pt x="151" y="0"/>
                    <a:pt x="0" y="151"/>
                    <a:pt x="0" y="336"/>
                  </a:cubicBezTo>
                  <a:lnTo>
                    <a:pt x="0" y="6490"/>
                  </a:lnTo>
                  <a:cubicBezTo>
                    <a:pt x="0" y="6676"/>
                    <a:pt x="151" y="6827"/>
                    <a:pt x="336" y="6827"/>
                  </a:cubicBezTo>
                  <a:lnTo>
                    <a:pt x="4782" y="6827"/>
                  </a:lnTo>
                  <a:cubicBezTo>
                    <a:pt x="4968" y="6827"/>
                    <a:pt x="5119" y="6676"/>
                    <a:pt x="5119" y="6490"/>
                  </a:cubicBezTo>
                  <a:lnTo>
                    <a:pt x="5119" y="1734"/>
                  </a:lnTo>
                  <a:cubicBezTo>
                    <a:pt x="5119" y="1732"/>
                    <a:pt x="5119" y="1731"/>
                    <a:pt x="5119" y="1729"/>
                  </a:cubicBezTo>
                  <a:close/>
                  <a:moveTo>
                    <a:pt x="3545" y="546"/>
                  </a:moveTo>
                  <a:lnTo>
                    <a:pt x="4573" y="1574"/>
                  </a:lnTo>
                  <a:lnTo>
                    <a:pt x="3612" y="1574"/>
                  </a:lnTo>
                  <a:cubicBezTo>
                    <a:pt x="3575" y="1574"/>
                    <a:pt x="3545" y="1544"/>
                    <a:pt x="3545" y="1507"/>
                  </a:cubicBezTo>
                  <a:lnTo>
                    <a:pt x="3545" y="546"/>
                  </a:lnTo>
                  <a:close/>
                  <a:moveTo>
                    <a:pt x="4799" y="6490"/>
                  </a:moveTo>
                  <a:cubicBezTo>
                    <a:pt x="4799" y="6499"/>
                    <a:pt x="4792" y="6507"/>
                    <a:pt x="4782" y="6507"/>
                  </a:cubicBezTo>
                  <a:lnTo>
                    <a:pt x="336" y="6507"/>
                  </a:lnTo>
                  <a:cubicBezTo>
                    <a:pt x="327" y="6507"/>
                    <a:pt x="320" y="6499"/>
                    <a:pt x="320" y="6490"/>
                  </a:cubicBezTo>
                  <a:lnTo>
                    <a:pt x="320" y="336"/>
                  </a:lnTo>
                  <a:cubicBezTo>
                    <a:pt x="320" y="327"/>
                    <a:pt x="327" y="320"/>
                    <a:pt x="336" y="320"/>
                  </a:cubicBezTo>
                  <a:lnTo>
                    <a:pt x="3225" y="320"/>
                  </a:lnTo>
                  <a:lnTo>
                    <a:pt x="3225" y="1507"/>
                  </a:lnTo>
                  <a:cubicBezTo>
                    <a:pt x="3225" y="1720"/>
                    <a:pt x="3399" y="1894"/>
                    <a:pt x="3612" y="1894"/>
                  </a:cubicBezTo>
                  <a:lnTo>
                    <a:pt x="4799" y="1894"/>
                  </a:lnTo>
                  <a:lnTo>
                    <a:pt x="4799" y="6490"/>
                  </a:lnTo>
                  <a:close/>
                </a:path>
              </a:pathLst>
            </a:custGeom>
            <a:solidFill>
              <a:srgbClr val="3ABABA"/>
            </a:solidFill>
            <a:ln>
              <a:noFill/>
            </a:ln>
          </p:spPr>
        </p:sp>
        <p:sp>
          <p:nvSpPr>
            <p:cNvPr id="18" name="文本框 17"/>
            <p:cNvSpPr txBox="1"/>
            <p:nvPr/>
          </p:nvSpPr>
          <p:spPr bwMode="auto">
            <a:xfrm>
              <a:off x="4223792" y="2600908"/>
              <a:ext cx="648072" cy="28803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200" dirty="0">
                  <a:solidFill>
                    <a:srgbClr val="000000"/>
                  </a:solidFill>
                  <a:latin typeface="Arial" panose="020B0604020202020204" pitchFamily="34" charset="0"/>
                  <a:ea typeface="+mn-ea"/>
                  <a:cs typeface="Arial" pitchFamily="34" charset="0"/>
                </a:rPr>
                <a:t>vhd</a:t>
              </a:r>
            </a:p>
          </p:txBody>
        </p:sp>
      </p:grpSp>
      <p:grpSp>
        <p:nvGrpSpPr>
          <p:cNvPr id="19" name="组合 18"/>
          <p:cNvGrpSpPr/>
          <p:nvPr/>
        </p:nvGrpSpPr>
        <p:grpSpPr>
          <a:xfrm>
            <a:off x="4943872" y="2204864"/>
            <a:ext cx="684076" cy="609685"/>
            <a:chOff x="4223792" y="2384884"/>
            <a:chExt cx="684076" cy="609685"/>
          </a:xfrm>
        </p:grpSpPr>
        <p:sp>
          <p:nvSpPr>
            <p:cNvPr id="20" name="file_263091"/>
            <p:cNvSpPr>
              <a:spLocks noChangeAspect="1"/>
            </p:cNvSpPr>
            <p:nvPr/>
          </p:nvSpPr>
          <p:spPr bwMode="auto">
            <a:xfrm>
              <a:off x="4331804" y="2384884"/>
              <a:ext cx="457866" cy="609685"/>
            </a:xfrm>
            <a:custGeom>
              <a:avLst/>
              <a:gdLst>
                <a:gd name="T0" fmla="*/ 5119 w 5119"/>
                <a:gd name="T1" fmla="*/ 1729 h 6827"/>
                <a:gd name="T2" fmla="*/ 5072 w 5119"/>
                <a:gd name="T3" fmla="*/ 1621 h 6827"/>
                <a:gd name="T4" fmla="*/ 3498 w 5119"/>
                <a:gd name="T5" fmla="*/ 47 h 6827"/>
                <a:gd name="T6" fmla="*/ 3498 w 5119"/>
                <a:gd name="T7" fmla="*/ 47 h 6827"/>
                <a:gd name="T8" fmla="*/ 3385 w 5119"/>
                <a:gd name="T9" fmla="*/ 0 h 6827"/>
                <a:gd name="T10" fmla="*/ 336 w 5119"/>
                <a:gd name="T11" fmla="*/ 0 h 6827"/>
                <a:gd name="T12" fmla="*/ 0 w 5119"/>
                <a:gd name="T13" fmla="*/ 336 h 6827"/>
                <a:gd name="T14" fmla="*/ 0 w 5119"/>
                <a:gd name="T15" fmla="*/ 6490 h 6827"/>
                <a:gd name="T16" fmla="*/ 336 w 5119"/>
                <a:gd name="T17" fmla="*/ 6827 h 6827"/>
                <a:gd name="T18" fmla="*/ 4782 w 5119"/>
                <a:gd name="T19" fmla="*/ 6827 h 6827"/>
                <a:gd name="T20" fmla="*/ 5119 w 5119"/>
                <a:gd name="T21" fmla="*/ 6490 h 6827"/>
                <a:gd name="T22" fmla="*/ 5119 w 5119"/>
                <a:gd name="T23" fmla="*/ 1734 h 6827"/>
                <a:gd name="T24" fmla="*/ 5119 w 5119"/>
                <a:gd name="T25" fmla="*/ 1729 h 6827"/>
                <a:gd name="T26" fmla="*/ 3545 w 5119"/>
                <a:gd name="T27" fmla="*/ 546 h 6827"/>
                <a:gd name="T28" fmla="*/ 4573 w 5119"/>
                <a:gd name="T29" fmla="*/ 1574 h 6827"/>
                <a:gd name="T30" fmla="*/ 3612 w 5119"/>
                <a:gd name="T31" fmla="*/ 1574 h 6827"/>
                <a:gd name="T32" fmla="*/ 3545 w 5119"/>
                <a:gd name="T33" fmla="*/ 1507 h 6827"/>
                <a:gd name="T34" fmla="*/ 3545 w 5119"/>
                <a:gd name="T35" fmla="*/ 546 h 6827"/>
                <a:gd name="T36" fmla="*/ 4799 w 5119"/>
                <a:gd name="T37" fmla="*/ 6490 h 6827"/>
                <a:gd name="T38" fmla="*/ 4782 w 5119"/>
                <a:gd name="T39" fmla="*/ 6507 h 6827"/>
                <a:gd name="T40" fmla="*/ 336 w 5119"/>
                <a:gd name="T41" fmla="*/ 6507 h 6827"/>
                <a:gd name="T42" fmla="*/ 320 w 5119"/>
                <a:gd name="T43" fmla="*/ 6490 h 6827"/>
                <a:gd name="T44" fmla="*/ 320 w 5119"/>
                <a:gd name="T45" fmla="*/ 336 h 6827"/>
                <a:gd name="T46" fmla="*/ 336 w 5119"/>
                <a:gd name="T47" fmla="*/ 320 h 6827"/>
                <a:gd name="T48" fmla="*/ 3225 w 5119"/>
                <a:gd name="T49" fmla="*/ 320 h 6827"/>
                <a:gd name="T50" fmla="*/ 3225 w 5119"/>
                <a:gd name="T51" fmla="*/ 1507 h 6827"/>
                <a:gd name="T52" fmla="*/ 3612 w 5119"/>
                <a:gd name="T53" fmla="*/ 1894 h 6827"/>
                <a:gd name="T54" fmla="*/ 4799 w 5119"/>
                <a:gd name="T55" fmla="*/ 1894 h 6827"/>
                <a:gd name="T56" fmla="*/ 4799 w 5119"/>
                <a:gd name="T57" fmla="*/ 6490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19" h="6827">
                  <a:moveTo>
                    <a:pt x="5119" y="1729"/>
                  </a:moveTo>
                  <a:cubicBezTo>
                    <a:pt x="5117" y="1689"/>
                    <a:pt x="5101" y="1650"/>
                    <a:pt x="5072" y="1621"/>
                  </a:cubicBezTo>
                  <a:lnTo>
                    <a:pt x="3498" y="47"/>
                  </a:lnTo>
                  <a:cubicBezTo>
                    <a:pt x="3498" y="47"/>
                    <a:pt x="3498" y="47"/>
                    <a:pt x="3498" y="47"/>
                  </a:cubicBezTo>
                  <a:cubicBezTo>
                    <a:pt x="3469" y="18"/>
                    <a:pt x="3429" y="0"/>
                    <a:pt x="3385" y="0"/>
                  </a:cubicBezTo>
                  <a:lnTo>
                    <a:pt x="336" y="0"/>
                  </a:lnTo>
                  <a:cubicBezTo>
                    <a:pt x="151" y="0"/>
                    <a:pt x="0" y="151"/>
                    <a:pt x="0" y="336"/>
                  </a:cubicBezTo>
                  <a:lnTo>
                    <a:pt x="0" y="6490"/>
                  </a:lnTo>
                  <a:cubicBezTo>
                    <a:pt x="0" y="6676"/>
                    <a:pt x="151" y="6827"/>
                    <a:pt x="336" y="6827"/>
                  </a:cubicBezTo>
                  <a:lnTo>
                    <a:pt x="4782" y="6827"/>
                  </a:lnTo>
                  <a:cubicBezTo>
                    <a:pt x="4968" y="6827"/>
                    <a:pt x="5119" y="6676"/>
                    <a:pt x="5119" y="6490"/>
                  </a:cubicBezTo>
                  <a:lnTo>
                    <a:pt x="5119" y="1734"/>
                  </a:lnTo>
                  <a:cubicBezTo>
                    <a:pt x="5119" y="1732"/>
                    <a:pt x="5119" y="1731"/>
                    <a:pt x="5119" y="1729"/>
                  </a:cubicBezTo>
                  <a:close/>
                  <a:moveTo>
                    <a:pt x="3545" y="546"/>
                  </a:moveTo>
                  <a:lnTo>
                    <a:pt x="4573" y="1574"/>
                  </a:lnTo>
                  <a:lnTo>
                    <a:pt x="3612" y="1574"/>
                  </a:lnTo>
                  <a:cubicBezTo>
                    <a:pt x="3575" y="1574"/>
                    <a:pt x="3545" y="1544"/>
                    <a:pt x="3545" y="1507"/>
                  </a:cubicBezTo>
                  <a:lnTo>
                    <a:pt x="3545" y="546"/>
                  </a:lnTo>
                  <a:close/>
                  <a:moveTo>
                    <a:pt x="4799" y="6490"/>
                  </a:moveTo>
                  <a:cubicBezTo>
                    <a:pt x="4799" y="6499"/>
                    <a:pt x="4792" y="6507"/>
                    <a:pt x="4782" y="6507"/>
                  </a:cubicBezTo>
                  <a:lnTo>
                    <a:pt x="336" y="6507"/>
                  </a:lnTo>
                  <a:cubicBezTo>
                    <a:pt x="327" y="6507"/>
                    <a:pt x="320" y="6499"/>
                    <a:pt x="320" y="6490"/>
                  </a:cubicBezTo>
                  <a:lnTo>
                    <a:pt x="320" y="336"/>
                  </a:lnTo>
                  <a:cubicBezTo>
                    <a:pt x="320" y="327"/>
                    <a:pt x="327" y="320"/>
                    <a:pt x="336" y="320"/>
                  </a:cubicBezTo>
                  <a:lnTo>
                    <a:pt x="3225" y="320"/>
                  </a:lnTo>
                  <a:lnTo>
                    <a:pt x="3225" y="1507"/>
                  </a:lnTo>
                  <a:cubicBezTo>
                    <a:pt x="3225" y="1720"/>
                    <a:pt x="3399" y="1894"/>
                    <a:pt x="3612" y="1894"/>
                  </a:cubicBezTo>
                  <a:lnTo>
                    <a:pt x="4799" y="1894"/>
                  </a:lnTo>
                  <a:lnTo>
                    <a:pt x="4799" y="6490"/>
                  </a:lnTo>
                  <a:close/>
                </a:path>
              </a:pathLst>
            </a:custGeom>
            <a:solidFill>
              <a:srgbClr val="3ABABA"/>
            </a:solidFill>
            <a:ln>
              <a:noFill/>
            </a:ln>
          </p:spPr>
        </p:sp>
        <p:sp>
          <p:nvSpPr>
            <p:cNvPr id="21" name="文本框 20"/>
            <p:cNvSpPr txBox="1"/>
            <p:nvPr/>
          </p:nvSpPr>
          <p:spPr bwMode="auto">
            <a:xfrm>
              <a:off x="4223792" y="2600908"/>
              <a:ext cx="684076" cy="285614"/>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200" dirty="0">
                  <a:latin typeface="Arial" panose="020B0604020202020204" pitchFamily="34" charset="0"/>
                  <a:ea typeface="+mn-ea"/>
                  <a:cs typeface="Arial" pitchFamily="34" charset="0"/>
                </a:rPr>
                <a:t>others</a:t>
              </a:r>
            </a:p>
          </p:txBody>
        </p:sp>
      </p:grpSp>
      <p:sp>
        <p:nvSpPr>
          <p:cNvPr id="22"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3"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4"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5" name="hard-drive_77649"/>
          <p:cNvSpPr>
            <a:spLocks noChangeAspect="1"/>
          </p:cNvSpPr>
          <p:nvPr/>
        </p:nvSpPr>
        <p:spPr bwMode="auto">
          <a:xfrm>
            <a:off x="7574453"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cxnSp>
        <p:nvCxnSpPr>
          <p:cNvPr id="26" name="直接连接符 25"/>
          <p:cNvCxnSpPr/>
          <p:nvPr/>
        </p:nvCxnSpPr>
        <p:spPr bwMode="auto">
          <a:xfrm>
            <a:off x="6693376" y="1233488"/>
            <a:ext cx="14692" cy="5148262"/>
          </a:xfrm>
          <a:prstGeom prst="line">
            <a:avLst/>
          </a:prstGeom>
          <a:solidFill>
            <a:schemeClr val="accent1"/>
          </a:solidFill>
          <a:ln w="12700" cap="flat" cmpd="sng" algn="ctr">
            <a:solidFill>
              <a:schemeClr val="tx1"/>
            </a:solidFill>
            <a:prstDash val="dash"/>
            <a:round/>
            <a:headEnd type="none" w="med" len="med"/>
            <a:tailEnd type="none" w="med" len="med"/>
          </a:ln>
          <a:effectLst/>
        </p:spPr>
      </p:cxnSp>
      <p:sp>
        <p:nvSpPr>
          <p:cNvPr id="27" name="文本框 26"/>
          <p:cNvSpPr txBox="1"/>
          <p:nvPr/>
        </p:nvSpPr>
        <p:spPr bwMode="auto">
          <a:xfrm>
            <a:off x="5676570" y="1312989"/>
            <a:ext cx="1031498" cy="531835"/>
          </a:xfrm>
          <a:prstGeom prst="rect">
            <a:avLst/>
          </a:prstGeom>
          <a:noFill/>
          <a:ln w="9525">
            <a:noFill/>
            <a:miter lim="800000"/>
            <a:headEnd/>
            <a:tailEnd/>
          </a:ln>
        </p:spPr>
        <p:txBody>
          <a:bodyPr vert="horz"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Virtualized storage</a:t>
            </a:r>
          </a:p>
        </p:txBody>
      </p:sp>
      <p:grpSp>
        <p:nvGrpSpPr>
          <p:cNvPr id="28" name="组合 27"/>
          <p:cNvGrpSpPr/>
          <p:nvPr/>
        </p:nvGrpSpPr>
        <p:grpSpPr>
          <a:xfrm>
            <a:off x="3109003" y="4905164"/>
            <a:ext cx="430713" cy="546273"/>
            <a:chOff x="8407400" y="2055813"/>
            <a:chExt cx="360363" cy="458788"/>
          </a:xfrm>
          <a:solidFill>
            <a:srgbClr val="3ABABA"/>
          </a:solidFill>
        </p:grpSpPr>
        <p:sp>
          <p:nvSpPr>
            <p:cNvPr id="2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33" name="组合 32"/>
          <p:cNvGrpSpPr/>
          <p:nvPr/>
        </p:nvGrpSpPr>
        <p:grpSpPr>
          <a:xfrm>
            <a:off x="2407592" y="4905165"/>
            <a:ext cx="430713" cy="546273"/>
            <a:chOff x="8407400" y="2055813"/>
            <a:chExt cx="360363" cy="458788"/>
          </a:xfrm>
          <a:solidFill>
            <a:srgbClr val="3ABABA"/>
          </a:solidFill>
        </p:grpSpPr>
        <p:sp>
          <p:nvSpPr>
            <p:cNvPr id="34"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5"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6"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7"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38" name="组合 37"/>
          <p:cNvGrpSpPr/>
          <p:nvPr/>
        </p:nvGrpSpPr>
        <p:grpSpPr>
          <a:xfrm>
            <a:off x="1706182" y="4905165"/>
            <a:ext cx="430713" cy="546273"/>
            <a:chOff x="8407400" y="2055813"/>
            <a:chExt cx="360363" cy="458788"/>
          </a:xfrm>
          <a:solidFill>
            <a:srgbClr val="3ABABA"/>
          </a:solidFill>
        </p:grpSpPr>
        <p:sp>
          <p:nvSpPr>
            <p:cNvPr id="3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43" name="圆角矩形 42"/>
          <p:cNvSpPr/>
          <p:nvPr/>
        </p:nvSpPr>
        <p:spPr bwMode="auto">
          <a:xfrm>
            <a:off x="1127448" y="4221088"/>
            <a:ext cx="2629075" cy="1332148"/>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100" dirty="0">
                <a:latin typeface="Arial" panose="020B0604020202020204" pitchFamily="34" charset="0"/>
                <a:ea typeface="+mn-ea"/>
                <a:cs typeface="+mn-ea"/>
                <a:sym typeface="+mn-lt"/>
              </a:rPr>
              <a:t>NAS</a:t>
            </a:r>
          </a:p>
          <a:p>
            <a:r>
              <a:rPr lang="en-US" sz="1100" dirty="0">
                <a:latin typeface="Arial" panose="020B0604020202020204" pitchFamily="34" charset="0"/>
                <a:ea typeface="+mn-ea"/>
                <a:cs typeface="+mn-ea"/>
                <a:sym typeface="+mn-lt"/>
              </a:rPr>
              <a:t>Storage</a:t>
            </a:r>
          </a:p>
        </p:txBody>
      </p:sp>
      <p:sp>
        <p:nvSpPr>
          <p:cNvPr id="44" name="圆角矩形 43"/>
          <p:cNvSpPr/>
          <p:nvPr/>
        </p:nvSpPr>
        <p:spPr bwMode="auto">
          <a:xfrm>
            <a:off x="1199456" y="4797152"/>
            <a:ext cx="2484276"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latin typeface="Arial" panose="020B0604020202020204" pitchFamily="34" charset="0"/>
                <a:ea typeface="+mn-ea"/>
                <a:cs typeface="+mn-ea"/>
                <a:sym typeface="+mn-lt"/>
              </a:rPr>
              <a:t>Storage</a:t>
            </a:r>
          </a:p>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Pool</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sp>
        <p:nvSpPr>
          <p:cNvPr id="45" name="addition-thick-symbol_20183"/>
          <p:cNvSpPr>
            <a:spLocks noChangeAspect="1"/>
          </p:cNvSpPr>
          <p:nvPr/>
        </p:nvSpPr>
        <p:spPr bwMode="auto">
          <a:xfrm flipV="1">
            <a:off x="2279576" y="4473116"/>
            <a:ext cx="324489" cy="324036"/>
          </a:xfrm>
          <a:custGeom>
            <a:avLst/>
            <a:gdLst>
              <a:gd name="T0" fmla="*/ 1803 w 3606"/>
              <a:gd name="T1" fmla="*/ 0 h 3606"/>
              <a:gd name="T2" fmla="*/ 1465 w 3606"/>
              <a:gd name="T3" fmla="*/ 338 h 3606"/>
              <a:gd name="T4" fmla="*/ 1465 w 3606"/>
              <a:gd name="T5" fmla="*/ 1465 h 3606"/>
              <a:gd name="T6" fmla="*/ 338 w 3606"/>
              <a:gd name="T7" fmla="*/ 1465 h 3606"/>
              <a:gd name="T8" fmla="*/ 0 w 3606"/>
              <a:gd name="T9" fmla="*/ 1803 h 3606"/>
              <a:gd name="T10" fmla="*/ 338 w 3606"/>
              <a:gd name="T11" fmla="*/ 2141 h 3606"/>
              <a:gd name="T12" fmla="*/ 1465 w 3606"/>
              <a:gd name="T13" fmla="*/ 2141 h 3606"/>
              <a:gd name="T14" fmla="*/ 1465 w 3606"/>
              <a:gd name="T15" fmla="*/ 3268 h 3606"/>
              <a:gd name="T16" fmla="*/ 1803 w 3606"/>
              <a:gd name="T17" fmla="*/ 3606 h 3606"/>
              <a:gd name="T18" fmla="*/ 2141 w 3606"/>
              <a:gd name="T19" fmla="*/ 3268 h 3606"/>
              <a:gd name="T20" fmla="*/ 2141 w 3606"/>
              <a:gd name="T21" fmla="*/ 2141 h 3606"/>
              <a:gd name="T22" fmla="*/ 3268 w 3606"/>
              <a:gd name="T23" fmla="*/ 2141 h 3606"/>
              <a:gd name="T24" fmla="*/ 3606 w 3606"/>
              <a:gd name="T25" fmla="*/ 1803 h 3606"/>
              <a:gd name="T26" fmla="*/ 3268 w 3606"/>
              <a:gd name="T27" fmla="*/ 1465 h 3606"/>
              <a:gd name="T28" fmla="*/ 2141 w 3606"/>
              <a:gd name="T29" fmla="*/ 1465 h 3606"/>
              <a:gd name="T30" fmla="*/ 2141 w 3606"/>
              <a:gd name="T31" fmla="*/ 338 h 3606"/>
              <a:gd name="T32" fmla="*/ 1803 w 3606"/>
              <a:gd name="T33" fmla="*/ 0 h 3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06" h="3606">
                <a:moveTo>
                  <a:pt x="1803" y="0"/>
                </a:moveTo>
                <a:cubicBezTo>
                  <a:pt x="1616" y="0"/>
                  <a:pt x="1465" y="151"/>
                  <a:pt x="1465" y="338"/>
                </a:cubicBezTo>
                <a:lnTo>
                  <a:pt x="1465" y="1465"/>
                </a:lnTo>
                <a:lnTo>
                  <a:pt x="338" y="1465"/>
                </a:lnTo>
                <a:cubicBezTo>
                  <a:pt x="151" y="1465"/>
                  <a:pt x="0" y="1616"/>
                  <a:pt x="0" y="1803"/>
                </a:cubicBezTo>
                <a:cubicBezTo>
                  <a:pt x="0" y="1990"/>
                  <a:pt x="151" y="2141"/>
                  <a:pt x="338" y="2141"/>
                </a:cubicBezTo>
                <a:lnTo>
                  <a:pt x="1465" y="2141"/>
                </a:lnTo>
                <a:lnTo>
                  <a:pt x="1465" y="3268"/>
                </a:lnTo>
                <a:cubicBezTo>
                  <a:pt x="1465" y="3455"/>
                  <a:pt x="1616" y="3606"/>
                  <a:pt x="1803" y="3606"/>
                </a:cubicBezTo>
                <a:cubicBezTo>
                  <a:pt x="1990" y="3606"/>
                  <a:pt x="2141" y="3455"/>
                  <a:pt x="2141" y="3268"/>
                </a:cubicBezTo>
                <a:lnTo>
                  <a:pt x="2141" y="2141"/>
                </a:lnTo>
                <a:lnTo>
                  <a:pt x="3268" y="2141"/>
                </a:lnTo>
                <a:cubicBezTo>
                  <a:pt x="3455" y="2141"/>
                  <a:pt x="3606" y="1990"/>
                  <a:pt x="3606" y="1803"/>
                </a:cubicBezTo>
                <a:cubicBezTo>
                  <a:pt x="3606" y="1616"/>
                  <a:pt x="3455" y="1465"/>
                  <a:pt x="3268" y="1465"/>
                </a:cubicBezTo>
                <a:lnTo>
                  <a:pt x="2141" y="1465"/>
                </a:lnTo>
                <a:lnTo>
                  <a:pt x="2141" y="338"/>
                </a:lnTo>
                <a:cubicBezTo>
                  <a:pt x="2141" y="151"/>
                  <a:pt x="1990" y="0"/>
                  <a:pt x="180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46" name="文本框 45"/>
          <p:cNvSpPr txBox="1"/>
          <p:nvPr/>
        </p:nvSpPr>
        <p:spPr bwMode="auto">
          <a:xfrm>
            <a:off x="1883532" y="4192728"/>
            <a:ext cx="118656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File System</a:t>
            </a:r>
          </a:p>
        </p:txBody>
      </p:sp>
      <p:grpSp>
        <p:nvGrpSpPr>
          <p:cNvPr id="47" name="组合 46"/>
          <p:cNvGrpSpPr/>
          <p:nvPr/>
        </p:nvGrpSpPr>
        <p:grpSpPr>
          <a:xfrm>
            <a:off x="5845307" y="4905164"/>
            <a:ext cx="430713" cy="546273"/>
            <a:chOff x="8407400" y="2055813"/>
            <a:chExt cx="360363" cy="458788"/>
          </a:xfrm>
          <a:solidFill>
            <a:srgbClr val="3ABABA"/>
          </a:solidFill>
        </p:grpSpPr>
        <p:sp>
          <p:nvSpPr>
            <p:cNvPr id="48"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9"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0"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1"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52" name="组合 51"/>
          <p:cNvGrpSpPr/>
          <p:nvPr/>
        </p:nvGrpSpPr>
        <p:grpSpPr>
          <a:xfrm>
            <a:off x="5143896" y="4905165"/>
            <a:ext cx="430713" cy="546273"/>
            <a:chOff x="8407400" y="2055813"/>
            <a:chExt cx="360363" cy="458788"/>
          </a:xfrm>
          <a:solidFill>
            <a:srgbClr val="3ABABA"/>
          </a:solidFill>
        </p:grpSpPr>
        <p:sp>
          <p:nvSpPr>
            <p:cNvPr id="53"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4"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5"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6"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57" name="组合 56"/>
          <p:cNvGrpSpPr/>
          <p:nvPr/>
        </p:nvGrpSpPr>
        <p:grpSpPr>
          <a:xfrm>
            <a:off x="4442486" y="4905165"/>
            <a:ext cx="430713" cy="546273"/>
            <a:chOff x="8407400" y="2055813"/>
            <a:chExt cx="360363" cy="458788"/>
          </a:xfrm>
          <a:solidFill>
            <a:srgbClr val="3ABABA"/>
          </a:solidFill>
        </p:grpSpPr>
        <p:sp>
          <p:nvSpPr>
            <p:cNvPr id="58"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59"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60"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61"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62" name="圆角矩形 61"/>
          <p:cNvSpPr/>
          <p:nvPr/>
        </p:nvSpPr>
        <p:spPr bwMode="auto">
          <a:xfrm>
            <a:off x="3862969" y="4221088"/>
            <a:ext cx="2629075" cy="1332148"/>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100" dirty="0">
                <a:latin typeface="Arial" panose="020B0604020202020204" pitchFamily="34" charset="0"/>
                <a:ea typeface="+mn-ea"/>
                <a:cs typeface="+mn-ea"/>
                <a:sym typeface="+mn-lt"/>
              </a:rPr>
              <a:t>SAN</a:t>
            </a:r>
          </a:p>
          <a:p>
            <a:r>
              <a:rPr lang="en-US" sz="1100" dirty="0">
                <a:latin typeface="Arial" panose="020B0604020202020204" pitchFamily="34" charset="0"/>
                <a:ea typeface="+mn-ea"/>
                <a:cs typeface="+mn-ea"/>
                <a:sym typeface="+mn-lt"/>
              </a:rPr>
              <a:t>Storage</a:t>
            </a:r>
          </a:p>
        </p:txBody>
      </p:sp>
      <p:sp>
        <p:nvSpPr>
          <p:cNvPr id="63" name="圆角矩形 62"/>
          <p:cNvSpPr/>
          <p:nvPr/>
        </p:nvSpPr>
        <p:spPr bwMode="auto">
          <a:xfrm>
            <a:off x="3934977" y="4797152"/>
            <a:ext cx="2484276"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latin typeface="Arial" panose="020B0604020202020204" pitchFamily="34" charset="0"/>
                <a:ea typeface="+mn-ea"/>
                <a:cs typeface="+mn-ea"/>
                <a:sym typeface="+mn-lt"/>
              </a:rPr>
              <a:t>Storage</a:t>
            </a:r>
          </a:p>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Pool</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sp>
        <p:nvSpPr>
          <p:cNvPr id="64" name="addition-thick-symbol_20183"/>
          <p:cNvSpPr>
            <a:spLocks noChangeAspect="1"/>
          </p:cNvSpPr>
          <p:nvPr/>
        </p:nvSpPr>
        <p:spPr bwMode="auto">
          <a:xfrm flipV="1">
            <a:off x="5015097" y="4473116"/>
            <a:ext cx="324489" cy="324036"/>
          </a:xfrm>
          <a:custGeom>
            <a:avLst/>
            <a:gdLst>
              <a:gd name="T0" fmla="*/ 1803 w 3606"/>
              <a:gd name="T1" fmla="*/ 0 h 3606"/>
              <a:gd name="T2" fmla="*/ 1465 w 3606"/>
              <a:gd name="T3" fmla="*/ 338 h 3606"/>
              <a:gd name="T4" fmla="*/ 1465 w 3606"/>
              <a:gd name="T5" fmla="*/ 1465 h 3606"/>
              <a:gd name="T6" fmla="*/ 338 w 3606"/>
              <a:gd name="T7" fmla="*/ 1465 h 3606"/>
              <a:gd name="T8" fmla="*/ 0 w 3606"/>
              <a:gd name="T9" fmla="*/ 1803 h 3606"/>
              <a:gd name="T10" fmla="*/ 338 w 3606"/>
              <a:gd name="T11" fmla="*/ 2141 h 3606"/>
              <a:gd name="T12" fmla="*/ 1465 w 3606"/>
              <a:gd name="T13" fmla="*/ 2141 h 3606"/>
              <a:gd name="T14" fmla="*/ 1465 w 3606"/>
              <a:gd name="T15" fmla="*/ 3268 h 3606"/>
              <a:gd name="T16" fmla="*/ 1803 w 3606"/>
              <a:gd name="T17" fmla="*/ 3606 h 3606"/>
              <a:gd name="T18" fmla="*/ 2141 w 3606"/>
              <a:gd name="T19" fmla="*/ 3268 h 3606"/>
              <a:gd name="T20" fmla="*/ 2141 w 3606"/>
              <a:gd name="T21" fmla="*/ 2141 h 3606"/>
              <a:gd name="T22" fmla="*/ 3268 w 3606"/>
              <a:gd name="T23" fmla="*/ 2141 h 3606"/>
              <a:gd name="T24" fmla="*/ 3606 w 3606"/>
              <a:gd name="T25" fmla="*/ 1803 h 3606"/>
              <a:gd name="T26" fmla="*/ 3268 w 3606"/>
              <a:gd name="T27" fmla="*/ 1465 h 3606"/>
              <a:gd name="T28" fmla="*/ 2141 w 3606"/>
              <a:gd name="T29" fmla="*/ 1465 h 3606"/>
              <a:gd name="T30" fmla="*/ 2141 w 3606"/>
              <a:gd name="T31" fmla="*/ 338 h 3606"/>
              <a:gd name="T32" fmla="*/ 1803 w 3606"/>
              <a:gd name="T33" fmla="*/ 0 h 3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06" h="3606">
                <a:moveTo>
                  <a:pt x="1803" y="0"/>
                </a:moveTo>
                <a:cubicBezTo>
                  <a:pt x="1616" y="0"/>
                  <a:pt x="1465" y="151"/>
                  <a:pt x="1465" y="338"/>
                </a:cubicBezTo>
                <a:lnTo>
                  <a:pt x="1465" y="1465"/>
                </a:lnTo>
                <a:lnTo>
                  <a:pt x="338" y="1465"/>
                </a:lnTo>
                <a:cubicBezTo>
                  <a:pt x="151" y="1465"/>
                  <a:pt x="0" y="1616"/>
                  <a:pt x="0" y="1803"/>
                </a:cubicBezTo>
                <a:cubicBezTo>
                  <a:pt x="0" y="1990"/>
                  <a:pt x="151" y="2141"/>
                  <a:pt x="338" y="2141"/>
                </a:cubicBezTo>
                <a:lnTo>
                  <a:pt x="1465" y="2141"/>
                </a:lnTo>
                <a:lnTo>
                  <a:pt x="1465" y="3268"/>
                </a:lnTo>
                <a:cubicBezTo>
                  <a:pt x="1465" y="3455"/>
                  <a:pt x="1616" y="3606"/>
                  <a:pt x="1803" y="3606"/>
                </a:cubicBezTo>
                <a:cubicBezTo>
                  <a:pt x="1990" y="3606"/>
                  <a:pt x="2141" y="3455"/>
                  <a:pt x="2141" y="3268"/>
                </a:cubicBezTo>
                <a:lnTo>
                  <a:pt x="2141" y="2141"/>
                </a:lnTo>
                <a:lnTo>
                  <a:pt x="3268" y="2141"/>
                </a:lnTo>
                <a:cubicBezTo>
                  <a:pt x="3455" y="2141"/>
                  <a:pt x="3606" y="1990"/>
                  <a:pt x="3606" y="1803"/>
                </a:cubicBezTo>
                <a:cubicBezTo>
                  <a:pt x="3606" y="1616"/>
                  <a:pt x="3455" y="1465"/>
                  <a:pt x="3268" y="1465"/>
                </a:cubicBezTo>
                <a:lnTo>
                  <a:pt x="2141" y="1465"/>
                </a:lnTo>
                <a:lnTo>
                  <a:pt x="2141" y="338"/>
                </a:lnTo>
                <a:cubicBezTo>
                  <a:pt x="2141" y="151"/>
                  <a:pt x="1990" y="0"/>
                  <a:pt x="180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5" name="文本框 64"/>
          <p:cNvSpPr txBox="1"/>
          <p:nvPr/>
        </p:nvSpPr>
        <p:spPr bwMode="auto">
          <a:xfrm>
            <a:off x="4475820" y="4192728"/>
            <a:ext cx="1558834"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a:t>
            </a:r>
            <a:r>
              <a:rPr lang="en-US" sz="1400" dirty="0" smtClean="0">
                <a:solidFill>
                  <a:srgbClr val="000000"/>
                </a:solidFill>
                <a:latin typeface="Arial" panose="020B0604020202020204" pitchFamily="34" charset="0"/>
                <a:ea typeface="+mn-ea"/>
                <a:cs typeface="Arial" pitchFamily="34" charset="0"/>
              </a:rPr>
              <a:t>Division</a:t>
            </a:r>
            <a:endParaRPr lang="en-US" sz="1400" dirty="0">
              <a:solidFill>
                <a:srgbClr val="000000"/>
              </a:solidFill>
              <a:latin typeface="Arial" panose="020B0604020202020204" pitchFamily="34" charset="0"/>
              <a:ea typeface="+mn-ea"/>
              <a:cs typeface="Arial" pitchFamily="34" charset="0"/>
            </a:endParaRPr>
          </a:p>
        </p:txBody>
      </p:sp>
      <p:sp>
        <p:nvSpPr>
          <p:cNvPr id="66" name="圆角矩形 65"/>
          <p:cNvSpPr/>
          <p:nvPr/>
        </p:nvSpPr>
        <p:spPr bwMode="auto">
          <a:xfrm>
            <a:off x="3863752" y="3645024"/>
            <a:ext cx="7416824" cy="504056"/>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Logical</a:t>
            </a:r>
          </a:p>
          <a:p>
            <a:pPr marL="0" marR="0" indent="0"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Volumes</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sp>
        <p:nvSpPr>
          <p:cNvPr id="67" name="addition-thick-symbol_20183"/>
          <p:cNvSpPr>
            <a:spLocks noChangeAspect="1"/>
          </p:cNvSpPr>
          <p:nvPr/>
        </p:nvSpPr>
        <p:spPr bwMode="auto">
          <a:xfrm flipV="1">
            <a:off x="5015880" y="3313344"/>
            <a:ext cx="324489" cy="324036"/>
          </a:xfrm>
          <a:custGeom>
            <a:avLst/>
            <a:gdLst>
              <a:gd name="T0" fmla="*/ 1803 w 3606"/>
              <a:gd name="T1" fmla="*/ 0 h 3606"/>
              <a:gd name="T2" fmla="*/ 1465 w 3606"/>
              <a:gd name="T3" fmla="*/ 338 h 3606"/>
              <a:gd name="T4" fmla="*/ 1465 w 3606"/>
              <a:gd name="T5" fmla="*/ 1465 h 3606"/>
              <a:gd name="T6" fmla="*/ 338 w 3606"/>
              <a:gd name="T7" fmla="*/ 1465 h 3606"/>
              <a:gd name="T8" fmla="*/ 0 w 3606"/>
              <a:gd name="T9" fmla="*/ 1803 h 3606"/>
              <a:gd name="T10" fmla="*/ 338 w 3606"/>
              <a:gd name="T11" fmla="*/ 2141 h 3606"/>
              <a:gd name="T12" fmla="*/ 1465 w 3606"/>
              <a:gd name="T13" fmla="*/ 2141 h 3606"/>
              <a:gd name="T14" fmla="*/ 1465 w 3606"/>
              <a:gd name="T15" fmla="*/ 3268 h 3606"/>
              <a:gd name="T16" fmla="*/ 1803 w 3606"/>
              <a:gd name="T17" fmla="*/ 3606 h 3606"/>
              <a:gd name="T18" fmla="*/ 2141 w 3606"/>
              <a:gd name="T19" fmla="*/ 3268 h 3606"/>
              <a:gd name="T20" fmla="*/ 2141 w 3606"/>
              <a:gd name="T21" fmla="*/ 2141 h 3606"/>
              <a:gd name="T22" fmla="*/ 3268 w 3606"/>
              <a:gd name="T23" fmla="*/ 2141 h 3606"/>
              <a:gd name="T24" fmla="*/ 3606 w 3606"/>
              <a:gd name="T25" fmla="*/ 1803 h 3606"/>
              <a:gd name="T26" fmla="*/ 3268 w 3606"/>
              <a:gd name="T27" fmla="*/ 1465 h 3606"/>
              <a:gd name="T28" fmla="*/ 2141 w 3606"/>
              <a:gd name="T29" fmla="*/ 1465 h 3606"/>
              <a:gd name="T30" fmla="*/ 2141 w 3606"/>
              <a:gd name="T31" fmla="*/ 338 h 3606"/>
              <a:gd name="T32" fmla="*/ 1803 w 3606"/>
              <a:gd name="T33" fmla="*/ 0 h 3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06" h="3606">
                <a:moveTo>
                  <a:pt x="1803" y="0"/>
                </a:moveTo>
                <a:cubicBezTo>
                  <a:pt x="1616" y="0"/>
                  <a:pt x="1465" y="151"/>
                  <a:pt x="1465" y="338"/>
                </a:cubicBezTo>
                <a:lnTo>
                  <a:pt x="1465" y="1465"/>
                </a:lnTo>
                <a:lnTo>
                  <a:pt x="338" y="1465"/>
                </a:lnTo>
                <a:cubicBezTo>
                  <a:pt x="151" y="1465"/>
                  <a:pt x="0" y="1616"/>
                  <a:pt x="0" y="1803"/>
                </a:cubicBezTo>
                <a:cubicBezTo>
                  <a:pt x="0" y="1990"/>
                  <a:pt x="151" y="2141"/>
                  <a:pt x="338" y="2141"/>
                </a:cubicBezTo>
                <a:lnTo>
                  <a:pt x="1465" y="2141"/>
                </a:lnTo>
                <a:lnTo>
                  <a:pt x="1465" y="3268"/>
                </a:lnTo>
                <a:cubicBezTo>
                  <a:pt x="1465" y="3455"/>
                  <a:pt x="1616" y="3606"/>
                  <a:pt x="1803" y="3606"/>
                </a:cubicBezTo>
                <a:cubicBezTo>
                  <a:pt x="1990" y="3606"/>
                  <a:pt x="2141" y="3455"/>
                  <a:pt x="2141" y="3268"/>
                </a:cubicBezTo>
                <a:lnTo>
                  <a:pt x="2141" y="2141"/>
                </a:lnTo>
                <a:lnTo>
                  <a:pt x="3268" y="2141"/>
                </a:lnTo>
                <a:cubicBezTo>
                  <a:pt x="3455" y="2141"/>
                  <a:pt x="3606" y="1990"/>
                  <a:pt x="3606" y="1803"/>
                </a:cubicBezTo>
                <a:cubicBezTo>
                  <a:pt x="3606" y="1616"/>
                  <a:pt x="3455" y="1465"/>
                  <a:pt x="3268" y="1465"/>
                </a:cubicBezTo>
                <a:lnTo>
                  <a:pt x="2141" y="1465"/>
                </a:lnTo>
                <a:lnTo>
                  <a:pt x="2141" y="338"/>
                </a:lnTo>
                <a:cubicBezTo>
                  <a:pt x="2141" y="151"/>
                  <a:pt x="1990" y="0"/>
                  <a:pt x="180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8" name="文本框 67"/>
          <p:cNvSpPr txBox="1"/>
          <p:nvPr/>
        </p:nvSpPr>
        <p:spPr bwMode="auto">
          <a:xfrm>
            <a:off x="4501990" y="3032956"/>
            <a:ext cx="1630014"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File System</a:t>
            </a:r>
          </a:p>
        </p:txBody>
      </p:sp>
      <p:sp>
        <p:nvSpPr>
          <p:cNvPr id="69" name="disc_30226"/>
          <p:cNvSpPr>
            <a:spLocks noChangeAspect="1"/>
          </p:cNvSpPr>
          <p:nvPr/>
        </p:nvSpPr>
        <p:spPr bwMode="auto">
          <a:xfrm>
            <a:off x="4651568" y="3754563"/>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0" name="disc_30226"/>
          <p:cNvSpPr>
            <a:spLocks noChangeAspect="1"/>
          </p:cNvSpPr>
          <p:nvPr/>
        </p:nvSpPr>
        <p:spPr bwMode="auto">
          <a:xfrm>
            <a:off x="5431557"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1" name="disc_30226"/>
          <p:cNvSpPr>
            <a:spLocks noChangeAspect="1"/>
          </p:cNvSpPr>
          <p:nvPr/>
        </p:nvSpPr>
        <p:spPr bwMode="auto">
          <a:xfrm>
            <a:off x="6211546" y="3754563"/>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2" name="disc_30226"/>
          <p:cNvSpPr>
            <a:spLocks noChangeAspect="1"/>
          </p:cNvSpPr>
          <p:nvPr/>
        </p:nvSpPr>
        <p:spPr bwMode="auto">
          <a:xfrm>
            <a:off x="6991535"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3" name="disc_30226"/>
          <p:cNvSpPr>
            <a:spLocks noChangeAspect="1"/>
          </p:cNvSpPr>
          <p:nvPr/>
        </p:nvSpPr>
        <p:spPr bwMode="auto">
          <a:xfrm>
            <a:off x="7771524"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4" name="上箭头 73"/>
          <p:cNvSpPr/>
          <p:nvPr/>
        </p:nvSpPr>
        <p:spPr bwMode="auto">
          <a:xfrm>
            <a:off x="7896200" y="2636912"/>
            <a:ext cx="215357" cy="360000"/>
          </a:xfrm>
          <a:prstGeom prst="upArrow">
            <a:avLst/>
          </a:prstGeom>
          <a:solidFill>
            <a:srgbClr val="3ABA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mn-ea"/>
              <a:cs typeface="+mn-ea"/>
              <a:sym typeface="+mn-lt"/>
            </a:endParaRPr>
          </a:p>
        </p:txBody>
      </p:sp>
      <p:sp>
        <p:nvSpPr>
          <p:cNvPr id="75" name="data-storage_30236"/>
          <p:cNvSpPr>
            <a:spLocks noChangeAspect="1"/>
          </p:cNvSpPr>
          <p:nvPr/>
        </p:nvSpPr>
        <p:spPr bwMode="auto">
          <a:xfrm>
            <a:off x="9796515" y="1376772"/>
            <a:ext cx="583961" cy="609685"/>
          </a:xfrm>
          <a:custGeom>
            <a:avLst/>
            <a:gdLst>
              <a:gd name="connsiteX0" fmla="*/ 83515 w 581529"/>
              <a:gd name="connsiteY0" fmla="*/ 508777 h 607145"/>
              <a:gd name="connsiteX1" fmla="*/ 102533 w 581529"/>
              <a:gd name="connsiteY1" fmla="*/ 527759 h 607145"/>
              <a:gd name="connsiteX2" fmla="*/ 83515 w 581529"/>
              <a:gd name="connsiteY2" fmla="*/ 546741 h 607145"/>
              <a:gd name="connsiteX3" fmla="*/ 64497 w 581529"/>
              <a:gd name="connsiteY3" fmla="*/ 527759 h 607145"/>
              <a:gd name="connsiteX4" fmla="*/ 83515 w 581529"/>
              <a:gd name="connsiteY4" fmla="*/ 508777 h 607145"/>
              <a:gd name="connsiteX5" fmla="*/ 52990 w 581529"/>
              <a:gd name="connsiteY5" fmla="*/ 475201 h 607145"/>
              <a:gd name="connsiteX6" fmla="*/ 26495 w 581529"/>
              <a:gd name="connsiteY6" fmla="*/ 501658 h 607145"/>
              <a:gd name="connsiteX7" fmla="*/ 26495 w 581529"/>
              <a:gd name="connsiteY7" fmla="*/ 554232 h 607145"/>
              <a:gd name="connsiteX8" fmla="*/ 52990 w 581529"/>
              <a:gd name="connsiteY8" fmla="*/ 580689 h 607145"/>
              <a:gd name="connsiteX9" fmla="*/ 528539 w 581529"/>
              <a:gd name="connsiteY9" fmla="*/ 580689 h 607145"/>
              <a:gd name="connsiteX10" fmla="*/ 555034 w 581529"/>
              <a:gd name="connsiteY10" fmla="*/ 554232 h 607145"/>
              <a:gd name="connsiteX11" fmla="*/ 555034 w 581529"/>
              <a:gd name="connsiteY11" fmla="*/ 501658 h 607145"/>
              <a:gd name="connsiteX12" fmla="*/ 528539 w 581529"/>
              <a:gd name="connsiteY12" fmla="*/ 475201 h 607145"/>
              <a:gd name="connsiteX13" fmla="*/ 389271 w 581529"/>
              <a:gd name="connsiteY13" fmla="*/ 131944 h 607145"/>
              <a:gd name="connsiteX14" fmla="*/ 256118 w 581529"/>
              <a:gd name="connsiteY14" fmla="*/ 242858 h 607145"/>
              <a:gd name="connsiteX15" fmla="*/ 197693 w 581529"/>
              <a:gd name="connsiteY15" fmla="*/ 178412 h 607145"/>
              <a:gd name="connsiteX16" fmla="*/ 155913 w 581529"/>
              <a:gd name="connsiteY16" fmla="*/ 216401 h 607145"/>
              <a:gd name="connsiteX17" fmla="*/ 250683 w 581529"/>
              <a:gd name="connsiteY17" fmla="*/ 320871 h 607145"/>
              <a:gd name="connsiteX18" fmla="*/ 425617 w 581529"/>
              <a:gd name="connsiteY18" fmla="*/ 175360 h 607145"/>
              <a:gd name="connsiteX19" fmla="*/ 85259 w 581529"/>
              <a:gd name="connsiteY19" fmla="*/ 0 h 607145"/>
              <a:gd name="connsiteX20" fmla="*/ 496270 w 581529"/>
              <a:gd name="connsiteY20" fmla="*/ 0 h 607145"/>
              <a:gd name="connsiteX21" fmla="*/ 528539 w 581529"/>
              <a:gd name="connsiteY21" fmla="*/ 26117 h 607145"/>
              <a:gd name="connsiteX22" fmla="*/ 581190 w 581529"/>
              <a:gd name="connsiteY22" fmla="*/ 499962 h 607145"/>
              <a:gd name="connsiteX23" fmla="*/ 581529 w 581529"/>
              <a:gd name="connsiteY23" fmla="*/ 501658 h 607145"/>
              <a:gd name="connsiteX24" fmla="*/ 581529 w 581529"/>
              <a:gd name="connsiteY24" fmla="*/ 554232 h 607145"/>
              <a:gd name="connsiteX25" fmla="*/ 528539 w 581529"/>
              <a:gd name="connsiteY25" fmla="*/ 607145 h 607145"/>
              <a:gd name="connsiteX26" fmla="*/ 52990 w 581529"/>
              <a:gd name="connsiteY26" fmla="*/ 607145 h 607145"/>
              <a:gd name="connsiteX27" fmla="*/ 0 w 581529"/>
              <a:gd name="connsiteY27" fmla="*/ 554232 h 607145"/>
              <a:gd name="connsiteX28" fmla="*/ 0 w 581529"/>
              <a:gd name="connsiteY28" fmla="*/ 501658 h 607145"/>
              <a:gd name="connsiteX29" fmla="*/ 339 w 581529"/>
              <a:gd name="connsiteY29" fmla="*/ 499962 h 607145"/>
              <a:gd name="connsiteX30" fmla="*/ 52990 w 581529"/>
              <a:gd name="connsiteY30" fmla="*/ 26117 h 607145"/>
              <a:gd name="connsiteX31" fmla="*/ 85259 w 581529"/>
              <a:gd name="connsiteY31" fmla="*/ 0 h 60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81529" h="607145">
                <a:moveTo>
                  <a:pt x="83515" y="508777"/>
                </a:moveTo>
                <a:cubicBezTo>
                  <a:pt x="94018" y="508777"/>
                  <a:pt x="102533" y="517276"/>
                  <a:pt x="102533" y="527759"/>
                </a:cubicBezTo>
                <a:cubicBezTo>
                  <a:pt x="102533" y="538242"/>
                  <a:pt x="94018" y="546741"/>
                  <a:pt x="83515" y="546741"/>
                </a:cubicBezTo>
                <a:cubicBezTo>
                  <a:pt x="73012" y="546741"/>
                  <a:pt x="64497" y="538242"/>
                  <a:pt x="64497" y="527759"/>
                </a:cubicBezTo>
                <a:cubicBezTo>
                  <a:pt x="64497" y="517276"/>
                  <a:pt x="73012" y="508777"/>
                  <a:pt x="83515" y="508777"/>
                </a:cubicBezTo>
                <a:close/>
                <a:moveTo>
                  <a:pt x="52990" y="475201"/>
                </a:moveTo>
                <a:cubicBezTo>
                  <a:pt x="38383" y="475201"/>
                  <a:pt x="26495" y="487073"/>
                  <a:pt x="26495" y="501658"/>
                </a:cubicBezTo>
                <a:lnTo>
                  <a:pt x="26495" y="554232"/>
                </a:lnTo>
                <a:cubicBezTo>
                  <a:pt x="26495" y="568817"/>
                  <a:pt x="38383" y="580689"/>
                  <a:pt x="52990" y="580689"/>
                </a:cubicBezTo>
                <a:lnTo>
                  <a:pt x="528539" y="580689"/>
                </a:lnTo>
                <a:cubicBezTo>
                  <a:pt x="543146" y="580689"/>
                  <a:pt x="555034" y="568817"/>
                  <a:pt x="555034" y="554232"/>
                </a:cubicBezTo>
                <a:lnTo>
                  <a:pt x="555034" y="501658"/>
                </a:lnTo>
                <a:cubicBezTo>
                  <a:pt x="555034" y="487073"/>
                  <a:pt x="543146" y="475201"/>
                  <a:pt x="528539" y="475201"/>
                </a:cubicBezTo>
                <a:close/>
                <a:moveTo>
                  <a:pt x="389271" y="131944"/>
                </a:moveTo>
                <a:lnTo>
                  <a:pt x="256118" y="242858"/>
                </a:lnTo>
                <a:lnTo>
                  <a:pt x="197693" y="178412"/>
                </a:lnTo>
                <a:lnTo>
                  <a:pt x="155913" y="216401"/>
                </a:lnTo>
                <a:lnTo>
                  <a:pt x="250683" y="320871"/>
                </a:lnTo>
                <a:lnTo>
                  <a:pt x="425617" y="175360"/>
                </a:lnTo>
                <a:close/>
                <a:moveTo>
                  <a:pt x="85259" y="0"/>
                </a:moveTo>
                <a:lnTo>
                  <a:pt x="496270" y="0"/>
                </a:lnTo>
                <a:cubicBezTo>
                  <a:pt x="512235" y="0"/>
                  <a:pt x="526841" y="11871"/>
                  <a:pt x="528539" y="26117"/>
                </a:cubicBezTo>
                <a:lnTo>
                  <a:pt x="581190" y="499962"/>
                </a:lnTo>
                <a:cubicBezTo>
                  <a:pt x="581190" y="500301"/>
                  <a:pt x="581529" y="500979"/>
                  <a:pt x="581529" y="501658"/>
                </a:cubicBezTo>
                <a:lnTo>
                  <a:pt x="581529" y="554232"/>
                </a:lnTo>
                <a:cubicBezTo>
                  <a:pt x="581529" y="583402"/>
                  <a:pt x="557752" y="607145"/>
                  <a:pt x="528539" y="607145"/>
                </a:cubicBezTo>
                <a:lnTo>
                  <a:pt x="52990" y="607145"/>
                </a:lnTo>
                <a:cubicBezTo>
                  <a:pt x="23777" y="607145"/>
                  <a:pt x="0" y="583402"/>
                  <a:pt x="0" y="554232"/>
                </a:cubicBezTo>
                <a:lnTo>
                  <a:pt x="0" y="501658"/>
                </a:lnTo>
                <a:cubicBezTo>
                  <a:pt x="0" y="500979"/>
                  <a:pt x="339" y="500301"/>
                  <a:pt x="339" y="499962"/>
                </a:cubicBezTo>
                <a:lnTo>
                  <a:pt x="52990" y="26117"/>
                </a:lnTo>
                <a:cubicBezTo>
                  <a:pt x="54688" y="11871"/>
                  <a:pt x="69295" y="0"/>
                  <a:pt x="85259"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76" name="组合 75"/>
          <p:cNvGrpSpPr/>
          <p:nvPr/>
        </p:nvGrpSpPr>
        <p:grpSpPr>
          <a:xfrm>
            <a:off x="10703177" y="4833156"/>
            <a:ext cx="430713" cy="546273"/>
            <a:chOff x="8407400" y="2055813"/>
            <a:chExt cx="360363" cy="458788"/>
          </a:xfrm>
          <a:solidFill>
            <a:srgbClr val="3ABABA"/>
          </a:solidFill>
        </p:grpSpPr>
        <p:sp>
          <p:nvSpPr>
            <p:cNvPr id="7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81" name="组合 80"/>
          <p:cNvGrpSpPr/>
          <p:nvPr/>
        </p:nvGrpSpPr>
        <p:grpSpPr>
          <a:xfrm>
            <a:off x="10072991" y="4833157"/>
            <a:ext cx="430713" cy="546273"/>
            <a:chOff x="8407400" y="2055813"/>
            <a:chExt cx="360363" cy="458788"/>
          </a:xfrm>
          <a:solidFill>
            <a:srgbClr val="3ABABA"/>
          </a:solidFill>
        </p:grpSpPr>
        <p:sp>
          <p:nvSpPr>
            <p:cNvPr id="8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86" name="组合 85"/>
          <p:cNvGrpSpPr/>
          <p:nvPr/>
        </p:nvGrpSpPr>
        <p:grpSpPr>
          <a:xfrm>
            <a:off x="9444372" y="4833157"/>
            <a:ext cx="430713" cy="546273"/>
            <a:chOff x="8407400" y="2055813"/>
            <a:chExt cx="360363" cy="458788"/>
          </a:xfrm>
          <a:solidFill>
            <a:srgbClr val="3ABABA"/>
          </a:solidFill>
        </p:grpSpPr>
        <p:sp>
          <p:nvSpPr>
            <p:cNvPr id="8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9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91" name="圆角矩形 90"/>
          <p:cNvSpPr/>
          <p:nvPr/>
        </p:nvSpPr>
        <p:spPr bwMode="auto">
          <a:xfrm>
            <a:off x="8472265" y="4221088"/>
            <a:ext cx="2844316" cy="1332148"/>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ltLang="zh-CN" sz="1100" dirty="0" smtClean="0">
              <a:latin typeface="Arial" panose="020B0604020202020204" pitchFamily="34" charset="0"/>
              <a:ea typeface="+mn-ea"/>
              <a:cs typeface="+mn-ea"/>
              <a:sym typeface="+mn-lt"/>
            </a:endParaRPr>
          </a:p>
        </p:txBody>
      </p:sp>
      <p:sp>
        <p:nvSpPr>
          <p:cNvPr id="92" name="圆角矩形 91"/>
          <p:cNvSpPr/>
          <p:nvPr/>
        </p:nvSpPr>
        <p:spPr bwMode="auto">
          <a:xfrm>
            <a:off x="8544272" y="4797152"/>
            <a:ext cx="2699517"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Distributed</a:t>
            </a:r>
          </a:p>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Storage Pool</a:t>
            </a:r>
          </a:p>
        </p:txBody>
      </p:sp>
      <p:sp>
        <p:nvSpPr>
          <p:cNvPr id="93" name="addition-thick-symbol_20183"/>
          <p:cNvSpPr>
            <a:spLocks noChangeAspect="1"/>
          </p:cNvSpPr>
          <p:nvPr/>
        </p:nvSpPr>
        <p:spPr bwMode="auto">
          <a:xfrm flipV="1">
            <a:off x="9839633" y="4473116"/>
            <a:ext cx="324489" cy="324036"/>
          </a:xfrm>
          <a:custGeom>
            <a:avLst/>
            <a:gdLst>
              <a:gd name="T0" fmla="*/ 1803 w 3606"/>
              <a:gd name="T1" fmla="*/ 0 h 3606"/>
              <a:gd name="T2" fmla="*/ 1465 w 3606"/>
              <a:gd name="T3" fmla="*/ 338 h 3606"/>
              <a:gd name="T4" fmla="*/ 1465 w 3606"/>
              <a:gd name="T5" fmla="*/ 1465 h 3606"/>
              <a:gd name="T6" fmla="*/ 338 w 3606"/>
              <a:gd name="T7" fmla="*/ 1465 h 3606"/>
              <a:gd name="T8" fmla="*/ 0 w 3606"/>
              <a:gd name="T9" fmla="*/ 1803 h 3606"/>
              <a:gd name="T10" fmla="*/ 338 w 3606"/>
              <a:gd name="T11" fmla="*/ 2141 h 3606"/>
              <a:gd name="T12" fmla="*/ 1465 w 3606"/>
              <a:gd name="T13" fmla="*/ 2141 h 3606"/>
              <a:gd name="T14" fmla="*/ 1465 w 3606"/>
              <a:gd name="T15" fmla="*/ 3268 h 3606"/>
              <a:gd name="T16" fmla="*/ 1803 w 3606"/>
              <a:gd name="T17" fmla="*/ 3606 h 3606"/>
              <a:gd name="T18" fmla="*/ 2141 w 3606"/>
              <a:gd name="T19" fmla="*/ 3268 h 3606"/>
              <a:gd name="T20" fmla="*/ 2141 w 3606"/>
              <a:gd name="T21" fmla="*/ 2141 h 3606"/>
              <a:gd name="T22" fmla="*/ 3268 w 3606"/>
              <a:gd name="T23" fmla="*/ 2141 h 3606"/>
              <a:gd name="T24" fmla="*/ 3606 w 3606"/>
              <a:gd name="T25" fmla="*/ 1803 h 3606"/>
              <a:gd name="T26" fmla="*/ 3268 w 3606"/>
              <a:gd name="T27" fmla="*/ 1465 h 3606"/>
              <a:gd name="T28" fmla="*/ 2141 w 3606"/>
              <a:gd name="T29" fmla="*/ 1465 h 3606"/>
              <a:gd name="T30" fmla="*/ 2141 w 3606"/>
              <a:gd name="T31" fmla="*/ 338 h 3606"/>
              <a:gd name="T32" fmla="*/ 1803 w 3606"/>
              <a:gd name="T33" fmla="*/ 0 h 3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06" h="3606">
                <a:moveTo>
                  <a:pt x="1803" y="0"/>
                </a:moveTo>
                <a:cubicBezTo>
                  <a:pt x="1616" y="0"/>
                  <a:pt x="1465" y="151"/>
                  <a:pt x="1465" y="338"/>
                </a:cubicBezTo>
                <a:lnTo>
                  <a:pt x="1465" y="1465"/>
                </a:lnTo>
                <a:lnTo>
                  <a:pt x="338" y="1465"/>
                </a:lnTo>
                <a:cubicBezTo>
                  <a:pt x="151" y="1465"/>
                  <a:pt x="0" y="1616"/>
                  <a:pt x="0" y="1803"/>
                </a:cubicBezTo>
                <a:cubicBezTo>
                  <a:pt x="0" y="1990"/>
                  <a:pt x="151" y="2141"/>
                  <a:pt x="338" y="2141"/>
                </a:cubicBezTo>
                <a:lnTo>
                  <a:pt x="1465" y="2141"/>
                </a:lnTo>
                <a:lnTo>
                  <a:pt x="1465" y="3268"/>
                </a:lnTo>
                <a:cubicBezTo>
                  <a:pt x="1465" y="3455"/>
                  <a:pt x="1616" y="3606"/>
                  <a:pt x="1803" y="3606"/>
                </a:cubicBezTo>
                <a:cubicBezTo>
                  <a:pt x="1990" y="3606"/>
                  <a:pt x="2141" y="3455"/>
                  <a:pt x="2141" y="3268"/>
                </a:cubicBezTo>
                <a:lnTo>
                  <a:pt x="2141" y="2141"/>
                </a:lnTo>
                <a:lnTo>
                  <a:pt x="3268" y="2141"/>
                </a:lnTo>
                <a:cubicBezTo>
                  <a:pt x="3455" y="2141"/>
                  <a:pt x="3606" y="1990"/>
                  <a:pt x="3606" y="1803"/>
                </a:cubicBezTo>
                <a:cubicBezTo>
                  <a:pt x="3606" y="1616"/>
                  <a:pt x="3455" y="1465"/>
                  <a:pt x="3268" y="1465"/>
                </a:cubicBezTo>
                <a:lnTo>
                  <a:pt x="2141" y="1465"/>
                </a:lnTo>
                <a:lnTo>
                  <a:pt x="2141" y="338"/>
                </a:lnTo>
                <a:cubicBezTo>
                  <a:pt x="2141" y="151"/>
                  <a:pt x="1990" y="0"/>
                  <a:pt x="180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4" name="文本框 93"/>
          <p:cNvSpPr txBox="1"/>
          <p:nvPr/>
        </p:nvSpPr>
        <p:spPr bwMode="auto">
          <a:xfrm>
            <a:off x="9264352" y="4228732"/>
            <a:ext cx="1631989"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a:t>
            </a:r>
            <a:r>
              <a:rPr lang="en-US" sz="1400" dirty="0" smtClean="0">
                <a:solidFill>
                  <a:srgbClr val="000000"/>
                </a:solidFill>
                <a:latin typeface="Arial" panose="020B0604020202020204" pitchFamily="34" charset="0"/>
                <a:ea typeface="+mn-ea"/>
                <a:cs typeface="Arial" pitchFamily="34" charset="0"/>
              </a:rPr>
              <a:t>Division</a:t>
            </a:r>
            <a:endParaRPr lang="en-US" sz="1400" dirty="0">
              <a:solidFill>
                <a:srgbClr val="000000"/>
              </a:solidFill>
              <a:latin typeface="Arial" panose="020B0604020202020204" pitchFamily="34" charset="0"/>
              <a:ea typeface="+mn-ea"/>
              <a:cs typeface="Arial" pitchFamily="34" charset="0"/>
            </a:endParaRPr>
          </a:p>
        </p:txBody>
      </p:sp>
      <p:sp>
        <p:nvSpPr>
          <p:cNvPr id="95" name="disc_30226"/>
          <p:cNvSpPr>
            <a:spLocks noChangeAspect="1"/>
          </p:cNvSpPr>
          <p:nvPr/>
        </p:nvSpPr>
        <p:spPr bwMode="auto">
          <a:xfrm>
            <a:off x="10111494"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6" name="disc_30226"/>
          <p:cNvSpPr>
            <a:spLocks noChangeAspect="1"/>
          </p:cNvSpPr>
          <p:nvPr/>
        </p:nvSpPr>
        <p:spPr bwMode="auto">
          <a:xfrm>
            <a:off x="8551513"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7" name="disc_30226"/>
          <p:cNvSpPr>
            <a:spLocks noChangeAspect="1"/>
          </p:cNvSpPr>
          <p:nvPr/>
        </p:nvSpPr>
        <p:spPr bwMode="auto">
          <a:xfrm>
            <a:off x="9331502" y="3753036"/>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8" name="hard-drive_77649"/>
          <p:cNvSpPr>
            <a:spLocks noChangeAspect="1"/>
          </p:cNvSpPr>
          <p:nvPr/>
        </p:nvSpPr>
        <p:spPr bwMode="auto">
          <a:xfrm>
            <a:off x="10673197" y="573325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9" name="hard-drive_77649"/>
          <p:cNvSpPr>
            <a:spLocks noChangeAspect="1"/>
          </p:cNvSpPr>
          <p:nvPr/>
        </p:nvSpPr>
        <p:spPr bwMode="auto">
          <a:xfrm>
            <a:off x="9273730" y="573325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0" name="addition-thick-symbol_20183"/>
          <p:cNvSpPr>
            <a:spLocks noChangeAspect="1"/>
          </p:cNvSpPr>
          <p:nvPr/>
        </p:nvSpPr>
        <p:spPr bwMode="auto">
          <a:xfrm flipV="1">
            <a:off x="7608168" y="5329568"/>
            <a:ext cx="324489" cy="324036"/>
          </a:xfrm>
          <a:custGeom>
            <a:avLst/>
            <a:gdLst>
              <a:gd name="T0" fmla="*/ 1803 w 3606"/>
              <a:gd name="T1" fmla="*/ 0 h 3606"/>
              <a:gd name="T2" fmla="*/ 1465 w 3606"/>
              <a:gd name="T3" fmla="*/ 338 h 3606"/>
              <a:gd name="T4" fmla="*/ 1465 w 3606"/>
              <a:gd name="T5" fmla="*/ 1465 h 3606"/>
              <a:gd name="T6" fmla="*/ 338 w 3606"/>
              <a:gd name="T7" fmla="*/ 1465 h 3606"/>
              <a:gd name="T8" fmla="*/ 0 w 3606"/>
              <a:gd name="T9" fmla="*/ 1803 h 3606"/>
              <a:gd name="T10" fmla="*/ 338 w 3606"/>
              <a:gd name="T11" fmla="*/ 2141 h 3606"/>
              <a:gd name="T12" fmla="*/ 1465 w 3606"/>
              <a:gd name="T13" fmla="*/ 2141 h 3606"/>
              <a:gd name="T14" fmla="*/ 1465 w 3606"/>
              <a:gd name="T15" fmla="*/ 3268 h 3606"/>
              <a:gd name="T16" fmla="*/ 1803 w 3606"/>
              <a:gd name="T17" fmla="*/ 3606 h 3606"/>
              <a:gd name="T18" fmla="*/ 2141 w 3606"/>
              <a:gd name="T19" fmla="*/ 3268 h 3606"/>
              <a:gd name="T20" fmla="*/ 2141 w 3606"/>
              <a:gd name="T21" fmla="*/ 2141 h 3606"/>
              <a:gd name="T22" fmla="*/ 3268 w 3606"/>
              <a:gd name="T23" fmla="*/ 2141 h 3606"/>
              <a:gd name="T24" fmla="*/ 3606 w 3606"/>
              <a:gd name="T25" fmla="*/ 1803 h 3606"/>
              <a:gd name="T26" fmla="*/ 3268 w 3606"/>
              <a:gd name="T27" fmla="*/ 1465 h 3606"/>
              <a:gd name="T28" fmla="*/ 2141 w 3606"/>
              <a:gd name="T29" fmla="*/ 1465 h 3606"/>
              <a:gd name="T30" fmla="*/ 2141 w 3606"/>
              <a:gd name="T31" fmla="*/ 338 h 3606"/>
              <a:gd name="T32" fmla="*/ 1803 w 3606"/>
              <a:gd name="T33" fmla="*/ 0 h 3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06" h="3606">
                <a:moveTo>
                  <a:pt x="1803" y="0"/>
                </a:moveTo>
                <a:cubicBezTo>
                  <a:pt x="1616" y="0"/>
                  <a:pt x="1465" y="151"/>
                  <a:pt x="1465" y="338"/>
                </a:cubicBezTo>
                <a:lnTo>
                  <a:pt x="1465" y="1465"/>
                </a:lnTo>
                <a:lnTo>
                  <a:pt x="338" y="1465"/>
                </a:lnTo>
                <a:cubicBezTo>
                  <a:pt x="151" y="1465"/>
                  <a:pt x="0" y="1616"/>
                  <a:pt x="0" y="1803"/>
                </a:cubicBezTo>
                <a:cubicBezTo>
                  <a:pt x="0" y="1990"/>
                  <a:pt x="151" y="2141"/>
                  <a:pt x="338" y="2141"/>
                </a:cubicBezTo>
                <a:lnTo>
                  <a:pt x="1465" y="2141"/>
                </a:lnTo>
                <a:lnTo>
                  <a:pt x="1465" y="3268"/>
                </a:lnTo>
                <a:cubicBezTo>
                  <a:pt x="1465" y="3455"/>
                  <a:pt x="1616" y="3606"/>
                  <a:pt x="1803" y="3606"/>
                </a:cubicBezTo>
                <a:cubicBezTo>
                  <a:pt x="1990" y="3606"/>
                  <a:pt x="2141" y="3455"/>
                  <a:pt x="2141" y="3268"/>
                </a:cubicBezTo>
                <a:lnTo>
                  <a:pt x="2141" y="2141"/>
                </a:lnTo>
                <a:lnTo>
                  <a:pt x="3268" y="2141"/>
                </a:lnTo>
                <a:cubicBezTo>
                  <a:pt x="3455" y="2141"/>
                  <a:pt x="3606" y="1990"/>
                  <a:pt x="3606" y="1803"/>
                </a:cubicBezTo>
                <a:cubicBezTo>
                  <a:pt x="3606" y="1616"/>
                  <a:pt x="3455" y="1465"/>
                  <a:pt x="3268" y="1465"/>
                </a:cubicBezTo>
                <a:lnTo>
                  <a:pt x="2141" y="1465"/>
                </a:lnTo>
                <a:lnTo>
                  <a:pt x="2141" y="338"/>
                </a:lnTo>
                <a:cubicBezTo>
                  <a:pt x="2141" y="151"/>
                  <a:pt x="1990" y="0"/>
                  <a:pt x="180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1" name="文本框 100"/>
          <p:cNvSpPr txBox="1"/>
          <p:nvPr/>
        </p:nvSpPr>
        <p:spPr bwMode="auto">
          <a:xfrm>
            <a:off x="7190910" y="4787286"/>
            <a:ext cx="1080120"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a:t>
            </a:r>
            <a:r>
              <a:rPr lang="en-US" sz="1400" dirty="0" smtClean="0">
                <a:solidFill>
                  <a:srgbClr val="000000"/>
                </a:solidFill>
                <a:latin typeface="Arial" panose="020B0604020202020204" pitchFamily="34" charset="0"/>
                <a:ea typeface="+mn-ea"/>
                <a:cs typeface="Arial" pitchFamily="34" charset="0"/>
              </a:rPr>
              <a:t>Division</a:t>
            </a:r>
            <a:endParaRPr lang="en-US" sz="1400" dirty="0">
              <a:solidFill>
                <a:srgbClr val="000000"/>
              </a:solidFill>
              <a:latin typeface="Arial" panose="020B0604020202020204" pitchFamily="34" charset="0"/>
              <a:ea typeface="+mn-ea"/>
              <a:cs typeface="Arial" pitchFamily="34" charset="0"/>
            </a:endParaRPr>
          </a:p>
        </p:txBody>
      </p:sp>
      <p:sp>
        <p:nvSpPr>
          <p:cNvPr id="102" name="圆角矩形 101"/>
          <p:cNvSpPr/>
          <p:nvPr/>
        </p:nvSpPr>
        <p:spPr bwMode="auto">
          <a:xfrm>
            <a:off x="1137534" y="5625244"/>
            <a:ext cx="5210494" cy="756084"/>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ltLang="zh-CN" sz="1100" dirty="0" smtClean="0">
              <a:latin typeface="Arial" panose="020B0604020202020204" pitchFamily="34" charset="0"/>
              <a:ea typeface="+mn-ea"/>
              <a:cs typeface="+mn-ea"/>
              <a:sym typeface="+mn-lt"/>
            </a:endParaRPr>
          </a:p>
        </p:txBody>
      </p:sp>
      <p:sp>
        <p:nvSpPr>
          <p:cNvPr id="103" name="圆角矩形 102"/>
          <p:cNvSpPr/>
          <p:nvPr/>
        </p:nvSpPr>
        <p:spPr bwMode="auto">
          <a:xfrm>
            <a:off x="8472264" y="5625244"/>
            <a:ext cx="2844317" cy="756084"/>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ctr" anchorCtr="0" compatLnSpc="1">
            <a:prstTxWarp prst="textNoShape">
              <a:avLst/>
            </a:prstTxWarp>
          </a:bodyPr>
          <a:lstStyle/>
          <a:p>
            <a:r>
              <a:rPr lang="en-US" sz="1100" dirty="0">
                <a:latin typeface="Arial" panose="020B0604020202020204" pitchFamily="34" charset="0"/>
                <a:ea typeface="+mn-ea"/>
                <a:cs typeface="+mn-ea"/>
                <a:sym typeface="+mn-lt"/>
              </a:rPr>
              <a:t>Distributed</a:t>
            </a:r>
          </a:p>
          <a:p>
            <a:r>
              <a:rPr lang="en-US" sz="1100" dirty="0">
                <a:latin typeface="Arial" panose="020B0604020202020204" pitchFamily="34" charset="0"/>
                <a:ea typeface="+mn-ea"/>
                <a:cs typeface="+mn-ea"/>
                <a:sym typeface="+mn-lt"/>
              </a:rPr>
              <a:t>  Storage</a:t>
            </a:r>
          </a:p>
        </p:txBody>
      </p:sp>
      <p:sp>
        <p:nvSpPr>
          <p:cNvPr id="104" name="hard-drive_77649"/>
          <p:cNvSpPr>
            <a:spLocks noChangeAspect="1"/>
          </p:cNvSpPr>
          <p:nvPr/>
        </p:nvSpPr>
        <p:spPr bwMode="auto">
          <a:xfrm>
            <a:off x="9989121"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5" name="上箭头 104"/>
          <p:cNvSpPr/>
          <p:nvPr/>
        </p:nvSpPr>
        <p:spPr bwMode="auto">
          <a:xfrm>
            <a:off x="9985099" y="2636912"/>
            <a:ext cx="215357" cy="360000"/>
          </a:xfrm>
          <a:prstGeom prst="upArrow">
            <a:avLst/>
          </a:prstGeom>
          <a:solidFill>
            <a:srgbClr val="3ABABA"/>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mn-ea"/>
              <a:cs typeface="+mn-ea"/>
              <a:sym typeface="+mn-lt"/>
            </a:endParaRPr>
          </a:p>
        </p:txBody>
      </p:sp>
      <p:sp>
        <p:nvSpPr>
          <p:cNvPr id="106" name="文本框 105"/>
          <p:cNvSpPr txBox="1"/>
          <p:nvPr/>
        </p:nvSpPr>
        <p:spPr bwMode="auto">
          <a:xfrm>
            <a:off x="6698462" y="1211488"/>
            <a:ext cx="1017718" cy="747279"/>
          </a:xfrm>
          <a:prstGeom prst="rect">
            <a:avLst/>
          </a:prstGeom>
          <a:noFill/>
          <a:ln w="9525">
            <a:noFill/>
            <a:miter lim="800000"/>
            <a:headEnd/>
            <a:tailEnd/>
          </a:ln>
        </p:spPr>
        <p:txBody>
          <a:bodyPr vert="horz" wrap="square" lIns="99980" tIns="49986" rIns="99980" bIns="49986" rtlCol="0" anchor="ctr" anchorCtr="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Non-virtualized storage</a:t>
            </a:r>
          </a:p>
        </p:txBody>
      </p:sp>
    </p:spTree>
    <p:extLst>
      <p:ext uri="{BB962C8B-B14F-4D97-AF65-F5344CB8AC3E}">
        <p14:creationId xmlns:p14="http://schemas.microsoft.com/office/powerpoint/2010/main" val="319581061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4800" y="195912"/>
            <a:ext cx="9181720" cy="640800"/>
          </a:xfrm>
        </p:spPr>
        <p:txBody>
          <a:bodyPr/>
          <a:lstStyle/>
          <a:p>
            <a:r>
              <a:rPr lang="en-US" dirty="0">
                <a:latin typeface="Arial" panose="020B0604020202020204" pitchFamily="34" charset="0"/>
              </a:rPr>
              <a:t>Virtualized Storage Conversion Path in Cloud Computing</a:t>
            </a:r>
          </a:p>
        </p:txBody>
      </p:sp>
      <p:grpSp>
        <p:nvGrpSpPr>
          <p:cNvPr id="22" name="组合 21"/>
          <p:cNvGrpSpPr/>
          <p:nvPr/>
        </p:nvGrpSpPr>
        <p:grpSpPr>
          <a:xfrm>
            <a:off x="1741805" y="5735639"/>
            <a:ext cx="4097478" cy="609685"/>
            <a:chOff x="1741805" y="5735639"/>
            <a:chExt cx="4097478" cy="609685"/>
          </a:xfrm>
        </p:grpSpPr>
        <p:sp>
          <p:nvSpPr>
            <p:cNvPr id="3"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4"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grpSp>
        <p:nvGrpSpPr>
          <p:cNvPr id="23" name="组合 22"/>
          <p:cNvGrpSpPr/>
          <p:nvPr/>
        </p:nvGrpSpPr>
        <p:grpSpPr>
          <a:xfrm>
            <a:off x="2169164" y="4473116"/>
            <a:ext cx="2882720" cy="654286"/>
            <a:chOff x="2169164" y="4473116"/>
            <a:chExt cx="2882720" cy="654286"/>
          </a:xfrm>
        </p:grpSpPr>
        <p:grpSp>
          <p:nvGrpSpPr>
            <p:cNvPr id="6" name="组合 5"/>
            <p:cNvGrpSpPr/>
            <p:nvPr/>
          </p:nvGrpSpPr>
          <p:grpSpPr>
            <a:xfrm>
              <a:off x="4295800" y="4581128"/>
              <a:ext cx="430713" cy="546273"/>
              <a:chOff x="8407400" y="2055813"/>
              <a:chExt cx="360363" cy="458788"/>
            </a:xfrm>
            <a:solidFill>
              <a:srgbClr val="3ABABA"/>
            </a:solidFill>
          </p:grpSpPr>
          <p:sp>
            <p:nvSpPr>
              <p:cNvPr id="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11" name="组合 10"/>
            <p:cNvGrpSpPr/>
            <p:nvPr/>
          </p:nvGrpSpPr>
          <p:grpSpPr>
            <a:xfrm>
              <a:off x="3594389" y="4581129"/>
              <a:ext cx="430713" cy="546273"/>
              <a:chOff x="8407400" y="2055813"/>
              <a:chExt cx="360363" cy="458788"/>
            </a:xfrm>
            <a:solidFill>
              <a:srgbClr val="3ABABA"/>
            </a:solidFill>
          </p:grpSpPr>
          <p:sp>
            <p:nvSpPr>
              <p:cNvPr id="1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16" name="组合 15"/>
            <p:cNvGrpSpPr/>
            <p:nvPr/>
          </p:nvGrpSpPr>
          <p:grpSpPr>
            <a:xfrm>
              <a:off x="2892979" y="4581129"/>
              <a:ext cx="430713" cy="546273"/>
              <a:chOff x="8407400" y="2055813"/>
              <a:chExt cx="360363" cy="458788"/>
            </a:xfrm>
            <a:solidFill>
              <a:srgbClr val="3ABABA"/>
            </a:solidFill>
          </p:grpSpPr>
          <p:sp>
            <p:nvSpPr>
              <p:cNvPr id="1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2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sp>
          <p:nvSpPr>
            <p:cNvPr id="21" name="圆角矩形 20"/>
            <p:cNvSpPr/>
            <p:nvPr/>
          </p:nvSpPr>
          <p:spPr bwMode="auto">
            <a:xfrm>
              <a:off x="2169164"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100" dirty="0">
                  <a:solidFill>
                    <a:srgbClr val="000000"/>
                  </a:solidFill>
                  <a:latin typeface="Arial" panose="020B0604020202020204" pitchFamily="34" charset="0"/>
                  <a:ea typeface="微软雅黑"/>
                  <a:cs typeface="+mn-ea"/>
                  <a:sym typeface="+mn-lt"/>
                </a:rPr>
                <a:t>Physical</a:t>
              </a:r>
            </a:p>
            <a:p>
              <a:r>
                <a:rPr lang="en-US" sz="1100" dirty="0" smtClean="0">
                  <a:solidFill>
                    <a:srgbClr val="000000"/>
                  </a:solidFill>
                  <a:latin typeface="Arial" panose="020B0604020202020204" pitchFamily="34" charset="0"/>
                  <a:ea typeface="微软雅黑"/>
                  <a:cs typeface="+mn-ea"/>
                  <a:sym typeface="+mn-lt"/>
                </a:rPr>
                <a:t>volume</a:t>
              </a:r>
              <a:endParaRPr lang="en-US" sz="1100" dirty="0">
                <a:solidFill>
                  <a:srgbClr val="000000"/>
                </a:solidFill>
                <a:latin typeface="Arial" panose="020B0604020202020204" pitchFamily="34" charset="0"/>
                <a:ea typeface="微软雅黑"/>
                <a:cs typeface="+mn-ea"/>
                <a:sym typeface="+mn-lt"/>
              </a:endParaRPr>
            </a:p>
          </p:txBody>
        </p:sp>
      </p:grpSp>
      <p:sp>
        <p:nvSpPr>
          <p:cNvPr id="24" name="文本框 23"/>
          <p:cNvSpPr txBox="1"/>
          <p:nvPr/>
        </p:nvSpPr>
        <p:spPr bwMode="auto">
          <a:xfrm>
            <a:off x="2603612" y="5877272"/>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RAID or </a:t>
            </a:r>
            <a:r>
              <a:rPr lang="en-US" sz="1400" dirty="0" smtClean="0">
                <a:solidFill>
                  <a:srgbClr val="000000"/>
                </a:solidFill>
                <a:latin typeface="Arial" panose="020B0604020202020204" pitchFamily="34" charset="0"/>
                <a:ea typeface="微软雅黑"/>
                <a:cs typeface="Arial" pitchFamily="34" charset="0"/>
              </a:rPr>
              <a:t>Replication</a:t>
            </a:r>
            <a:endParaRPr lang="en-US" sz="1400" dirty="0">
              <a:solidFill>
                <a:srgbClr val="000000"/>
              </a:solidFill>
              <a:latin typeface="Arial" panose="020B0604020202020204" pitchFamily="34" charset="0"/>
              <a:ea typeface="微软雅黑"/>
              <a:cs typeface="Arial" pitchFamily="34" charset="0"/>
            </a:endParaRPr>
          </a:p>
        </p:txBody>
      </p:sp>
      <p:grpSp>
        <p:nvGrpSpPr>
          <p:cNvPr id="26" name="组合 25"/>
          <p:cNvGrpSpPr/>
          <p:nvPr/>
        </p:nvGrpSpPr>
        <p:grpSpPr>
          <a:xfrm>
            <a:off x="2169164" y="4473116"/>
            <a:ext cx="2882720" cy="654286"/>
            <a:chOff x="2169164" y="4473116"/>
            <a:chExt cx="2882720" cy="654286"/>
          </a:xfrm>
        </p:grpSpPr>
        <p:grpSp>
          <p:nvGrpSpPr>
            <p:cNvPr id="27" name="组合 26"/>
            <p:cNvGrpSpPr/>
            <p:nvPr/>
          </p:nvGrpSpPr>
          <p:grpSpPr>
            <a:xfrm>
              <a:off x="4295800" y="4581128"/>
              <a:ext cx="430713" cy="546273"/>
              <a:chOff x="8407400" y="2055813"/>
              <a:chExt cx="360363" cy="458788"/>
            </a:xfrm>
            <a:solidFill>
              <a:srgbClr val="3ABABA"/>
            </a:solidFill>
          </p:grpSpPr>
          <p:sp>
            <p:nvSpPr>
              <p:cNvPr id="3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4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4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4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28" name="组合 27"/>
            <p:cNvGrpSpPr/>
            <p:nvPr/>
          </p:nvGrpSpPr>
          <p:grpSpPr>
            <a:xfrm>
              <a:off x="3594389" y="4581129"/>
              <a:ext cx="430713" cy="546273"/>
              <a:chOff x="8407400" y="2055813"/>
              <a:chExt cx="360363" cy="458788"/>
            </a:xfrm>
            <a:solidFill>
              <a:srgbClr val="3ABABA"/>
            </a:solidFill>
          </p:grpSpPr>
          <p:sp>
            <p:nvSpPr>
              <p:cNvPr id="35"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29" name="组合 28"/>
            <p:cNvGrpSpPr/>
            <p:nvPr/>
          </p:nvGrpSpPr>
          <p:grpSpPr>
            <a:xfrm>
              <a:off x="2892979" y="4581129"/>
              <a:ext cx="430713" cy="546273"/>
              <a:chOff x="8407400" y="2055813"/>
              <a:chExt cx="360363" cy="458788"/>
            </a:xfrm>
            <a:solidFill>
              <a:srgbClr val="3ABABA"/>
            </a:solidFill>
          </p:grpSpPr>
          <p:sp>
            <p:nvSpPr>
              <p:cNvPr id="31"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2"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3"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34"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sp>
          <p:nvSpPr>
            <p:cNvPr id="30" name="圆角矩形 29"/>
            <p:cNvSpPr/>
            <p:nvPr/>
          </p:nvSpPr>
          <p:spPr bwMode="auto">
            <a:xfrm>
              <a:off x="2169164"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100" dirty="0" smtClean="0">
                  <a:solidFill>
                    <a:srgbClr val="000000"/>
                  </a:solidFill>
                  <a:latin typeface="Arial" panose="020B0604020202020204" pitchFamily="34" charset="0"/>
                  <a:ea typeface="微软雅黑"/>
                  <a:cs typeface="+mn-ea"/>
                  <a:sym typeface="+mn-lt"/>
                </a:rPr>
                <a:t>Physical</a:t>
              </a:r>
            </a:p>
            <a:p>
              <a:r>
                <a:rPr lang="en-US" sz="1100" dirty="0" smtClean="0">
                  <a:solidFill>
                    <a:srgbClr val="000000"/>
                  </a:solidFill>
                  <a:latin typeface="Arial" panose="020B0604020202020204" pitchFamily="34" charset="0"/>
                  <a:ea typeface="微软雅黑"/>
                  <a:cs typeface="+mn-ea"/>
                  <a:sym typeface="+mn-lt"/>
                </a:rPr>
                <a:t>volume</a:t>
              </a:r>
              <a:endParaRPr lang="en-US" sz="1100" dirty="0">
                <a:solidFill>
                  <a:srgbClr val="000000"/>
                </a:solidFill>
                <a:latin typeface="Arial" panose="020B0604020202020204" pitchFamily="34" charset="0"/>
                <a:ea typeface="微软雅黑"/>
                <a:cs typeface="+mn-ea"/>
                <a:sym typeface="+mn-lt"/>
              </a:endParaRPr>
            </a:p>
          </p:txBody>
        </p:sp>
      </p:grpSp>
      <p:sp>
        <p:nvSpPr>
          <p:cNvPr id="25" name="文本框 24"/>
          <p:cNvSpPr txBox="1"/>
          <p:nvPr/>
        </p:nvSpPr>
        <p:spPr bwMode="auto">
          <a:xfrm>
            <a:off x="2675620" y="4660780"/>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Logical division</a:t>
            </a:r>
          </a:p>
        </p:txBody>
      </p:sp>
      <p:grpSp>
        <p:nvGrpSpPr>
          <p:cNvPr id="47" name="组合 46"/>
          <p:cNvGrpSpPr/>
          <p:nvPr/>
        </p:nvGrpSpPr>
        <p:grpSpPr>
          <a:xfrm>
            <a:off x="2169164" y="3392302"/>
            <a:ext cx="2882720" cy="648072"/>
            <a:chOff x="2169164" y="3392302"/>
            <a:chExt cx="2882720" cy="648072"/>
          </a:xfrm>
        </p:grpSpPr>
        <p:sp>
          <p:nvSpPr>
            <p:cNvPr id="43" name="圆角矩形 42"/>
            <p:cNvSpPr/>
            <p:nvPr/>
          </p:nvSpPr>
          <p:spPr bwMode="auto">
            <a:xfrm>
              <a:off x="2169164" y="3392302"/>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100" dirty="0">
                  <a:solidFill>
                    <a:srgbClr val="000000"/>
                  </a:solidFill>
                  <a:latin typeface="Arial" panose="020B0604020202020204" pitchFamily="34" charset="0"/>
                  <a:ea typeface="微软雅黑"/>
                  <a:cs typeface="+mn-ea"/>
                  <a:sym typeface="+mn-lt"/>
                </a:rPr>
                <a:t>Logical</a:t>
              </a:r>
            </a:p>
            <a:p>
              <a:r>
                <a:rPr lang="en-US" sz="1100" dirty="0" smtClean="0">
                  <a:solidFill>
                    <a:srgbClr val="000000"/>
                  </a:solidFill>
                  <a:latin typeface="Arial" panose="020B0604020202020204" pitchFamily="34" charset="0"/>
                  <a:ea typeface="微软雅黑"/>
                  <a:cs typeface="+mn-ea"/>
                  <a:sym typeface="+mn-lt"/>
                </a:rPr>
                <a:t>volume</a:t>
              </a:r>
              <a:endParaRPr lang="en-US" sz="1100" dirty="0">
                <a:solidFill>
                  <a:srgbClr val="000000"/>
                </a:solidFill>
                <a:latin typeface="Arial" panose="020B0604020202020204" pitchFamily="34" charset="0"/>
                <a:ea typeface="微软雅黑"/>
                <a:cs typeface="+mn-ea"/>
                <a:sym typeface="+mn-lt"/>
              </a:endParaRPr>
            </a:p>
          </p:txBody>
        </p:sp>
        <p:sp>
          <p:nvSpPr>
            <p:cNvPr id="44" name="disc_30226"/>
            <p:cNvSpPr>
              <a:spLocks noChangeAspect="1"/>
            </p:cNvSpPr>
            <p:nvPr/>
          </p:nvSpPr>
          <p:spPr bwMode="auto">
            <a:xfrm>
              <a:off x="3006726"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5" name="disc_30226"/>
            <p:cNvSpPr>
              <a:spLocks noChangeAspect="1"/>
            </p:cNvSpPr>
            <p:nvPr/>
          </p:nvSpPr>
          <p:spPr bwMode="auto">
            <a:xfrm>
              <a:off x="3786715" y="3546365"/>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6" name="disc_30226"/>
            <p:cNvSpPr>
              <a:spLocks noChangeAspect="1"/>
            </p:cNvSpPr>
            <p:nvPr/>
          </p:nvSpPr>
          <p:spPr bwMode="auto">
            <a:xfrm>
              <a:off x="4566704"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grpSp>
      <p:sp>
        <p:nvSpPr>
          <p:cNvPr id="48" name="文本框 47"/>
          <p:cNvSpPr txBox="1"/>
          <p:nvPr/>
        </p:nvSpPr>
        <p:spPr bwMode="auto">
          <a:xfrm>
            <a:off x="2603612" y="4689140"/>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Format</a:t>
            </a:r>
          </a:p>
        </p:txBody>
      </p:sp>
      <p:grpSp>
        <p:nvGrpSpPr>
          <p:cNvPr id="53" name="组合 52"/>
          <p:cNvGrpSpPr/>
          <p:nvPr/>
        </p:nvGrpSpPr>
        <p:grpSpPr>
          <a:xfrm>
            <a:off x="6096000" y="4473116"/>
            <a:ext cx="2484276" cy="648072"/>
            <a:chOff x="6096000" y="4473116"/>
            <a:chExt cx="2484276" cy="648072"/>
          </a:xfrm>
        </p:grpSpPr>
        <p:sp>
          <p:nvSpPr>
            <p:cNvPr id="49" name="圆角矩形 48"/>
            <p:cNvSpPr/>
            <p:nvPr/>
          </p:nvSpPr>
          <p:spPr bwMode="auto">
            <a:xfrm>
              <a:off x="6096000" y="4473116"/>
              <a:ext cx="2484276"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lang="en-US" sz="1100" dirty="0" smtClean="0">
                  <a:solidFill>
                    <a:srgbClr val="000000"/>
                  </a:solidFill>
                  <a:latin typeface="Arial" panose="020B0604020202020204" pitchFamily="34" charset="0"/>
                  <a:ea typeface="微软雅黑"/>
                  <a:cs typeface="+mn-ea"/>
                  <a:sym typeface="+mn-lt"/>
                </a:rPr>
                <a:t>NFS file</a:t>
              </a:r>
              <a:endParaRPr lang="en-US" sz="1100" dirty="0">
                <a:solidFill>
                  <a:srgbClr val="000000"/>
                </a:solidFill>
                <a:latin typeface="Arial" panose="020B0604020202020204" pitchFamily="34" charset="0"/>
                <a:ea typeface="微软雅黑"/>
                <a:cs typeface="+mn-ea"/>
                <a:sym typeface="+mn-lt"/>
              </a:endParaRPr>
            </a:p>
            <a:p>
              <a:r>
                <a:rPr lang="en-US" sz="1100" dirty="0">
                  <a:solidFill>
                    <a:srgbClr val="000000"/>
                  </a:solidFill>
                  <a:latin typeface="Arial" panose="020B0604020202020204" pitchFamily="34" charset="0"/>
                  <a:ea typeface="微软雅黑"/>
                  <a:cs typeface="+mn-ea"/>
                  <a:sym typeface="+mn-lt"/>
                </a:rPr>
                <a:t>s</a:t>
              </a:r>
              <a:r>
                <a:rPr lang="en-US" sz="1100" dirty="0" smtClean="0">
                  <a:solidFill>
                    <a:srgbClr val="000000"/>
                  </a:solidFill>
                  <a:latin typeface="Arial" panose="020B0604020202020204" pitchFamily="34" charset="0"/>
                  <a:ea typeface="微软雅黑"/>
                  <a:cs typeface="+mn-ea"/>
                  <a:sym typeface="+mn-lt"/>
                </a:rPr>
                <a:t>ystem</a:t>
              </a:r>
              <a:endParaRPr lang="en-US" sz="1100" dirty="0">
                <a:solidFill>
                  <a:srgbClr val="000000"/>
                </a:solidFill>
                <a:latin typeface="Arial" panose="020B0604020202020204" pitchFamily="34" charset="0"/>
                <a:ea typeface="微软雅黑"/>
                <a:cs typeface="+mn-ea"/>
                <a:sym typeface="+mn-lt"/>
              </a:endParaRPr>
            </a:p>
          </p:txBody>
        </p:sp>
        <p:sp>
          <p:nvSpPr>
            <p:cNvPr id="50" name="folders_329399"/>
            <p:cNvSpPr>
              <a:spLocks noChangeAspect="1"/>
            </p:cNvSpPr>
            <p:nvPr/>
          </p:nvSpPr>
          <p:spPr bwMode="auto">
            <a:xfrm>
              <a:off x="6780076"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sp>
          <p:nvSpPr>
            <p:cNvPr id="52" name="folders_329399"/>
            <p:cNvSpPr>
              <a:spLocks noChangeAspect="1"/>
            </p:cNvSpPr>
            <p:nvPr/>
          </p:nvSpPr>
          <p:spPr bwMode="auto">
            <a:xfrm>
              <a:off x="7718563"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grpSp>
      <p:sp>
        <p:nvSpPr>
          <p:cNvPr id="60" name="文本框 59"/>
          <p:cNvSpPr txBox="1"/>
          <p:nvPr/>
        </p:nvSpPr>
        <p:spPr bwMode="auto">
          <a:xfrm>
            <a:off x="2639616" y="3465004"/>
            <a:ext cx="2412268"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Attach to compute cluster and format</a:t>
            </a:r>
          </a:p>
        </p:txBody>
      </p:sp>
      <p:grpSp>
        <p:nvGrpSpPr>
          <p:cNvPr id="61" name="组合 60"/>
          <p:cNvGrpSpPr/>
          <p:nvPr/>
        </p:nvGrpSpPr>
        <p:grpSpPr>
          <a:xfrm>
            <a:off x="2169164" y="2132856"/>
            <a:ext cx="2882720" cy="648072"/>
            <a:chOff x="5697556" y="4473116"/>
            <a:chExt cx="2882720" cy="648072"/>
          </a:xfrm>
        </p:grpSpPr>
        <p:sp>
          <p:nvSpPr>
            <p:cNvPr id="62" name="圆角矩形 61"/>
            <p:cNvSpPr/>
            <p:nvPr/>
          </p:nvSpPr>
          <p:spPr bwMode="auto">
            <a:xfrm>
              <a:off x="5697556"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lang="en-US" sz="1100" dirty="0" smtClean="0">
                  <a:solidFill>
                    <a:srgbClr val="000000"/>
                  </a:solidFill>
                  <a:latin typeface="Arial" panose="020B0604020202020204" pitchFamily="34" charset="0"/>
                  <a:ea typeface="微软雅黑"/>
                  <a:cs typeface="+mn-ea"/>
                  <a:sym typeface="+mn-lt"/>
                </a:rPr>
                <a:t>Virtual file</a:t>
              </a:r>
            </a:p>
            <a:p>
              <a:r>
                <a:rPr lang="en-US" sz="1100" dirty="0" smtClean="0">
                  <a:solidFill>
                    <a:srgbClr val="000000"/>
                  </a:solidFill>
                  <a:latin typeface="Arial" panose="020B0604020202020204" pitchFamily="34" charset="0"/>
                  <a:ea typeface="微软雅黑"/>
                  <a:cs typeface="+mn-ea"/>
                  <a:sym typeface="+mn-lt"/>
                </a:rPr>
                <a:t>system</a:t>
              </a:r>
              <a:endParaRPr lang="en-US" sz="1100" dirty="0">
                <a:solidFill>
                  <a:srgbClr val="000000"/>
                </a:solidFill>
                <a:latin typeface="Arial" panose="020B0604020202020204" pitchFamily="34" charset="0"/>
                <a:ea typeface="微软雅黑"/>
                <a:cs typeface="+mn-ea"/>
                <a:sym typeface="+mn-lt"/>
              </a:endParaRPr>
            </a:p>
          </p:txBody>
        </p:sp>
        <p:sp>
          <p:nvSpPr>
            <p:cNvPr id="63" name="folders_329399"/>
            <p:cNvSpPr>
              <a:spLocks noChangeAspect="1"/>
            </p:cNvSpPr>
            <p:nvPr/>
          </p:nvSpPr>
          <p:spPr bwMode="auto">
            <a:xfrm>
              <a:off x="6818463"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sp>
          <p:nvSpPr>
            <p:cNvPr id="64" name="folders_329399"/>
            <p:cNvSpPr>
              <a:spLocks noChangeAspect="1"/>
            </p:cNvSpPr>
            <p:nvPr/>
          </p:nvSpPr>
          <p:spPr bwMode="auto">
            <a:xfrm>
              <a:off x="7754567"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grpSp>
      <p:sp>
        <p:nvSpPr>
          <p:cNvPr id="65" name="流程图: 数据 64"/>
          <p:cNvSpPr/>
          <p:nvPr/>
        </p:nvSpPr>
        <p:spPr bwMode="auto">
          <a:xfrm>
            <a:off x="1163452" y="1448780"/>
            <a:ext cx="9901100" cy="418360"/>
          </a:xfrm>
          <a:prstGeom prst="flowChartInputOutpu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algn="ctr"/>
            <a:r>
              <a:rPr lang="en-US" sz="1200" dirty="0">
                <a:solidFill>
                  <a:srgbClr val="000000"/>
                </a:solidFill>
                <a:latin typeface="Arial" panose="020B0604020202020204" pitchFamily="34" charset="0"/>
                <a:ea typeface="微软雅黑"/>
              </a:rPr>
              <a:t>Shared Catalog</a:t>
            </a:r>
          </a:p>
        </p:txBody>
      </p:sp>
      <p:sp>
        <p:nvSpPr>
          <p:cNvPr id="66" name="流程图: 数据 65"/>
          <p:cNvSpPr/>
          <p:nvPr/>
        </p:nvSpPr>
        <p:spPr bwMode="auto">
          <a:xfrm>
            <a:off x="1163452" y="1426464"/>
            <a:ext cx="9901100" cy="418360"/>
          </a:xfrm>
          <a:prstGeom prst="flowChartInputOutpu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algn="ctr"/>
            <a:r>
              <a:rPr lang="en-US" sz="1200" dirty="0">
                <a:solidFill>
                  <a:srgbClr val="000000"/>
                </a:solidFill>
                <a:latin typeface="Arial" panose="020B0604020202020204" pitchFamily="34" charset="0"/>
                <a:ea typeface="微软雅黑"/>
              </a:rPr>
              <a:t>Shared Catalog</a:t>
            </a:r>
          </a:p>
        </p:txBody>
      </p:sp>
    </p:spTree>
    <p:extLst>
      <p:ext uri="{BB962C8B-B14F-4D97-AF65-F5344CB8AC3E}">
        <p14:creationId xmlns:p14="http://schemas.microsoft.com/office/powerpoint/2010/main" val="4868238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repeatCount="30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Effect transition="in" filter="fade">
                                      <p:cBhvr>
                                        <p:cTn id="9" dur="1000"/>
                                        <p:tgtEl>
                                          <p:spTgt spid="24"/>
                                        </p:tgtEl>
                                      </p:cBhvr>
                                    </p:animEffect>
                                  </p:childTnLst>
                                  <p:subTnLst>
                                    <p:set>
                                      <p:cBhvr override="childStyle">
                                        <p:cTn dur="1" fill="hold" display="0" masterRel="sameClick" afterEffect="1">
                                          <p:stCondLst>
                                            <p:cond evt="end" delay="0">
                                              <p:tn val="5"/>
                                            </p:cond>
                                          </p:stCondLst>
                                        </p:cTn>
                                        <p:tgtEl>
                                          <p:spTgt spid="24"/>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2000"/>
                                        <p:tgtEl>
                                          <p:spTgt spid="22"/>
                                        </p:tgtEl>
                                      </p:cBhvr>
                                    </p:animEffect>
                                    <p:set>
                                      <p:cBhvr>
                                        <p:cTn id="14" dur="1" fill="hold">
                                          <p:stCondLst>
                                            <p:cond delay="1999"/>
                                          </p:stCondLst>
                                        </p:cTn>
                                        <p:tgtEl>
                                          <p:spTgt spid="22"/>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000"/>
                                        <p:tgtEl>
                                          <p:spTgt spid="23"/>
                                        </p:tgtEl>
                                      </p:cBhvr>
                                    </p:animEffect>
                                  </p:childTnLst>
                                </p:cTn>
                              </p:par>
                              <p:par>
                                <p:cTn id="18" presetID="63" presetClass="path" presetSubtype="0" accel="50000" decel="50000" fill="hold" nodeType="withEffect">
                                  <p:stCondLst>
                                    <p:cond delay="0"/>
                                  </p:stCondLst>
                                  <p:childTnLst>
                                    <p:animMotion origin="layout" path="M 0 0 L 0.001575 -0.180843 E" pathEditMode="relative" ptsTypes="">
                                      <p:cBhvr>
                                        <p:cTn id="19" dur="2000" fill="hold"/>
                                        <p:tgtEl>
                                          <p:spTgt spid="22"/>
                                        </p:tgtEl>
                                        <p:attrNameLst>
                                          <p:attrName>ppt_x</p:attrName>
                                          <p:attrName>ppt_y</p:attrName>
                                        </p:attrNameLst>
                                      </p:cBhvr>
                                    </p:animMotion>
                                  </p:childTnLst>
                                </p:cTn>
                              </p:par>
                              <p:par>
                                <p:cTn id="20" presetID="63" presetClass="path" presetSubtype="0" accel="50000" decel="50000" fill="hold" nodeType="withEffect">
                                  <p:stCondLst>
                                    <p:cond delay="0"/>
                                  </p:stCondLst>
                                  <p:childTnLst>
                                    <p:animMotion origin="layout" path="M -0.00156 0.18079 L -3.75E-6 0 " pathEditMode="relative" rAng="0" ptsTypes="AA">
                                      <p:cBhvr>
                                        <p:cTn id="21" dur="2000" fill="hold"/>
                                        <p:tgtEl>
                                          <p:spTgt spid="23"/>
                                        </p:tgtEl>
                                        <p:attrNameLst>
                                          <p:attrName>ppt_x</p:attrName>
                                          <p:attrName>ppt_y</p:attrName>
                                        </p:attrNameLst>
                                      </p:cBhvr>
                                      <p:rCtr x="78" y="-9051"/>
                                    </p:animMotion>
                                  </p:childTnLst>
                                </p:cTn>
                              </p:par>
                              <p:par>
                                <p:cTn id="22" presetID="6" presetClass="emph" presetSubtype="0" accel="50000" decel="50000" fill="hold" nodeType="withEffect">
                                  <p:stCondLst>
                                    <p:cond delay="0"/>
                                  </p:stCondLst>
                                  <p:childTnLst>
                                    <p:animScale>
                                      <p:cBhvr>
                                        <p:cTn id="23" dur="2000" fill="hold"/>
                                        <p:tgtEl>
                                          <p:spTgt spid="22"/>
                                        </p:tgtEl>
                                      </p:cBhvr>
                                      <p:by x="150000" y="150000"/>
                                      <p:from x="100000" y="100000"/>
                                      <p:to x="60629" y="107315"/>
                                    </p:animScale>
                                  </p:childTnLst>
                                </p:cTn>
                              </p:par>
                              <p:par>
                                <p:cTn id="24" presetID="6" presetClass="emph" presetSubtype="0" accel="50000" decel="50000" fill="hold" nodeType="withEffect">
                                  <p:stCondLst>
                                    <p:cond delay="0"/>
                                  </p:stCondLst>
                                  <p:childTnLst>
                                    <p:animScale>
                                      <p:cBhvr>
                                        <p:cTn id="25" dur="2000" fill="hold"/>
                                        <p:tgtEl>
                                          <p:spTgt spid="23"/>
                                        </p:tgtEl>
                                      </p:cBhvr>
                                      <p:by x="150000" y="150000"/>
                                      <p:from x="164937" y="93183"/>
                                      <p:to x="100000" y="100000"/>
                                    </p:animScale>
                                  </p:childTnLst>
                                </p:cTn>
                              </p:par>
                            </p:childTnLst>
                          </p:cTn>
                        </p:par>
                        <p:par>
                          <p:cTn id="26" fill="hold">
                            <p:stCondLst>
                              <p:cond delay="2000"/>
                            </p:stCondLst>
                            <p:childTnLst>
                              <p:par>
                                <p:cTn id="27" presetID="1" presetClass="entr" presetSubtype="0"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repeatCount="300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p:cTn id="33" dur="1000" fill="hold"/>
                                        <p:tgtEl>
                                          <p:spTgt spid="25"/>
                                        </p:tgtEl>
                                        <p:attrNameLst>
                                          <p:attrName>ppt_w</p:attrName>
                                        </p:attrNameLst>
                                      </p:cBhvr>
                                      <p:tavLst>
                                        <p:tav tm="0">
                                          <p:val>
                                            <p:fltVal val="0"/>
                                          </p:val>
                                        </p:tav>
                                        <p:tav tm="100000">
                                          <p:val>
                                            <p:strVal val="#ppt_w"/>
                                          </p:val>
                                        </p:tav>
                                      </p:tavLst>
                                    </p:anim>
                                    <p:anim calcmode="lin" valueType="num">
                                      <p:cBhvr>
                                        <p:cTn id="34" dur="1000" fill="hold"/>
                                        <p:tgtEl>
                                          <p:spTgt spid="25"/>
                                        </p:tgtEl>
                                        <p:attrNameLst>
                                          <p:attrName>ppt_h</p:attrName>
                                        </p:attrNameLst>
                                      </p:cBhvr>
                                      <p:tavLst>
                                        <p:tav tm="0">
                                          <p:val>
                                            <p:fltVal val="0"/>
                                          </p:val>
                                        </p:tav>
                                        <p:tav tm="100000">
                                          <p:val>
                                            <p:strVal val="#ppt_h"/>
                                          </p:val>
                                        </p:tav>
                                      </p:tavLst>
                                    </p:anim>
                                    <p:animEffect transition="in" filter="fade">
                                      <p:cBhvr>
                                        <p:cTn id="35" dur="1000"/>
                                        <p:tgtEl>
                                          <p:spTgt spid="25"/>
                                        </p:tgtEl>
                                      </p:cBhvr>
                                    </p:animEffect>
                                  </p:childTnLst>
                                  <p:subTnLst>
                                    <p:set>
                                      <p:cBhvr override="childStyle">
                                        <p:cTn dur="1" fill="hold" display="0" masterRel="sameClick" afterEffect="1">
                                          <p:stCondLst>
                                            <p:cond evt="end" delay="0">
                                              <p:tn val="31"/>
                                            </p:cond>
                                          </p:stCondLst>
                                        </p:cTn>
                                        <p:tgtEl>
                                          <p:spTgt spid="25"/>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2000"/>
                                        <p:tgtEl>
                                          <p:spTgt spid="23"/>
                                        </p:tgtEl>
                                      </p:cBhvr>
                                    </p:animEffect>
                                    <p:set>
                                      <p:cBhvr>
                                        <p:cTn id="40" dur="1" fill="hold">
                                          <p:stCondLst>
                                            <p:cond delay="1999"/>
                                          </p:stCondLst>
                                        </p:cTn>
                                        <p:tgtEl>
                                          <p:spTgt spid="23"/>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000"/>
                                        <p:tgtEl>
                                          <p:spTgt spid="47"/>
                                        </p:tgtEl>
                                      </p:cBhvr>
                                    </p:animEffect>
                                  </p:childTnLst>
                                </p:cTn>
                              </p:par>
                              <p:par>
                                <p:cTn id="44" presetID="63" presetClass="path" presetSubtype="0" accel="50000" decel="50000" fill="hold" nodeType="withEffect">
                                  <p:stCondLst>
                                    <p:cond delay="0"/>
                                  </p:stCondLst>
                                  <p:childTnLst>
                                    <p:animMotion origin="layout" path="M -3.75E-6 0 L -3.75E-6 -0.1581 " pathEditMode="relative" rAng="0" ptsTypes="AA">
                                      <p:cBhvr>
                                        <p:cTn id="45" dur="2000" fill="hold"/>
                                        <p:tgtEl>
                                          <p:spTgt spid="23"/>
                                        </p:tgtEl>
                                        <p:attrNameLst>
                                          <p:attrName>ppt_x</p:attrName>
                                          <p:attrName>ppt_y</p:attrName>
                                        </p:attrNameLst>
                                      </p:cBhvr>
                                      <p:rCtr x="0" y="-7917"/>
                                    </p:animMotion>
                                  </p:childTnLst>
                                </p:cTn>
                              </p:par>
                              <p:par>
                                <p:cTn id="46" presetID="63" presetClass="path" presetSubtype="0" accel="50000" decel="50000" fill="hold" nodeType="withEffect">
                                  <p:stCondLst>
                                    <p:cond delay="0"/>
                                  </p:stCondLst>
                                  <p:childTnLst>
                                    <p:animMotion origin="layout" path="M -3.75E-6 0.1581 L -3.75E-6 1.85185E-6 " pathEditMode="relative" rAng="0" ptsTypes="AA">
                                      <p:cBhvr>
                                        <p:cTn id="47" dur="2000" fill="hold"/>
                                        <p:tgtEl>
                                          <p:spTgt spid="47"/>
                                        </p:tgtEl>
                                        <p:attrNameLst>
                                          <p:attrName>ppt_x</p:attrName>
                                          <p:attrName>ppt_y</p:attrName>
                                        </p:attrNameLst>
                                      </p:cBhvr>
                                      <p:rCtr x="0" y="-7917"/>
                                    </p:animMotion>
                                  </p:childTnLst>
                                </p:cTn>
                              </p:par>
                              <p:par>
                                <p:cTn id="48" presetID="6" presetClass="emph" presetSubtype="0" accel="50000" decel="50000" fill="hold" nodeType="withEffect">
                                  <p:stCondLst>
                                    <p:cond delay="0"/>
                                  </p:stCondLst>
                                  <p:childTnLst>
                                    <p:animScale>
                                      <p:cBhvr>
                                        <p:cTn id="49" dur="2000" fill="hold"/>
                                        <p:tgtEl>
                                          <p:spTgt spid="23"/>
                                        </p:tgtEl>
                                      </p:cBhvr>
                                      <p:by x="150000" y="150000"/>
                                      <p:from x="100000" y="100000"/>
                                      <p:to x="100000" y="99050"/>
                                    </p:animScale>
                                  </p:childTnLst>
                                </p:cTn>
                              </p:par>
                              <p:par>
                                <p:cTn id="50" presetID="6" presetClass="emph" presetSubtype="0" accel="50000" decel="50000" fill="hold" nodeType="withEffect">
                                  <p:stCondLst>
                                    <p:cond delay="0"/>
                                  </p:stCondLst>
                                  <p:childTnLst>
                                    <p:animScale>
                                      <p:cBhvr>
                                        <p:cTn id="51" dur="2000" fill="hold"/>
                                        <p:tgtEl>
                                          <p:spTgt spid="47"/>
                                        </p:tgtEl>
                                      </p:cBhvr>
                                      <p:by x="150000" y="150000"/>
                                      <p:from x="100000" y="100959"/>
                                      <p:to x="100000" y="100000"/>
                                    </p:animScale>
                                  </p:childTnLst>
                                </p:cTn>
                              </p:par>
                            </p:childTnLst>
                          </p:cTn>
                        </p:par>
                      </p:childTnLst>
                    </p:cTn>
                  </p:par>
                  <p:par>
                    <p:cTn id="52" fill="hold">
                      <p:stCondLst>
                        <p:cond delay="indefinite"/>
                      </p:stCondLst>
                      <p:childTnLst>
                        <p:par>
                          <p:cTn id="53" fill="hold">
                            <p:stCondLst>
                              <p:cond delay="0"/>
                            </p:stCondLst>
                            <p:childTnLst>
                              <p:par>
                                <p:cTn id="54" presetID="53" presetClass="entr" presetSubtype="16" repeatCount="3000" fill="hold" grpId="0" nodeType="click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p:cTn id="56" dur="1000" fill="hold"/>
                                        <p:tgtEl>
                                          <p:spTgt spid="48"/>
                                        </p:tgtEl>
                                        <p:attrNameLst>
                                          <p:attrName>ppt_w</p:attrName>
                                        </p:attrNameLst>
                                      </p:cBhvr>
                                      <p:tavLst>
                                        <p:tav tm="0">
                                          <p:val>
                                            <p:fltVal val="0"/>
                                          </p:val>
                                        </p:tav>
                                        <p:tav tm="100000">
                                          <p:val>
                                            <p:strVal val="#ppt_w"/>
                                          </p:val>
                                        </p:tav>
                                      </p:tavLst>
                                    </p:anim>
                                    <p:anim calcmode="lin" valueType="num">
                                      <p:cBhvr>
                                        <p:cTn id="57" dur="1000" fill="hold"/>
                                        <p:tgtEl>
                                          <p:spTgt spid="48"/>
                                        </p:tgtEl>
                                        <p:attrNameLst>
                                          <p:attrName>ppt_h</p:attrName>
                                        </p:attrNameLst>
                                      </p:cBhvr>
                                      <p:tavLst>
                                        <p:tav tm="0">
                                          <p:val>
                                            <p:fltVal val="0"/>
                                          </p:val>
                                        </p:tav>
                                        <p:tav tm="100000">
                                          <p:val>
                                            <p:strVal val="#ppt_h"/>
                                          </p:val>
                                        </p:tav>
                                      </p:tavLst>
                                    </p:anim>
                                    <p:animEffect transition="in" filter="fade">
                                      <p:cBhvr>
                                        <p:cTn id="58" dur="1000"/>
                                        <p:tgtEl>
                                          <p:spTgt spid="48"/>
                                        </p:tgtEl>
                                      </p:cBhvr>
                                    </p:animEffect>
                                  </p:childTnLst>
                                  <p:subTnLst>
                                    <p:set>
                                      <p:cBhvr override="childStyle">
                                        <p:cTn dur="1" fill="hold" display="0" masterRel="sameClick" afterEffect="1">
                                          <p:stCondLst>
                                            <p:cond evt="end" delay="0">
                                              <p:tn val="54"/>
                                            </p:cond>
                                          </p:stCondLst>
                                        </p:cTn>
                                        <p:tgtEl>
                                          <p:spTgt spid="48"/>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2000"/>
                                        <p:tgtEl>
                                          <p:spTgt spid="26"/>
                                        </p:tgtEl>
                                      </p:cBhvr>
                                    </p:animEffect>
                                    <p:set>
                                      <p:cBhvr>
                                        <p:cTn id="63" dur="1" fill="hold">
                                          <p:stCondLst>
                                            <p:cond delay="1999"/>
                                          </p:stCondLst>
                                        </p:cTn>
                                        <p:tgtEl>
                                          <p:spTgt spid="26"/>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2000"/>
                                        <p:tgtEl>
                                          <p:spTgt spid="53"/>
                                        </p:tgtEl>
                                      </p:cBhvr>
                                    </p:animEffect>
                                  </p:childTnLst>
                                </p:cTn>
                              </p:par>
                              <p:par>
                                <p:cTn id="67" presetID="63" presetClass="path" presetSubtype="0" accel="50000" decel="50000" fill="hold" nodeType="withEffect">
                                  <p:stCondLst>
                                    <p:cond delay="0"/>
                                  </p:stCondLst>
                                  <p:childTnLst>
                                    <p:animMotion origin="layout" path="M -3.75E-6 0 L 0.28946 -0.00046 " pathEditMode="relative" rAng="0" ptsTypes="AA">
                                      <p:cBhvr>
                                        <p:cTn id="68" dur="2000" fill="hold"/>
                                        <p:tgtEl>
                                          <p:spTgt spid="26"/>
                                        </p:tgtEl>
                                        <p:attrNameLst>
                                          <p:attrName>ppt_x</p:attrName>
                                          <p:attrName>ppt_y</p:attrName>
                                        </p:attrNameLst>
                                      </p:cBhvr>
                                      <p:rCtr x="14466" y="-23"/>
                                    </p:animMotion>
                                  </p:childTnLst>
                                </p:cTn>
                              </p:par>
                              <p:par>
                                <p:cTn id="69" presetID="63" presetClass="path" presetSubtype="0" accel="50000" decel="50000" fill="hold" nodeType="withEffect">
                                  <p:stCondLst>
                                    <p:cond delay="0"/>
                                  </p:stCondLst>
                                  <p:childTnLst>
                                    <p:animMotion origin="layout" path="M -0.289402 0.000453 L 0 0 E" pathEditMode="relative" ptsTypes="">
                                      <p:cBhvr>
                                        <p:cTn id="70" dur="2000" fill="hold"/>
                                        <p:tgtEl>
                                          <p:spTgt spid="53"/>
                                        </p:tgtEl>
                                        <p:attrNameLst>
                                          <p:attrName>ppt_x</p:attrName>
                                          <p:attrName>ppt_y</p:attrName>
                                        </p:attrNameLst>
                                      </p:cBhvr>
                                    </p:animMotion>
                                  </p:childTnLst>
                                </p:cTn>
                              </p:par>
                              <p:par>
                                <p:cTn id="71" presetID="6" presetClass="emph" presetSubtype="0" accel="50000" decel="50000" fill="hold" nodeType="withEffect">
                                  <p:stCondLst>
                                    <p:cond delay="0"/>
                                  </p:stCondLst>
                                  <p:childTnLst>
                                    <p:animScale>
                                      <p:cBhvr>
                                        <p:cTn id="72" dur="2000" fill="hold"/>
                                        <p:tgtEl>
                                          <p:spTgt spid="26"/>
                                        </p:tgtEl>
                                      </p:cBhvr>
                                      <p:by x="150000" y="150000"/>
                                      <p:from x="100000" y="100000"/>
                                      <p:to x="100000" y="99050"/>
                                    </p:animScale>
                                  </p:childTnLst>
                                </p:cTn>
                              </p:par>
                              <p:par>
                                <p:cTn id="73" presetID="6" presetClass="emph" presetSubtype="0" accel="50000" decel="50000" fill="hold" nodeType="withEffect">
                                  <p:stCondLst>
                                    <p:cond delay="0"/>
                                  </p:stCondLst>
                                  <p:childTnLst>
                                    <p:animScale>
                                      <p:cBhvr>
                                        <p:cTn id="74" dur="2000" fill="hold"/>
                                        <p:tgtEl>
                                          <p:spTgt spid="53"/>
                                        </p:tgtEl>
                                      </p:cBhvr>
                                      <p:by x="150000" y="150000"/>
                                      <p:from x="100000" y="100959"/>
                                      <p:to x="100000" y="100000"/>
                                    </p:animScale>
                                  </p:childTnLst>
                                </p:cTn>
                              </p:par>
                            </p:childTnLst>
                          </p:cTn>
                        </p:par>
                      </p:childTnLst>
                    </p:cTn>
                  </p:par>
                  <p:par>
                    <p:cTn id="75" fill="hold">
                      <p:stCondLst>
                        <p:cond delay="indefinite"/>
                      </p:stCondLst>
                      <p:childTnLst>
                        <p:par>
                          <p:cTn id="76" fill="hold">
                            <p:stCondLst>
                              <p:cond delay="0"/>
                            </p:stCondLst>
                            <p:childTnLst>
                              <p:par>
                                <p:cTn id="77" presetID="53" presetClass="entr" presetSubtype="16" repeatCount="3000" fill="hold" grpId="0" nodeType="clickEffect">
                                  <p:stCondLst>
                                    <p:cond delay="0"/>
                                  </p:stCondLst>
                                  <p:childTnLst>
                                    <p:set>
                                      <p:cBhvr>
                                        <p:cTn id="78" dur="1" fill="hold">
                                          <p:stCondLst>
                                            <p:cond delay="0"/>
                                          </p:stCondLst>
                                        </p:cTn>
                                        <p:tgtEl>
                                          <p:spTgt spid="60"/>
                                        </p:tgtEl>
                                        <p:attrNameLst>
                                          <p:attrName>style.visibility</p:attrName>
                                        </p:attrNameLst>
                                      </p:cBhvr>
                                      <p:to>
                                        <p:strVal val="visible"/>
                                      </p:to>
                                    </p:set>
                                    <p:anim calcmode="lin" valueType="num">
                                      <p:cBhvr>
                                        <p:cTn id="79" dur="1000" fill="hold"/>
                                        <p:tgtEl>
                                          <p:spTgt spid="60"/>
                                        </p:tgtEl>
                                        <p:attrNameLst>
                                          <p:attrName>ppt_w</p:attrName>
                                        </p:attrNameLst>
                                      </p:cBhvr>
                                      <p:tavLst>
                                        <p:tav tm="0">
                                          <p:val>
                                            <p:fltVal val="0"/>
                                          </p:val>
                                        </p:tav>
                                        <p:tav tm="100000">
                                          <p:val>
                                            <p:strVal val="#ppt_w"/>
                                          </p:val>
                                        </p:tav>
                                      </p:tavLst>
                                    </p:anim>
                                    <p:anim calcmode="lin" valueType="num">
                                      <p:cBhvr>
                                        <p:cTn id="80" dur="1000" fill="hold"/>
                                        <p:tgtEl>
                                          <p:spTgt spid="60"/>
                                        </p:tgtEl>
                                        <p:attrNameLst>
                                          <p:attrName>ppt_h</p:attrName>
                                        </p:attrNameLst>
                                      </p:cBhvr>
                                      <p:tavLst>
                                        <p:tav tm="0">
                                          <p:val>
                                            <p:fltVal val="0"/>
                                          </p:val>
                                        </p:tav>
                                        <p:tav tm="100000">
                                          <p:val>
                                            <p:strVal val="#ppt_h"/>
                                          </p:val>
                                        </p:tav>
                                      </p:tavLst>
                                    </p:anim>
                                    <p:animEffect transition="in" filter="fade">
                                      <p:cBhvr>
                                        <p:cTn id="81" dur="1000"/>
                                        <p:tgtEl>
                                          <p:spTgt spid="60"/>
                                        </p:tgtEl>
                                      </p:cBhvr>
                                    </p:animEffect>
                                  </p:childTnLst>
                                  <p:subTnLst>
                                    <p:set>
                                      <p:cBhvr override="childStyle">
                                        <p:cTn dur="1" fill="hold" display="0" masterRel="sameClick" afterEffect="1">
                                          <p:stCondLst>
                                            <p:cond evt="end" delay="0">
                                              <p:tn val="77"/>
                                            </p:cond>
                                          </p:stCondLst>
                                        </p:cTn>
                                        <p:tgtEl>
                                          <p:spTgt spid="60"/>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2000"/>
                                        <p:tgtEl>
                                          <p:spTgt spid="47"/>
                                        </p:tgtEl>
                                      </p:cBhvr>
                                    </p:animEffect>
                                    <p:set>
                                      <p:cBhvr>
                                        <p:cTn id="86" dur="1" fill="hold">
                                          <p:stCondLst>
                                            <p:cond delay="1999"/>
                                          </p:stCondLst>
                                        </p:cTn>
                                        <p:tgtEl>
                                          <p:spTgt spid="47"/>
                                        </p:tgtEl>
                                        <p:attrNameLst>
                                          <p:attrName>style.visibility</p:attrName>
                                        </p:attrNameLst>
                                      </p:cBhvr>
                                      <p:to>
                                        <p:strVal val="hidden"/>
                                      </p:to>
                                    </p:set>
                                  </p:childTnLst>
                                </p:cTn>
                              </p:par>
                              <p:par>
                                <p:cTn id="87" presetID="10" presetClass="entr" presetSubtype="0" fill="hold"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2000"/>
                                        <p:tgtEl>
                                          <p:spTgt spid="61"/>
                                        </p:tgtEl>
                                      </p:cBhvr>
                                    </p:animEffect>
                                  </p:childTnLst>
                                </p:cTn>
                              </p:par>
                              <p:par>
                                <p:cTn id="90" presetID="63" presetClass="path" presetSubtype="0" accel="50000" decel="50000" fill="hold" nodeType="withEffect">
                                  <p:stCondLst>
                                    <p:cond delay="0"/>
                                  </p:stCondLst>
                                  <p:childTnLst>
                                    <p:animMotion origin="layout" path="M -3.75E-6 1.85185E-6 L -3.75E-6 -0.18357 " pathEditMode="relative" rAng="0" ptsTypes="AA">
                                      <p:cBhvr>
                                        <p:cTn id="91" dur="2000" fill="hold"/>
                                        <p:tgtEl>
                                          <p:spTgt spid="47"/>
                                        </p:tgtEl>
                                        <p:attrNameLst>
                                          <p:attrName>ppt_x</p:attrName>
                                          <p:attrName>ppt_y</p:attrName>
                                        </p:attrNameLst>
                                      </p:cBhvr>
                                      <p:rCtr x="0" y="-9190"/>
                                    </p:animMotion>
                                  </p:childTnLst>
                                </p:cTn>
                              </p:par>
                              <p:par>
                                <p:cTn id="92" presetID="63" presetClass="path" presetSubtype="0" accel="50000" decel="50000" fill="hold" nodeType="withEffect">
                                  <p:stCondLst>
                                    <p:cond delay="0"/>
                                  </p:stCondLst>
                                  <p:childTnLst>
                                    <p:animMotion origin="layout" path="M -3.75E-6 0.18357 L -3.75E-6 -3.33333E-6 " pathEditMode="relative" rAng="0" ptsTypes="AA">
                                      <p:cBhvr>
                                        <p:cTn id="93" dur="2000" fill="hold"/>
                                        <p:tgtEl>
                                          <p:spTgt spid="61"/>
                                        </p:tgtEl>
                                        <p:attrNameLst>
                                          <p:attrName>ppt_x</p:attrName>
                                          <p:attrName>ppt_y</p:attrName>
                                        </p:attrNameLst>
                                      </p:cBhvr>
                                      <p:rCtr x="0" y="-9190"/>
                                    </p:animMotion>
                                  </p:childTnLst>
                                </p:cTn>
                              </p:par>
                              <p:par>
                                <p:cTn id="94" presetID="6" presetClass="emph" presetSubtype="0" accel="50000" decel="50000" fill="hold" nodeType="withEffect">
                                  <p:stCondLst>
                                    <p:cond delay="0"/>
                                  </p:stCondLst>
                                  <p:childTnLst>
                                    <p:animScale>
                                      <p:cBhvr>
                                        <p:cTn id="95" dur="2000" fill="hold"/>
                                        <p:tgtEl>
                                          <p:spTgt spid="47"/>
                                        </p:tgtEl>
                                      </p:cBhvr>
                                      <p:by x="150000" y="150000"/>
                                      <p:from x="100000" y="100000"/>
                                      <p:to x="100000" y="100000"/>
                                    </p:animScale>
                                  </p:childTnLst>
                                </p:cTn>
                              </p:par>
                              <p:par>
                                <p:cTn id="96" presetID="6" presetClass="emph" presetSubtype="0" accel="50000" decel="50000" fill="hold" nodeType="withEffect">
                                  <p:stCondLst>
                                    <p:cond delay="0"/>
                                  </p:stCondLst>
                                  <p:childTnLst>
                                    <p:animScale>
                                      <p:cBhvr>
                                        <p:cTn id="97" dur="2000" fill="hold"/>
                                        <p:tgtEl>
                                          <p:spTgt spid="61"/>
                                        </p:tgtEl>
                                      </p:cBhvr>
                                      <p:by x="150000" y="150000"/>
                                      <p:from x="100000" y="100000"/>
                                      <p:to x="100000" y="100000"/>
                                    </p:animScale>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2000"/>
                                        <p:tgtEl>
                                          <p:spTgt spid="61"/>
                                        </p:tgtEl>
                                      </p:cBhvr>
                                    </p:animEffect>
                                    <p:set>
                                      <p:cBhvr>
                                        <p:cTn id="102" dur="1" fill="hold">
                                          <p:stCondLst>
                                            <p:cond delay="1999"/>
                                          </p:stCondLst>
                                        </p:cTn>
                                        <p:tgtEl>
                                          <p:spTgt spid="61"/>
                                        </p:tgtEl>
                                        <p:attrNameLst>
                                          <p:attrName>style.visibility</p:attrName>
                                        </p:attrNameLst>
                                      </p:cBhvr>
                                      <p:to>
                                        <p:strVal val="hidden"/>
                                      </p:to>
                                    </p:set>
                                  </p:childTnLst>
                                </p:cTn>
                              </p:par>
                              <p:par>
                                <p:cTn id="103" presetID="10" presetClass="entr" presetSubtype="0" fill="hold" grpId="0" nodeType="withEffect">
                                  <p:stCondLst>
                                    <p:cond delay="0"/>
                                  </p:stCondLst>
                                  <p:childTnLst>
                                    <p:set>
                                      <p:cBhvr>
                                        <p:cTn id="104" dur="1" fill="hold">
                                          <p:stCondLst>
                                            <p:cond delay="0"/>
                                          </p:stCondLst>
                                        </p:cTn>
                                        <p:tgtEl>
                                          <p:spTgt spid="66"/>
                                        </p:tgtEl>
                                        <p:attrNameLst>
                                          <p:attrName>style.visibility</p:attrName>
                                        </p:attrNameLst>
                                      </p:cBhvr>
                                      <p:to>
                                        <p:strVal val="visible"/>
                                      </p:to>
                                    </p:set>
                                    <p:animEffect transition="in" filter="fade">
                                      <p:cBhvr>
                                        <p:cTn id="105" dur="2000"/>
                                        <p:tgtEl>
                                          <p:spTgt spid="66"/>
                                        </p:tgtEl>
                                      </p:cBhvr>
                                    </p:animEffect>
                                  </p:childTnLst>
                                </p:cTn>
                              </p:par>
                              <p:par>
                                <p:cTn id="106" presetID="63" presetClass="path" presetSubtype="0" accel="50000" decel="50000" fill="hold" nodeType="withEffect">
                                  <p:stCondLst>
                                    <p:cond delay="0"/>
                                  </p:stCondLst>
                                  <p:childTnLst>
                                    <p:animMotion origin="layout" path="M -3.75E-6 -3.33333E-6 L 0.18894 -0.11967 " pathEditMode="relative" rAng="0" ptsTypes="AA">
                                      <p:cBhvr>
                                        <p:cTn id="107" dur="2000" fill="hold"/>
                                        <p:tgtEl>
                                          <p:spTgt spid="61"/>
                                        </p:tgtEl>
                                        <p:attrNameLst>
                                          <p:attrName>ppt_x</p:attrName>
                                          <p:attrName>ppt_y</p:attrName>
                                        </p:attrNameLst>
                                      </p:cBhvr>
                                      <p:rCtr x="9440" y="-5995"/>
                                    </p:animMotion>
                                  </p:childTnLst>
                                </p:cTn>
                              </p:par>
                              <p:par>
                                <p:cTn id="108" presetID="63" presetClass="path" presetSubtype="0" accel="50000" decel="50000" fill="hold" grpId="1" nodeType="withEffect">
                                  <p:stCondLst>
                                    <p:cond delay="0"/>
                                  </p:stCondLst>
                                  <p:childTnLst>
                                    <p:animMotion origin="layout" path="M -0.188997 0.11975 L 0 0 E" pathEditMode="relative" ptsTypes="">
                                      <p:cBhvr>
                                        <p:cTn id="109" dur="2000" fill="hold"/>
                                        <p:tgtEl>
                                          <p:spTgt spid="66"/>
                                        </p:tgtEl>
                                        <p:attrNameLst>
                                          <p:attrName>ppt_x</p:attrName>
                                          <p:attrName>ppt_y</p:attrName>
                                        </p:attrNameLst>
                                      </p:cBhvr>
                                    </p:animMotion>
                                  </p:childTnLst>
                                </p:cTn>
                              </p:par>
                              <p:par>
                                <p:cTn id="110" presetID="6" presetClass="emph" presetSubtype="0" accel="50000" decel="50000" fill="hold" nodeType="withEffect">
                                  <p:stCondLst>
                                    <p:cond delay="0"/>
                                  </p:stCondLst>
                                  <p:childTnLst>
                                    <p:animScale>
                                      <p:cBhvr>
                                        <p:cTn id="111" dur="2000" fill="hold"/>
                                        <p:tgtEl>
                                          <p:spTgt spid="61"/>
                                        </p:tgtEl>
                                      </p:cBhvr>
                                      <p:by x="150000" y="150000"/>
                                      <p:from x="100000" y="100000"/>
                                      <p:to x="398551" y="64555"/>
                                    </p:animScale>
                                  </p:childTnLst>
                                </p:cTn>
                              </p:par>
                              <p:par>
                                <p:cTn id="112" presetID="6" presetClass="emph" presetSubtype="0" accel="50000" decel="50000" fill="hold" grpId="2" nodeType="withEffect">
                                  <p:stCondLst>
                                    <p:cond delay="0"/>
                                  </p:stCondLst>
                                  <p:childTnLst>
                                    <p:animScale>
                                      <p:cBhvr>
                                        <p:cTn id="113" dur="2000" fill="hold"/>
                                        <p:tgtEl>
                                          <p:spTgt spid="66"/>
                                        </p:tgtEl>
                                      </p:cBhvr>
                                      <p:by x="150000" y="150000"/>
                                      <p:from x="25091" y="154908"/>
                                      <p:to x="100000" y="100000"/>
                                    </p:animScale>
                                  </p:childTnLst>
                                </p:cTn>
                              </p:par>
                              <p:par>
                                <p:cTn id="114" presetID="10" presetClass="exit" presetSubtype="0" fill="hold" nodeType="withEffect">
                                  <p:stCondLst>
                                    <p:cond delay="0"/>
                                  </p:stCondLst>
                                  <p:childTnLst>
                                    <p:animEffect transition="out" filter="fade">
                                      <p:cBhvr>
                                        <p:cTn id="115" dur="2000"/>
                                        <p:tgtEl>
                                          <p:spTgt spid="53"/>
                                        </p:tgtEl>
                                      </p:cBhvr>
                                    </p:animEffect>
                                    <p:set>
                                      <p:cBhvr>
                                        <p:cTn id="116" dur="1" fill="hold">
                                          <p:stCondLst>
                                            <p:cond delay="1999"/>
                                          </p:stCondLst>
                                        </p:cTn>
                                        <p:tgtEl>
                                          <p:spTgt spid="53"/>
                                        </p:tgtEl>
                                        <p:attrNameLst>
                                          <p:attrName>style.visibility</p:attrName>
                                        </p:attrNameLst>
                                      </p:cBhvr>
                                      <p:to>
                                        <p:strVal val="hidden"/>
                                      </p:to>
                                    </p:set>
                                  </p:childTnLst>
                                </p:cTn>
                              </p:par>
                              <p:par>
                                <p:cTn id="117" presetID="10" presetClass="entr" presetSubtype="0" fill="hold" grpId="0" nodeType="withEffect">
                                  <p:stCondLst>
                                    <p:cond delay="0"/>
                                  </p:stCondLst>
                                  <p:childTnLst>
                                    <p:set>
                                      <p:cBhvr>
                                        <p:cTn id="118" dur="1" fill="hold">
                                          <p:stCondLst>
                                            <p:cond delay="0"/>
                                          </p:stCondLst>
                                        </p:cTn>
                                        <p:tgtEl>
                                          <p:spTgt spid="65"/>
                                        </p:tgtEl>
                                        <p:attrNameLst>
                                          <p:attrName>style.visibility</p:attrName>
                                        </p:attrNameLst>
                                      </p:cBhvr>
                                      <p:to>
                                        <p:strVal val="visible"/>
                                      </p:to>
                                    </p:set>
                                    <p:animEffect transition="in" filter="fade">
                                      <p:cBhvr>
                                        <p:cTn id="119" dur="2000"/>
                                        <p:tgtEl>
                                          <p:spTgt spid="65"/>
                                        </p:tgtEl>
                                      </p:cBhvr>
                                    </p:animEffect>
                                  </p:childTnLst>
                                </p:cTn>
                              </p:par>
                              <p:par>
                                <p:cTn id="120" presetID="63" presetClass="path" presetSubtype="0" accel="50000" decel="50000" fill="hold" nodeType="withEffect">
                                  <p:stCondLst>
                                    <p:cond delay="0"/>
                                  </p:stCondLst>
                                  <p:childTnLst>
                                    <p:animMotion origin="layout" path="M 0 0 L -0.100405 -0.457742 E" pathEditMode="relative" ptsTypes="">
                                      <p:cBhvr>
                                        <p:cTn id="121" dur="2000" fill="hold"/>
                                        <p:tgtEl>
                                          <p:spTgt spid="53"/>
                                        </p:tgtEl>
                                        <p:attrNameLst>
                                          <p:attrName>ppt_x</p:attrName>
                                          <p:attrName>ppt_y</p:attrName>
                                        </p:attrNameLst>
                                      </p:cBhvr>
                                    </p:animMotion>
                                  </p:childTnLst>
                                </p:cTn>
                              </p:par>
                              <p:par>
                                <p:cTn id="122" presetID="63" presetClass="path" presetSubtype="0" accel="50000" decel="50000" fill="hold" grpId="1" nodeType="withEffect">
                                  <p:stCondLst>
                                    <p:cond delay="0"/>
                                  </p:stCondLst>
                                  <p:childTnLst>
                                    <p:animMotion origin="layout" path="M 0.100405 0.457742 L 0 0 E" pathEditMode="relative" ptsTypes="">
                                      <p:cBhvr>
                                        <p:cTn id="123" dur="2000" fill="hold"/>
                                        <p:tgtEl>
                                          <p:spTgt spid="65"/>
                                        </p:tgtEl>
                                        <p:attrNameLst>
                                          <p:attrName>ppt_x</p:attrName>
                                          <p:attrName>ppt_y</p:attrName>
                                        </p:attrNameLst>
                                      </p:cBhvr>
                                    </p:animMotion>
                                  </p:childTnLst>
                                </p:cTn>
                              </p:par>
                              <p:par>
                                <p:cTn id="124" presetID="6" presetClass="emph" presetSubtype="0" accel="50000" decel="50000" fill="hold" nodeType="withEffect">
                                  <p:stCondLst>
                                    <p:cond delay="0"/>
                                  </p:stCondLst>
                                  <p:childTnLst>
                                    <p:animScale>
                                      <p:cBhvr>
                                        <p:cTn id="125" dur="2000" fill="hold"/>
                                        <p:tgtEl>
                                          <p:spTgt spid="53"/>
                                        </p:tgtEl>
                                      </p:cBhvr>
                                      <p:by x="150000" y="150000"/>
                                      <p:from x="100000" y="100000"/>
                                      <p:to x="398551" y="64555"/>
                                    </p:animScale>
                                  </p:childTnLst>
                                </p:cTn>
                              </p:par>
                              <p:par>
                                <p:cTn id="126" presetID="6" presetClass="emph" presetSubtype="0" accel="50000" decel="50000" fill="hold" grpId="2" nodeType="withEffect">
                                  <p:stCondLst>
                                    <p:cond delay="0"/>
                                  </p:stCondLst>
                                  <p:childTnLst>
                                    <p:animScale>
                                      <p:cBhvr>
                                        <p:cTn id="127" dur="2000" fill="hold"/>
                                        <p:tgtEl>
                                          <p:spTgt spid="65"/>
                                        </p:tgtEl>
                                      </p:cBhvr>
                                      <p:by x="150000" y="150000"/>
                                      <p:from x="25091" y="154908"/>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48" grpId="0"/>
      <p:bldP spid="60" grpId="0"/>
      <p:bldP spid="65" grpId="0" animBg="1"/>
      <p:bldP spid="65" grpId="1" animBg="1"/>
      <p:bldP spid="65" grpId="2" animBg="1"/>
      <p:bldP spid="66" grpId="0" animBg="1"/>
      <p:bldP spid="66" grpId="1" animBg="1"/>
      <p:bldP spid="66"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4800" y="116632"/>
            <a:ext cx="9831600" cy="640800"/>
          </a:xfrm>
        </p:spPr>
        <p:txBody>
          <a:bodyPr/>
          <a:lstStyle/>
          <a:p>
            <a:r>
              <a:rPr lang="en-US" dirty="0">
                <a:latin typeface="Arial" panose="020B0604020202020204" pitchFamily="34" charset="0"/>
              </a:rPr>
              <a:t>Non-Virtualized Storage Conversion Path in Cloud Computing</a:t>
            </a:r>
          </a:p>
        </p:txBody>
      </p:sp>
      <p:grpSp>
        <p:nvGrpSpPr>
          <p:cNvPr id="22" name="组合 21"/>
          <p:cNvGrpSpPr/>
          <p:nvPr/>
        </p:nvGrpSpPr>
        <p:grpSpPr>
          <a:xfrm>
            <a:off x="4014746" y="5304285"/>
            <a:ext cx="4097478" cy="609685"/>
            <a:chOff x="1741805" y="5735639"/>
            <a:chExt cx="4097478" cy="609685"/>
          </a:xfrm>
        </p:grpSpPr>
        <p:sp>
          <p:nvSpPr>
            <p:cNvPr id="3"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4"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grpSp>
        <p:nvGrpSpPr>
          <p:cNvPr id="23" name="组合 22"/>
          <p:cNvGrpSpPr/>
          <p:nvPr/>
        </p:nvGrpSpPr>
        <p:grpSpPr>
          <a:xfrm>
            <a:off x="4655840" y="4041762"/>
            <a:ext cx="2668985" cy="654286"/>
            <a:chOff x="2382899" y="4473116"/>
            <a:chExt cx="2668985" cy="654286"/>
          </a:xfrm>
        </p:grpSpPr>
        <p:grpSp>
          <p:nvGrpSpPr>
            <p:cNvPr id="6" name="组合 5"/>
            <p:cNvGrpSpPr/>
            <p:nvPr/>
          </p:nvGrpSpPr>
          <p:grpSpPr>
            <a:xfrm>
              <a:off x="4295800" y="4581128"/>
              <a:ext cx="430713" cy="546273"/>
              <a:chOff x="8407400" y="2055813"/>
              <a:chExt cx="360363" cy="458788"/>
            </a:xfrm>
            <a:solidFill>
              <a:srgbClr val="3ABABA"/>
            </a:solidFill>
          </p:grpSpPr>
          <p:sp>
            <p:nvSpPr>
              <p:cNvPr id="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11" name="组合 10"/>
            <p:cNvGrpSpPr/>
            <p:nvPr/>
          </p:nvGrpSpPr>
          <p:grpSpPr>
            <a:xfrm>
              <a:off x="3628545" y="4581129"/>
              <a:ext cx="446545" cy="546273"/>
              <a:chOff x="8435975" y="2055813"/>
              <a:chExt cx="373609" cy="458788"/>
            </a:xfrm>
            <a:solidFill>
              <a:srgbClr val="3ABABA"/>
            </a:solidFill>
          </p:grpSpPr>
          <p:sp>
            <p:nvSpPr>
              <p:cNvPr id="12" name="Freeform 219"/>
              <p:cNvSpPr>
                <a:spLocks noEditPoints="1"/>
              </p:cNvSpPr>
              <p:nvPr/>
            </p:nvSpPr>
            <p:spPr bwMode="auto">
              <a:xfrm>
                <a:off x="8449221"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grpSp>
          <p:nvGrpSpPr>
            <p:cNvPr id="16" name="组合 15"/>
            <p:cNvGrpSpPr/>
            <p:nvPr/>
          </p:nvGrpSpPr>
          <p:grpSpPr>
            <a:xfrm>
              <a:off x="2927134" y="4581129"/>
              <a:ext cx="463878" cy="546273"/>
              <a:chOff x="8435975" y="2055813"/>
              <a:chExt cx="388111" cy="458788"/>
            </a:xfrm>
            <a:solidFill>
              <a:srgbClr val="3ABABA"/>
            </a:solidFill>
          </p:grpSpPr>
          <p:sp>
            <p:nvSpPr>
              <p:cNvPr id="17" name="Freeform 219"/>
              <p:cNvSpPr>
                <a:spLocks noEditPoints="1"/>
              </p:cNvSpPr>
              <p:nvPr/>
            </p:nvSpPr>
            <p:spPr bwMode="auto">
              <a:xfrm>
                <a:off x="8463723"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1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sp>
            <p:nvSpPr>
              <p:cNvPr id="2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solidFill>
                    <a:srgbClr val="000000"/>
                  </a:solidFill>
                  <a:latin typeface="Arial" panose="020B0604020202020204" pitchFamily="34" charset="0"/>
                  <a:ea typeface="微软雅黑"/>
                  <a:cs typeface="+mn-ea"/>
                  <a:sym typeface="+mn-lt"/>
                </a:endParaRPr>
              </a:p>
            </p:txBody>
          </p:sp>
        </p:grpSp>
        <p:sp>
          <p:nvSpPr>
            <p:cNvPr id="21" name="圆角矩形 20"/>
            <p:cNvSpPr/>
            <p:nvPr/>
          </p:nvSpPr>
          <p:spPr bwMode="auto">
            <a:xfrm>
              <a:off x="2382899" y="4473116"/>
              <a:ext cx="2668985"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0" rIns="91440" bIns="0" numCol="1" rtlCol="0" anchor="ctr" anchorCtr="0" compatLnSpc="1">
              <a:prstTxWarp prst="textNoShape">
                <a:avLst/>
              </a:prstTxWarp>
            </a:bodyPr>
            <a:lstStyle/>
            <a:p>
              <a:r>
                <a:rPr lang="en-US" sz="1100" dirty="0" smtClean="0">
                  <a:solidFill>
                    <a:srgbClr val="000000"/>
                  </a:solidFill>
                  <a:latin typeface="Arial" panose="020B0604020202020204" pitchFamily="34" charset="0"/>
                  <a:ea typeface="微软雅黑"/>
                  <a:cs typeface="+mn-ea"/>
                  <a:sym typeface="+mn-lt"/>
                </a:rPr>
                <a:t>Physical</a:t>
              </a:r>
            </a:p>
            <a:p>
              <a:r>
                <a:rPr lang="en-US" sz="1100" dirty="0" smtClean="0">
                  <a:solidFill>
                    <a:srgbClr val="000000"/>
                  </a:solidFill>
                  <a:latin typeface="Arial" panose="020B0604020202020204" pitchFamily="34" charset="0"/>
                  <a:ea typeface="微软雅黑"/>
                  <a:cs typeface="+mn-ea"/>
                  <a:sym typeface="+mn-lt"/>
                </a:rPr>
                <a:t>volume</a:t>
              </a:r>
              <a:endParaRPr lang="en-US" sz="1100" dirty="0">
                <a:solidFill>
                  <a:srgbClr val="000000"/>
                </a:solidFill>
                <a:latin typeface="Arial" panose="020B0604020202020204" pitchFamily="34" charset="0"/>
                <a:ea typeface="微软雅黑"/>
                <a:cs typeface="+mn-ea"/>
                <a:sym typeface="+mn-lt"/>
              </a:endParaRPr>
            </a:p>
          </p:txBody>
        </p:sp>
      </p:grpSp>
      <p:sp>
        <p:nvSpPr>
          <p:cNvPr id="24" name="文本框 23"/>
          <p:cNvSpPr txBox="1"/>
          <p:nvPr/>
        </p:nvSpPr>
        <p:spPr bwMode="auto">
          <a:xfrm>
            <a:off x="4876553" y="5445918"/>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RAID or </a:t>
            </a:r>
            <a:r>
              <a:rPr lang="en-US" sz="1400" dirty="0" smtClean="0">
                <a:solidFill>
                  <a:srgbClr val="000000"/>
                </a:solidFill>
                <a:latin typeface="Arial" panose="020B0604020202020204" pitchFamily="34" charset="0"/>
                <a:ea typeface="微软雅黑"/>
                <a:cs typeface="Arial" pitchFamily="34" charset="0"/>
              </a:rPr>
              <a:t>Replication</a:t>
            </a:r>
            <a:endParaRPr lang="en-US" sz="1400" dirty="0">
              <a:solidFill>
                <a:srgbClr val="000000"/>
              </a:solidFill>
              <a:latin typeface="Arial" panose="020B0604020202020204" pitchFamily="34" charset="0"/>
              <a:ea typeface="微软雅黑"/>
              <a:cs typeface="Arial" pitchFamily="34" charset="0"/>
            </a:endParaRPr>
          </a:p>
        </p:txBody>
      </p:sp>
      <p:sp>
        <p:nvSpPr>
          <p:cNvPr id="25" name="文本框 24"/>
          <p:cNvSpPr txBox="1"/>
          <p:nvPr/>
        </p:nvSpPr>
        <p:spPr bwMode="auto">
          <a:xfrm>
            <a:off x="4876553" y="4257786"/>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Logical division</a:t>
            </a:r>
          </a:p>
        </p:txBody>
      </p:sp>
      <p:grpSp>
        <p:nvGrpSpPr>
          <p:cNvPr id="47" name="组合 46"/>
          <p:cNvGrpSpPr/>
          <p:nvPr/>
        </p:nvGrpSpPr>
        <p:grpSpPr>
          <a:xfrm>
            <a:off x="4655840" y="2960948"/>
            <a:ext cx="2632981" cy="648072"/>
            <a:chOff x="2418903" y="3392302"/>
            <a:chExt cx="2632981" cy="648072"/>
          </a:xfrm>
        </p:grpSpPr>
        <p:sp>
          <p:nvSpPr>
            <p:cNvPr id="43" name="圆角矩形 42"/>
            <p:cNvSpPr/>
            <p:nvPr/>
          </p:nvSpPr>
          <p:spPr bwMode="auto">
            <a:xfrm>
              <a:off x="2418903" y="3392302"/>
              <a:ext cx="2632981"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ctr" anchorCtr="0" compatLnSpc="1">
              <a:prstTxWarp prst="textNoShape">
                <a:avLst/>
              </a:prstTxWarp>
            </a:bodyPr>
            <a:lstStyle/>
            <a:p>
              <a:r>
                <a:rPr lang="en-US" sz="1100" dirty="0">
                  <a:solidFill>
                    <a:srgbClr val="000000"/>
                  </a:solidFill>
                  <a:latin typeface="Arial" panose="020B0604020202020204" pitchFamily="34" charset="0"/>
                  <a:ea typeface="微软雅黑"/>
                  <a:cs typeface="+mn-ea"/>
                  <a:sym typeface="+mn-lt"/>
                </a:rPr>
                <a:t>Logical</a:t>
              </a:r>
            </a:p>
            <a:p>
              <a:r>
                <a:rPr lang="en-US" sz="1100" dirty="0" smtClean="0">
                  <a:solidFill>
                    <a:srgbClr val="000000"/>
                  </a:solidFill>
                  <a:latin typeface="Arial" panose="020B0604020202020204" pitchFamily="34" charset="0"/>
                  <a:ea typeface="微软雅黑"/>
                  <a:cs typeface="+mn-ea"/>
                  <a:sym typeface="+mn-lt"/>
                </a:rPr>
                <a:t>volume</a:t>
              </a:r>
              <a:endParaRPr lang="en-US" sz="1100" dirty="0">
                <a:solidFill>
                  <a:srgbClr val="000000"/>
                </a:solidFill>
                <a:latin typeface="Arial" panose="020B0604020202020204" pitchFamily="34" charset="0"/>
                <a:ea typeface="微软雅黑"/>
                <a:cs typeface="+mn-ea"/>
                <a:sym typeface="+mn-lt"/>
              </a:endParaRPr>
            </a:p>
          </p:txBody>
        </p:sp>
        <p:sp>
          <p:nvSpPr>
            <p:cNvPr id="44" name="disc_30226"/>
            <p:cNvSpPr>
              <a:spLocks noChangeAspect="1"/>
            </p:cNvSpPr>
            <p:nvPr/>
          </p:nvSpPr>
          <p:spPr bwMode="auto">
            <a:xfrm>
              <a:off x="3030971"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5" name="disc_30226"/>
            <p:cNvSpPr>
              <a:spLocks noChangeAspect="1"/>
            </p:cNvSpPr>
            <p:nvPr/>
          </p:nvSpPr>
          <p:spPr bwMode="auto">
            <a:xfrm>
              <a:off x="3810960" y="3546365"/>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6" name="disc_30226"/>
            <p:cNvSpPr>
              <a:spLocks noChangeAspect="1"/>
            </p:cNvSpPr>
            <p:nvPr/>
          </p:nvSpPr>
          <p:spPr bwMode="auto">
            <a:xfrm>
              <a:off x="4590949"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grpSp>
      <p:sp>
        <p:nvSpPr>
          <p:cNvPr id="60" name="文本框 59"/>
          <p:cNvSpPr txBox="1"/>
          <p:nvPr/>
        </p:nvSpPr>
        <p:spPr bwMode="auto">
          <a:xfrm>
            <a:off x="5015880" y="3140968"/>
            <a:ext cx="2412268"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微软雅黑"/>
                <a:cs typeface="Arial" pitchFamily="34" charset="0"/>
              </a:rPr>
              <a:t>Attach to compute cluster</a:t>
            </a:r>
          </a:p>
        </p:txBody>
      </p:sp>
      <p:sp>
        <p:nvSpPr>
          <p:cNvPr id="67" name="database-settings-button-for-interface_30615"/>
          <p:cNvSpPr>
            <a:spLocks noChangeAspect="1"/>
          </p:cNvSpPr>
          <p:nvPr/>
        </p:nvSpPr>
        <p:spPr bwMode="auto">
          <a:xfrm>
            <a:off x="5771964" y="1556792"/>
            <a:ext cx="609685" cy="602951"/>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noFill/>
          <a:ln>
            <a:solidFill>
              <a:srgbClr val="00B0F0"/>
            </a:solidFill>
          </a:ln>
        </p:spPr>
        <p:txBody>
          <a:bodyPr/>
          <a:lstStyle/>
          <a:p>
            <a:endParaRPr lang="zh-CN" altLang="en-US">
              <a:solidFill>
                <a:srgbClr val="000000"/>
              </a:solidFill>
              <a:latin typeface="Arial" panose="020B0604020202020204" pitchFamily="34" charset="0"/>
            </a:endParaRPr>
          </a:p>
        </p:txBody>
      </p:sp>
    </p:spTree>
    <p:extLst>
      <p:ext uri="{BB962C8B-B14F-4D97-AF65-F5344CB8AC3E}">
        <p14:creationId xmlns:p14="http://schemas.microsoft.com/office/powerpoint/2010/main" val="28071922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repeatCount="30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Effect transition="in" filter="fade">
                                      <p:cBhvr>
                                        <p:cTn id="9" dur="1000"/>
                                        <p:tgtEl>
                                          <p:spTgt spid="24"/>
                                        </p:tgtEl>
                                      </p:cBhvr>
                                    </p:animEffect>
                                  </p:childTnLst>
                                  <p:subTnLst>
                                    <p:set>
                                      <p:cBhvr override="childStyle">
                                        <p:cTn dur="1" fill="hold" display="0" masterRel="sameClick" afterEffect="1">
                                          <p:stCondLst>
                                            <p:cond evt="end" delay="0">
                                              <p:tn val="5"/>
                                            </p:cond>
                                          </p:stCondLst>
                                        </p:cTn>
                                        <p:tgtEl>
                                          <p:spTgt spid="24"/>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2000"/>
                                        <p:tgtEl>
                                          <p:spTgt spid="22"/>
                                        </p:tgtEl>
                                      </p:cBhvr>
                                    </p:animEffect>
                                    <p:set>
                                      <p:cBhvr>
                                        <p:cTn id="14" dur="1" fill="hold">
                                          <p:stCondLst>
                                            <p:cond delay="1999"/>
                                          </p:stCondLst>
                                        </p:cTn>
                                        <p:tgtEl>
                                          <p:spTgt spid="22"/>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000"/>
                                        <p:tgtEl>
                                          <p:spTgt spid="23"/>
                                        </p:tgtEl>
                                      </p:cBhvr>
                                    </p:animEffect>
                                  </p:childTnLst>
                                </p:cTn>
                              </p:par>
                              <p:par>
                                <p:cTn id="18" presetID="63" presetClass="path" presetSubtype="0" accel="50000" decel="50000" fill="hold" nodeType="withEffect">
                                  <p:stCondLst>
                                    <p:cond delay="0"/>
                                  </p:stCondLst>
                                  <p:childTnLst>
                                    <p:animMotion origin="layout" path="M 4.375E-6 -4.07407E-6 L 0.00156 -0.18078 " pathEditMode="relative" rAng="0" ptsTypes="AA">
                                      <p:cBhvr>
                                        <p:cTn id="19" dur="2000" fill="hold"/>
                                        <p:tgtEl>
                                          <p:spTgt spid="22"/>
                                        </p:tgtEl>
                                        <p:attrNameLst>
                                          <p:attrName>ppt_x</p:attrName>
                                          <p:attrName>ppt_y</p:attrName>
                                        </p:attrNameLst>
                                      </p:cBhvr>
                                      <p:rCtr x="78" y="-9051"/>
                                    </p:animMotion>
                                  </p:childTnLst>
                                </p:cTn>
                              </p:par>
                              <p:par>
                                <p:cTn id="20" presetID="63" presetClass="path" presetSubtype="0" accel="50000" decel="50000" fill="hold" nodeType="withEffect">
                                  <p:stCondLst>
                                    <p:cond delay="0"/>
                                  </p:stCondLst>
                                  <p:childTnLst>
                                    <p:animMotion origin="layout" path="M -0.00157 0.18078 L 3.95833E-6 2.96296E-6 " pathEditMode="relative" rAng="0" ptsTypes="AA">
                                      <p:cBhvr>
                                        <p:cTn id="21" dur="2000" fill="hold"/>
                                        <p:tgtEl>
                                          <p:spTgt spid="23"/>
                                        </p:tgtEl>
                                        <p:attrNameLst>
                                          <p:attrName>ppt_x</p:attrName>
                                          <p:attrName>ppt_y</p:attrName>
                                        </p:attrNameLst>
                                      </p:cBhvr>
                                      <p:rCtr x="78" y="-9051"/>
                                    </p:animMotion>
                                  </p:childTnLst>
                                </p:cTn>
                              </p:par>
                              <p:par>
                                <p:cTn id="22" presetID="6" presetClass="emph" presetSubtype="0" accel="50000" decel="50000" fill="hold" nodeType="withEffect">
                                  <p:stCondLst>
                                    <p:cond delay="0"/>
                                  </p:stCondLst>
                                  <p:childTnLst>
                                    <p:animScale>
                                      <p:cBhvr>
                                        <p:cTn id="23" dur="2000" fill="hold"/>
                                        <p:tgtEl>
                                          <p:spTgt spid="22"/>
                                        </p:tgtEl>
                                      </p:cBhvr>
                                      <p:by x="150000" y="150000"/>
                                      <p:from x="100000" y="100000"/>
                                      <p:to x="60629" y="107315"/>
                                    </p:animScale>
                                  </p:childTnLst>
                                </p:cTn>
                              </p:par>
                              <p:par>
                                <p:cTn id="24" presetID="6" presetClass="emph" presetSubtype="0" accel="50000" decel="50000" fill="hold" nodeType="withEffect">
                                  <p:stCondLst>
                                    <p:cond delay="0"/>
                                  </p:stCondLst>
                                  <p:childTnLst>
                                    <p:animScale>
                                      <p:cBhvr>
                                        <p:cTn id="25" dur="2000" fill="hold"/>
                                        <p:tgtEl>
                                          <p:spTgt spid="23"/>
                                        </p:tgtEl>
                                      </p:cBhvr>
                                      <p:by x="150000" y="150000"/>
                                      <p:from x="164937" y="93183"/>
                                      <p:to x="100000" y="100000"/>
                                    </p:animScale>
                                  </p:childTnLst>
                                </p:cTn>
                              </p:par>
                            </p:childTnLst>
                          </p:cTn>
                        </p:par>
                      </p:childTnLst>
                    </p:cTn>
                  </p:par>
                  <p:par>
                    <p:cTn id="26" fill="hold">
                      <p:stCondLst>
                        <p:cond delay="indefinite"/>
                      </p:stCondLst>
                      <p:childTnLst>
                        <p:par>
                          <p:cTn id="27" fill="hold">
                            <p:stCondLst>
                              <p:cond delay="0"/>
                            </p:stCondLst>
                            <p:childTnLst>
                              <p:par>
                                <p:cTn id="28" presetID="53" presetClass="entr" presetSubtype="16" repeatCount="3000"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1000" fill="hold"/>
                                        <p:tgtEl>
                                          <p:spTgt spid="25"/>
                                        </p:tgtEl>
                                        <p:attrNameLst>
                                          <p:attrName>ppt_w</p:attrName>
                                        </p:attrNameLst>
                                      </p:cBhvr>
                                      <p:tavLst>
                                        <p:tav tm="0">
                                          <p:val>
                                            <p:fltVal val="0"/>
                                          </p:val>
                                        </p:tav>
                                        <p:tav tm="100000">
                                          <p:val>
                                            <p:strVal val="#ppt_w"/>
                                          </p:val>
                                        </p:tav>
                                      </p:tavLst>
                                    </p:anim>
                                    <p:anim calcmode="lin" valueType="num">
                                      <p:cBhvr>
                                        <p:cTn id="31" dur="1000" fill="hold"/>
                                        <p:tgtEl>
                                          <p:spTgt spid="25"/>
                                        </p:tgtEl>
                                        <p:attrNameLst>
                                          <p:attrName>ppt_h</p:attrName>
                                        </p:attrNameLst>
                                      </p:cBhvr>
                                      <p:tavLst>
                                        <p:tav tm="0">
                                          <p:val>
                                            <p:fltVal val="0"/>
                                          </p:val>
                                        </p:tav>
                                        <p:tav tm="100000">
                                          <p:val>
                                            <p:strVal val="#ppt_h"/>
                                          </p:val>
                                        </p:tav>
                                      </p:tavLst>
                                    </p:anim>
                                    <p:animEffect transition="in" filter="fade">
                                      <p:cBhvr>
                                        <p:cTn id="32" dur="1000"/>
                                        <p:tgtEl>
                                          <p:spTgt spid="25"/>
                                        </p:tgtEl>
                                      </p:cBhvr>
                                    </p:animEffect>
                                  </p:childTnLst>
                                  <p:subTnLst>
                                    <p:set>
                                      <p:cBhvr override="childStyle">
                                        <p:cTn dur="1" fill="hold" display="0" masterRel="sameClick" afterEffect="1">
                                          <p:stCondLst>
                                            <p:cond evt="end" delay="0">
                                              <p:tn val="28"/>
                                            </p:cond>
                                          </p:stCondLst>
                                        </p:cTn>
                                        <p:tgtEl>
                                          <p:spTgt spid="2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23"/>
                                        </p:tgtEl>
                                      </p:cBhvr>
                                    </p:animEffect>
                                    <p:set>
                                      <p:cBhvr>
                                        <p:cTn id="37" dur="1" fill="hold">
                                          <p:stCondLst>
                                            <p:cond delay="1999"/>
                                          </p:stCondLst>
                                        </p:cTn>
                                        <p:tgtEl>
                                          <p:spTgt spid="23"/>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2000"/>
                                        <p:tgtEl>
                                          <p:spTgt spid="47"/>
                                        </p:tgtEl>
                                      </p:cBhvr>
                                    </p:animEffect>
                                  </p:childTnLst>
                                </p:cTn>
                              </p:par>
                              <p:par>
                                <p:cTn id="41" presetID="63" presetClass="path" presetSubtype="0" accel="50000" decel="50000" fill="hold" nodeType="withEffect">
                                  <p:stCondLst>
                                    <p:cond delay="0"/>
                                  </p:stCondLst>
                                  <p:childTnLst>
                                    <p:animMotion origin="layout" path="M 3.95833E-6 2.96296E-6 L -0.003 -0.1581 " pathEditMode="relative" rAng="0" ptsTypes="AA">
                                      <p:cBhvr>
                                        <p:cTn id="42" dur="2000" fill="hold"/>
                                        <p:tgtEl>
                                          <p:spTgt spid="23"/>
                                        </p:tgtEl>
                                        <p:attrNameLst>
                                          <p:attrName>ppt_x</p:attrName>
                                          <p:attrName>ppt_y</p:attrName>
                                        </p:attrNameLst>
                                      </p:cBhvr>
                                      <p:rCtr x="-156" y="-7917"/>
                                    </p:animMotion>
                                  </p:childTnLst>
                                </p:cTn>
                              </p:par>
                              <p:par>
                                <p:cTn id="43" presetID="63" presetClass="path" presetSubtype="0" accel="50000" decel="50000" fill="hold" nodeType="withEffect">
                                  <p:stCondLst>
                                    <p:cond delay="0"/>
                                  </p:stCondLst>
                                  <p:childTnLst>
                                    <p:animMotion origin="layout" path="M 0.003 0.1581 L -3.75E-6 4.81481E-6 " pathEditMode="relative" rAng="0" ptsTypes="AA">
                                      <p:cBhvr>
                                        <p:cTn id="44" dur="2000" fill="hold"/>
                                        <p:tgtEl>
                                          <p:spTgt spid="47"/>
                                        </p:tgtEl>
                                        <p:attrNameLst>
                                          <p:attrName>ppt_x</p:attrName>
                                          <p:attrName>ppt_y</p:attrName>
                                        </p:attrNameLst>
                                      </p:cBhvr>
                                      <p:rCtr x="-156" y="-7917"/>
                                    </p:animMotion>
                                  </p:childTnLst>
                                </p:cTn>
                              </p:par>
                              <p:par>
                                <p:cTn id="45" presetID="6" presetClass="emph" presetSubtype="0" accel="50000" decel="50000" fill="hold" nodeType="withEffect">
                                  <p:stCondLst>
                                    <p:cond delay="0"/>
                                  </p:stCondLst>
                                  <p:childTnLst>
                                    <p:animScale>
                                      <p:cBhvr>
                                        <p:cTn id="46" dur="2000" fill="hold"/>
                                        <p:tgtEl>
                                          <p:spTgt spid="23"/>
                                        </p:tgtEl>
                                      </p:cBhvr>
                                      <p:by x="150000" y="150000"/>
                                      <p:from x="100000" y="100000"/>
                                      <p:to x="100000" y="99050"/>
                                    </p:animScale>
                                  </p:childTnLst>
                                </p:cTn>
                              </p:par>
                              <p:par>
                                <p:cTn id="47" presetID="6" presetClass="emph" presetSubtype="0" accel="50000" decel="50000" fill="hold" nodeType="withEffect">
                                  <p:stCondLst>
                                    <p:cond delay="0"/>
                                  </p:stCondLst>
                                  <p:childTnLst>
                                    <p:animScale>
                                      <p:cBhvr>
                                        <p:cTn id="48" dur="2000" fill="hold"/>
                                        <p:tgtEl>
                                          <p:spTgt spid="47"/>
                                        </p:tgtEl>
                                      </p:cBhvr>
                                      <p:by x="150000" y="150000"/>
                                      <p:from x="100000" y="100959"/>
                                      <p:to x="100000" y="100000"/>
                                    </p:animScale>
                                  </p:childTnLst>
                                </p:cTn>
                              </p:par>
                            </p:childTnLst>
                          </p:cTn>
                        </p:par>
                      </p:childTnLst>
                    </p:cTn>
                  </p:par>
                  <p:par>
                    <p:cTn id="49" fill="hold">
                      <p:stCondLst>
                        <p:cond delay="indefinite"/>
                      </p:stCondLst>
                      <p:childTnLst>
                        <p:par>
                          <p:cTn id="50" fill="hold">
                            <p:stCondLst>
                              <p:cond delay="0"/>
                            </p:stCondLst>
                            <p:childTnLst>
                              <p:par>
                                <p:cTn id="51" presetID="53" presetClass="entr" presetSubtype="16" repeatCount="3000"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anim calcmode="lin" valueType="num">
                                      <p:cBhvr>
                                        <p:cTn id="53" dur="1000" fill="hold"/>
                                        <p:tgtEl>
                                          <p:spTgt spid="60"/>
                                        </p:tgtEl>
                                        <p:attrNameLst>
                                          <p:attrName>ppt_w</p:attrName>
                                        </p:attrNameLst>
                                      </p:cBhvr>
                                      <p:tavLst>
                                        <p:tav tm="0">
                                          <p:val>
                                            <p:fltVal val="0"/>
                                          </p:val>
                                        </p:tav>
                                        <p:tav tm="100000">
                                          <p:val>
                                            <p:strVal val="#ppt_w"/>
                                          </p:val>
                                        </p:tav>
                                      </p:tavLst>
                                    </p:anim>
                                    <p:anim calcmode="lin" valueType="num">
                                      <p:cBhvr>
                                        <p:cTn id="54" dur="1000" fill="hold"/>
                                        <p:tgtEl>
                                          <p:spTgt spid="60"/>
                                        </p:tgtEl>
                                        <p:attrNameLst>
                                          <p:attrName>ppt_h</p:attrName>
                                        </p:attrNameLst>
                                      </p:cBhvr>
                                      <p:tavLst>
                                        <p:tav tm="0">
                                          <p:val>
                                            <p:fltVal val="0"/>
                                          </p:val>
                                        </p:tav>
                                        <p:tav tm="100000">
                                          <p:val>
                                            <p:strVal val="#ppt_h"/>
                                          </p:val>
                                        </p:tav>
                                      </p:tavLst>
                                    </p:anim>
                                    <p:animEffect transition="in" filter="fade">
                                      <p:cBhvr>
                                        <p:cTn id="55" dur="1000"/>
                                        <p:tgtEl>
                                          <p:spTgt spid="60"/>
                                        </p:tgtEl>
                                      </p:cBhvr>
                                    </p:animEffect>
                                  </p:childTnLst>
                                  <p:subTnLst>
                                    <p:set>
                                      <p:cBhvr override="childStyle">
                                        <p:cTn dur="1" fill="hold" display="0" masterRel="sameClick" afterEffect="1">
                                          <p:stCondLst>
                                            <p:cond evt="end" delay="0">
                                              <p:tn val="51"/>
                                            </p:cond>
                                          </p:stCondLst>
                                        </p:cTn>
                                        <p:tgtEl>
                                          <p:spTgt spid="60"/>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2000"/>
                                        <p:tgtEl>
                                          <p:spTgt spid="47"/>
                                        </p:tgtEl>
                                      </p:cBhvr>
                                    </p:animEffect>
                                    <p:set>
                                      <p:cBhvr>
                                        <p:cTn id="60" dur="1" fill="hold">
                                          <p:stCondLst>
                                            <p:cond delay="1999"/>
                                          </p:stCondLst>
                                        </p:cTn>
                                        <p:tgtEl>
                                          <p:spTgt spid="47"/>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fade">
                                      <p:cBhvr>
                                        <p:cTn id="63" dur="2000"/>
                                        <p:tgtEl>
                                          <p:spTgt spid="67"/>
                                        </p:tgtEl>
                                      </p:cBhvr>
                                    </p:animEffect>
                                  </p:childTnLst>
                                </p:cTn>
                              </p:par>
                              <p:par>
                                <p:cTn id="64" presetID="63" presetClass="path" presetSubtype="0" accel="50000" decel="50000" fill="hold" nodeType="withEffect">
                                  <p:stCondLst>
                                    <p:cond delay="0"/>
                                  </p:stCondLst>
                                  <p:childTnLst>
                                    <p:animMotion origin="layout" path="M -3.75E-6 4.81481E-6 L 0.00248 -0.20811 " pathEditMode="relative" rAng="0" ptsTypes="AA">
                                      <p:cBhvr>
                                        <p:cTn id="65" dur="2000" fill="hold"/>
                                        <p:tgtEl>
                                          <p:spTgt spid="47"/>
                                        </p:tgtEl>
                                        <p:attrNameLst>
                                          <p:attrName>ppt_x</p:attrName>
                                          <p:attrName>ppt_y</p:attrName>
                                        </p:attrNameLst>
                                      </p:cBhvr>
                                      <p:rCtr x="117" y="-10417"/>
                                    </p:animMotion>
                                  </p:childTnLst>
                                </p:cTn>
                              </p:par>
                              <p:par>
                                <p:cTn id="66" presetID="63" presetClass="path" presetSubtype="0" accel="50000" decel="50000" fill="hold" nodeType="withEffect">
                                  <p:stCondLst>
                                    <p:cond delay="0"/>
                                  </p:stCondLst>
                                  <p:childTnLst>
                                    <p:animMotion origin="layout" path="M -0.002471 0.208037 L 0 0 E" pathEditMode="relative" ptsTypes="">
                                      <p:cBhvr>
                                        <p:cTn id="67" dur="2000" fill="hold"/>
                                        <p:tgtEl>
                                          <p:spTgt spid="67"/>
                                        </p:tgtEl>
                                        <p:attrNameLst>
                                          <p:attrName>ppt_x</p:attrName>
                                          <p:attrName>ppt_y</p:attrName>
                                        </p:attrNameLst>
                                      </p:cBhvr>
                                    </p:animMotion>
                                  </p:childTnLst>
                                </p:cTn>
                              </p:par>
                              <p:par>
                                <p:cTn id="68" presetID="6" presetClass="emph" presetSubtype="0" accel="50000" decel="50000" fill="hold" nodeType="withEffect">
                                  <p:stCondLst>
                                    <p:cond delay="0"/>
                                  </p:stCondLst>
                                  <p:childTnLst>
                                    <p:animScale>
                                      <p:cBhvr>
                                        <p:cTn id="69" dur="2000" fill="hold"/>
                                        <p:tgtEl>
                                          <p:spTgt spid="47"/>
                                        </p:tgtEl>
                                      </p:cBhvr>
                                      <p:by x="150000" y="150000"/>
                                      <p:from x="100000" y="100000"/>
                                      <p:to x="24542" y="93038"/>
                                    </p:animScale>
                                  </p:childTnLst>
                                </p:cTn>
                              </p:par>
                              <p:par>
                                <p:cTn id="70" presetID="6" presetClass="emph" presetSubtype="0" accel="50000" decel="50000" fill="hold" nodeType="withEffect">
                                  <p:stCondLst>
                                    <p:cond delay="0"/>
                                  </p:stCondLst>
                                  <p:childTnLst>
                                    <p:animScale>
                                      <p:cBhvr>
                                        <p:cTn id="71" dur="2000" fill="hold"/>
                                        <p:tgtEl>
                                          <p:spTgt spid="67"/>
                                        </p:tgtEl>
                                      </p:cBhvr>
                                      <p:by x="150000" y="150000"/>
                                      <p:from x="407469" y="107483"/>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latin typeface="Arial" panose="020B0604020202020204" pitchFamily="34" charset="0"/>
              </a:rPr>
              <a:t>Storage Architecture for Virtualization</a:t>
            </a:r>
          </a:p>
          <a:p>
            <a:r>
              <a:rPr lang="en-US" b="1" dirty="0">
                <a:latin typeface="Arial" panose="020B0604020202020204" pitchFamily="34" charset="0"/>
              </a:rPr>
              <a:t>Physical Disk Types and Related Techniques</a:t>
            </a:r>
          </a:p>
          <a:p>
            <a:r>
              <a:rPr lang="en-US" dirty="0">
                <a:solidFill>
                  <a:schemeClr val="bg1">
                    <a:lumMod val="50000"/>
                  </a:schemeClr>
                </a:solidFill>
                <a:latin typeface="Arial" panose="020B0604020202020204" pitchFamily="34" charset="0"/>
              </a:rPr>
              <a:t>Centralized Storage vs. Distributed Storage</a:t>
            </a:r>
          </a:p>
          <a:p>
            <a:r>
              <a:rPr lang="en-US" dirty="0">
                <a:solidFill>
                  <a:schemeClr val="bg1">
                    <a:lumMod val="50000"/>
                  </a:schemeClr>
                </a:solidFill>
                <a:latin typeface="Arial" panose="020B0604020202020204" pitchFamily="34" charset="0"/>
              </a:rPr>
              <a:t>Virtualized Storage vs. Non-Virtualized Storage</a:t>
            </a:r>
          </a:p>
          <a:p>
            <a:r>
              <a:rPr lang="en-US" dirty="0">
                <a:solidFill>
                  <a:schemeClr val="bg1">
                    <a:lumMod val="50000"/>
                  </a:schemeClr>
                </a:solidFill>
                <a:latin typeface="Arial" panose="020B0604020202020204" pitchFamily="34" charset="0"/>
              </a:rPr>
              <a:t>Introduction to VM Disks</a:t>
            </a:r>
          </a:p>
          <a:p>
            <a:r>
              <a:rPr lang="en-US" dirty="0">
                <a:solidFill>
                  <a:schemeClr val="bg1">
                    <a:lumMod val="50000"/>
                  </a:schemeClr>
                </a:solidFill>
                <a:latin typeface="Arial" panose="020B0604020202020204" pitchFamily="34" charset="0"/>
              </a:rPr>
              <a:t>Storage Features of Huawei’s Virtualization Product</a:t>
            </a:r>
          </a:p>
        </p:txBody>
      </p:sp>
    </p:spTree>
    <p:extLst>
      <p:ext uri="{BB962C8B-B14F-4D97-AF65-F5344CB8AC3E}">
        <p14:creationId xmlns:p14="http://schemas.microsoft.com/office/powerpoint/2010/main" val="11665514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Physical Disk Type - SATA</a:t>
            </a:r>
          </a:p>
        </p:txBody>
      </p:sp>
      <p:sp>
        <p:nvSpPr>
          <p:cNvPr id="107" name="文本占位符 106"/>
          <p:cNvSpPr>
            <a:spLocks noGrp="1"/>
          </p:cNvSpPr>
          <p:nvPr>
            <p:ph type="body" sz="quarter" idx="10"/>
          </p:nvPr>
        </p:nvSpPr>
        <p:spPr>
          <a:xfrm>
            <a:off x="912285" y="1233488"/>
            <a:ext cx="6371847" cy="4680000"/>
          </a:xfrm>
        </p:spPr>
        <p:txBody>
          <a:bodyPr/>
          <a:lstStyle/>
          <a:p>
            <a:pPr algn="l"/>
            <a:r>
              <a:rPr lang="en-US" sz="2000" dirty="0" smtClean="0">
                <a:latin typeface="Arial" panose="020B0604020202020204" pitchFamily="34" charset="0"/>
              </a:rPr>
              <a:t>SATA </a:t>
            </a:r>
            <a:r>
              <a:rPr lang="en-US" sz="2000" dirty="0">
                <a:latin typeface="Arial" panose="020B0604020202020204" pitchFamily="34" charset="0"/>
              </a:rPr>
              <a:t>(</a:t>
            </a:r>
            <a:r>
              <a:rPr lang="en-US" sz="2000" dirty="0" smtClean="0">
                <a:latin typeface="Arial" panose="020B0604020202020204" pitchFamily="34" charset="0"/>
              </a:rPr>
              <a:t>Serial </a:t>
            </a:r>
            <a:r>
              <a:rPr lang="en-US" sz="2000" dirty="0">
                <a:latin typeface="Arial" panose="020B0604020202020204" pitchFamily="34" charset="0"/>
              </a:rPr>
              <a:t>Advanced Technology </a:t>
            </a:r>
            <a:r>
              <a:rPr lang="en-US" sz="2000" dirty="0" smtClean="0">
                <a:latin typeface="Arial" panose="020B0604020202020204" pitchFamily="34" charset="0"/>
              </a:rPr>
              <a:t>Attachment), </a:t>
            </a:r>
            <a:r>
              <a:rPr lang="en-US" sz="2000" dirty="0">
                <a:latin typeface="Arial" panose="020B0604020202020204" pitchFamily="34" charset="0"/>
              </a:rPr>
              <a:t>also called serial ATA, is a computer bus interface that connects host bus adapters to mass storage devices. Using serial communication, the serial ATA bus uses embedded clock signals to check transmission commands (not only data) and automatically corrects detected errors, ensuring reliable data transmission for SATA disks. The SATA interface is </a:t>
            </a:r>
            <a:r>
              <a:rPr lang="en-US" sz="2000" dirty="0" smtClean="0">
                <a:latin typeface="Arial" panose="020B0604020202020204" pitchFamily="34" charset="0"/>
              </a:rPr>
              <a:t>simple </a:t>
            </a:r>
            <a:r>
              <a:rPr lang="en-US" sz="2000" dirty="0">
                <a:latin typeface="Arial" panose="020B0604020202020204" pitchFamily="34" charset="0"/>
              </a:rPr>
              <a:t>and </a:t>
            </a:r>
            <a:r>
              <a:rPr lang="en-US" sz="2000" dirty="0" smtClean="0">
                <a:latin typeface="Arial" panose="020B0604020202020204" pitchFamily="34" charset="0"/>
              </a:rPr>
              <a:t>the disks are hot-swappable</a:t>
            </a:r>
            <a:r>
              <a:rPr lang="en-US" sz="2000" dirty="0">
                <a:latin typeface="Arial" panose="020B0604020202020204" pitchFamily="34" charset="0"/>
              </a:rPr>
              <a:t>.</a:t>
            </a:r>
          </a:p>
          <a:p>
            <a:endParaRPr lang="zh-CN" altLang="en-US" sz="2000" dirty="0">
              <a:latin typeface="Arial" panose="020B0604020202020204" pitchFamily="34" charset="0"/>
            </a:endParaRPr>
          </a:p>
        </p:txBody>
      </p:sp>
      <p:pic>
        <p:nvPicPr>
          <p:cNvPr id="108" name="Picture 2" descr="C:\Users\swx632340\AppData\Roaming\eSpace_Desktop\UserData\swx632340\imagefiles\3FCEBCD0-978B-40F0-861D-0759B18CB73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156" y="1988840"/>
            <a:ext cx="3754240" cy="3096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1241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Physical Disk Type - SAS</a:t>
            </a:r>
          </a:p>
        </p:txBody>
      </p:sp>
      <p:sp>
        <p:nvSpPr>
          <p:cNvPr id="107" name="文本占位符 106"/>
          <p:cNvSpPr>
            <a:spLocks noGrp="1"/>
          </p:cNvSpPr>
          <p:nvPr>
            <p:ph type="body" sz="quarter" idx="10"/>
          </p:nvPr>
        </p:nvSpPr>
        <p:spPr>
          <a:xfrm>
            <a:off x="912285" y="1304764"/>
            <a:ext cx="6335843" cy="4680000"/>
          </a:xfrm>
        </p:spPr>
        <p:txBody>
          <a:bodyPr/>
          <a:lstStyle/>
          <a:p>
            <a:pPr algn="l"/>
            <a:r>
              <a:rPr lang="en-US" sz="2000" dirty="0">
                <a:latin typeface="Arial" panose="020B0604020202020204" pitchFamily="34" charset="0"/>
              </a:rPr>
              <a:t>Serial Attached SCSI (SAS) is a new-generation SCSI technology, which, like the popular Serial ATA (SATA), also uses serial communication to achieve a higher transmission speed. Compared with the older parallel SCSI, SAS improves the efficiency, availability, and scalability of storage systems and offers optional compatibility with SATA.</a:t>
            </a:r>
          </a:p>
        </p:txBody>
      </p:sp>
      <p:pic>
        <p:nvPicPr>
          <p:cNvPr id="5" name="Picture 9" descr="1134408971modifi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6160" y="1844824"/>
            <a:ext cx="3675526" cy="2982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197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Physical Disk Type - NL-SAS</a:t>
            </a:r>
          </a:p>
        </p:txBody>
      </p:sp>
      <p:sp>
        <p:nvSpPr>
          <p:cNvPr id="107" name="文本占位符 106"/>
          <p:cNvSpPr>
            <a:spLocks noGrp="1"/>
          </p:cNvSpPr>
          <p:nvPr>
            <p:ph type="body" sz="quarter" idx="10"/>
          </p:nvPr>
        </p:nvSpPr>
        <p:spPr>
          <a:xfrm>
            <a:off x="912285" y="1233488"/>
            <a:ext cx="6119819" cy="4680000"/>
          </a:xfrm>
        </p:spPr>
        <p:txBody>
          <a:bodyPr/>
          <a:lstStyle/>
          <a:p>
            <a:pPr algn="l"/>
            <a:r>
              <a:rPr lang="en-US" sz="2000" dirty="0">
                <a:latin typeface="Arial" panose="020B0604020202020204" pitchFamily="34" charset="0"/>
              </a:rPr>
              <a:t>Nearline SAS (NL-SAS) disks are a combination of a SAS interface with SATA disks. The rotational speed of NL-SAS disks is only 7200 rpm, </a:t>
            </a:r>
            <a:r>
              <a:rPr lang="en-US" sz="2000" dirty="0" smtClean="0">
                <a:latin typeface="Arial" panose="020B0604020202020204" pitchFamily="34" charset="0"/>
              </a:rPr>
              <a:t>so </a:t>
            </a:r>
            <a:r>
              <a:rPr lang="en-US" sz="2000" dirty="0">
                <a:latin typeface="Arial" panose="020B0604020202020204" pitchFamily="34" charset="0"/>
              </a:rPr>
              <a:t>performance </a:t>
            </a:r>
            <a:r>
              <a:rPr lang="en-US" sz="2000" dirty="0" smtClean="0">
                <a:latin typeface="Arial" panose="020B0604020202020204" pitchFamily="34" charset="0"/>
              </a:rPr>
              <a:t>is lower than that of </a:t>
            </a:r>
            <a:r>
              <a:rPr lang="en-US" sz="2000" dirty="0">
                <a:latin typeface="Arial" panose="020B0604020202020204" pitchFamily="34" charset="0"/>
              </a:rPr>
              <a:t>SAS disks. However, with the SAS interface, addressing and speed are </a:t>
            </a:r>
            <a:r>
              <a:rPr lang="en-US" sz="2000" dirty="0" smtClean="0">
                <a:latin typeface="Arial" panose="020B0604020202020204" pitchFamily="34" charset="0"/>
              </a:rPr>
              <a:t>improved.</a:t>
            </a:r>
            <a:endParaRPr lang="en-US" sz="2000" dirty="0">
              <a:latin typeface="Arial" panose="020B0604020202020204" pitchFamily="34" charset="0"/>
            </a:endParaRPr>
          </a:p>
          <a:p>
            <a:pPr algn="l"/>
            <a:endParaRPr lang="zh-CN" altLang="en-US" sz="2000" dirty="0">
              <a:latin typeface="Arial" panose="020B0604020202020204" pitchFamily="34" charset="0"/>
            </a:endParaRPr>
          </a:p>
        </p:txBody>
      </p:sp>
      <p:pic>
        <p:nvPicPr>
          <p:cNvPr id="5" name="Picture 2" descr="C:\Users\swx632340\AppData\Roaming\eSpace_Desktop\UserData\swx632340\imagefiles\C945397E-B5CB-428B-A554-71C5ACAC5C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7788188" y="1484784"/>
            <a:ext cx="3257550"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0970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Physical Disk Type - SSD</a:t>
            </a:r>
          </a:p>
        </p:txBody>
      </p:sp>
      <p:sp>
        <p:nvSpPr>
          <p:cNvPr id="107" name="文本占位符 106"/>
          <p:cNvSpPr>
            <a:spLocks noGrp="1"/>
          </p:cNvSpPr>
          <p:nvPr>
            <p:ph type="body" sz="quarter" idx="10"/>
          </p:nvPr>
        </p:nvSpPr>
        <p:spPr>
          <a:xfrm>
            <a:off x="1056301" y="1233488"/>
            <a:ext cx="6659879" cy="4680000"/>
          </a:xfrm>
        </p:spPr>
        <p:txBody>
          <a:bodyPr/>
          <a:lstStyle/>
          <a:p>
            <a:pPr algn="l"/>
            <a:r>
              <a:rPr lang="en-US" sz="2000" dirty="0">
                <a:latin typeface="Arial" panose="020B0604020202020204" pitchFamily="34" charset="0"/>
              </a:rPr>
              <a:t>A solid-state drive (SSD) is a solid-state storage device that uses integrated circuit assemblies as </a:t>
            </a:r>
            <a:r>
              <a:rPr lang="en-US" sz="2000" dirty="0" smtClean="0">
                <a:latin typeface="Arial" panose="020B0604020202020204" pitchFamily="34" charset="0"/>
              </a:rPr>
              <a:t>non-volatile memory. </a:t>
            </a:r>
            <a:r>
              <a:rPr lang="en-US" sz="2000" dirty="0">
                <a:latin typeface="Arial" panose="020B0604020202020204" pitchFamily="34" charset="0"/>
              </a:rPr>
              <a:t>An SSD consists of a control unit and a storage unit (flash or DRAM chip). </a:t>
            </a:r>
            <a:r>
              <a:rPr lang="en-US" sz="2000" dirty="0" smtClean="0">
                <a:latin typeface="Arial" panose="020B0604020202020204" pitchFamily="34" charset="0"/>
              </a:rPr>
              <a:t>An SSD is the </a:t>
            </a:r>
            <a:r>
              <a:rPr lang="en-US" sz="2000" dirty="0">
                <a:latin typeface="Arial" panose="020B0604020202020204" pitchFamily="34" charset="0"/>
              </a:rPr>
              <a:t>same as a common hard disk drive (HDD) in terms of </a:t>
            </a:r>
            <a:r>
              <a:rPr lang="en-US" sz="2000" dirty="0" smtClean="0">
                <a:latin typeface="Arial" panose="020B0604020202020204" pitchFamily="34" charset="0"/>
              </a:rPr>
              <a:t>interface specifications </a:t>
            </a:r>
            <a:r>
              <a:rPr lang="en-US" sz="2000" dirty="0">
                <a:latin typeface="Arial" panose="020B0604020202020204" pitchFamily="34" charset="0"/>
              </a:rPr>
              <a:t>and </a:t>
            </a:r>
            <a:r>
              <a:rPr lang="en-US" sz="2000" dirty="0" smtClean="0">
                <a:latin typeface="Arial" panose="020B0604020202020204" pitchFamily="34" charset="0"/>
              </a:rPr>
              <a:t>definition, </a:t>
            </a:r>
            <a:r>
              <a:rPr lang="en-US" sz="2000" dirty="0">
                <a:latin typeface="Arial" panose="020B0604020202020204" pitchFamily="34" charset="0"/>
              </a:rPr>
              <a:t>functionality, usage, and product shape and size. Although SSDs deliver fast read/write performance, light weight, low power consumption, and compact sizes which traditional HDDs cannot rival, SSDs have a shorter lifespan and higher </a:t>
            </a:r>
            <a:r>
              <a:rPr lang="en-US" sz="2000" dirty="0" smtClean="0">
                <a:latin typeface="Arial" panose="020B0604020202020204" pitchFamily="34" charset="0"/>
              </a:rPr>
              <a:t>price.</a:t>
            </a:r>
            <a:endParaRPr lang="en-US" sz="2000" dirty="0">
              <a:latin typeface="Arial" panose="020B0604020202020204" pitchFamily="34" charset="0"/>
            </a:endParaRPr>
          </a:p>
          <a:p>
            <a:endParaRPr lang="zh-CN" altLang="en-US" sz="2000" dirty="0">
              <a:latin typeface="Arial" panose="020B0604020202020204" pitchFamily="34" charset="0"/>
            </a:endParaRPr>
          </a:p>
        </p:txBody>
      </p:sp>
      <p:pic>
        <p:nvPicPr>
          <p:cNvPr id="6" name="Picture 2" descr="C:\Users\swx632340\AppData\Roaming\eSpace_Desktop\UserData\swx632340\imagefiles\D9D390B6-F69A-491C-B769-2AC9AC890D3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204" y="1628800"/>
            <a:ext cx="3152080" cy="3309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8392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Comparing Different Types of Physical Disks</a:t>
            </a:r>
          </a:p>
        </p:txBody>
      </p:sp>
      <p:grpSp>
        <p:nvGrpSpPr>
          <p:cNvPr id="5" name="íṣlíḓe"/>
          <p:cNvGrpSpPr/>
          <p:nvPr/>
        </p:nvGrpSpPr>
        <p:grpSpPr>
          <a:xfrm>
            <a:off x="1825401" y="1592796"/>
            <a:ext cx="8411060" cy="4035718"/>
            <a:chOff x="805621" y="1905000"/>
            <a:chExt cx="7944679" cy="2600753"/>
          </a:xfrm>
        </p:grpSpPr>
        <p:cxnSp>
          <p:nvCxnSpPr>
            <p:cNvPr id="6" name="直接连接符 5"/>
            <p:cNvCxnSpPr/>
            <p:nvPr/>
          </p:nvCxnSpPr>
          <p:spPr>
            <a:xfrm>
              <a:off x="805621" y="4494038"/>
              <a:ext cx="7944679" cy="0"/>
            </a:xfrm>
            <a:prstGeom prst="line">
              <a:avLst/>
            </a:prstGeom>
            <a:ln w="28575">
              <a:solidFill>
                <a:schemeClr val="tx2"/>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811479" y="1905000"/>
              <a:ext cx="0" cy="2600753"/>
            </a:xfrm>
            <a:prstGeom prst="line">
              <a:avLst/>
            </a:prstGeom>
            <a:ln w="28575">
              <a:solidFill>
                <a:schemeClr val="tx2"/>
              </a:solidFill>
              <a:headEnd type="none" w="med"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2794509" y="4113076"/>
            <a:ext cx="637195" cy="637195"/>
            <a:chOff x="2614489" y="4519997"/>
            <a:chExt cx="637195" cy="637195"/>
          </a:xfrm>
        </p:grpSpPr>
        <p:pic>
          <p:nvPicPr>
            <p:cNvPr id="9" name="Picture 2" descr="C:\Users\swx632340\AppData\Roaming\eSpace_Desktop\UserData\swx632340\imagefiles\3FCEBCD0-978B-40F0-861D-0759B18CB739.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9616" y="4581128"/>
              <a:ext cx="592485" cy="488658"/>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îṩḷîdè"/>
            <p:cNvGrpSpPr/>
            <p:nvPr/>
          </p:nvGrpSpPr>
          <p:grpSpPr>
            <a:xfrm>
              <a:off x="2614489" y="4519997"/>
              <a:ext cx="637195" cy="637195"/>
              <a:chOff x="1040960" y="4123975"/>
              <a:chExt cx="562325" cy="562325"/>
            </a:xfrm>
            <a:noFill/>
          </p:grpSpPr>
          <p:sp>
            <p:nvSpPr>
              <p:cNvPr id="11" name="íślïḍè"/>
              <p:cNvSpPr/>
              <p:nvPr/>
            </p:nvSpPr>
            <p:spPr bwMode="auto">
              <a:xfrm>
                <a:off x="1040960" y="4123975"/>
                <a:ext cx="562325" cy="562325"/>
              </a:xfrm>
              <a:prstGeom prst="ellipse">
                <a:avLst/>
              </a:prstGeom>
              <a:grpFill/>
              <a:ln w="19050">
                <a:solidFill>
                  <a:srgbClr val="00B050"/>
                </a:solidFill>
                <a:round/>
                <a:headEnd/>
                <a:tailEnd/>
              </a:ln>
            </p:spPr>
            <p:txBody>
              <a:bodyPr anchor="ctr"/>
              <a:lstStyle/>
              <a:p>
                <a:pPr algn="ctr"/>
                <a:endParaRPr dirty="0">
                  <a:latin typeface="Arial" panose="020B0604020202020204" pitchFamily="34" charset="0"/>
                </a:endParaRPr>
              </a:p>
            </p:txBody>
          </p:sp>
          <p:sp>
            <p:nvSpPr>
              <p:cNvPr id="12" name="ïṡliḓé"/>
              <p:cNvSpPr/>
              <p:nvPr/>
            </p:nvSpPr>
            <p:spPr bwMode="auto">
              <a:xfrm>
                <a:off x="1222262" y="4258090"/>
                <a:ext cx="199721" cy="294094"/>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grpFill/>
              <a:ln w="9525">
                <a:solidFill>
                  <a:srgbClr val="00B050"/>
                </a:solidFill>
                <a:round/>
                <a:headEnd/>
                <a:tailEnd/>
              </a:ln>
            </p:spPr>
            <p:txBody>
              <a:bodyPr anchor="ctr"/>
              <a:lstStyle/>
              <a:p>
                <a:pPr algn="ctr"/>
                <a:endParaRPr dirty="0">
                  <a:latin typeface="Arial" panose="020B0604020202020204" pitchFamily="34" charset="0"/>
                </a:endParaRPr>
              </a:p>
            </p:txBody>
          </p:sp>
        </p:grpSp>
      </p:grpSp>
      <p:grpSp>
        <p:nvGrpSpPr>
          <p:cNvPr id="13" name="组合 12"/>
          <p:cNvGrpSpPr/>
          <p:nvPr/>
        </p:nvGrpSpPr>
        <p:grpSpPr>
          <a:xfrm>
            <a:off x="5494809" y="2647789"/>
            <a:ext cx="637195" cy="637195"/>
            <a:chOff x="3783446" y="2860864"/>
            <a:chExt cx="637195" cy="637195"/>
          </a:xfrm>
        </p:grpSpPr>
        <p:pic>
          <p:nvPicPr>
            <p:cNvPr id="14" name="Picture 9" descr="1134408971modifie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9756" y="2996952"/>
              <a:ext cx="407670" cy="330708"/>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îṥ1iḍe"/>
            <p:cNvGrpSpPr/>
            <p:nvPr/>
          </p:nvGrpSpPr>
          <p:grpSpPr>
            <a:xfrm>
              <a:off x="3783446" y="2860864"/>
              <a:ext cx="637195" cy="637195"/>
              <a:chOff x="2622498" y="2364711"/>
              <a:chExt cx="562325" cy="562325"/>
            </a:xfrm>
            <a:noFill/>
          </p:grpSpPr>
          <p:sp>
            <p:nvSpPr>
              <p:cNvPr id="16" name="îS1îḓè"/>
              <p:cNvSpPr/>
              <p:nvPr/>
            </p:nvSpPr>
            <p:spPr bwMode="auto">
              <a:xfrm>
                <a:off x="2622498" y="2364711"/>
                <a:ext cx="562325" cy="562325"/>
              </a:xfrm>
              <a:prstGeom prst="ellipse">
                <a:avLst/>
              </a:prstGeom>
              <a:grpFill/>
              <a:ln w="19050">
                <a:solidFill>
                  <a:srgbClr val="60C7C7"/>
                </a:solidFill>
                <a:round/>
                <a:headEnd/>
                <a:tailEnd/>
              </a:ln>
            </p:spPr>
            <p:txBody>
              <a:bodyPr anchor="ctr"/>
              <a:lstStyle/>
              <a:p>
                <a:pPr algn="ctr"/>
                <a:endParaRPr dirty="0">
                  <a:latin typeface="Arial" panose="020B0604020202020204" pitchFamily="34" charset="0"/>
                </a:endParaRPr>
              </a:p>
            </p:txBody>
          </p:sp>
          <p:sp>
            <p:nvSpPr>
              <p:cNvPr id="17" name="íŝļîḑê"/>
              <p:cNvSpPr/>
              <p:nvPr/>
            </p:nvSpPr>
            <p:spPr bwMode="auto">
              <a:xfrm>
                <a:off x="2769298" y="2520865"/>
                <a:ext cx="268725" cy="250016"/>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grpFill/>
              <a:ln w="9525">
                <a:solidFill>
                  <a:srgbClr val="60C7C7"/>
                </a:solidFill>
                <a:round/>
                <a:headEnd/>
                <a:tailEnd/>
              </a:ln>
            </p:spPr>
            <p:txBody>
              <a:bodyPr anchor="ctr"/>
              <a:lstStyle/>
              <a:p>
                <a:pPr algn="ctr"/>
                <a:endParaRPr dirty="0">
                  <a:latin typeface="Arial" panose="020B0604020202020204" pitchFamily="34" charset="0"/>
                </a:endParaRPr>
              </a:p>
            </p:txBody>
          </p:sp>
        </p:grpSp>
      </p:grpSp>
      <p:grpSp>
        <p:nvGrpSpPr>
          <p:cNvPr id="18" name="组合 17"/>
          <p:cNvGrpSpPr/>
          <p:nvPr/>
        </p:nvGrpSpPr>
        <p:grpSpPr>
          <a:xfrm>
            <a:off x="8411133" y="1880828"/>
            <a:ext cx="637195" cy="637195"/>
            <a:chOff x="7367671" y="3993018"/>
            <a:chExt cx="637195" cy="637195"/>
          </a:xfrm>
        </p:grpSpPr>
        <p:pic>
          <p:nvPicPr>
            <p:cNvPr id="19" name="Picture 2" descr="C:\Users\swx632340\AppData\Roaming\eSpace_Desktop\UserData\swx632340\imagefiles\C945397E-B5CB-428B-A554-71C5ACAC5CE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0800000">
              <a:off x="7464153" y="4048752"/>
              <a:ext cx="434362" cy="497866"/>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îṩľiḋè"/>
            <p:cNvGrpSpPr/>
            <p:nvPr/>
          </p:nvGrpSpPr>
          <p:grpSpPr>
            <a:xfrm>
              <a:off x="7367671" y="3993018"/>
              <a:ext cx="637195" cy="637195"/>
              <a:chOff x="5785577" y="3363837"/>
              <a:chExt cx="562325" cy="562325"/>
            </a:xfrm>
            <a:noFill/>
          </p:grpSpPr>
          <p:sp>
            <p:nvSpPr>
              <p:cNvPr id="21" name="iŝḻïḍe"/>
              <p:cNvSpPr/>
              <p:nvPr/>
            </p:nvSpPr>
            <p:spPr bwMode="auto">
              <a:xfrm>
                <a:off x="5785577" y="3363837"/>
                <a:ext cx="562325" cy="562325"/>
              </a:xfrm>
              <a:prstGeom prst="ellipse">
                <a:avLst/>
              </a:prstGeom>
              <a:grpFill/>
              <a:ln w="19050">
                <a:solidFill>
                  <a:srgbClr val="0070C0"/>
                </a:solidFill>
                <a:round/>
                <a:headEnd/>
                <a:tailEnd/>
              </a:ln>
            </p:spPr>
            <p:txBody>
              <a:bodyPr anchor="ctr"/>
              <a:lstStyle/>
              <a:p>
                <a:pPr algn="ctr"/>
                <a:endParaRPr dirty="0">
                  <a:latin typeface="Arial" panose="020B0604020202020204" pitchFamily="34" charset="0"/>
                </a:endParaRPr>
              </a:p>
            </p:txBody>
          </p:sp>
          <p:sp>
            <p:nvSpPr>
              <p:cNvPr id="22" name="ïṥ1íḍè"/>
              <p:cNvSpPr/>
              <p:nvPr/>
            </p:nvSpPr>
            <p:spPr bwMode="auto">
              <a:xfrm>
                <a:off x="5936530" y="3514790"/>
                <a:ext cx="260418" cy="260418"/>
              </a:xfrm>
              <a:custGeom>
                <a:avLst/>
                <a:gdLst/>
                <a:ahLst/>
                <a:cxnLst>
                  <a:cxn ang="0">
                    <a:pos x="55" y="31"/>
                  </a:cxn>
                  <a:cxn ang="0">
                    <a:pos x="54" y="33"/>
                  </a:cxn>
                  <a:cxn ang="0">
                    <a:pos x="47" y="34"/>
                  </a:cxn>
                  <a:cxn ang="0">
                    <a:pos x="46" y="37"/>
                  </a:cxn>
                  <a:cxn ang="0">
                    <a:pos x="49" y="42"/>
                  </a:cxn>
                  <a:cxn ang="0">
                    <a:pos x="50" y="43"/>
                  </a:cxn>
                  <a:cxn ang="0">
                    <a:pos x="49" y="44"/>
                  </a:cxn>
                  <a:cxn ang="0">
                    <a:pos x="43" y="50"/>
                  </a:cxn>
                  <a:cxn ang="0">
                    <a:pos x="42" y="50"/>
                  </a:cxn>
                  <a:cxn ang="0">
                    <a:pos x="37" y="46"/>
                  </a:cxn>
                  <a:cxn ang="0">
                    <a:pos x="33" y="47"/>
                  </a:cxn>
                  <a:cxn ang="0">
                    <a:pos x="32" y="54"/>
                  </a:cxn>
                  <a:cxn ang="0">
                    <a:pos x="31" y="55"/>
                  </a:cxn>
                  <a:cxn ang="0">
                    <a:pos x="23" y="55"/>
                  </a:cxn>
                  <a:cxn ang="0">
                    <a:pos x="22" y="54"/>
                  </a:cxn>
                  <a:cxn ang="0">
                    <a:pos x="21" y="47"/>
                  </a:cxn>
                  <a:cxn ang="0">
                    <a:pos x="18" y="46"/>
                  </a:cxn>
                  <a:cxn ang="0">
                    <a:pos x="13" y="50"/>
                  </a:cxn>
                  <a:cxn ang="0">
                    <a:pos x="12" y="50"/>
                  </a:cxn>
                  <a:cxn ang="0">
                    <a:pos x="11" y="50"/>
                  </a:cxn>
                  <a:cxn ang="0">
                    <a:pos x="5" y="44"/>
                  </a:cxn>
                  <a:cxn ang="0">
                    <a:pos x="5" y="43"/>
                  </a:cxn>
                  <a:cxn ang="0">
                    <a:pos x="5" y="42"/>
                  </a:cxn>
                  <a:cxn ang="0">
                    <a:pos x="9" y="37"/>
                  </a:cxn>
                  <a:cxn ang="0">
                    <a:pos x="7" y="33"/>
                  </a:cxn>
                  <a:cxn ang="0">
                    <a:pos x="1" y="33"/>
                  </a:cxn>
                  <a:cxn ang="0">
                    <a:pos x="0" y="31"/>
                  </a:cxn>
                  <a:cxn ang="0">
                    <a:pos x="0" y="23"/>
                  </a:cxn>
                  <a:cxn ang="0">
                    <a:pos x="1" y="22"/>
                  </a:cxn>
                  <a:cxn ang="0">
                    <a:pos x="7" y="21"/>
                  </a:cxn>
                  <a:cxn ang="0">
                    <a:pos x="9" y="18"/>
                  </a:cxn>
                  <a:cxn ang="0">
                    <a:pos x="5" y="13"/>
                  </a:cxn>
                  <a:cxn ang="0">
                    <a:pos x="5" y="12"/>
                  </a:cxn>
                  <a:cxn ang="0">
                    <a:pos x="5" y="11"/>
                  </a:cxn>
                  <a:cxn ang="0">
                    <a:pos x="12" y="5"/>
                  </a:cxn>
                  <a:cxn ang="0">
                    <a:pos x="13" y="5"/>
                  </a:cxn>
                  <a:cxn ang="0">
                    <a:pos x="18" y="9"/>
                  </a:cxn>
                  <a:cxn ang="0">
                    <a:pos x="21" y="8"/>
                  </a:cxn>
                  <a:cxn ang="0">
                    <a:pos x="22" y="1"/>
                  </a:cxn>
                  <a:cxn ang="0">
                    <a:pos x="23" y="0"/>
                  </a:cxn>
                  <a:cxn ang="0">
                    <a:pos x="31" y="0"/>
                  </a:cxn>
                  <a:cxn ang="0">
                    <a:pos x="32" y="1"/>
                  </a:cxn>
                  <a:cxn ang="0">
                    <a:pos x="33" y="8"/>
                  </a:cxn>
                  <a:cxn ang="0">
                    <a:pos x="37" y="9"/>
                  </a:cxn>
                  <a:cxn ang="0">
                    <a:pos x="42" y="5"/>
                  </a:cxn>
                  <a:cxn ang="0">
                    <a:pos x="43" y="5"/>
                  </a:cxn>
                  <a:cxn ang="0">
                    <a:pos x="43" y="5"/>
                  </a:cxn>
                  <a:cxn ang="0">
                    <a:pos x="49" y="11"/>
                  </a:cxn>
                  <a:cxn ang="0">
                    <a:pos x="50" y="12"/>
                  </a:cxn>
                  <a:cxn ang="0">
                    <a:pos x="49" y="13"/>
                  </a:cxn>
                  <a:cxn ang="0">
                    <a:pos x="46" y="18"/>
                  </a:cxn>
                  <a:cxn ang="0">
                    <a:pos x="47" y="21"/>
                  </a:cxn>
                  <a:cxn ang="0">
                    <a:pos x="54" y="22"/>
                  </a:cxn>
                  <a:cxn ang="0">
                    <a:pos x="55" y="23"/>
                  </a:cxn>
                  <a:cxn ang="0">
                    <a:pos x="55" y="31"/>
                  </a:cxn>
                  <a:cxn ang="0">
                    <a:pos x="27" y="18"/>
                  </a:cxn>
                  <a:cxn ang="0">
                    <a:pos x="18" y="27"/>
                  </a:cxn>
                  <a:cxn ang="0">
                    <a:pos x="27" y="36"/>
                  </a:cxn>
                  <a:cxn ang="0">
                    <a:pos x="36" y="27"/>
                  </a:cxn>
                  <a:cxn ang="0">
                    <a:pos x="27" y="18"/>
                  </a:cxn>
                </a:cxnLst>
                <a:rect l="0" t="0" r="r" b="b"/>
                <a:pathLst>
                  <a:path w="55" h="55">
                    <a:moveTo>
                      <a:pt x="55" y="31"/>
                    </a:moveTo>
                    <a:cubicBezTo>
                      <a:pt x="55" y="32"/>
                      <a:pt x="54" y="33"/>
                      <a:pt x="54" y="33"/>
                    </a:cubicBezTo>
                    <a:cubicBezTo>
                      <a:pt x="47" y="34"/>
                      <a:pt x="47" y="34"/>
                      <a:pt x="47" y="34"/>
                    </a:cubicBezTo>
                    <a:cubicBezTo>
                      <a:pt x="47" y="35"/>
                      <a:pt x="46" y="36"/>
                      <a:pt x="46" y="37"/>
                    </a:cubicBezTo>
                    <a:cubicBezTo>
                      <a:pt x="47" y="39"/>
                      <a:pt x="48" y="40"/>
                      <a:pt x="49" y="42"/>
                    </a:cubicBezTo>
                    <a:cubicBezTo>
                      <a:pt x="50" y="42"/>
                      <a:pt x="50" y="42"/>
                      <a:pt x="50" y="43"/>
                    </a:cubicBezTo>
                    <a:cubicBezTo>
                      <a:pt x="50" y="43"/>
                      <a:pt x="50" y="43"/>
                      <a:pt x="49" y="44"/>
                    </a:cubicBezTo>
                    <a:cubicBezTo>
                      <a:pt x="49" y="45"/>
                      <a:pt x="44" y="50"/>
                      <a:pt x="43" y="50"/>
                    </a:cubicBezTo>
                    <a:cubicBezTo>
                      <a:pt x="42" y="50"/>
                      <a:pt x="42" y="50"/>
                      <a:pt x="42" y="50"/>
                    </a:cubicBezTo>
                    <a:cubicBezTo>
                      <a:pt x="37" y="46"/>
                      <a:pt x="37" y="46"/>
                      <a:pt x="37" y="46"/>
                    </a:cubicBezTo>
                    <a:cubicBezTo>
                      <a:pt x="36" y="46"/>
                      <a:pt x="35" y="47"/>
                      <a:pt x="33" y="47"/>
                    </a:cubicBezTo>
                    <a:cubicBezTo>
                      <a:pt x="33" y="49"/>
                      <a:pt x="33" y="52"/>
                      <a:pt x="32" y="54"/>
                    </a:cubicBezTo>
                    <a:cubicBezTo>
                      <a:pt x="32" y="54"/>
                      <a:pt x="32" y="55"/>
                      <a:pt x="31" y="55"/>
                    </a:cubicBezTo>
                    <a:cubicBezTo>
                      <a:pt x="23" y="55"/>
                      <a:pt x="23" y="55"/>
                      <a:pt x="23" y="55"/>
                    </a:cubicBezTo>
                    <a:cubicBezTo>
                      <a:pt x="23" y="55"/>
                      <a:pt x="22" y="54"/>
                      <a:pt x="22" y="54"/>
                    </a:cubicBezTo>
                    <a:cubicBezTo>
                      <a:pt x="21" y="47"/>
                      <a:pt x="21" y="47"/>
                      <a:pt x="21" y="47"/>
                    </a:cubicBezTo>
                    <a:cubicBezTo>
                      <a:pt x="20" y="47"/>
                      <a:pt x="19" y="46"/>
                      <a:pt x="18" y="46"/>
                    </a:cubicBezTo>
                    <a:cubicBezTo>
                      <a:pt x="13" y="50"/>
                      <a:pt x="13" y="50"/>
                      <a:pt x="13" y="50"/>
                    </a:cubicBezTo>
                    <a:cubicBezTo>
                      <a:pt x="12" y="50"/>
                      <a:pt x="12" y="50"/>
                      <a:pt x="12" y="50"/>
                    </a:cubicBezTo>
                    <a:cubicBezTo>
                      <a:pt x="11" y="50"/>
                      <a:pt x="11" y="50"/>
                      <a:pt x="11" y="50"/>
                    </a:cubicBezTo>
                    <a:cubicBezTo>
                      <a:pt x="9" y="48"/>
                      <a:pt x="7" y="46"/>
                      <a:pt x="5" y="44"/>
                    </a:cubicBezTo>
                    <a:cubicBezTo>
                      <a:pt x="5" y="43"/>
                      <a:pt x="5" y="43"/>
                      <a:pt x="5" y="43"/>
                    </a:cubicBezTo>
                    <a:cubicBezTo>
                      <a:pt x="5" y="42"/>
                      <a:pt x="5" y="42"/>
                      <a:pt x="5" y="42"/>
                    </a:cubicBezTo>
                    <a:cubicBezTo>
                      <a:pt x="6" y="40"/>
                      <a:pt x="8" y="39"/>
                      <a:pt x="9" y="37"/>
                    </a:cubicBezTo>
                    <a:cubicBezTo>
                      <a:pt x="8" y="36"/>
                      <a:pt x="8" y="35"/>
                      <a:pt x="7" y="33"/>
                    </a:cubicBezTo>
                    <a:cubicBezTo>
                      <a:pt x="1" y="33"/>
                      <a:pt x="1" y="33"/>
                      <a:pt x="1" y="33"/>
                    </a:cubicBezTo>
                    <a:cubicBezTo>
                      <a:pt x="0" y="32"/>
                      <a:pt x="0" y="32"/>
                      <a:pt x="0" y="31"/>
                    </a:cubicBezTo>
                    <a:cubicBezTo>
                      <a:pt x="0" y="23"/>
                      <a:pt x="0" y="23"/>
                      <a:pt x="0" y="23"/>
                    </a:cubicBezTo>
                    <a:cubicBezTo>
                      <a:pt x="0" y="23"/>
                      <a:pt x="0" y="22"/>
                      <a:pt x="1" y="22"/>
                    </a:cubicBezTo>
                    <a:cubicBezTo>
                      <a:pt x="7" y="21"/>
                      <a:pt x="7" y="21"/>
                      <a:pt x="7" y="21"/>
                    </a:cubicBezTo>
                    <a:cubicBezTo>
                      <a:pt x="8" y="20"/>
                      <a:pt x="8" y="19"/>
                      <a:pt x="9" y="18"/>
                    </a:cubicBezTo>
                    <a:cubicBezTo>
                      <a:pt x="8" y="16"/>
                      <a:pt x="6" y="14"/>
                      <a:pt x="5" y="13"/>
                    </a:cubicBezTo>
                    <a:cubicBezTo>
                      <a:pt x="5" y="13"/>
                      <a:pt x="5" y="12"/>
                      <a:pt x="5" y="12"/>
                    </a:cubicBezTo>
                    <a:cubicBezTo>
                      <a:pt x="5" y="12"/>
                      <a:pt x="5" y="11"/>
                      <a:pt x="5" y="11"/>
                    </a:cubicBezTo>
                    <a:cubicBezTo>
                      <a:pt x="6" y="10"/>
                      <a:pt x="11" y="5"/>
                      <a:pt x="12" y="5"/>
                    </a:cubicBezTo>
                    <a:cubicBezTo>
                      <a:pt x="12" y="5"/>
                      <a:pt x="12" y="5"/>
                      <a:pt x="13" y="5"/>
                    </a:cubicBezTo>
                    <a:cubicBezTo>
                      <a:pt x="18" y="9"/>
                      <a:pt x="18" y="9"/>
                      <a:pt x="18" y="9"/>
                    </a:cubicBezTo>
                    <a:cubicBezTo>
                      <a:pt x="19" y="8"/>
                      <a:pt x="20" y="8"/>
                      <a:pt x="21" y="8"/>
                    </a:cubicBezTo>
                    <a:cubicBezTo>
                      <a:pt x="21" y="5"/>
                      <a:pt x="21" y="3"/>
                      <a:pt x="22" y="1"/>
                    </a:cubicBezTo>
                    <a:cubicBezTo>
                      <a:pt x="22" y="0"/>
                      <a:pt x="23" y="0"/>
                      <a:pt x="23" y="0"/>
                    </a:cubicBezTo>
                    <a:cubicBezTo>
                      <a:pt x="31" y="0"/>
                      <a:pt x="31" y="0"/>
                      <a:pt x="31" y="0"/>
                    </a:cubicBezTo>
                    <a:cubicBezTo>
                      <a:pt x="32" y="0"/>
                      <a:pt x="32" y="0"/>
                      <a:pt x="32" y="1"/>
                    </a:cubicBezTo>
                    <a:cubicBezTo>
                      <a:pt x="33" y="8"/>
                      <a:pt x="33" y="8"/>
                      <a:pt x="33" y="8"/>
                    </a:cubicBezTo>
                    <a:cubicBezTo>
                      <a:pt x="35" y="8"/>
                      <a:pt x="36" y="8"/>
                      <a:pt x="37" y="9"/>
                    </a:cubicBezTo>
                    <a:cubicBezTo>
                      <a:pt x="42" y="5"/>
                      <a:pt x="42" y="5"/>
                      <a:pt x="42" y="5"/>
                    </a:cubicBezTo>
                    <a:cubicBezTo>
                      <a:pt x="42" y="5"/>
                      <a:pt x="42" y="5"/>
                      <a:pt x="43" y="5"/>
                    </a:cubicBezTo>
                    <a:cubicBezTo>
                      <a:pt x="43" y="5"/>
                      <a:pt x="43" y="5"/>
                      <a:pt x="43" y="5"/>
                    </a:cubicBezTo>
                    <a:cubicBezTo>
                      <a:pt x="45" y="7"/>
                      <a:pt x="48" y="9"/>
                      <a:pt x="49" y="11"/>
                    </a:cubicBezTo>
                    <a:cubicBezTo>
                      <a:pt x="50" y="11"/>
                      <a:pt x="50" y="12"/>
                      <a:pt x="50" y="12"/>
                    </a:cubicBezTo>
                    <a:cubicBezTo>
                      <a:pt x="50" y="12"/>
                      <a:pt x="49" y="13"/>
                      <a:pt x="49" y="13"/>
                    </a:cubicBezTo>
                    <a:cubicBezTo>
                      <a:pt x="48" y="14"/>
                      <a:pt x="47" y="16"/>
                      <a:pt x="46" y="18"/>
                    </a:cubicBezTo>
                    <a:cubicBezTo>
                      <a:pt x="46" y="19"/>
                      <a:pt x="47" y="20"/>
                      <a:pt x="47" y="21"/>
                    </a:cubicBezTo>
                    <a:cubicBezTo>
                      <a:pt x="54" y="22"/>
                      <a:pt x="54" y="22"/>
                      <a:pt x="54" y="22"/>
                    </a:cubicBezTo>
                    <a:cubicBezTo>
                      <a:pt x="54" y="22"/>
                      <a:pt x="55" y="23"/>
                      <a:pt x="55" y="23"/>
                    </a:cubicBezTo>
                    <a:lnTo>
                      <a:pt x="55" y="31"/>
                    </a:lnTo>
                    <a:close/>
                    <a:moveTo>
                      <a:pt x="27" y="18"/>
                    </a:moveTo>
                    <a:cubicBezTo>
                      <a:pt x="22" y="18"/>
                      <a:pt x="18" y="22"/>
                      <a:pt x="18" y="27"/>
                    </a:cubicBezTo>
                    <a:cubicBezTo>
                      <a:pt x="18" y="32"/>
                      <a:pt x="22" y="36"/>
                      <a:pt x="27" y="36"/>
                    </a:cubicBezTo>
                    <a:cubicBezTo>
                      <a:pt x="32" y="36"/>
                      <a:pt x="36" y="32"/>
                      <a:pt x="36" y="27"/>
                    </a:cubicBezTo>
                    <a:cubicBezTo>
                      <a:pt x="36" y="22"/>
                      <a:pt x="32" y="18"/>
                      <a:pt x="27" y="18"/>
                    </a:cubicBezTo>
                    <a:close/>
                  </a:path>
                </a:pathLst>
              </a:custGeom>
              <a:grpFill/>
              <a:ln w="9525">
                <a:solidFill>
                  <a:srgbClr val="0070C0"/>
                </a:solidFill>
                <a:round/>
                <a:headEnd/>
                <a:tailEnd/>
              </a:ln>
            </p:spPr>
            <p:txBody>
              <a:bodyPr anchor="ctr"/>
              <a:lstStyle/>
              <a:p>
                <a:pPr algn="ctr"/>
                <a:endParaRPr dirty="0">
                  <a:latin typeface="Arial" panose="020B0604020202020204" pitchFamily="34" charset="0"/>
                </a:endParaRPr>
              </a:p>
            </p:txBody>
          </p:sp>
        </p:grpSp>
      </p:grpSp>
      <p:sp>
        <p:nvSpPr>
          <p:cNvPr id="23" name="îŝļíde"/>
          <p:cNvSpPr txBox="1"/>
          <p:nvPr/>
        </p:nvSpPr>
        <p:spPr bwMode="auto">
          <a:xfrm>
            <a:off x="1352767" y="1880828"/>
            <a:ext cx="458757" cy="1103316"/>
          </a:xfrm>
          <a:prstGeom prst="rect">
            <a:avLst/>
          </a:prstGeom>
          <a:noFill/>
          <a:extLst/>
        </p:spPr>
        <p:txBody>
          <a:bodyPr vert="vert270" wrap="none" lIns="90000" tIns="46800" rIns="90000" bIns="46800">
            <a:normAutofit/>
          </a:bodyPr>
          <a:lstStyle/>
          <a:p>
            <a:pPr algn="ctr" latinLnBrk="0"/>
            <a:r>
              <a:rPr lang="en-US" sz="1600" b="1" dirty="0">
                <a:solidFill>
                  <a:schemeClr val="tx1"/>
                </a:solidFill>
                <a:latin typeface="Arial" panose="020B0604020202020204" pitchFamily="34" charset="0"/>
                <a:ea typeface="+mn-ea"/>
              </a:rPr>
              <a:t>Performance</a:t>
            </a:r>
          </a:p>
        </p:txBody>
      </p:sp>
      <p:sp>
        <p:nvSpPr>
          <p:cNvPr id="24" name="íşľîḑê"/>
          <p:cNvSpPr txBox="1"/>
          <p:nvPr/>
        </p:nvSpPr>
        <p:spPr bwMode="auto">
          <a:xfrm>
            <a:off x="9012324" y="5697252"/>
            <a:ext cx="1190560" cy="371513"/>
          </a:xfrm>
          <a:prstGeom prst="rect">
            <a:avLst/>
          </a:prstGeom>
          <a:noFill/>
          <a:extLst/>
        </p:spPr>
        <p:txBody>
          <a:bodyPr wrap="none" lIns="90000" tIns="46800" rIns="90000" bIns="46800">
            <a:normAutofit/>
          </a:bodyPr>
          <a:lstStyle/>
          <a:p>
            <a:pPr algn="ctr" latinLnBrk="0"/>
            <a:r>
              <a:rPr lang="en-US" sz="1600" b="1" dirty="0">
                <a:solidFill>
                  <a:schemeClr val="tx1"/>
                </a:solidFill>
                <a:latin typeface="Arial" panose="020B0604020202020204" pitchFamily="34" charset="0"/>
                <a:ea typeface="+mn-ea"/>
              </a:rPr>
              <a:t>Price</a:t>
            </a:r>
          </a:p>
        </p:txBody>
      </p:sp>
      <p:grpSp>
        <p:nvGrpSpPr>
          <p:cNvPr id="25" name="组合 24"/>
          <p:cNvGrpSpPr/>
          <p:nvPr/>
        </p:nvGrpSpPr>
        <p:grpSpPr>
          <a:xfrm>
            <a:off x="4259796" y="3547889"/>
            <a:ext cx="637195" cy="637195"/>
            <a:chOff x="5535732" y="3334317"/>
            <a:chExt cx="637195" cy="637195"/>
          </a:xfrm>
        </p:grpSpPr>
        <p:pic>
          <p:nvPicPr>
            <p:cNvPr id="26" name="Picture 2" descr="C:\Users\swx632340\AppData\Roaming\eSpace_Desktop\UserData\swx632340\imagefiles\D9D390B6-F69A-491C-B769-2AC9AC890D35.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82769" y="3395413"/>
              <a:ext cx="477227" cy="501041"/>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îṣḻîḋé"/>
            <p:cNvGrpSpPr/>
            <p:nvPr/>
          </p:nvGrpSpPr>
          <p:grpSpPr>
            <a:xfrm>
              <a:off x="5535732" y="3334317"/>
              <a:ext cx="637195" cy="637195"/>
              <a:chOff x="4168891" y="2782533"/>
              <a:chExt cx="562325" cy="562325"/>
            </a:xfrm>
            <a:noFill/>
          </p:grpSpPr>
          <p:sp>
            <p:nvSpPr>
              <p:cNvPr id="28" name="ïsḻiḓê"/>
              <p:cNvSpPr/>
              <p:nvPr/>
            </p:nvSpPr>
            <p:spPr bwMode="auto">
              <a:xfrm>
                <a:off x="4168891" y="2782533"/>
                <a:ext cx="562325" cy="562325"/>
              </a:xfrm>
              <a:prstGeom prst="ellipse">
                <a:avLst/>
              </a:prstGeom>
              <a:grpFill/>
              <a:ln w="19050">
                <a:solidFill>
                  <a:srgbClr val="92D050"/>
                </a:solidFill>
                <a:round/>
                <a:headEnd/>
                <a:tailEnd/>
              </a:ln>
            </p:spPr>
            <p:txBody>
              <a:bodyPr anchor="ctr"/>
              <a:lstStyle/>
              <a:p>
                <a:pPr algn="ctr"/>
                <a:endParaRPr dirty="0">
                  <a:latin typeface="Arial" panose="020B0604020202020204" pitchFamily="34" charset="0"/>
                </a:endParaRPr>
              </a:p>
            </p:txBody>
          </p:sp>
          <p:sp>
            <p:nvSpPr>
              <p:cNvPr id="29" name="iŝlîḓè"/>
              <p:cNvSpPr/>
              <p:nvPr/>
            </p:nvSpPr>
            <p:spPr bwMode="auto">
              <a:xfrm>
                <a:off x="4331030" y="2946396"/>
                <a:ext cx="238047" cy="234598"/>
              </a:xfrm>
              <a:custGeom>
                <a:avLst/>
                <a:gdLst/>
                <a:ahLst/>
                <a:cxnLst>
                  <a:cxn ang="0">
                    <a:pos x="59" y="63"/>
                  </a:cxn>
                  <a:cxn ang="0">
                    <a:pos x="55" y="61"/>
                  </a:cxn>
                  <a:cxn ang="0">
                    <a:pos x="42" y="48"/>
                  </a:cxn>
                  <a:cxn ang="0">
                    <a:pos x="27" y="53"/>
                  </a:cxn>
                  <a:cxn ang="0">
                    <a:pos x="0" y="26"/>
                  </a:cxn>
                  <a:cxn ang="0">
                    <a:pos x="27" y="0"/>
                  </a:cxn>
                  <a:cxn ang="0">
                    <a:pos x="54" y="26"/>
                  </a:cxn>
                  <a:cxn ang="0">
                    <a:pos x="49" y="41"/>
                  </a:cxn>
                  <a:cxn ang="0">
                    <a:pos x="62" y="54"/>
                  </a:cxn>
                  <a:cxn ang="0">
                    <a:pos x="64" y="58"/>
                  </a:cxn>
                  <a:cxn ang="0">
                    <a:pos x="59" y="63"/>
                  </a:cxn>
                  <a:cxn ang="0">
                    <a:pos x="27" y="9"/>
                  </a:cxn>
                  <a:cxn ang="0">
                    <a:pos x="10" y="26"/>
                  </a:cxn>
                  <a:cxn ang="0">
                    <a:pos x="27" y="43"/>
                  </a:cxn>
                  <a:cxn ang="0">
                    <a:pos x="44" y="26"/>
                  </a:cxn>
                  <a:cxn ang="0">
                    <a:pos x="27" y="9"/>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grpFill/>
              <a:ln w="9525">
                <a:solidFill>
                  <a:srgbClr val="92D050"/>
                </a:solidFill>
                <a:round/>
                <a:headEnd/>
                <a:tailEnd/>
              </a:ln>
            </p:spPr>
            <p:txBody>
              <a:bodyPr anchor="ctr"/>
              <a:lstStyle/>
              <a:p>
                <a:pPr algn="ctr"/>
                <a:endParaRPr dirty="0">
                  <a:latin typeface="Arial" panose="020B0604020202020204" pitchFamily="34" charset="0"/>
                </a:endParaRPr>
              </a:p>
            </p:txBody>
          </p:sp>
        </p:grpSp>
      </p:grpSp>
    </p:spTree>
    <p:extLst>
      <p:ext uri="{BB962C8B-B14F-4D97-AF65-F5344CB8AC3E}">
        <p14:creationId xmlns:p14="http://schemas.microsoft.com/office/powerpoint/2010/main" val="89667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latin typeface="Arial" panose="020B0604020202020204" pitchFamily="34" charset="0"/>
              </a:rPr>
              <a:t>Storage Architecture for Virtualization</a:t>
            </a:r>
          </a:p>
          <a:p>
            <a:r>
              <a:rPr lang="en-US" dirty="0">
                <a:solidFill>
                  <a:schemeClr val="bg1">
                    <a:lumMod val="50000"/>
                  </a:schemeClr>
                </a:solidFill>
                <a:latin typeface="Arial" panose="020B0604020202020204" pitchFamily="34" charset="0"/>
              </a:rPr>
              <a:t>Physical Disk Types and Related Techniques</a:t>
            </a:r>
          </a:p>
          <a:p>
            <a:r>
              <a:rPr lang="en-US" b="1" dirty="0">
                <a:latin typeface="Arial" panose="020B0604020202020204" pitchFamily="34" charset="0"/>
              </a:rPr>
              <a:t>Centralized Storage vs. Distributed Storage</a:t>
            </a:r>
          </a:p>
          <a:p>
            <a:r>
              <a:rPr lang="en-US" dirty="0">
                <a:solidFill>
                  <a:schemeClr val="bg1">
                    <a:lumMod val="50000"/>
                  </a:schemeClr>
                </a:solidFill>
                <a:latin typeface="Arial" panose="020B0604020202020204" pitchFamily="34" charset="0"/>
              </a:rPr>
              <a:t>Virtualized Storage vs. Non-Virtualized Storage</a:t>
            </a:r>
          </a:p>
          <a:p>
            <a:r>
              <a:rPr lang="en-US" dirty="0">
                <a:solidFill>
                  <a:schemeClr val="bg1">
                    <a:lumMod val="50000"/>
                  </a:schemeClr>
                </a:solidFill>
                <a:latin typeface="Arial" panose="020B0604020202020204" pitchFamily="34" charset="0"/>
              </a:rPr>
              <a:t>Introduction to VM Disks</a:t>
            </a:r>
          </a:p>
          <a:p>
            <a:r>
              <a:rPr lang="en-US" dirty="0">
                <a:solidFill>
                  <a:schemeClr val="bg1">
                    <a:lumMod val="50000"/>
                  </a:schemeClr>
                </a:solidFill>
                <a:latin typeface="Arial" panose="020B0604020202020204" pitchFamily="34" charset="0"/>
              </a:rPr>
              <a:t>Storage Features of Huawei’s Virtualization Product</a:t>
            </a:r>
          </a:p>
        </p:txBody>
      </p:sp>
    </p:spTree>
    <p:extLst>
      <p:ext uri="{BB962C8B-B14F-4D97-AF65-F5344CB8AC3E}">
        <p14:creationId xmlns:p14="http://schemas.microsoft.com/office/powerpoint/2010/main" val="1428495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Centralized Storage</a:t>
            </a:r>
          </a:p>
        </p:txBody>
      </p:sp>
      <p:grpSp>
        <p:nvGrpSpPr>
          <p:cNvPr id="19" name="组合 18"/>
          <p:cNvGrpSpPr/>
          <p:nvPr/>
        </p:nvGrpSpPr>
        <p:grpSpPr>
          <a:xfrm>
            <a:off x="2315580" y="2930705"/>
            <a:ext cx="633350" cy="1333536"/>
            <a:chOff x="4130502" y="3211588"/>
            <a:chExt cx="633350" cy="1333536"/>
          </a:xfrm>
        </p:grpSpPr>
        <p:sp>
          <p:nvSpPr>
            <p:cNvPr id="20"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36" name="组合 35"/>
          <p:cNvGrpSpPr/>
          <p:nvPr/>
        </p:nvGrpSpPr>
        <p:grpSpPr>
          <a:xfrm>
            <a:off x="2315580" y="4723756"/>
            <a:ext cx="633350" cy="1333536"/>
            <a:chOff x="4130502" y="3211588"/>
            <a:chExt cx="633350" cy="1333536"/>
          </a:xfrm>
        </p:grpSpPr>
        <p:sp>
          <p:nvSpPr>
            <p:cNvPr id="37"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8"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9"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0"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1"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2"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3"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4"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5"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6"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7"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8"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9"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53" name="组合 52"/>
          <p:cNvGrpSpPr/>
          <p:nvPr/>
        </p:nvGrpSpPr>
        <p:grpSpPr>
          <a:xfrm>
            <a:off x="8883030" y="2916407"/>
            <a:ext cx="633350" cy="1333536"/>
            <a:chOff x="4130502" y="3211588"/>
            <a:chExt cx="633350" cy="1333536"/>
          </a:xfrm>
        </p:grpSpPr>
        <p:sp>
          <p:nvSpPr>
            <p:cNvPr id="54"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5"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6"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7"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8"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9"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0"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1"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2"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3"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4"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5"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66"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70" name="组合 69"/>
          <p:cNvGrpSpPr/>
          <p:nvPr/>
        </p:nvGrpSpPr>
        <p:grpSpPr>
          <a:xfrm>
            <a:off x="8883030" y="4709458"/>
            <a:ext cx="633350" cy="1333536"/>
            <a:chOff x="4130502" y="3211588"/>
            <a:chExt cx="633350" cy="1333536"/>
          </a:xfrm>
        </p:grpSpPr>
        <p:sp>
          <p:nvSpPr>
            <p:cNvPr id="71"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2"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3"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4"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5"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6"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7"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8"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79"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80"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81"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82"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83"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86" name="组合 85"/>
          <p:cNvGrpSpPr/>
          <p:nvPr/>
        </p:nvGrpSpPr>
        <p:grpSpPr>
          <a:xfrm>
            <a:off x="4734154" y="1836287"/>
            <a:ext cx="2699517" cy="654286"/>
            <a:chOff x="4734154" y="4797152"/>
            <a:chExt cx="2699517" cy="654286"/>
          </a:xfrm>
        </p:grpSpPr>
        <p:grpSp>
          <p:nvGrpSpPr>
            <p:cNvPr id="87" name="组合 86"/>
            <p:cNvGrpSpPr/>
            <p:nvPr/>
          </p:nvGrpSpPr>
          <p:grpSpPr>
            <a:xfrm>
              <a:off x="6606362" y="4905164"/>
              <a:ext cx="430713" cy="546273"/>
              <a:chOff x="8407400" y="2055813"/>
              <a:chExt cx="360363" cy="458788"/>
            </a:xfrm>
            <a:solidFill>
              <a:srgbClr val="3ABABA"/>
            </a:solidFill>
          </p:grpSpPr>
          <p:sp>
            <p:nvSpPr>
              <p:cNvPr id="9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10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10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10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grpSp>
          <p:nvGrpSpPr>
            <p:cNvPr id="88" name="组合 87"/>
            <p:cNvGrpSpPr/>
            <p:nvPr/>
          </p:nvGrpSpPr>
          <p:grpSpPr>
            <a:xfrm>
              <a:off x="5976176" y="4905165"/>
              <a:ext cx="430713" cy="546273"/>
              <a:chOff x="8407400" y="2055813"/>
              <a:chExt cx="360363" cy="458788"/>
            </a:xfrm>
            <a:solidFill>
              <a:srgbClr val="3ABABA"/>
            </a:solidFill>
          </p:grpSpPr>
          <p:sp>
            <p:nvSpPr>
              <p:cNvPr id="95"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grpSp>
          <p:nvGrpSpPr>
            <p:cNvPr id="89" name="组合 88"/>
            <p:cNvGrpSpPr/>
            <p:nvPr/>
          </p:nvGrpSpPr>
          <p:grpSpPr>
            <a:xfrm>
              <a:off x="5347557" y="4905165"/>
              <a:ext cx="430713" cy="546273"/>
              <a:chOff x="8407400" y="2055813"/>
              <a:chExt cx="360363" cy="458788"/>
            </a:xfrm>
            <a:solidFill>
              <a:srgbClr val="3ABABA"/>
            </a:solidFill>
          </p:grpSpPr>
          <p:sp>
            <p:nvSpPr>
              <p:cNvPr id="91"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2"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3"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94"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sp>
          <p:nvSpPr>
            <p:cNvPr id="90" name="圆角矩形 89"/>
            <p:cNvSpPr/>
            <p:nvPr/>
          </p:nvSpPr>
          <p:spPr bwMode="auto">
            <a:xfrm>
              <a:off x="4734154" y="4797152"/>
              <a:ext cx="2699517"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3600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Storage</a:t>
              </a:r>
            </a:p>
            <a:p>
              <a:pPr marL="0" marR="0" indent="0"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Pool</a:t>
              </a:r>
              <a:endParaRPr lang="en-US" sz="1100" dirty="0">
                <a:latin typeface="Arial" panose="020B0604020202020204" pitchFamily="34" charset="0"/>
                <a:ea typeface="+mn-ea"/>
                <a:cs typeface="+mn-ea"/>
                <a:sym typeface="+mn-lt"/>
              </a:endParaRPr>
            </a:p>
          </p:txBody>
        </p:sp>
      </p:grpSp>
      <p:grpSp>
        <p:nvGrpSpPr>
          <p:cNvPr id="124" name="组合 123"/>
          <p:cNvGrpSpPr/>
          <p:nvPr/>
        </p:nvGrpSpPr>
        <p:grpSpPr>
          <a:xfrm>
            <a:off x="5308601" y="3061811"/>
            <a:ext cx="1615491" cy="1839616"/>
            <a:chOff x="5308601" y="3061811"/>
            <a:chExt cx="1615491" cy="1839616"/>
          </a:xfrm>
        </p:grpSpPr>
        <p:grpSp>
          <p:nvGrpSpPr>
            <p:cNvPr id="5" name="组合 4"/>
            <p:cNvGrpSpPr/>
            <p:nvPr/>
          </p:nvGrpSpPr>
          <p:grpSpPr>
            <a:xfrm>
              <a:off x="5308601" y="3068960"/>
              <a:ext cx="1615491" cy="1832467"/>
              <a:chOff x="5303912" y="4970023"/>
              <a:chExt cx="1615491" cy="1832467"/>
            </a:xfrm>
          </p:grpSpPr>
          <p:sp>
            <p:nvSpPr>
              <p:cNvPr id="6" name="hard-drive_77649"/>
              <p:cNvSpPr>
                <a:spLocks noChangeAspect="1"/>
              </p:cNvSpPr>
              <p:nvPr/>
            </p:nvSpPr>
            <p:spPr bwMode="auto">
              <a:xfrm>
                <a:off x="5303912" y="4973435"/>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7" name="hard-drive_77649"/>
              <p:cNvSpPr>
                <a:spLocks noChangeAspect="1"/>
              </p:cNvSpPr>
              <p:nvPr/>
            </p:nvSpPr>
            <p:spPr bwMode="auto">
              <a:xfrm>
                <a:off x="5303912" y="5583120"/>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8" name="hard-drive_77649"/>
              <p:cNvSpPr>
                <a:spLocks noChangeAspect="1"/>
              </p:cNvSpPr>
              <p:nvPr/>
            </p:nvSpPr>
            <p:spPr bwMode="auto">
              <a:xfrm>
                <a:off x="5303912" y="6192805"/>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9" name="hard-drive_77649"/>
              <p:cNvSpPr>
                <a:spLocks noChangeAspect="1"/>
              </p:cNvSpPr>
              <p:nvPr/>
            </p:nvSpPr>
            <p:spPr bwMode="auto">
              <a:xfrm>
                <a:off x="5704645" y="497002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0" name="hard-drive_77649"/>
              <p:cNvSpPr>
                <a:spLocks noChangeAspect="1"/>
              </p:cNvSpPr>
              <p:nvPr/>
            </p:nvSpPr>
            <p:spPr bwMode="auto">
              <a:xfrm>
                <a:off x="5704645"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1" name="hard-drive_77649"/>
              <p:cNvSpPr>
                <a:spLocks noChangeAspect="1"/>
              </p:cNvSpPr>
              <p:nvPr/>
            </p:nvSpPr>
            <p:spPr bwMode="auto">
              <a:xfrm>
                <a:off x="5704645" y="618939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3" name="hard-drive_77649"/>
              <p:cNvSpPr>
                <a:spLocks noChangeAspect="1"/>
              </p:cNvSpPr>
              <p:nvPr/>
            </p:nvSpPr>
            <p:spPr bwMode="auto">
              <a:xfrm>
                <a:off x="6100689"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4" name="hard-drive_77649"/>
              <p:cNvSpPr>
                <a:spLocks noChangeAspect="1"/>
              </p:cNvSpPr>
              <p:nvPr/>
            </p:nvSpPr>
            <p:spPr bwMode="auto">
              <a:xfrm>
                <a:off x="6100689" y="618939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5" name="hard-drive_77649"/>
              <p:cNvSpPr>
                <a:spLocks noChangeAspect="1"/>
              </p:cNvSpPr>
              <p:nvPr/>
            </p:nvSpPr>
            <p:spPr bwMode="auto">
              <a:xfrm>
                <a:off x="6492044" y="497002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6" name="hard-drive_77649"/>
              <p:cNvSpPr>
                <a:spLocks noChangeAspect="1"/>
              </p:cNvSpPr>
              <p:nvPr/>
            </p:nvSpPr>
            <p:spPr bwMode="auto">
              <a:xfrm>
                <a:off x="6492044"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sp>
          <p:nvSpPr>
            <p:cNvPr id="109" name="hard-drive_77649"/>
            <p:cNvSpPr>
              <a:spLocks noChangeAspect="1"/>
            </p:cNvSpPr>
            <p:nvPr/>
          </p:nvSpPr>
          <p:spPr bwMode="auto">
            <a:xfrm>
              <a:off x="6100689" y="306181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114" name="hard-drive_77649"/>
            <p:cNvSpPr>
              <a:spLocks noChangeAspect="1"/>
            </p:cNvSpPr>
            <p:nvPr/>
          </p:nvSpPr>
          <p:spPr bwMode="auto">
            <a:xfrm>
              <a:off x="6492044" y="428118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sp>
        <p:nvSpPr>
          <p:cNvPr id="115" name="文本框 114"/>
          <p:cNvSpPr txBox="1"/>
          <p:nvPr/>
        </p:nvSpPr>
        <p:spPr bwMode="auto">
          <a:xfrm>
            <a:off x="4871864" y="3789040"/>
            <a:ext cx="2520280" cy="377947"/>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800" b="1" dirty="0">
                <a:solidFill>
                  <a:srgbClr val="C00000"/>
                </a:solidFill>
                <a:latin typeface="Arial" panose="020B0604020202020204" pitchFamily="34" charset="0"/>
                <a:ea typeface="+mn-ea"/>
                <a:cs typeface="Arial" pitchFamily="34" charset="0"/>
              </a:rPr>
              <a:t>RAID</a:t>
            </a:r>
          </a:p>
        </p:txBody>
      </p:sp>
      <p:cxnSp>
        <p:nvCxnSpPr>
          <p:cNvPr id="116" name="直接箭头连接符 115"/>
          <p:cNvCxnSpPr>
            <a:endCxn id="37" idx="15"/>
          </p:cNvCxnSpPr>
          <p:nvPr/>
        </p:nvCxnSpPr>
        <p:spPr bwMode="auto">
          <a:xfrm flipH="1">
            <a:off x="2948930" y="2528900"/>
            <a:ext cx="3147070" cy="2226667"/>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17" name="直接箭头连接符 116"/>
          <p:cNvCxnSpPr>
            <a:endCxn id="71" idx="13"/>
          </p:cNvCxnSpPr>
          <p:nvPr/>
        </p:nvCxnSpPr>
        <p:spPr bwMode="auto">
          <a:xfrm>
            <a:off x="6096000" y="2528900"/>
            <a:ext cx="2817867" cy="2180558"/>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18" name="直接箭头连接符 117"/>
          <p:cNvCxnSpPr>
            <a:stCxn id="20" idx="14"/>
            <a:endCxn id="90" idx="1"/>
          </p:cNvCxnSpPr>
          <p:nvPr/>
        </p:nvCxnSpPr>
        <p:spPr bwMode="auto">
          <a:xfrm flipV="1">
            <a:off x="2918093" y="2160323"/>
            <a:ext cx="1816061" cy="770382"/>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19" name="直接箭头连接符 118"/>
          <p:cNvCxnSpPr>
            <a:stCxn id="90" idx="3"/>
            <a:endCxn id="54" idx="12"/>
          </p:cNvCxnSpPr>
          <p:nvPr/>
        </p:nvCxnSpPr>
        <p:spPr bwMode="auto">
          <a:xfrm>
            <a:off x="7433671" y="2160323"/>
            <a:ext cx="1449359" cy="787895"/>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120" name="文本框 119"/>
          <p:cNvSpPr txBox="1"/>
          <p:nvPr/>
        </p:nvSpPr>
        <p:spPr bwMode="auto">
          <a:xfrm rot="20217840">
            <a:off x="3342845" y="2139645"/>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121" name="文本框 120"/>
          <p:cNvSpPr txBox="1"/>
          <p:nvPr/>
        </p:nvSpPr>
        <p:spPr bwMode="auto">
          <a:xfrm rot="19393218">
            <a:off x="3583412" y="3534090"/>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122" name="文本框 121"/>
          <p:cNvSpPr txBox="1"/>
          <p:nvPr/>
        </p:nvSpPr>
        <p:spPr bwMode="auto">
          <a:xfrm rot="1836080">
            <a:off x="7803255" y="2176887"/>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123" name="文本框 122"/>
          <p:cNvSpPr txBox="1"/>
          <p:nvPr/>
        </p:nvSpPr>
        <p:spPr bwMode="auto">
          <a:xfrm rot="2450932">
            <a:off x="7473551" y="3475794"/>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grpSp>
        <p:nvGrpSpPr>
          <p:cNvPr id="125" name="组合 15814"/>
          <p:cNvGrpSpPr>
            <a:grpSpLocks noChangeAspect="1"/>
          </p:cNvGrpSpPr>
          <p:nvPr/>
        </p:nvGrpSpPr>
        <p:grpSpPr>
          <a:xfrm>
            <a:off x="5324548" y="5517232"/>
            <a:ext cx="1557584" cy="685903"/>
            <a:chOff x="2789238" y="1000125"/>
            <a:chExt cx="762000" cy="334963"/>
          </a:xfrm>
          <a:solidFill>
            <a:srgbClr val="3C3C3B"/>
          </a:solidFill>
          <a:scene3d>
            <a:camera prst="orthographicFront">
              <a:rot lat="0" lon="0" rev="0"/>
            </a:camera>
            <a:lightRig rig="threePt" dir="t"/>
          </a:scene3d>
        </p:grpSpPr>
        <p:sp>
          <p:nvSpPr>
            <p:cNvPr id="126" name="Freeform 37"/>
            <p:cNvSpPr>
              <a:spLocks noEditPoints="1"/>
            </p:cNvSpPr>
            <p:nvPr/>
          </p:nvSpPr>
          <p:spPr bwMode="auto">
            <a:xfrm>
              <a:off x="2789238" y="1000125"/>
              <a:ext cx="762000" cy="334963"/>
            </a:xfrm>
            <a:custGeom>
              <a:avLst/>
              <a:gdLst>
                <a:gd name="T0" fmla="*/ 751 w 798"/>
                <a:gd name="T1" fmla="*/ 265 h 350"/>
                <a:gd name="T2" fmla="*/ 783 w 798"/>
                <a:gd name="T3" fmla="*/ 317 h 350"/>
                <a:gd name="T4" fmla="*/ 751 w 798"/>
                <a:gd name="T5" fmla="*/ 265 h 350"/>
                <a:gd name="T6" fmla="*/ 440 w 798"/>
                <a:gd name="T7" fmla="*/ 178 h 350"/>
                <a:gd name="T8" fmla="*/ 56 w 798"/>
                <a:gd name="T9" fmla="*/ 79 h 350"/>
                <a:gd name="T10" fmla="*/ 741 w 798"/>
                <a:gd name="T11" fmla="*/ 189 h 350"/>
                <a:gd name="T12" fmla="*/ 14 w 798"/>
                <a:gd name="T13" fmla="*/ 308 h 350"/>
                <a:gd name="T14" fmla="*/ 47 w 798"/>
                <a:gd name="T15" fmla="*/ 308 h 350"/>
                <a:gd name="T16" fmla="*/ 14 w 798"/>
                <a:gd name="T17" fmla="*/ 317 h 350"/>
                <a:gd name="T18" fmla="*/ 47 w 798"/>
                <a:gd name="T19" fmla="*/ 94 h 350"/>
                <a:gd name="T20" fmla="*/ 14 w 798"/>
                <a:gd name="T21" fmla="*/ 94 h 350"/>
                <a:gd name="T22" fmla="*/ 47 w 798"/>
                <a:gd name="T23" fmla="*/ 79 h 350"/>
                <a:gd name="T24" fmla="*/ 14 w 798"/>
                <a:gd name="T25" fmla="*/ 263 h 350"/>
                <a:gd name="T26" fmla="*/ 47 w 798"/>
                <a:gd name="T27" fmla="*/ 263 h 350"/>
                <a:gd name="T28" fmla="*/ 14 w 798"/>
                <a:gd name="T29" fmla="*/ 304 h 350"/>
                <a:gd name="T30" fmla="*/ 47 w 798"/>
                <a:gd name="T31" fmla="*/ 259 h 350"/>
                <a:gd name="T32" fmla="*/ 14 w 798"/>
                <a:gd name="T33" fmla="*/ 259 h 350"/>
                <a:gd name="T34" fmla="*/ 47 w 798"/>
                <a:gd name="T35" fmla="*/ 236 h 350"/>
                <a:gd name="T36" fmla="*/ 47 w 798"/>
                <a:gd name="T37" fmla="*/ 129 h 350"/>
                <a:gd name="T38" fmla="*/ 14 w 798"/>
                <a:gd name="T39" fmla="*/ 129 h 350"/>
                <a:gd name="T40" fmla="*/ 47 w 798"/>
                <a:gd name="T41" fmla="*/ 98 h 350"/>
                <a:gd name="T42" fmla="*/ 14 w 798"/>
                <a:gd name="T43" fmla="*/ 161 h 350"/>
                <a:gd name="T44" fmla="*/ 47 w 798"/>
                <a:gd name="T45" fmla="*/ 161 h 350"/>
                <a:gd name="T46" fmla="*/ 14 w 798"/>
                <a:gd name="T47" fmla="*/ 232 h 350"/>
                <a:gd name="T48" fmla="*/ 47 w 798"/>
                <a:gd name="T49" fmla="*/ 157 h 350"/>
                <a:gd name="T50" fmla="*/ 14 w 798"/>
                <a:gd name="T51" fmla="*/ 157 h 350"/>
                <a:gd name="T52" fmla="*/ 47 w 798"/>
                <a:gd name="T53" fmla="*/ 133 h 350"/>
                <a:gd name="T54" fmla="*/ 751 w 798"/>
                <a:gd name="T55" fmla="*/ 102 h 350"/>
                <a:gd name="T56" fmla="*/ 783 w 798"/>
                <a:gd name="T57" fmla="*/ 102 h 350"/>
                <a:gd name="T58" fmla="*/ 751 w 798"/>
                <a:gd name="T59" fmla="*/ 261 h 350"/>
                <a:gd name="T60" fmla="*/ 783 w 798"/>
                <a:gd name="T61" fmla="*/ 98 h 350"/>
                <a:gd name="T62" fmla="*/ 751 w 798"/>
                <a:gd name="T63" fmla="*/ 98 h 350"/>
                <a:gd name="T64" fmla="*/ 783 w 798"/>
                <a:gd name="T65" fmla="*/ 79 h 350"/>
                <a:gd name="T66" fmla="*/ 47 w 798"/>
                <a:gd name="T67" fmla="*/ 46 h 350"/>
                <a:gd name="T68" fmla="*/ 734 w 798"/>
                <a:gd name="T69" fmla="*/ 46 h 350"/>
                <a:gd name="T70" fmla="*/ 19 w 798"/>
                <a:gd name="T71" fmla="*/ 65 h 350"/>
                <a:gd name="T72" fmla="*/ 173 w 798"/>
                <a:gd name="T73" fmla="*/ 10 h 350"/>
                <a:gd name="T74" fmla="*/ 620 w 798"/>
                <a:gd name="T75" fmla="*/ 10 h 350"/>
                <a:gd name="T76" fmla="*/ 114 w 798"/>
                <a:gd name="T77" fmla="*/ 36 h 350"/>
                <a:gd name="T78" fmla="*/ 798 w 798"/>
                <a:gd name="T79" fmla="*/ 65 h 350"/>
                <a:gd name="T80" fmla="*/ 797 w 798"/>
                <a:gd name="T81" fmla="*/ 65 h 350"/>
                <a:gd name="T82" fmla="*/ 737 w 798"/>
                <a:gd name="T83" fmla="*/ 37 h 350"/>
                <a:gd name="T84" fmla="*/ 622 w 798"/>
                <a:gd name="T85" fmla="*/ 0 h 350"/>
                <a:gd name="T86" fmla="*/ 90 w 798"/>
                <a:gd name="T87" fmla="*/ 36 h 350"/>
                <a:gd name="T88" fmla="*/ 1 w 798"/>
                <a:gd name="T89" fmla="*/ 65 h 350"/>
                <a:gd name="T90" fmla="*/ 0 w 798"/>
                <a:gd name="T91" fmla="*/ 331 h 350"/>
                <a:gd name="T92" fmla="*/ 513 w 798"/>
                <a:gd name="T93" fmla="*/ 350 h 350"/>
                <a:gd name="T94" fmla="*/ 513 w 798"/>
                <a:gd name="T95" fmla="*/ 298 h 350"/>
                <a:gd name="T96" fmla="*/ 56 w 798"/>
                <a:gd name="T97" fmla="*/ 317 h 350"/>
                <a:gd name="T98" fmla="*/ 440 w 798"/>
                <a:gd name="T99" fmla="*/ 193 h 350"/>
                <a:gd name="T100" fmla="*/ 741 w 798"/>
                <a:gd name="T101" fmla="*/ 204 h 350"/>
                <a:gd name="T102" fmla="*/ 616 w 798"/>
                <a:gd name="T103" fmla="*/ 317 h 350"/>
                <a:gd name="T104" fmla="*/ 566 w 798"/>
                <a:gd name="T105" fmla="*/ 324 h 350"/>
                <a:gd name="T106" fmla="*/ 616 w 798"/>
                <a:gd name="T107" fmla="*/ 331 h 350"/>
                <a:gd name="T108" fmla="*/ 798 w 798"/>
                <a:gd name="T109" fmla="*/ 6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98" h="350">
                  <a:moveTo>
                    <a:pt x="751" y="265"/>
                  </a:moveTo>
                  <a:lnTo>
                    <a:pt x="751" y="265"/>
                  </a:lnTo>
                  <a:lnTo>
                    <a:pt x="783" y="265"/>
                  </a:lnTo>
                  <a:lnTo>
                    <a:pt x="783" y="317"/>
                  </a:lnTo>
                  <a:lnTo>
                    <a:pt x="751" y="317"/>
                  </a:lnTo>
                  <a:lnTo>
                    <a:pt x="751" y="265"/>
                  </a:lnTo>
                  <a:close/>
                  <a:moveTo>
                    <a:pt x="440" y="178"/>
                  </a:moveTo>
                  <a:lnTo>
                    <a:pt x="440" y="178"/>
                  </a:lnTo>
                  <a:cubicBezTo>
                    <a:pt x="273" y="178"/>
                    <a:pt x="73" y="188"/>
                    <a:pt x="56" y="189"/>
                  </a:cubicBezTo>
                  <a:lnTo>
                    <a:pt x="56" y="79"/>
                  </a:lnTo>
                  <a:lnTo>
                    <a:pt x="741" y="79"/>
                  </a:lnTo>
                  <a:lnTo>
                    <a:pt x="741" y="189"/>
                  </a:lnTo>
                  <a:cubicBezTo>
                    <a:pt x="732" y="188"/>
                    <a:pt x="608" y="178"/>
                    <a:pt x="440" y="178"/>
                  </a:cubicBezTo>
                  <a:close/>
                  <a:moveTo>
                    <a:pt x="14" y="308"/>
                  </a:moveTo>
                  <a:lnTo>
                    <a:pt x="14" y="308"/>
                  </a:lnTo>
                  <a:lnTo>
                    <a:pt x="47" y="308"/>
                  </a:lnTo>
                  <a:lnTo>
                    <a:pt x="47" y="317"/>
                  </a:lnTo>
                  <a:lnTo>
                    <a:pt x="14" y="317"/>
                  </a:lnTo>
                  <a:lnTo>
                    <a:pt x="14" y="308"/>
                  </a:lnTo>
                  <a:close/>
                  <a:moveTo>
                    <a:pt x="47" y="94"/>
                  </a:moveTo>
                  <a:lnTo>
                    <a:pt x="47" y="94"/>
                  </a:lnTo>
                  <a:lnTo>
                    <a:pt x="14" y="94"/>
                  </a:lnTo>
                  <a:lnTo>
                    <a:pt x="14" y="79"/>
                  </a:lnTo>
                  <a:lnTo>
                    <a:pt x="47" y="79"/>
                  </a:lnTo>
                  <a:lnTo>
                    <a:pt x="47" y="94"/>
                  </a:lnTo>
                  <a:close/>
                  <a:moveTo>
                    <a:pt x="14" y="263"/>
                  </a:moveTo>
                  <a:lnTo>
                    <a:pt x="14" y="263"/>
                  </a:lnTo>
                  <a:lnTo>
                    <a:pt x="47" y="263"/>
                  </a:lnTo>
                  <a:lnTo>
                    <a:pt x="47" y="304"/>
                  </a:lnTo>
                  <a:lnTo>
                    <a:pt x="14" y="304"/>
                  </a:lnTo>
                  <a:lnTo>
                    <a:pt x="14" y="263"/>
                  </a:lnTo>
                  <a:close/>
                  <a:moveTo>
                    <a:pt x="47" y="259"/>
                  </a:moveTo>
                  <a:lnTo>
                    <a:pt x="47" y="259"/>
                  </a:lnTo>
                  <a:lnTo>
                    <a:pt x="14" y="259"/>
                  </a:lnTo>
                  <a:lnTo>
                    <a:pt x="14" y="236"/>
                  </a:lnTo>
                  <a:lnTo>
                    <a:pt x="47" y="236"/>
                  </a:lnTo>
                  <a:lnTo>
                    <a:pt x="47" y="259"/>
                  </a:lnTo>
                  <a:close/>
                  <a:moveTo>
                    <a:pt x="47" y="129"/>
                  </a:moveTo>
                  <a:lnTo>
                    <a:pt x="47" y="129"/>
                  </a:lnTo>
                  <a:lnTo>
                    <a:pt x="14" y="129"/>
                  </a:lnTo>
                  <a:lnTo>
                    <a:pt x="14" y="98"/>
                  </a:lnTo>
                  <a:lnTo>
                    <a:pt x="47" y="98"/>
                  </a:lnTo>
                  <a:lnTo>
                    <a:pt x="47" y="129"/>
                  </a:lnTo>
                  <a:close/>
                  <a:moveTo>
                    <a:pt x="14" y="161"/>
                  </a:moveTo>
                  <a:lnTo>
                    <a:pt x="14" y="161"/>
                  </a:lnTo>
                  <a:lnTo>
                    <a:pt x="47" y="161"/>
                  </a:lnTo>
                  <a:lnTo>
                    <a:pt x="47" y="232"/>
                  </a:lnTo>
                  <a:lnTo>
                    <a:pt x="14" y="232"/>
                  </a:lnTo>
                  <a:lnTo>
                    <a:pt x="14" y="161"/>
                  </a:lnTo>
                  <a:close/>
                  <a:moveTo>
                    <a:pt x="47" y="157"/>
                  </a:moveTo>
                  <a:lnTo>
                    <a:pt x="47" y="157"/>
                  </a:lnTo>
                  <a:lnTo>
                    <a:pt x="14" y="157"/>
                  </a:lnTo>
                  <a:lnTo>
                    <a:pt x="14" y="133"/>
                  </a:lnTo>
                  <a:lnTo>
                    <a:pt x="47" y="133"/>
                  </a:lnTo>
                  <a:lnTo>
                    <a:pt x="47" y="157"/>
                  </a:lnTo>
                  <a:close/>
                  <a:moveTo>
                    <a:pt x="751" y="102"/>
                  </a:moveTo>
                  <a:lnTo>
                    <a:pt x="751" y="102"/>
                  </a:lnTo>
                  <a:lnTo>
                    <a:pt x="783" y="102"/>
                  </a:lnTo>
                  <a:lnTo>
                    <a:pt x="783" y="261"/>
                  </a:lnTo>
                  <a:lnTo>
                    <a:pt x="751" y="261"/>
                  </a:lnTo>
                  <a:lnTo>
                    <a:pt x="751" y="102"/>
                  </a:lnTo>
                  <a:close/>
                  <a:moveTo>
                    <a:pt x="783" y="98"/>
                  </a:moveTo>
                  <a:lnTo>
                    <a:pt x="783" y="98"/>
                  </a:lnTo>
                  <a:lnTo>
                    <a:pt x="751" y="98"/>
                  </a:lnTo>
                  <a:lnTo>
                    <a:pt x="751" y="79"/>
                  </a:lnTo>
                  <a:lnTo>
                    <a:pt x="783" y="79"/>
                  </a:lnTo>
                  <a:lnTo>
                    <a:pt x="783" y="98"/>
                  </a:lnTo>
                  <a:close/>
                  <a:moveTo>
                    <a:pt x="47" y="46"/>
                  </a:moveTo>
                  <a:lnTo>
                    <a:pt x="47" y="46"/>
                  </a:lnTo>
                  <a:lnTo>
                    <a:pt x="734" y="46"/>
                  </a:lnTo>
                  <a:lnTo>
                    <a:pt x="774" y="65"/>
                  </a:lnTo>
                  <a:lnTo>
                    <a:pt x="19" y="65"/>
                  </a:lnTo>
                  <a:lnTo>
                    <a:pt x="47" y="46"/>
                  </a:lnTo>
                  <a:close/>
                  <a:moveTo>
                    <a:pt x="173" y="10"/>
                  </a:moveTo>
                  <a:lnTo>
                    <a:pt x="173" y="10"/>
                  </a:lnTo>
                  <a:lnTo>
                    <a:pt x="620" y="10"/>
                  </a:lnTo>
                  <a:lnTo>
                    <a:pt x="672" y="37"/>
                  </a:lnTo>
                  <a:lnTo>
                    <a:pt x="114" y="36"/>
                  </a:lnTo>
                  <a:lnTo>
                    <a:pt x="173" y="10"/>
                  </a:lnTo>
                  <a:close/>
                  <a:moveTo>
                    <a:pt x="798" y="65"/>
                  </a:moveTo>
                  <a:lnTo>
                    <a:pt x="798" y="65"/>
                  </a:lnTo>
                  <a:lnTo>
                    <a:pt x="797" y="65"/>
                  </a:lnTo>
                  <a:lnTo>
                    <a:pt x="798" y="64"/>
                  </a:lnTo>
                  <a:lnTo>
                    <a:pt x="737" y="37"/>
                  </a:lnTo>
                  <a:lnTo>
                    <a:pt x="693" y="37"/>
                  </a:lnTo>
                  <a:lnTo>
                    <a:pt x="622" y="0"/>
                  </a:lnTo>
                  <a:lnTo>
                    <a:pt x="172" y="0"/>
                  </a:lnTo>
                  <a:lnTo>
                    <a:pt x="90" y="36"/>
                  </a:lnTo>
                  <a:lnTo>
                    <a:pt x="44" y="36"/>
                  </a:lnTo>
                  <a:lnTo>
                    <a:pt x="1" y="65"/>
                  </a:lnTo>
                  <a:lnTo>
                    <a:pt x="0" y="65"/>
                  </a:lnTo>
                  <a:lnTo>
                    <a:pt x="0" y="331"/>
                  </a:lnTo>
                  <a:lnTo>
                    <a:pt x="488" y="331"/>
                  </a:lnTo>
                  <a:cubicBezTo>
                    <a:pt x="491" y="342"/>
                    <a:pt x="501" y="350"/>
                    <a:pt x="513" y="350"/>
                  </a:cubicBezTo>
                  <a:cubicBezTo>
                    <a:pt x="527" y="350"/>
                    <a:pt x="539" y="338"/>
                    <a:pt x="539" y="324"/>
                  </a:cubicBezTo>
                  <a:cubicBezTo>
                    <a:pt x="539" y="310"/>
                    <a:pt x="527" y="298"/>
                    <a:pt x="513" y="298"/>
                  </a:cubicBezTo>
                  <a:cubicBezTo>
                    <a:pt x="501" y="298"/>
                    <a:pt x="492" y="306"/>
                    <a:pt x="488" y="317"/>
                  </a:cubicBezTo>
                  <a:lnTo>
                    <a:pt x="56" y="317"/>
                  </a:lnTo>
                  <a:lnTo>
                    <a:pt x="56" y="204"/>
                  </a:lnTo>
                  <a:cubicBezTo>
                    <a:pt x="66" y="203"/>
                    <a:pt x="269" y="193"/>
                    <a:pt x="440" y="193"/>
                  </a:cubicBezTo>
                  <a:cubicBezTo>
                    <a:pt x="613" y="193"/>
                    <a:pt x="740" y="204"/>
                    <a:pt x="741" y="204"/>
                  </a:cubicBezTo>
                  <a:cubicBezTo>
                    <a:pt x="741" y="204"/>
                    <a:pt x="741" y="204"/>
                    <a:pt x="741" y="204"/>
                  </a:cubicBezTo>
                  <a:lnTo>
                    <a:pt x="741" y="317"/>
                  </a:lnTo>
                  <a:lnTo>
                    <a:pt x="616" y="317"/>
                  </a:lnTo>
                  <a:cubicBezTo>
                    <a:pt x="613" y="306"/>
                    <a:pt x="603" y="298"/>
                    <a:pt x="592" y="298"/>
                  </a:cubicBezTo>
                  <a:cubicBezTo>
                    <a:pt x="577" y="298"/>
                    <a:pt x="566" y="310"/>
                    <a:pt x="566" y="324"/>
                  </a:cubicBezTo>
                  <a:cubicBezTo>
                    <a:pt x="566" y="338"/>
                    <a:pt x="577" y="350"/>
                    <a:pt x="592" y="350"/>
                  </a:cubicBezTo>
                  <a:cubicBezTo>
                    <a:pt x="603" y="350"/>
                    <a:pt x="613" y="342"/>
                    <a:pt x="616" y="331"/>
                  </a:cubicBezTo>
                  <a:lnTo>
                    <a:pt x="798" y="331"/>
                  </a:lnTo>
                  <a:lnTo>
                    <a:pt x="798" y="6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7" name="Freeform 38"/>
            <p:cNvSpPr>
              <a:spLocks/>
            </p:cNvSpPr>
            <p:nvPr/>
          </p:nvSpPr>
          <p:spPr bwMode="auto">
            <a:xfrm>
              <a:off x="3514725" y="1104900"/>
              <a:ext cx="12700" cy="12700"/>
            </a:xfrm>
            <a:custGeom>
              <a:avLst/>
              <a:gdLst>
                <a:gd name="T0" fmla="*/ 13 w 13"/>
                <a:gd name="T1" fmla="*/ 0 h 13"/>
                <a:gd name="T2" fmla="*/ 13 w 13"/>
                <a:gd name="T3" fmla="*/ 0 h 13"/>
                <a:gd name="T4" fmla="*/ 0 w 13"/>
                <a:gd name="T5" fmla="*/ 0 h 13"/>
                <a:gd name="T6" fmla="*/ 0 w 13"/>
                <a:gd name="T7" fmla="*/ 13 h 13"/>
                <a:gd name="T8" fmla="*/ 13 w 13"/>
                <a:gd name="T9" fmla="*/ 13 h 13"/>
                <a:gd name="T10" fmla="*/ 13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13" y="0"/>
                  </a:moveTo>
                  <a:lnTo>
                    <a:pt x="13" y="0"/>
                  </a:lnTo>
                  <a:lnTo>
                    <a:pt x="0" y="0"/>
                  </a:lnTo>
                  <a:lnTo>
                    <a:pt x="0" y="13"/>
                  </a:lnTo>
                  <a:lnTo>
                    <a:pt x="13" y="13"/>
                  </a:lnTo>
                  <a:lnTo>
                    <a:pt x="13"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8" name="Freeform 39"/>
            <p:cNvSpPr>
              <a:spLocks/>
            </p:cNvSpPr>
            <p:nvPr/>
          </p:nvSpPr>
          <p:spPr bwMode="auto">
            <a:xfrm>
              <a:off x="3514725" y="1125538"/>
              <a:ext cx="12700" cy="12700"/>
            </a:xfrm>
            <a:custGeom>
              <a:avLst/>
              <a:gdLst>
                <a:gd name="T0" fmla="*/ 13 w 13"/>
                <a:gd name="T1" fmla="*/ 0 h 13"/>
                <a:gd name="T2" fmla="*/ 13 w 13"/>
                <a:gd name="T3" fmla="*/ 0 h 13"/>
                <a:gd name="T4" fmla="*/ 0 w 13"/>
                <a:gd name="T5" fmla="*/ 0 h 13"/>
                <a:gd name="T6" fmla="*/ 0 w 13"/>
                <a:gd name="T7" fmla="*/ 13 h 13"/>
                <a:gd name="T8" fmla="*/ 13 w 13"/>
                <a:gd name="T9" fmla="*/ 13 h 13"/>
                <a:gd name="T10" fmla="*/ 13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13" y="0"/>
                  </a:moveTo>
                  <a:lnTo>
                    <a:pt x="13" y="0"/>
                  </a:lnTo>
                  <a:lnTo>
                    <a:pt x="0" y="0"/>
                  </a:lnTo>
                  <a:lnTo>
                    <a:pt x="0" y="13"/>
                  </a:lnTo>
                  <a:lnTo>
                    <a:pt x="13" y="13"/>
                  </a:lnTo>
                  <a:lnTo>
                    <a:pt x="13"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9" name="Freeform 40"/>
            <p:cNvSpPr>
              <a:spLocks/>
            </p:cNvSpPr>
            <p:nvPr/>
          </p:nvSpPr>
          <p:spPr bwMode="auto">
            <a:xfrm>
              <a:off x="3513138" y="1146175"/>
              <a:ext cx="15875" cy="15875"/>
            </a:xfrm>
            <a:custGeom>
              <a:avLst/>
              <a:gdLst>
                <a:gd name="T0" fmla="*/ 0 w 17"/>
                <a:gd name="T1" fmla="*/ 17 h 17"/>
                <a:gd name="T2" fmla="*/ 0 w 17"/>
                <a:gd name="T3" fmla="*/ 17 h 17"/>
                <a:gd name="T4" fmla="*/ 17 w 17"/>
                <a:gd name="T5" fmla="*/ 17 h 17"/>
                <a:gd name="T6" fmla="*/ 17 w 17"/>
                <a:gd name="T7" fmla="*/ 0 h 17"/>
                <a:gd name="T8" fmla="*/ 0 w 17"/>
                <a:gd name="T9" fmla="*/ 0 h 17"/>
                <a:gd name="T10" fmla="*/ 0 w 17"/>
                <a:gd name="T11" fmla="*/ 17 h 17"/>
              </a:gdLst>
              <a:ahLst/>
              <a:cxnLst>
                <a:cxn ang="0">
                  <a:pos x="T0" y="T1"/>
                </a:cxn>
                <a:cxn ang="0">
                  <a:pos x="T2" y="T3"/>
                </a:cxn>
                <a:cxn ang="0">
                  <a:pos x="T4" y="T5"/>
                </a:cxn>
                <a:cxn ang="0">
                  <a:pos x="T6" y="T7"/>
                </a:cxn>
                <a:cxn ang="0">
                  <a:pos x="T8" y="T9"/>
                </a:cxn>
                <a:cxn ang="0">
                  <a:pos x="T10" y="T11"/>
                </a:cxn>
              </a:cxnLst>
              <a:rect l="0" t="0" r="r" b="b"/>
              <a:pathLst>
                <a:path w="17" h="17">
                  <a:moveTo>
                    <a:pt x="0" y="17"/>
                  </a:moveTo>
                  <a:lnTo>
                    <a:pt x="0" y="17"/>
                  </a:lnTo>
                  <a:lnTo>
                    <a:pt x="17" y="17"/>
                  </a:lnTo>
                  <a:lnTo>
                    <a:pt x="17" y="0"/>
                  </a:lnTo>
                  <a:lnTo>
                    <a:pt x="0" y="0"/>
                  </a:lnTo>
                  <a:lnTo>
                    <a:pt x="0" y="17"/>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0" name="Freeform 41"/>
            <p:cNvSpPr>
              <a:spLocks/>
            </p:cNvSpPr>
            <p:nvPr/>
          </p:nvSpPr>
          <p:spPr bwMode="auto">
            <a:xfrm>
              <a:off x="2809875" y="1277938"/>
              <a:ext cx="1588" cy="3175"/>
            </a:xfrm>
            <a:custGeom>
              <a:avLst/>
              <a:gdLst>
                <a:gd name="T0" fmla="*/ 3 w 3"/>
                <a:gd name="T1" fmla="*/ 1 h 3"/>
                <a:gd name="T2" fmla="*/ 3 w 3"/>
                <a:gd name="T3" fmla="*/ 1 h 3"/>
                <a:gd name="T4" fmla="*/ 1 w 3"/>
                <a:gd name="T5" fmla="*/ 1 h 3"/>
                <a:gd name="T6" fmla="*/ 1 w 3"/>
                <a:gd name="T7" fmla="*/ 0 h 3"/>
                <a:gd name="T8" fmla="*/ 0 w 3"/>
                <a:gd name="T9" fmla="*/ 0 h 3"/>
                <a:gd name="T10" fmla="*/ 0 w 3"/>
                <a:gd name="T11" fmla="*/ 3 h 3"/>
                <a:gd name="T12" fmla="*/ 1 w 3"/>
                <a:gd name="T13" fmla="*/ 3 h 3"/>
                <a:gd name="T14" fmla="*/ 1 w 3"/>
                <a:gd name="T15" fmla="*/ 2 h 3"/>
                <a:gd name="T16" fmla="*/ 3 w 3"/>
                <a:gd name="T17" fmla="*/ 2 h 3"/>
                <a:gd name="T18" fmla="*/ 3 w 3"/>
                <a:gd name="T19" fmla="*/ 3 h 3"/>
                <a:gd name="T20" fmla="*/ 3 w 3"/>
                <a:gd name="T21" fmla="*/ 3 h 3"/>
                <a:gd name="T22" fmla="*/ 3 w 3"/>
                <a:gd name="T23" fmla="*/ 0 h 3"/>
                <a:gd name="T24" fmla="*/ 3 w 3"/>
                <a:gd name="T25" fmla="*/ 0 h 3"/>
                <a:gd name="T26" fmla="*/ 3 w 3"/>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3" y="1"/>
                  </a:moveTo>
                  <a:lnTo>
                    <a:pt x="3" y="1"/>
                  </a:lnTo>
                  <a:lnTo>
                    <a:pt x="1" y="1"/>
                  </a:lnTo>
                  <a:lnTo>
                    <a:pt x="1" y="0"/>
                  </a:lnTo>
                  <a:lnTo>
                    <a:pt x="0" y="0"/>
                  </a:lnTo>
                  <a:lnTo>
                    <a:pt x="0" y="3"/>
                  </a:lnTo>
                  <a:lnTo>
                    <a:pt x="1" y="3"/>
                  </a:lnTo>
                  <a:lnTo>
                    <a:pt x="1" y="2"/>
                  </a:lnTo>
                  <a:lnTo>
                    <a:pt x="3" y="2"/>
                  </a:lnTo>
                  <a:lnTo>
                    <a:pt x="3" y="3"/>
                  </a:lnTo>
                  <a:lnTo>
                    <a:pt x="3" y="3"/>
                  </a:lnTo>
                  <a:lnTo>
                    <a:pt x="3" y="0"/>
                  </a:lnTo>
                  <a:lnTo>
                    <a:pt x="3" y="0"/>
                  </a:lnTo>
                  <a:lnTo>
                    <a:pt x="3"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1" name="Freeform 42"/>
            <p:cNvSpPr>
              <a:spLocks/>
            </p:cNvSpPr>
            <p:nvPr/>
          </p:nvSpPr>
          <p:spPr bwMode="auto">
            <a:xfrm>
              <a:off x="2813050" y="1277938"/>
              <a:ext cx="3175" cy="3175"/>
            </a:xfrm>
            <a:custGeom>
              <a:avLst/>
              <a:gdLst>
                <a:gd name="T0" fmla="*/ 2 w 3"/>
                <a:gd name="T1" fmla="*/ 2 h 3"/>
                <a:gd name="T2" fmla="*/ 2 w 3"/>
                <a:gd name="T3" fmla="*/ 2 h 3"/>
                <a:gd name="T4" fmla="*/ 1 w 3"/>
                <a:gd name="T5" fmla="*/ 3 h 3"/>
                <a:gd name="T6" fmla="*/ 1 w 3"/>
                <a:gd name="T7" fmla="*/ 2 h 3"/>
                <a:gd name="T8" fmla="*/ 1 w 3"/>
                <a:gd name="T9" fmla="*/ 0 h 3"/>
                <a:gd name="T10" fmla="*/ 0 w 3"/>
                <a:gd name="T11" fmla="*/ 0 h 3"/>
                <a:gd name="T12" fmla="*/ 0 w 3"/>
                <a:gd name="T13" fmla="*/ 2 h 3"/>
                <a:gd name="T14" fmla="*/ 0 w 3"/>
                <a:gd name="T15" fmla="*/ 3 h 3"/>
                <a:gd name="T16" fmla="*/ 1 w 3"/>
                <a:gd name="T17" fmla="*/ 3 h 3"/>
                <a:gd name="T18" fmla="*/ 3 w 3"/>
                <a:gd name="T19" fmla="*/ 3 h 3"/>
                <a:gd name="T20" fmla="*/ 3 w 3"/>
                <a:gd name="T21" fmla="*/ 2 h 3"/>
                <a:gd name="T22" fmla="*/ 3 w 3"/>
                <a:gd name="T23" fmla="*/ 0 h 3"/>
                <a:gd name="T24" fmla="*/ 2 w 3"/>
                <a:gd name="T25" fmla="*/ 0 h 3"/>
                <a:gd name="T26" fmla="*/ 2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2" y="2"/>
                  </a:moveTo>
                  <a:lnTo>
                    <a:pt x="2" y="2"/>
                  </a:lnTo>
                  <a:cubicBezTo>
                    <a:pt x="2" y="2"/>
                    <a:pt x="2" y="3"/>
                    <a:pt x="1" y="3"/>
                  </a:cubicBezTo>
                  <a:cubicBezTo>
                    <a:pt x="1" y="3"/>
                    <a:pt x="1" y="2"/>
                    <a:pt x="1" y="2"/>
                  </a:cubicBezTo>
                  <a:lnTo>
                    <a:pt x="1" y="0"/>
                  </a:lnTo>
                  <a:lnTo>
                    <a:pt x="0" y="0"/>
                  </a:lnTo>
                  <a:lnTo>
                    <a:pt x="0" y="2"/>
                  </a:lnTo>
                  <a:cubicBezTo>
                    <a:pt x="0" y="2"/>
                    <a:pt x="0" y="3"/>
                    <a:pt x="0" y="3"/>
                  </a:cubicBezTo>
                  <a:cubicBezTo>
                    <a:pt x="0" y="3"/>
                    <a:pt x="1" y="3"/>
                    <a:pt x="1" y="3"/>
                  </a:cubicBezTo>
                  <a:cubicBezTo>
                    <a:pt x="2" y="3"/>
                    <a:pt x="2" y="3"/>
                    <a:pt x="3" y="3"/>
                  </a:cubicBezTo>
                  <a:cubicBezTo>
                    <a:pt x="3" y="3"/>
                    <a:pt x="3" y="2"/>
                    <a:pt x="3" y="2"/>
                  </a:cubicBezTo>
                  <a:lnTo>
                    <a:pt x="3" y="0"/>
                  </a:lnTo>
                  <a:lnTo>
                    <a:pt x="2" y="0"/>
                  </a:lnTo>
                  <a:lnTo>
                    <a:pt x="2"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2" name="Freeform 43"/>
            <p:cNvSpPr>
              <a:spLocks noEditPoints="1"/>
            </p:cNvSpPr>
            <p:nvPr/>
          </p:nvSpPr>
          <p:spPr bwMode="auto">
            <a:xfrm>
              <a:off x="2816225" y="1277938"/>
              <a:ext cx="3175" cy="3175"/>
            </a:xfrm>
            <a:custGeom>
              <a:avLst/>
              <a:gdLst>
                <a:gd name="T0" fmla="*/ 1 w 4"/>
                <a:gd name="T1" fmla="*/ 2 h 3"/>
                <a:gd name="T2" fmla="*/ 1 w 4"/>
                <a:gd name="T3" fmla="*/ 2 h 3"/>
                <a:gd name="T4" fmla="*/ 2 w 4"/>
                <a:gd name="T5" fmla="*/ 1 h 3"/>
                <a:gd name="T6" fmla="*/ 2 w 4"/>
                <a:gd name="T7" fmla="*/ 2 h 3"/>
                <a:gd name="T8" fmla="*/ 1 w 4"/>
                <a:gd name="T9" fmla="*/ 2 h 3"/>
                <a:gd name="T10" fmla="*/ 1 w 4"/>
                <a:gd name="T11" fmla="*/ 0 h 3"/>
                <a:gd name="T12" fmla="*/ 1 w 4"/>
                <a:gd name="T13" fmla="*/ 0 h 3"/>
                <a:gd name="T14" fmla="*/ 0 w 4"/>
                <a:gd name="T15" fmla="*/ 3 h 3"/>
                <a:gd name="T16" fmla="*/ 1 w 4"/>
                <a:gd name="T17" fmla="*/ 3 h 3"/>
                <a:gd name="T18" fmla="*/ 1 w 4"/>
                <a:gd name="T19" fmla="*/ 2 h 3"/>
                <a:gd name="T20" fmla="*/ 3 w 4"/>
                <a:gd name="T21" fmla="*/ 2 h 3"/>
                <a:gd name="T22" fmla="*/ 3 w 4"/>
                <a:gd name="T23" fmla="*/ 3 h 3"/>
                <a:gd name="T24" fmla="*/ 4 w 4"/>
                <a:gd name="T25" fmla="*/ 3 h 3"/>
                <a:gd name="T26" fmla="*/ 2 w 4"/>
                <a:gd name="T27" fmla="*/ 0 h 3"/>
                <a:gd name="T28" fmla="*/ 1 w 4"/>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3">
                  <a:moveTo>
                    <a:pt x="1" y="2"/>
                  </a:moveTo>
                  <a:lnTo>
                    <a:pt x="1" y="2"/>
                  </a:lnTo>
                  <a:lnTo>
                    <a:pt x="2" y="1"/>
                  </a:lnTo>
                  <a:lnTo>
                    <a:pt x="2" y="2"/>
                  </a:lnTo>
                  <a:lnTo>
                    <a:pt x="1" y="2"/>
                  </a:lnTo>
                  <a:close/>
                  <a:moveTo>
                    <a:pt x="1" y="0"/>
                  </a:moveTo>
                  <a:lnTo>
                    <a:pt x="1" y="0"/>
                  </a:lnTo>
                  <a:lnTo>
                    <a:pt x="0" y="3"/>
                  </a:lnTo>
                  <a:lnTo>
                    <a:pt x="1" y="3"/>
                  </a:lnTo>
                  <a:lnTo>
                    <a:pt x="1" y="2"/>
                  </a:lnTo>
                  <a:lnTo>
                    <a:pt x="3" y="2"/>
                  </a:lnTo>
                  <a:lnTo>
                    <a:pt x="3" y="3"/>
                  </a:lnTo>
                  <a:lnTo>
                    <a:pt x="4" y="3"/>
                  </a:lnTo>
                  <a:lnTo>
                    <a:pt x="2" y="0"/>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3" name="Freeform 44"/>
            <p:cNvSpPr>
              <a:spLocks/>
            </p:cNvSpPr>
            <p:nvPr/>
          </p:nvSpPr>
          <p:spPr bwMode="auto">
            <a:xfrm>
              <a:off x="2819400" y="1277938"/>
              <a:ext cx="4763" cy="3175"/>
            </a:xfrm>
            <a:custGeom>
              <a:avLst/>
              <a:gdLst>
                <a:gd name="T0" fmla="*/ 4 w 5"/>
                <a:gd name="T1" fmla="*/ 2 h 3"/>
                <a:gd name="T2" fmla="*/ 4 w 5"/>
                <a:gd name="T3" fmla="*/ 2 h 3"/>
                <a:gd name="T4" fmla="*/ 3 w 5"/>
                <a:gd name="T5" fmla="*/ 0 h 3"/>
                <a:gd name="T6" fmla="*/ 2 w 5"/>
                <a:gd name="T7" fmla="*/ 0 h 3"/>
                <a:gd name="T8" fmla="*/ 2 w 5"/>
                <a:gd name="T9" fmla="*/ 2 h 3"/>
                <a:gd name="T10" fmla="*/ 1 w 5"/>
                <a:gd name="T11" fmla="*/ 0 h 3"/>
                <a:gd name="T12" fmla="*/ 0 w 5"/>
                <a:gd name="T13" fmla="*/ 0 h 3"/>
                <a:gd name="T14" fmla="*/ 1 w 5"/>
                <a:gd name="T15" fmla="*/ 3 h 3"/>
                <a:gd name="T16" fmla="*/ 2 w 5"/>
                <a:gd name="T17" fmla="*/ 3 h 3"/>
                <a:gd name="T18" fmla="*/ 3 w 5"/>
                <a:gd name="T19" fmla="*/ 1 h 3"/>
                <a:gd name="T20" fmla="*/ 3 w 5"/>
                <a:gd name="T21" fmla="*/ 3 h 3"/>
                <a:gd name="T22" fmla="*/ 4 w 5"/>
                <a:gd name="T23" fmla="*/ 3 h 3"/>
                <a:gd name="T24" fmla="*/ 5 w 5"/>
                <a:gd name="T25" fmla="*/ 0 h 3"/>
                <a:gd name="T26" fmla="*/ 5 w 5"/>
                <a:gd name="T27" fmla="*/ 0 h 3"/>
                <a:gd name="T28" fmla="*/ 4 w 5"/>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4" y="2"/>
                  </a:moveTo>
                  <a:lnTo>
                    <a:pt x="4" y="2"/>
                  </a:lnTo>
                  <a:lnTo>
                    <a:pt x="3" y="0"/>
                  </a:lnTo>
                  <a:lnTo>
                    <a:pt x="2" y="0"/>
                  </a:lnTo>
                  <a:lnTo>
                    <a:pt x="2" y="2"/>
                  </a:lnTo>
                  <a:lnTo>
                    <a:pt x="1" y="0"/>
                  </a:lnTo>
                  <a:lnTo>
                    <a:pt x="0" y="0"/>
                  </a:lnTo>
                  <a:lnTo>
                    <a:pt x="1" y="3"/>
                  </a:lnTo>
                  <a:lnTo>
                    <a:pt x="2" y="3"/>
                  </a:lnTo>
                  <a:lnTo>
                    <a:pt x="3" y="1"/>
                  </a:lnTo>
                  <a:lnTo>
                    <a:pt x="3" y="3"/>
                  </a:lnTo>
                  <a:lnTo>
                    <a:pt x="4" y="3"/>
                  </a:lnTo>
                  <a:lnTo>
                    <a:pt x="5" y="0"/>
                  </a:lnTo>
                  <a:lnTo>
                    <a:pt x="5" y="0"/>
                  </a:lnTo>
                  <a:lnTo>
                    <a:pt x="4"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4" name="Freeform 45"/>
            <p:cNvSpPr>
              <a:spLocks/>
            </p:cNvSpPr>
            <p:nvPr/>
          </p:nvSpPr>
          <p:spPr bwMode="auto">
            <a:xfrm>
              <a:off x="2824163" y="1277938"/>
              <a:ext cx="1588" cy="3175"/>
            </a:xfrm>
            <a:custGeom>
              <a:avLst/>
              <a:gdLst>
                <a:gd name="T0" fmla="*/ 0 w 2"/>
                <a:gd name="T1" fmla="*/ 2 h 3"/>
                <a:gd name="T2" fmla="*/ 0 w 2"/>
                <a:gd name="T3" fmla="*/ 2 h 3"/>
                <a:gd name="T4" fmla="*/ 0 w 2"/>
                <a:gd name="T5" fmla="*/ 3 h 3"/>
                <a:gd name="T6" fmla="*/ 1 w 2"/>
                <a:gd name="T7" fmla="*/ 3 h 3"/>
                <a:gd name="T8" fmla="*/ 2 w 2"/>
                <a:gd name="T9" fmla="*/ 3 h 3"/>
                <a:gd name="T10" fmla="*/ 2 w 2"/>
                <a:gd name="T11" fmla="*/ 3 h 3"/>
                <a:gd name="T12" fmla="*/ 1 w 2"/>
                <a:gd name="T13" fmla="*/ 3 h 3"/>
                <a:gd name="T14" fmla="*/ 0 w 2"/>
                <a:gd name="T15" fmla="*/ 2 h 3"/>
                <a:gd name="T16" fmla="*/ 2 w 2"/>
                <a:gd name="T17" fmla="*/ 2 h 3"/>
                <a:gd name="T18" fmla="*/ 2 w 2"/>
                <a:gd name="T19" fmla="*/ 1 h 3"/>
                <a:gd name="T20" fmla="*/ 0 w 2"/>
                <a:gd name="T21" fmla="*/ 1 h 3"/>
                <a:gd name="T22" fmla="*/ 1 w 2"/>
                <a:gd name="T23" fmla="*/ 1 h 3"/>
                <a:gd name="T24" fmla="*/ 2 w 2"/>
                <a:gd name="T25" fmla="*/ 1 h 3"/>
                <a:gd name="T26" fmla="*/ 2 w 2"/>
                <a:gd name="T27" fmla="*/ 0 h 3"/>
                <a:gd name="T28" fmla="*/ 1 w 2"/>
                <a:gd name="T29" fmla="*/ 0 h 3"/>
                <a:gd name="T30" fmla="*/ 0 w 2"/>
                <a:gd name="T31"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 h="3">
                  <a:moveTo>
                    <a:pt x="0" y="2"/>
                  </a:moveTo>
                  <a:lnTo>
                    <a:pt x="0" y="2"/>
                  </a:lnTo>
                  <a:cubicBezTo>
                    <a:pt x="0" y="2"/>
                    <a:pt x="0" y="3"/>
                    <a:pt x="0" y="3"/>
                  </a:cubicBezTo>
                  <a:cubicBezTo>
                    <a:pt x="0" y="3"/>
                    <a:pt x="1" y="3"/>
                    <a:pt x="1" y="3"/>
                  </a:cubicBezTo>
                  <a:lnTo>
                    <a:pt x="2" y="3"/>
                  </a:lnTo>
                  <a:lnTo>
                    <a:pt x="2" y="3"/>
                  </a:lnTo>
                  <a:lnTo>
                    <a:pt x="1" y="3"/>
                  </a:lnTo>
                  <a:cubicBezTo>
                    <a:pt x="0" y="3"/>
                    <a:pt x="0" y="2"/>
                    <a:pt x="0" y="2"/>
                  </a:cubicBezTo>
                  <a:lnTo>
                    <a:pt x="2" y="2"/>
                  </a:lnTo>
                  <a:lnTo>
                    <a:pt x="2" y="1"/>
                  </a:lnTo>
                  <a:lnTo>
                    <a:pt x="0" y="1"/>
                  </a:lnTo>
                  <a:cubicBezTo>
                    <a:pt x="0" y="1"/>
                    <a:pt x="1" y="1"/>
                    <a:pt x="1" y="1"/>
                  </a:cubicBezTo>
                  <a:lnTo>
                    <a:pt x="2" y="1"/>
                  </a:lnTo>
                  <a:lnTo>
                    <a:pt x="2" y="0"/>
                  </a:lnTo>
                  <a:lnTo>
                    <a:pt x="1" y="0"/>
                  </a:lnTo>
                  <a:cubicBezTo>
                    <a:pt x="0" y="0"/>
                    <a:pt x="0"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5" name="Freeform 46"/>
            <p:cNvSpPr>
              <a:spLocks/>
            </p:cNvSpPr>
            <p:nvPr/>
          </p:nvSpPr>
          <p:spPr bwMode="auto">
            <a:xfrm>
              <a:off x="2827338" y="1277938"/>
              <a:ext cx="1588" cy="3175"/>
            </a:xfrm>
            <a:custGeom>
              <a:avLst/>
              <a:gdLst>
                <a:gd name="T0" fmla="*/ 0 w 1"/>
                <a:gd name="T1" fmla="*/ 3 h 3"/>
                <a:gd name="T2" fmla="*/ 0 w 1"/>
                <a:gd name="T3" fmla="*/ 3 h 3"/>
                <a:gd name="T4" fmla="*/ 1 w 1"/>
                <a:gd name="T5" fmla="*/ 3 h 3"/>
                <a:gd name="T6" fmla="*/ 1 w 1"/>
                <a:gd name="T7" fmla="*/ 0 h 3"/>
                <a:gd name="T8" fmla="*/ 0 w 1"/>
                <a:gd name="T9" fmla="*/ 0 h 3"/>
                <a:gd name="T10" fmla="*/ 0 w 1"/>
                <a:gd name="T11" fmla="*/ 3 h 3"/>
              </a:gdLst>
              <a:ahLst/>
              <a:cxnLst>
                <a:cxn ang="0">
                  <a:pos x="T0" y="T1"/>
                </a:cxn>
                <a:cxn ang="0">
                  <a:pos x="T2" y="T3"/>
                </a:cxn>
                <a:cxn ang="0">
                  <a:pos x="T4" y="T5"/>
                </a:cxn>
                <a:cxn ang="0">
                  <a:pos x="T6" y="T7"/>
                </a:cxn>
                <a:cxn ang="0">
                  <a:pos x="T8" y="T9"/>
                </a:cxn>
                <a:cxn ang="0">
                  <a:pos x="T10" y="T11"/>
                </a:cxn>
              </a:cxnLst>
              <a:rect l="0" t="0" r="r" b="b"/>
              <a:pathLst>
                <a:path w="1" h="3">
                  <a:moveTo>
                    <a:pt x="0" y="3"/>
                  </a:moveTo>
                  <a:lnTo>
                    <a:pt x="0" y="3"/>
                  </a:lnTo>
                  <a:lnTo>
                    <a:pt x="1" y="3"/>
                  </a:lnTo>
                  <a:lnTo>
                    <a:pt x="1" y="0"/>
                  </a:lnTo>
                  <a:lnTo>
                    <a:pt x="0" y="0"/>
                  </a:lnTo>
                  <a:lnTo>
                    <a:pt x="0"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6" name="Freeform 47"/>
            <p:cNvSpPr>
              <a:spLocks/>
            </p:cNvSpPr>
            <p:nvPr/>
          </p:nvSpPr>
          <p:spPr bwMode="auto">
            <a:xfrm>
              <a:off x="2811463" y="1266825"/>
              <a:ext cx="6350" cy="6350"/>
            </a:xfrm>
            <a:custGeom>
              <a:avLst/>
              <a:gdLst>
                <a:gd name="T0" fmla="*/ 7 w 7"/>
                <a:gd name="T1" fmla="*/ 8 h 8"/>
                <a:gd name="T2" fmla="*/ 7 w 7"/>
                <a:gd name="T3" fmla="*/ 8 h 8"/>
                <a:gd name="T4" fmla="*/ 7 w 7"/>
                <a:gd name="T5" fmla="*/ 8 h 8"/>
                <a:gd name="T6" fmla="*/ 7 w 7"/>
                <a:gd name="T7" fmla="*/ 8 h 8"/>
                <a:gd name="T8" fmla="*/ 1 w 7"/>
                <a:gd name="T9" fmla="*/ 0 h 8"/>
                <a:gd name="T10" fmla="*/ 0 w 7"/>
                <a:gd name="T11" fmla="*/ 3 h 8"/>
                <a:gd name="T12" fmla="*/ 1 w 7"/>
                <a:gd name="T13" fmla="*/ 5 h 8"/>
                <a:gd name="T14" fmla="*/ 7 w 7"/>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8">
                  <a:moveTo>
                    <a:pt x="7" y="8"/>
                  </a:moveTo>
                  <a:lnTo>
                    <a:pt x="7" y="8"/>
                  </a:lnTo>
                  <a:cubicBezTo>
                    <a:pt x="7" y="8"/>
                    <a:pt x="7" y="8"/>
                    <a:pt x="7" y="8"/>
                  </a:cubicBezTo>
                  <a:cubicBezTo>
                    <a:pt x="7" y="8"/>
                    <a:pt x="7" y="8"/>
                    <a:pt x="7" y="8"/>
                  </a:cubicBezTo>
                  <a:cubicBezTo>
                    <a:pt x="4" y="3"/>
                    <a:pt x="1" y="0"/>
                    <a:pt x="1" y="0"/>
                  </a:cubicBezTo>
                  <a:cubicBezTo>
                    <a:pt x="1" y="0"/>
                    <a:pt x="0" y="1"/>
                    <a:pt x="0" y="3"/>
                  </a:cubicBezTo>
                  <a:cubicBezTo>
                    <a:pt x="0" y="4"/>
                    <a:pt x="1" y="5"/>
                    <a:pt x="1" y="5"/>
                  </a:cubicBezTo>
                  <a:cubicBezTo>
                    <a:pt x="2" y="6"/>
                    <a:pt x="6" y="8"/>
                    <a:pt x="7"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7" name="Freeform 48"/>
            <p:cNvSpPr>
              <a:spLocks/>
            </p:cNvSpPr>
            <p:nvPr/>
          </p:nvSpPr>
          <p:spPr bwMode="auto">
            <a:xfrm>
              <a:off x="2811463" y="1274763"/>
              <a:ext cx="4763" cy="3175"/>
            </a:xfrm>
            <a:custGeom>
              <a:avLst/>
              <a:gdLst>
                <a:gd name="T0" fmla="*/ 6 w 6"/>
                <a:gd name="T1" fmla="*/ 1 h 3"/>
                <a:gd name="T2" fmla="*/ 6 w 6"/>
                <a:gd name="T3" fmla="*/ 1 h 3"/>
                <a:gd name="T4" fmla="*/ 6 w 6"/>
                <a:gd name="T5" fmla="*/ 1 h 3"/>
                <a:gd name="T6" fmla="*/ 6 w 6"/>
                <a:gd name="T7" fmla="*/ 0 h 3"/>
                <a:gd name="T8" fmla="*/ 0 w 6"/>
                <a:gd name="T9" fmla="*/ 1 h 3"/>
                <a:gd name="T10" fmla="*/ 3 w 6"/>
                <a:gd name="T11" fmla="*/ 2 h 3"/>
                <a:gd name="T12" fmla="*/ 6 w 6"/>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6" y="1"/>
                  </a:moveTo>
                  <a:lnTo>
                    <a:pt x="6" y="1"/>
                  </a:lnTo>
                  <a:cubicBezTo>
                    <a:pt x="6" y="1"/>
                    <a:pt x="6" y="1"/>
                    <a:pt x="6" y="1"/>
                  </a:cubicBezTo>
                  <a:cubicBezTo>
                    <a:pt x="6" y="0"/>
                    <a:pt x="6" y="0"/>
                    <a:pt x="6" y="0"/>
                  </a:cubicBezTo>
                  <a:lnTo>
                    <a:pt x="0" y="1"/>
                  </a:lnTo>
                  <a:cubicBezTo>
                    <a:pt x="1" y="2"/>
                    <a:pt x="2" y="3"/>
                    <a:pt x="3" y="2"/>
                  </a:cubicBezTo>
                  <a:cubicBezTo>
                    <a:pt x="4" y="2"/>
                    <a:pt x="6" y="1"/>
                    <a:pt x="6"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8" name="Freeform 49"/>
            <p:cNvSpPr>
              <a:spLocks/>
            </p:cNvSpPr>
            <p:nvPr/>
          </p:nvSpPr>
          <p:spPr bwMode="auto">
            <a:xfrm>
              <a:off x="2809875" y="1271588"/>
              <a:ext cx="6350" cy="3175"/>
            </a:xfrm>
            <a:custGeom>
              <a:avLst/>
              <a:gdLst>
                <a:gd name="T0" fmla="*/ 3 w 8"/>
                <a:gd name="T1" fmla="*/ 4 h 4"/>
                <a:gd name="T2" fmla="*/ 3 w 8"/>
                <a:gd name="T3" fmla="*/ 4 h 4"/>
                <a:gd name="T4" fmla="*/ 4 w 8"/>
                <a:gd name="T5" fmla="*/ 4 h 4"/>
                <a:gd name="T6" fmla="*/ 8 w 8"/>
                <a:gd name="T7" fmla="*/ 4 h 4"/>
                <a:gd name="T8" fmla="*/ 8 w 8"/>
                <a:gd name="T9" fmla="*/ 4 h 4"/>
                <a:gd name="T10" fmla="*/ 8 w 8"/>
                <a:gd name="T11" fmla="*/ 4 h 4"/>
                <a:gd name="T12" fmla="*/ 1 w 8"/>
                <a:gd name="T13" fmla="*/ 0 h 4"/>
                <a:gd name="T14" fmla="*/ 0 w 8"/>
                <a:gd name="T15" fmla="*/ 0 h 4"/>
                <a:gd name="T16" fmla="*/ 0 w 8"/>
                <a:gd name="T17" fmla="*/ 1 h 4"/>
                <a:gd name="T18" fmla="*/ 1 w 8"/>
                <a:gd name="T19" fmla="*/ 2 h 4"/>
                <a:gd name="T20" fmla="*/ 3 w 8"/>
                <a:gd name="T21"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4">
                  <a:moveTo>
                    <a:pt x="3" y="4"/>
                  </a:moveTo>
                  <a:lnTo>
                    <a:pt x="3" y="4"/>
                  </a:lnTo>
                  <a:cubicBezTo>
                    <a:pt x="3" y="4"/>
                    <a:pt x="4" y="4"/>
                    <a:pt x="4" y="4"/>
                  </a:cubicBezTo>
                  <a:lnTo>
                    <a:pt x="8" y="4"/>
                  </a:lnTo>
                  <a:cubicBezTo>
                    <a:pt x="8" y="4"/>
                    <a:pt x="8" y="4"/>
                    <a:pt x="8" y="4"/>
                  </a:cubicBezTo>
                  <a:cubicBezTo>
                    <a:pt x="8" y="4"/>
                    <a:pt x="8" y="4"/>
                    <a:pt x="8" y="4"/>
                  </a:cubicBezTo>
                  <a:cubicBezTo>
                    <a:pt x="6" y="2"/>
                    <a:pt x="1" y="0"/>
                    <a:pt x="1" y="0"/>
                  </a:cubicBezTo>
                  <a:cubicBezTo>
                    <a:pt x="1" y="0"/>
                    <a:pt x="1" y="0"/>
                    <a:pt x="0" y="0"/>
                  </a:cubicBezTo>
                  <a:lnTo>
                    <a:pt x="0" y="1"/>
                  </a:lnTo>
                  <a:cubicBezTo>
                    <a:pt x="1" y="2"/>
                    <a:pt x="1" y="2"/>
                    <a:pt x="1" y="2"/>
                  </a:cubicBezTo>
                  <a:cubicBezTo>
                    <a:pt x="1" y="3"/>
                    <a:pt x="3" y="4"/>
                    <a:pt x="3"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39" name="Freeform 50"/>
            <p:cNvSpPr>
              <a:spLocks/>
            </p:cNvSpPr>
            <p:nvPr/>
          </p:nvSpPr>
          <p:spPr bwMode="auto">
            <a:xfrm>
              <a:off x="2814638" y="1263650"/>
              <a:ext cx="4763" cy="9525"/>
            </a:xfrm>
            <a:custGeom>
              <a:avLst/>
              <a:gdLst>
                <a:gd name="T0" fmla="*/ 3 w 4"/>
                <a:gd name="T1" fmla="*/ 11 h 11"/>
                <a:gd name="T2" fmla="*/ 3 w 4"/>
                <a:gd name="T3" fmla="*/ 11 h 11"/>
                <a:gd name="T4" fmla="*/ 3 w 4"/>
                <a:gd name="T5" fmla="*/ 11 h 11"/>
                <a:gd name="T6" fmla="*/ 4 w 4"/>
                <a:gd name="T7" fmla="*/ 11 h 11"/>
                <a:gd name="T8" fmla="*/ 3 w 4"/>
                <a:gd name="T9" fmla="*/ 0 h 11"/>
                <a:gd name="T10" fmla="*/ 2 w 4"/>
                <a:gd name="T11" fmla="*/ 0 h 11"/>
                <a:gd name="T12" fmla="*/ 0 w 4"/>
                <a:gd name="T13" fmla="*/ 2 h 11"/>
                <a:gd name="T14" fmla="*/ 0 w 4"/>
                <a:gd name="T15" fmla="*/ 4 h 11"/>
                <a:gd name="T16" fmla="*/ 3 w 4"/>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1">
                  <a:moveTo>
                    <a:pt x="3" y="11"/>
                  </a:moveTo>
                  <a:lnTo>
                    <a:pt x="3" y="11"/>
                  </a:lnTo>
                  <a:cubicBezTo>
                    <a:pt x="3" y="11"/>
                    <a:pt x="3" y="11"/>
                    <a:pt x="3" y="11"/>
                  </a:cubicBezTo>
                  <a:lnTo>
                    <a:pt x="4" y="11"/>
                  </a:lnTo>
                  <a:cubicBezTo>
                    <a:pt x="4" y="2"/>
                    <a:pt x="3" y="0"/>
                    <a:pt x="3" y="0"/>
                  </a:cubicBezTo>
                  <a:cubicBezTo>
                    <a:pt x="2" y="0"/>
                    <a:pt x="2" y="0"/>
                    <a:pt x="2" y="0"/>
                  </a:cubicBezTo>
                  <a:cubicBezTo>
                    <a:pt x="0" y="1"/>
                    <a:pt x="0" y="2"/>
                    <a:pt x="0" y="2"/>
                  </a:cubicBezTo>
                  <a:cubicBezTo>
                    <a:pt x="0" y="3"/>
                    <a:pt x="0" y="4"/>
                    <a:pt x="0" y="4"/>
                  </a:cubicBezTo>
                  <a:cubicBezTo>
                    <a:pt x="0" y="6"/>
                    <a:pt x="3" y="10"/>
                    <a:pt x="3"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0" name="Freeform 51"/>
            <p:cNvSpPr>
              <a:spLocks/>
            </p:cNvSpPr>
            <p:nvPr/>
          </p:nvSpPr>
          <p:spPr bwMode="auto">
            <a:xfrm>
              <a:off x="2819400" y="1263650"/>
              <a:ext cx="4763" cy="9525"/>
            </a:xfrm>
            <a:custGeom>
              <a:avLst/>
              <a:gdLst>
                <a:gd name="T0" fmla="*/ 1 w 5"/>
                <a:gd name="T1" fmla="*/ 11 h 11"/>
                <a:gd name="T2" fmla="*/ 1 w 5"/>
                <a:gd name="T3" fmla="*/ 11 h 11"/>
                <a:gd name="T4" fmla="*/ 1 w 5"/>
                <a:gd name="T5" fmla="*/ 11 h 11"/>
                <a:gd name="T6" fmla="*/ 4 w 5"/>
                <a:gd name="T7" fmla="*/ 4 h 11"/>
                <a:gd name="T8" fmla="*/ 4 w 5"/>
                <a:gd name="T9" fmla="*/ 2 h 11"/>
                <a:gd name="T10" fmla="*/ 2 w 5"/>
                <a:gd name="T11" fmla="*/ 0 h 11"/>
                <a:gd name="T12" fmla="*/ 1 w 5"/>
                <a:gd name="T13" fmla="*/ 0 h 11"/>
                <a:gd name="T14" fmla="*/ 1 w 5"/>
                <a:gd name="T15" fmla="*/ 11 h 11"/>
                <a:gd name="T16" fmla="*/ 1 w 5"/>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1">
                  <a:moveTo>
                    <a:pt x="1" y="11"/>
                  </a:moveTo>
                  <a:lnTo>
                    <a:pt x="1" y="11"/>
                  </a:lnTo>
                  <a:cubicBezTo>
                    <a:pt x="1" y="11"/>
                    <a:pt x="1" y="11"/>
                    <a:pt x="1" y="11"/>
                  </a:cubicBezTo>
                  <a:cubicBezTo>
                    <a:pt x="1" y="10"/>
                    <a:pt x="4" y="6"/>
                    <a:pt x="4" y="4"/>
                  </a:cubicBezTo>
                  <a:cubicBezTo>
                    <a:pt x="4" y="4"/>
                    <a:pt x="5" y="3"/>
                    <a:pt x="4" y="2"/>
                  </a:cubicBezTo>
                  <a:cubicBezTo>
                    <a:pt x="4" y="2"/>
                    <a:pt x="4" y="1"/>
                    <a:pt x="2" y="0"/>
                  </a:cubicBezTo>
                  <a:cubicBezTo>
                    <a:pt x="2" y="0"/>
                    <a:pt x="2" y="0"/>
                    <a:pt x="1" y="0"/>
                  </a:cubicBezTo>
                  <a:cubicBezTo>
                    <a:pt x="1" y="0"/>
                    <a:pt x="0" y="2"/>
                    <a:pt x="1" y="11"/>
                  </a:cubicBezTo>
                  <a:cubicBezTo>
                    <a:pt x="1" y="11"/>
                    <a:pt x="1" y="11"/>
                    <a:pt x="1"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1" name="Freeform 52"/>
            <p:cNvSpPr>
              <a:spLocks/>
            </p:cNvSpPr>
            <p:nvPr/>
          </p:nvSpPr>
          <p:spPr bwMode="auto">
            <a:xfrm>
              <a:off x="2820988" y="1274763"/>
              <a:ext cx="4763" cy="3175"/>
            </a:xfrm>
            <a:custGeom>
              <a:avLst/>
              <a:gdLst>
                <a:gd name="T0" fmla="*/ 6 w 6"/>
                <a:gd name="T1" fmla="*/ 1 h 3"/>
                <a:gd name="T2" fmla="*/ 6 w 6"/>
                <a:gd name="T3" fmla="*/ 1 h 3"/>
                <a:gd name="T4" fmla="*/ 0 w 6"/>
                <a:gd name="T5" fmla="*/ 0 h 3"/>
                <a:gd name="T6" fmla="*/ 0 w 6"/>
                <a:gd name="T7" fmla="*/ 1 h 3"/>
                <a:gd name="T8" fmla="*/ 0 w 6"/>
                <a:gd name="T9" fmla="*/ 1 h 3"/>
                <a:gd name="T10" fmla="*/ 3 w 6"/>
                <a:gd name="T11" fmla="*/ 2 h 3"/>
                <a:gd name="T12" fmla="*/ 6 w 6"/>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6" y="1"/>
                  </a:moveTo>
                  <a:lnTo>
                    <a:pt x="6" y="1"/>
                  </a:lnTo>
                  <a:lnTo>
                    <a:pt x="0" y="0"/>
                  </a:lnTo>
                  <a:cubicBezTo>
                    <a:pt x="0" y="0"/>
                    <a:pt x="0" y="0"/>
                    <a:pt x="0" y="1"/>
                  </a:cubicBezTo>
                  <a:cubicBezTo>
                    <a:pt x="0" y="1"/>
                    <a:pt x="0" y="1"/>
                    <a:pt x="0" y="1"/>
                  </a:cubicBezTo>
                  <a:cubicBezTo>
                    <a:pt x="1" y="1"/>
                    <a:pt x="2" y="2"/>
                    <a:pt x="3" y="2"/>
                  </a:cubicBezTo>
                  <a:cubicBezTo>
                    <a:pt x="3" y="2"/>
                    <a:pt x="4" y="3"/>
                    <a:pt x="6"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2" name="Freeform 53"/>
            <p:cNvSpPr>
              <a:spLocks/>
            </p:cNvSpPr>
            <p:nvPr/>
          </p:nvSpPr>
          <p:spPr bwMode="auto">
            <a:xfrm>
              <a:off x="2820988" y="1271588"/>
              <a:ext cx="7938" cy="3175"/>
            </a:xfrm>
            <a:custGeom>
              <a:avLst/>
              <a:gdLst>
                <a:gd name="T0" fmla="*/ 7 w 8"/>
                <a:gd name="T1" fmla="*/ 0 h 4"/>
                <a:gd name="T2" fmla="*/ 7 w 8"/>
                <a:gd name="T3" fmla="*/ 0 h 4"/>
                <a:gd name="T4" fmla="*/ 0 w 8"/>
                <a:gd name="T5" fmla="*/ 4 h 4"/>
                <a:gd name="T6" fmla="*/ 0 w 8"/>
                <a:gd name="T7" fmla="*/ 4 h 4"/>
                <a:gd name="T8" fmla="*/ 0 w 8"/>
                <a:gd name="T9" fmla="*/ 4 h 4"/>
                <a:gd name="T10" fmla="*/ 4 w 8"/>
                <a:gd name="T11" fmla="*/ 4 h 4"/>
                <a:gd name="T12" fmla="*/ 5 w 8"/>
                <a:gd name="T13" fmla="*/ 4 h 4"/>
                <a:gd name="T14" fmla="*/ 7 w 8"/>
                <a:gd name="T15" fmla="*/ 2 h 4"/>
                <a:gd name="T16" fmla="*/ 8 w 8"/>
                <a:gd name="T17" fmla="*/ 1 h 4"/>
                <a:gd name="T18" fmla="*/ 8 w 8"/>
                <a:gd name="T19" fmla="*/ 0 h 4"/>
                <a:gd name="T20" fmla="*/ 7 w 8"/>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4">
                  <a:moveTo>
                    <a:pt x="7" y="0"/>
                  </a:moveTo>
                  <a:lnTo>
                    <a:pt x="7" y="0"/>
                  </a:lnTo>
                  <a:cubicBezTo>
                    <a:pt x="7" y="0"/>
                    <a:pt x="2" y="2"/>
                    <a:pt x="0" y="4"/>
                  </a:cubicBezTo>
                  <a:lnTo>
                    <a:pt x="0" y="4"/>
                  </a:lnTo>
                  <a:cubicBezTo>
                    <a:pt x="0" y="4"/>
                    <a:pt x="0" y="4"/>
                    <a:pt x="0" y="4"/>
                  </a:cubicBezTo>
                  <a:cubicBezTo>
                    <a:pt x="1" y="4"/>
                    <a:pt x="4" y="4"/>
                    <a:pt x="4" y="4"/>
                  </a:cubicBezTo>
                  <a:cubicBezTo>
                    <a:pt x="4" y="4"/>
                    <a:pt x="5" y="4"/>
                    <a:pt x="5" y="4"/>
                  </a:cubicBezTo>
                  <a:cubicBezTo>
                    <a:pt x="5" y="4"/>
                    <a:pt x="7" y="3"/>
                    <a:pt x="7" y="2"/>
                  </a:cubicBezTo>
                  <a:cubicBezTo>
                    <a:pt x="7" y="2"/>
                    <a:pt x="7" y="2"/>
                    <a:pt x="8" y="1"/>
                  </a:cubicBezTo>
                  <a:lnTo>
                    <a:pt x="8" y="0"/>
                  </a:lnTo>
                  <a:cubicBezTo>
                    <a:pt x="8" y="0"/>
                    <a:pt x="7" y="0"/>
                    <a:pt x="7"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3" name="Freeform 54"/>
            <p:cNvSpPr>
              <a:spLocks/>
            </p:cNvSpPr>
            <p:nvPr/>
          </p:nvSpPr>
          <p:spPr bwMode="auto">
            <a:xfrm>
              <a:off x="2819400" y="1266825"/>
              <a:ext cx="6350" cy="6350"/>
            </a:xfrm>
            <a:custGeom>
              <a:avLst/>
              <a:gdLst>
                <a:gd name="T0" fmla="*/ 0 w 7"/>
                <a:gd name="T1" fmla="*/ 8 h 8"/>
                <a:gd name="T2" fmla="*/ 0 w 7"/>
                <a:gd name="T3" fmla="*/ 8 h 8"/>
                <a:gd name="T4" fmla="*/ 0 w 7"/>
                <a:gd name="T5" fmla="*/ 8 h 8"/>
                <a:gd name="T6" fmla="*/ 6 w 7"/>
                <a:gd name="T7" fmla="*/ 5 h 8"/>
                <a:gd name="T8" fmla="*/ 7 w 7"/>
                <a:gd name="T9" fmla="*/ 3 h 8"/>
                <a:gd name="T10" fmla="*/ 6 w 7"/>
                <a:gd name="T11" fmla="*/ 0 h 8"/>
                <a:gd name="T12" fmla="*/ 0 w 7"/>
                <a:gd name="T13" fmla="*/ 8 h 8"/>
                <a:gd name="T14" fmla="*/ 0 w 7"/>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8">
                  <a:moveTo>
                    <a:pt x="0" y="8"/>
                  </a:moveTo>
                  <a:lnTo>
                    <a:pt x="0" y="8"/>
                  </a:lnTo>
                  <a:cubicBezTo>
                    <a:pt x="0" y="8"/>
                    <a:pt x="0" y="8"/>
                    <a:pt x="0" y="8"/>
                  </a:cubicBezTo>
                  <a:cubicBezTo>
                    <a:pt x="1" y="8"/>
                    <a:pt x="5" y="6"/>
                    <a:pt x="6" y="5"/>
                  </a:cubicBezTo>
                  <a:cubicBezTo>
                    <a:pt x="6" y="5"/>
                    <a:pt x="7" y="4"/>
                    <a:pt x="7" y="3"/>
                  </a:cubicBezTo>
                  <a:cubicBezTo>
                    <a:pt x="7" y="1"/>
                    <a:pt x="6" y="0"/>
                    <a:pt x="6" y="0"/>
                  </a:cubicBezTo>
                  <a:cubicBezTo>
                    <a:pt x="6" y="0"/>
                    <a:pt x="3" y="3"/>
                    <a:pt x="0" y="8"/>
                  </a:cubicBezTo>
                  <a:cubicBezTo>
                    <a:pt x="0" y="8"/>
                    <a:pt x="0" y="8"/>
                    <a:pt x="0"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4" name="Freeform 55"/>
            <p:cNvSpPr>
              <a:spLocks/>
            </p:cNvSpPr>
            <p:nvPr/>
          </p:nvSpPr>
          <p:spPr bwMode="auto">
            <a:xfrm>
              <a:off x="3416300" y="1100138"/>
              <a:ext cx="9525" cy="9525"/>
            </a:xfrm>
            <a:custGeom>
              <a:avLst/>
              <a:gdLst>
                <a:gd name="T0" fmla="*/ 8 w 10"/>
                <a:gd name="T1" fmla="*/ 4 h 10"/>
                <a:gd name="T2" fmla="*/ 8 w 10"/>
                <a:gd name="T3" fmla="*/ 4 h 10"/>
                <a:gd name="T4" fmla="*/ 3 w 10"/>
                <a:gd name="T5" fmla="*/ 4 h 10"/>
                <a:gd name="T6" fmla="*/ 3 w 10"/>
                <a:gd name="T7" fmla="*/ 0 h 10"/>
                <a:gd name="T8" fmla="*/ 0 w 10"/>
                <a:gd name="T9" fmla="*/ 0 h 10"/>
                <a:gd name="T10" fmla="*/ 0 w 10"/>
                <a:gd name="T11" fmla="*/ 10 h 10"/>
                <a:gd name="T12" fmla="*/ 3 w 10"/>
                <a:gd name="T13" fmla="*/ 10 h 10"/>
                <a:gd name="T14" fmla="*/ 3 w 10"/>
                <a:gd name="T15" fmla="*/ 6 h 10"/>
                <a:gd name="T16" fmla="*/ 8 w 10"/>
                <a:gd name="T17" fmla="*/ 6 h 10"/>
                <a:gd name="T18" fmla="*/ 8 w 10"/>
                <a:gd name="T19" fmla="*/ 10 h 10"/>
                <a:gd name="T20" fmla="*/ 10 w 10"/>
                <a:gd name="T21" fmla="*/ 10 h 10"/>
                <a:gd name="T22" fmla="*/ 10 w 10"/>
                <a:gd name="T23" fmla="*/ 0 h 10"/>
                <a:gd name="T24" fmla="*/ 8 w 10"/>
                <a:gd name="T25" fmla="*/ 0 h 10"/>
                <a:gd name="T26" fmla="*/ 8 w 10"/>
                <a:gd name="T2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4"/>
                  </a:moveTo>
                  <a:lnTo>
                    <a:pt x="8" y="4"/>
                  </a:lnTo>
                  <a:lnTo>
                    <a:pt x="3" y="4"/>
                  </a:lnTo>
                  <a:lnTo>
                    <a:pt x="3" y="0"/>
                  </a:lnTo>
                  <a:lnTo>
                    <a:pt x="0" y="0"/>
                  </a:lnTo>
                  <a:lnTo>
                    <a:pt x="0" y="10"/>
                  </a:lnTo>
                  <a:lnTo>
                    <a:pt x="3" y="10"/>
                  </a:lnTo>
                  <a:lnTo>
                    <a:pt x="3" y="6"/>
                  </a:lnTo>
                  <a:lnTo>
                    <a:pt x="8" y="6"/>
                  </a:lnTo>
                  <a:lnTo>
                    <a:pt x="8" y="10"/>
                  </a:lnTo>
                  <a:lnTo>
                    <a:pt x="10" y="10"/>
                  </a:lnTo>
                  <a:lnTo>
                    <a:pt x="10" y="0"/>
                  </a:lnTo>
                  <a:lnTo>
                    <a:pt x="8" y="0"/>
                  </a:lnTo>
                  <a:lnTo>
                    <a:pt x="8" y="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5" name="Freeform 56"/>
            <p:cNvSpPr>
              <a:spLocks/>
            </p:cNvSpPr>
            <p:nvPr/>
          </p:nvSpPr>
          <p:spPr bwMode="auto">
            <a:xfrm>
              <a:off x="3427413" y="1100138"/>
              <a:ext cx="9525" cy="9525"/>
            </a:xfrm>
            <a:custGeom>
              <a:avLst/>
              <a:gdLst>
                <a:gd name="T0" fmla="*/ 8 w 10"/>
                <a:gd name="T1" fmla="*/ 6 h 10"/>
                <a:gd name="T2" fmla="*/ 8 w 10"/>
                <a:gd name="T3" fmla="*/ 6 h 10"/>
                <a:gd name="T4" fmla="*/ 5 w 10"/>
                <a:gd name="T5" fmla="*/ 8 h 10"/>
                <a:gd name="T6" fmla="*/ 3 w 10"/>
                <a:gd name="T7" fmla="*/ 6 h 10"/>
                <a:gd name="T8" fmla="*/ 3 w 10"/>
                <a:gd name="T9" fmla="*/ 0 h 10"/>
                <a:gd name="T10" fmla="*/ 0 w 10"/>
                <a:gd name="T11" fmla="*/ 0 h 10"/>
                <a:gd name="T12" fmla="*/ 0 w 10"/>
                <a:gd name="T13" fmla="*/ 6 h 10"/>
                <a:gd name="T14" fmla="*/ 1 w 10"/>
                <a:gd name="T15" fmla="*/ 9 h 10"/>
                <a:gd name="T16" fmla="*/ 5 w 10"/>
                <a:gd name="T17" fmla="*/ 10 h 10"/>
                <a:gd name="T18" fmla="*/ 9 w 10"/>
                <a:gd name="T19" fmla="*/ 9 h 10"/>
                <a:gd name="T20" fmla="*/ 10 w 10"/>
                <a:gd name="T21" fmla="*/ 6 h 10"/>
                <a:gd name="T22" fmla="*/ 10 w 10"/>
                <a:gd name="T23" fmla="*/ 0 h 10"/>
                <a:gd name="T24" fmla="*/ 8 w 10"/>
                <a:gd name="T25" fmla="*/ 0 h 10"/>
                <a:gd name="T26" fmla="*/ 8 w 10"/>
                <a:gd name="T2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6"/>
                  </a:moveTo>
                  <a:lnTo>
                    <a:pt x="8" y="6"/>
                  </a:lnTo>
                  <a:cubicBezTo>
                    <a:pt x="8" y="8"/>
                    <a:pt x="7" y="8"/>
                    <a:pt x="5" y="8"/>
                  </a:cubicBezTo>
                  <a:cubicBezTo>
                    <a:pt x="3" y="8"/>
                    <a:pt x="3" y="8"/>
                    <a:pt x="3" y="6"/>
                  </a:cubicBezTo>
                  <a:lnTo>
                    <a:pt x="3" y="0"/>
                  </a:lnTo>
                  <a:lnTo>
                    <a:pt x="0" y="0"/>
                  </a:lnTo>
                  <a:lnTo>
                    <a:pt x="0" y="6"/>
                  </a:lnTo>
                  <a:cubicBezTo>
                    <a:pt x="0" y="7"/>
                    <a:pt x="0" y="8"/>
                    <a:pt x="1" y="9"/>
                  </a:cubicBezTo>
                  <a:cubicBezTo>
                    <a:pt x="2" y="10"/>
                    <a:pt x="3" y="10"/>
                    <a:pt x="5" y="10"/>
                  </a:cubicBezTo>
                  <a:cubicBezTo>
                    <a:pt x="7" y="10"/>
                    <a:pt x="8" y="10"/>
                    <a:pt x="9" y="9"/>
                  </a:cubicBezTo>
                  <a:cubicBezTo>
                    <a:pt x="10" y="8"/>
                    <a:pt x="10" y="7"/>
                    <a:pt x="10" y="6"/>
                  </a:cubicBezTo>
                  <a:lnTo>
                    <a:pt x="10" y="0"/>
                  </a:lnTo>
                  <a:lnTo>
                    <a:pt x="8" y="0"/>
                  </a:lnTo>
                  <a:lnTo>
                    <a:pt x="8" y="6"/>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6" name="Freeform 57"/>
            <p:cNvSpPr>
              <a:spLocks noEditPoints="1"/>
            </p:cNvSpPr>
            <p:nvPr/>
          </p:nvSpPr>
          <p:spPr bwMode="auto">
            <a:xfrm>
              <a:off x="3438525" y="1100138"/>
              <a:ext cx="9525" cy="9525"/>
            </a:xfrm>
            <a:custGeom>
              <a:avLst/>
              <a:gdLst>
                <a:gd name="T0" fmla="*/ 4 w 11"/>
                <a:gd name="T1" fmla="*/ 6 h 10"/>
                <a:gd name="T2" fmla="*/ 4 w 11"/>
                <a:gd name="T3" fmla="*/ 6 h 10"/>
                <a:gd name="T4" fmla="*/ 5 w 11"/>
                <a:gd name="T5" fmla="*/ 2 h 10"/>
                <a:gd name="T6" fmla="*/ 7 w 11"/>
                <a:gd name="T7" fmla="*/ 6 h 10"/>
                <a:gd name="T8" fmla="*/ 4 w 11"/>
                <a:gd name="T9" fmla="*/ 6 h 10"/>
                <a:gd name="T10" fmla="*/ 4 w 11"/>
                <a:gd name="T11" fmla="*/ 0 h 10"/>
                <a:gd name="T12" fmla="*/ 4 w 11"/>
                <a:gd name="T13" fmla="*/ 0 h 10"/>
                <a:gd name="T14" fmla="*/ 0 w 11"/>
                <a:gd name="T15" fmla="*/ 10 h 10"/>
                <a:gd name="T16" fmla="*/ 2 w 11"/>
                <a:gd name="T17" fmla="*/ 10 h 10"/>
                <a:gd name="T18" fmla="*/ 3 w 11"/>
                <a:gd name="T19" fmla="*/ 7 h 10"/>
                <a:gd name="T20" fmla="*/ 8 w 11"/>
                <a:gd name="T21" fmla="*/ 7 h 10"/>
                <a:gd name="T22" fmla="*/ 9 w 11"/>
                <a:gd name="T23" fmla="*/ 10 h 10"/>
                <a:gd name="T24" fmla="*/ 11 w 11"/>
                <a:gd name="T25" fmla="*/ 10 h 10"/>
                <a:gd name="T26" fmla="*/ 7 w 11"/>
                <a:gd name="T27" fmla="*/ 0 h 10"/>
                <a:gd name="T28" fmla="*/ 4 w 11"/>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0">
                  <a:moveTo>
                    <a:pt x="4" y="6"/>
                  </a:moveTo>
                  <a:lnTo>
                    <a:pt x="4" y="6"/>
                  </a:lnTo>
                  <a:lnTo>
                    <a:pt x="5" y="2"/>
                  </a:lnTo>
                  <a:lnTo>
                    <a:pt x="7" y="6"/>
                  </a:lnTo>
                  <a:lnTo>
                    <a:pt x="4" y="6"/>
                  </a:lnTo>
                  <a:close/>
                  <a:moveTo>
                    <a:pt x="4" y="0"/>
                  </a:moveTo>
                  <a:lnTo>
                    <a:pt x="4" y="0"/>
                  </a:lnTo>
                  <a:lnTo>
                    <a:pt x="0" y="10"/>
                  </a:lnTo>
                  <a:lnTo>
                    <a:pt x="2" y="10"/>
                  </a:lnTo>
                  <a:lnTo>
                    <a:pt x="3" y="7"/>
                  </a:lnTo>
                  <a:lnTo>
                    <a:pt x="8" y="7"/>
                  </a:lnTo>
                  <a:lnTo>
                    <a:pt x="9" y="10"/>
                  </a:lnTo>
                  <a:lnTo>
                    <a:pt x="11" y="10"/>
                  </a:lnTo>
                  <a:lnTo>
                    <a:pt x="7" y="0"/>
                  </a:lnTo>
                  <a:lnTo>
                    <a:pt x="4"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7" name="Freeform 58"/>
            <p:cNvSpPr>
              <a:spLocks/>
            </p:cNvSpPr>
            <p:nvPr/>
          </p:nvSpPr>
          <p:spPr bwMode="auto">
            <a:xfrm>
              <a:off x="3448050" y="1100138"/>
              <a:ext cx="15875" cy="9525"/>
            </a:xfrm>
            <a:custGeom>
              <a:avLst/>
              <a:gdLst>
                <a:gd name="T0" fmla="*/ 13 w 17"/>
                <a:gd name="T1" fmla="*/ 7 h 10"/>
                <a:gd name="T2" fmla="*/ 13 w 17"/>
                <a:gd name="T3" fmla="*/ 7 h 10"/>
                <a:gd name="T4" fmla="*/ 10 w 17"/>
                <a:gd name="T5" fmla="*/ 0 h 10"/>
                <a:gd name="T6" fmla="*/ 7 w 17"/>
                <a:gd name="T7" fmla="*/ 0 h 10"/>
                <a:gd name="T8" fmla="*/ 5 w 17"/>
                <a:gd name="T9" fmla="*/ 7 h 10"/>
                <a:gd name="T10" fmla="*/ 3 w 17"/>
                <a:gd name="T11" fmla="*/ 0 h 10"/>
                <a:gd name="T12" fmla="*/ 0 w 17"/>
                <a:gd name="T13" fmla="*/ 0 h 10"/>
                <a:gd name="T14" fmla="*/ 4 w 17"/>
                <a:gd name="T15" fmla="*/ 10 h 10"/>
                <a:gd name="T16" fmla="*/ 7 w 17"/>
                <a:gd name="T17" fmla="*/ 10 h 10"/>
                <a:gd name="T18" fmla="*/ 9 w 17"/>
                <a:gd name="T19" fmla="*/ 2 h 10"/>
                <a:gd name="T20" fmla="*/ 11 w 17"/>
                <a:gd name="T21" fmla="*/ 10 h 10"/>
                <a:gd name="T22" fmla="*/ 14 w 17"/>
                <a:gd name="T23" fmla="*/ 10 h 10"/>
                <a:gd name="T24" fmla="*/ 17 w 17"/>
                <a:gd name="T25" fmla="*/ 0 h 10"/>
                <a:gd name="T26" fmla="*/ 15 w 17"/>
                <a:gd name="T27" fmla="*/ 0 h 10"/>
                <a:gd name="T28" fmla="*/ 13 w 17"/>
                <a:gd name="T29"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0">
                  <a:moveTo>
                    <a:pt x="13" y="7"/>
                  </a:moveTo>
                  <a:lnTo>
                    <a:pt x="13" y="7"/>
                  </a:lnTo>
                  <a:lnTo>
                    <a:pt x="10" y="0"/>
                  </a:lnTo>
                  <a:lnTo>
                    <a:pt x="7" y="0"/>
                  </a:lnTo>
                  <a:lnTo>
                    <a:pt x="5" y="7"/>
                  </a:lnTo>
                  <a:lnTo>
                    <a:pt x="3" y="0"/>
                  </a:lnTo>
                  <a:lnTo>
                    <a:pt x="0" y="0"/>
                  </a:lnTo>
                  <a:lnTo>
                    <a:pt x="4" y="10"/>
                  </a:lnTo>
                  <a:lnTo>
                    <a:pt x="7" y="10"/>
                  </a:lnTo>
                  <a:lnTo>
                    <a:pt x="9" y="2"/>
                  </a:lnTo>
                  <a:lnTo>
                    <a:pt x="11" y="10"/>
                  </a:lnTo>
                  <a:lnTo>
                    <a:pt x="14" y="10"/>
                  </a:lnTo>
                  <a:lnTo>
                    <a:pt x="17" y="0"/>
                  </a:lnTo>
                  <a:lnTo>
                    <a:pt x="15" y="0"/>
                  </a:lnTo>
                  <a:lnTo>
                    <a:pt x="13" y="7"/>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8" name="Freeform 59"/>
            <p:cNvSpPr>
              <a:spLocks/>
            </p:cNvSpPr>
            <p:nvPr/>
          </p:nvSpPr>
          <p:spPr bwMode="auto">
            <a:xfrm>
              <a:off x="3465513" y="1100138"/>
              <a:ext cx="7938" cy="9525"/>
            </a:xfrm>
            <a:custGeom>
              <a:avLst/>
              <a:gdLst>
                <a:gd name="T0" fmla="*/ 0 w 9"/>
                <a:gd name="T1" fmla="*/ 5 h 10"/>
                <a:gd name="T2" fmla="*/ 0 w 9"/>
                <a:gd name="T3" fmla="*/ 5 h 10"/>
                <a:gd name="T4" fmla="*/ 2 w 9"/>
                <a:gd name="T5" fmla="*/ 9 h 10"/>
                <a:gd name="T6" fmla="*/ 5 w 9"/>
                <a:gd name="T7" fmla="*/ 10 h 10"/>
                <a:gd name="T8" fmla="*/ 9 w 9"/>
                <a:gd name="T9" fmla="*/ 10 h 10"/>
                <a:gd name="T10" fmla="*/ 9 w 9"/>
                <a:gd name="T11" fmla="*/ 8 h 10"/>
                <a:gd name="T12" fmla="*/ 5 w 9"/>
                <a:gd name="T13" fmla="*/ 8 h 10"/>
                <a:gd name="T14" fmla="*/ 3 w 9"/>
                <a:gd name="T15" fmla="*/ 6 h 10"/>
                <a:gd name="T16" fmla="*/ 9 w 9"/>
                <a:gd name="T17" fmla="*/ 6 h 10"/>
                <a:gd name="T18" fmla="*/ 9 w 9"/>
                <a:gd name="T19" fmla="*/ 4 h 10"/>
                <a:gd name="T20" fmla="*/ 3 w 9"/>
                <a:gd name="T21" fmla="*/ 4 h 10"/>
                <a:gd name="T22" fmla="*/ 5 w 9"/>
                <a:gd name="T23" fmla="*/ 1 h 10"/>
                <a:gd name="T24" fmla="*/ 9 w 9"/>
                <a:gd name="T25" fmla="*/ 1 h 10"/>
                <a:gd name="T26" fmla="*/ 9 w 9"/>
                <a:gd name="T27" fmla="*/ 0 h 10"/>
                <a:gd name="T28" fmla="*/ 5 w 9"/>
                <a:gd name="T29" fmla="*/ 0 h 10"/>
                <a:gd name="T30" fmla="*/ 0 w 9"/>
                <a:gd name="T3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 h="10">
                  <a:moveTo>
                    <a:pt x="0" y="5"/>
                  </a:moveTo>
                  <a:lnTo>
                    <a:pt x="0" y="5"/>
                  </a:lnTo>
                  <a:cubicBezTo>
                    <a:pt x="0" y="7"/>
                    <a:pt x="0" y="8"/>
                    <a:pt x="2" y="9"/>
                  </a:cubicBezTo>
                  <a:cubicBezTo>
                    <a:pt x="3" y="10"/>
                    <a:pt x="4" y="10"/>
                    <a:pt x="5" y="10"/>
                  </a:cubicBezTo>
                  <a:lnTo>
                    <a:pt x="9" y="10"/>
                  </a:lnTo>
                  <a:lnTo>
                    <a:pt x="9" y="8"/>
                  </a:lnTo>
                  <a:lnTo>
                    <a:pt x="5" y="8"/>
                  </a:lnTo>
                  <a:cubicBezTo>
                    <a:pt x="3" y="8"/>
                    <a:pt x="3" y="7"/>
                    <a:pt x="3" y="6"/>
                  </a:cubicBezTo>
                  <a:lnTo>
                    <a:pt x="9" y="6"/>
                  </a:lnTo>
                  <a:lnTo>
                    <a:pt x="9" y="4"/>
                  </a:lnTo>
                  <a:lnTo>
                    <a:pt x="3" y="4"/>
                  </a:lnTo>
                  <a:cubicBezTo>
                    <a:pt x="3" y="2"/>
                    <a:pt x="4" y="1"/>
                    <a:pt x="5" y="1"/>
                  </a:cubicBezTo>
                  <a:lnTo>
                    <a:pt x="9" y="1"/>
                  </a:lnTo>
                  <a:lnTo>
                    <a:pt x="9" y="0"/>
                  </a:lnTo>
                  <a:lnTo>
                    <a:pt x="5" y="0"/>
                  </a:lnTo>
                  <a:cubicBezTo>
                    <a:pt x="2" y="0"/>
                    <a:pt x="0" y="1"/>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49" name="Freeform 60"/>
            <p:cNvSpPr>
              <a:spLocks/>
            </p:cNvSpPr>
            <p:nvPr/>
          </p:nvSpPr>
          <p:spPr bwMode="auto">
            <a:xfrm>
              <a:off x="3475038" y="1100138"/>
              <a:ext cx="3175" cy="9525"/>
            </a:xfrm>
            <a:custGeom>
              <a:avLst/>
              <a:gdLst>
                <a:gd name="T0" fmla="*/ 0 w 3"/>
                <a:gd name="T1" fmla="*/ 10 h 10"/>
                <a:gd name="T2" fmla="*/ 0 w 3"/>
                <a:gd name="T3" fmla="*/ 10 h 10"/>
                <a:gd name="T4" fmla="*/ 3 w 3"/>
                <a:gd name="T5" fmla="*/ 10 h 10"/>
                <a:gd name="T6" fmla="*/ 3 w 3"/>
                <a:gd name="T7" fmla="*/ 0 h 10"/>
                <a:gd name="T8" fmla="*/ 0 w 3"/>
                <a:gd name="T9" fmla="*/ 0 h 10"/>
                <a:gd name="T10" fmla="*/ 0 w 3"/>
                <a:gd name="T11" fmla="*/ 10 h 10"/>
              </a:gdLst>
              <a:ahLst/>
              <a:cxnLst>
                <a:cxn ang="0">
                  <a:pos x="T0" y="T1"/>
                </a:cxn>
                <a:cxn ang="0">
                  <a:pos x="T2" y="T3"/>
                </a:cxn>
                <a:cxn ang="0">
                  <a:pos x="T4" y="T5"/>
                </a:cxn>
                <a:cxn ang="0">
                  <a:pos x="T6" y="T7"/>
                </a:cxn>
                <a:cxn ang="0">
                  <a:pos x="T8" y="T9"/>
                </a:cxn>
                <a:cxn ang="0">
                  <a:pos x="T10" y="T11"/>
                </a:cxn>
              </a:cxnLst>
              <a:rect l="0" t="0" r="r" b="b"/>
              <a:pathLst>
                <a:path w="3" h="10">
                  <a:moveTo>
                    <a:pt x="0" y="10"/>
                  </a:moveTo>
                  <a:lnTo>
                    <a:pt x="0" y="10"/>
                  </a:lnTo>
                  <a:lnTo>
                    <a:pt x="3" y="10"/>
                  </a:lnTo>
                  <a:lnTo>
                    <a:pt x="3" y="0"/>
                  </a:lnTo>
                  <a:lnTo>
                    <a:pt x="0" y="0"/>
                  </a:lnTo>
                  <a:lnTo>
                    <a:pt x="0" y="1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0" name="Freeform 61"/>
            <p:cNvSpPr>
              <a:spLocks/>
            </p:cNvSpPr>
            <p:nvPr/>
          </p:nvSpPr>
          <p:spPr bwMode="auto">
            <a:xfrm>
              <a:off x="3381375" y="1093788"/>
              <a:ext cx="12700" cy="14288"/>
            </a:xfrm>
            <a:custGeom>
              <a:avLst/>
              <a:gdLst>
                <a:gd name="T0" fmla="*/ 0 w 12"/>
                <a:gd name="T1" fmla="*/ 5 h 15"/>
                <a:gd name="T2" fmla="*/ 0 w 12"/>
                <a:gd name="T3" fmla="*/ 5 h 15"/>
                <a:gd name="T4" fmla="*/ 2 w 12"/>
                <a:gd name="T5" fmla="*/ 9 h 15"/>
                <a:gd name="T6" fmla="*/ 12 w 12"/>
                <a:gd name="T7" fmla="*/ 15 h 15"/>
                <a:gd name="T8" fmla="*/ 12 w 12"/>
                <a:gd name="T9" fmla="*/ 15 h 15"/>
                <a:gd name="T10" fmla="*/ 12 w 12"/>
                <a:gd name="T11" fmla="*/ 14 h 15"/>
                <a:gd name="T12" fmla="*/ 12 w 12"/>
                <a:gd name="T13" fmla="*/ 14 h 15"/>
                <a:gd name="T14" fmla="*/ 3 w 12"/>
                <a:gd name="T15" fmla="*/ 0 h 15"/>
                <a:gd name="T16" fmla="*/ 0 w 12"/>
                <a:gd name="T17"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0" y="5"/>
                  </a:moveTo>
                  <a:lnTo>
                    <a:pt x="0" y="5"/>
                  </a:lnTo>
                  <a:cubicBezTo>
                    <a:pt x="0" y="7"/>
                    <a:pt x="2" y="9"/>
                    <a:pt x="2" y="9"/>
                  </a:cubicBezTo>
                  <a:cubicBezTo>
                    <a:pt x="4" y="11"/>
                    <a:pt x="10" y="14"/>
                    <a:pt x="12" y="15"/>
                  </a:cubicBezTo>
                  <a:cubicBezTo>
                    <a:pt x="12" y="15"/>
                    <a:pt x="12" y="15"/>
                    <a:pt x="12" y="15"/>
                  </a:cubicBezTo>
                  <a:cubicBezTo>
                    <a:pt x="12" y="15"/>
                    <a:pt x="12" y="15"/>
                    <a:pt x="12" y="14"/>
                  </a:cubicBezTo>
                  <a:lnTo>
                    <a:pt x="12" y="14"/>
                  </a:lnTo>
                  <a:cubicBezTo>
                    <a:pt x="8" y="6"/>
                    <a:pt x="3" y="0"/>
                    <a:pt x="3" y="0"/>
                  </a:cubicBezTo>
                  <a:cubicBezTo>
                    <a:pt x="3" y="0"/>
                    <a:pt x="0" y="3"/>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1" name="Freeform 62"/>
            <p:cNvSpPr>
              <a:spLocks/>
            </p:cNvSpPr>
            <p:nvPr/>
          </p:nvSpPr>
          <p:spPr bwMode="auto">
            <a:xfrm>
              <a:off x="3382963" y="1109663"/>
              <a:ext cx="9525" cy="3175"/>
            </a:xfrm>
            <a:custGeom>
              <a:avLst/>
              <a:gdLst>
                <a:gd name="T0" fmla="*/ 0 w 10"/>
                <a:gd name="T1" fmla="*/ 0 h 3"/>
                <a:gd name="T2" fmla="*/ 0 w 10"/>
                <a:gd name="T3" fmla="*/ 0 h 3"/>
                <a:gd name="T4" fmla="*/ 5 w 10"/>
                <a:gd name="T5" fmla="*/ 3 h 3"/>
                <a:gd name="T6" fmla="*/ 10 w 10"/>
                <a:gd name="T7" fmla="*/ 0 h 3"/>
                <a:gd name="T8" fmla="*/ 10 w 10"/>
                <a:gd name="T9" fmla="*/ 0 h 3"/>
                <a:gd name="T10" fmla="*/ 10 w 10"/>
                <a:gd name="T11" fmla="*/ 0 h 3"/>
                <a:gd name="T12" fmla="*/ 0 w 10"/>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0" y="0"/>
                  </a:moveTo>
                  <a:lnTo>
                    <a:pt x="0" y="0"/>
                  </a:lnTo>
                  <a:cubicBezTo>
                    <a:pt x="1" y="2"/>
                    <a:pt x="3" y="3"/>
                    <a:pt x="5" y="3"/>
                  </a:cubicBezTo>
                  <a:cubicBezTo>
                    <a:pt x="6" y="2"/>
                    <a:pt x="9" y="0"/>
                    <a:pt x="10" y="0"/>
                  </a:cubicBezTo>
                  <a:cubicBezTo>
                    <a:pt x="10" y="0"/>
                    <a:pt x="10" y="0"/>
                    <a:pt x="10" y="0"/>
                  </a:cubicBezTo>
                  <a:cubicBezTo>
                    <a:pt x="10" y="0"/>
                    <a:pt x="10" y="0"/>
                    <a:pt x="10"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2" name="Freeform 63"/>
            <p:cNvSpPr>
              <a:spLocks/>
            </p:cNvSpPr>
            <p:nvPr/>
          </p:nvSpPr>
          <p:spPr bwMode="auto">
            <a:xfrm>
              <a:off x="3379788" y="1101725"/>
              <a:ext cx="12700" cy="7938"/>
            </a:xfrm>
            <a:custGeom>
              <a:avLst/>
              <a:gdLst>
                <a:gd name="T0" fmla="*/ 1 w 13"/>
                <a:gd name="T1" fmla="*/ 4 h 8"/>
                <a:gd name="T2" fmla="*/ 1 w 13"/>
                <a:gd name="T3" fmla="*/ 4 h 8"/>
                <a:gd name="T4" fmla="*/ 4 w 13"/>
                <a:gd name="T5" fmla="*/ 7 h 8"/>
                <a:gd name="T6" fmla="*/ 6 w 13"/>
                <a:gd name="T7" fmla="*/ 8 h 8"/>
                <a:gd name="T8" fmla="*/ 13 w 13"/>
                <a:gd name="T9" fmla="*/ 8 h 8"/>
                <a:gd name="T10" fmla="*/ 13 w 13"/>
                <a:gd name="T11" fmla="*/ 8 h 8"/>
                <a:gd name="T12" fmla="*/ 13 w 13"/>
                <a:gd name="T13" fmla="*/ 8 h 8"/>
                <a:gd name="T14" fmla="*/ 0 w 13"/>
                <a:gd name="T15" fmla="*/ 0 h 8"/>
                <a:gd name="T16" fmla="*/ 1 w 13"/>
                <a:gd name="T17"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8">
                  <a:moveTo>
                    <a:pt x="1" y="4"/>
                  </a:moveTo>
                  <a:lnTo>
                    <a:pt x="1" y="4"/>
                  </a:lnTo>
                  <a:cubicBezTo>
                    <a:pt x="2" y="7"/>
                    <a:pt x="4" y="7"/>
                    <a:pt x="4" y="7"/>
                  </a:cubicBezTo>
                  <a:cubicBezTo>
                    <a:pt x="5" y="8"/>
                    <a:pt x="6" y="8"/>
                    <a:pt x="6" y="8"/>
                  </a:cubicBezTo>
                  <a:cubicBezTo>
                    <a:pt x="6" y="8"/>
                    <a:pt x="11" y="8"/>
                    <a:pt x="13" y="8"/>
                  </a:cubicBezTo>
                  <a:cubicBezTo>
                    <a:pt x="13" y="8"/>
                    <a:pt x="13" y="8"/>
                    <a:pt x="13" y="8"/>
                  </a:cubicBezTo>
                  <a:cubicBezTo>
                    <a:pt x="13" y="8"/>
                    <a:pt x="13" y="8"/>
                    <a:pt x="13" y="8"/>
                  </a:cubicBezTo>
                  <a:cubicBezTo>
                    <a:pt x="9" y="5"/>
                    <a:pt x="0" y="0"/>
                    <a:pt x="0" y="0"/>
                  </a:cubicBezTo>
                  <a:cubicBezTo>
                    <a:pt x="0" y="3"/>
                    <a:pt x="1" y="4"/>
                    <a:pt x="1"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3" name="Freeform 64"/>
            <p:cNvSpPr>
              <a:spLocks/>
            </p:cNvSpPr>
            <p:nvPr/>
          </p:nvSpPr>
          <p:spPr bwMode="auto">
            <a:xfrm>
              <a:off x="3387725" y="1090613"/>
              <a:ext cx="7938" cy="17463"/>
            </a:xfrm>
            <a:custGeom>
              <a:avLst/>
              <a:gdLst>
                <a:gd name="T0" fmla="*/ 4 w 9"/>
                <a:gd name="T1" fmla="*/ 0 h 18"/>
                <a:gd name="T2" fmla="*/ 4 w 9"/>
                <a:gd name="T3" fmla="*/ 0 h 18"/>
                <a:gd name="T4" fmla="*/ 1 w 9"/>
                <a:gd name="T5" fmla="*/ 3 h 18"/>
                <a:gd name="T6" fmla="*/ 1 w 9"/>
                <a:gd name="T7" fmla="*/ 6 h 18"/>
                <a:gd name="T8" fmla="*/ 7 w 9"/>
                <a:gd name="T9" fmla="*/ 18 h 18"/>
                <a:gd name="T10" fmla="*/ 7 w 9"/>
                <a:gd name="T11" fmla="*/ 18 h 18"/>
                <a:gd name="T12" fmla="*/ 7 w 9"/>
                <a:gd name="T13" fmla="*/ 18 h 18"/>
                <a:gd name="T14" fmla="*/ 6 w 9"/>
                <a:gd name="T15" fmla="*/ 0 h 18"/>
                <a:gd name="T16" fmla="*/ 4 w 9"/>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4" y="0"/>
                  </a:moveTo>
                  <a:lnTo>
                    <a:pt x="4" y="0"/>
                  </a:lnTo>
                  <a:cubicBezTo>
                    <a:pt x="1" y="1"/>
                    <a:pt x="1" y="3"/>
                    <a:pt x="1" y="3"/>
                  </a:cubicBezTo>
                  <a:cubicBezTo>
                    <a:pt x="0" y="5"/>
                    <a:pt x="1" y="6"/>
                    <a:pt x="1" y="6"/>
                  </a:cubicBezTo>
                  <a:cubicBezTo>
                    <a:pt x="2" y="10"/>
                    <a:pt x="6" y="16"/>
                    <a:pt x="7" y="18"/>
                  </a:cubicBezTo>
                  <a:cubicBezTo>
                    <a:pt x="7" y="18"/>
                    <a:pt x="7" y="18"/>
                    <a:pt x="7" y="18"/>
                  </a:cubicBezTo>
                  <a:cubicBezTo>
                    <a:pt x="7" y="18"/>
                    <a:pt x="7" y="18"/>
                    <a:pt x="7" y="18"/>
                  </a:cubicBezTo>
                  <a:cubicBezTo>
                    <a:pt x="9" y="4"/>
                    <a:pt x="6" y="0"/>
                    <a:pt x="6" y="0"/>
                  </a:cubicBezTo>
                  <a:cubicBezTo>
                    <a:pt x="5" y="0"/>
                    <a:pt x="4" y="0"/>
                    <a:pt x="4"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4" name="Freeform 65"/>
            <p:cNvSpPr>
              <a:spLocks/>
            </p:cNvSpPr>
            <p:nvPr/>
          </p:nvSpPr>
          <p:spPr bwMode="auto">
            <a:xfrm>
              <a:off x="3394075" y="1090613"/>
              <a:ext cx="9525" cy="17463"/>
            </a:xfrm>
            <a:custGeom>
              <a:avLst/>
              <a:gdLst>
                <a:gd name="T0" fmla="*/ 8 w 9"/>
                <a:gd name="T1" fmla="*/ 3 h 18"/>
                <a:gd name="T2" fmla="*/ 8 w 9"/>
                <a:gd name="T3" fmla="*/ 3 h 18"/>
                <a:gd name="T4" fmla="*/ 5 w 9"/>
                <a:gd name="T5" fmla="*/ 0 h 18"/>
                <a:gd name="T6" fmla="*/ 3 w 9"/>
                <a:gd name="T7" fmla="*/ 0 h 18"/>
                <a:gd name="T8" fmla="*/ 2 w 9"/>
                <a:gd name="T9" fmla="*/ 18 h 18"/>
                <a:gd name="T10" fmla="*/ 2 w 9"/>
                <a:gd name="T11" fmla="*/ 18 h 18"/>
                <a:gd name="T12" fmla="*/ 2 w 9"/>
                <a:gd name="T13" fmla="*/ 18 h 18"/>
                <a:gd name="T14" fmla="*/ 8 w 9"/>
                <a:gd name="T15" fmla="*/ 6 h 18"/>
                <a:gd name="T16" fmla="*/ 8 w 9"/>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8" y="3"/>
                  </a:moveTo>
                  <a:lnTo>
                    <a:pt x="8" y="3"/>
                  </a:lnTo>
                  <a:cubicBezTo>
                    <a:pt x="8" y="3"/>
                    <a:pt x="8" y="1"/>
                    <a:pt x="5" y="0"/>
                  </a:cubicBezTo>
                  <a:cubicBezTo>
                    <a:pt x="5" y="0"/>
                    <a:pt x="4" y="0"/>
                    <a:pt x="3" y="0"/>
                  </a:cubicBezTo>
                  <a:cubicBezTo>
                    <a:pt x="3" y="0"/>
                    <a:pt x="0" y="3"/>
                    <a:pt x="2" y="18"/>
                  </a:cubicBezTo>
                  <a:cubicBezTo>
                    <a:pt x="2" y="18"/>
                    <a:pt x="2" y="18"/>
                    <a:pt x="2" y="18"/>
                  </a:cubicBezTo>
                  <a:cubicBezTo>
                    <a:pt x="2" y="18"/>
                    <a:pt x="2" y="18"/>
                    <a:pt x="2" y="18"/>
                  </a:cubicBezTo>
                  <a:cubicBezTo>
                    <a:pt x="3" y="16"/>
                    <a:pt x="7" y="10"/>
                    <a:pt x="8" y="6"/>
                  </a:cubicBezTo>
                  <a:cubicBezTo>
                    <a:pt x="8" y="6"/>
                    <a:pt x="9" y="4"/>
                    <a:pt x="8"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5" name="Freeform 66"/>
            <p:cNvSpPr>
              <a:spLocks/>
            </p:cNvSpPr>
            <p:nvPr/>
          </p:nvSpPr>
          <p:spPr bwMode="auto">
            <a:xfrm>
              <a:off x="3398838" y="1109663"/>
              <a:ext cx="9525" cy="4763"/>
            </a:xfrm>
            <a:custGeom>
              <a:avLst/>
              <a:gdLst>
                <a:gd name="T0" fmla="*/ 0 w 10"/>
                <a:gd name="T1" fmla="*/ 0 h 4"/>
                <a:gd name="T2" fmla="*/ 0 w 10"/>
                <a:gd name="T3" fmla="*/ 0 h 4"/>
                <a:gd name="T4" fmla="*/ 0 w 10"/>
                <a:gd name="T5" fmla="*/ 0 h 4"/>
                <a:gd name="T6" fmla="*/ 5 w 10"/>
                <a:gd name="T7" fmla="*/ 3 h 4"/>
                <a:gd name="T8" fmla="*/ 10 w 10"/>
                <a:gd name="T9" fmla="*/ 0 h 4"/>
                <a:gd name="T10" fmla="*/ 0 w 10"/>
                <a:gd name="T11" fmla="*/ 0 h 4"/>
                <a:gd name="T12" fmla="*/ 0 w 1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0" y="0"/>
                  </a:moveTo>
                  <a:lnTo>
                    <a:pt x="0" y="0"/>
                  </a:lnTo>
                  <a:cubicBezTo>
                    <a:pt x="0" y="0"/>
                    <a:pt x="0" y="0"/>
                    <a:pt x="0" y="0"/>
                  </a:cubicBezTo>
                  <a:cubicBezTo>
                    <a:pt x="1" y="0"/>
                    <a:pt x="4" y="2"/>
                    <a:pt x="5" y="3"/>
                  </a:cubicBezTo>
                  <a:cubicBezTo>
                    <a:pt x="5" y="3"/>
                    <a:pt x="8" y="4"/>
                    <a:pt x="10"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6" name="Freeform 67"/>
            <p:cNvSpPr>
              <a:spLocks/>
            </p:cNvSpPr>
            <p:nvPr/>
          </p:nvSpPr>
          <p:spPr bwMode="auto">
            <a:xfrm>
              <a:off x="3398838" y="1101725"/>
              <a:ext cx="11113" cy="7938"/>
            </a:xfrm>
            <a:custGeom>
              <a:avLst/>
              <a:gdLst>
                <a:gd name="T0" fmla="*/ 0 w 13"/>
                <a:gd name="T1" fmla="*/ 8 h 8"/>
                <a:gd name="T2" fmla="*/ 0 w 13"/>
                <a:gd name="T3" fmla="*/ 8 h 8"/>
                <a:gd name="T4" fmla="*/ 0 w 13"/>
                <a:gd name="T5" fmla="*/ 8 h 8"/>
                <a:gd name="T6" fmla="*/ 0 w 13"/>
                <a:gd name="T7" fmla="*/ 8 h 8"/>
                <a:gd name="T8" fmla="*/ 8 w 13"/>
                <a:gd name="T9" fmla="*/ 8 h 8"/>
                <a:gd name="T10" fmla="*/ 9 w 13"/>
                <a:gd name="T11" fmla="*/ 7 h 8"/>
                <a:gd name="T12" fmla="*/ 13 w 13"/>
                <a:gd name="T13" fmla="*/ 4 h 8"/>
                <a:gd name="T14" fmla="*/ 13 w 13"/>
                <a:gd name="T15" fmla="*/ 0 h 8"/>
                <a:gd name="T16" fmla="*/ 0 w 13"/>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8">
                  <a:moveTo>
                    <a:pt x="0" y="8"/>
                  </a:moveTo>
                  <a:lnTo>
                    <a:pt x="0" y="8"/>
                  </a:lnTo>
                  <a:cubicBezTo>
                    <a:pt x="0" y="8"/>
                    <a:pt x="0" y="8"/>
                    <a:pt x="0" y="8"/>
                  </a:cubicBezTo>
                  <a:cubicBezTo>
                    <a:pt x="0" y="8"/>
                    <a:pt x="0" y="8"/>
                    <a:pt x="0" y="8"/>
                  </a:cubicBezTo>
                  <a:cubicBezTo>
                    <a:pt x="2" y="8"/>
                    <a:pt x="8" y="8"/>
                    <a:pt x="8" y="8"/>
                  </a:cubicBezTo>
                  <a:cubicBezTo>
                    <a:pt x="8" y="8"/>
                    <a:pt x="8" y="8"/>
                    <a:pt x="9" y="7"/>
                  </a:cubicBezTo>
                  <a:cubicBezTo>
                    <a:pt x="9" y="7"/>
                    <a:pt x="11" y="7"/>
                    <a:pt x="13" y="4"/>
                  </a:cubicBezTo>
                  <a:cubicBezTo>
                    <a:pt x="13" y="4"/>
                    <a:pt x="13" y="2"/>
                    <a:pt x="13" y="0"/>
                  </a:cubicBezTo>
                  <a:cubicBezTo>
                    <a:pt x="13" y="0"/>
                    <a:pt x="4" y="5"/>
                    <a:pt x="0"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57" name="Freeform 68"/>
            <p:cNvSpPr>
              <a:spLocks/>
            </p:cNvSpPr>
            <p:nvPr/>
          </p:nvSpPr>
          <p:spPr bwMode="auto">
            <a:xfrm>
              <a:off x="3397250" y="1093788"/>
              <a:ext cx="11113" cy="14288"/>
            </a:xfrm>
            <a:custGeom>
              <a:avLst/>
              <a:gdLst>
                <a:gd name="T0" fmla="*/ 12 w 12"/>
                <a:gd name="T1" fmla="*/ 5 h 15"/>
                <a:gd name="T2" fmla="*/ 12 w 12"/>
                <a:gd name="T3" fmla="*/ 5 h 15"/>
                <a:gd name="T4" fmla="*/ 9 w 12"/>
                <a:gd name="T5" fmla="*/ 0 h 15"/>
                <a:gd name="T6" fmla="*/ 0 w 12"/>
                <a:gd name="T7" fmla="*/ 14 h 15"/>
                <a:gd name="T8" fmla="*/ 0 w 12"/>
                <a:gd name="T9" fmla="*/ 15 h 15"/>
                <a:gd name="T10" fmla="*/ 0 w 12"/>
                <a:gd name="T11" fmla="*/ 15 h 15"/>
                <a:gd name="T12" fmla="*/ 10 w 12"/>
                <a:gd name="T13" fmla="*/ 9 h 15"/>
                <a:gd name="T14" fmla="*/ 12 w 12"/>
                <a:gd name="T15" fmla="*/ 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5">
                  <a:moveTo>
                    <a:pt x="12" y="5"/>
                  </a:moveTo>
                  <a:lnTo>
                    <a:pt x="12" y="5"/>
                  </a:lnTo>
                  <a:cubicBezTo>
                    <a:pt x="12" y="3"/>
                    <a:pt x="9" y="0"/>
                    <a:pt x="9" y="0"/>
                  </a:cubicBezTo>
                  <a:cubicBezTo>
                    <a:pt x="9" y="0"/>
                    <a:pt x="4" y="6"/>
                    <a:pt x="0" y="14"/>
                  </a:cubicBezTo>
                  <a:cubicBezTo>
                    <a:pt x="0" y="14"/>
                    <a:pt x="0" y="15"/>
                    <a:pt x="0" y="15"/>
                  </a:cubicBezTo>
                  <a:cubicBezTo>
                    <a:pt x="0" y="15"/>
                    <a:pt x="0" y="15"/>
                    <a:pt x="0" y="15"/>
                  </a:cubicBezTo>
                  <a:cubicBezTo>
                    <a:pt x="2" y="14"/>
                    <a:pt x="8" y="11"/>
                    <a:pt x="10" y="9"/>
                  </a:cubicBezTo>
                  <a:cubicBezTo>
                    <a:pt x="10" y="9"/>
                    <a:pt x="12" y="7"/>
                    <a:pt x="1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173" name="组合 172"/>
          <p:cNvGrpSpPr/>
          <p:nvPr/>
        </p:nvGrpSpPr>
        <p:grpSpPr>
          <a:xfrm>
            <a:off x="5411924" y="5553236"/>
            <a:ext cx="1260140" cy="609685"/>
            <a:chOff x="5411924" y="5553236"/>
            <a:chExt cx="1260140" cy="609685"/>
          </a:xfrm>
        </p:grpSpPr>
        <p:sp>
          <p:nvSpPr>
            <p:cNvPr id="159" name="hard-drive_77649"/>
            <p:cNvSpPr>
              <a:spLocks noChangeAspect="1"/>
            </p:cNvSpPr>
            <p:nvPr/>
          </p:nvSpPr>
          <p:spPr bwMode="auto">
            <a:xfrm>
              <a:off x="5411924" y="555323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a:scene3d>
              <a:camera prst="orthographicFront">
                <a:rot lat="0" lon="0" rev="0"/>
              </a:camera>
              <a:lightRig rig="threePt" dir="t"/>
            </a:scene3d>
          </p:spPr>
        </p:sp>
        <p:sp>
          <p:nvSpPr>
            <p:cNvPr id="171" name="hard-drive_77649"/>
            <p:cNvSpPr>
              <a:spLocks noChangeAspect="1"/>
            </p:cNvSpPr>
            <p:nvPr/>
          </p:nvSpPr>
          <p:spPr bwMode="auto">
            <a:xfrm>
              <a:off x="5812657" y="555323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a:scene3d>
              <a:camera prst="orthographicFront">
                <a:rot lat="0" lon="0" rev="0"/>
              </a:camera>
              <a:lightRig rig="threePt" dir="t"/>
            </a:scene3d>
          </p:spPr>
        </p:sp>
        <p:sp>
          <p:nvSpPr>
            <p:cNvPr id="172" name="hard-drive_77649"/>
            <p:cNvSpPr>
              <a:spLocks noChangeAspect="1"/>
            </p:cNvSpPr>
            <p:nvPr/>
          </p:nvSpPr>
          <p:spPr bwMode="auto">
            <a:xfrm>
              <a:off x="6244705" y="555323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a:scene3d>
              <a:camera prst="orthographicFront">
                <a:rot lat="0" lon="0" rev="0"/>
              </a:camera>
              <a:lightRig rig="threePt" dir="t"/>
            </a:scene3d>
          </p:spPr>
        </p:sp>
      </p:grpSp>
    </p:spTree>
    <p:extLst>
      <p:ext uri="{BB962C8B-B14F-4D97-AF65-F5344CB8AC3E}">
        <p14:creationId xmlns:p14="http://schemas.microsoft.com/office/powerpoint/2010/main" val="411679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2000"/>
                                        <p:tgtEl>
                                          <p:spTgt spid="173"/>
                                        </p:tgtEl>
                                      </p:cBhvr>
                                    </p:animEffect>
                                    <p:set>
                                      <p:cBhvr>
                                        <p:cTn id="7" dur="1" fill="hold">
                                          <p:stCondLst>
                                            <p:cond delay="1999"/>
                                          </p:stCondLst>
                                        </p:cTn>
                                        <p:tgtEl>
                                          <p:spTgt spid="17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124"/>
                                        </p:tgtEl>
                                        <p:attrNameLst>
                                          <p:attrName>style.visibility</p:attrName>
                                        </p:attrNameLst>
                                      </p:cBhvr>
                                      <p:to>
                                        <p:strVal val="visible"/>
                                      </p:to>
                                    </p:set>
                                    <p:animEffect transition="in" filter="fade">
                                      <p:cBhvr>
                                        <p:cTn id="10" dur="2000"/>
                                        <p:tgtEl>
                                          <p:spTgt spid="124"/>
                                        </p:tgtEl>
                                      </p:cBhvr>
                                    </p:animEffect>
                                  </p:childTnLst>
                                </p:cTn>
                              </p:par>
                              <p:par>
                                <p:cTn id="11" presetID="63" presetClass="path" presetSubtype="0" accel="50000" decel="50000" fill="hold" nodeType="withEffect">
                                  <p:stCondLst>
                                    <p:cond delay="0"/>
                                  </p:stCondLst>
                                  <p:childTnLst>
                                    <p:animMotion origin="layout" path="M 0 0 L 0.006098 -0.272822 E" pathEditMode="relative" ptsTypes="">
                                      <p:cBhvr>
                                        <p:cTn id="12" dur="2000" fill="hold"/>
                                        <p:tgtEl>
                                          <p:spTgt spid="173"/>
                                        </p:tgtEl>
                                        <p:attrNameLst>
                                          <p:attrName>ppt_x</p:attrName>
                                          <p:attrName>ppt_y</p:attrName>
                                        </p:attrNameLst>
                                      </p:cBhvr>
                                    </p:animMotion>
                                  </p:childTnLst>
                                </p:cTn>
                              </p:par>
                              <p:par>
                                <p:cTn id="13" presetID="63" presetClass="path" presetSubtype="0" accel="50000" decel="50000" fill="hold" nodeType="withEffect">
                                  <p:stCondLst>
                                    <p:cond delay="0"/>
                                  </p:stCondLst>
                                  <p:childTnLst>
                                    <p:animMotion origin="layout" path="M -0.00612 0.27291 L -2.70833E-6 4.44444E-6 " pathEditMode="relative" rAng="0" ptsTypes="AA">
                                      <p:cBhvr>
                                        <p:cTn id="14" dur="2000" fill="hold"/>
                                        <p:tgtEl>
                                          <p:spTgt spid="124"/>
                                        </p:tgtEl>
                                        <p:attrNameLst>
                                          <p:attrName>ppt_x</p:attrName>
                                          <p:attrName>ppt_y</p:attrName>
                                        </p:attrNameLst>
                                      </p:cBhvr>
                                      <p:rCtr x="299" y="-13657"/>
                                    </p:animMotion>
                                  </p:childTnLst>
                                </p:cTn>
                              </p:par>
                              <p:par>
                                <p:cTn id="15" presetID="6" presetClass="emph" presetSubtype="0" accel="50000" decel="50000" fill="hold" nodeType="withEffect">
                                  <p:stCondLst>
                                    <p:cond delay="0"/>
                                  </p:stCondLst>
                                  <p:childTnLst>
                                    <p:animScale>
                                      <p:cBhvr>
                                        <p:cTn id="16" dur="2000" fill="hold"/>
                                        <p:tgtEl>
                                          <p:spTgt spid="173"/>
                                        </p:tgtEl>
                                      </p:cBhvr>
                                      <p:by x="150000" y="150000"/>
                                      <p:from x="100000" y="100000"/>
                                      <p:to x="128199" y="303518"/>
                                    </p:animScale>
                                  </p:childTnLst>
                                </p:cTn>
                              </p:par>
                              <p:par>
                                <p:cTn id="17" presetID="6" presetClass="emph" presetSubtype="0" accel="50000" decel="50000" fill="hold" nodeType="withEffect">
                                  <p:stCondLst>
                                    <p:cond delay="0"/>
                                  </p:stCondLst>
                                  <p:childTnLst>
                                    <p:animScale>
                                      <p:cBhvr>
                                        <p:cTn id="18" dur="2000" fill="hold"/>
                                        <p:tgtEl>
                                          <p:spTgt spid="124"/>
                                        </p:tgtEl>
                                      </p:cBhvr>
                                      <p:by x="150000" y="150000"/>
                                      <p:from x="78004" y="32947"/>
                                      <p:to x="100000" y="100000"/>
                                    </p:animScale>
                                  </p:childTnLst>
                                </p:cTn>
                              </p:par>
                            </p:childTnLst>
                          </p:cTn>
                        </p:par>
                      </p:childTnLst>
                    </p:cTn>
                  </p:par>
                  <p:par>
                    <p:cTn id="19" fill="hold">
                      <p:stCondLst>
                        <p:cond delay="indefinite"/>
                      </p:stCondLst>
                      <p:childTnLst>
                        <p:par>
                          <p:cTn id="20" fill="hold">
                            <p:stCondLst>
                              <p:cond delay="0"/>
                            </p:stCondLst>
                            <p:childTnLst>
                              <p:par>
                                <p:cTn id="21" presetID="53" presetClass="entr" presetSubtype="16" repeatCount="2000" fill="hold" grpId="0" nodeType="clickEffect">
                                  <p:stCondLst>
                                    <p:cond delay="0"/>
                                  </p:stCondLst>
                                  <p:childTnLst>
                                    <p:set>
                                      <p:cBhvr>
                                        <p:cTn id="22" dur="1" fill="hold">
                                          <p:stCondLst>
                                            <p:cond delay="0"/>
                                          </p:stCondLst>
                                        </p:cTn>
                                        <p:tgtEl>
                                          <p:spTgt spid="115"/>
                                        </p:tgtEl>
                                        <p:attrNameLst>
                                          <p:attrName>style.visibility</p:attrName>
                                        </p:attrNameLst>
                                      </p:cBhvr>
                                      <p:to>
                                        <p:strVal val="visible"/>
                                      </p:to>
                                    </p:set>
                                    <p:anim calcmode="lin" valueType="num">
                                      <p:cBhvr>
                                        <p:cTn id="23" dur="1000" fill="hold"/>
                                        <p:tgtEl>
                                          <p:spTgt spid="115"/>
                                        </p:tgtEl>
                                        <p:attrNameLst>
                                          <p:attrName>ppt_w</p:attrName>
                                        </p:attrNameLst>
                                      </p:cBhvr>
                                      <p:tavLst>
                                        <p:tav tm="0">
                                          <p:val>
                                            <p:fltVal val="0"/>
                                          </p:val>
                                        </p:tav>
                                        <p:tav tm="100000">
                                          <p:val>
                                            <p:strVal val="#ppt_w"/>
                                          </p:val>
                                        </p:tav>
                                      </p:tavLst>
                                    </p:anim>
                                    <p:anim calcmode="lin" valueType="num">
                                      <p:cBhvr>
                                        <p:cTn id="24" dur="1000" fill="hold"/>
                                        <p:tgtEl>
                                          <p:spTgt spid="115"/>
                                        </p:tgtEl>
                                        <p:attrNameLst>
                                          <p:attrName>ppt_h</p:attrName>
                                        </p:attrNameLst>
                                      </p:cBhvr>
                                      <p:tavLst>
                                        <p:tav tm="0">
                                          <p:val>
                                            <p:fltVal val="0"/>
                                          </p:val>
                                        </p:tav>
                                        <p:tav tm="100000">
                                          <p:val>
                                            <p:strVal val="#ppt_h"/>
                                          </p:val>
                                        </p:tav>
                                      </p:tavLst>
                                    </p:anim>
                                    <p:animEffect transition="in" filter="fade">
                                      <p:cBhvr>
                                        <p:cTn id="25" dur="1000"/>
                                        <p:tgtEl>
                                          <p:spTgt spid="115"/>
                                        </p:tgtEl>
                                      </p:cBhvr>
                                    </p:animEffect>
                                  </p:childTnLst>
                                  <p:subTnLst>
                                    <p:set>
                                      <p:cBhvr override="childStyle">
                                        <p:cTn dur="1" fill="hold" display="0" masterRel="sameClick" afterEffect="1">
                                          <p:stCondLst>
                                            <p:cond evt="end" delay="0">
                                              <p:tn val="21"/>
                                            </p:cond>
                                          </p:stCondLst>
                                        </p:cTn>
                                        <p:tgtEl>
                                          <p:spTgt spid="115"/>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2000"/>
                                        <p:tgtEl>
                                          <p:spTgt spid="124"/>
                                        </p:tgtEl>
                                      </p:cBhvr>
                                    </p:animEffect>
                                    <p:set>
                                      <p:cBhvr>
                                        <p:cTn id="30" dur="1" fill="hold">
                                          <p:stCondLst>
                                            <p:cond delay="1999"/>
                                          </p:stCondLst>
                                        </p:cTn>
                                        <p:tgtEl>
                                          <p:spTgt spid="124"/>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86"/>
                                        </p:tgtEl>
                                        <p:attrNameLst>
                                          <p:attrName>style.visibility</p:attrName>
                                        </p:attrNameLst>
                                      </p:cBhvr>
                                      <p:to>
                                        <p:strVal val="visible"/>
                                      </p:to>
                                    </p:set>
                                    <p:animEffect transition="in" filter="fade">
                                      <p:cBhvr>
                                        <p:cTn id="33" dur="2000"/>
                                        <p:tgtEl>
                                          <p:spTgt spid="86"/>
                                        </p:tgtEl>
                                      </p:cBhvr>
                                    </p:animEffect>
                                  </p:childTnLst>
                                </p:cTn>
                              </p:par>
                              <p:par>
                                <p:cTn id="34" presetID="63" presetClass="path" presetSubtype="0" accel="50000" decel="50000" fill="hold" nodeType="withEffect">
                                  <p:stCondLst>
                                    <p:cond delay="0"/>
                                  </p:stCondLst>
                                  <p:childTnLst>
                                    <p:animMotion origin="layout" path="M -2.70833E-6 4.44444E-6 L -0.0026 -0.26598 " pathEditMode="relative" rAng="0" ptsTypes="AA">
                                      <p:cBhvr>
                                        <p:cTn id="35" dur="2000" fill="hold"/>
                                        <p:tgtEl>
                                          <p:spTgt spid="124"/>
                                        </p:tgtEl>
                                        <p:attrNameLst>
                                          <p:attrName>ppt_x</p:attrName>
                                          <p:attrName>ppt_y</p:attrName>
                                        </p:attrNameLst>
                                      </p:cBhvr>
                                      <p:rCtr x="-130" y="-13310"/>
                                    </p:animMotion>
                                  </p:childTnLst>
                                </p:cTn>
                              </p:par>
                              <p:par>
                                <p:cTn id="36" presetID="63" presetClass="path" presetSubtype="0" accel="50000" decel="50000" fill="hold" nodeType="withEffect">
                                  <p:stCondLst>
                                    <p:cond delay="0"/>
                                  </p:stCondLst>
                                  <p:childTnLst>
                                    <p:animMotion origin="layout" path="M 0.00266 0.265913 L 0 0 E" pathEditMode="relative" ptsTypes="">
                                      <p:cBhvr>
                                        <p:cTn id="37" dur="2000" fill="hold"/>
                                        <p:tgtEl>
                                          <p:spTgt spid="86"/>
                                        </p:tgtEl>
                                        <p:attrNameLst>
                                          <p:attrName>ppt_x</p:attrName>
                                          <p:attrName>ppt_y</p:attrName>
                                        </p:attrNameLst>
                                      </p:cBhvr>
                                    </p:animMotion>
                                  </p:childTnLst>
                                </p:cTn>
                              </p:par>
                              <p:par>
                                <p:cTn id="38" presetID="6" presetClass="emph" presetSubtype="0" accel="50000" decel="50000" fill="hold" nodeType="withEffect">
                                  <p:stCondLst>
                                    <p:cond delay="0"/>
                                  </p:stCondLst>
                                  <p:childTnLst>
                                    <p:animScale>
                                      <p:cBhvr>
                                        <p:cTn id="39" dur="2000" fill="hold"/>
                                        <p:tgtEl>
                                          <p:spTgt spid="124"/>
                                        </p:tgtEl>
                                      </p:cBhvr>
                                      <p:by x="150000" y="150000"/>
                                      <p:from x="100000" y="100000"/>
                                      <p:to x="167102" y="35357"/>
                                    </p:animScale>
                                  </p:childTnLst>
                                </p:cTn>
                              </p:par>
                              <p:par>
                                <p:cTn id="40" presetID="6" presetClass="emph" presetSubtype="0" accel="50000" decel="50000" fill="hold" nodeType="withEffect">
                                  <p:stCondLst>
                                    <p:cond delay="0"/>
                                  </p:stCondLst>
                                  <p:childTnLst>
                                    <p:animScale>
                                      <p:cBhvr>
                                        <p:cTn id="41" dur="2000" fill="hold"/>
                                        <p:tgtEl>
                                          <p:spTgt spid="86"/>
                                        </p:tgtEl>
                                      </p:cBhvr>
                                      <p:by x="150000" y="150000"/>
                                      <p:from x="59844" y="282828"/>
                                      <p:to x="100000" y="100000"/>
                                    </p:animScale>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18"/>
                                        </p:tgtEl>
                                        <p:attrNameLst>
                                          <p:attrName>style.visibility</p:attrName>
                                        </p:attrNameLst>
                                      </p:cBhvr>
                                      <p:to>
                                        <p:strVal val="visible"/>
                                      </p:to>
                                    </p:set>
                                    <p:animEffect transition="in" filter="wipe(down)">
                                      <p:cBhvr>
                                        <p:cTn id="46" dur="500"/>
                                        <p:tgtEl>
                                          <p:spTgt spid="118"/>
                                        </p:tgtEl>
                                      </p:cBhvr>
                                    </p:animEffect>
                                  </p:childTnLst>
                                </p:cTn>
                              </p:par>
                              <p:par>
                                <p:cTn id="47" presetID="22" presetClass="entr" presetSubtype="4" fill="hold" nodeType="withEffect">
                                  <p:stCondLst>
                                    <p:cond delay="0"/>
                                  </p:stCondLst>
                                  <p:childTnLst>
                                    <p:set>
                                      <p:cBhvr>
                                        <p:cTn id="48" dur="1" fill="hold">
                                          <p:stCondLst>
                                            <p:cond delay="0"/>
                                          </p:stCondLst>
                                        </p:cTn>
                                        <p:tgtEl>
                                          <p:spTgt spid="116"/>
                                        </p:tgtEl>
                                        <p:attrNameLst>
                                          <p:attrName>style.visibility</p:attrName>
                                        </p:attrNameLst>
                                      </p:cBhvr>
                                      <p:to>
                                        <p:strVal val="visible"/>
                                      </p:to>
                                    </p:set>
                                    <p:animEffect transition="in" filter="wipe(down)">
                                      <p:cBhvr>
                                        <p:cTn id="49" dur="500"/>
                                        <p:tgtEl>
                                          <p:spTgt spid="116"/>
                                        </p:tgtEl>
                                      </p:cBhvr>
                                    </p:animEffect>
                                  </p:childTnLst>
                                </p:cTn>
                              </p:par>
                              <p:par>
                                <p:cTn id="50" presetID="22" presetClass="entr" presetSubtype="4" fill="hold" nodeType="withEffect">
                                  <p:stCondLst>
                                    <p:cond delay="0"/>
                                  </p:stCondLst>
                                  <p:childTnLst>
                                    <p:set>
                                      <p:cBhvr>
                                        <p:cTn id="51" dur="1" fill="hold">
                                          <p:stCondLst>
                                            <p:cond delay="0"/>
                                          </p:stCondLst>
                                        </p:cTn>
                                        <p:tgtEl>
                                          <p:spTgt spid="119"/>
                                        </p:tgtEl>
                                        <p:attrNameLst>
                                          <p:attrName>style.visibility</p:attrName>
                                        </p:attrNameLst>
                                      </p:cBhvr>
                                      <p:to>
                                        <p:strVal val="visible"/>
                                      </p:to>
                                    </p:set>
                                    <p:animEffect transition="in" filter="wipe(down)">
                                      <p:cBhvr>
                                        <p:cTn id="52" dur="500"/>
                                        <p:tgtEl>
                                          <p:spTgt spid="119"/>
                                        </p:tgtEl>
                                      </p:cBhvr>
                                    </p:animEffect>
                                  </p:childTnLst>
                                </p:cTn>
                              </p:par>
                              <p:par>
                                <p:cTn id="53" presetID="22" presetClass="entr" presetSubtype="4" fill="hold" nodeType="withEffect">
                                  <p:stCondLst>
                                    <p:cond delay="0"/>
                                  </p:stCondLst>
                                  <p:childTnLst>
                                    <p:set>
                                      <p:cBhvr>
                                        <p:cTn id="54" dur="1" fill="hold">
                                          <p:stCondLst>
                                            <p:cond delay="0"/>
                                          </p:stCondLst>
                                        </p:cTn>
                                        <p:tgtEl>
                                          <p:spTgt spid="117"/>
                                        </p:tgtEl>
                                        <p:attrNameLst>
                                          <p:attrName>style.visibility</p:attrName>
                                        </p:attrNameLst>
                                      </p:cBhvr>
                                      <p:to>
                                        <p:strVal val="visible"/>
                                      </p:to>
                                    </p:set>
                                    <p:animEffect transition="in" filter="wipe(down)">
                                      <p:cBhvr>
                                        <p:cTn id="55" dur="500"/>
                                        <p:tgtEl>
                                          <p:spTgt spid="117"/>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120"/>
                                        </p:tgtEl>
                                        <p:attrNameLst>
                                          <p:attrName>style.visibility</p:attrName>
                                        </p:attrNameLst>
                                      </p:cBhvr>
                                      <p:to>
                                        <p:strVal val="visible"/>
                                      </p:to>
                                    </p:set>
                                    <p:animEffect transition="in" filter="wipe(down)">
                                      <p:cBhvr>
                                        <p:cTn id="58" dur="500"/>
                                        <p:tgtEl>
                                          <p:spTgt spid="120"/>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22"/>
                                        </p:tgtEl>
                                        <p:attrNameLst>
                                          <p:attrName>style.visibility</p:attrName>
                                        </p:attrNameLst>
                                      </p:cBhvr>
                                      <p:to>
                                        <p:strVal val="visible"/>
                                      </p:to>
                                    </p:set>
                                    <p:animEffect transition="in" filter="wipe(down)">
                                      <p:cBhvr>
                                        <p:cTn id="61" dur="500"/>
                                        <p:tgtEl>
                                          <p:spTgt spid="122"/>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23"/>
                                        </p:tgtEl>
                                        <p:attrNameLst>
                                          <p:attrName>style.visibility</p:attrName>
                                        </p:attrNameLst>
                                      </p:cBhvr>
                                      <p:to>
                                        <p:strVal val="visible"/>
                                      </p:to>
                                    </p:set>
                                    <p:animEffect transition="in" filter="wipe(down)">
                                      <p:cBhvr>
                                        <p:cTn id="64" dur="500"/>
                                        <p:tgtEl>
                                          <p:spTgt spid="123"/>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21"/>
                                        </p:tgtEl>
                                        <p:attrNameLst>
                                          <p:attrName>style.visibility</p:attrName>
                                        </p:attrNameLst>
                                      </p:cBhvr>
                                      <p:to>
                                        <p:strVal val="visible"/>
                                      </p:to>
                                    </p:set>
                                    <p:animEffect transition="in" filter="wipe(down)">
                                      <p:cBhvr>
                                        <p:cTn id="67"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20" grpId="0"/>
      <p:bldP spid="121" grpId="0"/>
      <p:bldP spid="122" grpId="0"/>
      <p:bldP spid="1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RAID Technology</a:t>
            </a:r>
          </a:p>
        </p:txBody>
      </p:sp>
      <p:sp>
        <p:nvSpPr>
          <p:cNvPr id="24" name="ïśḷiḍè"/>
          <p:cNvSpPr/>
          <p:nvPr/>
        </p:nvSpPr>
        <p:spPr bwMode="auto">
          <a:xfrm>
            <a:off x="1722915" y="4119962"/>
            <a:ext cx="1726597" cy="360341"/>
          </a:xfrm>
          <a:prstGeom prst="trapezoid">
            <a:avLst>
              <a:gd name="adj" fmla="val 73472"/>
            </a:avLst>
          </a:prstGeom>
          <a:solidFill>
            <a:schemeClr val="bg1">
              <a:lumMod val="95000"/>
            </a:schemeClr>
          </a:solidFill>
          <a:ln w="9525" cap="flat" cmpd="sng" algn="ctr">
            <a:solidFill>
              <a:schemeClr val="bg1">
                <a:lumMod val="85000"/>
              </a:schemeClr>
            </a:solidFill>
            <a:prstDash val="solid"/>
          </a:ln>
          <a:effectLst/>
        </p:spPr>
        <p:txBody>
          <a:bodyPr anchor="ctr"/>
          <a:lstStyle/>
          <a:p>
            <a:pPr algn="ctr"/>
            <a:endParaRPr dirty="0">
              <a:latin typeface="Arial" panose="020B0604020202020204" pitchFamily="34" charset="0"/>
              <a:ea typeface="+mn-ea"/>
            </a:endParaRPr>
          </a:p>
        </p:txBody>
      </p:sp>
      <p:sp>
        <p:nvSpPr>
          <p:cNvPr id="25" name="iṡḷídé"/>
          <p:cNvSpPr txBox="1"/>
          <p:nvPr/>
        </p:nvSpPr>
        <p:spPr bwMode="auto">
          <a:xfrm>
            <a:off x="1722916" y="4486562"/>
            <a:ext cx="1726596" cy="201541"/>
          </a:xfrm>
          <a:prstGeom prst="rect">
            <a:avLst/>
          </a:prstGeom>
          <a:solidFill>
            <a:schemeClr val="bg1">
              <a:lumMod val="85000"/>
            </a:schemeClr>
          </a:solidFill>
          <a:ln>
            <a:solidFill>
              <a:schemeClr val="bg1">
                <a:lumMod val="75000"/>
              </a:schemeClr>
            </a:solidFill>
          </a:ln>
        </p:spPr>
        <p:txBody>
          <a:bodyPr anchor="ctr"/>
          <a:lstStyle/>
          <a:p>
            <a:pPr algn="ctr"/>
            <a:endParaRPr dirty="0">
              <a:latin typeface="Arial" panose="020B0604020202020204" pitchFamily="34" charset="0"/>
              <a:ea typeface="+mn-ea"/>
            </a:endParaRPr>
          </a:p>
        </p:txBody>
      </p:sp>
      <p:sp>
        <p:nvSpPr>
          <p:cNvPr id="26" name="íṥļïḑe"/>
          <p:cNvSpPr/>
          <p:nvPr/>
        </p:nvSpPr>
        <p:spPr>
          <a:xfrm>
            <a:off x="1942428" y="4122644"/>
            <a:ext cx="1287571" cy="360341"/>
          </a:xfrm>
          <a:prstGeom prst="trapezoid">
            <a:avLst>
              <a:gd name="adj" fmla="val 73472"/>
            </a:avLst>
          </a:prstGeom>
          <a:solidFill>
            <a:srgbClr val="00B050"/>
          </a:solidFill>
          <a:ln w="9525" cap="flat" cmpd="sng" algn="ctr">
            <a:noFill/>
            <a:prstDash val="solid"/>
          </a:ln>
          <a:effectLst/>
        </p:spPr>
        <p:txBody>
          <a:bodyPr anchor="ctr"/>
          <a:lstStyle/>
          <a:p>
            <a:pPr algn="ctr"/>
            <a:endParaRPr dirty="0">
              <a:latin typeface="Arial" panose="020B0604020202020204" pitchFamily="34" charset="0"/>
              <a:ea typeface="+mn-ea"/>
            </a:endParaRPr>
          </a:p>
        </p:txBody>
      </p:sp>
      <p:sp>
        <p:nvSpPr>
          <p:cNvPr id="27" name="îṡḻíḍè"/>
          <p:cNvSpPr/>
          <p:nvPr/>
        </p:nvSpPr>
        <p:spPr bwMode="auto">
          <a:xfrm>
            <a:off x="2444801" y="4173171"/>
            <a:ext cx="282826" cy="284492"/>
          </a:xfrm>
          <a:prstGeom prst="ellipse">
            <a:avLst/>
          </a:prstGeom>
          <a:solidFill>
            <a:schemeClr val="bg1"/>
          </a:solidFill>
          <a:ln w="9525">
            <a:solidFill>
              <a:schemeClr val="bg1">
                <a:lumMod val="95000"/>
              </a:schemeClr>
            </a:solidFill>
            <a:round/>
          </a:ln>
          <a:effectLst/>
        </p:spPr>
        <p:txBody>
          <a:bodyPr wrap="square" lIns="91440" tIns="45720" rIns="91440" bIns="45720" anchor="ctr">
            <a:noAutofit/>
          </a:bodyPr>
          <a:lstStyle/>
          <a:p>
            <a:pPr algn="ctr">
              <a:defRPr/>
            </a:pPr>
            <a:r>
              <a:rPr lang="en-US" sz="1400" b="1" dirty="0">
                <a:latin typeface="Arial" panose="020B0604020202020204" pitchFamily="34" charset="0"/>
                <a:ea typeface="+mn-ea"/>
              </a:rPr>
              <a:t>2</a:t>
            </a:r>
          </a:p>
        </p:txBody>
      </p:sp>
      <p:sp>
        <p:nvSpPr>
          <p:cNvPr id="28" name="îṡḻide"/>
          <p:cNvSpPr txBox="1"/>
          <p:nvPr/>
        </p:nvSpPr>
        <p:spPr bwMode="auto">
          <a:xfrm>
            <a:off x="1984453" y="3911631"/>
            <a:ext cx="1203522" cy="201541"/>
          </a:xfrm>
          <a:prstGeom prst="rect">
            <a:avLst/>
          </a:prstGeom>
          <a:solidFill>
            <a:schemeClr val="bg1">
              <a:lumMod val="85000"/>
            </a:schemeClr>
          </a:solidFill>
          <a:ln>
            <a:solidFill>
              <a:schemeClr val="bg1">
                <a:lumMod val="75000"/>
              </a:schemeClr>
            </a:solidFill>
          </a:ln>
        </p:spPr>
        <p:txBody>
          <a:bodyPr anchor="ctr"/>
          <a:lstStyle/>
          <a:p>
            <a:pPr algn="ctr"/>
            <a:endParaRPr dirty="0">
              <a:latin typeface="Arial" panose="020B0604020202020204" pitchFamily="34" charset="0"/>
              <a:ea typeface="+mn-ea"/>
            </a:endParaRPr>
          </a:p>
        </p:txBody>
      </p:sp>
      <p:sp>
        <p:nvSpPr>
          <p:cNvPr id="29" name="íṧ1îḑe"/>
          <p:cNvSpPr/>
          <p:nvPr/>
        </p:nvSpPr>
        <p:spPr bwMode="auto">
          <a:xfrm>
            <a:off x="1984453" y="3486909"/>
            <a:ext cx="1203522" cy="425614"/>
          </a:xfrm>
          <a:prstGeom prst="triangle">
            <a:avLst/>
          </a:prstGeom>
          <a:solidFill>
            <a:schemeClr val="bg1">
              <a:lumMod val="95000"/>
            </a:schemeClr>
          </a:solidFill>
          <a:ln w="9525" cap="flat" cmpd="sng" algn="ctr">
            <a:solidFill>
              <a:schemeClr val="bg1">
                <a:lumMod val="85000"/>
              </a:schemeClr>
            </a:solidFill>
            <a:prstDash val="solid"/>
          </a:ln>
          <a:effectLst/>
        </p:spPr>
        <p:txBody>
          <a:bodyPr anchor="ctr"/>
          <a:lstStyle/>
          <a:p>
            <a:pPr algn="ctr"/>
            <a:endParaRPr dirty="0">
              <a:latin typeface="Arial" panose="020B0604020202020204" pitchFamily="34" charset="0"/>
              <a:ea typeface="+mn-ea"/>
            </a:endParaRPr>
          </a:p>
        </p:txBody>
      </p:sp>
      <p:sp>
        <p:nvSpPr>
          <p:cNvPr id="30" name="is1îḍe"/>
          <p:cNvSpPr/>
          <p:nvPr/>
        </p:nvSpPr>
        <p:spPr>
          <a:xfrm>
            <a:off x="2208884" y="3490485"/>
            <a:ext cx="754659" cy="425614"/>
          </a:xfrm>
          <a:prstGeom prst="triangle">
            <a:avLst/>
          </a:prstGeom>
          <a:solidFill>
            <a:srgbClr val="3ABABA"/>
          </a:solidFill>
          <a:ln w="9525" cap="flat" cmpd="sng" algn="ctr">
            <a:noFill/>
            <a:prstDash val="solid"/>
          </a:ln>
          <a:effectLst/>
        </p:spPr>
        <p:txBody>
          <a:bodyPr anchor="ctr"/>
          <a:lstStyle/>
          <a:p>
            <a:pPr algn="ctr"/>
            <a:endParaRPr dirty="0">
              <a:latin typeface="Arial" panose="020B0604020202020204" pitchFamily="34" charset="0"/>
              <a:ea typeface="+mn-ea"/>
            </a:endParaRPr>
          </a:p>
        </p:txBody>
      </p:sp>
      <p:sp>
        <p:nvSpPr>
          <p:cNvPr id="31" name="îṩľïḑe"/>
          <p:cNvSpPr/>
          <p:nvPr/>
        </p:nvSpPr>
        <p:spPr bwMode="auto">
          <a:xfrm>
            <a:off x="2444801" y="3611331"/>
            <a:ext cx="282826" cy="284493"/>
          </a:xfrm>
          <a:prstGeom prst="ellipse">
            <a:avLst/>
          </a:prstGeom>
          <a:solidFill>
            <a:schemeClr val="bg1"/>
          </a:solidFill>
          <a:ln w="9525">
            <a:solidFill>
              <a:schemeClr val="bg1">
                <a:lumMod val="95000"/>
              </a:schemeClr>
            </a:solidFill>
            <a:round/>
          </a:ln>
          <a:effectLst/>
        </p:spPr>
        <p:txBody>
          <a:bodyPr wrap="square" lIns="91440" tIns="45720" rIns="91440" bIns="45720" anchor="ctr">
            <a:noAutofit/>
          </a:bodyPr>
          <a:lstStyle/>
          <a:p>
            <a:pPr algn="ctr">
              <a:defRPr/>
            </a:pPr>
            <a:r>
              <a:rPr lang="en-US" sz="1400" b="1" dirty="0">
                <a:latin typeface="Arial" panose="020B0604020202020204" pitchFamily="34" charset="0"/>
                <a:ea typeface="+mn-ea"/>
              </a:rPr>
              <a:t>1</a:t>
            </a:r>
          </a:p>
        </p:txBody>
      </p:sp>
      <p:sp>
        <p:nvSpPr>
          <p:cNvPr id="32" name="î$lïḋê"/>
          <p:cNvSpPr/>
          <p:nvPr/>
        </p:nvSpPr>
        <p:spPr>
          <a:xfrm>
            <a:off x="1379476" y="4477715"/>
            <a:ext cx="219091" cy="219091"/>
          </a:xfrm>
          <a:prstGeom prst="rect">
            <a:avLst/>
          </a:prstGeom>
          <a:solidFill>
            <a:schemeClr val="bg1">
              <a:lumMod val="75000"/>
            </a:schemeClr>
          </a:solidFill>
          <a:ln w="9525" cap="flat" cmpd="sng" algn="ctr">
            <a:noFill/>
            <a:prstDash val="solid"/>
          </a:ln>
          <a:effectLst/>
        </p:spPr>
        <p:txBody>
          <a:bodyPr anchor="ctr"/>
          <a:lstStyle/>
          <a:p>
            <a:pPr algn="ctr"/>
            <a:endParaRPr dirty="0">
              <a:latin typeface="Arial" panose="020B0604020202020204" pitchFamily="34" charset="0"/>
              <a:ea typeface="+mn-ea"/>
            </a:endParaRPr>
          </a:p>
        </p:txBody>
      </p:sp>
      <p:sp>
        <p:nvSpPr>
          <p:cNvPr id="33" name="íṥḻîḍe"/>
          <p:cNvSpPr/>
          <p:nvPr/>
        </p:nvSpPr>
        <p:spPr>
          <a:xfrm>
            <a:off x="1379476" y="4109822"/>
            <a:ext cx="488392" cy="367892"/>
          </a:xfrm>
          <a:prstGeom prst="parallelogram">
            <a:avLst>
              <a:gd name="adj" fmla="val 74963"/>
            </a:avLst>
          </a:prstGeom>
          <a:solidFill>
            <a:schemeClr val="bg1">
              <a:lumMod val="85000"/>
            </a:schemeClr>
          </a:solidFill>
          <a:ln w="9525" cap="flat" cmpd="sng" algn="ctr">
            <a:noFill/>
            <a:prstDash val="solid"/>
          </a:ln>
          <a:effectLst/>
        </p:spPr>
        <p:txBody>
          <a:bodyPr anchor="ctr"/>
          <a:lstStyle/>
          <a:p>
            <a:pPr algn="ctr"/>
            <a:endParaRPr dirty="0">
              <a:latin typeface="Arial" panose="020B0604020202020204" pitchFamily="34" charset="0"/>
              <a:ea typeface="+mn-ea"/>
            </a:endParaRPr>
          </a:p>
        </p:txBody>
      </p:sp>
      <p:sp>
        <p:nvSpPr>
          <p:cNvPr id="34" name="îslîďè"/>
          <p:cNvSpPr/>
          <p:nvPr/>
        </p:nvSpPr>
        <p:spPr>
          <a:xfrm>
            <a:off x="1552923" y="3490890"/>
            <a:ext cx="419925" cy="621672"/>
          </a:xfrm>
          <a:prstGeom prst="upArrow">
            <a:avLst/>
          </a:prstGeom>
          <a:solidFill>
            <a:schemeClr val="bg1">
              <a:lumMod val="85000"/>
            </a:schemeClr>
          </a:solidFill>
          <a:ln w="9525" cap="flat" cmpd="sng" algn="ctr">
            <a:noFill/>
            <a:prstDash val="solid"/>
          </a:ln>
          <a:effectLst/>
        </p:spPr>
        <p:txBody>
          <a:bodyPr anchor="ctr"/>
          <a:lstStyle/>
          <a:p>
            <a:pPr algn="ctr"/>
            <a:endParaRPr dirty="0">
              <a:latin typeface="Arial" panose="020B0604020202020204" pitchFamily="34" charset="0"/>
              <a:ea typeface="+mn-ea"/>
            </a:endParaRPr>
          </a:p>
        </p:txBody>
      </p:sp>
      <p:grpSp>
        <p:nvGrpSpPr>
          <p:cNvPr id="35" name="işḷîḓè"/>
          <p:cNvGrpSpPr/>
          <p:nvPr/>
        </p:nvGrpSpPr>
        <p:grpSpPr>
          <a:xfrm>
            <a:off x="5447711" y="3117248"/>
            <a:ext cx="2566201" cy="964103"/>
            <a:chOff x="1100707" y="1493347"/>
            <a:chExt cx="2917829" cy="964103"/>
          </a:xfrm>
        </p:grpSpPr>
        <p:sp>
          <p:nvSpPr>
            <p:cNvPr id="36" name="ïšḷïḍê">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03768AC-3D0C-4A22-BB20-2CA82CA4DDD7}"/>
                </a:ext>
              </a:extLst>
            </p:cNvPr>
            <p:cNvSpPr txBox="1"/>
            <p:nvPr/>
          </p:nvSpPr>
          <p:spPr>
            <a:xfrm flipH="1">
              <a:off x="1100707" y="1833613"/>
              <a:ext cx="2505589" cy="62383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en-US" sz="1100" dirty="0">
                  <a:solidFill>
                    <a:schemeClr val="dk1">
                      <a:lumMod val="100000"/>
                    </a:schemeClr>
                  </a:solidFill>
                  <a:latin typeface="Arial" panose="020B0604020202020204" pitchFamily="34" charset="0"/>
                  <a:ea typeface="+mn-ea"/>
                </a:rPr>
                <a:t>Parallel read and write on multiple disks</a:t>
              </a:r>
            </a:p>
          </p:txBody>
        </p:sp>
        <p:sp>
          <p:nvSpPr>
            <p:cNvPr id="37" name="ïŝľiḍe">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78F0334-C8D0-4B66-89BA-616CA316790B}"/>
                </a:ext>
              </a:extLst>
            </p:cNvPr>
            <p:cNvSpPr txBox="1"/>
            <p:nvPr/>
          </p:nvSpPr>
          <p:spPr>
            <a:xfrm flipH="1">
              <a:off x="1100711" y="1493347"/>
              <a:ext cx="2917825"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600" b="1" dirty="0">
                  <a:solidFill>
                    <a:schemeClr val="dk1">
                      <a:lumMod val="100000"/>
                    </a:schemeClr>
                  </a:solidFill>
                  <a:latin typeface="Arial" panose="020B0604020202020204" pitchFamily="34" charset="0"/>
                  <a:ea typeface="+mn-ea"/>
                </a:rPr>
                <a:t>Efficient</a:t>
              </a:r>
            </a:p>
          </p:txBody>
        </p:sp>
      </p:grpSp>
      <p:sp>
        <p:nvSpPr>
          <p:cNvPr id="38" name="ïšľiḋe"/>
          <p:cNvSpPr/>
          <p:nvPr/>
        </p:nvSpPr>
        <p:spPr bwMode="auto">
          <a:xfrm>
            <a:off x="8124707" y="3461889"/>
            <a:ext cx="275204" cy="274820"/>
          </a:xfrm>
          <a:custGeom>
            <a:avLst/>
            <a:gdLst>
              <a:gd name="connsiteX0" fmla="*/ 303432 w 606933"/>
              <a:gd name="connsiteY0" fmla="*/ 462698 h 606088"/>
              <a:gd name="connsiteX1" fmla="*/ 375127 w 606933"/>
              <a:gd name="connsiteY1" fmla="*/ 534393 h 606088"/>
              <a:gd name="connsiteX2" fmla="*/ 303432 w 606933"/>
              <a:gd name="connsiteY2" fmla="*/ 606088 h 606088"/>
              <a:gd name="connsiteX3" fmla="*/ 231737 w 606933"/>
              <a:gd name="connsiteY3" fmla="*/ 534393 h 606088"/>
              <a:gd name="connsiteX4" fmla="*/ 303432 w 606933"/>
              <a:gd name="connsiteY4" fmla="*/ 462698 h 606088"/>
              <a:gd name="connsiteX5" fmla="*/ 303467 w 606933"/>
              <a:gd name="connsiteY5" fmla="*/ 386134 h 606088"/>
              <a:gd name="connsiteX6" fmla="*/ 423957 w 606933"/>
              <a:gd name="connsiteY6" fmla="*/ 437067 h 606088"/>
              <a:gd name="connsiteX7" fmla="*/ 405850 w 606933"/>
              <a:gd name="connsiteY7" fmla="*/ 454653 h 606088"/>
              <a:gd name="connsiteX8" fmla="*/ 303467 w 606933"/>
              <a:gd name="connsiteY8" fmla="*/ 411312 h 606088"/>
              <a:gd name="connsiteX9" fmla="*/ 201084 w 606933"/>
              <a:gd name="connsiteY9" fmla="*/ 454653 h 606088"/>
              <a:gd name="connsiteX10" fmla="*/ 182976 w 606933"/>
              <a:gd name="connsiteY10" fmla="*/ 437067 h 606088"/>
              <a:gd name="connsiteX11" fmla="*/ 303467 w 606933"/>
              <a:gd name="connsiteY11" fmla="*/ 386134 h 606088"/>
              <a:gd name="connsiteX12" fmla="*/ 303479 w 606933"/>
              <a:gd name="connsiteY12" fmla="*/ 306677 h 606088"/>
              <a:gd name="connsiteX13" fmla="*/ 398522 w 606933"/>
              <a:gd name="connsiteY13" fmla="*/ 325726 h 606088"/>
              <a:gd name="connsiteX14" fmla="*/ 478927 w 606933"/>
              <a:gd name="connsiteY14" fmla="*/ 380852 h 606088"/>
              <a:gd name="connsiteX15" fmla="*/ 460824 w 606933"/>
              <a:gd name="connsiteY15" fmla="*/ 398554 h 606088"/>
              <a:gd name="connsiteX16" fmla="*/ 388700 w 606933"/>
              <a:gd name="connsiteY16" fmla="*/ 349008 h 606088"/>
              <a:gd name="connsiteX17" fmla="*/ 218259 w 606933"/>
              <a:gd name="connsiteY17" fmla="*/ 349008 h 606088"/>
              <a:gd name="connsiteX18" fmla="*/ 146039 w 606933"/>
              <a:gd name="connsiteY18" fmla="*/ 398554 h 606088"/>
              <a:gd name="connsiteX19" fmla="*/ 127935 w 606933"/>
              <a:gd name="connsiteY19" fmla="*/ 380852 h 606088"/>
              <a:gd name="connsiteX20" fmla="*/ 208437 w 606933"/>
              <a:gd name="connsiteY20" fmla="*/ 325726 h 606088"/>
              <a:gd name="connsiteX21" fmla="*/ 303479 w 606933"/>
              <a:gd name="connsiteY21" fmla="*/ 306677 h 606088"/>
              <a:gd name="connsiteX22" fmla="*/ 303467 w 606933"/>
              <a:gd name="connsiteY22" fmla="*/ 227080 h 606088"/>
              <a:gd name="connsiteX23" fmla="*/ 534039 w 606933"/>
              <a:gd name="connsiteY23" fmla="*/ 324555 h 606088"/>
              <a:gd name="connsiteX24" fmla="*/ 515932 w 606933"/>
              <a:gd name="connsiteY24" fmla="*/ 342243 h 606088"/>
              <a:gd name="connsiteX25" fmla="*/ 303467 w 606933"/>
              <a:gd name="connsiteY25" fmla="*/ 252266 h 606088"/>
              <a:gd name="connsiteX26" fmla="*/ 91001 w 606933"/>
              <a:gd name="connsiteY26" fmla="*/ 342243 h 606088"/>
              <a:gd name="connsiteX27" fmla="*/ 72894 w 606933"/>
              <a:gd name="connsiteY27" fmla="*/ 324555 h 606088"/>
              <a:gd name="connsiteX28" fmla="*/ 303467 w 606933"/>
              <a:gd name="connsiteY28" fmla="*/ 227080 h 606088"/>
              <a:gd name="connsiteX29" fmla="*/ 380417 w 606933"/>
              <a:gd name="connsiteY29" fmla="*/ 0 h 606088"/>
              <a:gd name="connsiteX30" fmla="*/ 381573 w 606933"/>
              <a:gd name="connsiteY30" fmla="*/ 0 h 606088"/>
              <a:gd name="connsiteX31" fmla="*/ 527383 w 606933"/>
              <a:gd name="connsiteY31" fmla="*/ 133962 h 606088"/>
              <a:gd name="connsiteX32" fmla="*/ 520834 w 606933"/>
              <a:gd name="connsiteY32" fmla="*/ 184931 h 606088"/>
              <a:gd name="connsiteX33" fmla="*/ 606933 w 606933"/>
              <a:gd name="connsiteY33" fmla="*/ 288696 h 606088"/>
              <a:gd name="connsiteX34" fmla="*/ 500994 w 606933"/>
              <a:gd name="connsiteY34" fmla="*/ 394673 h 606088"/>
              <a:gd name="connsiteX35" fmla="*/ 569758 w 606933"/>
              <a:gd name="connsiteY35" fmla="*/ 324952 h 606088"/>
              <a:gd name="connsiteX36" fmla="*/ 552134 w 606933"/>
              <a:gd name="connsiteY36" fmla="*/ 306968 h 606088"/>
              <a:gd name="connsiteX37" fmla="*/ 303467 w 606933"/>
              <a:gd name="connsiteY37" fmla="*/ 201760 h 606088"/>
              <a:gd name="connsiteX38" fmla="*/ 54799 w 606933"/>
              <a:gd name="connsiteY38" fmla="*/ 306968 h 606088"/>
              <a:gd name="connsiteX39" fmla="*/ 37175 w 606933"/>
              <a:gd name="connsiteY39" fmla="*/ 324952 h 606088"/>
              <a:gd name="connsiteX40" fmla="*/ 105939 w 606933"/>
              <a:gd name="connsiteY40" fmla="*/ 394673 h 606088"/>
              <a:gd name="connsiteX41" fmla="*/ 0 w 606933"/>
              <a:gd name="connsiteY41" fmla="*/ 288696 h 606088"/>
              <a:gd name="connsiteX42" fmla="*/ 63949 w 606933"/>
              <a:gd name="connsiteY42" fmla="*/ 191663 h 606088"/>
              <a:gd name="connsiteX43" fmla="*/ 68764 w 606933"/>
              <a:gd name="connsiteY43" fmla="*/ 138963 h 606088"/>
              <a:gd name="connsiteX44" fmla="*/ 162087 w 606933"/>
              <a:gd name="connsiteY44" fmla="*/ 67702 h 606088"/>
              <a:gd name="connsiteX45" fmla="*/ 243178 w 606933"/>
              <a:gd name="connsiteY45" fmla="*/ 91360 h 606088"/>
              <a:gd name="connsiteX46" fmla="*/ 380417 w 606933"/>
              <a:gd name="connsiteY46" fmla="*/ 0 h 60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06933" h="606088">
                <a:moveTo>
                  <a:pt x="303432" y="462698"/>
                </a:moveTo>
                <a:cubicBezTo>
                  <a:pt x="343028" y="462698"/>
                  <a:pt x="375127" y="494797"/>
                  <a:pt x="375127" y="534393"/>
                </a:cubicBezTo>
                <a:cubicBezTo>
                  <a:pt x="375127" y="573989"/>
                  <a:pt x="343028" y="606088"/>
                  <a:pt x="303432" y="606088"/>
                </a:cubicBezTo>
                <a:cubicBezTo>
                  <a:pt x="263836" y="606088"/>
                  <a:pt x="231737" y="573989"/>
                  <a:pt x="231737" y="534393"/>
                </a:cubicBezTo>
                <a:cubicBezTo>
                  <a:pt x="231737" y="494797"/>
                  <a:pt x="263836" y="462698"/>
                  <a:pt x="303432" y="462698"/>
                </a:cubicBezTo>
                <a:close/>
                <a:moveTo>
                  <a:pt x="303467" y="386134"/>
                </a:moveTo>
                <a:cubicBezTo>
                  <a:pt x="348928" y="386134"/>
                  <a:pt x="391788" y="404201"/>
                  <a:pt x="423957" y="437067"/>
                </a:cubicBezTo>
                <a:lnTo>
                  <a:pt x="405850" y="454653"/>
                </a:lnTo>
                <a:cubicBezTo>
                  <a:pt x="378496" y="426784"/>
                  <a:pt x="342089" y="411312"/>
                  <a:pt x="303467" y="411312"/>
                </a:cubicBezTo>
                <a:cubicBezTo>
                  <a:pt x="264748" y="411312"/>
                  <a:pt x="228437" y="426784"/>
                  <a:pt x="201084" y="454653"/>
                </a:cubicBezTo>
                <a:lnTo>
                  <a:pt x="182976" y="437067"/>
                </a:lnTo>
                <a:cubicBezTo>
                  <a:pt x="215146" y="404201"/>
                  <a:pt x="257910" y="386134"/>
                  <a:pt x="303467" y="386134"/>
                </a:cubicBezTo>
                <a:close/>
                <a:moveTo>
                  <a:pt x="303479" y="306677"/>
                </a:moveTo>
                <a:cubicBezTo>
                  <a:pt x="335955" y="306677"/>
                  <a:pt x="368430" y="313027"/>
                  <a:pt x="398522" y="325726"/>
                </a:cubicBezTo>
                <a:cubicBezTo>
                  <a:pt x="428565" y="338521"/>
                  <a:pt x="455624" y="357089"/>
                  <a:pt x="478927" y="380852"/>
                </a:cubicBezTo>
                <a:lnTo>
                  <a:pt x="460824" y="398554"/>
                </a:lnTo>
                <a:cubicBezTo>
                  <a:pt x="439928" y="377100"/>
                  <a:pt x="415662" y="360456"/>
                  <a:pt x="388700" y="349008"/>
                </a:cubicBezTo>
                <a:cubicBezTo>
                  <a:pt x="334775" y="326207"/>
                  <a:pt x="272184" y="326207"/>
                  <a:pt x="218259" y="349008"/>
                </a:cubicBezTo>
                <a:cubicBezTo>
                  <a:pt x="191297" y="360456"/>
                  <a:pt x="167031" y="377100"/>
                  <a:pt x="146039" y="398554"/>
                </a:cubicBezTo>
                <a:lnTo>
                  <a:pt x="127935" y="380852"/>
                </a:lnTo>
                <a:cubicBezTo>
                  <a:pt x="151238" y="357089"/>
                  <a:pt x="178297" y="338521"/>
                  <a:pt x="208437" y="325726"/>
                </a:cubicBezTo>
                <a:cubicBezTo>
                  <a:pt x="238529" y="313027"/>
                  <a:pt x="271004" y="306677"/>
                  <a:pt x="303479" y="306677"/>
                </a:cubicBezTo>
                <a:close/>
                <a:moveTo>
                  <a:pt x="303467" y="227080"/>
                </a:moveTo>
                <a:cubicBezTo>
                  <a:pt x="390533" y="227080"/>
                  <a:pt x="472399" y="261687"/>
                  <a:pt x="534039" y="324555"/>
                </a:cubicBezTo>
                <a:lnTo>
                  <a:pt x="515932" y="342243"/>
                </a:lnTo>
                <a:cubicBezTo>
                  <a:pt x="459108" y="284181"/>
                  <a:pt x="383695" y="252266"/>
                  <a:pt x="303467" y="252266"/>
                </a:cubicBezTo>
                <a:cubicBezTo>
                  <a:pt x="223238" y="252266"/>
                  <a:pt x="147729" y="284181"/>
                  <a:pt x="91001" y="342243"/>
                </a:cubicBezTo>
                <a:lnTo>
                  <a:pt x="72894" y="324555"/>
                </a:lnTo>
                <a:cubicBezTo>
                  <a:pt x="134438" y="261687"/>
                  <a:pt x="216304" y="227080"/>
                  <a:pt x="303467" y="227080"/>
                </a:cubicBezTo>
                <a:close/>
                <a:moveTo>
                  <a:pt x="380417" y="0"/>
                </a:moveTo>
                <a:lnTo>
                  <a:pt x="381573" y="0"/>
                </a:lnTo>
                <a:cubicBezTo>
                  <a:pt x="457463" y="481"/>
                  <a:pt x="522856" y="60586"/>
                  <a:pt x="527383" y="133962"/>
                </a:cubicBezTo>
                <a:cubicBezTo>
                  <a:pt x="528346" y="151368"/>
                  <a:pt x="526227" y="168583"/>
                  <a:pt x="520834" y="184931"/>
                </a:cubicBezTo>
                <a:cubicBezTo>
                  <a:pt x="569758" y="194259"/>
                  <a:pt x="606933" y="237246"/>
                  <a:pt x="606933" y="288696"/>
                </a:cubicBezTo>
                <a:cubicBezTo>
                  <a:pt x="606933" y="347166"/>
                  <a:pt x="559357" y="394673"/>
                  <a:pt x="500994" y="394673"/>
                </a:cubicBezTo>
                <a:lnTo>
                  <a:pt x="569758" y="324952"/>
                </a:lnTo>
                <a:lnTo>
                  <a:pt x="552134" y="306968"/>
                </a:lnTo>
                <a:cubicBezTo>
                  <a:pt x="485681" y="239170"/>
                  <a:pt x="397367" y="201760"/>
                  <a:pt x="303467" y="201760"/>
                </a:cubicBezTo>
                <a:cubicBezTo>
                  <a:pt x="209470" y="201760"/>
                  <a:pt x="121156" y="239170"/>
                  <a:pt x="54799" y="306968"/>
                </a:cubicBezTo>
                <a:lnTo>
                  <a:pt x="37175" y="324952"/>
                </a:lnTo>
                <a:lnTo>
                  <a:pt x="105939" y="394673"/>
                </a:lnTo>
                <a:cubicBezTo>
                  <a:pt x="47480" y="394673"/>
                  <a:pt x="0" y="347166"/>
                  <a:pt x="0" y="288696"/>
                </a:cubicBezTo>
                <a:cubicBezTo>
                  <a:pt x="0" y="245325"/>
                  <a:pt x="26389" y="207915"/>
                  <a:pt x="63949" y="191663"/>
                </a:cubicBezTo>
                <a:cubicBezTo>
                  <a:pt x="60963" y="173872"/>
                  <a:pt x="62312" y="156177"/>
                  <a:pt x="68764" y="138963"/>
                </a:cubicBezTo>
                <a:cubicBezTo>
                  <a:pt x="83596" y="99630"/>
                  <a:pt x="120096" y="71741"/>
                  <a:pt x="162087" y="67702"/>
                </a:cubicBezTo>
                <a:cubicBezTo>
                  <a:pt x="191653" y="65010"/>
                  <a:pt x="220642" y="73569"/>
                  <a:pt x="243178" y="91360"/>
                </a:cubicBezTo>
                <a:cubicBezTo>
                  <a:pt x="264655" y="37217"/>
                  <a:pt x="319261" y="0"/>
                  <a:pt x="380417" y="0"/>
                </a:cubicBezTo>
                <a:close/>
              </a:path>
            </a:pathLst>
          </a:custGeom>
          <a:solidFill>
            <a:schemeClr val="bg1"/>
          </a:solidFill>
          <a:ln>
            <a:noFill/>
          </a:ln>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dirty="0">
              <a:latin typeface="Arial" panose="020B0604020202020204" pitchFamily="34" charset="0"/>
              <a:ea typeface="+mn-ea"/>
            </a:endParaRPr>
          </a:p>
        </p:txBody>
      </p:sp>
      <p:grpSp>
        <p:nvGrpSpPr>
          <p:cNvPr id="39" name="ïṧľïḓè"/>
          <p:cNvGrpSpPr/>
          <p:nvPr/>
        </p:nvGrpSpPr>
        <p:grpSpPr>
          <a:xfrm>
            <a:off x="8603873" y="3117248"/>
            <a:ext cx="2566201" cy="964103"/>
            <a:chOff x="1100707" y="1493347"/>
            <a:chExt cx="2917829" cy="964103"/>
          </a:xfrm>
        </p:grpSpPr>
        <p:sp>
          <p:nvSpPr>
            <p:cNvPr id="40" name="ïşļï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303768AC-3D0C-4A22-BB20-2CA82CA4DDD7}"/>
                </a:ext>
              </a:extLst>
            </p:cNvPr>
            <p:cNvSpPr txBox="1"/>
            <p:nvPr/>
          </p:nvSpPr>
          <p:spPr>
            <a:xfrm flipH="1">
              <a:off x="1100707" y="1833613"/>
              <a:ext cx="2917825" cy="62383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en-US" sz="1100" dirty="0">
                  <a:solidFill>
                    <a:schemeClr val="dk1">
                      <a:lumMod val="100000"/>
                    </a:schemeClr>
                  </a:solidFill>
                  <a:latin typeface="Arial" panose="020B0604020202020204" pitchFamily="34" charset="0"/>
                  <a:ea typeface="+mn-ea"/>
                </a:rPr>
                <a:t>Parity check and hot backup</a:t>
              </a:r>
            </a:p>
          </p:txBody>
        </p:sp>
        <p:sp>
          <p:nvSpPr>
            <p:cNvPr id="41" name="ïṥḷïḓé">
              <a:extLst>
                <a:ext uri="{FF2B5EF4-FFF2-40B4-BE49-F238E27FC236}">
                  <a16:creationId xmlns:a14="http://schemas.microsoft.com/office/drawing/2010/main" xmlns:p14="http://schemas.microsoft.com/office/powerpoint/2010/main" xmlns:a16="http://schemas.microsoft.com/office/drawing/2014/main" xmlns:lc="http://schemas.openxmlformats.org/drawingml/2006/lockedCanvas" xmlns="" id="{A78F0334-C8D0-4B66-89BA-616CA316790B}"/>
                </a:ext>
              </a:extLst>
            </p:cNvPr>
            <p:cNvSpPr txBox="1"/>
            <p:nvPr/>
          </p:nvSpPr>
          <p:spPr>
            <a:xfrm flipH="1">
              <a:off x="1100711" y="1493347"/>
              <a:ext cx="2917825" cy="340265"/>
            </a:xfrm>
            <a:prstGeom prst="rect">
              <a:avLst/>
            </a:prstGeom>
            <a:noFill/>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en-US" sz="1600" b="1" dirty="0">
                  <a:solidFill>
                    <a:schemeClr val="dk1">
                      <a:lumMod val="100000"/>
                    </a:schemeClr>
                  </a:solidFill>
                  <a:latin typeface="Arial" panose="020B0604020202020204" pitchFamily="34" charset="0"/>
                  <a:ea typeface="+mn-ea"/>
                </a:rPr>
                <a:t>Safe</a:t>
              </a:r>
            </a:p>
          </p:txBody>
        </p:sp>
      </p:grpSp>
      <p:cxnSp>
        <p:nvCxnSpPr>
          <p:cNvPr id="42" name="直接连接符 41"/>
          <p:cNvCxnSpPr/>
          <p:nvPr/>
        </p:nvCxnSpPr>
        <p:spPr>
          <a:xfrm>
            <a:off x="7875783" y="3204303"/>
            <a:ext cx="0" cy="789992"/>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43" name="组合 42"/>
          <p:cNvGrpSpPr>
            <a:grpSpLocks noChangeAspect="1"/>
          </p:cNvGrpSpPr>
          <p:nvPr/>
        </p:nvGrpSpPr>
        <p:grpSpPr>
          <a:xfrm>
            <a:off x="2136292" y="2612195"/>
            <a:ext cx="827360" cy="816805"/>
            <a:chOff x="5208793" y="3507054"/>
            <a:chExt cx="1654720" cy="1633609"/>
          </a:xfrm>
        </p:grpSpPr>
        <p:sp>
          <p:nvSpPr>
            <p:cNvPr id="44" name="69bb4464-0d01-4ac0-bd5d-421007b9caf5"/>
            <p:cNvSpPr>
              <a:spLocks noChangeArrowheads="1"/>
            </p:cNvSpPr>
            <p:nvPr/>
          </p:nvSpPr>
          <p:spPr bwMode="auto">
            <a:xfrm>
              <a:off x="5237367" y="3507055"/>
              <a:ext cx="1626146" cy="1623330"/>
            </a:xfrm>
            <a:prstGeom prst="ellipse">
              <a:avLst/>
            </a:prstGeom>
            <a:solidFill>
              <a:schemeClr val="accent2"/>
            </a:solidFill>
            <a:ln w="6350">
              <a:solidFill>
                <a:schemeClr val="accent2"/>
              </a:solidFill>
              <a:round/>
              <a:headEnd/>
              <a:tailEnd/>
            </a:ln>
            <a:effectLst>
              <a:outerShdw dist="35921" dir="2700000" algn="ctr" rotWithShape="0">
                <a:schemeClr val="hlink"/>
              </a:outerShdw>
            </a:effectLst>
          </p:spPr>
          <p:txBody>
            <a:bodyPr wrap="none" lIns="72000" tIns="0" rIns="0" bIns="0"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endParaRPr lang="en-US" altLang="zh-CN" dirty="0">
                <a:latin typeface="Arial" panose="020B0604020202020204" pitchFamily="34" charset="0"/>
                <a:ea typeface="+mn-ea"/>
              </a:endParaRPr>
            </a:p>
          </p:txBody>
        </p:sp>
        <p:sp>
          <p:nvSpPr>
            <p:cNvPr id="45" name="0e73125a-d05f-4187-bf4c-7d4348a3561a"/>
            <p:cNvSpPr>
              <a:spLocks noChangeArrowheads="1"/>
            </p:cNvSpPr>
            <p:nvPr/>
          </p:nvSpPr>
          <p:spPr bwMode="gray">
            <a:xfrm>
              <a:off x="5208793" y="3517322"/>
              <a:ext cx="1574289" cy="1611323"/>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endParaRPr lang="en-US" altLang="zh-CN" dirty="0">
                <a:latin typeface="Arial" panose="020B0604020202020204" pitchFamily="34" charset="0"/>
                <a:ea typeface="+mn-ea"/>
              </a:endParaRPr>
            </a:p>
          </p:txBody>
        </p:sp>
        <p:sp>
          <p:nvSpPr>
            <p:cNvPr id="46" name="d4b55255-712f-40aa-8e8a-a3f7e82010c6"/>
            <p:cNvSpPr>
              <a:spLocks noChangeArrowheads="1"/>
            </p:cNvSpPr>
            <p:nvPr/>
          </p:nvSpPr>
          <p:spPr bwMode="gray">
            <a:xfrm>
              <a:off x="5226256" y="3525537"/>
              <a:ext cx="1535622" cy="1573409"/>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endParaRPr lang="en-US" altLang="zh-CN" dirty="0">
                <a:latin typeface="Arial" panose="020B0604020202020204" pitchFamily="34" charset="0"/>
                <a:ea typeface="+mn-ea"/>
              </a:endParaRPr>
            </a:p>
          </p:txBody>
        </p:sp>
        <p:sp>
          <p:nvSpPr>
            <p:cNvPr id="47" name="0dbdd1e9-14a2-4a2b-985b-d49e4b34582f"/>
            <p:cNvSpPr>
              <a:spLocks noChangeArrowheads="1"/>
            </p:cNvSpPr>
            <p:nvPr/>
          </p:nvSpPr>
          <p:spPr bwMode="gray">
            <a:xfrm>
              <a:off x="5286581" y="3673411"/>
              <a:ext cx="1461971" cy="146725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endParaRPr lang="en-US" altLang="zh-CN" dirty="0">
                <a:latin typeface="Arial" panose="020B0604020202020204" pitchFamily="34" charset="0"/>
                <a:ea typeface="+mn-ea"/>
              </a:endParaRPr>
            </a:p>
          </p:txBody>
        </p:sp>
        <p:sp>
          <p:nvSpPr>
            <p:cNvPr id="48" name="18b3b593-d7a8-4478-a7bd-b913ec7d4527"/>
            <p:cNvSpPr>
              <a:spLocks noChangeArrowheads="1"/>
            </p:cNvSpPr>
            <p:nvPr/>
          </p:nvSpPr>
          <p:spPr bwMode="gray">
            <a:xfrm>
              <a:off x="5286580" y="3507054"/>
              <a:ext cx="1308963" cy="1304139"/>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just" eaLnBrk="1" hangingPunct="1"/>
              <a:endParaRPr lang="en-US" altLang="zh-CN" dirty="0">
                <a:latin typeface="Arial" panose="020B0604020202020204" pitchFamily="34" charset="0"/>
                <a:ea typeface="+mn-ea"/>
              </a:endParaRPr>
            </a:p>
          </p:txBody>
        </p:sp>
        <p:sp>
          <p:nvSpPr>
            <p:cNvPr id="49" name="af839310-50c7-40ee-ae30-b71b421c686f"/>
            <p:cNvSpPr txBox="1">
              <a:spLocks noChangeArrowheads="1"/>
            </p:cNvSpPr>
            <p:nvPr/>
          </p:nvSpPr>
          <p:spPr bwMode="gray">
            <a:xfrm>
              <a:off x="5523649" y="4047202"/>
              <a:ext cx="1260476" cy="615554"/>
            </a:xfrm>
            <a:prstGeom prst="rect">
              <a:avLst/>
            </a:prstGeom>
            <a:noFill/>
            <a:ln w="9525" algn="ctr">
              <a:noFill/>
              <a:miter lim="800000"/>
              <a:headEnd/>
              <a:tailEnd/>
            </a:ln>
          </p:spPr>
          <p:txBody>
            <a:bodyPr>
              <a:spAutoFit/>
            </a:bodyPr>
            <a:lstStyle/>
            <a:p>
              <a:pPr algn="just" defTabSz="801688">
                <a:spcBef>
                  <a:spcPct val="50000"/>
                </a:spcBef>
                <a:defRPr/>
              </a:pPr>
              <a:r>
                <a:rPr lang="en-US" sz="1400" dirty="0">
                  <a:latin typeface="Arial" panose="020B0604020202020204" pitchFamily="34" charset="0"/>
                  <a:ea typeface="+mn-ea"/>
                  <a:cs typeface="Arial" panose="020B0604020202020204" pitchFamily="34" charset="0"/>
                </a:rPr>
                <a:t>RAID</a:t>
              </a:r>
            </a:p>
          </p:txBody>
        </p:sp>
      </p:grpSp>
      <p:sp>
        <p:nvSpPr>
          <p:cNvPr id="50" name="speed_249167"/>
          <p:cNvSpPr>
            <a:spLocks noChangeAspect="1"/>
          </p:cNvSpPr>
          <p:nvPr/>
        </p:nvSpPr>
        <p:spPr bwMode="auto">
          <a:xfrm>
            <a:off x="4774364" y="3284984"/>
            <a:ext cx="601556" cy="609685"/>
          </a:xfrm>
          <a:custGeom>
            <a:avLst/>
            <a:gdLst>
              <a:gd name="connsiteX0" fmla="*/ 334339 w 600582"/>
              <a:gd name="connsiteY0" fmla="*/ 540037 h 608697"/>
              <a:gd name="connsiteX1" fmla="*/ 353956 w 600582"/>
              <a:gd name="connsiteY1" fmla="*/ 540037 h 608697"/>
              <a:gd name="connsiteX2" fmla="*/ 353956 w 600582"/>
              <a:gd name="connsiteY2" fmla="*/ 559654 h 608697"/>
              <a:gd name="connsiteX3" fmla="*/ 334339 w 600582"/>
              <a:gd name="connsiteY3" fmla="*/ 559654 h 608697"/>
              <a:gd name="connsiteX4" fmla="*/ 294963 w 600582"/>
              <a:gd name="connsiteY4" fmla="*/ 540037 h 608697"/>
              <a:gd name="connsiteX5" fmla="*/ 314651 w 600582"/>
              <a:gd name="connsiteY5" fmla="*/ 540037 h 608697"/>
              <a:gd name="connsiteX6" fmla="*/ 314651 w 600582"/>
              <a:gd name="connsiteY6" fmla="*/ 559654 h 608697"/>
              <a:gd name="connsiteX7" fmla="*/ 294963 w 600582"/>
              <a:gd name="connsiteY7" fmla="*/ 559654 h 608697"/>
              <a:gd name="connsiteX8" fmla="*/ 255658 w 600582"/>
              <a:gd name="connsiteY8" fmla="*/ 540037 h 608697"/>
              <a:gd name="connsiteX9" fmla="*/ 275346 w 600582"/>
              <a:gd name="connsiteY9" fmla="*/ 540037 h 608697"/>
              <a:gd name="connsiteX10" fmla="*/ 275346 w 600582"/>
              <a:gd name="connsiteY10" fmla="*/ 559654 h 608697"/>
              <a:gd name="connsiteX11" fmla="*/ 255658 w 600582"/>
              <a:gd name="connsiteY11" fmla="*/ 559654 h 608697"/>
              <a:gd name="connsiteX12" fmla="*/ 345970 w 600582"/>
              <a:gd name="connsiteY12" fmla="*/ 436094 h 608697"/>
              <a:gd name="connsiteX13" fmla="*/ 361930 w 600582"/>
              <a:gd name="connsiteY13" fmla="*/ 447516 h 608697"/>
              <a:gd name="connsiteX14" fmla="*/ 312758 w 600582"/>
              <a:gd name="connsiteY14" fmla="*/ 516327 h 608697"/>
              <a:gd name="connsiteX15" fmla="*/ 296798 w 600582"/>
              <a:gd name="connsiteY15" fmla="*/ 504904 h 608697"/>
              <a:gd name="connsiteX16" fmla="*/ 304818 w 600582"/>
              <a:gd name="connsiteY16" fmla="*/ 353462 h 608697"/>
              <a:gd name="connsiteX17" fmla="*/ 412948 w 600582"/>
              <a:gd name="connsiteY17" fmla="*/ 461455 h 608697"/>
              <a:gd name="connsiteX18" fmla="*/ 412948 w 600582"/>
              <a:gd name="connsiteY18" fmla="*/ 471306 h 608697"/>
              <a:gd name="connsiteX19" fmla="*/ 403085 w 600582"/>
              <a:gd name="connsiteY19" fmla="*/ 471306 h 608697"/>
              <a:gd name="connsiteX20" fmla="*/ 393313 w 600582"/>
              <a:gd name="connsiteY20" fmla="*/ 471306 h 608697"/>
              <a:gd name="connsiteX21" fmla="*/ 383450 w 600582"/>
              <a:gd name="connsiteY21" fmla="*/ 471306 h 608697"/>
              <a:gd name="connsiteX22" fmla="*/ 383450 w 600582"/>
              <a:gd name="connsiteY22" fmla="*/ 451696 h 608697"/>
              <a:gd name="connsiteX23" fmla="*/ 392668 w 600582"/>
              <a:gd name="connsiteY23" fmla="*/ 451696 h 608697"/>
              <a:gd name="connsiteX24" fmla="*/ 385847 w 600582"/>
              <a:gd name="connsiteY24" fmla="*/ 426102 h 608697"/>
              <a:gd name="connsiteX25" fmla="*/ 377827 w 600582"/>
              <a:gd name="connsiteY25" fmla="*/ 430705 h 608697"/>
              <a:gd name="connsiteX26" fmla="*/ 367963 w 600582"/>
              <a:gd name="connsiteY26" fmla="*/ 413673 h 608697"/>
              <a:gd name="connsiteX27" fmla="*/ 375891 w 600582"/>
              <a:gd name="connsiteY27" fmla="*/ 409161 h 608697"/>
              <a:gd name="connsiteX28" fmla="*/ 357178 w 600582"/>
              <a:gd name="connsiteY28" fmla="*/ 390472 h 608697"/>
              <a:gd name="connsiteX29" fmla="*/ 352661 w 600582"/>
              <a:gd name="connsiteY29" fmla="*/ 398390 h 608697"/>
              <a:gd name="connsiteX30" fmla="*/ 335607 w 600582"/>
              <a:gd name="connsiteY30" fmla="*/ 388539 h 608697"/>
              <a:gd name="connsiteX31" fmla="*/ 340216 w 600582"/>
              <a:gd name="connsiteY31" fmla="*/ 380529 h 608697"/>
              <a:gd name="connsiteX32" fmla="*/ 314589 w 600582"/>
              <a:gd name="connsiteY32" fmla="*/ 373716 h 608697"/>
              <a:gd name="connsiteX33" fmla="*/ 314589 w 600582"/>
              <a:gd name="connsiteY33" fmla="*/ 382923 h 608697"/>
              <a:gd name="connsiteX34" fmla="*/ 294954 w 600582"/>
              <a:gd name="connsiteY34" fmla="*/ 382923 h 608697"/>
              <a:gd name="connsiteX35" fmla="*/ 294954 w 600582"/>
              <a:gd name="connsiteY35" fmla="*/ 373716 h 608697"/>
              <a:gd name="connsiteX36" fmla="*/ 269327 w 600582"/>
              <a:gd name="connsiteY36" fmla="*/ 380529 h 608697"/>
              <a:gd name="connsiteX37" fmla="*/ 273937 w 600582"/>
              <a:gd name="connsiteY37" fmla="*/ 388539 h 608697"/>
              <a:gd name="connsiteX38" fmla="*/ 256975 w 600582"/>
              <a:gd name="connsiteY38" fmla="*/ 398390 h 608697"/>
              <a:gd name="connsiteX39" fmla="*/ 252365 w 600582"/>
              <a:gd name="connsiteY39" fmla="*/ 390472 h 608697"/>
              <a:gd name="connsiteX40" fmla="*/ 233652 w 600582"/>
              <a:gd name="connsiteY40" fmla="*/ 409161 h 608697"/>
              <a:gd name="connsiteX41" fmla="*/ 241580 w 600582"/>
              <a:gd name="connsiteY41" fmla="*/ 413673 h 608697"/>
              <a:gd name="connsiteX42" fmla="*/ 231716 w 600582"/>
              <a:gd name="connsiteY42" fmla="*/ 430705 h 608697"/>
              <a:gd name="connsiteX43" fmla="*/ 223696 w 600582"/>
              <a:gd name="connsiteY43" fmla="*/ 426102 h 608697"/>
              <a:gd name="connsiteX44" fmla="*/ 216875 w 600582"/>
              <a:gd name="connsiteY44" fmla="*/ 451696 h 608697"/>
              <a:gd name="connsiteX45" fmla="*/ 226093 w 600582"/>
              <a:gd name="connsiteY45" fmla="*/ 451696 h 608697"/>
              <a:gd name="connsiteX46" fmla="*/ 226093 w 600582"/>
              <a:gd name="connsiteY46" fmla="*/ 471306 h 608697"/>
              <a:gd name="connsiteX47" fmla="*/ 216322 w 600582"/>
              <a:gd name="connsiteY47" fmla="*/ 471306 h 608697"/>
              <a:gd name="connsiteX48" fmla="*/ 206458 w 600582"/>
              <a:gd name="connsiteY48" fmla="*/ 471306 h 608697"/>
              <a:gd name="connsiteX49" fmla="*/ 196595 w 600582"/>
              <a:gd name="connsiteY49" fmla="*/ 471306 h 608697"/>
              <a:gd name="connsiteX50" fmla="*/ 196595 w 600582"/>
              <a:gd name="connsiteY50" fmla="*/ 461455 h 608697"/>
              <a:gd name="connsiteX51" fmla="*/ 304818 w 600582"/>
              <a:gd name="connsiteY51" fmla="*/ 353462 h 608697"/>
              <a:gd name="connsiteX52" fmla="*/ 0 w 600582"/>
              <a:gd name="connsiteY52" fmla="*/ 353462 h 608697"/>
              <a:gd name="connsiteX53" fmla="*/ 19617 w 600582"/>
              <a:gd name="connsiteY53" fmla="*/ 353462 h 608697"/>
              <a:gd name="connsiteX54" fmla="*/ 19617 w 600582"/>
              <a:gd name="connsiteY54" fmla="*/ 373079 h 608697"/>
              <a:gd name="connsiteX55" fmla="*/ 0 w 600582"/>
              <a:gd name="connsiteY55" fmla="*/ 373079 h 608697"/>
              <a:gd name="connsiteX56" fmla="*/ 304861 w 600582"/>
              <a:gd name="connsiteY56" fmla="*/ 333850 h 608697"/>
              <a:gd name="connsiteX57" fmla="*/ 177003 w 600582"/>
              <a:gd name="connsiteY57" fmla="*/ 461425 h 608697"/>
              <a:gd name="connsiteX58" fmla="*/ 304861 w 600582"/>
              <a:gd name="connsiteY58" fmla="*/ 589092 h 608697"/>
              <a:gd name="connsiteX59" fmla="*/ 432626 w 600582"/>
              <a:gd name="connsiteY59" fmla="*/ 461425 h 608697"/>
              <a:gd name="connsiteX60" fmla="*/ 304861 w 600582"/>
              <a:gd name="connsiteY60" fmla="*/ 333850 h 608697"/>
              <a:gd name="connsiteX61" fmla="*/ 294779 w 600582"/>
              <a:gd name="connsiteY61" fmla="*/ 193288 h 608697"/>
              <a:gd name="connsiteX62" fmla="*/ 270076 w 600582"/>
              <a:gd name="connsiteY62" fmla="*/ 206728 h 608697"/>
              <a:gd name="connsiteX63" fmla="*/ 316072 w 600582"/>
              <a:gd name="connsiteY63" fmla="*/ 252664 h 608697"/>
              <a:gd name="connsiteX64" fmla="*/ 235786 w 600582"/>
              <a:gd name="connsiteY64" fmla="*/ 262698 h 608697"/>
              <a:gd name="connsiteX65" fmla="*/ 226107 w 600582"/>
              <a:gd name="connsiteY65" fmla="*/ 273653 h 608697"/>
              <a:gd name="connsiteX66" fmla="*/ 237168 w 600582"/>
              <a:gd name="connsiteY66" fmla="*/ 284699 h 608697"/>
              <a:gd name="connsiteX67" fmla="*/ 253299 w 600582"/>
              <a:gd name="connsiteY67" fmla="*/ 283871 h 608697"/>
              <a:gd name="connsiteX68" fmla="*/ 326395 w 600582"/>
              <a:gd name="connsiteY68" fmla="*/ 275770 h 608697"/>
              <a:gd name="connsiteX69" fmla="*/ 333493 w 600582"/>
              <a:gd name="connsiteY69" fmla="*/ 247509 h 608697"/>
              <a:gd name="connsiteX70" fmla="*/ 549882 w 600582"/>
              <a:gd name="connsiteY70" fmla="*/ 172956 h 608697"/>
              <a:gd name="connsiteX71" fmla="*/ 600582 w 600582"/>
              <a:gd name="connsiteY71" fmla="*/ 294547 h 608697"/>
              <a:gd name="connsiteX72" fmla="*/ 549882 w 600582"/>
              <a:gd name="connsiteY72" fmla="*/ 416139 h 608697"/>
              <a:gd name="connsiteX73" fmla="*/ 531722 w 600582"/>
              <a:gd name="connsiteY73" fmla="*/ 408591 h 608697"/>
              <a:gd name="connsiteX74" fmla="*/ 546563 w 600582"/>
              <a:gd name="connsiteY74" fmla="*/ 373062 h 608697"/>
              <a:gd name="connsiteX75" fmla="*/ 422578 w 600582"/>
              <a:gd name="connsiteY75" fmla="*/ 373062 h 608697"/>
              <a:gd name="connsiteX76" fmla="*/ 452353 w 600582"/>
              <a:gd name="connsiteY76" fmla="*/ 461425 h 608697"/>
              <a:gd name="connsiteX77" fmla="*/ 304861 w 600582"/>
              <a:gd name="connsiteY77" fmla="*/ 608697 h 608697"/>
              <a:gd name="connsiteX78" fmla="*/ 157368 w 600582"/>
              <a:gd name="connsiteY78" fmla="*/ 461425 h 608697"/>
              <a:gd name="connsiteX79" fmla="*/ 187143 w 600582"/>
              <a:gd name="connsiteY79" fmla="*/ 373062 h 608697"/>
              <a:gd name="connsiteX80" fmla="*/ 39375 w 600582"/>
              <a:gd name="connsiteY80" fmla="*/ 373062 h 608697"/>
              <a:gd name="connsiteX81" fmla="*/ 39375 w 600582"/>
              <a:gd name="connsiteY81" fmla="*/ 353456 h 608697"/>
              <a:gd name="connsiteX82" fmla="*/ 204842 w 600582"/>
              <a:gd name="connsiteY82" fmla="*/ 353456 h 608697"/>
              <a:gd name="connsiteX83" fmla="*/ 304861 w 600582"/>
              <a:gd name="connsiteY83" fmla="*/ 314153 h 608697"/>
              <a:gd name="connsiteX84" fmla="*/ 404787 w 600582"/>
              <a:gd name="connsiteY84" fmla="*/ 353456 h 608697"/>
              <a:gd name="connsiteX85" fmla="*/ 554768 w 600582"/>
              <a:gd name="connsiteY85" fmla="*/ 353456 h 608697"/>
              <a:gd name="connsiteX86" fmla="*/ 579288 w 600582"/>
              <a:gd name="connsiteY86" fmla="*/ 294547 h 608697"/>
              <a:gd name="connsiteX87" fmla="*/ 554768 w 600582"/>
              <a:gd name="connsiteY87" fmla="*/ 235638 h 608697"/>
              <a:gd name="connsiteX88" fmla="*/ 481851 w 600582"/>
              <a:gd name="connsiteY88" fmla="*/ 235638 h 608697"/>
              <a:gd name="connsiteX89" fmla="*/ 481851 w 600582"/>
              <a:gd name="connsiteY89" fmla="*/ 216033 h 608697"/>
              <a:gd name="connsiteX90" fmla="*/ 546563 w 600582"/>
              <a:gd name="connsiteY90" fmla="*/ 216033 h 608697"/>
              <a:gd name="connsiteX91" fmla="*/ 531722 w 600582"/>
              <a:gd name="connsiteY91" fmla="*/ 180503 h 608697"/>
              <a:gd name="connsiteX92" fmla="*/ 39375 w 600582"/>
              <a:gd name="connsiteY92" fmla="*/ 147270 h 608697"/>
              <a:gd name="connsiteX93" fmla="*/ 137602 w 600582"/>
              <a:gd name="connsiteY93" fmla="*/ 147270 h 608697"/>
              <a:gd name="connsiteX94" fmla="*/ 137602 w 600582"/>
              <a:gd name="connsiteY94" fmla="*/ 166887 h 608697"/>
              <a:gd name="connsiteX95" fmla="*/ 39375 w 600582"/>
              <a:gd name="connsiteY95" fmla="*/ 166887 h 608697"/>
              <a:gd name="connsiteX96" fmla="*/ 0 w 600582"/>
              <a:gd name="connsiteY96" fmla="*/ 147270 h 608697"/>
              <a:gd name="connsiteX97" fmla="*/ 19617 w 600582"/>
              <a:gd name="connsiteY97" fmla="*/ 147270 h 608697"/>
              <a:gd name="connsiteX98" fmla="*/ 19617 w 600582"/>
              <a:gd name="connsiteY98" fmla="*/ 166887 h 608697"/>
              <a:gd name="connsiteX99" fmla="*/ 0 w 600582"/>
              <a:gd name="connsiteY99" fmla="*/ 166887 h 608697"/>
              <a:gd name="connsiteX100" fmla="*/ 58993 w 600582"/>
              <a:gd name="connsiteY100" fmla="*/ 107965 h 608697"/>
              <a:gd name="connsiteX101" fmla="*/ 167099 w 600582"/>
              <a:gd name="connsiteY101" fmla="*/ 107965 h 608697"/>
              <a:gd name="connsiteX102" fmla="*/ 167099 w 600582"/>
              <a:gd name="connsiteY102" fmla="*/ 127653 h 608697"/>
              <a:gd name="connsiteX103" fmla="*/ 58993 w 600582"/>
              <a:gd name="connsiteY103" fmla="*/ 127653 h 608697"/>
              <a:gd name="connsiteX104" fmla="*/ 19617 w 600582"/>
              <a:gd name="connsiteY104" fmla="*/ 107965 h 608697"/>
              <a:gd name="connsiteX105" fmla="*/ 39375 w 600582"/>
              <a:gd name="connsiteY105" fmla="*/ 107965 h 608697"/>
              <a:gd name="connsiteX106" fmla="*/ 39375 w 600582"/>
              <a:gd name="connsiteY106" fmla="*/ 127653 h 608697"/>
              <a:gd name="connsiteX107" fmla="*/ 19617 w 600582"/>
              <a:gd name="connsiteY107" fmla="*/ 127653 h 608697"/>
              <a:gd name="connsiteX108" fmla="*/ 344646 w 600582"/>
              <a:gd name="connsiteY108" fmla="*/ 98196 h 608697"/>
              <a:gd name="connsiteX109" fmla="*/ 329898 w 600582"/>
              <a:gd name="connsiteY109" fmla="*/ 101970 h 608697"/>
              <a:gd name="connsiteX110" fmla="*/ 230808 w 600582"/>
              <a:gd name="connsiteY110" fmla="*/ 155914 h 608697"/>
              <a:gd name="connsiteX111" fmla="*/ 55489 w 600582"/>
              <a:gd name="connsiteY111" fmla="*/ 266472 h 608697"/>
              <a:gd name="connsiteX112" fmla="*/ 49129 w 600582"/>
              <a:gd name="connsiteY112" fmla="*/ 278071 h 608697"/>
              <a:gd name="connsiteX113" fmla="*/ 49129 w 600582"/>
              <a:gd name="connsiteY113" fmla="*/ 280833 h 608697"/>
              <a:gd name="connsiteX114" fmla="*/ 62863 w 600582"/>
              <a:gd name="connsiteY114" fmla="*/ 294549 h 608697"/>
              <a:gd name="connsiteX115" fmla="*/ 69408 w 600582"/>
              <a:gd name="connsiteY115" fmla="*/ 292892 h 608697"/>
              <a:gd name="connsiteX116" fmla="*/ 301692 w 600582"/>
              <a:gd name="connsiteY116" fmla="*/ 167237 h 608697"/>
              <a:gd name="connsiteX117" fmla="*/ 380687 w 600582"/>
              <a:gd name="connsiteY117" fmla="*/ 156006 h 608697"/>
              <a:gd name="connsiteX118" fmla="*/ 400689 w 600582"/>
              <a:gd name="connsiteY118" fmla="*/ 225784 h 608697"/>
              <a:gd name="connsiteX119" fmla="*/ 442445 w 600582"/>
              <a:gd name="connsiteY119" fmla="*/ 225784 h 608697"/>
              <a:gd name="connsiteX120" fmla="*/ 452308 w 600582"/>
              <a:gd name="connsiteY120" fmla="*/ 216026 h 608697"/>
              <a:gd name="connsiteX121" fmla="*/ 442445 w 600582"/>
              <a:gd name="connsiteY121" fmla="*/ 206176 h 608697"/>
              <a:gd name="connsiteX122" fmla="*/ 414700 w 600582"/>
              <a:gd name="connsiteY122" fmla="*/ 206176 h 608697"/>
              <a:gd name="connsiteX123" fmla="*/ 403823 w 600582"/>
              <a:gd name="connsiteY123" fmla="*/ 151680 h 608697"/>
              <a:gd name="connsiteX124" fmla="*/ 368428 w 600582"/>
              <a:gd name="connsiteY124" fmla="*/ 109334 h 608697"/>
              <a:gd name="connsiteX125" fmla="*/ 344646 w 600582"/>
              <a:gd name="connsiteY125" fmla="*/ 98196 h 608697"/>
              <a:gd name="connsiteX126" fmla="*/ 293581 w 600582"/>
              <a:gd name="connsiteY126" fmla="*/ 78956 h 608697"/>
              <a:gd name="connsiteX127" fmla="*/ 215968 w 600582"/>
              <a:gd name="connsiteY127" fmla="*/ 94513 h 608697"/>
              <a:gd name="connsiteX128" fmla="*/ 206474 w 600582"/>
              <a:gd name="connsiteY128" fmla="*/ 106020 h 608697"/>
              <a:gd name="connsiteX129" fmla="*/ 218272 w 600582"/>
              <a:gd name="connsiteY129" fmla="*/ 117803 h 608697"/>
              <a:gd name="connsiteX130" fmla="*/ 224448 w 600582"/>
              <a:gd name="connsiteY130" fmla="*/ 117803 h 608697"/>
              <a:gd name="connsiteX131" fmla="*/ 226292 w 600582"/>
              <a:gd name="connsiteY131" fmla="*/ 117619 h 608697"/>
              <a:gd name="connsiteX132" fmla="*/ 273394 w 600582"/>
              <a:gd name="connsiteY132" fmla="*/ 110347 h 608697"/>
              <a:gd name="connsiteX133" fmla="*/ 313030 w 600582"/>
              <a:gd name="connsiteY133" fmla="*/ 88714 h 608697"/>
              <a:gd name="connsiteX134" fmla="*/ 78610 w 600582"/>
              <a:gd name="connsiteY134" fmla="*/ 68731 h 608697"/>
              <a:gd name="connsiteX135" fmla="*/ 176978 w 600582"/>
              <a:gd name="connsiteY135" fmla="*/ 68731 h 608697"/>
              <a:gd name="connsiteX136" fmla="*/ 176978 w 600582"/>
              <a:gd name="connsiteY136" fmla="*/ 88348 h 608697"/>
              <a:gd name="connsiteX137" fmla="*/ 78610 w 600582"/>
              <a:gd name="connsiteY137" fmla="*/ 88348 h 608697"/>
              <a:gd name="connsiteX138" fmla="*/ 39375 w 600582"/>
              <a:gd name="connsiteY138" fmla="*/ 68731 h 608697"/>
              <a:gd name="connsiteX139" fmla="*/ 58992 w 600582"/>
              <a:gd name="connsiteY139" fmla="*/ 68731 h 608697"/>
              <a:gd name="connsiteX140" fmla="*/ 58992 w 600582"/>
              <a:gd name="connsiteY140" fmla="*/ 88348 h 608697"/>
              <a:gd name="connsiteX141" fmla="*/ 39375 w 600582"/>
              <a:gd name="connsiteY141" fmla="*/ 88348 h 608697"/>
              <a:gd name="connsiteX142" fmla="*/ 296346 w 600582"/>
              <a:gd name="connsiteY142" fmla="*/ 58428 h 608697"/>
              <a:gd name="connsiteX143" fmla="*/ 337641 w 600582"/>
              <a:gd name="connsiteY143" fmla="*/ 79048 h 608697"/>
              <a:gd name="connsiteX144" fmla="*/ 344646 w 600582"/>
              <a:gd name="connsiteY144" fmla="*/ 78496 h 608697"/>
              <a:gd name="connsiteX145" fmla="*/ 383544 w 600582"/>
              <a:gd name="connsiteY145" fmla="*/ 96723 h 608697"/>
              <a:gd name="connsiteX146" fmla="*/ 422074 w 600582"/>
              <a:gd name="connsiteY146" fmla="*/ 142934 h 608697"/>
              <a:gd name="connsiteX147" fmla="*/ 430831 w 600582"/>
              <a:gd name="connsiteY147" fmla="*/ 186568 h 608697"/>
              <a:gd name="connsiteX148" fmla="*/ 442445 w 600582"/>
              <a:gd name="connsiteY148" fmla="*/ 186568 h 608697"/>
              <a:gd name="connsiteX149" fmla="*/ 471941 w 600582"/>
              <a:gd name="connsiteY149" fmla="*/ 216026 h 608697"/>
              <a:gd name="connsiteX150" fmla="*/ 442445 w 600582"/>
              <a:gd name="connsiteY150" fmla="*/ 245484 h 608697"/>
              <a:gd name="connsiteX151" fmla="*/ 385849 w 600582"/>
              <a:gd name="connsiteY151" fmla="*/ 245484 h 608697"/>
              <a:gd name="connsiteX152" fmla="*/ 366492 w 600582"/>
              <a:gd name="connsiteY152" fmla="*/ 177823 h 608697"/>
              <a:gd name="connsiteX153" fmla="*/ 313214 w 600582"/>
              <a:gd name="connsiteY153" fmla="*/ 185464 h 608697"/>
              <a:gd name="connsiteX154" fmla="*/ 354785 w 600582"/>
              <a:gd name="connsiteY154" fmla="*/ 243458 h 608697"/>
              <a:gd name="connsiteX155" fmla="*/ 342157 w 600582"/>
              <a:gd name="connsiteY155" fmla="*/ 293721 h 608697"/>
              <a:gd name="connsiteX156" fmla="*/ 255419 w 600582"/>
              <a:gd name="connsiteY156" fmla="*/ 303386 h 608697"/>
              <a:gd name="connsiteX157" fmla="*/ 237168 w 600582"/>
              <a:gd name="connsiteY157" fmla="*/ 304399 h 608697"/>
              <a:gd name="connsiteX158" fmla="*/ 206474 w 600582"/>
              <a:gd name="connsiteY158" fmla="*/ 273653 h 608697"/>
              <a:gd name="connsiteX159" fmla="*/ 233389 w 600582"/>
              <a:gd name="connsiteY159" fmla="*/ 243274 h 608697"/>
              <a:gd name="connsiteX160" fmla="*/ 273763 w 600582"/>
              <a:gd name="connsiteY160" fmla="*/ 238211 h 608697"/>
              <a:gd name="connsiteX161" fmla="*/ 252009 w 600582"/>
              <a:gd name="connsiteY161" fmla="*/ 216394 h 608697"/>
              <a:gd name="connsiteX162" fmla="*/ 78718 w 600582"/>
              <a:gd name="connsiteY162" fmla="*/ 310198 h 608697"/>
              <a:gd name="connsiteX163" fmla="*/ 62863 w 600582"/>
              <a:gd name="connsiteY163" fmla="*/ 314157 h 608697"/>
              <a:gd name="connsiteX164" fmla="*/ 29496 w 600582"/>
              <a:gd name="connsiteY164" fmla="*/ 280833 h 608697"/>
              <a:gd name="connsiteX165" fmla="*/ 29496 w 600582"/>
              <a:gd name="connsiteY165" fmla="*/ 278071 h 608697"/>
              <a:gd name="connsiteX166" fmla="*/ 45074 w 600582"/>
              <a:gd name="connsiteY166" fmla="*/ 249902 h 608697"/>
              <a:gd name="connsiteX167" fmla="*/ 220853 w 600582"/>
              <a:gd name="connsiteY167" fmla="*/ 138976 h 608697"/>
              <a:gd name="connsiteX168" fmla="*/ 223619 w 600582"/>
              <a:gd name="connsiteY168" fmla="*/ 137411 h 608697"/>
              <a:gd name="connsiteX169" fmla="*/ 218272 w 600582"/>
              <a:gd name="connsiteY169" fmla="*/ 137411 h 608697"/>
              <a:gd name="connsiteX170" fmla="*/ 186840 w 600582"/>
              <a:gd name="connsiteY170" fmla="*/ 106020 h 608697"/>
              <a:gd name="connsiteX171" fmla="*/ 212096 w 600582"/>
              <a:gd name="connsiteY171" fmla="*/ 75274 h 608697"/>
              <a:gd name="connsiteX172" fmla="*/ 432637 w 600582"/>
              <a:gd name="connsiteY172" fmla="*/ 19610 h 608697"/>
              <a:gd name="connsiteX173" fmla="*/ 393370 w 600582"/>
              <a:gd name="connsiteY173" fmla="*/ 58922 h 608697"/>
              <a:gd name="connsiteX174" fmla="*/ 432637 w 600582"/>
              <a:gd name="connsiteY174" fmla="*/ 98234 h 608697"/>
              <a:gd name="connsiteX175" fmla="*/ 471996 w 600582"/>
              <a:gd name="connsiteY175" fmla="*/ 58922 h 608697"/>
              <a:gd name="connsiteX176" fmla="*/ 432637 w 600582"/>
              <a:gd name="connsiteY176" fmla="*/ 19610 h 608697"/>
              <a:gd name="connsiteX177" fmla="*/ 432637 w 600582"/>
              <a:gd name="connsiteY177" fmla="*/ 0 h 608697"/>
              <a:gd name="connsiteX178" fmla="*/ 491629 w 600582"/>
              <a:gd name="connsiteY178" fmla="*/ 58922 h 608697"/>
              <a:gd name="connsiteX179" fmla="*/ 432637 w 600582"/>
              <a:gd name="connsiteY179" fmla="*/ 117844 h 608697"/>
              <a:gd name="connsiteX180" fmla="*/ 373644 w 600582"/>
              <a:gd name="connsiteY180" fmla="*/ 58922 h 608697"/>
              <a:gd name="connsiteX181" fmla="*/ 432637 w 600582"/>
              <a:gd name="connsiteY181"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600582" h="608697">
                <a:moveTo>
                  <a:pt x="334339" y="540037"/>
                </a:moveTo>
                <a:lnTo>
                  <a:pt x="353956" y="540037"/>
                </a:lnTo>
                <a:lnTo>
                  <a:pt x="353956" y="559654"/>
                </a:lnTo>
                <a:lnTo>
                  <a:pt x="334339" y="559654"/>
                </a:lnTo>
                <a:close/>
                <a:moveTo>
                  <a:pt x="294963" y="540037"/>
                </a:moveTo>
                <a:lnTo>
                  <a:pt x="314651" y="540037"/>
                </a:lnTo>
                <a:lnTo>
                  <a:pt x="314651" y="559654"/>
                </a:lnTo>
                <a:lnTo>
                  <a:pt x="294963" y="559654"/>
                </a:lnTo>
                <a:close/>
                <a:moveTo>
                  <a:pt x="255658" y="540037"/>
                </a:moveTo>
                <a:lnTo>
                  <a:pt x="275346" y="540037"/>
                </a:lnTo>
                <a:lnTo>
                  <a:pt x="275346" y="559654"/>
                </a:lnTo>
                <a:lnTo>
                  <a:pt x="255658" y="559654"/>
                </a:lnTo>
                <a:close/>
                <a:moveTo>
                  <a:pt x="345970" y="436094"/>
                </a:moveTo>
                <a:lnTo>
                  <a:pt x="361930" y="447516"/>
                </a:lnTo>
                <a:lnTo>
                  <a:pt x="312758" y="516327"/>
                </a:lnTo>
                <a:lnTo>
                  <a:pt x="296798" y="504904"/>
                </a:lnTo>
                <a:close/>
                <a:moveTo>
                  <a:pt x="304818" y="353462"/>
                </a:moveTo>
                <a:cubicBezTo>
                  <a:pt x="364460" y="353462"/>
                  <a:pt x="412948" y="401888"/>
                  <a:pt x="412948" y="461455"/>
                </a:cubicBezTo>
                <a:lnTo>
                  <a:pt x="412948" y="471306"/>
                </a:lnTo>
                <a:lnTo>
                  <a:pt x="403085" y="471306"/>
                </a:lnTo>
                <a:lnTo>
                  <a:pt x="393313" y="471306"/>
                </a:lnTo>
                <a:lnTo>
                  <a:pt x="383450" y="471306"/>
                </a:lnTo>
                <a:lnTo>
                  <a:pt x="383450" y="451696"/>
                </a:lnTo>
                <a:lnTo>
                  <a:pt x="392668" y="451696"/>
                </a:lnTo>
                <a:cubicBezTo>
                  <a:pt x="391654" y="442673"/>
                  <a:pt x="389349" y="434111"/>
                  <a:pt x="385847" y="426102"/>
                </a:cubicBezTo>
                <a:lnTo>
                  <a:pt x="377827" y="430705"/>
                </a:lnTo>
                <a:lnTo>
                  <a:pt x="367963" y="413673"/>
                </a:lnTo>
                <a:lnTo>
                  <a:pt x="375891" y="409161"/>
                </a:lnTo>
                <a:cubicBezTo>
                  <a:pt x="370636" y="401980"/>
                  <a:pt x="364368" y="395720"/>
                  <a:pt x="357178" y="390472"/>
                </a:cubicBezTo>
                <a:lnTo>
                  <a:pt x="352661" y="398390"/>
                </a:lnTo>
                <a:lnTo>
                  <a:pt x="335607" y="388539"/>
                </a:lnTo>
                <a:lnTo>
                  <a:pt x="340216" y="380529"/>
                </a:lnTo>
                <a:cubicBezTo>
                  <a:pt x="332196" y="377031"/>
                  <a:pt x="323623" y="374729"/>
                  <a:pt x="314589" y="373716"/>
                </a:cubicBezTo>
                <a:lnTo>
                  <a:pt x="314589" y="382923"/>
                </a:lnTo>
                <a:lnTo>
                  <a:pt x="294954" y="382923"/>
                </a:lnTo>
                <a:lnTo>
                  <a:pt x="294954" y="373716"/>
                </a:lnTo>
                <a:cubicBezTo>
                  <a:pt x="285920" y="374729"/>
                  <a:pt x="277347" y="377031"/>
                  <a:pt x="269327" y="380529"/>
                </a:cubicBezTo>
                <a:lnTo>
                  <a:pt x="273937" y="388539"/>
                </a:lnTo>
                <a:lnTo>
                  <a:pt x="256975" y="398390"/>
                </a:lnTo>
                <a:lnTo>
                  <a:pt x="252365" y="390472"/>
                </a:lnTo>
                <a:cubicBezTo>
                  <a:pt x="245175" y="395720"/>
                  <a:pt x="238907" y="401980"/>
                  <a:pt x="233652" y="409161"/>
                </a:cubicBezTo>
                <a:lnTo>
                  <a:pt x="241580" y="413673"/>
                </a:lnTo>
                <a:lnTo>
                  <a:pt x="231716" y="430705"/>
                </a:lnTo>
                <a:lnTo>
                  <a:pt x="223696" y="426102"/>
                </a:lnTo>
                <a:cubicBezTo>
                  <a:pt x="220194" y="434111"/>
                  <a:pt x="217889" y="442673"/>
                  <a:pt x="216875" y="451696"/>
                </a:cubicBezTo>
                <a:lnTo>
                  <a:pt x="226093" y="451696"/>
                </a:lnTo>
                <a:lnTo>
                  <a:pt x="226093" y="471306"/>
                </a:lnTo>
                <a:lnTo>
                  <a:pt x="216322" y="471306"/>
                </a:lnTo>
                <a:lnTo>
                  <a:pt x="206458" y="471306"/>
                </a:lnTo>
                <a:lnTo>
                  <a:pt x="196595" y="471306"/>
                </a:lnTo>
                <a:lnTo>
                  <a:pt x="196595" y="461455"/>
                </a:lnTo>
                <a:cubicBezTo>
                  <a:pt x="196595" y="401888"/>
                  <a:pt x="245175" y="353462"/>
                  <a:pt x="304818" y="353462"/>
                </a:cubicBezTo>
                <a:close/>
                <a:moveTo>
                  <a:pt x="0" y="353462"/>
                </a:moveTo>
                <a:lnTo>
                  <a:pt x="19617" y="353462"/>
                </a:lnTo>
                <a:lnTo>
                  <a:pt x="19617" y="373079"/>
                </a:lnTo>
                <a:lnTo>
                  <a:pt x="0" y="373079"/>
                </a:lnTo>
                <a:close/>
                <a:moveTo>
                  <a:pt x="304861" y="333850"/>
                </a:moveTo>
                <a:cubicBezTo>
                  <a:pt x="234341" y="333850"/>
                  <a:pt x="177003" y="391102"/>
                  <a:pt x="177003" y="461425"/>
                </a:cubicBezTo>
                <a:cubicBezTo>
                  <a:pt x="177003" y="531839"/>
                  <a:pt x="234341" y="589092"/>
                  <a:pt x="304861" y="589092"/>
                </a:cubicBezTo>
                <a:cubicBezTo>
                  <a:pt x="375288" y="589092"/>
                  <a:pt x="432626" y="531839"/>
                  <a:pt x="432626" y="461425"/>
                </a:cubicBezTo>
                <a:cubicBezTo>
                  <a:pt x="432626" y="391102"/>
                  <a:pt x="375288" y="333850"/>
                  <a:pt x="304861" y="333850"/>
                </a:cubicBezTo>
                <a:close/>
                <a:moveTo>
                  <a:pt x="294779" y="193288"/>
                </a:moveTo>
                <a:lnTo>
                  <a:pt x="270076" y="206728"/>
                </a:lnTo>
                <a:lnTo>
                  <a:pt x="316072" y="252664"/>
                </a:lnTo>
                <a:lnTo>
                  <a:pt x="235786" y="262698"/>
                </a:lnTo>
                <a:cubicBezTo>
                  <a:pt x="230255" y="263434"/>
                  <a:pt x="226107" y="268129"/>
                  <a:pt x="226107" y="273653"/>
                </a:cubicBezTo>
                <a:cubicBezTo>
                  <a:pt x="226107" y="279728"/>
                  <a:pt x="231085" y="284699"/>
                  <a:pt x="237168" y="284699"/>
                </a:cubicBezTo>
                <a:cubicBezTo>
                  <a:pt x="242515" y="284699"/>
                  <a:pt x="247953" y="284423"/>
                  <a:pt x="253299" y="283871"/>
                </a:cubicBezTo>
                <a:lnTo>
                  <a:pt x="326395" y="275770"/>
                </a:lnTo>
                <a:lnTo>
                  <a:pt x="333493" y="247509"/>
                </a:lnTo>
                <a:close/>
                <a:moveTo>
                  <a:pt x="549882" y="172956"/>
                </a:moveTo>
                <a:lnTo>
                  <a:pt x="600582" y="294547"/>
                </a:lnTo>
                <a:lnTo>
                  <a:pt x="549882" y="416139"/>
                </a:lnTo>
                <a:lnTo>
                  <a:pt x="531722" y="408591"/>
                </a:lnTo>
                <a:lnTo>
                  <a:pt x="546563" y="373062"/>
                </a:lnTo>
                <a:lnTo>
                  <a:pt x="422578" y="373062"/>
                </a:lnTo>
                <a:cubicBezTo>
                  <a:pt x="441107" y="397730"/>
                  <a:pt x="452353" y="428289"/>
                  <a:pt x="452353" y="461425"/>
                </a:cubicBezTo>
                <a:cubicBezTo>
                  <a:pt x="452353" y="542701"/>
                  <a:pt x="386166" y="608697"/>
                  <a:pt x="304861" y="608697"/>
                </a:cubicBezTo>
                <a:cubicBezTo>
                  <a:pt x="223463" y="608697"/>
                  <a:pt x="157368" y="542701"/>
                  <a:pt x="157368" y="461425"/>
                </a:cubicBezTo>
                <a:cubicBezTo>
                  <a:pt x="157368" y="428289"/>
                  <a:pt x="168522" y="397730"/>
                  <a:pt x="187143" y="373062"/>
                </a:cubicBezTo>
                <a:lnTo>
                  <a:pt x="39375" y="373062"/>
                </a:lnTo>
                <a:lnTo>
                  <a:pt x="39375" y="353456"/>
                </a:lnTo>
                <a:lnTo>
                  <a:pt x="204842" y="353456"/>
                </a:lnTo>
                <a:cubicBezTo>
                  <a:pt x="231207" y="329156"/>
                  <a:pt x="266236" y="314153"/>
                  <a:pt x="304861" y="314153"/>
                </a:cubicBezTo>
                <a:cubicBezTo>
                  <a:pt x="343393" y="314153"/>
                  <a:pt x="378422" y="329156"/>
                  <a:pt x="404787" y="353456"/>
                </a:cubicBezTo>
                <a:lnTo>
                  <a:pt x="554768" y="353456"/>
                </a:lnTo>
                <a:lnTo>
                  <a:pt x="579288" y="294547"/>
                </a:lnTo>
                <a:lnTo>
                  <a:pt x="554768" y="235638"/>
                </a:lnTo>
                <a:lnTo>
                  <a:pt x="481851" y="235638"/>
                </a:lnTo>
                <a:lnTo>
                  <a:pt x="481851" y="216033"/>
                </a:lnTo>
                <a:lnTo>
                  <a:pt x="546563" y="216033"/>
                </a:lnTo>
                <a:lnTo>
                  <a:pt x="531722" y="180503"/>
                </a:lnTo>
                <a:close/>
                <a:moveTo>
                  <a:pt x="39375" y="147270"/>
                </a:moveTo>
                <a:lnTo>
                  <a:pt x="137602" y="147270"/>
                </a:lnTo>
                <a:lnTo>
                  <a:pt x="137602" y="166887"/>
                </a:lnTo>
                <a:lnTo>
                  <a:pt x="39375" y="166887"/>
                </a:lnTo>
                <a:close/>
                <a:moveTo>
                  <a:pt x="0" y="147270"/>
                </a:moveTo>
                <a:lnTo>
                  <a:pt x="19617" y="147270"/>
                </a:lnTo>
                <a:lnTo>
                  <a:pt x="19617" y="166887"/>
                </a:lnTo>
                <a:lnTo>
                  <a:pt x="0" y="166887"/>
                </a:lnTo>
                <a:close/>
                <a:moveTo>
                  <a:pt x="58993" y="107965"/>
                </a:moveTo>
                <a:lnTo>
                  <a:pt x="167099" y="107965"/>
                </a:lnTo>
                <a:lnTo>
                  <a:pt x="167099" y="127653"/>
                </a:lnTo>
                <a:lnTo>
                  <a:pt x="58993" y="127653"/>
                </a:lnTo>
                <a:close/>
                <a:moveTo>
                  <a:pt x="19617" y="107965"/>
                </a:moveTo>
                <a:lnTo>
                  <a:pt x="39375" y="107965"/>
                </a:lnTo>
                <a:lnTo>
                  <a:pt x="39375" y="127653"/>
                </a:lnTo>
                <a:lnTo>
                  <a:pt x="19617" y="127653"/>
                </a:lnTo>
                <a:close/>
                <a:moveTo>
                  <a:pt x="344646" y="98196"/>
                </a:moveTo>
                <a:cubicBezTo>
                  <a:pt x="339484" y="98196"/>
                  <a:pt x="334415" y="99484"/>
                  <a:pt x="329898" y="101970"/>
                </a:cubicBezTo>
                <a:lnTo>
                  <a:pt x="230808" y="155914"/>
                </a:lnTo>
                <a:lnTo>
                  <a:pt x="55489" y="266472"/>
                </a:lnTo>
                <a:cubicBezTo>
                  <a:pt x="51526" y="268958"/>
                  <a:pt x="49129" y="273284"/>
                  <a:pt x="49129" y="278071"/>
                </a:cubicBezTo>
                <a:lnTo>
                  <a:pt x="49129" y="280833"/>
                </a:lnTo>
                <a:cubicBezTo>
                  <a:pt x="49129" y="288381"/>
                  <a:pt x="55305" y="294549"/>
                  <a:pt x="62863" y="294549"/>
                </a:cubicBezTo>
                <a:cubicBezTo>
                  <a:pt x="65076" y="294549"/>
                  <a:pt x="67380" y="293997"/>
                  <a:pt x="69408" y="292892"/>
                </a:cubicBezTo>
                <a:lnTo>
                  <a:pt x="301692" y="167237"/>
                </a:lnTo>
                <a:lnTo>
                  <a:pt x="380687" y="156006"/>
                </a:lnTo>
                <a:lnTo>
                  <a:pt x="400689" y="225784"/>
                </a:lnTo>
                <a:lnTo>
                  <a:pt x="442445" y="225784"/>
                </a:lnTo>
                <a:cubicBezTo>
                  <a:pt x="447883" y="225784"/>
                  <a:pt x="452308" y="221457"/>
                  <a:pt x="452308" y="216026"/>
                </a:cubicBezTo>
                <a:cubicBezTo>
                  <a:pt x="452308" y="210595"/>
                  <a:pt x="447883" y="206176"/>
                  <a:pt x="442445" y="206176"/>
                </a:cubicBezTo>
                <a:lnTo>
                  <a:pt x="414700" y="206176"/>
                </a:lnTo>
                <a:lnTo>
                  <a:pt x="403823" y="151680"/>
                </a:lnTo>
                <a:lnTo>
                  <a:pt x="368428" y="109334"/>
                </a:lnTo>
                <a:cubicBezTo>
                  <a:pt x="362528" y="102246"/>
                  <a:pt x="353864" y="98196"/>
                  <a:pt x="344646" y="98196"/>
                </a:cubicBezTo>
                <a:close/>
                <a:moveTo>
                  <a:pt x="293581" y="78956"/>
                </a:moveTo>
                <a:lnTo>
                  <a:pt x="215968" y="94513"/>
                </a:lnTo>
                <a:cubicBezTo>
                  <a:pt x="210437" y="95618"/>
                  <a:pt x="206474" y="100497"/>
                  <a:pt x="206474" y="106020"/>
                </a:cubicBezTo>
                <a:cubicBezTo>
                  <a:pt x="206474" y="112556"/>
                  <a:pt x="211728" y="117803"/>
                  <a:pt x="218272" y="117803"/>
                </a:cubicBezTo>
                <a:lnTo>
                  <a:pt x="224448" y="117803"/>
                </a:lnTo>
                <a:cubicBezTo>
                  <a:pt x="225093" y="117803"/>
                  <a:pt x="225646" y="117711"/>
                  <a:pt x="226292" y="117619"/>
                </a:cubicBezTo>
                <a:lnTo>
                  <a:pt x="273394" y="110347"/>
                </a:lnTo>
                <a:lnTo>
                  <a:pt x="313030" y="88714"/>
                </a:lnTo>
                <a:close/>
                <a:moveTo>
                  <a:pt x="78610" y="68731"/>
                </a:moveTo>
                <a:lnTo>
                  <a:pt x="176978" y="68731"/>
                </a:lnTo>
                <a:lnTo>
                  <a:pt x="176978" y="88348"/>
                </a:lnTo>
                <a:lnTo>
                  <a:pt x="78610" y="88348"/>
                </a:lnTo>
                <a:close/>
                <a:moveTo>
                  <a:pt x="39375" y="68731"/>
                </a:moveTo>
                <a:lnTo>
                  <a:pt x="58992" y="68731"/>
                </a:lnTo>
                <a:lnTo>
                  <a:pt x="58992" y="88348"/>
                </a:lnTo>
                <a:lnTo>
                  <a:pt x="39375" y="88348"/>
                </a:lnTo>
                <a:close/>
                <a:moveTo>
                  <a:pt x="296346" y="58428"/>
                </a:moveTo>
                <a:lnTo>
                  <a:pt x="337641" y="79048"/>
                </a:lnTo>
                <a:cubicBezTo>
                  <a:pt x="340037" y="78772"/>
                  <a:pt x="342342" y="78496"/>
                  <a:pt x="344646" y="78496"/>
                </a:cubicBezTo>
                <a:cubicBezTo>
                  <a:pt x="359763" y="78496"/>
                  <a:pt x="373958" y="85124"/>
                  <a:pt x="383544" y="96723"/>
                </a:cubicBezTo>
                <a:lnTo>
                  <a:pt x="422074" y="142934"/>
                </a:lnTo>
                <a:lnTo>
                  <a:pt x="430831" y="186568"/>
                </a:lnTo>
                <a:lnTo>
                  <a:pt x="442445" y="186568"/>
                </a:lnTo>
                <a:cubicBezTo>
                  <a:pt x="458668" y="186568"/>
                  <a:pt x="471941" y="199732"/>
                  <a:pt x="471941" y="216026"/>
                </a:cubicBezTo>
                <a:cubicBezTo>
                  <a:pt x="471941" y="232228"/>
                  <a:pt x="458668" y="245484"/>
                  <a:pt x="442445" y="245484"/>
                </a:cubicBezTo>
                <a:lnTo>
                  <a:pt x="385849" y="245484"/>
                </a:lnTo>
                <a:lnTo>
                  <a:pt x="366492" y="177823"/>
                </a:lnTo>
                <a:lnTo>
                  <a:pt x="313214" y="185464"/>
                </a:lnTo>
                <a:lnTo>
                  <a:pt x="354785" y="243458"/>
                </a:lnTo>
                <a:lnTo>
                  <a:pt x="342157" y="293721"/>
                </a:lnTo>
                <a:lnTo>
                  <a:pt x="255419" y="303386"/>
                </a:lnTo>
                <a:cubicBezTo>
                  <a:pt x="249428" y="304031"/>
                  <a:pt x="243252" y="304399"/>
                  <a:pt x="237168" y="304399"/>
                </a:cubicBezTo>
                <a:cubicBezTo>
                  <a:pt x="220208" y="304399"/>
                  <a:pt x="206474" y="290591"/>
                  <a:pt x="206474" y="273653"/>
                </a:cubicBezTo>
                <a:cubicBezTo>
                  <a:pt x="206474" y="258279"/>
                  <a:pt x="217996" y="245115"/>
                  <a:pt x="233389" y="243274"/>
                </a:cubicBezTo>
                <a:lnTo>
                  <a:pt x="273763" y="238211"/>
                </a:lnTo>
                <a:lnTo>
                  <a:pt x="252009" y="216394"/>
                </a:lnTo>
                <a:lnTo>
                  <a:pt x="78718" y="310198"/>
                </a:lnTo>
                <a:cubicBezTo>
                  <a:pt x="73925" y="312776"/>
                  <a:pt x="68394" y="314157"/>
                  <a:pt x="62863" y="314157"/>
                </a:cubicBezTo>
                <a:cubicBezTo>
                  <a:pt x="44428" y="314157"/>
                  <a:pt x="29496" y="299244"/>
                  <a:pt x="29496" y="280833"/>
                </a:cubicBezTo>
                <a:lnTo>
                  <a:pt x="29496" y="278071"/>
                </a:lnTo>
                <a:cubicBezTo>
                  <a:pt x="29496" y="266564"/>
                  <a:pt x="35303" y="255978"/>
                  <a:pt x="45074" y="249902"/>
                </a:cubicBezTo>
                <a:lnTo>
                  <a:pt x="220853" y="138976"/>
                </a:lnTo>
                <a:lnTo>
                  <a:pt x="223619" y="137411"/>
                </a:lnTo>
                <a:lnTo>
                  <a:pt x="218272" y="137411"/>
                </a:lnTo>
                <a:cubicBezTo>
                  <a:pt x="200943" y="137411"/>
                  <a:pt x="186840" y="123327"/>
                  <a:pt x="186840" y="106020"/>
                </a:cubicBezTo>
                <a:cubicBezTo>
                  <a:pt x="186840" y="91107"/>
                  <a:pt x="197441" y="78220"/>
                  <a:pt x="212096" y="75274"/>
                </a:cubicBezTo>
                <a:close/>
                <a:moveTo>
                  <a:pt x="432637" y="19610"/>
                </a:moveTo>
                <a:cubicBezTo>
                  <a:pt x="410975" y="19610"/>
                  <a:pt x="393370" y="37286"/>
                  <a:pt x="393370" y="58922"/>
                </a:cubicBezTo>
                <a:cubicBezTo>
                  <a:pt x="393370" y="80557"/>
                  <a:pt x="410975" y="98234"/>
                  <a:pt x="432637" y="98234"/>
                </a:cubicBezTo>
                <a:cubicBezTo>
                  <a:pt x="454390" y="98234"/>
                  <a:pt x="471996" y="80557"/>
                  <a:pt x="471996" y="58922"/>
                </a:cubicBezTo>
                <a:cubicBezTo>
                  <a:pt x="471996" y="37286"/>
                  <a:pt x="454390" y="19610"/>
                  <a:pt x="432637" y="19610"/>
                </a:cubicBezTo>
                <a:close/>
                <a:moveTo>
                  <a:pt x="432637" y="0"/>
                </a:moveTo>
                <a:cubicBezTo>
                  <a:pt x="465175" y="0"/>
                  <a:pt x="491629" y="26423"/>
                  <a:pt x="491629" y="58922"/>
                </a:cubicBezTo>
                <a:cubicBezTo>
                  <a:pt x="491629" y="91421"/>
                  <a:pt x="465175" y="117844"/>
                  <a:pt x="432637" y="117844"/>
                </a:cubicBezTo>
                <a:cubicBezTo>
                  <a:pt x="400099" y="117844"/>
                  <a:pt x="373644" y="91421"/>
                  <a:pt x="373644" y="58922"/>
                </a:cubicBezTo>
                <a:cubicBezTo>
                  <a:pt x="373644" y="26423"/>
                  <a:pt x="400099" y="0"/>
                  <a:pt x="432637" y="0"/>
                </a:cubicBezTo>
                <a:close/>
              </a:path>
            </a:pathLst>
          </a:custGeom>
          <a:noFill/>
          <a:ln w="3175">
            <a:solidFill>
              <a:srgbClr val="3ABABA"/>
            </a:solidFill>
          </a:ln>
        </p:spPr>
        <p:txBody>
          <a:bodyPr/>
          <a:lstStyle/>
          <a:p>
            <a:endParaRPr lang="zh-CN" altLang="en-US">
              <a:latin typeface="Arial" panose="020B0604020202020204" pitchFamily="34" charset="0"/>
            </a:endParaRPr>
          </a:p>
        </p:txBody>
      </p:sp>
      <p:sp>
        <p:nvSpPr>
          <p:cNvPr id="51" name="fingerprint_100879"/>
          <p:cNvSpPr>
            <a:spLocks noChangeAspect="1"/>
          </p:cNvSpPr>
          <p:nvPr/>
        </p:nvSpPr>
        <p:spPr bwMode="auto">
          <a:xfrm>
            <a:off x="7995976" y="3284984"/>
            <a:ext cx="512292" cy="609685"/>
          </a:xfrm>
          <a:custGeom>
            <a:avLst/>
            <a:gdLst>
              <a:gd name="connsiteX0" fmla="*/ 142260 w 506660"/>
              <a:gd name="connsiteY0" fmla="*/ 489866 h 602982"/>
              <a:gd name="connsiteX1" fmla="*/ 174155 w 506660"/>
              <a:gd name="connsiteY1" fmla="*/ 521685 h 602982"/>
              <a:gd name="connsiteX2" fmla="*/ 174155 w 506660"/>
              <a:gd name="connsiteY2" fmla="*/ 571163 h 602982"/>
              <a:gd name="connsiteX3" fmla="*/ 142260 w 506660"/>
              <a:gd name="connsiteY3" fmla="*/ 602982 h 602982"/>
              <a:gd name="connsiteX4" fmla="*/ 110364 w 506660"/>
              <a:gd name="connsiteY4" fmla="*/ 571163 h 602982"/>
              <a:gd name="connsiteX5" fmla="*/ 110364 w 506660"/>
              <a:gd name="connsiteY5" fmla="*/ 521685 h 602982"/>
              <a:gd name="connsiteX6" fmla="*/ 142260 w 506660"/>
              <a:gd name="connsiteY6" fmla="*/ 489866 h 602982"/>
              <a:gd name="connsiteX7" fmla="*/ 361331 w 506660"/>
              <a:gd name="connsiteY7" fmla="*/ 473635 h 602982"/>
              <a:gd name="connsiteX8" fmla="*/ 393191 w 506660"/>
              <a:gd name="connsiteY8" fmla="*/ 505455 h 602982"/>
              <a:gd name="connsiteX9" fmla="*/ 393191 w 506660"/>
              <a:gd name="connsiteY9" fmla="*/ 571162 h 602982"/>
              <a:gd name="connsiteX10" fmla="*/ 361331 w 506660"/>
              <a:gd name="connsiteY10" fmla="*/ 602982 h 602982"/>
              <a:gd name="connsiteX11" fmla="*/ 329470 w 506660"/>
              <a:gd name="connsiteY11" fmla="*/ 571162 h 602982"/>
              <a:gd name="connsiteX12" fmla="*/ 329470 w 506660"/>
              <a:gd name="connsiteY12" fmla="*/ 505455 h 602982"/>
              <a:gd name="connsiteX13" fmla="*/ 361331 w 506660"/>
              <a:gd name="connsiteY13" fmla="*/ 473635 h 602982"/>
              <a:gd name="connsiteX14" fmla="*/ 31861 w 506660"/>
              <a:gd name="connsiteY14" fmla="*/ 387757 h 602982"/>
              <a:gd name="connsiteX15" fmla="*/ 63721 w 506660"/>
              <a:gd name="connsiteY15" fmla="*/ 419571 h 602982"/>
              <a:gd name="connsiteX16" fmla="*/ 63721 w 506660"/>
              <a:gd name="connsiteY16" fmla="*/ 571168 h 602982"/>
              <a:gd name="connsiteX17" fmla="*/ 31861 w 506660"/>
              <a:gd name="connsiteY17" fmla="*/ 602982 h 602982"/>
              <a:gd name="connsiteX18" fmla="*/ 0 w 506660"/>
              <a:gd name="connsiteY18" fmla="*/ 571168 h 602982"/>
              <a:gd name="connsiteX19" fmla="*/ 0 w 506660"/>
              <a:gd name="connsiteY19" fmla="*/ 419571 h 602982"/>
              <a:gd name="connsiteX20" fmla="*/ 31861 w 506660"/>
              <a:gd name="connsiteY20" fmla="*/ 387757 h 602982"/>
              <a:gd name="connsiteX21" fmla="*/ 142259 w 506660"/>
              <a:gd name="connsiteY21" fmla="*/ 289601 h 602982"/>
              <a:gd name="connsiteX22" fmla="*/ 174155 w 506660"/>
              <a:gd name="connsiteY22" fmla="*/ 321417 h 602982"/>
              <a:gd name="connsiteX23" fmla="*/ 174155 w 506660"/>
              <a:gd name="connsiteY23" fmla="*/ 422908 h 602982"/>
              <a:gd name="connsiteX24" fmla="*/ 142259 w 506660"/>
              <a:gd name="connsiteY24" fmla="*/ 454724 h 602982"/>
              <a:gd name="connsiteX25" fmla="*/ 110364 w 506660"/>
              <a:gd name="connsiteY25" fmla="*/ 422908 h 602982"/>
              <a:gd name="connsiteX26" fmla="*/ 110364 w 506660"/>
              <a:gd name="connsiteY26" fmla="*/ 321417 h 602982"/>
              <a:gd name="connsiteX27" fmla="*/ 142259 w 506660"/>
              <a:gd name="connsiteY27" fmla="*/ 289601 h 602982"/>
              <a:gd name="connsiteX28" fmla="*/ 257317 w 506660"/>
              <a:gd name="connsiteY28" fmla="*/ 262856 h 602982"/>
              <a:gd name="connsiteX29" fmla="*/ 283744 w 506660"/>
              <a:gd name="connsiteY29" fmla="*/ 289427 h 602982"/>
              <a:gd name="connsiteX30" fmla="*/ 283744 w 506660"/>
              <a:gd name="connsiteY30" fmla="*/ 521722 h 602982"/>
              <a:gd name="connsiteX31" fmla="*/ 257317 w 506660"/>
              <a:gd name="connsiteY31" fmla="*/ 548293 h 602982"/>
              <a:gd name="connsiteX32" fmla="*/ 230890 w 506660"/>
              <a:gd name="connsiteY32" fmla="*/ 521722 h 602982"/>
              <a:gd name="connsiteX33" fmla="*/ 230890 w 506660"/>
              <a:gd name="connsiteY33" fmla="*/ 289427 h 602982"/>
              <a:gd name="connsiteX34" fmla="*/ 257317 w 506660"/>
              <a:gd name="connsiteY34" fmla="*/ 262856 h 602982"/>
              <a:gd name="connsiteX35" fmla="*/ 252978 w 506660"/>
              <a:gd name="connsiteY35" fmla="*/ 125677 h 602982"/>
              <a:gd name="connsiteX36" fmla="*/ 378692 w 506660"/>
              <a:gd name="connsiteY36" fmla="*/ 203639 h 602982"/>
              <a:gd name="connsiteX37" fmla="*/ 393191 w 506660"/>
              <a:gd name="connsiteY37" fmla="*/ 265691 h 602982"/>
              <a:gd name="connsiteX38" fmla="*/ 393191 w 506660"/>
              <a:gd name="connsiteY38" fmla="*/ 421139 h 602982"/>
              <a:gd name="connsiteX39" fmla="*/ 361325 w 506660"/>
              <a:gd name="connsiteY39" fmla="*/ 452960 h 602982"/>
              <a:gd name="connsiteX40" fmla="*/ 329458 w 506660"/>
              <a:gd name="connsiteY40" fmla="*/ 421139 h 602982"/>
              <a:gd name="connsiteX41" fmla="*/ 329458 w 506660"/>
              <a:gd name="connsiteY41" fmla="*/ 265691 h 602982"/>
              <a:gd name="connsiteX42" fmla="*/ 321491 w 506660"/>
              <a:gd name="connsiteY42" fmla="*/ 231801 h 602982"/>
              <a:gd name="connsiteX43" fmla="*/ 252978 w 506660"/>
              <a:gd name="connsiteY43" fmla="*/ 189320 h 602982"/>
              <a:gd name="connsiteX44" fmla="*/ 182554 w 506660"/>
              <a:gd name="connsiteY44" fmla="*/ 235938 h 602982"/>
              <a:gd name="connsiteX45" fmla="*/ 140809 w 506660"/>
              <a:gd name="connsiteY45" fmla="*/ 252803 h 602982"/>
              <a:gd name="connsiteX46" fmla="*/ 123919 w 506660"/>
              <a:gd name="connsiteY46" fmla="*/ 211117 h 602982"/>
              <a:gd name="connsiteX47" fmla="*/ 252978 w 506660"/>
              <a:gd name="connsiteY47" fmla="*/ 125677 h 602982"/>
              <a:gd name="connsiteX48" fmla="*/ 253330 w 506660"/>
              <a:gd name="connsiteY48" fmla="*/ 0 h 602982"/>
              <a:gd name="connsiteX49" fmla="*/ 506660 w 506660"/>
              <a:gd name="connsiteY49" fmla="*/ 252966 h 602982"/>
              <a:gd name="connsiteX50" fmla="*/ 506660 w 506660"/>
              <a:gd name="connsiteY50" fmla="*/ 571162 h 602982"/>
              <a:gd name="connsiteX51" fmla="*/ 474795 w 506660"/>
              <a:gd name="connsiteY51" fmla="*/ 602982 h 602982"/>
              <a:gd name="connsiteX52" fmla="*/ 442929 w 506660"/>
              <a:gd name="connsiteY52" fmla="*/ 571162 h 602982"/>
              <a:gd name="connsiteX53" fmla="*/ 442929 w 506660"/>
              <a:gd name="connsiteY53" fmla="*/ 252966 h 602982"/>
              <a:gd name="connsiteX54" fmla="*/ 253330 w 506660"/>
              <a:gd name="connsiteY54" fmla="*/ 63639 h 602982"/>
              <a:gd name="connsiteX55" fmla="*/ 63731 w 506660"/>
              <a:gd name="connsiteY55" fmla="*/ 252966 h 602982"/>
              <a:gd name="connsiteX56" fmla="*/ 63731 w 506660"/>
              <a:gd name="connsiteY56" fmla="*/ 311514 h 602982"/>
              <a:gd name="connsiteX57" fmla="*/ 31865 w 506660"/>
              <a:gd name="connsiteY57" fmla="*/ 343334 h 602982"/>
              <a:gd name="connsiteX58" fmla="*/ 0 w 506660"/>
              <a:gd name="connsiteY58" fmla="*/ 311514 h 602982"/>
              <a:gd name="connsiteX59" fmla="*/ 0 w 506660"/>
              <a:gd name="connsiteY59" fmla="*/ 252966 h 602982"/>
              <a:gd name="connsiteX60" fmla="*/ 253330 w 506660"/>
              <a:gd name="connsiteY60" fmla="*/ 0 h 60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6660" h="602982">
                <a:moveTo>
                  <a:pt x="142260" y="489866"/>
                </a:moveTo>
                <a:cubicBezTo>
                  <a:pt x="159802" y="489866"/>
                  <a:pt x="174155" y="504184"/>
                  <a:pt x="174155" y="521685"/>
                </a:cubicBezTo>
                <a:lnTo>
                  <a:pt x="174155" y="571163"/>
                </a:lnTo>
                <a:cubicBezTo>
                  <a:pt x="174155" y="588664"/>
                  <a:pt x="159802" y="602982"/>
                  <a:pt x="142260" y="602982"/>
                </a:cubicBezTo>
                <a:cubicBezTo>
                  <a:pt x="124558" y="602982"/>
                  <a:pt x="110364" y="588664"/>
                  <a:pt x="110364" y="571163"/>
                </a:cubicBezTo>
                <a:lnTo>
                  <a:pt x="110364" y="521685"/>
                </a:lnTo>
                <a:cubicBezTo>
                  <a:pt x="110364" y="504184"/>
                  <a:pt x="124558" y="489866"/>
                  <a:pt x="142260" y="489866"/>
                </a:cubicBezTo>
                <a:close/>
                <a:moveTo>
                  <a:pt x="361331" y="473635"/>
                </a:moveTo>
                <a:cubicBezTo>
                  <a:pt x="378854" y="473635"/>
                  <a:pt x="393191" y="487954"/>
                  <a:pt x="393191" y="505455"/>
                </a:cubicBezTo>
                <a:lnTo>
                  <a:pt x="393191" y="571162"/>
                </a:lnTo>
                <a:cubicBezTo>
                  <a:pt x="393191" y="588663"/>
                  <a:pt x="378854" y="602982"/>
                  <a:pt x="361331" y="602982"/>
                </a:cubicBezTo>
                <a:cubicBezTo>
                  <a:pt x="343648" y="602982"/>
                  <a:pt x="329470" y="588663"/>
                  <a:pt x="329470" y="571162"/>
                </a:cubicBezTo>
                <a:lnTo>
                  <a:pt x="329470" y="505455"/>
                </a:lnTo>
                <a:cubicBezTo>
                  <a:pt x="329470" y="487954"/>
                  <a:pt x="343648" y="473635"/>
                  <a:pt x="361331" y="473635"/>
                </a:cubicBezTo>
                <a:close/>
                <a:moveTo>
                  <a:pt x="31861" y="387757"/>
                </a:moveTo>
                <a:cubicBezTo>
                  <a:pt x="49384" y="387757"/>
                  <a:pt x="63721" y="401914"/>
                  <a:pt x="63721" y="419571"/>
                </a:cubicBezTo>
                <a:lnTo>
                  <a:pt x="63721" y="571168"/>
                </a:lnTo>
                <a:cubicBezTo>
                  <a:pt x="63721" y="588665"/>
                  <a:pt x="49384" y="602982"/>
                  <a:pt x="31861" y="602982"/>
                </a:cubicBezTo>
                <a:cubicBezTo>
                  <a:pt x="14178" y="602982"/>
                  <a:pt x="0" y="588665"/>
                  <a:pt x="0" y="571168"/>
                </a:cubicBezTo>
                <a:lnTo>
                  <a:pt x="0" y="419571"/>
                </a:lnTo>
                <a:cubicBezTo>
                  <a:pt x="0" y="401914"/>
                  <a:pt x="14178" y="387757"/>
                  <a:pt x="31861" y="387757"/>
                </a:cubicBezTo>
                <a:close/>
                <a:moveTo>
                  <a:pt x="142259" y="289601"/>
                </a:moveTo>
                <a:cubicBezTo>
                  <a:pt x="159802" y="289601"/>
                  <a:pt x="174155" y="303918"/>
                  <a:pt x="174155" y="321417"/>
                </a:cubicBezTo>
                <a:lnTo>
                  <a:pt x="174155" y="422908"/>
                </a:lnTo>
                <a:cubicBezTo>
                  <a:pt x="174155" y="440407"/>
                  <a:pt x="159802" y="454724"/>
                  <a:pt x="142259" y="454724"/>
                </a:cubicBezTo>
                <a:cubicBezTo>
                  <a:pt x="124557" y="454724"/>
                  <a:pt x="110364" y="440407"/>
                  <a:pt x="110364" y="422908"/>
                </a:cubicBezTo>
                <a:lnTo>
                  <a:pt x="110364" y="321417"/>
                </a:lnTo>
                <a:cubicBezTo>
                  <a:pt x="110364" y="303918"/>
                  <a:pt x="124557" y="289601"/>
                  <a:pt x="142259" y="289601"/>
                </a:cubicBezTo>
                <a:close/>
                <a:moveTo>
                  <a:pt x="257317" y="262856"/>
                </a:moveTo>
                <a:cubicBezTo>
                  <a:pt x="271963" y="262856"/>
                  <a:pt x="283744" y="274789"/>
                  <a:pt x="283744" y="289427"/>
                </a:cubicBezTo>
                <a:lnTo>
                  <a:pt x="283744" y="521722"/>
                </a:lnTo>
                <a:cubicBezTo>
                  <a:pt x="283744" y="536360"/>
                  <a:pt x="271963" y="548293"/>
                  <a:pt x="257317" y="548293"/>
                </a:cubicBezTo>
                <a:cubicBezTo>
                  <a:pt x="242671" y="548293"/>
                  <a:pt x="230890" y="536360"/>
                  <a:pt x="230890" y="521722"/>
                </a:cubicBezTo>
                <a:lnTo>
                  <a:pt x="230890" y="289427"/>
                </a:lnTo>
                <a:cubicBezTo>
                  <a:pt x="230890" y="274789"/>
                  <a:pt x="242671" y="262856"/>
                  <a:pt x="257317" y="262856"/>
                </a:cubicBezTo>
                <a:close/>
                <a:moveTo>
                  <a:pt x="252978" y="125677"/>
                </a:moveTo>
                <a:cubicBezTo>
                  <a:pt x="306673" y="125677"/>
                  <a:pt x="354792" y="155589"/>
                  <a:pt x="378692" y="203639"/>
                </a:cubicBezTo>
                <a:cubicBezTo>
                  <a:pt x="388252" y="223050"/>
                  <a:pt x="393191" y="243893"/>
                  <a:pt x="393191" y="265691"/>
                </a:cubicBezTo>
                <a:lnTo>
                  <a:pt x="393191" y="421139"/>
                </a:lnTo>
                <a:cubicBezTo>
                  <a:pt x="393191" y="438640"/>
                  <a:pt x="378851" y="452960"/>
                  <a:pt x="361325" y="452960"/>
                </a:cubicBezTo>
                <a:cubicBezTo>
                  <a:pt x="343639" y="452960"/>
                  <a:pt x="329458" y="438640"/>
                  <a:pt x="329458" y="421139"/>
                </a:cubicBezTo>
                <a:lnTo>
                  <a:pt x="329458" y="265691"/>
                </a:lnTo>
                <a:cubicBezTo>
                  <a:pt x="329458" y="253758"/>
                  <a:pt x="326749" y="242461"/>
                  <a:pt x="321491" y="231801"/>
                </a:cubicBezTo>
                <a:cubicBezTo>
                  <a:pt x="308585" y="205708"/>
                  <a:pt x="282296" y="189320"/>
                  <a:pt x="252978" y="189320"/>
                </a:cubicBezTo>
                <a:cubicBezTo>
                  <a:pt x="222227" y="189320"/>
                  <a:pt x="194663" y="207617"/>
                  <a:pt x="182554" y="235938"/>
                </a:cubicBezTo>
                <a:cubicBezTo>
                  <a:pt x="175702" y="252167"/>
                  <a:pt x="157060" y="259804"/>
                  <a:pt x="140809" y="252803"/>
                </a:cubicBezTo>
                <a:cubicBezTo>
                  <a:pt x="124716" y="245962"/>
                  <a:pt x="117068" y="227346"/>
                  <a:pt x="123919" y="211117"/>
                </a:cubicBezTo>
                <a:cubicBezTo>
                  <a:pt x="145907" y="159249"/>
                  <a:pt x="196575" y="125677"/>
                  <a:pt x="252978" y="125677"/>
                </a:cubicBezTo>
                <a:close/>
                <a:moveTo>
                  <a:pt x="253330" y="0"/>
                </a:moveTo>
                <a:cubicBezTo>
                  <a:pt x="393060" y="0"/>
                  <a:pt x="506660" y="113437"/>
                  <a:pt x="506660" y="252966"/>
                </a:cubicBezTo>
                <a:lnTo>
                  <a:pt x="506660" y="571162"/>
                </a:lnTo>
                <a:cubicBezTo>
                  <a:pt x="506660" y="588663"/>
                  <a:pt x="492480" y="602982"/>
                  <a:pt x="474795" y="602982"/>
                </a:cubicBezTo>
                <a:cubicBezTo>
                  <a:pt x="457269" y="602982"/>
                  <a:pt x="442929" y="588663"/>
                  <a:pt x="442929" y="571162"/>
                </a:cubicBezTo>
                <a:lnTo>
                  <a:pt x="442929" y="252966"/>
                </a:lnTo>
                <a:cubicBezTo>
                  <a:pt x="442929" y="148598"/>
                  <a:pt x="357849" y="63639"/>
                  <a:pt x="253330" y="63639"/>
                </a:cubicBezTo>
                <a:cubicBezTo>
                  <a:pt x="148811" y="63639"/>
                  <a:pt x="63731" y="148598"/>
                  <a:pt x="63731" y="252966"/>
                </a:cubicBezTo>
                <a:lnTo>
                  <a:pt x="63731" y="311514"/>
                </a:lnTo>
                <a:cubicBezTo>
                  <a:pt x="63731" y="329174"/>
                  <a:pt x="49391" y="343334"/>
                  <a:pt x="31865" y="343334"/>
                </a:cubicBezTo>
                <a:cubicBezTo>
                  <a:pt x="14180" y="343334"/>
                  <a:pt x="0" y="329174"/>
                  <a:pt x="0" y="311514"/>
                </a:cubicBezTo>
                <a:lnTo>
                  <a:pt x="0" y="252966"/>
                </a:lnTo>
                <a:cubicBezTo>
                  <a:pt x="0" y="113437"/>
                  <a:pt x="113600" y="0"/>
                  <a:pt x="253330" y="0"/>
                </a:cubicBezTo>
                <a:close/>
              </a:path>
            </a:pathLst>
          </a:custGeom>
          <a:noFill/>
          <a:ln>
            <a:solidFill>
              <a:srgbClr val="00B050"/>
            </a:solidFill>
          </a:ln>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6378154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Common RAID Types</a:t>
            </a:r>
          </a:p>
        </p:txBody>
      </p:sp>
      <p:grpSp>
        <p:nvGrpSpPr>
          <p:cNvPr id="3" name="组合 2"/>
          <p:cNvGrpSpPr/>
          <p:nvPr/>
        </p:nvGrpSpPr>
        <p:grpSpPr>
          <a:xfrm>
            <a:off x="1541494" y="1484784"/>
            <a:ext cx="3618402" cy="1922827"/>
            <a:chOff x="1433482" y="1560777"/>
            <a:chExt cx="3618402" cy="1922827"/>
          </a:xfrm>
        </p:grpSpPr>
        <p:sp>
          <p:nvSpPr>
            <p:cNvPr id="4" name="矩形 3"/>
            <p:cNvSpPr/>
            <p:nvPr/>
          </p:nvSpPr>
          <p:spPr bwMode="auto">
            <a:xfrm>
              <a:off x="1433482" y="2026123"/>
              <a:ext cx="936104" cy="1404156"/>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宋体" pitchFamily="2" charset="-122"/>
              </a:endParaRPr>
            </a:p>
          </p:txBody>
        </p:sp>
        <p:sp>
          <p:nvSpPr>
            <p:cNvPr id="5" name="流程图: 磁盘 4"/>
            <p:cNvSpPr/>
            <p:nvPr/>
          </p:nvSpPr>
          <p:spPr bwMode="auto">
            <a:xfrm>
              <a:off x="1595500" y="3032956"/>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6" name="流程图: 磁盘 5"/>
            <p:cNvSpPr/>
            <p:nvPr/>
          </p:nvSpPr>
          <p:spPr bwMode="auto">
            <a:xfrm>
              <a:off x="1595500" y="284561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D1</a:t>
              </a:r>
            </a:p>
          </p:txBody>
        </p:sp>
        <p:sp>
          <p:nvSpPr>
            <p:cNvPr id="7" name="流程图: 磁盘 6"/>
            <p:cNvSpPr/>
            <p:nvPr/>
          </p:nvSpPr>
          <p:spPr bwMode="auto">
            <a:xfrm>
              <a:off x="1595500" y="266559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8" name="流程图: 磁盘 7"/>
            <p:cNvSpPr/>
            <p:nvPr/>
          </p:nvSpPr>
          <p:spPr bwMode="auto">
            <a:xfrm>
              <a:off x="1595500" y="2492896"/>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D3</a:t>
              </a:r>
            </a:p>
          </p:txBody>
        </p:sp>
        <p:sp>
          <p:nvSpPr>
            <p:cNvPr id="9" name="流程图: 磁盘 8"/>
            <p:cNvSpPr/>
            <p:nvPr/>
          </p:nvSpPr>
          <p:spPr bwMode="auto">
            <a:xfrm>
              <a:off x="1595500" y="2312876"/>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D4</a:t>
              </a:r>
            </a:p>
          </p:txBody>
        </p:sp>
        <p:grpSp>
          <p:nvGrpSpPr>
            <p:cNvPr id="10" name="组合 9"/>
            <p:cNvGrpSpPr/>
            <p:nvPr/>
          </p:nvGrpSpPr>
          <p:grpSpPr>
            <a:xfrm>
              <a:off x="3215680" y="2447132"/>
              <a:ext cx="612068" cy="648072"/>
              <a:chOff x="2495600" y="1700808"/>
              <a:chExt cx="612068" cy="648072"/>
            </a:xfrm>
          </p:grpSpPr>
          <p:sp>
            <p:nvSpPr>
              <p:cNvPr id="20" name="流程图: 磁盘 19"/>
              <p:cNvSpPr/>
              <p:nvPr/>
            </p:nvSpPr>
            <p:spPr bwMode="auto">
              <a:xfrm>
                <a:off x="2495600"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21" name="流程图: 磁盘 20"/>
              <p:cNvSpPr/>
              <p:nvPr/>
            </p:nvSpPr>
            <p:spPr bwMode="auto">
              <a:xfrm>
                <a:off x="2495600"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22" name="流程图: 磁盘 21"/>
              <p:cNvSpPr/>
              <p:nvPr/>
            </p:nvSpPr>
            <p:spPr bwMode="auto">
              <a:xfrm>
                <a:off x="2495600"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D4</a:t>
                </a:r>
              </a:p>
            </p:txBody>
          </p:sp>
        </p:grpSp>
        <p:grpSp>
          <p:nvGrpSpPr>
            <p:cNvPr id="11" name="组合 10"/>
            <p:cNvGrpSpPr/>
            <p:nvPr/>
          </p:nvGrpSpPr>
          <p:grpSpPr>
            <a:xfrm>
              <a:off x="4151784" y="2447132"/>
              <a:ext cx="612068" cy="648072"/>
              <a:chOff x="3467708" y="1700808"/>
              <a:chExt cx="612068" cy="648072"/>
            </a:xfrm>
          </p:grpSpPr>
          <p:sp>
            <p:nvSpPr>
              <p:cNvPr id="17" name="流程图: 磁盘 16"/>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D1</a:t>
                </a:r>
              </a:p>
            </p:txBody>
          </p:sp>
          <p:sp>
            <p:nvSpPr>
              <p:cNvPr id="18" name="流程图: 磁盘 17"/>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D3</a:t>
                </a:r>
              </a:p>
            </p:txBody>
          </p:sp>
          <p:sp>
            <p:nvSpPr>
              <p:cNvPr id="19" name="流程图: 磁盘 18"/>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D5</a:t>
                </a:r>
              </a:p>
            </p:txBody>
          </p:sp>
        </p:grpSp>
        <p:sp>
          <p:nvSpPr>
            <p:cNvPr id="12" name="下箭头标注 11"/>
            <p:cNvSpPr/>
            <p:nvPr/>
          </p:nvSpPr>
          <p:spPr bwMode="auto">
            <a:xfrm>
              <a:off x="2927648" y="1844824"/>
              <a:ext cx="2124236" cy="468052"/>
            </a:xfrm>
            <a:prstGeom prst="downArrowCallou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D0, D1, D2, D3, D4, D5</a:t>
              </a:r>
            </a:p>
          </p:txBody>
        </p:sp>
        <p:sp>
          <p:nvSpPr>
            <p:cNvPr id="13" name="文本框 12"/>
            <p:cNvSpPr txBox="1"/>
            <p:nvPr/>
          </p:nvSpPr>
          <p:spPr bwMode="auto">
            <a:xfrm>
              <a:off x="3089666" y="316721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1</a:t>
              </a:r>
            </a:p>
          </p:txBody>
        </p:sp>
        <p:sp>
          <p:nvSpPr>
            <p:cNvPr id="14" name="文本框 13"/>
            <p:cNvSpPr txBox="1"/>
            <p:nvPr/>
          </p:nvSpPr>
          <p:spPr bwMode="auto">
            <a:xfrm>
              <a:off x="4079776" y="316721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2</a:t>
              </a:r>
            </a:p>
          </p:txBody>
        </p:sp>
        <p:sp>
          <p:nvSpPr>
            <p:cNvPr id="15" name="流程图: 磁盘 14"/>
            <p:cNvSpPr/>
            <p:nvPr/>
          </p:nvSpPr>
          <p:spPr bwMode="auto">
            <a:xfrm>
              <a:off x="1595500" y="2140174"/>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D5</a:t>
              </a:r>
            </a:p>
          </p:txBody>
        </p:sp>
        <p:sp>
          <p:nvSpPr>
            <p:cNvPr id="16" name="文本框 15"/>
            <p:cNvSpPr txBox="1"/>
            <p:nvPr/>
          </p:nvSpPr>
          <p:spPr bwMode="auto">
            <a:xfrm>
              <a:off x="1451484" y="1560777"/>
              <a:ext cx="1008112"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Disks</a:t>
              </a:r>
            </a:p>
          </p:txBody>
        </p:sp>
      </p:grpSp>
      <p:sp>
        <p:nvSpPr>
          <p:cNvPr id="25" name="矩形 24"/>
          <p:cNvSpPr/>
          <p:nvPr/>
        </p:nvSpPr>
        <p:spPr bwMode="auto">
          <a:xfrm>
            <a:off x="10184156" y="2161877"/>
            <a:ext cx="939600" cy="928786"/>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宋体" pitchFamily="2" charset="-122"/>
            </a:endParaRPr>
          </a:p>
        </p:txBody>
      </p:sp>
      <p:sp>
        <p:nvSpPr>
          <p:cNvPr id="26" name="流程图: 磁盘 25"/>
          <p:cNvSpPr/>
          <p:nvPr/>
        </p:nvSpPr>
        <p:spPr bwMode="auto">
          <a:xfrm>
            <a:off x="10344472" y="2663390"/>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27" name="流程图: 磁盘 26"/>
          <p:cNvSpPr/>
          <p:nvPr/>
        </p:nvSpPr>
        <p:spPr bwMode="auto">
          <a:xfrm>
            <a:off x="10344472" y="24915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D1</a:t>
            </a:r>
          </a:p>
        </p:txBody>
      </p:sp>
      <p:grpSp>
        <p:nvGrpSpPr>
          <p:cNvPr id="28" name="组合 27"/>
          <p:cNvGrpSpPr/>
          <p:nvPr/>
        </p:nvGrpSpPr>
        <p:grpSpPr>
          <a:xfrm>
            <a:off x="7469672" y="2343201"/>
            <a:ext cx="612068" cy="648072"/>
            <a:chOff x="2495600" y="1700808"/>
            <a:chExt cx="612068" cy="648072"/>
          </a:xfrm>
        </p:grpSpPr>
        <p:sp>
          <p:nvSpPr>
            <p:cNvPr id="38" name="流程图: 磁盘 37"/>
            <p:cNvSpPr/>
            <p:nvPr/>
          </p:nvSpPr>
          <p:spPr bwMode="auto">
            <a:xfrm>
              <a:off x="2495600"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39" name="流程图: 磁盘 38"/>
            <p:cNvSpPr/>
            <p:nvPr/>
          </p:nvSpPr>
          <p:spPr bwMode="auto">
            <a:xfrm>
              <a:off x="2495600"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D1</a:t>
              </a:r>
            </a:p>
          </p:txBody>
        </p:sp>
        <p:sp>
          <p:nvSpPr>
            <p:cNvPr id="40" name="流程图: 磁盘 39"/>
            <p:cNvSpPr/>
            <p:nvPr/>
          </p:nvSpPr>
          <p:spPr bwMode="auto">
            <a:xfrm>
              <a:off x="2495600"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D2</a:t>
              </a:r>
            </a:p>
          </p:txBody>
        </p:sp>
      </p:grpSp>
      <p:grpSp>
        <p:nvGrpSpPr>
          <p:cNvPr id="29" name="组合 28"/>
          <p:cNvGrpSpPr/>
          <p:nvPr/>
        </p:nvGrpSpPr>
        <p:grpSpPr>
          <a:xfrm>
            <a:off x="8405776" y="2343201"/>
            <a:ext cx="612068" cy="648072"/>
            <a:chOff x="3467708" y="1700808"/>
            <a:chExt cx="612068" cy="648072"/>
          </a:xfrm>
        </p:grpSpPr>
        <p:sp>
          <p:nvSpPr>
            <p:cNvPr id="35" name="流程图: 磁盘 34"/>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36" name="流程图: 磁盘 35"/>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D1</a:t>
              </a:r>
            </a:p>
          </p:txBody>
        </p:sp>
        <p:sp>
          <p:nvSpPr>
            <p:cNvPr id="37" name="流程图: 磁盘 36"/>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D2</a:t>
              </a:r>
            </a:p>
          </p:txBody>
        </p:sp>
      </p:grpSp>
      <p:sp>
        <p:nvSpPr>
          <p:cNvPr id="30" name="下箭头标注 29"/>
          <p:cNvSpPr/>
          <p:nvPr/>
        </p:nvSpPr>
        <p:spPr bwMode="auto">
          <a:xfrm>
            <a:off x="7181640" y="1740893"/>
            <a:ext cx="2124236" cy="468052"/>
          </a:xfrm>
          <a:prstGeom prst="downArrowCallou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D0, D1, D2</a:t>
            </a:r>
          </a:p>
        </p:txBody>
      </p:sp>
      <p:sp>
        <p:nvSpPr>
          <p:cNvPr id="31" name="文本框 30"/>
          <p:cNvSpPr txBox="1"/>
          <p:nvPr/>
        </p:nvSpPr>
        <p:spPr bwMode="auto">
          <a:xfrm>
            <a:off x="7343658" y="3063281"/>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1</a:t>
            </a:r>
          </a:p>
        </p:txBody>
      </p:sp>
      <p:sp>
        <p:nvSpPr>
          <p:cNvPr id="32" name="文本框 31"/>
          <p:cNvSpPr txBox="1"/>
          <p:nvPr/>
        </p:nvSpPr>
        <p:spPr bwMode="auto">
          <a:xfrm>
            <a:off x="8333768" y="3063281"/>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2</a:t>
            </a:r>
          </a:p>
        </p:txBody>
      </p:sp>
      <p:sp>
        <p:nvSpPr>
          <p:cNvPr id="33" name="流程图: 磁盘 32"/>
          <p:cNvSpPr/>
          <p:nvPr/>
        </p:nvSpPr>
        <p:spPr bwMode="auto">
          <a:xfrm>
            <a:off x="10344472" y="2314841"/>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D2</a:t>
            </a:r>
          </a:p>
        </p:txBody>
      </p:sp>
      <p:sp>
        <p:nvSpPr>
          <p:cNvPr id="34" name="文本框 33"/>
          <p:cNvSpPr txBox="1"/>
          <p:nvPr/>
        </p:nvSpPr>
        <p:spPr bwMode="auto">
          <a:xfrm>
            <a:off x="10200456" y="1700808"/>
            <a:ext cx="1008112"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Disks</a:t>
            </a:r>
          </a:p>
        </p:txBody>
      </p:sp>
      <p:grpSp>
        <p:nvGrpSpPr>
          <p:cNvPr id="43" name="组合 42"/>
          <p:cNvGrpSpPr/>
          <p:nvPr/>
        </p:nvGrpSpPr>
        <p:grpSpPr>
          <a:xfrm>
            <a:off x="1557670" y="4005064"/>
            <a:ext cx="3742430" cy="2343355"/>
            <a:chOff x="1557670" y="4005064"/>
            <a:chExt cx="3742430" cy="2343355"/>
          </a:xfrm>
        </p:grpSpPr>
        <p:sp>
          <p:nvSpPr>
            <p:cNvPr id="44" name="矩形 43"/>
            <p:cNvSpPr/>
            <p:nvPr/>
          </p:nvSpPr>
          <p:spPr bwMode="auto">
            <a:xfrm>
              <a:off x="1557670" y="4473116"/>
              <a:ext cx="937930" cy="1875303"/>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宋体" pitchFamily="2" charset="-122"/>
              </a:endParaRPr>
            </a:p>
          </p:txBody>
        </p:sp>
        <p:sp>
          <p:nvSpPr>
            <p:cNvPr id="45" name="流程图: 磁盘 44"/>
            <p:cNvSpPr/>
            <p:nvPr/>
          </p:nvSpPr>
          <p:spPr bwMode="auto">
            <a:xfrm>
              <a:off x="1715063" y="5952504"/>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46" name="流程图: 磁盘 45"/>
            <p:cNvSpPr/>
            <p:nvPr/>
          </p:nvSpPr>
          <p:spPr bwMode="auto">
            <a:xfrm>
              <a:off x="1715063" y="5779802"/>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D1</a:t>
              </a:r>
            </a:p>
          </p:txBody>
        </p:sp>
        <p:grpSp>
          <p:nvGrpSpPr>
            <p:cNvPr id="47" name="组合 46"/>
            <p:cNvGrpSpPr/>
            <p:nvPr/>
          </p:nvGrpSpPr>
          <p:grpSpPr>
            <a:xfrm>
              <a:off x="3004170" y="5200840"/>
              <a:ext cx="612068" cy="648072"/>
              <a:chOff x="2495600" y="1700808"/>
              <a:chExt cx="612068" cy="648072"/>
            </a:xfrm>
          </p:grpSpPr>
          <p:sp>
            <p:nvSpPr>
              <p:cNvPr id="68" name="流程图: 磁盘 67"/>
              <p:cNvSpPr/>
              <p:nvPr/>
            </p:nvSpPr>
            <p:spPr bwMode="auto">
              <a:xfrm>
                <a:off x="2495600"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69" name="流程图: 磁盘 68"/>
              <p:cNvSpPr/>
              <p:nvPr/>
            </p:nvSpPr>
            <p:spPr bwMode="auto">
              <a:xfrm>
                <a:off x="2495600"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70" name="流程图: 磁盘 69"/>
              <p:cNvSpPr/>
              <p:nvPr/>
            </p:nvSpPr>
            <p:spPr bwMode="auto">
              <a:xfrm>
                <a:off x="2495600"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P2</a:t>
                </a:r>
              </a:p>
            </p:txBody>
          </p:sp>
        </p:grpSp>
        <p:grpSp>
          <p:nvGrpSpPr>
            <p:cNvPr id="48" name="组合 47"/>
            <p:cNvGrpSpPr/>
            <p:nvPr/>
          </p:nvGrpSpPr>
          <p:grpSpPr>
            <a:xfrm>
              <a:off x="3787932" y="5200840"/>
              <a:ext cx="612068" cy="648072"/>
              <a:chOff x="3467708" y="1700808"/>
              <a:chExt cx="612068" cy="648072"/>
            </a:xfrm>
          </p:grpSpPr>
          <p:sp>
            <p:nvSpPr>
              <p:cNvPr id="65" name="流程图: 磁盘 64"/>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D1</a:t>
                </a:r>
              </a:p>
            </p:txBody>
          </p:sp>
          <p:sp>
            <p:nvSpPr>
              <p:cNvPr id="66" name="流程图: 磁盘 65"/>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P1</a:t>
                </a:r>
              </a:p>
            </p:txBody>
          </p:sp>
          <p:sp>
            <p:nvSpPr>
              <p:cNvPr id="67" name="流程图: 磁盘 66"/>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D4</a:t>
                </a:r>
              </a:p>
            </p:txBody>
          </p:sp>
        </p:grpSp>
        <p:sp>
          <p:nvSpPr>
            <p:cNvPr id="49" name="下箭头标注 48"/>
            <p:cNvSpPr/>
            <p:nvPr/>
          </p:nvSpPr>
          <p:spPr bwMode="auto">
            <a:xfrm>
              <a:off x="3040174" y="4598532"/>
              <a:ext cx="2124236" cy="468052"/>
            </a:xfrm>
            <a:prstGeom prst="downArrowCallou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D0, D1, D2, D3, D4, D5</a:t>
              </a:r>
            </a:p>
          </p:txBody>
        </p:sp>
        <p:sp>
          <p:nvSpPr>
            <p:cNvPr id="50" name="文本框 49"/>
            <p:cNvSpPr txBox="1"/>
            <p:nvPr/>
          </p:nvSpPr>
          <p:spPr bwMode="auto">
            <a:xfrm>
              <a:off x="2878156" y="5920920"/>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1</a:t>
              </a:r>
            </a:p>
          </p:txBody>
        </p:sp>
        <p:sp>
          <p:nvSpPr>
            <p:cNvPr id="51" name="文本框 50"/>
            <p:cNvSpPr txBox="1"/>
            <p:nvPr/>
          </p:nvSpPr>
          <p:spPr bwMode="auto">
            <a:xfrm>
              <a:off x="3643916" y="5920920"/>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2</a:t>
              </a:r>
            </a:p>
          </p:txBody>
        </p:sp>
        <p:sp>
          <p:nvSpPr>
            <p:cNvPr id="52" name="文本框 51"/>
            <p:cNvSpPr txBox="1"/>
            <p:nvPr/>
          </p:nvSpPr>
          <p:spPr bwMode="auto">
            <a:xfrm>
              <a:off x="1560075" y="4005064"/>
              <a:ext cx="1008112"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Logical Disks</a:t>
              </a:r>
            </a:p>
          </p:txBody>
        </p:sp>
        <p:grpSp>
          <p:nvGrpSpPr>
            <p:cNvPr id="53" name="组合 52"/>
            <p:cNvGrpSpPr/>
            <p:nvPr/>
          </p:nvGrpSpPr>
          <p:grpSpPr>
            <a:xfrm>
              <a:off x="4580020" y="5210600"/>
              <a:ext cx="612068" cy="648072"/>
              <a:chOff x="3467708" y="1700808"/>
              <a:chExt cx="612068" cy="648072"/>
            </a:xfrm>
          </p:grpSpPr>
          <p:sp>
            <p:nvSpPr>
              <p:cNvPr id="62" name="流程图: 磁盘 61"/>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P0</a:t>
                </a:r>
              </a:p>
            </p:txBody>
          </p:sp>
          <p:sp>
            <p:nvSpPr>
              <p:cNvPr id="63" name="流程图: 磁盘 62"/>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D3</a:t>
                </a:r>
              </a:p>
            </p:txBody>
          </p:sp>
          <p:sp>
            <p:nvSpPr>
              <p:cNvPr id="64" name="流程图: 磁盘 63"/>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D5</a:t>
                </a:r>
              </a:p>
            </p:txBody>
          </p:sp>
        </p:grpSp>
        <p:sp>
          <p:nvSpPr>
            <p:cNvPr id="54" name="文本框 53"/>
            <p:cNvSpPr txBox="1"/>
            <p:nvPr/>
          </p:nvSpPr>
          <p:spPr bwMode="auto">
            <a:xfrm>
              <a:off x="4436004" y="5916500"/>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3</a:t>
              </a:r>
            </a:p>
          </p:txBody>
        </p:sp>
        <p:sp>
          <p:nvSpPr>
            <p:cNvPr id="55" name="流程图: 磁盘 54"/>
            <p:cNvSpPr/>
            <p:nvPr/>
          </p:nvSpPr>
          <p:spPr bwMode="auto">
            <a:xfrm>
              <a:off x="1715063" y="5607100"/>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latin typeface="Arial" panose="020B0604020202020204" pitchFamily="34" charset="0"/>
                  <a:ea typeface="宋体" pitchFamily="2" charset="-122"/>
                </a:rPr>
                <a:t>P0</a:t>
              </a:r>
            </a:p>
          </p:txBody>
        </p:sp>
        <p:sp>
          <p:nvSpPr>
            <p:cNvPr id="56" name="流程图: 磁盘 55"/>
            <p:cNvSpPr/>
            <p:nvPr/>
          </p:nvSpPr>
          <p:spPr bwMode="auto">
            <a:xfrm>
              <a:off x="1715063" y="5445224"/>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57" name="流程图: 磁盘 56"/>
            <p:cNvSpPr/>
            <p:nvPr/>
          </p:nvSpPr>
          <p:spPr bwMode="auto">
            <a:xfrm>
              <a:off x="1715063" y="5275324"/>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P1</a:t>
              </a:r>
            </a:p>
          </p:txBody>
        </p:sp>
        <p:sp>
          <p:nvSpPr>
            <p:cNvPr id="58" name="流程图: 磁盘 57"/>
            <p:cNvSpPr/>
            <p:nvPr/>
          </p:nvSpPr>
          <p:spPr bwMode="auto">
            <a:xfrm>
              <a:off x="1715063" y="5116250"/>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D3</a:t>
              </a:r>
            </a:p>
          </p:txBody>
        </p:sp>
        <p:sp>
          <p:nvSpPr>
            <p:cNvPr id="59" name="流程图: 磁盘 58"/>
            <p:cNvSpPr/>
            <p:nvPr/>
          </p:nvSpPr>
          <p:spPr bwMode="auto">
            <a:xfrm>
              <a:off x="1715063" y="495459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P2</a:t>
              </a:r>
            </a:p>
          </p:txBody>
        </p:sp>
        <p:sp>
          <p:nvSpPr>
            <p:cNvPr id="60" name="流程图: 磁盘 59"/>
            <p:cNvSpPr/>
            <p:nvPr/>
          </p:nvSpPr>
          <p:spPr bwMode="auto">
            <a:xfrm>
              <a:off x="1715063" y="4781896"/>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D4</a:t>
              </a:r>
            </a:p>
          </p:txBody>
        </p:sp>
        <p:sp>
          <p:nvSpPr>
            <p:cNvPr id="61" name="流程图: 磁盘 60"/>
            <p:cNvSpPr/>
            <p:nvPr/>
          </p:nvSpPr>
          <p:spPr bwMode="auto">
            <a:xfrm>
              <a:off x="1715063" y="4609194"/>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D5</a:t>
              </a:r>
            </a:p>
          </p:txBody>
        </p:sp>
      </p:grpSp>
      <p:sp>
        <p:nvSpPr>
          <p:cNvPr id="73" name="矩形 72"/>
          <p:cNvSpPr/>
          <p:nvPr/>
        </p:nvSpPr>
        <p:spPr bwMode="auto">
          <a:xfrm>
            <a:off x="10220160" y="3753036"/>
            <a:ext cx="937930" cy="2595383"/>
          </a:xfrm>
          <a:prstGeom prst="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smtClean="0">
              <a:ln>
                <a:noFill/>
              </a:ln>
              <a:solidFill>
                <a:schemeClr val="tx1"/>
              </a:solidFill>
              <a:effectLst/>
              <a:latin typeface="Arial" panose="020B0604020202020204" pitchFamily="34" charset="0"/>
              <a:ea typeface="宋体" pitchFamily="2" charset="-122"/>
            </a:endParaRPr>
          </a:p>
        </p:txBody>
      </p:sp>
      <p:sp>
        <p:nvSpPr>
          <p:cNvPr id="74" name="流程图: 磁盘 73"/>
          <p:cNvSpPr/>
          <p:nvPr/>
        </p:nvSpPr>
        <p:spPr bwMode="auto">
          <a:xfrm>
            <a:off x="10387783" y="5985695"/>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75" name="流程图: 磁盘 74"/>
          <p:cNvSpPr/>
          <p:nvPr/>
        </p:nvSpPr>
        <p:spPr bwMode="auto">
          <a:xfrm>
            <a:off x="10387783" y="5835714"/>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D1</a:t>
            </a:r>
          </a:p>
        </p:txBody>
      </p:sp>
      <p:grpSp>
        <p:nvGrpSpPr>
          <p:cNvPr id="76" name="组合 75"/>
          <p:cNvGrpSpPr/>
          <p:nvPr/>
        </p:nvGrpSpPr>
        <p:grpSpPr>
          <a:xfrm>
            <a:off x="6906090" y="5206943"/>
            <a:ext cx="612068" cy="642801"/>
            <a:chOff x="2495600" y="1706079"/>
            <a:chExt cx="612068" cy="642801"/>
          </a:xfrm>
        </p:grpSpPr>
        <p:sp>
          <p:nvSpPr>
            <p:cNvPr id="113" name="流程图: 磁盘 112"/>
            <p:cNvSpPr/>
            <p:nvPr/>
          </p:nvSpPr>
          <p:spPr bwMode="auto">
            <a:xfrm>
              <a:off x="2495600"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D0</a:t>
              </a:r>
            </a:p>
          </p:txBody>
        </p:sp>
        <p:sp>
          <p:nvSpPr>
            <p:cNvPr id="114" name="流程图: 磁盘 113"/>
            <p:cNvSpPr/>
            <p:nvPr/>
          </p:nvSpPr>
          <p:spPr bwMode="auto">
            <a:xfrm>
              <a:off x="2495600"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115" name="流程图: 磁盘 114"/>
            <p:cNvSpPr/>
            <p:nvPr/>
          </p:nvSpPr>
          <p:spPr bwMode="auto">
            <a:xfrm>
              <a:off x="2495600" y="1706079"/>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P2</a:t>
              </a:r>
            </a:p>
          </p:txBody>
        </p:sp>
      </p:grpSp>
      <p:grpSp>
        <p:nvGrpSpPr>
          <p:cNvPr id="77" name="组合 76"/>
          <p:cNvGrpSpPr/>
          <p:nvPr/>
        </p:nvGrpSpPr>
        <p:grpSpPr>
          <a:xfrm>
            <a:off x="7653848" y="5201672"/>
            <a:ext cx="612068" cy="648072"/>
            <a:chOff x="3467708" y="1700808"/>
            <a:chExt cx="612068" cy="648072"/>
          </a:xfrm>
        </p:grpSpPr>
        <p:sp>
          <p:nvSpPr>
            <p:cNvPr id="110" name="流程图: 磁盘 109"/>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D1</a:t>
              </a:r>
            </a:p>
          </p:txBody>
        </p:sp>
        <p:sp>
          <p:nvSpPr>
            <p:cNvPr id="111" name="流程图: 磁盘 110"/>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a:latin typeface="Arial" panose="020B0604020202020204" pitchFamily="34" charset="0"/>
                  <a:ea typeface="宋体" pitchFamily="2" charset="-122"/>
                </a:rPr>
                <a:t>P1</a:t>
              </a:r>
            </a:p>
            <a:p>
              <a:pPr marL="0" marR="0" indent="0" algn="ctr" defTabSz="914400" rtl="0" eaLnBrk="1" fontAlgn="t" latinLnBrk="0" hangingPunct="1">
                <a:lnSpc>
                  <a:spcPct val="100000"/>
                </a:lnSpc>
                <a:spcBef>
                  <a:spcPct val="0"/>
                </a:spcBef>
                <a:spcAft>
                  <a:spcPct val="0"/>
                </a:spcAft>
                <a:buClrTx/>
                <a:buSzTx/>
                <a:buFontTx/>
                <a:buNone/>
                <a:tabLst/>
              </a:pPr>
              <a:endParaRPr kumimoji="0" lang="zh-CN" altLang="en-US" sz="1000" b="1" i="0" u="none" strike="noStrike" cap="none" normalizeH="0" baseline="0" dirty="0" smtClean="0">
                <a:ln>
                  <a:noFill/>
                </a:ln>
                <a:solidFill>
                  <a:schemeClr val="tx1"/>
                </a:solidFill>
                <a:effectLst/>
                <a:latin typeface="Arial" panose="020B0604020202020204" pitchFamily="34" charset="0"/>
                <a:ea typeface="宋体" pitchFamily="2" charset="-122"/>
              </a:endParaRPr>
            </a:p>
          </p:txBody>
        </p:sp>
        <p:sp>
          <p:nvSpPr>
            <p:cNvPr id="112" name="流程图: 磁盘 111"/>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a:t>
              </a:r>
              <a:r>
                <a:rPr kumimoji="0" lang="en-US" sz="1000" b="1" i="0" u="none" strike="noStrike" cap="none" normalizeH="0" baseline="0" dirty="0">
                  <a:ln>
                    <a:noFill/>
                  </a:ln>
                  <a:solidFill>
                    <a:schemeClr val="tx1"/>
                  </a:solidFill>
                  <a:latin typeface="Arial" panose="020B0604020202020204" pitchFamily="34" charset="0"/>
                  <a:ea typeface="宋体" pitchFamily="2" charset="-122"/>
                </a:rPr>
                <a:t>2</a:t>
              </a:r>
            </a:p>
          </p:txBody>
        </p:sp>
      </p:grpSp>
      <p:sp>
        <p:nvSpPr>
          <p:cNvPr id="78" name="下箭头标注 77"/>
          <p:cNvSpPr/>
          <p:nvPr/>
        </p:nvSpPr>
        <p:spPr bwMode="auto">
          <a:xfrm>
            <a:off x="7079128" y="4479961"/>
            <a:ext cx="2517592" cy="468052"/>
          </a:xfrm>
          <a:prstGeom prst="downArrowCallou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smtClean="0">
                <a:latin typeface="Arial" panose="020B0604020202020204" pitchFamily="34" charset="0"/>
                <a:ea typeface="宋体" pitchFamily="2" charset="-122"/>
              </a:rPr>
              <a:t>D0, D1, D2, D3, D4, D5, D6, D7                                          </a:t>
            </a:r>
            <a:endParaRPr lang="en-US" dirty="0">
              <a:latin typeface="Arial" panose="020B0604020202020204" pitchFamily="34" charset="0"/>
              <a:ea typeface="宋体" pitchFamily="2" charset="-122"/>
            </a:endParaRPr>
          </a:p>
        </p:txBody>
      </p:sp>
      <p:sp>
        <p:nvSpPr>
          <p:cNvPr id="79" name="文本框 78"/>
          <p:cNvSpPr txBox="1"/>
          <p:nvPr/>
        </p:nvSpPr>
        <p:spPr bwMode="auto">
          <a:xfrm>
            <a:off x="6780076" y="592175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1</a:t>
            </a:r>
          </a:p>
        </p:txBody>
      </p:sp>
      <p:sp>
        <p:nvSpPr>
          <p:cNvPr id="80" name="文本框 79"/>
          <p:cNvSpPr txBox="1"/>
          <p:nvPr/>
        </p:nvSpPr>
        <p:spPr bwMode="auto">
          <a:xfrm>
            <a:off x="7545836" y="592175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2</a:t>
            </a:r>
          </a:p>
        </p:txBody>
      </p:sp>
      <p:grpSp>
        <p:nvGrpSpPr>
          <p:cNvPr id="82" name="组合 81"/>
          <p:cNvGrpSpPr/>
          <p:nvPr/>
        </p:nvGrpSpPr>
        <p:grpSpPr>
          <a:xfrm>
            <a:off x="8409932" y="5211432"/>
            <a:ext cx="612068" cy="648072"/>
            <a:chOff x="3467708" y="1700808"/>
            <a:chExt cx="612068" cy="648072"/>
          </a:xfrm>
        </p:grpSpPr>
        <p:sp>
          <p:nvSpPr>
            <p:cNvPr id="107" name="流程图: 磁盘 106"/>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latin typeface="Arial" panose="020B0604020202020204" pitchFamily="34" charset="0"/>
                  <a:ea typeface="宋体" pitchFamily="2" charset="-122"/>
                </a:rPr>
                <a:t>P0</a:t>
              </a:r>
            </a:p>
          </p:txBody>
        </p:sp>
        <p:sp>
          <p:nvSpPr>
            <p:cNvPr id="108" name="流程图: 磁盘 107"/>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latin typeface="Arial" panose="020B0604020202020204" pitchFamily="34" charset="0"/>
                  <a:ea typeface="宋体" pitchFamily="2" charset="-122"/>
                </a:rPr>
                <a:t>Q1</a:t>
              </a:r>
            </a:p>
          </p:txBody>
        </p:sp>
        <p:sp>
          <p:nvSpPr>
            <p:cNvPr id="109" name="流程图: 磁盘 108"/>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D4</a:t>
              </a:r>
            </a:p>
          </p:txBody>
        </p:sp>
      </p:grpSp>
      <p:sp>
        <p:nvSpPr>
          <p:cNvPr id="83" name="文本框 82"/>
          <p:cNvSpPr txBox="1"/>
          <p:nvPr/>
        </p:nvSpPr>
        <p:spPr bwMode="auto">
          <a:xfrm>
            <a:off x="8337924" y="591733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3</a:t>
            </a:r>
          </a:p>
        </p:txBody>
      </p:sp>
      <p:sp>
        <p:nvSpPr>
          <p:cNvPr id="84" name="流程图: 磁盘 83"/>
          <p:cNvSpPr/>
          <p:nvPr/>
        </p:nvSpPr>
        <p:spPr bwMode="auto">
          <a:xfrm>
            <a:off x="10387783" y="5678415"/>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solidFill>
                <a:latin typeface="Arial" panose="020B0604020202020204" pitchFamily="34" charset="0"/>
                <a:ea typeface="宋体" pitchFamily="2" charset="-122"/>
              </a:rPr>
              <a:t>P0</a:t>
            </a:r>
          </a:p>
        </p:txBody>
      </p:sp>
      <p:grpSp>
        <p:nvGrpSpPr>
          <p:cNvPr id="85" name="组合 84"/>
          <p:cNvGrpSpPr/>
          <p:nvPr/>
        </p:nvGrpSpPr>
        <p:grpSpPr>
          <a:xfrm>
            <a:off x="9166016" y="5204004"/>
            <a:ext cx="612068" cy="648072"/>
            <a:chOff x="3467708" y="1700808"/>
            <a:chExt cx="612068" cy="648072"/>
          </a:xfrm>
        </p:grpSpPr>
        <p:sp>
          <p:nvSpPr>
            <p:cNvPr id="104" name="流程图: 磁盘 103"/>
            <p:cNvSpPr/>
            <p:nvPr/>
          </p:nvSpPr>
          <p:spPr bwMode="auto">
            <a:xfrm>
              <a:off x="3467708" y="2060848"/>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Q0</a:t>
              </a:r>
            </a:p>
          </p:txBody>
        </p:sp>
        <p:sp>
          <p:nvSpPr>
            <p:cNvPr id="105" name="流程图: 磁盘 104"/>
            <p:cNvSpPr/>
            <p:nvPr/>
          </p:nvSpPr>
          <p:spPr bwMode="auto">
            <a:xfrm>
              <a:off x="3467708" y="1880828"/>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D3</a:t>
              </a:r>
            </a:p>
          </p:txBody>
        </p:sp>
        <p:sp>
          <p:nvSpPr>
            <p:cNvPr id="106" name="流程图: 磁盘 105"/>
            <p:cNvSpPr/>
            <p:nvPr/>
          </p:nvSpPr>
          <p:spPr bwMode="auto">
            <a:xfrm>
              <a:off x="3467708" y="170080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D5</a:t>
              </a:r>
            </a:p>
          </p:txBody>
        </p:sp>
      </p:grpSp>
      <p:sp>
        <p:nvSpPr>
          <p:cNvPr id="86" name="文本框 85"/>
          <p:cNvSpPr txBox="1"/>
          <p:nvPr/>
        </p:nvSpPr>
        <p:spPr bwMode="auto">
          <a:xfrm>
            <a:off x="9076006" y="5903152"/>
            <a:ext cx="86409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Disk 4</a:t>
            </a:r>
          </a:p>
        </p:txBody>
      </p:sp>
      <p:sp>
        <p:nvSpPr>
          <p:cNvPr id="87" name="流程图: 磁盘 86"/>
          <p:cNvSpPr/>
          <p:nvPr/>
        </p:nvSpPr>
        <p:spPr bwMode="auto">
          <a:xfrm>
            <a:off x="6906090" y="5030557"/>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Q3</a:t>
            </a:r>
          </a:p>
        </p:txBody>
      </p:sp>
      <p:sp>
        <p:nvSpPr>
          <p:cNvPr id="88" name="流程图: 磁盘 87"/>
          <p:cNvSpPr/>
          <p:nvPr/>
        </p:nvSpPr>
        <p:spPr bwMode="auto">
          <a:xfrm>
            <a:off x="7653848" y="5026923"/>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D6</a:t>
            </a:r>
          </a:p>
        </p:txBody>
      </p:sp>
      <p:sp>
        <p:nvSpPr>
          <p:cNvPr id="89" name="流程图: 磁盘 88"/>
          <p:cNvSpPr/>
          <p:nvPr/>
        </p:nvSpPr>
        <p:spPr bwMode="auto">
          <a:xfrm>
            <a:off x="8409932" y="5030557"/>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D7</a:t>
            </a:r>
          </a:p>
        </p:txBody>
      </p:sp>
      <p:sp>
        <p:nvSpPr>
          <p:cNvPr id="90" name="流程图: 磁盘 89"/>
          <p:cNvSpPr/>
          <p:nvPr/>
        </p:nvSpPr>
        <p:spPr bwMode="auto">
          <a:xfrm>
            <a:off x="9166016" y="5037287"/>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P3</a:t>
            </a:r>
          </a:p>
        </p:txBody>
      </p:sp>
      <p:sp>
        <p:nvSpPr>
          <p:cNvPr id="91" name="流程图: 磁盘 90"/>
          <p:cNvSpPr/>
          <p:nvPr/>
        </p:nvSpPr>
        <p:spPr bwMode="auto">
          <a:xfrm>
            <a:off x="10387783" y="5519763"/>
            <a:ext cx="612068" cy="288032"/>
          </a:xfrm>
          <a:prstGeom prst="flowChartMagneticDisk">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a:t>
            </a:r>
            <a:r>
              <a:rPr kumimoji="0" lang="en-US" sz="1000" b="1" i="0" u="none" strike="noStrike" cap="none" normalizeH="0" baseline="0" dirty="0">
                <a:ln>
                  <a:noFill/>
                </a:ln>
                <a:solidFill>
                  <a:schemeClr val="tx1"/>
                </a:solidFill>
                <a:latin typeface="Arial" panose="020B0604020202020204" pitchFamily="34" charset="0"/>
                <a:ea typeface="宋体" pitchFamily="2" charset="-122"/>
              </a:rPr>
              <a:t>0</a:t>
            </a:r>
          </a:p>
        </p:txBody>
      </p:sp>
      <p:sp>
        <p:nvSpPr>
          <p:cNvPr id="92" name="流程图: 磁盘 91"/>
          <p:cNvSpPr/>
          <p:nvPr/>
        </p:nvSpPr>
        <p:spPr bwMode="auto">
          <a:xfrm>
            <a:off x="10387783" y="5382094"/>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D2</a:t>
            </a:r>
          </a:p>
        </p:txBody>
      </p:sp>
      <p:sp>
        <p:nvSpPr>
          <p:cNvPr id="93" name="流程图: 磁盘 92"/>
          <p:cNvSpPr/>
          <p:nvPr/>
        </p:nvSpPr>
        <p:spPr bwMode="auto">
          <a:xfrm>
            <a:off x="10387783" y="5255933"/>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P1</a:t>
            </a:r>
          </a:p>
        </p:txBody>
      </p:sp>
      <p:sp>
        <p:nvSpPr>
          <p:cNvPr id="94" name="流程图: 磁盘 93"/>
          <p:cNvSpPr/>
          <p:nvPr/>
        </p:nvSpPr>
        <p:spPr bwMode="auto">
          <a:xfrm>
            <a:off x="10387783" y="5104065"/>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Q1</a:t>
            </a:r>
          </a:p>
        </p:txBody>
      </p:sp>
      <p:sp>
        <p:nvSpPr>
          <p:cNvPr id="95" name="流程图: 磁盘 94"/>
          <p:cNvSpPr/>
          <p:nvPr/>
        </p:nvSpPr>
        <p:spPr bwMode="auto">
          <a:xfrm>
            <a:off x="10387783" y="4957781"/>
            <a:ext cx="612068" cy="288032"/>
          </a:xfrm>
          <a:prstGeom prst="flowChartMagneticDisk">
            <a:avLst/>
          </a:prstGeom>
          <a:solidFill>
            <a:srgbClr val="C3EAE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D3</a:t>
            </a:r>
          </a:p>
        </p:txBody>
      </p:sp>
      <p:sp>
        <p:nvSpPr>
          <p:cNvPr id="96" name="流程图: 磁盘 95"/>
          <p:cNvSpPr/>
          <p:nvPr/>
        </p:nvSpPr>
        <p:spPr bwMode="auto">
          <a:xfrm>
            <a:off x="10387783" y="4817156"/>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P2</a:t>
            </a:r>
          </a:p>
        </p:txBody>
      </p:sp>
      <p:sp>
        <p:nvSpPr>
          <p:cNvPr id="97" name="流程图: 磁盘 96"/>
          <p:cNvSpPr/>
          <p:nvPr/>
        </p:nvSpPr>
        <p:spPr bwMode="auto">
          <a:xfrm>
            <a:off x="10387290" y="4662618"/>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Q2</a:t>
            </a:r>
          </a:p>
        </p:txBody>
      </p:sp>
      <p:sp>
        <p:nvSpPr>
          <p:cNvPr id="98" name="流程图: 磁盘 97"/>
          <p:cNvSpPr/>
          <p:nvPr/>
        </p:nvSpPr>
        <p:spPr bwMode="auto">
          <a:xfrm>
            <a:off x="10387537" y="4529074"/>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chemeClr val="tx1"/>
                </a:solidFill>
                <a:latin typeface="Arial" panose="020B0604020202020204" pitchFamily="34" charset="0"/>
                <a:ea typeface="宋体" pitchFamily="2" charset="-122"/>
              </a:rPr>
              <a:t>D4</a:t>
            </a:r>
          </a:p>
        </p:txBody>
      </p:sp>
      <p:sp>
        <p:nvSpPr>
          <p:cNvPr id="99" name="流程图: 磁盘 98"/>
          <p:cNvSpPr/>
          <p:nvPr/>
        </p:nvSpPr>
        <p:spPr bwMode="auto">
          <a:xfrm>
            <a:off x="10387290" y="4397674"/>
            <a:ext cx="612068" cy="288032"/>
          </a:xfrm>
          <a:prstGeom prst="flowChartMagneticDisk">
            <a:avLst/>
          </a:prstGeom>
          <a:solidFill>
            <a:srgbClr val="60C7C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D5</a:t>
            </a:r>
          </a:p>
        </p:txBody>
      </p:sp>
      <p:sp>
        <p:nvSpPr>
          <p:cNvPr id="100" name="流程图: 磁盘 99"/>
          <p:cNvSpPr/>
          <p:nvPr/>
        </p:nvSpPr>
        <p:spPr bwMode="auto">
          <a:xfrm>
            <a:off x="10387043" y="4267618"/>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Q3</a:t>
            </a:r>
          </a:p>
        </p:txBody>
      </p:sp>
      <p:sp>
        <p:nvSpPr>
          <p:cNvPr id="101" name="流程图: 磁盘 100"/>
          <p:cNvSpPr/>
          <p:nvPr/>
        </p:nvSpPr>
        <p:spPr bwMode="auto">
          <a:xfrm>
            <a:off x="10386796" y="4132730"/>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000" i="0" u="none" strike="noStrike" cap="none" normalizeH="0" baseline="0" dirty="0">
                <a:ln>
                  <a:noFill/>
                </a:ln>
                <a:solidFill>
                  <a:schemeClr val="tx1"/>
                </a:solidFill>
                <a:latin typeface="Arial" panose="020B0604020202020204" pitchFamily="34" charset="0"/>
                <a:ea typeface="宋体" pitchFamily="2" charset="-122"/>
              </a:rPr>
              <a:t>D6</a:t>
            </a:r>
          </a:p>
        </p:txBody>
      </p:sp>
      <p:sp>
        <p:nvSpPr>
          <p:cNvPr id="102" name="流程图: 磁盘 101"/>
          <p:cNvSpPr/>
          <p:nvPr/>
        </p:nvSpPr>
        <p:spPr bwMode="auto">
          <a:xfrm>
            <a:off x="10387043" y="3998338"/>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dirty="0">
                <a:latin typeface="Arial" panose="020B0604020202020204" pitchFamily="34" charset="0"/>
                <a:ea typeface="宋体" pitchFamily="2" charset="-122"/>
              </a:rPr>
              <a:t>D7</a:t>
            </a:r>
          </a:p>
        </p:txBody>
      </p:sp>
      <p:sp>
        <p:nvSpPr>
          <p:cNvPr id="103" name="流程图: 磁盘 102"/>
          <p:cNvSpPr/>
          <p:nvPr/>
        </p:nvSpPr>
        <p:spPr bwMode="auto">
          <a:xfrm>
            <a:off x="10386549" y="3861048"/>
            <a:ext cx="612068" cy="288032"/>
          </a:xfrm>
          <a:prstGeom prst="flowChartMagneticDisk">
            <a:avLst/>
          </a:prstGeom>
          <a:solidFill>
            <a:schemeClr val="accent2">
              <a:lumMod val="7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b="1" dirty="0">
                <a:latin typeface="Arial" panose="020B0604020202020204" pitchFamily="34" charset="0"/>
                <a:ea typeface="宋体" pitchFamily="2" charset="-122"/>
              </a:rPr>
              <a:t>P3</a:t>
            </a:r>
          </a:p>
        </p:txBody>
      </p:sp>
      <p:sp>
        <p:nvSpPr>
          <p:cNvPr id="116" name="文本框 115"/>
          <p:cNvSpPr txBox="1"/>
          <p:nvPr/>
        </p:nvSpPr>
        <p:spPr bwMode="auto">
          <a:xfrm>
            <a:off x="4835695" y="3392996"/>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RAID 0</a:t>
            </a:r>
          </a:p>
        </p:txBody>
      </p:sp>
      <p:sp>
        <p:nvSpPr>
          <p:cNvPr id="117" name="文本框 116"/>
          <p:cNvSpPr txBox="1"/>
          <p:nvPr/>
        </p:nvSpPr>
        <p:spPr bwMode="auto">
          <a:xfrm>
            <a:off x="6096000" y="3392996"/>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RAID 1</a:t>
            </a:r>
          </a:p>
        </p:txBody>
      </p:sp>
      <p:sp>
        <p:nvSpPr>
          <p:cNvPr id="118" name="文本框 117"/>
          <p:cNvSpPr txBox="1"/>
          <p:nvPr/>
        </p:nvSpPr>
        <p:spPr bwMode="auto">
          <a:xfrm>
            <a:off x="4835860" y="3724676"/>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RAID 5</a:t>
            </a:r>
          </a:p>
        </p:txBody>
      </p:sp>
      <p:sp>
        <p:nvSpPr>
          <p:cNvPr id="119" name="文本框 118"/>
          <p:cNvSpPr txBox="1"/>
          <p:nvPr/>
        </p:nvSpPr>
        <p:spPr bwMode="auto">
          <a:xfrm>
            <a:off x="6096165" y="3723944"/>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RAID 6</a:t>
            </a:r>
          </a:p>
        </p:txBody>
      </p:sp>
      <p:cxnSp>
        <p:nvCxnSpPr>
          <p:cNvPr id="120" name="直接连接符 119"/>
          <p:cNvCxnSpPr/>
          <p:nvPr/>
        </p:nvCxnSpPr>
        <p:spPr bwMode="auto">
          <a:xfrm>
            <a:off x="1008063" y="3716338"/>
            <a:ext cx="10464800" cy="0"/>
          </a:xfrm>
          <a:prstGeom prst="line">
            <a:avLst/>
          </a:prstGeom>
          <a:solidFill>
            <a:srgbClr val="CCFF99"/>
          </a:solidFill>
          <a:ln w="9525" cap="flat" cmpd="sng" algn="ctr">
            <a:solidFill>
              <a:srgbClr val="000000"/>
            </a:solidFill>
            <a:prstDash val="solid"/>
            <a:round/>
            <a:headEnd type="none" w="med" len="med"/>
            <a:tailEnd type="none" w="med" len="med"/>
          </a:ln>
          <a:effectLst/>
        </p:spPr>
      </p:cxnSp>
      <p:cxnSp>
        <p:nvCxnSpPr>
          <p:cNvPr id="121" name="直接连接符 120"/>
          <p:cNvCxnSpPr/>
          <p:nvPr/>
        </p:nvCxnSpPr>
        <p:spPr bwMode="auto">
          <a:xfrm>
            <a:off x="6096000" y="1233488"/>
            <a:ext cx="0" cy="5148262"/>
          </a:xfrm>
          <a:prstGeom prst="line">
            <a:avLst/>
          </a:prstGeom>
          <a:solidFill>
            <a:srgbClr val="CCFF99"/>
          </a:solidFill>
          <a:ln w="9525" cap="flat" cmpd="sng" algn="ctr">
            <a:solidFill>
              <a:srgbClr val="000000"/>
            </a:solidFill>
            <a:prstDash val="solid"/>
            <a:round/>
            <a:headEnd type="none" w="med" len="med"/>
            <a:tailEnd type="none" w="med" len="med"/>
          </a:ln>
          <a:effectLst/>
        </p:spPr>
      </p:cxnSp>
    </p:spTree>
    <p:extLst>
      <p:ext uri="{BB962C8B-B14F-4D97-AF65-F5344CB8AC3E}">
        <p14:creationId xmlns:p14="http://schemas.microsoft.com/office/powerpoint/2010/main" val="4891307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Centralized Storage Types</a:t>
            </a:r>
          </a:p>
        </p:txBody>
      </p:sp>
      <p:sp>
        <p:nvSpPr>
          <p:cNvPr id="49" name="Line 62"/>
          <p:cNvSpPr>
            <a:spLocks noChangeShapeType="1"/>
          </p:cNvSpPr>
          <p:nvPr/>
        </p:nvSpPr>
        <p:spPr bwMode="auto">
          <a:xfrm>
            <a:off x="2111663" y="3010368"/>
            <a:ext cx="656369" cy="417937"/>
          </a:xfrm>
          <a:prstGeom prst="line">
            <a:avLst/>
          </a:prstGeom>
          <a:noFill/>
          <a:ln w="28575">
            <a:solidFill>
              <a:srgbClr val="60C7C7"/>
            </a:solidFill>
            <a:round/>
            <a:headEnd/>
            <a:tailEnd/>
          </a:ln>
        </p:spPr>
        <p:txBody>
          <a:bodyPr wrap="square" lIns="79200" tIns="39600" rIns="79200" bIns="39600">
            <a:spAutoFit/>
          </a:bodyPr>
          <a:lstStyle/>
          <a:p>
            <a:endParaRPr lang="zh-CN" altLang="en-US">
              <a:latin typeface="Arial" panose="020B0604020202020204" pitchFamily="34" charset="0"/>
              <a:ea typeface="+mn-ea"/>
            </a:endParaRPr>
          </a:p>
        </p:txBody>
      </p:sp>
      <p:sp>
        <p:nvSpPr>
          <p:cNvPr id="50" name="Line 63"/>
          <p:cNvSpPr>
            <a:spLocks noChangeShapeType="1"/>
          </p:cNvSpPr>
          <p:nvPr/>
        </p:nvSpPr>
        <p:spPr bwMode="auto">
          <a:xfrm flipH="1">
            <a:off x="2121924" y="3880092"/>
            <a:ext cx="570944" cy="303399"/>
          </a:xfrm>
          <a:prstGeom prst="line">
            <a:avLst/>
          </a:prstGeom>
          <a:noFill/>
          <a:ln w="28575">
            <a:solidFill>
              <a:srgbClr val="60C7C7"/>
            </a:solidFill>
            <a:round/>
            <a:headEnd/>
            <a:tailEnd/>
          </a:ln>
        </p:spPr>
        <p:txBody>
          <a:bodyPr lIns="79200" tIns="39600" rIns="79200" bIns="39600">
            <a:spAutoFit/>
          </a:bodyPr>
          <a:lstStyle/>
          <a:p>
            <a:endParaRPr lang="zh-CN" altLang="en-US">
              <a:latin typeface="Arial" panose="020B0604020202020204" pitchFamily="34" charset="0"/>
              <a:ea typeface="+mn-ea"/>
            </a:endParaRPr>
          </a:p>
        </p:txBody>
      </p:sp>
      <p:grpSp>
        <p:nvGrpSpPr>
          <p:cNvPr id="4" name="组合 3"/>
          <p:cNvGrpSpPr>
            <a:grpSpLocks noChangeAspect="1"/>
          </p:cNvGrpSpPr>
          <p:nvPr/>
        </p:nvGrpSpPr>
        <p:grpSpPr>
          <a:xfrm>
            <a:off x="2371989" y="3320988"/>
            <a:ext cx="1657526" cy="673508"/>
            <a:chOff x="2181962" y="3357571"/>
            <a:chExt cx="2285874" cy="1213596"/>
          </a:xfrm>
        </p:grpSpPr>
        <p:sp>
          <p:nvSpPr>
            <p:cNvPr id="51" name="Freeform 65"/>
            <p:cNvSpPr>
              <a:spLocks/>
            </p:cNvSpPr>
            <p:nvPr/>
          </p:nvSpPr>
          <p:spPr bwMode="auto">
            <a:xfrm>
              <a:off x="2181962" y="3393669"/>
              <a:ext cx="2285874" cy="1177498"/>
            </a:xfrm>
            <a:custGeom>
              <a:avLst/>
              <a:gdLst>
                <a:gd name="T0" fmla="*/ 10235 w 1080"/>
                <a:gd name="T1" fmla="*/ 3654 h 791"/>
                <a:gd name="T2" fmla="*/ 10075 w 1080"/>
                <a:gd name="T3" fmla="*/ 3372 h 791"/>
                <a:gd name="T4" fmla="*/ 9812 w 1080"/>
                <a:gd name="T5" fmla="*/ 3138 h 791"/>
                <a:gd name="T6" fmla="*/ 9852 w 1080"/>
                <a:gd name="T7" fmla="*/ 2988 h 791"/>
                <a:gd name="T8" fmla="*/ 9873 w 1080"/>
                <a:gd name="T9" fmla="*/ 2837 h 791"/>
                <a:gd name="T10" fmla="*/ 9796 w 1080"/>
                <a:gd name="T11" fmla="*/ 2435 h 791"/>
                <a:gd name="T12" fmla="*/ 9207 w 1080"/>
                <a:gd name="T13" fmla="*/ 1755 h 791"/>
                <a:gd name="T14" fmla="*/ 8163 w 1080"/>
                <a:gd name="T15" fmla="*/ 1368 h 791"/>
                <a:gd name="T16" fmla="*/ 7467 w 1080"/>
                <a:gd name="T17" fmla="*/ 746 h 791"/>
                <a:gd name="T18" fmla="*/ 6508 w 1080"/>
                <a:gd name="T19" fmla="*/ 151 h 791"/>
                <a:gd name="T20" fmla="*/ 5112 w 1080"/>
                <a:gd name="T21" fmla="*/ 9 h 791"/>
                <a:gd name="T22" fmla="*/ 4093 w 1080"/>
                <a:gd name="T23" fmla="*/ 218 h 791"/>
                <a:gd name="T24" fmla="*/ 3290 w 1080"/>
                <a:gd name="T25" fmla="*/ 667 h 791"/>
                <a:gd name="T26" fmla="*/ 2859 w 1080"/>
                <a:gd name="T27" fmla="*/ 1058 h 791"/>
                <a:gd name="T28" fmla="*/ 2659 w 1080"/>
                <a:gd name="T29" fmla="*/ 1057 h 791"/>
                <a:gd name="T30" fmla="*/ 2443 w 1080"/>
                <a:gd name="T31" fmla="*/ 1058 h 791"/>
                <a:gd name="T32" fmla="*/ 1399 w 1080"/>
                <a:gd name="T33" fmla="*/ 1270 h 791"/>
                <a:gd name="T34" fmla="*/ 343 w 1080"/>
                <a:gd name="T35" fmla="*/ 1929 h 791"/>
                <a:gd name="T36" fmla="*/ 0 w 1080"/>
                <a:gd name="T37" fmla="*/ 2840 h 791"/>
                <a:gd name="T38" fmla="*/ 179 w 1080"/>
                <a:gd name="T39" fmla="*/ 3344 h 791"/>
                <a:gd name="T40" fmla="*/ 608 w 1080"/>
                <a:gd name="T41" fmla="*/ 3771 h 791"/>
                <a:gd name="T42" fmla="*/ 868 w 1080"/>
                <a:gd name="T43" fmla="*/ 4082 h 791"/>
                <a:gd name="T44" fmla="*/ 571 w 1080"/>
                <a:gd name="T45" fmla="*/ 4415 h 791"/>
                <a:gd name="T46" fmla="*/ 439 w 1080"/>
                <a:gd name="T47" fmla="*/ 4796 h 791"/>
                <a:gd name="T48" fmla="*/ 640 w 1080"/>
                <a:gd name="T49" fmla="*/ 5381 h 791"/>
                <a:gd name="T50" fmla="*/ 1374 w 1080"/>
                <a:gd name="T51" fmla="*/ 5861 h 791"/>
                <a:gd name="T52" fmla="*/ 2459 w 1080"/>
                <a:gd name="T53" fmla="*/ 5996 h 791"/>
                <a:gd name="T54" fmla="*/ 2496 w 1080"/>
                <a:gd name="T55" fmla="*/ 5984 h 791"/>
                <a:gd name="T56" fmla="*/ 2545 w 1080"/>
                <a:gd name="T57" fmla="*/ 5984 h 791"/>
                <a:gd name="T58" fmla="*/ 2566 w 1080"/>
                <a:gd name="T59" fmla="*/ 5996 h 791"/>
                <a:gd name="T60" fmla="*/ 2566 w 1080"/>
                <a:gd name="T61" fmla="*/ 6027 h 791"/>
                <a:gd name="T62" fmla="*/ 2566 w 1080"/>
                <a:gd name="T63" fmla="*/ 6062 h 791"/>
                <a:gd name="T64" fmla="*/ 2757 w 1080"/>
                <a:gd name="T65" fmla="*/ 6524 h 791"/>
                <a:gd name="T66" fmla="*/ 3453 w 1080"/>
                <a:gd name="T67" fmla="*/ 6983 h 791"/>
                <a:gd name="T68" fmla="*/ 4501 w 1080"/>
                <a:gd name="T69" fmla="*/ 7106 h 791"/>
                <a:gd name="T70" fmla="*/ 5239 w 1080"/>
                <a:gd name="T71" fmla="*/ 6947 h 791"/>
                <a:gd name="T72" fmla="*/ 5806 w 1080"/>
                <a:gd name="T73" fmla="*/ 6630 h 791"/>
                <a:gd name="T74" fmla="*/ 6193 w 1080"/>
                <a:gd name="T75" fmla="*/ 6396 h 791"/>
                <a:gd name="T76" fmla="*/ 6589 w 1080"/>
                <a:gd name="T77" fmla="*/ 6488 h 791"/>
                <a:gd name="T78" fmla="*/ 7014 w 1080"/>
                <a:gd name="T79" fmla="*/ 6504 h 791"/>
                <a:gd name="T80" fmla="*/ 7870 w 1080"/>
                <a:gd name="T81" fmla="*/ 6353 h 791"/>
                <a:gd name="T82" fmla="*/ 8641 w 1080"/>
                <a:gd name="T83" fmla="*/ 5877 h 791"/>
                <a:gd name="T84" fmla="*/ 8901 w 1080"/>
                <a:gd name="T85" fmla="*/ 5201 h 791"/>
                <a:gd name="T86" fmla="*/ 8901 w 1080"/>
                <a:gd name="T87" fmla="*/ 5154 h 791"/>
                <a:gd name="T88" fmla="*/ 8892 w 1080"/>
                <a:gd name="T89" fmla="*/ 5127 h 791"/>
                <a:gd name="T90" fmla="*/ 9186 w 1080"/>
                <a:gd name="T91" fmla="*/ 5019 h 791"/>
                <a:gd name="T92" fmla="*/ 9924 w 1080"/>
                <a:gd name="T93" fmla="*/ 4635 h 791"/>
                <a:gd name="T94" fmla="*/ 10276 w 1080"/>
                <a:gd name="T95" fmla="*/ 4068 h 7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080"/>
                <a:gd name="T145" fmla="*/ 0 h 791"/>
                <a:gd name="T146" fmla="*/ 1080 w 1080"/>
                <a:gd name="T147" fmla="*/ 791 h 79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080" h="791">
                  <a:moveTo>
                    <a:pt x="1079" y="428"/>
                  </a:moveTo>
                  <a:lnTo>
                    <a:pt x="1076" y="417"/>
                  </a:lnTo>
                  <a:lnTo>
                    <a:pt x="1073" y="406"/>
                  </a:lnTo>
                  <a:lnTo>
                    <a:pt x="1069" y="395"/>
                  </a:lnTo>
                  <a:lnTo>
                    <a:pt x="1063" y="385"/>
                  </a:lnTo>
                  <a:lnTo>
                    <a:pt x="1056" y="375"/>
                  </a:lnTo>
                  <a:lnTo>
                    <a:pt x="1048" y="366"/>
                  </a:lnTo>
                  <a:lnTo>
                    <a:pt x="1038" y="358"/>
                  </a:lnTo>
                  <a:lnTo>
                    <a:pt x="1029" y="349"/>
                  </a:lnTo>
                  <a:lnTo>
                    <a:pt x="1030" y="344"/>
                  </a:lnTo>
                  <a:lnTo>
                    <a:pt x="1032" y="339"/>
                  </a:lnTo>
                  <a:lnTo>
                    <a:pt x="1033" y="332"/>
                  </a:lnTo>
                  <a:lnTo>
                    <a:pt x="1034" y="327"/>
                  </a:lnTo>
                  <a:lnTo>
                    <a:pt x="1034" y="320"/>
                  </a:lnTo>
                  <a:lnTo>
                    <a:pt x="1035" y="315"/>
                  </a:lnTo>
                  <a:lnTo>
                    <a:pt x="1035" y="308"/>
                  </a:lnTo>
                  <a:lnTo>
                    <a:pt x="1034" y="302"/>
                  </a:lnTo>
                  <a:lnTo>
                    <a:pt x="1027" y="271"/>
                  </a:lnTo>
                  <a:lnTo>
                    <a:pt x="1013" y="243"/>
                  </a:lnTo>
                  <a:lnTo>
                    <a:pt x="993" y="217"/>
                  </a:lnTo>
                  <a:lnTo>
                    <a:pt x="965" y="195"/>
                  </a:lnTo>
                  <a:lnTo>
                    <a:pt x="934" y="176"/>
                  </a:lnTo>
                  <a:lnTo>
                    <a:pt x="896" y="161"/>
                  </a:lnTo>
                  <a:lnTo>
                    <a:pt x="856" y="152"/>
                  </a:lnTo>
                  <a:lnTo>
                    <a:pt x="812" y="146"/>
                  </a:lnTo>
                  <a:lnTo>
                    <a:pt x="801" y="113"/>
                  </a:lnTo>
                  <a:lnTo>
                    <a:pt x="783" y="83"/>
                  </a:lnTo>
                  <a:lnTo>
                    <a:pt x="756" y="56"/>
                  </a:lnTo>
                  <a:lnTo>
                    <a:pt x="721" y="34"/>
                  </a:lnTo>
                  <a:lnTo>
                    <a:pt x="682" y="17"/>
                  </a:lnTo>
                  <a:lnTo>
                    <a:pt x="636" y="5"/>
                  </a:lnTo>
                  <a:lnTo>
                    <a:pt x="588" y="0"/>
                  </a:lnTo>
                  <a:lnTo>
                    <a:pt x="536" y="1"/>
                  </a:lnTo>
                  <a:lnTo>
                    <a:pt x="498" y="5"/>
                  </a:lnTo>
                  <a:lnTo>
                    <a:pt x="462" y="14"/>
                  </a:lnTo>
                  <a:lnTo>
                    <a:pt x="429" y="24"/>
                  </a:lnTo>
                  <a:lnTo>
                    <a:pt x="397" y="39"/>
                  </a:lnTo>
                  <a:lnTo>
                    <a:pt x="370" y="56"/>
                  </a:lnTo>
                  <a:lnTo>
                    <a:pt x="345" y="74"/>
                  </a:lnTo>
                  <a:lnTo>
                    <a:pt x="324" y="96"/>
                  </a:lnTo>
                  <a:lnTo>
                    <a:pt x="308" y="118"/>
                  </a:lnTo>
                  <a:lnTo>
                    <a:pt x="300" y="118"/>
                  </a:lnTo>
                  <a:lnTo>
                    <a:pt x="294" y="118"/>
                  </a:lnTo>
                  <a:lnTo>
                    <a:pt x="286" y="117"/>
                  </a:lnTo>
                  <a:lnTo>
                    <a:pt x="279" y="117"/>
                  </a:lnTo>
                  <a:lnTo>
                    <a:pt x="271" y="117"/>
                  </a:lnTo>
                  <a:lnTo>
                    <a:pt x="264" y="118"/>
                  </a:lnTo>
                  <a:lnTo>
                    <a:pt x="256" y="118"/>
                  </a:lnTo>
                  <a:lnTo>
                    <a:pt x="248" y="118"/>
                  </a:lnTo>
                  <a:lnTo>
                    <a:pt x="196" y="127"/>
                  </a:lnTo>
                  <a:lnTo>
                    <a:pt x="147" y="141"/>
                  </a:lnTo>
                  <a:lnTo>
                    <a:pt x="104" y="160"/>
                  </a:lnTo>
                  <a:lnTo>
                    <a:pt x="67" y="185"/>
                  </a:lnTo>
                  <a:lnTo>
                    <a:pt x="36" y="214"/>
                  </a:lnTo>
                  <a:lnTo>
                    <a:pt x="15" y="245"/>
                  </a:lnTo>
                  <a:lnTo>
                    <a:pt x="3" y="280"/>
                  </a:lnTo>
                  <a:lnTo>
                    <a:pt x="0" y="316"/>
                  </a:lnTo>
                  <a:lnTo>
                    <a:pt x="3" y="335"/>
                  </a:lnTo>
                  <a:lnTo>
                    <a:pt x="9" y="355"/>
                  </a:lnTo>
                  <a:lnTo>
                    <a:pt x="19" y="372"/>
                  </a:lnTo>
                  <a:lnTo>
                    <a:pt x="31" y="390"/>
                  </a:lnTo>
                  <a:lnTo>
                    <a:pt x="46" y="405"/>
                  </a:lnTo>
                  <a:lnTo>
                    <a:pt x="64" y="419"/>
                  </a:lnTo>
                  <a:lnTo>
                    <a:pt x="83" y="432"/>
                  </a:lnTo>
                  <a:lnTo>
                    <a:pt x="105" y="443"/>
                  </a:lnTo>
                  <a:lnTo>
                    <a:pt x="91" y="454"/>
                  </a:lnTo>
                  <a:lnTo>
                    <a:pt x="79" y="466"/>
                  </a:lnTo>
                  <a:lnTo>
                    <a:pt x="69" y="478"/>
                  </a:lnTo>
                  <a:lnTo>
                    <a:pt x="60" y="491"/>
                  </a:lnTo>
                  <a:lnTo>
                    <a:pt x="54" y="505"/>
                  </a:lnTo>
                  <a:lnTo>
                    <a:pt x="49" y="518"/>
                  </a:lnTo>
                  <a:lnTo>
                    <a:pt x="46" y="533"/>
                  </a:lnTo>
                  <a:lnTo>
                    <a:pt x="47" y="547"/>
                  </a:lnTo>
                  <a:lnTo>
                    <a:pt x="53" y="574"/>
                  </a:lnTo>
                  <a:lnTo>
                    <a:pt x="67" y="598"/>
                  </a:lnTo>
                  <a:lnTo>
                    <a:pt x="88" y="620"/>
                  </a:lnTo>
                  <a:lnTo>
                    <a:pt x="114" y="637"/>
                  </a:lnTo>
                  <a:lnTo>
                    <a:pt x="144" y="651"/>
                  </a:lnTo>
                  <a:lnTo>
                    <a:pt x="179" y="661"/>
                  </a:lnTo>
                  <a:lnTo>
                    <a:pt x="217" y="666"/>
                  </a:lnTo>
                  <a:lnTo>
                    <a:pt x="258" y="666"/>
                  </a:lnTo>
                  <a:lnTo>
                    <a:pt x="259" y="666"/>
                  </a:lnTo>
                  <a:lnTo>
                    <a:pt x="260" y="666"/>
                  </a:lnTo>
                  <a:lnTo>
                    <a:pt x="262" y="665"/>
                  </a:lnTo>
                  <a:lnTo>
                    <a:pt x="264" y="665"/>
                  </a:lnTo>
                  <a:lnTo>
                    <a:pt x="265" y="665"/>
                  </a:lnTo>
                  <a:lnTo>
                    <a:pt x="267" y="665"/>
                  </a:lnTo>
                  <a:lnTo>
                    <a:pt x="268" y="665"/>
                  </a:lnTo>
                  <a:lnTo>
                    <a:pt x="269" y="665"/>
                  </a:lnTo>
                  <a:lnTo>
                    <a:pt x="269" y="666"/>
                  </a:lnTo>
                  <a:lnTo>
                    <a:pt x="269" y="667"/>
                  </a:lnTo>
                  <a:lnTo>
                    <a:pt x="269" y="669"/>
                  </a:lnTo>
                  <a:lnTo>
                    <a:pt x="269" y="670"/>
                  </a:lnTo>
                  <a:lnTo>
                    <a:pt x="269" y="672"/>
                  </a:lnTo>
                  <a:lnTo>
                    <a:pt x="269" y="673"/>
                  </a:lnTo>
                  <a:lnTo>
                    <a:pt x="269" y="674"/>
                  </a:lnTo>
                  <a:lnTo>
                    <a:pt x="269" y="676"/>
                  </a:lnTo>
                  <a:lnTo>
                    <a:pt x="275" y="701"/>
                  </a:lnTo>
                  <a:lnTo>
                    <a:pt x="289" y="725"/>
                  </a:lnTo>
                  <a:lnTo>
                    <a:pt x="308" y="745"/>
                  </a:lnTo>
                  <a:lnTo>
                    <a:pt x="333" y="762"/>
                  </a:lnTo>
                  <a:lnTo>
                    <a:pt x="362" y="776"/>
                  </a:lnTo>
                  <a:lnTo>
                    <a:pt x="396" y="785"/>
                  </a:lnTo>
                  <a:lnTo>
                    <a:pt x="433" y="790"/>
                  </a:lnTo>
                  <a:lnTo>
                    <a:pt x="472" y="790"/>
                  </a:lnTo>
                  <a:lnTo>
                    <a:pt x="499" y="786"/>
                  </a:lnTo>
                  <a:lnTo>
                    <a:pt x="524" y="780"/>
                  </a:lnTo>
                  <a:lnTo>
                    <a:pt x="549" y="772"/>
                  </a:lnTo>
                  <a:lnTo>
                    <a:pt x="571" y="762"/>
                  </a:lnTo>
                  <a:lnTo>
                    <a:pt x="592" y="750"/>
                  </a:lnTo>
                  <a:lnTo>
                    <a:pt x="609" y="737"/>
                  </a:lnTo>
                  <a:lnTo>
                    <a:pt x="624" y="722"/>
                  </a:lnTo>
                  <a:lnTo>
                    <a:pt x="636" y="707"/>
                  </a:lnTo>
                  <a:lnTo>
                    <a:pt x="649" y="711"/>
                  </a:lnTo>
                  <a:lnTo>
                    <a:pt x="662" y="715"/>
                  </a:lnTo>
                  <a:lnTo>
                    <a:pt x="676" y="718"/>
                  </a:lnTo>
                  <a:lnTo>
                    <a:pt x="691" y="721"/>
                  </a:lnTo>
                  <a:lnTo>
                    <a:pt x="705" y="722"/>
                  </a:lnTo>
                  <a:lnTo>
                    <a:pt x="720" y="723"/>
                  </a:lnTo>
                  <a:lnTo>
                    <a:pt x="735" y="723"/>
                  </a:lnTo>
                  <a:lnTo>
                    <a:pt x="751" y="722"/>
                  </a:lnTo>
                  <a:lnTo>
                    <a:pt x="789" y="717"/>
                  </a:lnTo>
                  <a:lnTo>
                    <a:pt x="825" y="706"/>
                  </a:lnTo>
                  <a:lnTo>
                    <a:pt x="857" y="692"/>
                  </a:lnTo>
                  <a:lnTo>
                    <a:pt x="884" y="673"/>
                  </a:lnTo>
                  <a:lnTo>
                    <a:pt x="906" y="653"/>
                  </a:lnTo>
                  <a:lnTo>
                    <a:pt x="922" y="630"/>
                  </a:lnTo>
                  <a:lnTo>
                    <a:pt x="932" y="604"/>
                  </a:lnTo>
                  <a:lnTo>
                    <a:pt x="933" y="578"/>
                  </a:lnTo>
                  <a:lnTo>
                    <a:pt x="933" y="577"/>
                  </a:lnTo>
                  <a:lnTo>
                    <a:pt x="933" y="575"/>
                  </a:lnTo>
                  <a:lnTo>
                    <a:pt x="933" y="573"/>
                  </a:lnTo>
                  <a:lnTo>
                    <a:pt x="933" y="572"/>
                  </a:lnTo>
                  <a:lnTo>
                    <a:pt x="932" y="571"/>
                  </a:lnTo>
                  <a:lnTo>
                    <a:pt x="932" y="570"/>
                  </a:lnTo>
                  <a:lnTo>
                    <a:pt x="932" y="569"/>
                  </a:lnTo>
                  <a:lnTo>
                    <a:pt x="932" y="567"/>
                  </a:lnTo>
                  <a:lnTo>
                    <a:pt x="963" y="558"/>
                  </a:lnTo>
                  <a:lnTo>
                    <a:pt x="993" y="546"/>
                  </a:lnTo>
                  <a:lnTo>
                    <a:pt x="1019" y="532"/>
                  </a:lnTo>
                  <a:lnTo>
                    <a:pt x="1040" y="515"/>
                  </a:lnTo>
                  <a:lnTo>
                    <a:pt x="1058" y="495"/>
                  </a:lnTo>
                  <a:lnTo>
                    <a:pt x="1070" y="473"/>
                  </a:lnTo>
                  <a:lnTo>
                    <a:pt x="1077" y="452"/>
                  </a:lnTo>
                  <a:lnTo>
                    <a:pt x="1079" y="428"/>
                  </a:lnTo>
                </a:path>
              </a:pathLst>
            </a:custGeom>
            <a:solidFill>
              <a:srgbClr val="777777"/>
            </a:solidFill>
            <a:ln w="9525" cap="rnd">
              <a:noFill/>
              <a:round/>
              <a:headEnd/>
              <a:tailEnd/>
            </a:ln>
          </p:spPr>
          <p:txBody>
            <a:bodyPr/>
            <a:lstStyle/>
            <a:p>
              <a:endParaRPr lang="zh-CN" altLang="en-US">
                <a:latin typeface="Arial" panose="020B0604020202020204" pitchFamily="34" charset="0"/>
                <a:ea typeface="+mn-ea"/>
              </a:endParaRPr>
            </a:p>
          </p:txBody>
        </p:sp>
        <p:sp>
          <p:nvSpPr>
            <p:cNvPr id="52" name="Freeform 66"/>
            <p:cNvSpPr>
              <a:spLocks/>
            </p:cNvSpPr>
            <p:nvPr/>
          </p:nvSpPr>
          <p:spPr bwMode="auto">
            <a:xfrm>
              <a:off x="2186779" y="3357571"/>
              <a:ext cx="2281057" cy="1176639"/>
            </a:xfrm>
            <a:custGeom>
              <a:avLst/>
              <a:gdLst>
                <a:gd name="T0" fmla="*/ 10211 w 1078"/>
                <a:gd name="T1" fmla="*/ 3633 h 791"/>
                <a:gd name="T2" fmla="*/ 10053 w 1078"/>
                <a:gd name="T3" fmla="*/ 3354 h 791"/>
                <a:gd name="T4" fmla="*/ 9786 w 1078"/>
                <a:gd name="T5" fmla="*/ 3131 h 791"/>
                <a:gd name="T6" fmla="*/ 9823 w 1078"/>
                <a:gd name="T7" fmla="*/ 2980 h 791"/>
                <a:gd name="T8" fmla="*/ 9844 w 1078"/>
                <a:gd name="T9" fmla="*/ 2816 h 791"/>
                <a:gd name="T10" fmla="*/ 9786 w 1078"/>
                <a:gd name="T11" fmla="*/ 2432 h 791"/>
                <a:gd name="T12" fmla="*/ 9192 w 1078"/>
                <a:gd name="T13" fmla="*/ 1743 h 791"/>
                <a:gd name="T14" fmla="*/ 8135 w 1078"/>
                <a:gd name="T15" fmla="*/ 1353 h 791"/>
                <a:gd name="T16" fmla="*/ 7442 w 1078"/>
                <a:gd name="T17" fmla="*/ 737 h 791"/>
                <a:gd name="T18" fmla="*/ 6483 w 1078"/>
                <a:gd name="T19" fmla="*/ 151 h 791"/>
                <a:gd name="T20" fmla="*/ 5109 w 1078"/>
                <a:gd name="T21" fmla="*/ 0 h 791"/>
                <a:gd name="T22" fmla="*/ 4069 w 1078"/>
                <a:gd name="T23" fmla="*/ 218 h 791"/>
                <a:gd name="T24" fmla="*/ 3287 w 1078"/>
                <a:gd name="T25" fmla="*/ 665 h 791"/>
                <a:gd name="T26" fmla="*/ 2859 w 1078"/>
                <a:gd name="T27" fmla="*/ 1057 h 791"/>
                <a:gd name="T28" fmla="*/ 2642 w 1078"/>
                <a:gd name="T29" fmla="*/ 1049 h 791"/>
                <a:gd name="T30" fmla="*/ 2430 w 1078"/>
                <a:gd name="T31" fmla="*/ 1057 h 791"/>
                <a:gd name="T32" fmla="*/ 1395 w 1078"/>
                <a:gd name="T33" fmla="*/ 1255 h 791"/>
                <a:gd name="T34" fmla="*/ 343 w 1078"/>
                <a:gd name="T35" fmla="*/ 1918 h 791"/>
                <a:gd name="T36" fmla="*/ 0 w 1078"/>
                <a:gd name="T37" fmla="*/ 2837 h 791"/>
                <a:gd name="T38" fmla="*/ 172 w 1078"/>
                <a:gd name="T39" fmla="*/ 3340 h 791"/>
                <a:gd name="T40" fmla="*/ 592 w 1078"/>
                <a:gd name="T41" fmla="*/ 3759 h 791"/>
                <a:gd name="T42" fmla="*/ 868 w 1078"/>
                <a:gd name="T43" fmla="*/ 4074 h 791"/>
                <a:gd name="T44" fmla="*/ 566 w 1078"/>
                <a:gd name="T45" fmla="*/ 4406 h 791"/>
                <a:gd name="T46" fmla="*/ 437 w 1078"/>
                <a:gd name="T47" fmla="*/ 4775 h 791"/>
                <a:gd name="T48" fmla="*/ 629 w 1078"/>
                <a:gd name="T49" fmla="*/ 5365 h 791"/>
                <a:gd name="T50" fmla="*/ 1362 w 1078"/>
                <a:gd name="T51" fmla="*/ 5845 h 791"/>
                <a:gd name="T52" fmla="*/ 2451 w 1078"/>
                <a:gd name="T53" fmla="*/ 5980 h 791"/>
                <a:gd name="T54" fmla="*/ 2488 w 1078"/>
                <a:gd name="T55" fmla="*/ 5968 h 791"/>
                <a:gd name="T56" fmla="*/ 2528 w 1078"/>
                <a:gd name="T57" fmla="*/ 5968 h 791"/>
                <a:gd name="T58" fmla="*/ 2565 w 1078"/>
                <a:gd name="T59" fmla="*/ 5980 h 791"/>
                <a:gd name="T60" fmla="*/ 2556 w 1078"/>
                <a:gd name="T61" fmla="*/ 6014 h 791"/>
                <a:gd name="T62" fmla="*/ 2565 w 1078"/>
                <a:gd name="T63" fmla="*/ 6051 h 791"/>
                <a:gd name="T64" fmla="*/ 2736 w 1078"/>
                <a:gd name="T65" fmla="*/ 6497 h 791"/>
                <a:gd name="T66" fmla="*/ 3449 w 1078"/>
                <a:gd name="T67" fmla="*/ 6952 h 791"/>
                <a:gd name="T68" fmla="*/ 4491 w 1078"/>
                <a:gd name="T69" fmla="*/ 7087 h 791"/>
                <a:gd name="T70" fmla="*/ 5223 w 1078"/>
                <a:gd name="T71" fmla="*/ 6925 h 791"/>
                <a:gd name="T72" fmla="*/ 5803 w 1078"/>
                <a:gd name="T73" fmla="*/ 6613 h 791"/>
                <a:gd name="T74" fmla="*/ 6177 w 1078"/>
                <a:gd name="T75" fmla="*/ 6383 h 791"/>
                <a:gd name="T76" fmla="*/ 6569 w 1078"/>
                <a:gd name="T77" fmla="*/ 6457 h 791"/>
                <a:gd name="T78" fmla="*/ 7001 w 1078"/>
                <a:gd name="T79" fmla="*/ 6485 h 791"/>
                <a:gd name="T80" fmla="*/ 7859 w 1078"/>
                <a:gd name="T81" fmla="*/ 6334 h 791"/>
                <a:gd name="T82" fmla="*/ 8625 w 1078"/>
                <a:gd name="T83" fmla="*/ 5858 h 791"/>
                <a:gd name="T84" fmla="*/ 8878 w 1078"/>
                <a:gd name="T85" fmla="*/ 5185 h 791"/>
                <a:gd name="T86" fmla="*/ 8871 w 1078"/>
                <a:gd name="T87" fmla="*/ 5144 h 791"/>
                <a:gd name="T88" fmla="*/ 8871 w 1078"/>
                <a:gd name="T89" fmla="*/ 5107 h 791"/>
                <a:gd name="T90" fmla="*/ 9177 w 1078"/>
                <a:gd name="T91" fmla="*/ 5009 h 791"/>
                <a:gd name="T92" fmla="*/ 9897 w 1078"/>
                <a:gd name="T93" fmla="*/ 4604 h 791"/>
                <a:gd name="T94" fmla="*/ 10245 w 1078"/>
                <a:gd name="T95" fmla="*/ 4038 h 7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078"/>
                <a:gd name="T145" fmla="*/ 0 h 791"/>
                <a:gd name="T146" fmla="*/ 1078 w 1078"/>
                <a:gd name="T147" fmla="*/ 791 h 79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078" h="791">
                  <a:moveTo>
                    <a:pt x="1077" y="428"/>
                  </a:moveTo>
                  <a:lnTo>
                    <a:pt x="1075" y="416"/>
                  </a:lnTo>
                  <a:lnTo>
                    <a:pt x="1072" y="405"/>
                  </a:lnTo>
                  <a:lnTo>
                    <a:pt x="1068" y="395"/>
                  </a:lnTo>
                  <a:lnTo>
                    <a:pt x="1062" y="384"/>
                  </a:lnTo>
                  <a:lnTo>
                    <a:pt x="1055" y="374"/>
                  </a:lnTo>
                  <a:lnTo>
                    <a:pt x="1046" y="366"/>
                  </a:lnTo>
                  <a:lnTo>
                    <a:pt x="1037" y="357"/>
                  </a:lnTo>
                  <a:lnTo>
                    <a:pt x="1027" y="349"/>
                  </a:lnTo>
                  <a:lnTo>
                    <a:pt x="1029" y="344"/>
                  </a:lnTo>
                  <a:lnTo>
                    <a:pt x="1030" y="337"/>
                  </a:lnTo>
                  <a:lnTo>
                    <a:pt x="1031" y="332"/>
                  </a:lnTo>
                  <a:lnTo>
                    <a:pt x="1032" y="325"/>
                  </a:lnTo>
                  <a:lnTo>
                    <a:pt x="1033" y="320"/>
                  </a:lnTo>
                  <a:lnTo>
                    <a:pt x="1033" y="314"/>
                  </a:lnTo>
                  <a:lnTo>
                    <a:pt x="1033" y="307"/>
                  </a:lnTo>
                  <a:lnTo>
                    <a:pt x="1033" y="302"/>
                  </a:lnTo>
                  <a:lnTo>
                    <a:pt x="1027" y="271"/>
                  </a:lnTo>
                  <a:lnTo>
                    <a:pt x="1012" y="242"/>
                  </a:lnTo>
                  <a:lnTo>
                    <a:pt x="992" y="217"/>
                  </a:lnTo>
                  <a:lnTo>
                    <a:pt x="965" y="194"/>
                  </a:lnTo>
                  <a:lnTo>
                    <a:pt x="932" y="176"/>
                  </a:lnTo>
                  <a:lnTo>
                    <a:pt x="895" y="161"/>
                  </a:lnTo>
                  <a:lnTo>
                    <a:pt x="854" y="151"/>
                  </a:lnTo>
                  <a:lnTo>
                    <a:pt x="811" y="146"/>
                  </a:lnTo>
                  <a:lnTo>
                    <a:pt x="801" y="113"/>
                  </a:lnTo>
                  <a:lnTo>
                    <a:pt x="781" y="82"/>
                  </a:lnTo>
                  <a:lnTo>
                    <a:pt x="754" y="56"/>
                  </a:lnTo>
                  <a:lnTo>
                    <a:pt x="720" y="34"/>
                  </a:lnTo>
                  <a:lnTo>
                    <a:pt x="680" y="17"/>
                  </a:lnTo>
                  <a:lnTo>
                    <a:pt x="636" y="5"/>
                  </a:lnTo>
                  <a:lnTo>
                    <a:pt x="587" y="0"/>
                  </a:lnTo>
                  <a:lnTo>
                    <a:pt x="536" y="0"/>
                  </a:lnTo>
                  <a:lnTo>
                    <a:pt x="498" y="5"/>
                  </a:lnTo>
                  <a:lnTo>
                    <a:pt x="461" y="14"/>
                  </a:lnTo>
                  <a:lnTo>
                    <a:pt x="427" y="24"/>
                  </a:lnTo>
                  <a:lnTo>
                    <a:pt x="397" y="39"/>
                  </a:lnTo>
                  <a:lnTo>
                    <a:pt x="369" y="56"/>
                  </a:lnTo>
                  <a:lnTo>
                    <a:pt x="345" y="74"/>
                  </a:lnTo>
                  <a:lnTo>
                    <a:pt x="324" y="95"/>
                  </a:lnTo>
                  <a:lnTo>
                    <a:pt x="308" y="118"/>
                  </a:lnTo>
                  <a:lnTo>
                    <a:pt x="300" y="118"/>
                  </a:lnTo>
                  <a:lnTo>
                    <a:pt x="293" y="117"/>
                  </a:lnTo>
                  <a:lnTo>
                    <a:pt x="285" y="117"/>
                  </a:lnTo>
                  <a:lnTo>
                    <a:pt x="277" y="117"/>
                  </a:lnTo>
                  <a:lnTo>
                    <a:pt x="270" y="117"/>
                  </a:lnTo>
                  <a:lnTo>
                    <a:pt x="263" y="117"/>
                  </a:lnTo>
                  <a:lnTo>
                    <a:pt x="255" y="118"/>
                  </a:lnTo>
                  <a:lnTo>
                    <a:pt x="248" y="118"/>
                  </a:lnTo>
                  <a:lnTo>
                    <a:pt x="195" y="126"/>
                  </a:lnTo>
                  <a:lnTo>
                    <a:pt x="146" y="140"/>
                  </a:lnTo>
                  <a:lnTo>
                    <a:pt x="104" y="160"/>
                  </a:lnTo>
                  <a:lnTo>
                    <a:pt x="66" y="184"/>
                  </a:lnTo>
                  <a:lnTo>
                    <a:pt x="36" y="214"/>
                  </a:lnTo>
                  <a:lnTo>
                    <a:pt x="15" y="245"/>
                  </a:lnTo>
                  <a:lnTo>
                    <a:pt x="2" y="279"/>
                  </a:lnTo>
                  <a:lnTo>
                    <a:pt x="0" y="316"/>
                  </a:lnTo>
                  <a:lnTo>
                    <a:pt x="3" y="335"/>
                  </a:lnTo>
                  <a:lnTo>
                    <a:pt x="9" y="354"/>
                  </a:lnTo>
                  <a:lnTo>
                    <a:pt x="18" y="372"/>
                  </a:lnTo>
                  <a:lnTo>
                    <a:pt x="31" y="389"/>
                  </a:lnTo>
                  <a:lnTo>
                    <a:pt x="45" y="405"/>
                  </a:lnTo>
                  <a:lnTo>
                    <a:pt x="62" y="419"/>
                  </a:lnTo>
                  <a:lnTo>
                    <a:pt x="82" y="432"/>
                  </a:lnTo>
                  <a:lnTo>
                    <a:pt x="104" y="443"/>
                  </a:lnTo>
                  <a:lnTo>
                    <a:pt x="91" y="454"/>
                  </a:lnTo>
                  <a:lnTo>
                    <a:pt x="79" y="466"/>
                  </a:lnTo>
                  <a:lnTo>
                    <a:pt x="68" y="478"/>
                  </a:lnTo>
                  <a:lnTo>
                    <a:pt x="59" y="491"/>
                  </a:lnTo>
                  <a:lnTo>
                    <a:pt x="53" y="504"/>
                  </a:lnTo>
                  <a:lnTo>
                    <a:pt x="48" y="518"/>
                  </a:lnTo>
                  <a:lnTo>
                    <a:pt x="46" y="532"/>
                  </a:lnTo>
                  <a:lnTo>
                    <a:pt x="46" y="547"/>
                  </a:lnTo>
                  <a:lnTo>
                    <a:pt x="53" y="573"/>
                  </a:lnTo>
                  <a:lnTo>
                    <a:pt x="66" y="598"/>
                  </a:lnTo>
                  <a:lnTo>
                    <a:pt x="86" y="619"/>
                  </a:lnTo>
                  <a:lnTo>
                    <a:pt x="112" y="637"/>
                  </a:lnTo>
                  <a:lnTo>
                    <a:pt x="143" y="651"/>
                  </a:lnTo>
                  <a:lnTo>
                    <a:pt x="179" y="661"/>
                  </a:lnTo>
                  <a:lnTo>
                    <a:pt x="217" y="666"/>
                  </a:lnTo>
                  <a:lnTo>
                    <a:pt x="257" y="666"/>
                  </a:lnTo>
                  <a:lnTo>
                    <a:pt x="258" y="665"/>
                  </a:lnTo>
                  <a:lnTo>
                    <a:pt x="260" y="665"/>
                  </a:lnTo>
                  <a:lnTo>
                    <a:pt x="261" y="665"/>
                  </a:lnTo>
                  <a:lnTo>
                    <a:pt x="262" y="665"/>
                  </a:lnTo>
                  <a:lnTo>
                    <a:pt x="264" y="665"/>
                  </a:lnTo>
                  <a:lnTo>
                    <a:pt x="265" y="665"/>
                  </a:lnTo>
                  <a:lnTo>
                    <a:pt x="267" y="665"/>
                  </a:lnTo>
                  <a:lnTo>
                    <a:pt x="269" y="663"/>
                  </a:lnTo>
                  <a:lnTo>
                    <a:pt x="269" y="666"/>
                  </a:lnTo>
                  <a:lnTo>
                    <a:pt x="268" y="667"/>
                  </a:lnTo>
                  <a:lnTo>
                    <a:pt x="268" y="668"/>
                  </a:lnTo>
                  <a:lnTo>
                    <a:pt x="268" y="670"/>
                  </a:lnTo>
                  <a:lnTo>
                    <a:pt x="268" y="671"/>
                  </a:lnTo>
                  <a:lnTo>
                    <a:pt x="269" y="673"/>
                  </a:lnTo>
                  <a:lnTo>
                    <a:pt x="269" y="674"/>
                  </a:lnTo>
                  <a:lnTo>
                    <a:pt x="269" y="675"/>
                  </a:lnTo>
                  <a:lnTo>
                    <a:pt x="274" y="701"/>
                  </a:lnTo>
                  <a:lnTo>
                    <a:pt x="287" y="724"/>
                  </a:lnTo>
                  <a:lnTo>
                    <a:pt x="307" y="745"/>
                  </a:lnTo>
                  <a:lnTo>
                    <a:pt x="332" y="762"/>
                  </a:lnTo>
                  <a:lnTo>
                    <a:pt x="362" y="775"/>
                  </a:lnTo>
                  <a:lnTo>
                    <a:pt x="395" y="785"/>
                  </a:lnTo>
                  <a:lnTo>
                    <a:pt x="432" y="790"/>
                  </a:lnTo>
                  <a:lnTo>
                    <a:pt x="471" y="790"/>
                  </a:lnTo>
                  <a:lnTo>
                    <a:pt x="498" y="785"/>
                  </a:lnTo>
                  <a:lnTo>
                    <a:pt x="524" y="780"/>
                  </a:lnTo>
                  <a:lnTo>
                    <a:pt x="548" y="772"/>
                  </a:lnTo>
                  <a:lnTo>
                    <a:pt x="571" y="762"/>
                  </a:lnTo>
                  <a:lnTo>
                    <a:pt x="590" y="750"/>
                  </a:lnTo>
                  <a:lnTo>
                    <a:pt x="609" y="737"/>
                  </a:lnTo>
                  <a:lnTo>
                    <a:pt x="624" y="722"/>
                  </a:lnTo>
                  <a:lnTo>
                    <a:pt x="636" y="706"/>
                  </a:lnTo>
                  <a:lnTo>
                    <a:pt x="648" y="711"/>
                  </a:lnTo>
                  <a:lnTo>
                    <a:pt x="662" y="715"/>
                  </a:lnTo>
                  <a:lnTo>
                    <a:pt x="675" y="718"/>
                  </a:lnTo>
                  <a:lnTo>
                    <a:pt x="689" y="720"/>
                  </a:lnTo>
                  <a:lnTo>
                    <a:pt x="704" y="722"/>
                  </a:lnTo>
                  <a:lnTo>
                    <a:pt x="719" y="723"/>
                  </a:lnTo>
                  <a:lnTo>
                    <a:pt x="735" y="723"/>
                  </a:lnTo>
                  <a:lnTo>
                    <a:pt x="750" y="722"/>
                  </a:lnTo>
                  <a:lnTo>
                    <a:pt x="789" y="717"/>
                  </a:lnTo>
                  <a:lnTo>
                    <a:pt x="825" y="706"/>
                  </a:lnTo>
                  <a:lnTo>
                    <a:pt x="856" y="692"/>
                  </a:lnTo>
                  <a:lnTo>
                    <a:pt x="883" y="673"/>
                  </a:lnTo>
                  <a:lnTo>
                    <a:pt x="905" y="653"/>
                  </a:lnTo>
                  <a:lnTo>
                    <a:pt x="921" y="629"/>
                  </a:lnTo>
                  <a:lnTo>
                    <a:pt x="930" y="604"/>
                  </a:lnTo>
                  <a:lnTo>
                    <a:pt x="932" y="578"/>
                  </a:lnTo>
                  <a:lnTo>
                    <a:pt x="932" y="577"/>
                  </a:lnTo>
                  <a:lnTo>
                    <a:pt x="931" y="574"/>
                  </a:lnTo>
                  <a:lnTo>
                    <a:pt x="931" y="573"/>
                  </a:lnTo>
                  <a:lnTo>
                    <a:pt x="931" y="572"/>
                  </a:lnTo>
                  <a:lnTo>
                    <a:pt x="931" y="571"/>
                  </a:lnTo>
                  <a:lnTo>
                    <a:pt x="931" y="569"/>
                  </a:lnTo>
                  <a:lnTo>
                    <a:pt x="930" y="568"/>
                  </a:lnTo>
                  <a:lnTo>
                    <a:pt x="930" y="567"/>
                  </a:lnTo>
                  <a:lnTo>
                    <a:pt x="963" y="558"/>
                  </a:lnTo>
                  <a:lnTo>
                    <a:pt x="991" y="546"/>
                  </a:lnTo>
                  <a:lnTo>
                    <a:pt x="1017" y="531"/>
                  </a:lnTo>
                  <a:lnTo>
                    <a:pt x="1039" y="513"/>
                  </a:lnTo>
                  <a:lnTo>
                    <a:pt x="1056" y="495"/>
                  </a:lnTo>
                  <a:lnTo>
                    <a:pt x="1069" y="473"/>
                  </a:lnTo>
                  <a:lnTo>
                    <a:pt x="1075" y="450"/>
                  </a:lnTo>
                  <a:lnTo>
                    <a:pt x="1077" y="428"/>
                  </a:lnTo>
                </a:path>
              </a:pathLst>
            </a:custGeom>
            <a:solidFill>
              <a:srgbClr val="C3EAEA"/>
            </a:solidFill>
            <a:ln w="9525" cap="rnd">
              <a:noFill/>
              <a:round/>
              <a:headEnd/>
              <a:tailEnd/>
            </a:ln>
          </p:spPr>
          <p:txBody>
            <a:bodyPr anchor="ctr"/>
            <a:lstStyle/>
            <a:p>
              <a:pPr algn="ctr"/>
              <a:endParaRPr lang="zh-CN" altLang="en-US" dirty="0">
                <a:latin typeface="Arial" panose="020B0604020202020204" pitchFamily="34" charset="0"/>
                <a:ea typeface="+mn-ea"/>
              </a:endParaRPr>
            </a:p>
          </p:txBody>
        </p:sp>
        <p:sp>
          <p:nvSpPr>
            <p:cNvPr id="53" name="Text Box 67"/>
            <p:cNvSpPr txBox="1">
              <a:spLocks noChangeArrowheads="1"/>
            </p:cNvSpPr>
            <p:nvPr/>
          </p:nvSpPr>
          <p:spPr bwMode="auto">
            <a:xfrm>
              <a:off x="2493748" y="3710800"/>
              <a:ext cx="1637628" cy="476854"/>
            </a:xfrm>
            <a:prstGeom prst="rect">
              <a:avLst/>
            </a:prstGeom>
            <a:noFill/>
            <a:ln w="9525" algn="ctr">
              <a:noFill/>
              <a:miter lim="800000"/>
              <a:headEnd/>
              <a:tailEnd/>
            </a:ln>
          </p:spPr>
          <p:txBody>
            <a:bodyPr wrap="none" lIns="79200" tIns="39600" rIns="79200" bIns="39600" anchor="ctr">
              <a:spAutoFit/>
            </a:bodyPr>
            <a:lstStyle/>
            <a:p>
              <a:pPr algn="ctr" defTabSz="801688"/>
              <a:r>
                <a:rPr lang="en-US" sz="1200" b="1" dirty="0">
                  <a:latin typeface="Arial" panose="020B0604020202020204" pitchFamily="34" charset="0"/>
                  <a:ea typeface="+mn-ea"/>
                </a:rPr>
                <a:t>IP/FC network</a:t>
              </a:r>
            </a:p>
          </p:txBody>
        </p:sp>
      </p:grpSp>
      <p:sp>
        <p:nvSpPr>
          <p:cNvPr id="55" name="Line 888"/>
          <p:cNvSpPr>
            <a:spLocks noChangeShapeType="1"/>
          </p:cNvSpPr>
          <p:nvPr/>
        </p:nvSpPr>
        <p:spPr bwMode="auto">
          <a:xfrm>
            <a:off x="4020189" y="3718154"/>
            <a:ext cx="761959" cy="0"/>
          </a:xfrm>
          <a:prstGeom prst="line">
            <a:avLst/>
          </a:prstGeom>
          <a:noFill/>
          <a:ln w="28575">
            <a:solidFill>
              <a:srgbClr val="60C7C7"/>
            </a:solidFill>
            <a:round/>
            <a:headEnd/>
            <a:tailEnd/>
          </a:ln>
        </p:spPr>
        <p:txBody>
          <a:bodyPr lIns="79200" tIns="39600" rIns="79200" bIns="39600">
            <a:spAutoFit/>
          </a:bodyPr>
          <a:lstStyle/>
          <a:p>
            <a:endParaRPr lang="zh-CN" altLang="en-US">
              <a:latin typeface="Arial" panose="020B0604020202020204" pitchFamily="34" charset="0"/>
              <a:ea typeface="+mn-ea"/>
            </a:endParaRPr>
          </a:p>
        </p:txBody>
      </p:sp>
      <p:grpSp>
        <p:nvGrpSpPr>
          <p:cNvPr id="93" name="组合 15814"/>
          <p:cNvGrpSpPr>
            <a:grpSpLocks noChangeAspect="1"/>
          </p:cNvGrpSpPr>
          <p:nvPr/>
        </p:nvGrpSpPr>
        <p:grpSpPr>
          <a:xfrm>
            <a:off x="4784256" y="3484249"/>
            <a:ext cx="843692" cy="371531"/>
            <a:chOff x="2789238" y="1000125"/>
            <a:chExt cx="762000" cy="334963"/>
          </a:xfrm>
          <a:solidFill>
            <a:srgbClr val="3C3C3B"/>
          </a:solidFill>
          <a:scene3d>
            <a:camera prst="orthographicFront">
              <a:rot lat="0" lon="0" rev="0"/>
            </a:camera>
            <a:lightRig rig="threePt" dir="t"/>
          </a:scene3d>
        </p:grpSpPr>
        <p:sp>
          <p:nvSpPr>
            <p:cNvPr id="94" name="Freeform 37"/>
            <p:cNvSpPr>
              <a:spLocks noEditPoints="1"/>
            </p:cNvSpPr>
            <p:nvPr/>
          </p:nvSpPr>
          <p:spPr bwMode="auto">
            <a:xfrm>
              <a:off x="2789238" y="1000125"/>
              <a:ext cx="762000" cy="334963"/>
            </a:xfrm>
            <a:custGeom>
              <a:avLst/>
              <a:gdLst>
                <a:gd name="T0" fmla="*/ 751 w 798"/>
                <a:gd name="T1" fmla="*/ 265 h 350"/>
                <a:gd name="T2" fmla="*/ 783 w 798"/>
                <a:gd name="T3" fmla="*/ 317 h 350"/>
                <a:gd name="T4" fmla="*/ 751 w 798"/>
                <a:gd name="T5" fmla="*/ 265 h 350"/>
                <a:gd name="T6" fmla="*/ 440 w 798"/>
                <a:gd name="T7" fmla="*/ 178 h 350"/>
                <a:gd name="T8" fmla="*/ 56 w 798"/>
                <a:gd name="T9" fmla="*/ 79 h 350"/>
                <a:gd name="T10" fmla="*/ 741 w 798"/>
                <a:gd name="T11" fmla="*/ 189 h 350"/>
                <a:gd name="T12" fmla="*/ 14 w 798"/>
                <a:gd name="T13" fmla="*/ 308 h 350"/>
                <a:gd name="T14" fmla="*/ 47 w 798"/>
                <a:gd name="T15" fmla="*/ 308 h 350"/>
                <a:gd name="T16" fmla="*/ 14 w 798"/>
                <a:gd name="T17" fmla="*/ 317 h 350"/>
                <a:gd name="T18" fmla="*/ 47 w 798"/>
                <a:gd name="T19" fmla="*/ 94 h 350"/>
                <a:gd name="T20" fmla="*/ 14 w 798"/>
                <a:gd name="T21" fmla="*/ 94 h 350"/>
                <a:gd name="T22" fmla="*/ 47 w 798"/>
                <a:gd name="T23" fmla="*/ 79 h 350"/>
                <a:gd name="T24" fmla="*/ 14 w 798"/>
                <a:gd name="T25" fmla="*/ 263 h 350"/>
                <a:gd name="T26" fmla="*/ 47 w 798"/>
                <a:gd name="T27" fmla="*/ 263 h 350"/>
                <a:gd name="T28" fmla="*/ 14 w 798"/>
                <a:gd name="T29" fmla="*/ 304 h 350"/>
                <a:gd name="T30" fmla="*/ 47 w 798"/>
                <a:gd name="T31" fmla="*/ 259 h 350"/>
                <a:gd name="T32" fmla="*/ 14 w 798"/>
                <a:gd name="T33" fmla="*/ 259 h 350"/>
                <a:gd name="T34" fmla="*/ 47 w 798"/>
                <a:gd name="T35" fmla="*/ 236 h 350"/>
                <a:gd name="T36" fmla="*/ 47 w 798"/>
                <a:gd name="T37" fmla="*/ 129 h 350"/>
                <a:gd name="T38" fmla="*/ 14 w 798"/>
                <a:gd name="T39" fmla="*/ 129 h 350"/>
                <a:gd name="T40" fmla="*/ 47 w 798"/>
                <a:gd name="T41" fmla="*/ 98 h 350"/>
                <a:gd name="T42" fmla="*/ 14 w 798"/>
                <a:gd name="T43" fmla="*/ 161 h 350"/>
                <a:gd name="T44" fmla="*/ 47 w 798"/>
                <a:gd name="T45" fmla="*/ 161 h 350"/>
                <a:gd name="T46" fmla="*/ 14 w 798"/>
                <a:gd name="T47" fmla="*/ 232 h 350"/>
                <a:gd name="T48" fmla="*/ 47 w 798"/>
                <a:gd name="T49" fmla="*/ 157 h 350"/>
                <a:gd name="T50" fmla="*/ 14 w 798"/>
                <a:gd name="T51" fmla="*/ 157 h 350"/>
                <a:gd name="T52" fmla="*/ 47 w 798"/>
                <a:gd name="T53" fmla="*/ 133 h 350"/>
                <a:gd name="T54" fmla="*/ 751 w 798"/>
                <a:gd name="T55" fmla="*/ 102 h 350"/>
                <a:gd name="T56" fmla="*/ 783 w 798"/>
                <a:gd name="T57" fmla="*/ 102 h 350"/>
                <a:gd name="T58" fmla="*/ 751 w 798"/>
                <a:gd name="T59" fmla="*/ 261 h 350"/>
                <a:gd name="T60" fmla="*/ 783 w 798"/>
                <a:gd name="T61" fmla="*/ 98 h 350"/>
                <a:gd name="T62" fmla="*/ 751 w 798"/>
                <a:gd name="T63" fmla="*/ 98 h 350"/>
                <a:gd name="T64" fmla="*/ 783 w 798"/>
                <a:gd name="T65" fmla="*/ 79 h 350"/>
                <a:gd name="T66" fmla="*/ 47 w 798"/>
                <a:gd name="T67" fmla="*/ 46 h 350"/>
                <a:gd name="T68" fmla="*/ 734 w 798"/>
                <a:gd name="T69" fmla="*/ 46 h 350"/>
                <a:gd name="T70" fmla="*/ 19 w 798"/>
                <a:gd name="T71" fmla="*/ 65 h 350"/>
                <a:gd name="T72" fmla="*/ 173 w 798"/>
                <a:gd name="T73" fmla="*/ 10 h 350"/>
                <a:gd name="T74" fmla="*/ 620 w 798"/>
                <a:gd name="T75" fmla="*/ 10 h 350"/>
                <a:gd name="T76" fmla="*/ 114 w 798"/>
                <a:gd name="T77" fmla="*/ 36 h 350"/>
                <a:gd name="T78" fmla="*/ 798 w 798"/>
                <a:gd name="T79" fmla="*/ 65 h 350"/>
                <a:gd name="T80" fmla="*/ 797 w 798"/>
                <a:gd name="T81" fmla="*/ 65 h 350"/>
                <a:gd name="T82" fmla="*/ 737 w 798"/>
                <a:gd name="T83" fmla="*/ 37 h 350"/>
                <a:gd name="T84" fmla="*/ 622 w 798"/>
                <a:gd name="T85" fmla="*/ 0 h 350"/>
                <a:gd name="T86" fmla="*/ 90 w 798"/>
                <a:gd name="T87" fmla="*/ 36 h 350"/>
                <a:gd name="T88" fmla="*/ 1 w 798"/>
                <a:gd name="T89" fmla="*/ 65 h 350"/>
                <a:gd name="T90" fmla="*/ 0 w 798"/>
                <a:gd name="T91" fmla="*/ 331 h 350"/>
                <a:gd name="T92" fmla="*/ 513 w 798"/>
                <a:gd name="T93" fmla="*/ 350 h 350"/>
                <a:gd name="T94" fmla="*/ 513 w 798"/>
                <a:gd name="T95" fmla="*/ 298 h 350"/>
                <a:gd name="T96" fmla="*/ 56 w 798"/>
                <a:gd name="T97" fmla="*/ 317 h 350"/>
                <a:gd name="T98" fmla="*/ 440 w 798"/>
                <a:gd name="T99" fmla="*/ 193 h 350"/>
                <a:gd name="T100" fmla="*/ 741 w 798"/>
                <a:gd name="T101" fmla="*/ 204 h 350"/>
                <a:gd name="T102" fmla="*/ 616 w 798"/>
                <a:gd name="T103" fmla="*/ 317 h 350"/>
                <a:gd name="T104" fmla="*/ 566 w 798"/>
                <a:gd name="T105" fmla="*/ 324 h 350"/>
                <a:gd name="T106" fmla="*/ 616 w 798"/>
                <a:gd name="T107" fmla="*/ 331 h 350"/>
                <a:gd name="T108" fmla="*/ 798 w 798"/>
                <a:gd name="T109" fmla="*/ 6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98" h="350">
                  <a:moveTo>
                    <a:pt x="751" y="265"/>
                  </a:moveTo>
                  <a:lnTo>
                    <a:pt x="751" y="265"/>
                  </a:lnTo>
                  <a:lnTo>
                    <a:pt x="783" y="265"/>
                  </a:lnTo>
                  <a:lnTo>
                    <a:pt x="783" y="317"/>
                  </a:lnTo>
                  <a:lnTo>
                    <a:pt x="751" y="317"/>
                  </a:lnTo>
                  <a:lnTo>
                    <a:pt x="751" y="265"/>
                  </a:lnTo>
                  <a:close/>
                  <a:moveTo>
                    <a:pt x="440" y="178"/>
                  </a:moveTo>
                  <a:lnTo>
                    <a:pt x="440" y="178"/>
                  </a:lnTo>
                  <a:cubicBezTo>
                    <a:pt x="273" y="178"/>
                    <a:pt x="73" y="188"/>
                    <a:pt x="56" y="189"/>
                  </a:cubicBezTo>
                  <a:lnTo>
                    <a:pt x="56" y="79"/>
                  </a:lnTo>
                  <a:lnTo>
                    <a:pt x="741" y="79"/>
                  </a:lnTo>
                  <a:lnTo>
                    <a:pt x="741" y="189"/>
                  </a:lnTo>
                  <a:cubicBezTo>
                    <a:pt x="732" y="188"/>
                    <a:pt x="608" y="178"/>
                    <a:pt x="440" y="178"/>
                  </a:cubicBezTo>
                  <a:close/>
                  <a:moveTo>
                    <a:pt x="14" y="308"/>
                  </a:moveTo>
                  <a:lnTo>
                    <a:pt x="14" y="308"/>
                  </a:lnTo>
                  <a:lnTo>
                    <a:pt x="47" y="308"/>
                  </a:lnTo>
                  <a:lnTo>
                    <a:pt x="47" y="317"/>
                  </a:lnTo>
                  <a:lnTo>
                    <a:pt x="14" y="317"/>
                  </a:lnTo>
                  <a:lnTo>
                    <a:pt x="14" y="308"/>
                  </a:lnTo>
                  <a:close/>
                  <a:moveTo>
                    <a:pt x="47" y="94"/>
                  </a:moveTo>
                  <a:lnTo>
                    <a:pt x="47" y="94"/>
                  </a:lnTo>
                  <a:lnTo>
                    <a:pt x="14" y="94"/>
                  </a:lnTo>
                  <a:lnTo>
                    <a:pt x="14" y="79"/>
                  </a:lnTo>
                  <a:lnTo>
                    <a:pt x="47" y="79"/>
                  </a:lnTo>
                  <a:lnTo>
                    <a:pt x="47" y="94"/>
                  </a:lnTo>
                  <a:close/>
                  <a:moveTo>
                    <a:pt x="14" y="263"/>
                  </a:moveTo>
                  <a:lnTo>
                    <a:pt x="14" y="263"/>
                  </a:lnTo>
                  <a:lnTo>
                    <a:pt x="47" y="263"/>
                  </a:lnTo>
                  <a:lnTo>
                    <a:pt x="47" y="304"/>
                  </a:lnTo>
                  <a:lnTo>
                    <a:pt x="14" y="304"/>
                  </a:lnTo>
                  <a:lnTo>
                    <a:pt x="14" y="263"/>
                  </a:lnTo>
                  <a:close/>
                  <a:moveTo>
                    <a:pt x="47" y="259"/>
                  </a:moveTo>
                  <a:lnTo>
                    <a:pt x="47" y="259"/>
                  </a:lnTo>
                  <a:lnTo>
                    <a:pt x="14" y="259"/>
                  </a:lnTo>
                  <a:lnTo>
                    <a:pt x="14" y="236"/>
                  </a:lnTo>
                  <a:lnTo>
                    <a:pt x="47" y="236"/>
                  </a:lnTo>
                  <a:lnTo>
                    <a:pt x="47" y="259"/>
                  </a:lnTo>
                  <a:close/>
                  <a:moveTo>
                    <a:pt x="47" y="129"/>
                  </a:moveTo>
                  <a:lnTo>
                    <a:pt x="47" y="129"/>
                  </a:lnTo>
                  <a:lnTo>
                    <a:pt x="14" y="129"/>
                  </a:lnTo>
                  <a:lnTo>
                    <a:pt x="14" y="98"/>
                  </a:lnTo>
                  <a:lnTo>
                    <a:pt x="47" y="98"/>
                  </a:lnTo>
                  <a:lnTo>
                    <a:pt x="47" y="129"/>
                  </a:lnTo>
                  <a:close/>
                  <a:moveTo>
                    <a:pt x="14" y="161"/>
                  </a:moveTo>
                  <a:lnTo>
                    <a:pt x="14" y="161"/>
                  </a:lnTo>
                  <a:lnTo>
                    <a:pt x="47" y="161"/>
                  </a:lnTo>
                  <a:lnTo>
                    <a:pt x="47" y="232"/>
                  </a:lnTo>
                  <a:lnTo>
                    <a:pt x="14" y="232"/>
                  </a:lnTo>
                  <a:lnTo>
                    <a:pt x="14" y="161"/>
                  </a:lnTo>
                  <a:close/>
                  <a:moveTo>
                    <a:pt x="47" y="157"/>
                  </a:moveTo>
                  <a:lnTo>
                    <a:pt x="47" y="157"/>
                  </a:lnTo>
                  <a:lnTo>
                    <a:pt x="14" y="157"/>
                  </a:lnTo>
                  <a:lnTo>
                    <a:pt x="14" y="133"/>
                  </a:lnTo>
                  <a:lnTo>
                    <a:pt x="47" y="133"/>
                  </a:lnTo>
                  <a:lnTo>
                    <a:pt x="47" y="157"/>
                  </a:lnTo>
                  <a:close/>
                  <a:moveTo>
                    <a:pt x="751" y="102"/>
                  </a:moveTo>
                  <a:lnTo>
                    <a:pt x="751" y="102"/>
                  </a:lnTo>
                  <a:lnTo>
                    <a:pt x="783" y="102"/>
                  </a:lnTo>
                  <a:lnTo>
                    <a:pt x="783" y="261"/>
                  </a:lnTo>
                  <a:lnTo>
                    <a:pt x="751" y="261"/>
                  </a:lnTo>
                  <a:lnTo>
                    <a:pt x="751" y="102"/>
                  </a:lnTo>
                  <a:close/>
                  <a:moveTo>
                    <a:pt x="783" y="98"/>
                  </a:moveTo>
                  <a:lnTo>
                    <a:pt x="783" y="98"/>
                  </a:lnTo>
                  <a:lnTo>
                    <a:pt x="751" y="98"/>
                  </a:lnTo>
                  <a:lnTo>
                    <a:pt x="751" y="79"/>
                  </a:lnTo>
                  <a:lnTo>
                    <a:pt x="783" y="79"/>
                  </a:lnTo>
                  <a:lnTo>
                    <a:pt x="783" y="98"/>
                  </a:lnTo>
                  <a:close/>
                  <a:moveTo>
                    <a:pt x="47" y="46"/>
                  </a:moveTo>
                  <a:lnTo>
                    <a:pt x="47" y="46"/>
                  </a:lnTo>
                  <a:lnTo>
                    <a:pt x="734" y="46"/>
                  </a:lnTo>
                  <a:lnTo>
                    <a:pt x="774" y="65"/>
                  </a:lnTo>
                  <a:lnTo>
                    <a:pt x="19" y="65"/>
                  </a:lnTo>
                  <a:lnTo>
                    <a:pt x="47" y="46"/>
                  </a:lnTo>
                  <a:close/>
                  <a:moveTo>
                    <a:pt x="173" y="10"/>
                  </a:moveTo>
                  <a:lnTo>
                    <a:pt x="173" y="10"/>
                  </a:lnTo>
                  <a:lnTo>
                    <a:pt x="620" y="10"/>
                  </a:lnTo>
                  <a:lnTo>
                    <a:pt x="672" y="37"/>
                  </a:lnTo>
                  <a:lnTo>
                    <a:pt x="114" y="36"/>
                  </a:lnTo>
                  <a:lnTo>
                    <a:pt x="173" y="10"/>
                  </a:lnTo>
                  <a:close/>
                  <a:moveTo>
                    <a:pt x="798" y="65"/>
                  </a:moveTo>
                  <a:lnTo>
                    <a:pt x="798" y="65"/>
                  </a:lnTo>
                  <a:lnTo>
                    <a:pt x="797" y="65"/>
                  </a:lnTo>
                  <a:lnTo>
                    <a:pt x="798" y="64"/>
                  </a:lnTo>
                  <a:lnTo>
                    <a:pt x="737" y="37"/>
                  </a:lnTo>
                  <a:lnTo>
                    <a:pt x="693" y="37"/>
                  </a:lnTo>
                  <a:lnTo>
                    <a:pt x="622" y="0"/>
                  </a:lnTo>
                  <a:lnTo>
                    <a:pt x="172" y="0"/>
                  </a:lnTo>
                  <a:lnTo>
                    <a:pt x="90" y="36"/>
                  </a:lnTo>
                  <a:lnTo>
                    <a:pt x="44" y="36"/>
                  </a:lnTo>
                  <a:lnTo>
                    <a:pt x="1" y="65"/>
                  </a:lnTo>
                  <a:lnTo>
                    <a:pt x="0" y="65"/>
                  </a:lnTo>
                  <a:lnTo>
                    <a:pt x="0" y="331"/>
                  </a:lnTo>
                  <a:lnTo>
                    <a:pt x="488" y="331"/>
                  </a:lnTo>
                  <a:cubicBezTo>
                    <a:pt x="491" y="342"/>
                    <a:pt x="501" y="350"/>
                    <a:pt x="513" y="350"/>
                  </a:cubicBezTo>
                  <a:cubicBezTo>
                    <a:pt x="527" y="350"/>
                    <a:pt x="539" y="338"/>
                    <a:pt x="539" y="324"/>
                  </a:cubicBezTo>
                  <a:cubicBezTo>
                    <a:pt x="539" y="310"/>
                    <a:pt x="527" y="298"/>
                    <a:pt x="513" y="298"/>
                  </a:cubicBezTo>
                  <a:cubicBezTo>
                    <a:pt x="501" y="298"/>
                    <a:pt x="492" y="306"/>
                    <a:pt x="488" y="317"/>
                  </a:cubicBezTo>
                  <a:lnTo>
                    <a:pt x="56" y="317"/>
                  </a:lnTo>
                  <a:lnTo>
                    <a:pt x="56" y="204"/>
                  </a:lnTo>
                  <a:cubicBezTo>
                    <a:pt x="66" y="203"/>
                    <a:pt x="269" y="193"/>
                    <a:pt x="440" y="193"/>
                  </a:cubicBezTo>
                  <a:cubicBezTo>
                    <a:pt x="613" y="193"/>
                    <a:pt x="740" y="204"/>
                    <a:pt x="741" y="204"/>
                  </a:cubicBezTo>
                  <a:cubicBezTo>
                    <a:pt x="741" y="204"/>
                    <a:pt x="741" y="204"/>
                    <a:pt x="741" y="204"/>
                  </a:cubicBezTo>
                  <a:lnTo>
                    <a:pt x="741" y="317"/>
                  </a:lnTo>
                  <a:lnTo>
                    <a:pt x="616" y="317"/>
                  </a:lnTo>
                  <a:cubicBezTo>
                    <a:pt x="613" y="306"/>
                    <a:pt x="603" y="298"/>
                    <a:pt x="592" y="298"/>
                  </a:cubicBezTo>
                  <a:cubicBezTo>
                    <a:pt x="577" y="298"/>
                    <a:pt x="566" y="310"/>
                    <a:pt x="566" y="324"/>
                  </a:cubicBezTo>
                  <a:cubicBezTo>
                    <a:pt x="566" y="338"/>
                    <a:pt x="577" y="350"/>
                    <a:pt x="592" y="350"/>
                  </a:cubicBezTo>
                  <a:cubicBezTo>
                    <a:pt x="603" y="350"/>
                    <a:pt x="613" y="342"/>
                    <a:pt x="616" y="331"/>
                  </a:cubicBezTo>
                  <a:lnTo>
                    <a:pt x="798" y="331"/>
                  </a:lnTo>
                  <a:lnTo>
                    <a:pt x="798" y="6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95" name="Freeform 38"/>
            <p:cNvSpPr>
              <a:spLocks/>
            </p:cNvSpPr>
            <p:nvPr/>
          </p:nvSpPr>
          <p:spPr bwMode="auto">
            <a:xfrm>
              <a:off x="3514725" y="1104900"/>
              <a:ext cx="12700" cy="12700"/>
            </a:xfrm>
            <a:custGeom>
              <a:avLst/>
              <a:gdLst>
                <a:gd name="T0" fmla="*/ 13 w 13"/>
                <a:gd name="T1" fmla="*/ 0 h 13"/>
                <a:gd name="T2" fmla="*/ 13 w 13"/>
                <a:gd name="T3" fmla="*/ 0 h 13"/>
                <a:gd name="T4" fmla="*/ 0 w 13"/>
                <a:gd name="T5" fmla="*/ 0 h 13"/>
                <a:gd name="T6" fmla="*/ 0 w 13"/>
                <a:gd name="T7" fmla="*/ 13 h 13"/>
                <a:gd name="T8" fmla="*/ 13 w 13"/>
                <a:gd name="T9" fmla="*/ 13 h 13"/>
                <a:gd name="T10" fmla="*/ 13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13" y="0"/>
                  </a:moveTo>
                  <a:lnTo>
                    <a:pt x="13" y="0"/>
                  </a:lnTo>
                  <a:lnTo>
                    <a:pt x="0" y="0"/>
                  </a:lnTo>
                  <a:lnTo>
                    <a:pt x="0" y="13"/>
                  </a:lnTo>
                  <a:lnTo>
                    <a:pt x="13" y="13"/>
                  </a:lnTo>
                  <a:lnTo>
                    <a:pt x="13"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96" name="Freeform 39"/>
            <p:cNvSpPr>
              <a:spLocks/>
            </p:cNvSpPr>
            <p:nvPr/>
          </p:nvSpPr>
          <p:spPr bwMode="auto">
            <a:xfrm>
              <a:off x="3514725" y="1125538"/>
              <a:ext cx="12700" cy="12700"/>
            </a:xfrm>
            <a:custGeom>
              <a:avLst/>
              <a:gdLst>
                <a:gd name="T0" fmla="*/ 13 w 13"/>
                <a:gd name="T1" fmla="*/ 0 h 13"/>
                <a:gd name="T2" fmla="*/ 13 w 13"/>
                <a:gd name="T3" fmla="*/ 0 h 13"/>
                <a:gd name="T4" fmla="*/ 0 w 13"/>
                <a:gd name="T5" fmla="*/ 0 h 13"/>
                <a:gd name="T6" fmla="*/ 0 w 13"/>
                <a:gd name="T7" fmla="*/ 13 h 13"/>
                <a:gd name="T8" fmla="*/ 13 w 13"/>
                <a:gd name="T9" fmla="*/ 13 h 13"/>
                <a:gd name="T10" fmla="*/ 13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13" y="0"/>
                  </a:moveTo>
                  <a:lnTo>
                    <a:pt x="13" y="0"/>
                  </a:lnTo>
                  <a:lnTo>
                    <a:pt x="0" y="0"/>
                  </a:lnTo>
                  <a:lnTo>
                    <a:pt x="0" y="13"/>
                  </a:lnTo>
                  <a:lnTo>
                    <a:pt x="13" y="13"/>
                  </a:lnTo>
                  <a:lnTo>
                    <a:pt x="13"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97" name="Freeform 40"/>
            <p:cNvSpPr>
              <a:spLocks/>
            </p:cNvSpPr>
            <p:nvPr/>
          </p:nvSpPr>
          <p:spPr bwMode="auto">
            <a:xfrm>
              <a:off x="3513138" y="1146175"/>
              <a:ext cx="15875" cy="15875"/>
            </a:xfrm>
            <a:custGeom>
              <a:avLst/>
              <a:gdLst>
                <a:gd name="T0" fmla="*/ 0 w 17"/>
                <a:gd name="T1" fmla="*/ 17 h 17"/>
                <a:gd name="T2" fmla="*/ 0 w 17"/>
                <a:gd name="T3" fmla="*/ 17 h 17"/>
                <a:gd name="T4" fmla="*/ 17 w 17"/>
                <a:gd name="T5" fmla="*/ 17 h 17"/>
                <a:gd name="T6" fmla="*/ 17 w 17"/>
                <a:gd name="T7" fmla="*/ 0 h 17"/>
                <a:gd name="T8" fmla="*/ 0 w 17"/>
                <a:gd name="T9" fmla="*/ 0 h 17"/>
                <a:gd name="T10" fmla="*/ 0 w 17"/>
                <a:gd name="T11" fmla="*/ 17 h 17"/>
              </a:gdLst>
              <a:ahLst/>
              <a:cxnLst>
                <a:cxn ang="0">
                  <a:pos x="T0" y="T1"/>
                </a:cxn>
                <a:cxn ang="0">
                  <a:pos x="T2" y="T3"/>
                </a:cxn>
                <a:cxn ang="0">
                  <a:pos x="T4" y="T5"/>
                </a:cxn>
                <a:cxn ang="0">
                  <a:pos x="T6" y="T7"/>
                </a:cxn>
                <a:cxn ang="0">
                  <a:pos x="T8" y="T9"/>
                </a:cxn>
                <a:cxn ang="0">
                  <a:pos x="T10" y="T11"/>
                </a:cxn>
              </a:cxnLst>
              <a:rect l="0" t="0" r="r" b="b"/>
              <a:pathLst>
                <a:path w="17" h="17">
                  <a:moveTo>
                    <a:pt x="0" y="17"/>
                  </a:moveTo>
                  <a:lnTo>
                    <a:pt x="0" y="17"/>
                  </a:lnTo>
                  <a:lnTo>
                    <a:pt x="17" y="17"/>
                  </a:lnTo>
                  <a:lnTo>
                    <a:pt x="17" y="0"/>
                  </a:lnTo>
                  <a:lnTo>
                    <a:pt x="0" y="0"/>
                  </a:lnTo>
                  <a:lnTo>
                    <a:pt x="0" y="17"/>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98" name="Freeform 41"/>
            <p:cNvSpPr>
              <a:spLocks/>
            </p:cNvSpPr>
            <p:nvPr/>
          </p:nvSpPr>
          <p:spPr bwMode="auto">
            <a:xfrm>
              <a:off x="2809875" y="1277938"/>
              <a:ext cx="1588" cy="3175"/>
            </a:xfrm>
            <a:custGeom>
              <a:avLst/>
              <a:gdLst>
                <a:gd name="T0" fmla="*/ 3 w 3"/>
                <a:gd name="T1" fmla="*/ 1 h 3"/>
                <a:gd name="T2" fmla="*/ 3 w 3"/>
                <a:gd name="T3" fmla="*/ 1 h 3"/>
                <a:gd name="T4" fmla="*/ 1 w 3"/>
                <a:gd name="T5" fmla="*/ 1 h 3"/>
                <a:gd name="T6" fmla="*/ 1 w 3"/>
                <a:gd name="T7" fmla="*/ 0 h 3"/>
                <a:gd name="T8" fmla="*/ 0 w 3"/>
                <a:gd name="T9" fmla="*/ 0 h 3"/>
                <a:gd name="T10" fmla="*/ 0 w 3"/>
                <a:gd name="T11" fmla="*/ 3 h 3"/>
                <a:gd name="T12" fmla="*/ 1 w 3"/>
                <a:gd name="T13" fmla="*/ 3 h 3"/>
                <a:gd name="T14" fmla="*/ 1 w 3"/>
                <a:gd name="T15" fmla="*/ 2 h 3"/>
                <a:gd name="T16" fmla="*/ 3 w 3"/>
                <a:gd name="T17" fmla="*/ 2 h 3"/>
                <a:gd name="T18" fmla="*/ 3 w 3"/>
                <a:gd name="T19" fmla="*/ 3 h 3"/>
                <a:gd name="T20" fmla="*/ 3 w 3"/>
                <a:gd name="T21" fmla="*/ 3 h 3"/>
                <a:gd name="T22" fmla="*/ 3 w 3"/>
                <a:gd name="T23" fmla="*/ 0 h 3"/>
                <a:gd name="T24" fmla="*/ 3 w 3"/>
                <a:gd name="T25" fmla="*/ 0 h 3"/>
                <a:gd name="T26" fmla="*/ 3 w 3"/>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3" y="1"/>
                  </a:moveTo>
                  <a:lnTo>
                    <a:pt x="3" y="1"/>
                  </a:lnTo>
                  <a:lnTo>
                    <a:pt x="1" y="1"/>
                  </a:lnTo>
                  <a:lnTo>
                    <a:pt x="1" y="0"/>
                  </a:lnTo>
                  <a:lnTo>
                    <a:pt x="0" y="0"/>
                  </a:lnTo>
                  <a:lnTo>
                    <a:pt x="0" y="3"/>
                  </a:lnTo>
                  <a:lnTo>
                    <a:pt x="1" y="3"/>
                  </a:lnTo>
                  <a:lnTo>
                    <a:pt x="1" y="2"/>
                  </a:lnTo>
                  <a:lnTo>
                    <a:pt x="3" y="2"/>
                  </a:lnTo>
                  <a:lnTo>
                    <a:pt x="3" y="3"/>
                  </a:lnTo>
                  <a:lnTo>
                    <a:pt x="3" y="3"/>
                  </a:lnTo>
                  <a:lnTo>
                    <a:pt x="3" y="0"/>
                  </a:lnTo>
                  <a:lnTo>
                    <a:pt x="3" y="0"/>
                  </a:lnTo>
                  <a:lnTo>
                    <a:pt x="3"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99" name="Freeform 42"/>
            <p:cNvSpPr>
              <a:spLocks/>
            </p:cNvSpPr>
            <p:nvPr/>
          </p:nvSpPr>
          <p:spPr bwMode="auto">
            <a:xfrm>
              <a:off x="2813050" y="1277938"/>
              <a:ext cx="3175" cy="3175"/>
            </a:xfrm>
            <a:custGeom>
              <a:avLst/>
              <a:gdLst>
                <a:gd name="T0" fmla="*/ 2 w 3"/>
                <a:gd name="T1" fmla="*/ 2 h 3"/>
                <a:gd name="T2" fmla="*/ 2 w 3"/>
                <a:gd name="T3" fmla="*/ 2 h 3"/>
                <a:gd name="T4" fmla="*/ 1 w 3"/>
                <a:gd name="T5" fmla="*/ 3 h 3"/>
                <a:gd name="T6" fmla="*/ 1 w 3"/>
                <a:gd name="T7" fmla="*/ 2 h 3"/>
                <a:gd name="T8" fmla="*/ 1 w 3"/>
                <a:gd name="T9" fmla="*/ 0 h 3"/>
                <a:gd name="T10" fmla="*/ 0 w 3"/>
                <a:gd name="T11" fmla="*/ 0 h 3"/>
                <a:gd name="T12" fmla="*/ 0 w 3"/>
                <a:gd name="T13" fmla="*/ 2 h 3"/>
                <a:gd name="T14" fmla="*/ 0 w 3"/>
                <a:gd name="T15" fmla="*/ 3 h 3"/>
                <a:gd name="T16" fmla="*/ 1 w 3"/>
                <a:gd name="T17" fmla="*/ 3 h 3"/>
                <a:gd name="T18" fmla="*/ 3 w 3"/>
                <a:gd name="T19" fmla="*/ 3 h 3"/>
                <a:gd name="T20" fmla="*/ 3 w 3"/>
                <a:gd name="T21" fmla="*/ 2 h 3"/>
                <a:gd name="T22" fmla="*/ 3 w 3"/>
                <a:gd name="T23" fmla="*/ 0 h 3"/>
                <a:gd name="T24" fmla="*/ 2 w 3"/>
                <a:gd name="T25" fmla="*/ 0 h 3"/>
                <a:gd name="T26" fmla="*/ 2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2" y="2"/>
                  </a:moveTo>
                  <a:lnTo>
                    <a:pt x="2" y="2"/>
                  </a:lnTo>
                  <a:cubicBezTo>
                    <a:pt x="2" y="2"/>
                    <a:pt x="2" y="3"/>
                    <a:pt x="1" y="3"/>
                  </a:cubicBezTo>
                  <a:cubicBezTo>
                    <a:pt x="1" y="3"/>
                    <a:pt x="1" y="2"/>
                    <a:pt x="1" y="2"/>
                  </a:cubicBezTo>
                  <a:lnTo>
                    <a:pt x="1" y="0"/>
                  </a:lnTo>
                  <a:lnTo>
                    <a:pt x="0" y="0"/>
                  </a:lnTo>
                  <a:lnTo>
                    <a:pt x="0" y="2"/>
                  </a:lnTo>
                  <a:cubicBezTo>
                    <a:pt x="0" y="2"/>
                    <a:pt x="0" y="3"/>
                    <a:pt x="0" y="3"/>
                  </a:cubicBezTo>
                  <a:cubicBezTo>
                    <a:pt x="0" y="3"/>
                    <a:pt x="1" y="3"/>
                    <a:pt x="1" y="3"/>
                  </a:cubicBezTo>
                  <a:cubicBezTo>
                    <a:pt x="2" y="3"/>
                    <a:pt x="2" y="3"/>
                    <a:pt x="3" y="3"/>
                  </a:cubicBezTo>
                  <a:cubicBezTo>
                    <a:pt x="3" y="3"/>
                    <a:pt x="3" y="2"/>
                    <a:pt x="3" y="2"/>
                  </a:cubicBezTo>
                  <a:lnTo>
                    <a:pt x="3" y="0"/>
                  </a:lnTo>
                  <a:lnTo>
                    <a:pt x="2" y="0"/>
                  </a:lnTo>
                  <a:lnTo>
                    <a:pt x="2"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0" name="Freeform 43"/>
            <p:cNvSpPr>
              <a:spLocks noEditPoints="1"/>
            </p:cNvSpPr>
            <p:nvPr/>
          </p:nvSpPr>
          <p:spPr bwMode="auto">
            <a:xfrm>
              <a:off x="2816225" y="1277938"/>
              <a:ext cx="3175" cy="3175"/>
            </a:xfrm>
            <a:custGeom>
              <a:avLst/>
              <a:gdLst>
                <a:gd name="T0" fmla="*/ 1 w 4"/>
                <a:gd name="T1" fmla="*/ 2 h 3"/>
                <a:gd name="T2" fmla="*/ 1 w 4"/>
                <a:gd name="T3" fmla="*/ 2 h 3"/>
                <a:gd name="T4" fmla="*/ 2 w 4"/>
                <a:gd name="T5" fmla="*/ 1 h 3"/>
                <a:gd name="T6" fmla="*/ 2 w 4"/>
                <a:gd name="T7" fmla="*/ 2 h 3"/>
                <a:gd name="T8" fmla="*/ 1 w 4"/>
                <a:gd name="T9" fmla="*/ 2 h 3"/>
                <a:gd name="T10" fmla="*/ 1 w 4"/>
                <a:gd name="T11" fmla="*/ 0 h 3"/>
                <a:gd name="T12" fmla="*/ 1 w 4"/>
                <a:gd name="T13" fmla="*/ 0 h 3"/>
                <a:gd name="T14" fmla="*/ 0 w 4"/>
                <a:gd name="T15" fmla="*/ 3 h 3"/>
                <a:gd name="T16" fmla="*/ 1 w 4"/>
                <a:gd name="T17" fmla="*/ 3 h 3"/>
                <a:gd name="T18" fmla="*/ 1 w 4"/>
                <a:gd name="T19" fmla="*/ 2 h 3"/>
                <a:gd name="T20" fmla="*/ 3 w 4"/>
                <a:gd name="T21" fmla="*/ 2 h 3"/>
                <a:gd name="T22" fmla="*/ 3 w 4"/>
                <a:gd name="T23" fmla="*/ 3 h 3"/>
                <a:gd name="T24" fmla="*/ 4 w 4"/>
                <a:gd name="T25" fmla="*/ 3 h 3"/>
                <a:gd name="T26" fmla="*/ 2 w 4"/>
                <a:gd name="T27" fmla="*/ 0 h 3"/>
                <a:gd name="T28" fmla="*/ 1 w 4"/>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 h="3">
                  <a:moveTo>
                    <a:pt x="1" y="2"/>
                  </a:moveTo>
                  <a:lnTo>
                    <a:pt x="1" y="2"/>
                  </a:lnTo>
                  <a:lnTo>
                    <a:pt x="2" y="1"/>
                  </a:lnTo>
                  <a:lnTo>
                    <a:pt x="2" y="2"/>
                  </a:lnTo>
                  <a:lnTo>
                    <a:pt x="1" y="2"/>
                  </a:lnTo>
                  <a:close/>
                  <a:moveTo>
                    <a:pt x="1" y="0"/>
                  </a:moveTo>
                  <a:lnTo>
                    <a:pt x="1" y="0"/>
                  </a:lnTo>
                  <a:lnTo>
                    <a:pt x="0" y="3"/>
                  </a:lnTo>
                  <a:lnTo>
                    <a:pt x="1" y="3"/>
                  </a:lnTo>
                  <a:lnTo>
                    <a:pt x="1" y="2"/>
                  </a:lnTo>
                  <a:lnTo>
                    <a:pt x="3" y="2"/>
                  </a:lnTo>
                  <a:lnTo>
                    <a:pt x="3" y="3"/>
                  </a:lnTo>
                  <a:lnTo>
                    <a:pt x="4" y="3"/>
                  </a:lnTo>
                  <a:lnTo>
                    <a:pt x="2" y="0"/>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1" name="Freeform 44"/>
            <p:cNvSpPr>
              <a:spLocks/>
            </p:cNvSpPr>
            <p:nvPr/>
          </p:nvSpPr>
          <p:spPr bwMode="auto">
            <a:xfrm>
              <a:off x="2819400" y="1277938"/>
              <a:ext cx="4763" cy="3175"/>
            </a:xfrm>
            <a:custGeom>
              <a:avLst/>
              <a:gdLst>
                <a:gd name="T0" fmla="*/ 4 w 5"/>
                <a:gd name="T1" fmla="*/ 2 h 3"/>
                <a:gd name="T2" fmla="*/ 4 w 5"/>
                <a:gd name="T3" fmla="*/ 2 h 3"/>
                <a:gd name="T4" fmla="*/ 3 w 5"/>
                <a:gd name="T5" fmla="*/ 0 h 3"/>
                <a:gd name="T6" fmla="*/ 2 w 5"/>
                <a:gd name="T7" fmla="*/ 0 h 3"/>
                <a:gd name="T8" fmla="*/ 2 w 5"/>
                <a:gd name="T9" fmla="*/ 2 h 3"/>
                <a:gd name="T10" fmla="*/ 1 w 5"/>
                <a:gd name="T11" fmla="*/ 0 h 3"/>
                <a:gd name="T12" fmla="*/ 0 w 5"/>
                <a:gd name="T13" fmla="*/ 0 h 3"/>
                <a:gd name="T14" fmla="*/ 1 w 5"/>
                <a:gd name="T15" fmla="*/ 3 h 3"/>
                <a:gd name="T16" fmla="*/ 2 w 5"/>
                <a:gd name="T17" fmla="*/ 3 h 3"/>
                <a:gd name="T18" fmla="*/ 3 w 5"/>
                <a:gd name="T19" fmla="*/ 1 h 3"/>
                <a:gd name="T20" fmla="*/ 3 w 5"/>
                <a:gd name="T21" fmla="*/ 3 h 3"/>
                <a:gd name="T22" fmla="*/ 4 w 5"/>
                <a:gd name="T23" fmla="*/ 3 h 3"/>
                <a:gd name="T24" fmla="*/ 5 w 5"/>
                <a:gd name="T25" fmla="*/ 0 h 3"/>
                <a:gd name="T26" fmla="*/ 5 w 5"/>
                <a:gd name="T27" fmla="*/ 0 h 3"/>
                <a:gd name="T28" fmla="*/ 4 w 5"/>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4" y="2"/>
                  </a:moveTo>
                  <a:lnTo>
                    <a:pt x="4" y="2"/>
                  </a:lnTo>
                  <a:lnTo>
                    <a:pt x="3" y="0"/>
                  </a:lnTo>
                  <a:lnTo>
                    <a:pt x="2" y="0"/>
                  </a:lnTo>
                  <a:lnTo>
                    <a:pt x="2" y="2"/>
                  </a:lnTo>
                  <a:lnTo>
                    <a:pt x="1" y="0"/>
                  </a:lnTo>
                  <a:lnTo>
                    <a:pt x="0" y="0"/>
                  </a:lnTo>
                  <a:lnTo>
                    <a:pt x="1" y="3"/>
                  </a:lnTo>
                  <a:lnTo>
                    <a:pt x="2" y="3"/>
                  </a:lnTo>
                  <a:lnTo>
                    <a:pt x="3" y="1"/>
                  </a:lnTo>
                  <a:lnTo>
                    <a:pt x="3" y="3"/>
                  </a:lnTo>
                  <a:lnTo>
                    <a:pt x="4" y="3"/>
                  </a:lnTo>
                  <a:lnTo>
                    <a:pt x="5" y="0"/>
                  </a:lnTo>
                  <a:lnTo>
                    <a:pt x="5" y="0"/>
                  </a:lnTo>
                  <a:lnTo>
                    <a:pt x="4"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2" name="Freeform 45"/>
            <p:cNvSpPr>
              <a:spLocks/>
            </p:cNvSpPr>
            <p:nvPr/>
          </p:nvSpPr>
          <p:spPr bwMode="auto">
            <a:xfrm>
              <a:off x="2824163" y="1277938"/>
              <a:ext cx="1588" cy="3175"/>
            </a:xfrm>
            <a:custGeom>
              <a:avLst/>
              <a:gdLst>
                <a:gd name="T0" fmla="*/ 0 w 2"/>
                <a:gd name="T1" fmla="*/ 2 h 3"/>
                <a:gd name="T2" fmla="*/ 0 w 2"/>
                <a:gd name="T3" fmla="*/ 2 h 3"/>
                <a:gd name="T4" fmla="*/ 0 w 2"/>
                <a:gd name="T5" fmla="*/ 3 h 3"/>
                <a:gd name="T6" fmla="*/ 1 w 2"/>
                <a:gd name="T7" fmla="*/ 3 h 3"/>
                <a:gd name="T8" fmla="*/ 2 w 2"/>
                <a:gd name="T9" fmla="*/ 3 h 3"/>
                <a:gd name="T10" fmla="*/ 2 w 2"/>
                <a:gd name="T11" fmla="*/ 3 h 3"/>
                <a:gd name="T12" fmla="*/ 1 w 2"/>
                <a:gd name="T13" fmla="*/ 3 h 3"/>
                <a:gd name="T14" fmla="*/ 0 w 2"/>
                <a:gd name="T15" fmla="*/ 2 h 3"/>
                <a:gd name="T16" fmla="*/ 2 w 2"/>
                <a:gd name="T17" fmla="*/ 2 h 3"/>
                <a:gd name="T18" fmla="*/ 2 w 2"/>
                <a:gd name="T19" fmla="*/ 1 h 3"/>
                <a:gd name="T20" fmla="*/ 0 w 2"/>
                <a:gd name="T21" fmla="*/ 1 h 3"/>
                <a:gd name="T22" fmla="*/ 1 w 2"/>
                <a:gd name="T23" fmla="*/ 1 h 3"/>
                <a:gd name="T24" fmla="*/ 2 w 2"/>
                <a:gd name="T25" fmla="*/ 1 h 3"/>
                <a:gd name="T26" fmla="*/ 2 w 2"/>
                <a:gd name="T27" fmla="*/ 0 h 3"/>
                <a:gd name="T28" fmla="*/ 1 w 2"/>
                <a:gd name="T29" fmla="*/ 0 h 3"/>
                <a:gd name="T30" fmla="*/ 0 w 2"/>
                <a:gd name="T31"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 h="3">
                  <a:moveTo>
                    <a:pt x="0" y="2"/>
                  </a:moveTo>
                  <a:lnTo>
                    <a:pt x="0" y="2"/>
                  </a:lnTo>
                  <a:cubicBezTo>
                    <a:pt x="0" y="2"/>
                    <a:pt x="0" y="3"/>
                    <a:pt x="0" y="3"/>
                  </a:cubicBezTo>
                  <a:cubicBezTo>
                    <a:pt x="0" y="3"/>
                    <a:pt x="1" y="3"/>
                    <a:pt x="1" y="3"/>
                  </a:cubicBezTo>
                  <a:lnTo>
                    <a:pt x="2" y="3"/>
                  </a:lnTo>
                  <a:lnTo>
                    <a:pt x="2" y="3"/>
                  </a:lnTo>
                  <a:lnTo>
                    <a:pt x="1" y="3"/>
                  </a:lnTo>
                  <a:cubicBezTo>
                    <a:pt x="0" y="3"/>
                    <a:pt x="0" y="2"/>
                    <a:pt x="0" y="2"/>
                  </a:cubicBezTo>
                  <a:lnTo>
                    <a:pt x="2" y="2"/>
                  </a:lnTo>
                  <a:lnTo>
                    <a:pt x="2" y="1"/>
                  </a:lnTo>
                  <a:lnTo>
                    <a:pt x="0" y="1"/>
                  </a:lnTo>
                  <a:cubicBezTo>
                    <a:pt x="0" y="1"/>
                    <a:pt x="1" y="1"/>
                    <a:pt x="1" y="1"/>
                  </a:cubicBezTo>
                  <a:lnTo>
                    <a:pt x="2" y="1"/>
                  </a:lnTo>
                  <a:lnTo>
                    <a:pt x="2" y="0"/>
                  </a:lnTo>
                  <a:lnTo>
                    <a:pt x="1" y="0"/>
                  </a:lnTo>
                  <a:cubicBezTo>
                    <a:pt x="0" y="0"/>
                    <a:pt x="0"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3" name="Freeform 46"/>
            <p:cNvSpPr>
              <a:spLocks/>
            </p:cNvSpPr>
            <p:nvPr/>
          </p:nvSpPr>
          <p:spPr bwMode="auto">
            <a:xfrm>
              <a:off x="2827338" y="1277938"/>
              <a:ext cx="1588" cy="3175"/>
            </a:xfrm>
            <a:custGeom>
              <a:avLst/>
              <a:gdLst>
                <a:gd name="T0" fmla="*/ 0 w 1"/>
                <a:gd name="T1" fmla="*/ 3 h 3"/>
                <a:gd name="T2" fmla="*/ 0 w 1"/>
                <a:gd name="T3" fmla="*/ 3 h 3"/>
                <a:gd name="T4" fmla="*/ 1 w 1"/>
                <a:gd name="T5" fmla="*/ 3 h 3"/>
                <a:gd name="T6" fmla="*/ 1 w 1"/>
                <a:gd name="T7" fmla="*/ 0 h 3"/>
                <a:gd name="T8" fmla="*/ 0 w 1"/>
                <a:gd name="T9" fmla="*/ 0 h 3"/>
                <a:gd name="T10" fmla="*/ 0 w 1"/>
                <a:gd name="T11" fmla="*/ 3 h 3"/>
              </a:gdLst>
              <a:ahLst/>
              <a:cxnLst>
                <a:cxn ang="0">
                  <a:pos x="T0" y="T1"/>
                </a:cxn>
                <a:cxn ang="0">
                  <a:pos x="T2" y="T3"/>
                </a:cxn>
                <a:cxn ang="0">
                  <a:pos x="T4" y="T5"/>
                </a:cxn>
                <a:cxn ang="0">
                  <a:pos x="T6" y="T7"/>
                </a:cxn>
                <a:cxn ang="0">
                  <a:pos x="T8" y="T9"/>
                </a:cxn>
                <a:cxn ang="0">
                  <a:pos x="T10" y="T11"/>
                </a:cxn>
              </a:cxnLst>
              <a:rect l="0" t="0" r="r" b="b"/>
              <a:pathLst>
                <a:path w="1" h="3">
                  <a:moveTo>
                    <a:pt x="0" y="3"/>
                  </a:moveTo>
                  <a:lnTo>
                    <a:pt x="0" y="3"/>
                  </a:lnTo>
                  <a:lnTo>
                    <a:pt x="1" y="3"/>
                  </a:lnTo>
                  <a:lnTo>
                    <a:pt x="1" y="0"/>
                  </a:lnTo>
                  <a:lnTo>
                    <a:pt x="0" y="0"/>
                  </a:lnTo>
                  <a:lnTo>
                    <a:pt x="0"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4" name="Freeform 47"/>
            <p:cNvSpPr>
              <a:spLocks/>
            </p:cNvSpPr>
            <p:nvPr/>
          </p:nvSpPr>
          <p:spPr bwMode="auto">
            <a:xfrm>
              <a:off x="2811463" y="1266825"/>
              <a:ext cx="6350" cy="6350"/>
            </a:xfrm>
            <a:custGeom>
              <a:avLst/>
              <a:gdLst>
                <a:gd name="T0" fmla="*/ 7 w 7"/>
                <a:gd name="T1" fmla="*/ 8 h 8"/>
                <a:gd name="T2" fmla="*/ 7 w 7"/>
                <a:gd name="T3" fmla="*/ 8 h 8"/>
                <a:gd name="T4" fmla="*/ 7 w 7"/>
                <a:gd name="T5" fmla="*/ 8 h 8"/>
                <a:gd name="T6" fmla="*/ 7 w 7"/>
                <a:gd name="T7" fmla="*/ 8 h 8"/>
                <a:gd name="T8" fmla="*/ 1 w 7"/>
                <a:gd name="T9" fmla="*/ 0 h 8"/>
                <a:gd name="T10" fmla="*/ 0 w 7"/>
                <a:gd name="T11" fmla="*/ 3 h 8"/>
                <a:gd name="T12" fmla="*/ 1 w 7"/>
                <a:gd name="T13" fmla="*/ 5 h 8"/>
                <a:gd name="T14" fmla="*/ 7 w 7"/>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8">
                  <a:moveTo>
                    <a:pt x="7" y="8"/>
                  </a:moveTo>
                  <a:lnTo>
                    <a:pt x="7" y="8"/>
                  </a:lnTo>
                  <a:cubicBezTo>
                    <a:pt x="7" y="8"/>
                    <a:pt x="7" y="8"/>
                    <a:pt x="7" y="8"/>
                  </a:cubicBezTo>
                  <a:cubicBezTo>
                    <a:pt x="7" y="8"/>
                    <a:pt x="7" y="8"/>
                    <a:pt x="7" y="8"/>
                  </a:cubicBezTo>
                  <a:cubicBezTo>
                    <a:pt x="4" y="3"/>
                    <a:pt x="1" y="0"/>
                    <a:pt x="1" y="0"/>
                  </a:cubicBezTo>
                  <a:cubicBezTo>
                    <a:pt x="1" y="0"/>
                    <a:pt x="0" y="1"/>
                    <a:pt x="0" y="3"/>
                  </a:cubicBezTo>
                  <a:cubicBezTo>
                    <a:pt x="0" y="4"/>
                    <a:pt x="1" y="5"/>
                    <a:pt x="1" y="5"/>
                  </a:cubicBezTo>
                  <a:cubicBezTo>
                    <a:pt x="2" y="6"/>
                    <a:pt x="6" y="8"/>
                    <a:pt x="7"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5" name="Freeform 48"/>
            <p:cNvSpPr>
              <a:spLocks/>
            </p:cNvSpPr>
            <p:nvPr/>
          </p:nvSpPr>
          <p:spPr bwMode="auto">
            <a:xfrm>
              <a:off x="2811463" y="1274763"/>
              <a:ext cx="4763" cy="3175"/>
            </a:xfrm>
            <a:custGeom>
              <a:avLst/>
              <a:gdLst>
                <a:gd name="T0" fmla="*/ 6 w 6"/>
                <a:gd name="T1" fmla="*/ 1 h 3"/>
                <a:gd name="T2" fmla="*/ 6 w 6"/>
                <a:gd name="T3" fmla="*/ 1 h 3"/>
                <a:gd name="T4" fmla="*/ 6 w 6"/>
                <a:gd name="T5" fmla="*/ 1 h 3"/>
                <a:gd name="T6" fmla="*/ 6 w 6"/>
                <a:gd name="T7" fmla="*/ 0 h 3"/>
                <a:gd name="T8" fmla="*/ 0 w 6"/>
                <a:gd name="T9" fmla="*/ 1 h 3"/>
                <a:gd name="T10" fmla="*/ 3 w 6"/>
                <a:gd name="T11" fmla="*/ 2 h 3"/>
                <a:gd name="T12" fmla="*/ 6 w 6"/>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6" y="1"/>
                  </a:moveTo>
                  <a:lnTo>
                    <a:pt x="6" y="1"/>
                  </a:lnTo>
                  <a:cubicBezTo>
                    <a:pt x="6" y="1"/>
                    <a:pt x="6" y="1"/>
                    <a:pt x="6" y="1"/>
                  </a:cubicBezTo>
                  <a:cubicBezTo>
                    <a:pt x="6" y="0"/>
                    <a:pt x="6" y="0"/>
                    <a:pt x="6" y="0"/>
                  </a:cubicBezTo>
                  <a:lnTo>
                    <a:pt x="0" y="1"/>
                  </a:lnTo>
                  <a:cubicBezTo>
                    <a:pt x="1" y="2"/>
                    <a:pt x="2" y="3"/>
                    <a:pt x="3" y="2"/>
                  </a:cubicBezTo>
                  <a:cubicBezTo>
                    <a:pt x="4" y="2"/>
                    <a:pt x="6" y="1"/>
                    <a:pt x="6"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6" name="Freeform 49"/>
            <p:cNvSpPr>
              <a:spLocks/>
            </p:cNvSpPr>
            <p:nvPr/>
          </p:nvSpPr>
          <p:spPr bwMode="auto">
            <a:xfrm>
              <a:off x="2809875" y="1271588"/>
              <a:ext cx="6350" cy="3175"/>
            </a:xfrm>
            <a:custGeom>
              <a:avLst/>
              <a:gdLst>
                <a:gd name="T0" fmla="*/ 3 w 8"/>
                <a:gd name="T1" fmla="*/ 4 h 4"/>
                <a:gd name="T2" fmla="*/ 3 w 8"/>
                <a:gd name="T3" fmla="*/ 4 h 4"/>
                <a:gd name="T4" fmla="*/ 4 w 8"/>
                <a:gd name="T5" fmla="*/ 4 h 4"/>
                <a:gd name="T6" fmla="*/ 8 w 8"/>
                <a:gd name="T7" fmla="*/ 4 h 4"/>
                <a:gd name="T8" fmla="*/ 8 w 8"/>
                <a:gd name="T9" fmla="*/ 4 h 4"/>
                <a:gd name="T10" fmla="*/ 8 w 8"/>
                <a:gd name="T11" fmla="*/ 4 h 4"/>
                <a:gd name="T12" fmla="*/ 1 w 8"/>
                <a:gd name="T13" fmla="*/ 0 h 4"/>
                <a:gd name="T14" fmla="*/ 0 w 8"/>
                <a:gd name="T15" fmla="*/ 0 h 4"/>
                <a:gd name="T16" fmla="*/ 0 w 8"/>
                <a:gd name="T17" fmla="*/ 1 h 4"/>
                <a:gd name="T18" fmla="*/ 1 w 8"/>
                <a:gd name="T19" fmla="*/ 2 h 4"/>
                <a:gd name="T20" fmla="*/ 3 w 8"/>
                <a:gd name="T21"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4">
                  <a:moveTo>
                    <a:pt x="3" y="4"/>
                  </a:moveTo>
                  <a:lnTo>
                    <a:pt x="3" y="4"/>
                  </a:lnTo>
                  <a:cubicBezTo>
                    <a:pt x="3" y="4"/>
                    <a:pt x="4" y="4"/>
                    <a:pt x="4" y="4"/>
                  </a:cubicBezTo>
                  <a:lnTo>
                    <a:pt x="8" y="4"/>
                  </a:lnTo>
                  <a:cubicBezTo>
                    <a:pt x="8" y="4"/>
                    <a:pt x="8" y="4"/>
                    <a:pt x="8" y="4"/>
                  </a:cubicBezTo>
                  <a:cubicBezTo>
                    <a:pt x="8" y="4"/>
                    <a:pt x="8" y="4"/>
                    <a:pt x="8" y="4"/>
                  </a:cubicBezTo>
                  <a:cubicBezTo>
                    <a:pt x="6" y="2"/>
                    <a:pt x="1" y="0"/>
                    <a:pt x="1" y="0"/>
                  </a:cubicBezTo>
                  <a:cubicBezTo>
                    <a:pt x="1" y="0"/>
                    <a:pt x="1" y="0"/>
                    <a:pt x="0" y="0"/>
                  </a:cubicBezTo>
                  <a:lnTo>
                    <a:pt x="0" y="1"/>
                  </a:lnTo>
                  <a:cubicBezTo>
                    <a:pt x="1" y="2"/>
                    <a:pt x="1" y="2"/>
                    <a:pt x="1" y="2"/>
                  </a:cubicBezTo>
                  <a:cubicBezTo>
                    <a:pt x="1" y="3"/>
                    <a:pt x="3" y="4"/>
                    <a:pt x="3"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7" name="Freeform 50"/>
            <p:cNvSpPr>
              <a:spLocks/>
            </p:cNvSpPr>
            <p:nvPr/>
          </p:nvSpPr>
          <p:spPr bwMode="auto">
            <a:xfrm>
              <a:off x="2814638" y="1263650"/>
              <a:ext cx="4763" cy="9525"/>
            </a:xfrm>
            <a:custGeom>
              <a:avLst/>
              <a:gdLst>
                <a:gd name="T0" fmla="*/ 3 w 4"/>
                <a:gd name="T1" fmla="*/ 11 h 11"/>
                <a:gd name="T2" fmla="*/ 3 w 4"/>
                <a:gd name="T3" fmla="*/ 11 h 11"/>
                <a:gd name="T4" fmla="*/ 3 w 4"/>
                <a:gd name="T5" fmla="*/ 11 h 11"/>
                <a:gd name="T6" fmla="*/ 4 w 4"/>
                <a:gd name="T7" fmla="*/ 11 h 11"/>
                <a:gd name="T8" fmla="*/ 3 w 4"/>
                <a:gd name="T9" fmla="*/ 0 h 11"/>
                <a:gd name="T10" fmla="*/ 2 w 4"/>
                <a:gd name="T11" fmla="*/ 0 h 11"/>
                <a:gd name="T12" fmla="*/ 0 w 4"/>
                <a:gd name="T13" fmla="*/ 2 h 11"/>
                <a:gd name="T14" fmla="*/ 0 w 4"/>
                <a:gd name="T15" fmla="*/ 4 h 11"/>
                <a:gd name="T16" fmla="*/ 3 w 4"/>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1">
                  <a:moveTo>
                    <a:pt x="3" y="11"/>
                  </a:moveTo>
                  <a:lnTo>
                    <a:pt x="3" y="11"/>
                  </a:lnTo>
                  <a:cubicBezTo>
                    <a:pt x="3" y="11"/>
                    <a:pt x="3" y="11"/>
                    <a:pt x="3" y="11"/>
                  </a:cubicBezTo>
                  <a:lnTo>
                    <a:pt x="4" y="11"/>
                  </a:lnTo>
                  <a:cubicBezTo>
                    <a:pt x="4" y="2"/>
                    <a:pt x="3" y="0"/>
                    <a:pt x="3" y="0"/>
                  </a:cubicBezTo>
                  <a:cubicBezTo>
                    <a:pt x="2" y="0"/>
                    <a:pt x="2" y="0"/>
                    <a:pt x="2" y="0"/>
                  </a:cubicBezTo>
                  <a:cubicBezTo>
                    <a:pt x="0" y="1"/>
                    <a:pt x="0" y="2"/>
                    <a:pt x="0" y="2"/>
                  </a:cubicBezTo>
                  <a:cubicBezTo>
                    <a:pt x="0" y="3"/>
                    <a:pt x="0" y="4"/>
                    <a:pt x="0" y="4"/>
                  </a:cubicBezTo>
                  <a:cubicBezTo>
                    <a:pt x="0" y="6"/>
                    <a:pt x="3" y="10"/>
                    <a:pt x="3"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8" name="Freeform 51"/>
            <p:cNvSpPr>
              <a:spLocks/>
            </p:cNvSpPr>
            <p:nvPr/>
          </p:nvSpPr>
          <p:spPr bwMode="auto">
            <a:xfrm>
              <a:off x="2819400" y="1263650"/>
              <a:ext cx="4763" cy="9525"/>
            </a:xfrm>
            <a:custGeom>
              <a:avLst/>
              <a:gdLst>
                <a:gd name="T0" fmla="*/ 1 w 5"/>
                <a:gd name="T1" fmla="*/ 11 h 11"/>
                <a:gd name="T2" fmla="*/ 1 w 5"/>
                <a:gd name="T3" fmla="*/ 11 h 11"/>
                <a:gd name="T4" fmla="*/ 1 w 5"/>
                <a:gd name="T5" fmla="*/ 11 h 11"/>
                <a:gd name="T6" fmla="*/ 4 w 5"/>
                <a:gd name="T7" fmla="*/ 4 h 11"/>
                <a:gd name="T8" fmla="*/ 4 w 5"/>
                <a:gd name="T9" fmla="*/ 2 h 11"/>
                <a:gd name="T10" fmla="*/ 2 w 5"/>
                <a:gd name="T11" fmla="*/ 0 h 11"/>
                <a:gd name="T12" fmla="*/ 1 w 5"/>
                <a:gd name="T13" fmla="*/ 0 h 11"/>
                <a:gd name="T14" fmla="*/ 1 w 5"/>
                <a:gd name="T15" fmla="*/ 11 h 11"/>
                <a:gd name="T16" fmla="*/ 1 w 5"/>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1">
                  <a:moveTo>
                    <a:pt x="1" y="11"/>
                  </a:moveTo>
                  <a:lnTo>
                    <a:pt x="1" y="11"/>
                  </a:lnTo>
                  <a:cubicBezTo>
                    <a:pt x="1" y="11"/>
                    <a:pt x="1" y="11"/>
                    <a:pt x="1" y="11"/>
                  </a:cubicBezTo>
                  <a:cubicBezTo>
                    <a:pt x="1" y="10"/>
                    <a:pt x="4" y="6"/>
                    <a:pt x="4" y="4"/>
                  </a:cubicBezTo>
                  <a:cubicBezTo>
                    <a:pt x="4" y="4"/>
                    <a:pt x="5" y="3"/>
                    <a:pt x="4" y="2"/>
                  </a:cubicBezTo>
                  <a:cubicBezTo>
                    <a:pt x="4" y="2"/>
                    <a:pt x="4" y="1"/>
                    <a:pt x="2" y="0"/>
                  </a:cubicBezTo>
                  <a:cubicBezTo>
                    <a:pt x="2" y="0"/>
                    <a:pt x="2" y="0"/>
                    <a:pt x="1" y="0"/>
                  </a:cubicBezTo>
                  <a:cubicBezTo>
                    <a:pt x="1" y="0"/>
                    <a:pt x="0" y="2"/>
                    <a:pt x="1" y="11"/>
                  </a:cubicBezTo>
                  <a:cubicBezTo>
                    <a:pt x="1" y="11"/>
                    <a:pt x="1" y="11"/>
                    <a:pt x="1"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09" name="Freeform 52"/>
            <p:cNvSpPr>
              <a:spLocks/>
            </p:cNvSpPr>
            <p:nvPr/>
          </p:nvSpPr>
          <p:spPr bwMode="auto">
            <a:xfrm>
              <a:off x="2820988" y="1274763"/>
              <a:ext cx="4763" cy="3175"/>
            </a:xfrm>
            <a:custGeom>
              <a:avLst/>
              <a:gdLst>
                <a:gd name="T0" fmla="*/ 6 w 6"/>
                <a:gd name="T1" fmla="*/ 1 h 3"/>
                <a:gd name="T2" fmla="*/ 6 w 6"/>
                <a:gd name="T3" fmla="*/ 1 h 3"/>
                <a:gd name="T4" fmla="*/ 0 w 6"/>
                <a:gd name="T5" fmla="*/ 0 h 3"/>
                <a:gd name="T6" fmla="*/ 0 w 6"/>
                <a:gd name="T7" fmla="*/ 1 h 3"/>
                <a:gd name="T8" fmla="*/ 0 w 6"/>
                <a:gd name="T9" fmla="*/ 1 h 3"/>
                <a:gd name="T10" fmla="*/ 3 w 6"/>
                <a:gd name="T11" fmla="*/ 2 h 3"/>
                <a:gd name="T12" fmla="*/ 6 w 6"/>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6" y="1"/>
                  </a:moveTo>
                  <a:lnTo>
                    <a:pt x="6" y="1"/>
                  </a:lnTo>
                  <a:lnTo>
                    <a:pt x="0" y="0"/>
                  </a:lnTo>
                  <a:cubicBezTo>
                    <a:pt x="0" y="0"/>
                    <a:pt x="0" y="0"/>
                    <a:pt x="0" y="1"/>
                  </a:cubicBezTo>
                  <a:cubicBezTo>
                    <a:pt x="0" y="1"/>
                    <a:pt x="0" y="1"/>
                    <a:pt x="0" y="1"/>
                  </a:cubicBezTo>
                  <a:cubicBezTo>
                    <a:pt x="1" y="1"/>
                    <a:pt x="2" y="2"/>
                    <a:pt x="3" y="2"/>
                  </a:cubicBezTo>
                  <a:cubicBezTo>
                    <a:pt x="3" y="2"/>
                    <a:pt x="4" y="3"/>
                    <a:pt x="6"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0" name="Freeform 53"/>
            <p:cNvSpPr>
              <a:spLocks/>
            </p:cNvSpPr>
            <p:nvPr/>
          </p:nvSpPr>
          <p:spPr bwMode="auto">
            <a:xfrm>
              <a:off x="2820988" y="1271588"/>
              <a:ext cx="7938" cy="3175"/>
            </a:xfrm>
            <a:custGeom>
              <a:avLst/>
              <a:gdLst>
                <a:gd name="T0" fmla="*/ 7 w 8"/>
                <a:gd name="T1" fmla="*/ 0 h 4"/>
                <a:gd name="T2" fmla="*/ 7 w 8"/>
                <a:gd name="T3" fmla="*/ 0 h 4"/>
                <a:gd name="T4" fmla="*/ 0 w 8"/>
                <a:gd name="T5" fmla="*/ 4 h 4"/>
                <a:gd name="T6" fmla="*/ 0 w 8"/>
                <a:gd name="T7" fmla="*/ 4 h 4"/>
                <a:gd name="T8" fmla="*/ 0 w 8"/>
                <a:gd name="T9" fmla="*/ 4 h 4"/>
                <a:gd name="T10" fmla="*/ 4 w 8"/>
                <a:gd name="T11" fmla="*/ 4 h 4"/>
                <a:gd name="T12" fmla="*/ 5 w 8"/>
                <a:gd name="T13" fmla="*/ 4 h 4"/>
                <a:gd name="T14" fmla="*/ 7 w 8"/>
                <a:gd name="T15" fmla="*/ 2 h 4"/>
                <a:gd name="T16" fmla="*/ 8 w 8"/>
                <a:gd name="T17" fmla="*/ 1 h 4"/>
                <a:gd name="T18" fmla="*/ 8 w 8"/>
                <a:gd name="T19" fmla="*/ 0 h 4"/>
                <a:gd name="T20" fmla="*/ 7 w 8"/>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4">
                  <a:moveTo>
                    <a:pt x="7" y="0"/>
                  </a:moveTo>
                  <a:lnTo>
                    <a:pt x="7" y="0"/>
                  </a:lnTo>
                  <a:cubicBezTo>
                    <a:pt x="7" y="0"/>
                    <a:pt x="2" y="2"/>
                    <a:pt x="0" y="4"/>
                  </a:cubicBezTo>
                  <a:lnTo>
                    <a:pt x="0" y="4"/>
                  </a:lnTo>
                  <a:cubicBezTo>
                    <a:pt x="0" y="4"/>
                    <a:pt x="0" y="4"/>
                    <a:pt x="0" y="4"/>
                  </a:cubicBezTo>
                  <a:cubicBezTo>
                    <a:pt x="1" y="4"/>
                    <a:pt x="4" y="4"/>
                    <a:pt x="4" y="4"/>
                  </a:cubicBezTo>
                  <a:cubicBezTo>
                    <a:pt x="4" y="4"/>
                    <a:pt x="5" y="4"/>
                    <a:pt x="5" y="4"/>
                  </a:cubicBezTo>
                  <a:cubicBezTo>
                    <a:pt x="5" y="4"/>
                    <a:pt x="7" y="3"/>
                    <a:pt x="7" y="2"/>
                  </a:cubicBezTo>
                  <a:cubicBezTo>
                    <a:pt x="7" y="2"/>
                    <a:pt x="7" y="2"/>
                    <a:pt x="8" y="1"/>
                  </a:cubicBezTo>
                  <a:lnTo>
                    <a:pt x="8" y="0"/>
                  </a:lnTo>
                  <a:cubicBezTo>
                    <a:pt x="8" y="0"/>
                    <a:pt x="7" y="0"/>
                    <a:pt x="7"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1" name="Freeform 54"/>
            <p:cNvSpPr>
              <a:spLocks/>
            </p:cNvSpPr>
            <p:nvPr/>
          </p:nvSpPr>
          <p:spPr bwMode="auto">
            <a:xfrm>
              <a:off x="2819400" y="1266825"/>
              <a:ext cx="6350" cy="6350"/>
            </a:xfrm>
            <a:custGeom>
              <a:avLst/>
              <a:gdLst>
                <a:gd name="T0" fmla="*/ 0 w 7"/>
                <a:gd name="T1" fmla="*/ 8 h 8"/>
                <a:gd name="T2" fmla="*/ 0 w 7"/>
                <a:gd name="T3" fmla="*/ 8 h 8"/>
                <a:gd name="T4" fmla="*/ 0 w 7"/>
                <a:gd name="T5" fmla="*/ 8 h 8"/>
                <a:gd name="T6" fmla="*/ 6 w 7"/>
                <a:gd name="T7" fmla="*/ 5 h 8"/>
                <a:gd name="T8" fmla="*/ 7 w 7"/>
                <a:gd name="T9" fmla="*/ 3 h 8"/>
                <a:gd name="T10" fmla="*/ 6 w 7"/>
                <a:gd name="T11" fmla="*/ 0 h 8"/>
                <a:gd name="T12" fmla="*/ 0 w 7"/>
                <a:gd name="T13" fmla="*/ 8 h 8"/>
                <a:gd name="T14" fmla="*/ 0 w 7"/>
                <a:gd name="T15" fmla="*/ 8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8">
                  <a:moveTo>
                    <a:pt x="0" y="8"/>
                  </a:moveTo>
                  <a:lnTo>
                    <a:pt x="0" y="8"/>
                  </a:lnTo>
                  <a:cubicBezTo>
                    <a:pt x="0" y="8"/>
                    <a:pt x="0" y="8"/>
                    <a:pt x="0" y="8"/>
                  </a:cubicBezTo>
                  <a:cubicBezTo>
                    <a:pt x="1" y="8"/>
                    <a:pt x="5" y="6"/>
                    <a:pt x="6" y="5"/>
                  </a:cubicBezTo>
                  <a:cubicBezTo>
                    <a:pt x="6" y="5"/>
                    <a:pt x="7" y="4"/>
                    <a:pt x="7" y="3"/>
                  </a:cubicBezTo>
                  <a:cubicBezTo>
                    <a:pt x="7" y="1"/>
                    <a:pt x="6" y="0"/>
                    <a:pt x="6" y="0"/>
                  </a:cubicBezTo>
                  <a:cubicBezTo>
                    <a:pt x="6" y="0"/>
                    <a:pt x="3" y="3"/>
                    <a:pt x="0" y="8"/>
                  </a:cubicBezTo>
                  <a:cubicBezTo>
                    <a:pt x="0" y="8"/>
                    <a:pt x="0" y="8"/>
                    <a:pt x="0"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2" name="Freeform 55"/>
            <p:cNvSpPr>
              <a:spLocks/>
            </p:cNvSpPr>
            <p:nvPr/>
          </p:nvSpPr>
          <p:spPr bwMode="auto">
            <a:xfrm>
              <a:off x="3416300" y="1100138"/>
              <a:ext cx="9525" cy="9525"/>
            </a:xfrm>
            <a:custGeom>
              <a:avLst/>
              <a:gdLst>
                <a:gd name="T0" fmla="*/ 8 w 10"/>
                <a:gd name="T1" fmla="*/ 4 h 10"/>
                <a:gd name="T2" fmla="*/ 8 w 10"/>
                <a:gd name="T3" fmla="*/ 4 h 10"/>
                <a:gd name="T4" fmla="*/ 3 w 10"/>
                <a:gd name="T5" fmla="*/ 4 h 10"/>
                <a:gd name="T6" fmla="*/ 3 w 10"/>
                <a:gd name="T7" fmla="*/ 0 h 10"/>
                <a:gd name="T8" fmla="*/ 0 w 10"/>
                <a:gd name="T9" fmla="*/ 0 h 10"/>
                <a:gd name="T10" fmla="*/ 0 w 10"/>
                <a:gd name="T11" fmla="*/ 10 h 10"/>
                <a:gd name="T12" fmla="*/ 3 w 10"/>
                <a:gd name="T13" fmla="*/ 10 h 10"/>
                <a:gd name="T14" fmla="*/ 3 w 10"/>
                <a:gd name="T15" fmla="*/ 6 h 10"/>
                <a:gd name="T16" fmla="*/ 8 w 10"/>
                <a:gd name="T17" fmla="*/ 6 h 10"/>
                <a:gd name="T18" fmla="*/ 8 w 10"/>
                <a:gd name="T19" fmla="*/ 10 h 10"/>
                <a:gd name="T20" fmla="*/ 10 w 10"/>
                <a:gd name="T21" fmla="*/ 10 h 10"/>
                <a:gd name="T22" fmla="*/ 10 w 10"/>
                <a:gd name="T23" fmla="*/ 0 h 10"/>
                <a:gd name="T24" fmla="*/ 8 w 10"/>
                <a:gd name="T25" fmla="*/ 0 h 10"/>
                <a:gd name="T26" fmla="*/ 8 w 10"/>
                <a:gd name="T2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4"/>
                  </a:moveTo>
                  <a:lnTo>
                    <a:pt x="8" y="4"/>
                  </a:lnTo>
                  <a:lnTo>
                    <a:pt x="3" y="4"/>
                  </a:lnTo>
                  <a:lnTo>
                    <a:pt x="3" y="0"/>
                  </a:lnTo>
                  <a:lnTo>
                    <a:pt x="0" y="0"/>
                  </a:lnTo>
                  <a:lnTo>
                    <a:pt x="0" y="10"/>
                  </a:lnTo>
                  <a:lnTo>
                    <a:pt x="3" y="10"/>
                  </a:lnTo>
                  <a:lnTo>
                    <a:pt x="3" y="6"/>
                  </a:lnTo>
                  <a:lnTo>
                    <a:pt x="8" y="6"/>
                  </a:lnTo>
                  <a:lnTo>
                    <a:pt x="8" y="10"/>
                  </a:lnTo>
                  <a:lnTo>
                    <a:pt x="10" y="10"/>
                  </a:lnTo>
                  <a:lnTo>
                    <a:pt x="10" y="0"/>
                  </a:lnTo>
                  <a:lnTo>
                    <a:pt x="8" y="0"/>
                  </a:lnTo>
                  <a:lnTo>
                    <a:pt x="8" y="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3" name="Freeform 56"/>
            <p:cNvSpPr>
              <a:spLocks/>
            </p:cNvSpPr>
            <p:nvPr/>
          </p:nvSpPr>
          <p:spPr bwMode="auto">
            <a:xfrm>
              <a:off x="3427413" y="1100138"/>
              <a:ext cx="9525" cy="9525"/>
            </a:xfrm>
            <a:custGeom>
              <a:avLst/>
              <a:gdLst>
                <a:gd name="T0" fmla="*/ 8 w 10"/>
                <a:gd name="T1" fmla="*/ 6 h 10"/>
                <a:gd name="T2" fmla="*/ 8 w 10"/>
                <a:gd name="T3" fmla="*/ 6 h 10"/>
                <a:gd name="T4" fmla="*/ 5 w 10"/>
                <a:gd name="T5" fmla="*/ 8 h 10"/>
                <a:gd name="T6" fmla="*/ 3 w 10"/>
                <a:gd name="T7" fmla="*/ 6 h 10"/>
                <a:gd name="T8" fmla="*/ 3 w 10"/>
                <a:gd name="T9" fmla="*/ 0 h 10"/>
                <a:gd name="T10" fmla="*/ 0 w 10"/>
                <a:gd name="T11" fmla="*/ 0 h 10"/>
                <a:gd name="T12" fmla="*/ 0 w 10"/>
                <a:gd name="T13" fmla="*/ 6 h 10"/>
                <a:gd name="T14" fmla="*/ 1 w 10"/>
                <a:gd name="T15" fmla="*/ 9 h 10"/>
                <a:gd name="T16" fmla="*/ 5 w 10"/>
                <a:gd name="T17" fmla="*/ 10 h 10"/>
                <a:gd name="T18" fmla="*/ 9 w 10"/>
                <a:gd name="T19" fmla="*/ 9 h 10"/>
                <a:gd name="T20" fmla="*/ 10 w 10"/>
                <a:gd name="T21" fmla="*/ 6 h 10"/>
                <a:gd name="T22" fmla="*/ 10 w 10"/>
                <a:gd name="T23" fmla="*/ 0 h 10"/>
                <a:gd name="T24" fmla="*/ 8 w 10"/>
                <a:gd name="T25" fmla="*/ 0 h 10"/>
                <a:gd name="T26" fmla="*/ 8 w 10"/>
                <a:gd name="T2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6"/>
                  </a:moveTo>
                  <a:lnTo>
                    <a:pt x="8" y="6"/>
                  </a:lnTo>
                  <a:cubicBezTo>
                    <a:pt x="8" y="8"/>
                    <a:pt x="7" y="8"/>
                    <a:pt x="5" y="8"/>
                  </a:cubicBezTo>
                  <a:cubicBezTo>
                    <a:pt x="3" y="8"/>
                    <a:pt x="3" y="8"/>
                    <a:pt x="3" y="6"/>
                  </a:cubicBezTo>
                  <a:lnTo>
                    <a:pt x="3" y="0"/>
                  </a:lnTo>
                  <a:lnTo>
                    <a:pt x="0" y="0"/>
                  </a:lnTo>
                  <a:lnTo>
                    <a:pt x="0" y="6"/>
                  </a:lnTo>
                  <a:cubicBezTo>
                    <a:pt x="0" y="7"/>
                    <a:pt x="0" y="8"/>
                    <a:pt x="1" y="9"/>
                  </a:cubicBezTo>
                  <a:cubicBezTo>
                    <a:pt x="2" y="10"/>
                    <a:pt x="3" y="10"/>
                    <a:pt x="5" y="10"/>
                  </a:cubicBezTo>
                  <a:cubicBezTo>
                    <a:pt x="7" y="10"/>
                    <a:pt x="8" y="10"/>
                    <a:pt x="9" y="9"/>
                  </a:cubicBezTo>
                  <a:cubicBezTo>
                    <a:pt x="10" y="8"/>
                    <a:pt x="10" y="7"/>
                    <a:pt x="10" y="6"/>
                  </a:cubicBezTo>
                  <a:lnTo>
                    <a:pt x="10" y="0"/>
                  </a:lnTo>
                  <a:lnTo>
                    <a:pt x="8" y="0"/>
                  </a:lnTo>
                  <a:lnTo>
                    <a:pt x="8" y="6"/>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4" name="Freeform 57"/>
            <p:cNvSpPr>
              <a:spLocks noEditPoints="1"/>
            </p:cNvSpPr>
            <p:nvPr/>
          </p:nvSpPr>
          <p:spPr bwMode="auto">
            <a:xfrm>
              <a:off x="3438525" y="1100138"/>
              <a:ext cx="9525" cy="9525"/>
            </a:xfrm>
            <a:custGeom>
              <a:avLst/>
              <a:gdLst>
                <a:gd name="T0" fmla="*/ 4 w 11"/>
                <a:gd name="T1" fmla="*/ 6 h 10"/>
                <a:gd name="T2" fmla="*/ 4 w 11"/>
                <a:gd name="T3" fmla="*/ 6 h 10"/>
                <a:gd name="T4" fmla="*/ 5 w 11"/>
                <a:gd name="T5" fmla="*/ 2 h 10"/>
                <a:gd name="T6" fmla="*/ 7 w 11"/>
                <a:gd name="T7" fmla="*/ 6 h 10"/>
                <a:gd name="T8" fmla="*/ 4 w 11"/>
                <a:gd name="T9" fmla="*/ 6 h 10"/>
                <a:gd name="T10" fmla="*/ 4 w 11"/>
                <a:gd name="T11" fmla="*/ 0 h 10"/>
                <a:gd name="T12" fmla="*/ 4 w 11"/>
                <a:gd name="T13" fmla="*/ 0 h 10"/>
                <a:gd name="T14" fmla="*/ 0 w 11"/>
                <a:gd name="T15" fmla="*/ 10 h 10"/>
                <a:gd name="T16" fmla="*/ 2 w 11"/>
                <a:gd name="T17" fmla="*/ 10 h 10"/>
                <a:gd name="T18" fmla="*/ 3 w 11"/>
                <a:gd name="T19" fmla="*/ 7 h 10"/>
                <a:gd name="T20" fmla="*/ 8 w 11"/>
                <a:gd name="T21" fmla="*/ 7 h 10"/>
                <a:gd name="T22" fmla="*/ 9 w 11"/>
                <a:gd name="T23" fmla="*/ 10 h 10"/>
                <a:gd name="T24" fmla="*/ 11 w 11"/>
                <a:gd name="T25" fmla="*/ 10 h 10"/>
                <a:gd name="T26" fmla="*/ 7 w 11"/>
                <a:gd name="T27" fmla="*/ 0 h 10"/>
                <a:gd name="T28" fmla="*/ 4 w 11"/>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0">
                  <a:moveTo>
                    <a:pt x="4" y="6"/>
                  </a:moveTo>
                  <a:lnTo>
                    <a:pt x="4" y="6"/>
                  </a:lnTo>
                  <a:lnTo>
                    <a:pt x="5" y="2"/>
                  </a:lnTo>
                  <a:lnTo>
                    <a:pt x="7" y="6"/>
                  </a:lnTo>
                  <a:lnTo>
                    <a:pt x="4" y="6"/>
                  </a:lnTo>
                  <a:close/>
                  <a:moveTo>
                    <a:pt x="4" y="0"/>
                  </a:moveTo>
                  <a:lnTo>
                    <a:pt x="4" y="0"/>
                  </a:lnTo>
                  <a:lnTo>
                    <a:pt x="0" y="10"/>
                  </a:lnTo>
                  <a:lnTo>
                    <a:pt x="2" y="10"/>
                  </a:lnTo>
                  <a:lnTo>
                    <a:pt x="3" y="7"/>
                  </a:lnTo>
                  <a:lnTo>
                    <a:pt x="8" y="7"/>
                  </a:lnTo>
                  <a:lnTo>
                    <a:pt x="9" y="10"/>
                  </a:lnTo>
                  <a:lnTo>
                    <a:pt x="11" y="10"/>
                  </a:lnTo>
                  <a:lnTo>
                    <a:pt x="7" y="0"/>
                  </a:lnTo>
                  <a:lnTo>
                    <a:pt x="4"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5" name="Freeform 58"/>
            <p:cNvSpPr>
              <a:spLocks/>
            </p:cNvSpPr>
            <p:nvPr/>
          </p:nvSpPr>
          <p:spPr bwMode="auto">
            <a:xfrm>
              <a:off x="3448050" y="1100138"/>
              <a:ext cx="15875" cy="9525"/>
            </a:xfrm>
            <a:custGeom>
              <a:avLst/>
              <a:gdLst>
                <a:gd name="T0" fmla="*/ 13 w 17"/>
                <a:gd name="T1" fmla="*/ 7 h 10"/>
                <a:gd name="T2" fmla="*/ 13 w 17"/>
                <a:gd name="T3" fmla="*/ 7 h 10"/>
                <a:gd name="T4" fmla="*/ 10 w 17"/>
                <a:gd name="T5" fmla="*/ 0 h 10"/>
                <a:gd name="T6" fmla="*/ 7 w 17"/>
                <a:gd name="T7" fmla="*/ 0 h 10"/>
                <a:gd name="T8" fmla="*/ 5 w 17"/>
                <a:gd name="T9" fmla="*/ 7 h 10"/>
                <a:gd name="T10" fmla="*/ 3 w 17"/>
                <a:gd name="T11" fmla="*/ 0 h 10"/>
                <a:gd name="T12" fmla="*/ 0 w 17"/>
                <a:gd name="T13" fmla="*/ 0 h 10"/>
                <a:gd name="T14" fmla="*/ 4 w 17"/>
                <a:gd name="T15" fmla="*/ 10 h 10"/>
                <a:gd name="T16" fmla="*/ 7 w 17"/>
                <a:gd name="T17" fmla="*/ 10 h 10"/>
                <a:gd name="T18" fmla="*/ 9 w 17"/>
                <a:gd name="T19" fmla="*/ 2 h 10"/>
                <a:gd name="T20" fmla="*/ 11 w 17"/>
                <a:gd name="T21" fmla="*/ 10 h 10"/>
                <a:gd name="T22" fmla="*/ 14 w 17"/>
                <a:gd name="T23" fmla="*/ 10 h 10"/>
                <a:gd name="T24" fmla="*/ 17 w 17"/>
                <a:gd name="T25" fmla="*/ 0 h 10"/>
                <a:gd name="T26" fmla="*/ 15 w 17"/>
                <a:gd name="T27" fmla="*/ 0 h 10"/>
                <a:gd name="T28" fmla="*/ 13 w 17"/>
                <a:gd name="T29"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0">
                  <a:moveTo>
                    <a:pt x="13" y="7"/>
                  </a:moveTo>
                  <a:lnTo>
                    <a:pt x="13" y="7"/>
                  </a:lnTo>
                  <a:lnTo>
                    <a:pt x="10" y="0"/>
                  </a:lnTo>
                  <a:lnTo>
                    <a:pt x="7" y="0"/>
                  </a:lnTo>
                  <a:lnTo>
                    <a:pt x="5" y="7"/>
                  </a:lnTo>
                  <a:lnTo>
                    <a:pt x="3" y="0"/>
                  </a:lnTo>
                  <a:lnTo>
                    <a:pt x="0" y="0"/>
                  </a:lnTo>
                  <a:lnTo>
                    <a:pt x="4" y="10"/>
                  </a:lnTo>
                  <a:lnTo>
                    <a:pt x="7" y="10"/>
                  </a:lnTo>
                  <a:lnTo>
                    <a:pt x="9" y="2"/>
                  </a:lnTo>
                  <a:lnTo>
                    <a:pt x="11" y="10"/>
                  </a:lnTo>
                  <a:lnTo>
                    <a:pt x="14" y="10"/>
                  </a:lnTo>
                  <a:lnTo>
                    <a:pt x="17" y="0"/>
                  </a:lnTo>
                  <a:lnTo>
                    <a:pt x="15" y="0"/>
                  </a:lnTo>
                  <a:lnTo>
                    <a:pt x="13" y="7"/>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6" name="Freeform 59"/>
            <p:cNvSpPr>
              <a:spLocks/>
            </p:cNvSpPr>
            <p:nvPr/>
          </p:nvSpPr>
          <p:spPr bwMode="auto">
            <a:xfrm>
              <a:off x="3465513" y="1100138"/>
              <a:ext cx="7938" cy="9525"/>
            </a:xfrm>
            <a:custGeom>
              <a:avLst/>
              <a:gdLst>
                <a:gd name="T0" fmla="*/ 0 w 9"/>
                <a:gd name="T1" fmla="*/ 5 h 10"/>
                <a:gd name="T2" fmla="*/ 0 w 9"/>
                <a:gd name="T3" fmla="*/ 5 h 10"/>
                <a:gd name="T4" fmla="*/ 2 w 9"/>
                <a:gd name="T5" fmla="*/ 9 h 10"/>
                <a:gd name="T6" fmla="*/ 5 w 9"/>
                <a:gd name="T7" fmla="*/ 10 h 10"/>
                <a:gd name="T8" fmla="*/ 9 w 9"/>
                <a:gd name="T9" fmla="*/ 10 h 10"/>
                <a:gd name="T10" fmla="*/ 9 w 9"/>
                <a:gd name="T11" fmla="*/ 8 h 10"/>
                <a:gd name="T12" fmla="*/ 5 w 9"/>
                <a:gd name="T13" fmla="*/ 8 h 10"/>
                <a:gd name="T14" fmla="*/ 3 w 9"/>
                <a:gd name="T15" fmla="*/ 6 h 10"/>
                <a:gd name="T16" fmla="*/ 9 w 9"/>
                <a:gd name="T17" fmla="*/ 6 h 10"/>
                <a:gd name="T18" fmla="*/ 9 w 9"/>
                <a:gd name="T19" fmla="*/ 4 h 10"/>
                <a:gd name="T20" fmla="*/ 3 w 9"/>
                <a:gd name="T21" fmla="*/ 4 h 10"/>
                <a:gd name="T22" fmla="*/ 5 w 9"/>
                <a:gd name="T23" fmla="*/ 1 h 10"/>
                <a:gd name="T24" fmla="*/ 9 w 9"/>
                <a:gd name="T25" fmla="*/ 1 h 10"/>
                <a:gd name="T26" fmla="*/ 9 w 9"/>
                <a:gd name="T27" fmla="*/ 0 h 10"/>
                <a:gd name="T28" fmla="*/ 5 w 9"/>
                <a:gd name="T29" fmla="*/ 0 h 10"/>
                <a:gd name="T30" fmla="*/ 0 w 9"/>
                <a:gd name="T3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 h="10">
                  <a:moveTo>
                    <a:pt x="0" y="5"/>
                  </a:moveTo>
                  <a:lnTo>
                    <a:pt x="0" y="5"/>
                  </a:lnTo>
                  <a:cubicBezTo>
                    <a:pt x="0" y="7"/>
                    <a:pt x="0" y="8"/>
                    <a:pt x="2" y="9"/>
                  </a:cubicBezTo>
                  <a:cubicBezTo>
                    <a:pt x="3" y="10"/>
                    <a:pt x="4" y="10"/>
                    <a:pt x="5" y="10"/>
                  </a:cubicBezTo>
                  <a:lnTo>
                    <a:pt x="9" y="10"/>
                  </a:lnTo>
                  <a:lnTo>
                    <a:pt x="9" y="8"/>
                  </a:lnTo>
                  <a:lnTo>
                    <a:pt x="5" y="8"/>
                  </a:lnTo>
                  <a:cubicBezTo>
                    <a:pt x="3" y="8"/>
                    <a:pt x="3" y="7"/>
                    <a:pt x="3" y="6"/>
                  </a:cubicBezTo>
                  <a:lnTo>
                    <a:pt x="9" y="6"/>
                  </a:lnTo>
                  <a:lnTo>
                    <a:pt x="9" y="4"/>
                  </a:lnTo>
                  <a:lnTo>
                    <a:pt x="3" y="4"/>
                  </a:lnTo>
                  <a:cubicBezTo>
                    <a:pt x="3" y="2"/>
                    <a:pt x="4" y="1"/>
                    <a:pt x="5" y="1"/>
                  </a:cubicBezTo>
                  <a:lnTo>
                    <a:pt x="9" y="1"/>
                  </a:lnTo>
                  <a:lnTo>
                    <a:pt x="9" y="0"/>
                  </a:lnTo>
                  <a:lnTo>
                    <a:pt x="5" y="0"/>
                  </a:lnTo>
                  <a:cubicBezTo>
                    <a:pt x="2" y="0"/>
                    <a:pt x="0" y="1"/>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7" name="Freeform 60"/>
            <p:cNvSpPr>
              <a:spLocks/>
            </p:cNvSpPr>
            <p:nvPr/>
          </p:nvSpPr>
          <p:spPr bwMode="auto">
            <a:xfrm>
              <a:off x="3475038" y="1100138"/>
              <a:ext cx="3175" cy="9525"/>
            </a:xfrm>
            <a:custGeom>
              <a:avLst/>
              <a:gdLst>
                <a:gd name="T0" fmla="*/ 0 w 3"/>
                <a:gd name="T1" fmla="*/ 10 h 10"/>
                <a:gd name="T2" fmla="*/ 0 w 3"/>
                <a:gd name="T3" fmla="*/ 10 h 10"/>
                <a:gd name="T4" fmla="*/ 3 w 3"/>
                <a:gd name="T5" fmla="*/ 10 h 10"/>
                <a:gd name="T6" fmla="*/ 3 w 3"/>
                <a:gd name="T7" fmla="*/ 0 h 10"/>
                <a:gd name="T8" fmla="*/ 0 w 3"/>
                <a:gd name="T9" fmla="*/ 0 h 10"/>
                <a:gd name="T10" fmla="*/ 0 w 3"/>
                <a:gd name="T11" fmla="*/ 10 h 10"/>
              </a:gdLst>
              <a:ahLst/>
              <a:cxnLst>
                <a:cxn ang="0">
                  <a:pos x="T0" y="T1"/>
                </a:cxn>
                <a:cxn ang="0">
                  <a:pos x="T2" y="T3"/>
                </a:cxn>
                <a:cxn ang="0">
                  <a:pos x="T4" y="T5"/>
                </a:cxn>
                <a:cxn ang="0">
                  <a:pos x="T6" y="T7"/>
                </a:cxn>
                <a:cxn ang="0">
                  <a:pos x="T8" y="T9"/>
                </a:cxn>
                <a:cxn ang="0">
                  <a:pos x="T10" y="T11"/>
                </a:cxn>
              </a:cxnLst>
              <a:rect l="0" t="0" r="r" b="b"/>
              <a:pathLst>
                <a:path w="3" h="10">
                  <a:moveTo>
                    <a:pt x="0" y="10"/>
                  </a:moveTo>
                  <a:lnTo>
                    <a:pt x="0" y="10"/>
                  </a:lnTo>
                  <a:lnTo>
                    <a:pt x="3" y="10"/>
                  </a:lnTo>
                  <a:lnTo>
                    <a:pt x="3" y="0"/>
                  </a:lnTo>
                  <a:lnTo>
                    <a:pt x="0" y="0"/>
                  </a:lnTo>
                  <a:lnTo>
                    <a:pt x="0" y="1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8" name="Freeform 61"/>
            <p:cNvSpPr>
              <a:spLocks/>
            </p:cNvSpPr>
            <p:nvPr/>
          </p:nvSpPr>
          <p:spPr bwMode="auto">
            <a:xfrm>
              <a:off x="3381375" y="1093788"/>
              <a:ext cx="12700" cy="14288"/>
            </a:xfrm>
            <a:custGeom>
              <a:avLst/>
              <a:gdLst>
                <a:gd name="T0" fmla="*/ 0 w 12"/>
                <a:gd name="T1" fmla="*/ 5 h 15"/>
                <a:gd name="T2" fmla="*/ 0 w 12"/>
                <a:gd name="T3" fmla="*/ 5 h 15"/>
                <a:gd name="T4" fmla="*/ 2 w 12"/>
                <a:gd name="T5" fmla="*/ 9 h 15"/>
                <a:gd name="T6" fmla="*/ 12 w 12"/>
                <a:gd name="T7" fmla="*/ 15 h 15"/>
                <a:gd name="T8" fmla="*/ 12 w 12"/>
                <a:gd name="T9" fmla="*/ 15 h 15"/>
                <a:gd name="T10" fmla="*/ 12 w 12"/>
                <a:gd name="T11" fmla="*/ 14 h 15"/>
                <a:gd name="T12" fmla="*/ 12 w 12"/>
                <a:gd name="T13" fmla="*/ 14 h 15"/>
                <a:gd name="T14" fmla="*/ 3 w 12"/>
                <a:gd name="T15" fmla="*/ 0 h 15"/>
                <a:gd name="T16" fmla="*/ 0 w 12"/>
                <a:gd name="T17"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0" y="5"/>
                  </a:moveTo>
                  <a:lnTo>
                    <a:pt x="0" y="5"/>
                  </a:lnTo>
                  <a:cubicBezTo>
                    <a:pt x="0" y="7"/>
                    <a:pt x="2" y="9"/>
                    <a:pt x="2" y="9"/>
                  </a:cubicBezTo>
                  <a:cubicBezTo>
                    <a:pt x="4" y="11"/>
                    <a:pt x="10" y="14"/>
                    <a:pt x="12" y="15"/>
                  </a:cubicBezTo>
                  <a:cubicBezTo>
                    <a:pt x="12" y="15"/>
                    <a:pt x="12" y="15"/>
                    <a:pt x="12" y="15"/>
                  </a:cubicBezTo>
                  <a:cubicBezTo>
                    <a:pt x="12" y="15"/>
                    <a:pt x="12" y="15"/>
                    <a:pt x="12" y="14"/>
                  </a:cubicBezTo>
                  <a:lnTo>
                    <a:pt x="12" y="14"/>
                  </a:lnTo>
                  <a:cubicBezTo>
                    <a:pt x="8" y="6"/>
                    <a:pt x="3" y="0"/>
                    <a:pt x="3" y="0"/>
                  </a:cubicBezTo>
                  <a:cubicBezTo>
                    <a:pt x="3" y="0"/>
                    <a:pt x="0" y="3"/>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19" name="Freeform 62"/>
            <p:cNvSpPr>
              <a:spLocks/>
            </p:cNvSpPr>
            <p:nvPr/>
          </p:nvSpPr>
          <p:spPr bwMode="auto">
            <a:xfrm>
              <a:off x="3382963" y="1109663"/>
              <a:ext cx="9525" cy="3175"/>
            </a:xfrm>
            <a:custGeom>
              <a:avLst/>
              <a:gdLst>
                <a:gd name="T0" fmla="*/ 0 w 10"/>
                <a:gd name="T1" fmla="*/ 0 h 3"/>
                <a:gd name="T2" fmla="*/ 0 w 10"/>
                <a:gd name="T3" fmla="*/ 0 h 3"/>
                <a:gd name="T4" fmla="*/ 5 w 10"/>
                <a:gd name="T5" fmla="*/ 3 h 3"/>
                <a:gd name="T6" fmla="*/ 10 w 10"/>
                <a:gd name="T7" fmla="*/ 0 h 3"/>
                <a:gd name="T8" fmla="*/ 10 w 10"/>
                <a:gd name="T9" fmla="*/ 0 h 3"/>
                <a:gd name="T10" fmla="*/ 10 w 10"/>
                <a:gd name="T11" fmla="*/ 0 h 3"/>
                <a:gd name="T12" fmla="*/ 0 w 10"/>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0" y="0"/>
                  </a:moveTo>
                  <a:lnTo>
                    <a:pt x="0" y="0"/>
                  </a:lnTo>
                  <a:cubicBezTo>
                    <a:pt x="1" y="2"/>
                    <a:pt x="3" y="3"/>
                    <a:pt x="5" y="3"/>
                  </a:cubicBezTo>
                  <a:cubicBezTo>
                    <a:pt x="6" y="2"/>
                    <a:pt x="9" y="0"/>
                    <a:pt x="10" y="0"/>
                  </a:cubicBezTo>
                  <a:cubicBezTo>
                    <a:pt x="10" y="0"/>
                    <a:pt x="10" y="0"/>
                    <a:pt x="10" y="0"/>
                  </a:cubicBezTo>
                  <a:cubicBezTo>
                    <a:pt x="10" y="0"/>
                    <a:pt x="10" y="0"/>
                    <a:pt x="10"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0" name="Freeform 63"/>
            <p:cNvSpPr>
              <a:spLocks/>
            </p:cNvSpPr>
            <p:nvPr/>
          </p:nvSpPr>
          <p:spPr bwMode="auto">
            <a:xfrm>
              <a:off x="3379788" y="1101725"/>
              <a:ext cx="12700" cy="7938"/>
            </a:xfrm>
            <a:custGeom>
              <a:avLst/>
              <a:gdLst>
                <a:gd name="T0" fmla="*/ 1 w 13"/>
                <a:gd name="T1" fmla="*/ 4 h 8"/>
                <a:gd name="T2" fmla="*/ 1 w 13"/>
                <a:gd name="T3" fmla="*/ 4 h 8"/>
                <a:gd name="T4" fmla="*/ 4 w 13"/>
                <a:gd name="T5" fmla="*/ 7 h 8"/>
                <a:gd name="T6" fmla="*/ 6 w 13"/>
                <a:gd name="T7" fmla="*/ 8 h 8"/>
                <a:gd name="T8" fmla="*/ 13 w 13"/>
                <a:gd name="T9" fmla="*/ 8 h 8"/>
                <a:gd name="T10" fmla="*/ 13 w 13"/>
                <a:gd name="T11" fmla="*/ 8 h 8"/>
                <a:gd name="T12" fmla="*/ 13 w 13"/>
                <a:gd name="T13" fmla="*/ 8 h 8"/>
                <a:gd name="T14" fmla="*/ 0 w 13"/>
                <a:gd name="T15" fmla="*/ 0 h 8"/>
                <a:gd name="T16" fmla="*/ 1 w 13"/>
                <a:gd name="T17"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8">
                  <a:moveTo>
                    <a:pt x="1" y="4"/>
                  </a:moveTo>
                  <a:lnTo>
                    <a:pt x="1" y="4"/>
                  </a:lnTo>
                  <a:cubicBezTo>
                    <a:pt x="2" y="7"/>
                    <a:pt x="4" y="7"/>
                    <a:pt x="4" y="7"/>
                  </a:cubicBezTo>
                  <a:cubicBezTo>
                    <a:pt x="5" y="8"/>
                    <a:pt x="6" y="8"/>
                    <a:pt x="6" y="8"/>
                  </a:cubicBezTo>
                  <a:cubicBezTo>
                    <a:pt x="6" y="8"/>
                    <a:pt x="11" y="8"/>
                    <a:pt x="13" y="8"/>
                  </a:cubicBezTo>
                  <a:cubicBezTo>
                    <a:pt x="13" y="8"/>
                    <a:pt x="13" y="8"/>
                    <a:pt x="13" y="8"/>
                  </a:cubicBezTo>
                  <a:cubicBezTo>
                    <a:pt x="13" y="8"/>
                    <a:pt x="13" y="8"/>
                    <a:pt x="13" y="8"/>
                  </a:cubicBezTo>
                  <a:cubicBezTo>
                    <a:pt x="9" y="5"/>
                    <a:pt x="0" y="0"/>
                    <a:pt x="0" y="0"/>
                  </a:cubicBezTo>
                  <a:cubicBezTo>
                    <a:pt x="0" y="3"/>
                    <a:pt x="1" y="4"/>
                    <a:pt x="1"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1" name="Freeform 64"/>
            <p:cNvSpPr>
              <a:spLocks/>
            </p:cNvSpPr>
            <p:nvPr/>
          </p:nvSpPr>
          <p:spPr bwMode="auto">
            <a:xfrm>
              <a:off x="3387725" y="1090613"/>
              <a:ext cx="7938" cy="17463"/>
            </a:xfrm>
            <a:custGeom>
              <a:avLst/>
              <a:gdLst>
                <a:gd name="T0" fmla="*/ 4 w 9"/>
                <a:gd name="T1" fmla="*/ 0 h 18"/>
                <a:gd name="T2" fmla="*/ 4 w 9"/>
                <a:gd name="T3" fmla="*/ 0 h 18"/>
                <a:gd name="T4" fmla="*/ 1 w 9"/>
                <a:gd name="T5" fmla="*/ 3 h 18"/>
                <a:gd name="T6" fmla="*/ 1 w 9"/>
                <a:gd name="T7" fmla="*/ 6 h 18"/>
                <a:gd name="T8" fmla="*/ 7 w 9"/>
                <a:gd name="T9" fmla="*/ 18 h 18"/>
                <a:gd name="T10" fmla="*/ 7 w 9"/>
                <a:gd name="T11" fmla="*/ 18 h 18"/>
                <a:gd name="T12" fmla="*/ 7 w 9"/>
                <a:gd name="T13" fmla="*/ 18 h 18"/>
                <a:gd name="T14" fmla="*/ 6 w 9"/>
                <a:gd name="T15" fmla="*/ 0 h 18"/>
                <a:gd name="T16" fmla="*/ 4 w 9"/>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4" y="0"/>
                  </a:moveTo>
                  <a:lnTo>
                    <a:pt x="4" y="0"/>
                  </a:lnTo>
                  <a:cubicBezTo>
                    <a:pt x="1" y="1"/>
                    <a:pt x="1" y="3"/>
                    <a:pt x="1" y="3"/>
                  </a:cubicBezTo>
                  <a:cubicBezTo>
                    <a:pt x="0" y="5"/>
                    <a:pt x="1" y="6"/>
                    <a:pt x="1" y="6"/>
                  </a:cubicBezTo>
                  <a:cubicBezTo>
                    <a:pt x="2" y="10"/>
                    <a:pt x="6" y="16"/>
                    <a:pt x="7" y="18"/>
                  </a:cubicBezTo>
                  <a:cubicBezTo>
                    <a:pt x="7" y="18"/>
                    <a:pt x="7" y="18"/>
                    <a:pt x="7" y="18"/>
                  </a:cubicBezTo>
                  <a:cubicBezTo>
                    <a:pt x="7" y="18"/>
                    <a:pt x="7" y="18"/>
                    <a:pt x="7" y="18"/>
                  </a:cubicBezTo>
                  <a:cubicBezTo>
                    <a:pt x="9" y="4"/>
                    <a:pt x="6" y="0"/>
                    <a:pt x="6" y="0"/>
                  </a:cubicBezTo>
                  <a:cubicBezTo>
                    <a:pt x="5" y="0"/>
                    <a:pt x="4" y="0"/>
                    <a:pt x="4"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2" name="Freeform 65"/>
            <p:cNvSpPr>
              <a:spLocks/>
            </p:cNvSpPr>
            <p:nvPr/>
          </p:nvSpPr>
          <p:spPr bwMode="auto">
            <a:xfrm>
              <a:off x="3394075" y="1090613"/>
              <a:ext cx="9525" cy="17463"/>
            </a:xfrm>
            <a:custGeom>
              <a:avLst/>
              <a:gdLst>
                <a:gd name="T0" fmla="*/ 8 w 9"/>
                <a:gd name="T1" fmla="*/ 3 h 18"/>
                <a:gd name="T2" fmla="*/ 8 w 9"/>
                <a:gd name="T3" fmla="*/ 3 h 18"/>
                <a:gd name="T4" fmla="*/ 5 w 9"/>
                <a:gd name="T5" fmla="*/ 0 h 18"/>
                <a:gd name="T6" fmla="*/ 3 w 9"/>
                <a:gd name="T7" fmla="*/ 0 h 18"/>
                <a:gd name="T8" fmla="*/ 2 w 9"/>
                <a:gd name="T9" fmla="*/ 18 h 18"/>
                <a:gd name="T10" fmla="*/ 2 w 9"/>
                <a:gd name="T11" fmla="*/ 18 h 18"/>
                <a:gd name="T12" fmla="*/ 2 w 9"/>
                <a:gd name="T13" fmla="*/ 18 h 18"/>
                <a:gd name="T14" fmla="*/ 8 w 9"/>
                <a:gd name="T15" fmla="*/ 6 h 18"/>
                <a:gd name="T16" fmla="*/ 8 w 9"/>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8" y="3"/>
                  </a:moveTo>
                  <a:lnTo>
                    <a:pt x="8" y="3"/>
                  </a:lnTo>
                  <a:cubicBezTo>
                    <a:pt x="8" y="3"/>
                    <a:pt x="8" y="1"/>
                    <a:pt x="5" y="0"/>
                  </a:cubicBezTo>
                  <a:cubicBezTo>
                    <a:pt x="5" y="0"/>
                    <a:pt x="4" y="0"/>
                    <a:pt x="3" y="0"/>
                  </a:cubicBezTo>
                  <a:cubicBezTo>
                    <a:pt x="3" y="0"/>
                    <a:pt x="0" y="3"/>
                    <a:pt x="2" y="18"/>
                  </a:cubicBezTo>
                  <a:cubicBezTo>
                    <a:pt x="2" y="18"/>
                    <a:pt x="2" y="18"/>
                    <a:pt x="2" y="18"/>
                  </a:cubicBezTo>
                  <a:cubicBezTo>
                    <a:pt x="2" y="18"/>
                    <a:pt x="2" y="18"/>
                    <a:pt x="2" y="18"/>
                  </a:cubicBezTo>
                  <a:cubicBezTo>
                    <a:pt x="3" y="16"/>
                    <a:pt x="7" y="10"/>
                    <a:pt x="8" y="6"/>
                  </a:cubicBezTo>
                  <a:cubicBezTo>
                    <a:pt x="8" y="6"/>
                    <a:pt x="9" y="4"/>
                    <a:pt x="8"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3" name="Freeform 66"/>
            <p:cNvSpPr>
              <a:spLocks/>
            </p:cNvSpPr>
            <p:nvPr/>
          </p:nvSpPr>
          <p:spPr bwMode="auto">
            <a:xfrm>
              <a:off x="3398838" y="1109663"/>
              <a:ext cx="9525" cy="4763"/>
            </a:xfrm>
            <a:custGeom>
              <a:avLst/>
              <a:gdLst>
                <a:gd name="T0" fmla="*/ 0 w 10"/>
                <a:gd name="T1" fmla="*/ 0 h 4"/>
                <a:gd name="T2" fmla="*/ 0 w 10"/>
                <a:gd name="T3" fmla="*/ 0 h 4"/>
                <a:gd name="T4" fmla="*/ 0 w 10"/>
                <a:gd name="T5" fmla="*/ 0 h 4"/>
                <a:gd name="T6" fmla="*/ 5 w 10"/>
                <a:gd name="T7" fmla="*/ 3 h 4"/>
                <a:gd name="T8" fmla="*/ 10 w 10"/>
                <a:gd name="T9" fmla="*/ 0 h 4"/>
                <a:gd name="T10" fmla="*/ 0 w 10"/>
                <a:gd name="T11" fmla="*/ 0 h 4"/>
                <a:gd name="T12" fmla="*/ 0 w 1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0" y="0"/>
                  </a:moveTo>
                  <a:lnTo>
                    <a:pt x="0" y="0"/>
                  </a:lnTo>
                  <a:cubicBezTo>
                    <a:pt x="0" y="0"/>
                    <a:pt x="0" y="0"/>
                    <a:pt x="0" y="0"/>
                  </a:cubicBezTo>
                  <a:cubicBezTo>
                    <a:pt x="1" y="0"/>
                    <a:pt x="4" y="2"/>
                    <a:pt x="5" y="3"/>
                  </a:cubicBezTo>
                  <a:cubicBezTo>
                    <a:pt x="5" y="3"/>
                    <a:pt x="8" y="4"/>
                    <a:pt x="10"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4" name="Freeform 67"/>
            <p:cNvSpPr>
              <a:spLocks/>
            </p:cNvSpPr>
            <p:nvPr/>
          </p:nvSpPr>
          <p:spPr bwMode="auto">
            <a:xfrm>
              <a:off x="3398838" y="1101725"/>
              <a:ext cx="11113" cy="7938"/>
            </a:xfrm>
            <a:custGeom>
              <a:avLst/>
              <a:gdLst>
                <a:gd name="T0" fmla="*/ 0 w 13"/>
                <a:gd name="T1" fmla="*/ 8 h 8"/>
                <a:gd name="T2" fmla="*/ 0 w 13"/>
                <a:gd name="T3" fmla="*/ 8 h 8"/>
                <a:gd name="T4" fmla="*/ 0 w 13"/>
                <a:gd name="T5" fmla="*/ 8 h 8"/>
                <a:gd name="T6" fmla="*/ 0 w 13"/>
                <a:gd name="T7" fmla="*/ 8 h 8"/>
                <a:gd name="T8" fmla="*/ 8 w 13"/>
                <a:gd name="T9" fmla="*/ 8 h 8"/>
                <a:gd name="T10" fmla="*/ 9 w 13"/>
                <a:gd name="T11" fmla="*/ 7 h 8"/>
                <a:gd name="T12" fmla="*/ 13 w 13"/>
                <a:gd name="T13" fmla="*/ 4 h 8"/>
                <a:gd name="T14" fmla="*/ 13 w 13"/>
                <a:gd name="T15" fmla="*/ 0 h 8"/>
                <a:gd name="T16" fmla="*/ 0 w 13"/>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8">
                  <a:moveTo>
                    <a:pt x="0" y="8"/>
                  </a:moveTo>
                  <a:lnTo>
                    <a:pt x="0" y="8"/>
                  </a:lnTo>
                  <a:cubicBezTo>
                    <a:pt x="0" y="8"/>
                    <a:pt x="0" y="8"/>
                    <a:pt x="0" y="8"/>
                  </a:cubicBezTo>
                  <a:cubicBezTo>
                    <a:pt x="0" y="8"/>
                    <a:pt x="0" y="8"/>
                    <a:pt x="0" y="8"/>
                  </a:cubicBezTo>
                  <a:cubicBezTo>
                    <a:pt x="2" y="8"/>
                    <a:pt x="8" y="8"/>
                    <a:pt x="8" y="8"/>
                  </a:cubicBezTo>
                  <a:cubicBezTo>
                    <a:pt x="8" y="8"/>
                    <a:pt x="8" y="8"/>
                    <a:pt x="9" y="7"/>
                  </a:cubicBezTo>
                  <a:cubicBezTo>
                    <a:pt x="9" y="7"/>
                    <a:pt x="11" y="7"/>
                    <a:pt x="13" y="4"/>
                  </a:cubicBezTo>
                  <a:cubicBezTo>
                    <a:pt x="13" y="4"/>
                    <a:pt x="13" y="2"/>
                    <a:pt x="13" y="0"/>
                  </a:cubicBezTo>
                  <a:cubicBezTo>
                    <a:pt x="13" y="0"/>
                    <a:pt x="4" y="5"/>
                    <a:pt x="0"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25" name="Freeform 68"/>
            <p:cNvSpPr>
              <a:spLocks/>
            </p:cNvSpPr>
            <p:nvPr/>
          </p:nvSpPr>
          <p:spPr bwMode="auto">
            <a:xfrm>
              <a:off x="3397250" y="1093788"/>
              <a:ext cx="11113" cy="14288"/>
            </a:xfrm>
            <a:custGeom>
              <a:avLst/>
              <a:gdLst>
                <a:gd name="T0" fmla="*/ 12 w 12"/>
                <a:gd name="T1" fmla="*/ 5 h 15"/>
                <a:gd name="T2" fmla="*/ 12 w 12"/>
                <a:gd name="T3" fmla="*/ 5 h 15"/>
                <a:gd name="T4" fmla="*/ 9 w 12"/>
                <a:gd name="T5" fmla="*/ 0 h 15"/>
                <a:gd name="T6" fmla="*/ 0 w 12"/>
                <a:gd name="T7" fmla="*/ 14 h 15"/>
                <a:gd name="T8" fmla="*/ 0 w 12"/>
                <a:gd name="T9" fmla="*/ 15 h 15"/>
                <a:gd name="T10" fmla="*/ 0 w 12"/>
                <a:gd name="T11" fmla="*/ 15 h 15"/>
                <a:gd name="T12" fmla="*/ 10 w 12"/>
                <a:gd name="T13" fmla="*/ 9 h 15"/>
                <a:gd name="T14" fmla="*/ 12 w 12"/>
                <a:gd name="T15" fmla="*/ 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5">
                  <a:moveTo>
                    <a:pt x="12" y="5"/>
                  </a:moveTo>
                  <a:lnTo>
                    <a:pt x="12" y="5"/>
                  </a:lnTo>
                  <a:cubicBezTo>
                    <a:pt x="12" y="3"/>
                    <a:pt x="9" y="0"/>
                    <a:pt x="9" y="0"/>
                  </a:cubicBezTo>
                  <a:cubicBezTo>
                    <a:pt x="9" y="0"/>
                    <a:pt x="4" y="6"/>
                    <a:pt x="0" y="14"/>
                  </a:cubicBezTo>
                  <a:cubicBezTo>
                    <a:pt x="0" y="14"/>
                    <a:pt x="0" y="15"/>
                    <a:pt x="0" y="15"/>
                  </a:cubicBezTo>
                  <a:cubicBezTo>
                    <a:pt x="0" y="15"/>
                    <a:pt x="0" y="15"/>
                    <a:pt x="0" y="15"/>
                  </a:cubicBezTo>
                  <a:cubicBezTo>
                    <a:pt x="2" y="14"/>
                    <a:pt x="8" y="11"/>
                    <a:pt x="10" y="9"/>
                  </a:cubicBezTo>
                  <a:cubicBezTo>
                    <a:pt x="10" y="9"/>
                    <a:pt x="12" y="7"/>
                    <a:pt x="1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5" name="组合 4"/>
          <p:cNvGrpSpPr/>
          <p:nvPr/>
        </p:nvGrpSpPr>
        <p:grpSpPr>
          <a:xfrm>
            <a:off x="6196531" y="2276872"/>
            <a:ext cx="5183984" cy="3447896"/>
            <a:chOff x="3496231" y="1880828"/>
            <a:chExt cx="5183984" cy="3447896"/>
          </a:xfrm>
        </p:grpSpPr>
        <p:sp>
          <p:nvSpPr>
            <p:cNvPr id="192" name="Line 4"/>
            <p:cNvSpPr>
              <a:spLocks noChangeShapeType="1"/>
            </p:cNvSpPr>
            <p:nvPr/>
          </p:nvSpPr>
          <p:spPr bwMode="auto">
            <a:xfrm flipV="1">
              <a:off x="4720805" y="3332285"/>
              <a:ext cx="0" cy="468139"/>
            </a:xfrm>
            <a:prstGeom prst="line">
              <a:avLst/>
            </a:prstGeom>
            <a:noFill/>
            <a:ln w="38100">
              <a:solidFill>
                <a:schemeClr val="accent2">
                  <a:lumMod val="75000"/>
                </a:schemeClr>
              </a:solidFill>
              <a:round/>
              <a:headEnd/>
              <a:tailEnd/>
            </a:ln>
          </p:spPr>
          <p:txBody>
            <a:bodyPr lIns="80127" tIns="40065" rIns="80127" bIns="40065"/>
            <a:lstStyle/>
            <a:p>
              <a:endParaRPr lang="zh-CN" altLang="en-US" sz="1800">
                <a:latin typeface="Arial" panose="020B0604020202020204" pitchFamily="34" charset="0"/>
                <a:ea typeface="+mn-ea"/>
              </a:endParaRPr>
            </a:p>
          </p:txBody>
        </p:sp>
        <p:sp>
          <p:nvSpPr>
            <p:cNvPr id="193" name="Line 8"/>
            <p:cNvSpPr>
              <a:spLocks noChangeShapeType="1"/>
            </p:cNvSpPr>
            <p:nvPr/>
          </p:nvSpPr>
          <p:spPr bwMode="auto">
            <a:xfrm>
              <a:off x="3496231" y="3325020"/>
              <a:ext cx="5183984" cy="7212"/>
            </a:xfrm>
            <a:prstGeom prst="line">
              <a:avLst/>
            </a:prstGeom>
            <a:noFill/>
            <a:ln w="57150">
              <a:solidFill>
                <a:schemeClr val="accent2">
                  <a:lumMod val="75000"/>
                </a:schemeClr>
              </a:solidFill>
              <a:round/>
              <a:headEnd type="none" w="med" len="med"/>
              <a:tailEnd type="none" w="med" len="med"/>
            </a:ln>
          </p:spPr>
          <p:txBody>
            <a:bodyPr wrap="square" lIns="79200" tIns="39600" rIns="79200" bIns="39600">
              <a:spAutoFit/>
            </a:bodyPr>
            <a:lstStyle/>
            <a:p>
              <a:endParaRPr lang="zh-CN" altLang="en-US" sz="1800">
                <a:latin typeface="Arial" panose="020B0604020202020204" pitchFamily="34" charset="0"/>
                <a:ea typeface="+mn-ea"/>
              </a:endParaRPr>
            </a:p>
          </p:txBody>
        </p:sp>
        <p:sp>
          <p:nvSpPr>
            <p:cNvPr id="194" name="Line 4"/>
            <p:cNvSpPr>
              <a:spLocks noChangeShapeType="1"/>
            </p:cNvSpPr>
            <p:nvPr/>
          </p:nvSpPr>
          <p:spPr bwMode="auto">
            <a:xfrm flipV="1">
              <a:off x="7506828" y="3337889"/>
              <a:ext cx="0" cy="468139"/>
            </a:xfrm>
            <a:prstGeom prst="line">
              <a:avLst/>
            </a:prstGeom>
            <a:noFill/>
            <a:ln w="38100">
              <a:solidFill>
                <a:schemeClr val="accent2">
                  <a:lumMod val="75000"/>
                </a:schemeClr>
              </a:solidFill>
              <a:round/>
              <a:headEnd/>
              <a:tailEnd/>
            </a:ln>
          </p:spPr>
          <p:txBody>
            <a:bodyPr lIns="80127" tIns="40065" rIns="80127" bIns="40065"/>
            <a:lstStyle/>
            <a:p>
              <a:endParaRPr lang="zh-CN" altLang="en-US" sz="1800">
                <a:latin typeface="Arial" panose="020B0604020202020204" pitchFamily="34" charset="0"/>
                <a:ea typeface="+mn-ea"/>
              </a:endParaRPr>
            </a:p>
          </p:txBody>
        </p:sp>
        <p:sp>
          <p:nvSpPr>
            <p:cNvPr id="195" name="Line 4"/>
            <p:cNvSpPr>
              <a:spLocks noChangeShapeType="1"/>
            </p:cNvSpPr>
            <p:nvPr/>
          </p:nvSpPr>
          <p:spPr bwMode="auto">
            <a:xfrm flipV="1">
              <a:off x="7953459" y="3000047"/>
              <a:ext cx="0" cy="351105"/>
            </a:xfrm>
            <a:prstGeom prst="line">
              <a:avLst/>
            </a:prstGeom>
            <a:noFill/>
            <a:ln w="38100">
              <a:solidFill>
                <a:schemeClr val="accent2">
                  <a:lumMod val="75000"/>
                </a:schemeClr>
              </a:solidFill>
              <a:round/>
              <a:headEnd/>
              <a:tailEnd/>
            </a:ln>
          </p:spPr>
          <p:txBody>
            <a:bodyPr lIns="80127" tIns="40065" rIns="80127" bIns="40065"/>
            <a:lstStyle/>
            <a:p>
              <a:endParaRPr lang="zh-CN" altLang="en-US" sz="1800">
                <a:latin typeface="Arial" panose="020B0604020202020204" pitchFamily="34" charset="0"/>
                <a:ea typeface="+mn-ea"/>
              </a:endParaRPr>
            </a:p>
          </p:txBody>
        </p:sp>
        <p:sp>
          <p:nvSpPr>
            <p:cNvPr id="196" name="Line 4"/>
            <p:cNvSpPr>
              <a:spLocks noChangeShapeType="1"/>
            </p:cNvSpPr>
            <p:nvPr/>
          </p:nvSpPr>
          <p:spPr bwMode="auto">
            <a:xfrm flipV="1">
              <a:off x="4252315" y="2998352"/>
              <a:ext cx="0" cy="352800"/>
            </a:xfrm>
            <a:prstGeom prst="line">
              <a:avLst/>
            </a:prstGeom>
            <a:noFill/>
            <a:ln w="38100">
              <a:solidFill>
                <a:schemeClr val="accent2">
                  <a:lumMod val="75000"/>
                </a:schemeClr>
              </a:solidFill>
              <a:round/>
              <a:headEnd/>
              <a:tailEnd/>
            </a:ln>
          </p:spPr>
          <p:txBody>
            <a:bodyPr lIns="80127" tIns="40065" rIns="80127" bIns="40065"/>
            <a:lstStyle/>
            <a:p>
              <a:endParaRPr lang="zh-CN" altLang="en-US" sz="1800">
                <a:latin typeface="Arial" panose="020B0604020202020204" pitchFamily="34" charset="0"/>
                <a:ea typeface="+mn-ea"/>
              </a:endParaRPr>
            </a:p>
          </p:txBody>
        </p:sp>
        <p:grpSp>
          <p:nvGrpSpPr>
            <p:cNvPr id="198" name="组合 18401"/>
            <p:cNvGrpSpPr/>
            <p:nvPr/>
          </p:nvGrpSpPr>
          <p:grpSpPr>
            <a:xfrm>
              <a:off x="4419963" y="3796639"/>
              <a:ext cx="574606" cy="968203"/>
              <a:chOff x="7499351" y="736601"/>
              <a:chExt cx="227013" cy="428625"/>
            </a:xfrm>
            <a:solidFill>
              <a:srgbClr val="60C7C7"/>
            </a:solidFill>
          </p:grpSpPr>
          <p:sp>
            <p:nvSpPr>
              <p:cNvPr id="199"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0"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1"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2"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3"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4"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5"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6"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7"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8"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9"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0"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1"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212" name="组合 18401"/>
            <p:cNvGrpSpPr/>
            <p:nvPr/>
          </p:nvGrpSpPr>
          <p:grpSpPr>
            <a:xfrm>
              <a:off x="7196213" y="3796639"/>
              <a:ext cx="574606" cy="968203"/>
              <a:chOff x="7499351" y="736601"/>
              <a:chExt cx="227013" cy="428625"/>
            </a:xfrm>
            <a:solidFill>
              <a:srgbClr val="60C7C7"/>
            </a:solidFill>
          </p:grpSpPr>
          <p:sp>
            <p:nvSpPr>
              <p:cNvPr id="213"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4"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5"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6"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7"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8"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9"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0"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1"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2"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3"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4"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5"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226" name="computer-worker-on-frontal-view_49709"/>
            <p:cNvSpPr>
              <a:spLocks noChangeAspect="1"/>
            </p:cNvSpPr>
            <p:nvPr/>
          </p:nvSpPr>
          <p:spPr bwMode="auto">
            <a:xfrm>
              <a:off x="3902339" y="2422546"/>
              <a:ext cx="687465" cy="522370"/>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227" name="computer-worker-on-frontal-view_49709"/>
            <p:cNvSpPr>
              <a:spLocks noChangeAspect="1"/>
            </p:cNvSpPr>
            <p:nvPr/>
          </p:nvSpPr>
          <p:spPr bwMode="auto">
            <a:xfrm>
              <a:off x="7595778" y="2430767"/>
              <a:ext cx="687465" cy="522370"/>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228" name="文本框 227"/>
            <p:cNvSpPr txBox="1"/>
            <p:nvPr/>
          </p:nvSpPr>
          <p:spPr bwMode="auto">
            <a:xfrm>
              <a:off x="3568239" y="1889557"/>
              <a:ext cx="1266571"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Windows</a:t>
              </a:r>
            </a:p>
            <a:p>
              <a:pPr algn="ctr" defTabSz="1001649" eaLnBrk="0" hangingPunct="0"/>
              <a:r>
                <a:rPr lang="en-US" sz="1400" dirty="0">
                  <a:solidFill>
                    <a:srgbClr val="000000"/>
                  </a:solidFill>
                  <a:latin typeface="Arial" panose="020B0604020202020204" pitchFamily="34" charset="0"/>
                  <a:ea typeface="+mn-ea"/>
                  <a:cs typeface="Arial" pitchFamily="34" charset="0"/>
                </a:rPr>
                <a:t>client</a:t>
              </a:r>
            </a:p>
          </p:txBody>
        </p:sp>
        <p:sp>
          <p:nvSpPr>
            <p:cNvPr id="229" name="文本框 228"/>
            <p:cNvSpPr txBox="1"/>
            <p:nvPr/>
          </p:nvSpPr>
          <p:spPr bwMode="auto">
            <a:xfrm>
              <a:off x="7306224" y="1880828"/>
              <a:ext cx="1266571"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Unix-like</a:t>
              </a:r>
            </a:p>
            <a:p>
              <a:pPr algn="ctr" defTabSz="1001649" eaLnBrk="0" hangingPunct="0"/>
              <a:r>
                <a:rPr lang="en-US" sz="1400" dirty="0">
                  <a:solidFill>
                    <a:srgbClr val="000000"/>
                  </a:solidFill>
                  <a:latin typeface="Arial" panose="020B0604020202020204" pitchFamily="34" charset="0"/>
                  <a:ea typeface="+mn-ea"/>
                  <a:cs typeface="Arial" pitchFamily="34" charset="0"/>
                </a:rPr>
                <a:t>client</a:t>
              </a:r>
            </a:p>
          </p:txBody>
        </p:sp>
        <p:sp>
          <p:nvSpPr>
            <p:cNvPr id="230" name="文本框 229"/>
            <p:cNvSpPr txBox="1"/>
            <p:nvPr/>
          </p:nvSpPr>
          <p:spPr bwMode="auto">
            <a:xfrm>
              <a:off x="4180307" y="4772129"/>
              <a:ext cx="1148014"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Windows server</a:t>
              </a:r>
            </a:p>
          </p:txBody>
        </p:sp>
        <p:sp>
          <p:nvSpPr>
            <p:cNvPr id="231" name="文本框 230"/>
            <p:cNvSpPr txBox="1"/>
            <p:nvPr/>
          </p:nvSpPr>
          <p:spPr bwMode="auto">
            <a:xfrm>
              <a:off x="7068520" y="4796889"/>
              <a:ext cx="892207"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Unix-like</a:t>
              </a:r>
            </a:p>
            <a:p>
              <a:pPr algn="ctr" defTabSz="1001649" eaLnBrk="0" hangingPunct="0"/>
              <a:r>
                <a:rPr lang="en-US" sz="1400" dirty="0">
                  <a:solidFill>
                    <a:srgbClr val="000000"/>
                  </a:solidFill>
                  <a:latin typeface="Arial" panose="020B0604020202020204" pitchFamily="34" charset="0"/>
                  <a:ea typeface="+mn-ea"/>
                  <a:cs typeface="Arial" pitchFamily="34" charset="0"/>
                </a:rPr>
                <a:t>server</a:t>
              </a:r>
            </a:p>
          </p:txBody>
        </p:sp>
        <p:grpSp>
          <p:nvGrpSpPr>
            <p:cNvPr id="232" name="组合 15818"/>
            <p:cNvGrpSpPr/>
            <p:nvPr/>
          </p:nvGrpSpPr>
          <p:grpSpPr>
            <a:xfrm>
              <a:off x="5889697" y="3805544"/>
              <a:ext cx="512654" cy="959297"/>
              <a:chOff x="1309688" y="2159000"/>
              <a:chExt cx="279400" cy="758826"/>
            </a:xfrm>
            <a:solidFill>
              <a:srgbClr val="3ABABA"/>
            </a:solidFill>
          </p:grpSpPr>
          <p:sp>
            <p:nvSpPr>
              <p:cNvPr id="233" name="Freeform 274"/>
              <p:cNvSpPr>
                <a:spLocks noEditPoints="1"/>
              </p:cNvSpPr>
              <p:nvPr/>
            </p:nvSpPr>
            <p:spPr bwMode="auto">
              <a:xfrm>
                <a:off x="1352551" y="2238375"/>
                <a:ext cx="195263" cy="100013"/>
              </a:xfrm>
              <a:custGeom>
                <a:avLst/>
                <a:gdLst>
                  <a:gd name="T0" fmla="*/ 198 w 204"/>
                  <a:gd name="T1" fmla="*/ 98 h 104"/>
                  <a:gd name="T2" fmla="*/ 198 w 204"/>
                  <a:gd name="T3" fmla="*/ 98 h 104"/>
                  <a:gd name="T4" fmla="*/ 5 w 204"/>
                  <a:gd name="T5" fmla="*/ 98 h 104"/>
                  <a:gd name="T6" fmla="*/ 5 w 204"/>
                  <a:gd name="T7" fmla="*/ 6 h 104"/>
                  <a:gd name="T8" fmla="*/ 198 w 204"/>
                  <a:gd name="T9" fmla="*/ 6 h 104"/>
                  <a:gd name="T10" fmla="*/ 198 w 204"/>
                  <a:gd name="T11" fmla="*/ 98 h 104"/>
                  <a:gd name="T12" fmla="*/ 0 w 204"/>
                  <a:gd name="T13" fmla="*/ 104 h 104"/>
                  <a:gd name="T14" fmla="*/ 0 w 204"/>
                  <a:gd name="T15" fmla="*/ 104 h 104"/>
                  <a:gd name="T16" fmla="*/ 204 w 204"/>
                  <a:gd name="T17" fmla="*/ 104 h 104"/>
                  <a:gd name="T18" fmla="*/ 204 w 204"/>
                  <a:gd name="T19" fmla="*/ 0 h 104"/>
                  <a:gd name="T20" fmla="*/ 0 w 204"/>
                  <a:gd name="T21" fmla="*/ 0 h 104"/>
                  <a:gd name="T22" fmla="*/ 0 w 204"/>
                  <a:gd name="T23"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4" h="104">
                    <a:moveTo>
                      <a:pt x="198" y="98"/>
                    </a:moveTo>
                    <a:lnTo>
                      <a:pt x="198" y="98"/>
                    </a:lnTo>
                    <a:lnTo>
                      <a:pt x="5" y="98"/>
                    </a:lnTo>
                    <a:lnTo>
                      <a:pt x="5" y="6"/>
                    </a:lnTo>
                    <a:lnTo>
                      <a:pt x="198" y="6"/>
                    </a:lnTo>
                    <a:lnTo>
                      <a:pt x="198" y="98"/>
                    </a:lnTo>
                    <a:close/>
                    <a:moveTo>
                      <a:pt x="0" y="104"/>
                    </a:moveTo>
                    <a:lnTo>
                      <a:pt x="0" y="104"/>
                    </a:lnTo>
                    <a:lnTo>
                      <a:pt x="204" y="104"/>
                    </a:lnTo>
                    <a:lnTo>
                      <a:pt x="204" y="0"/>
                    </a:lnTo>
                    <a:lnTo>
                      <a:pt x="0" y="0"/>
                    </a:lnTo>
                    <a:lnTo>
                      <a:pt x="0" y="10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4" name="Freeform 275"/>
              <p:cNvSpPr>
                <a:spLocks noEditPoints="1"/>
              </p:cNvSpPr>
              <p:nvPr/>
            </p:nvSpPr>
            <p:spPr bwMode="auto">
              <a:xfrm>
                <a:off x="1309688" y="2192338"/>
                <a:ext cx="279400" cy="725488"/>
              </a:xfrm>
              <a:custGeom>
                <a:avLst/>
                <a:gdLst>
                  <a:gd name="T0" fmla="*/ 20 w 293"/>
                  <a:gd name="T1" fmla="*/ 724 h 759"/>
                  <a:gd name="T2" fmla="*/ 268 w 293"/>
                  <a:gd name="T3" fmla="*/ 20 h 759"/>
                  <a:gd name="T4" fmla="*/ 248 w 293"/>
                  <a:gd name="T5" fmla="*/ 171 h 759"/>
                  <a:gd name="T6" fmla="*/ 45 w 293"/>
                  <a:gd name="T7" fmla="*/ 173 h 759"/>
                  <a:gd name="T8" fmla="*/ 258 w 293"/>
                  <a:gd name="T9" fmla="*/ 683 h 759"/>
                  <a:gd name="T10" fmla="*/ 57 w 293"/>
                  <a:gd name="T11" fmla="*/ 683 h 759"/>
                  <a:gd name="T12" fmla="*/ 237 w 293"/>
                  <a:gd name="T13" fmla="*/ 248 h 759"/>
                  <a:gd name="T14" fmla="*/ 237 w 293"/>
                  <a:gd name="T15" fmla="*/ 612 h 759"/>
                  <a:gd name="T16" fmla="*/ 62 w 293"/>
                  <a:gd name="T17" fmla="*/ 649 h 759"/>
                  <a:gd name="T18" fmla="*/ 62 w 293"/>
                  <a:gd name="T19" fmla="*/ 649 h 759"/>
                  <a:gd name="T20" fmla="*/ 50 w 293"/>
                  <a:gd name="T21" fmla="*/ 631 h 759"/>
                  <a:gd name="T22" fmla="*/ 57 w 293"/>
                  <a:gd name="T23" fmla="*/ 607 h 759"/>
                  <a:gd name="T24" fmla="*/ 57 w 293"/>
                  <a:gd name="T25" fmla="*/ 534 h 759"/>
                  <a:gd name="T26" fmla="*/ 50 w 293"/>
                  <a:gd name="T27" fmla="*/ 474 h 759"/>
                  <a:gd name="T28" fmla="*/ 50 w 293"/>
                  <a:gd name="T29" fmla="*/ 455 h 759"/>
                  <a:gd name="T30" fmla="*/ 50 w 293"/>
                  <a:gd name="T31" fmla="*/ 455 h 759"/>
                  <a:gd name="T32" fmla="*/ 50 w 293"/>
                  <a:gd name="T33" fmla="*/ 450 h 759"/>
                  <a:gd name="T34" fmla="*/ 57 w 293"/>
                  <a:gd name="T35" fmla="*/ 389 h 759"/>
                  <a:gd name="T36" fmla="*/ 57 w 293"/>
                  <a:gd name="T37" fmla="*/ 333 h 759"/>
                  <a:gd name="T38" fmla="*/ 50 w 293"/>
                  <a:gd name="T39" fmla="*/ 277 h 759"/>
                  <a:gd name="T40" fmla="*/ 50 w 293"/>
                  <a:gd name="T41" fmla="*/ 253 h 759"/>
                  <a:gd name="T42" fmla="*/ 50 w 293"/>
                  <a:gd name="T43" fmla="*/ 253 h 759"/>
                  <a:gd name="T44" fmla="*/ 237 w 293"/>
                  <a:gd name="T45" fmla="*/ 253 h 759"/>
                  <a:gd name="T46" fmla="*/ 237 w 293"/>
                  <a:gd name="T47" fmla="*/ 372 h 759"/>
                  <a:gd name="T48" fmla="*/ 243 w 293"/>
                  <a:gd name="T49" fmla="*/ 372 h 759"/>
                  <a:gd name="T50" fmla="*/ 243 w 293"/>
                  <a:gd name="T51" fmla="*/ 377 h 759"/>
                  <a:gd name="T52" fmla="*/ 237 w 293"/>
                  <a:gd name="T53" fmla="*/ 455 h 759"/>
                  <a:gd name="T54" fmla="*/ 232 w 293"/>
                  <a:gd name="T55" fmla="*/ 612 h 759"/>
                  <a:gd name="T56" fmla="*/ 62 w 293"/>
                  <a:gd name="T57" fmla="*/ 211 h 759"/>
                  <a:gd name="T58" fmla="*/ 232 w 293"/>
                  <a:gd name="T59" fmla="*/ 210 h 759"/>
                  <a:gd name="T60" fmla="*/ 232 w 293"/>
                  <a:gd name="T61" fmla="*/ 210 h 759"/>
                  <a:gd name="T62" fmla="*/ 62 w 293"/>
                  <a:gd name="T63" fmla="*/ 350 h 759"/>
                  <a:gd name="T64" fmla="*/ 62 w 293"/>
                  <a:gd name="T65" fmla="*/ 355 h 759"/>
                  <a:gd name="T66" fmla="*/ 62 w 293"/>
                  <a:gd name="T67" fmla="*/ 529 h 759"/>
                  <a:gd name="T68" fmla="*/ 232 w 293"/>
                  <a:gd name="T69" fmla="*/ 492 h 759"/>
                  <a:gd name="T70" fmla="*/ 232 w 293"/>
                  <a:gd name="T71" fmla="*/ 450 h 759"/>
                  <a:gd name="T72" fmla="*/ 232 w 293"/>
                  <a:gd name="T73" fmla="*/ 450 h 759"/>
                  <a:gd name="T74" fmla="*/ 232 w 293"/>
                  <a:gd name="T75" fmla="*/ 377 h 759"/>
                  <a:gd name="T76" fmla="*/ 232 w 293"/>
                  <a:gd name="T77" fmla="*/ 570 h 759"/>
                  <a:gd name="T78" fmla="*/ 232 w 293"/>
                  <a:gd name="T79" fmla="*/ 571 h 759"/>
                  <a:gd name="T80" fmla="*/ 62 w 293"/>
                  <a:gd name="T81" fmla="*/ 291 h 759"/>
                  <a:gd name="T82" fmla="*/ 232 w 293"/>
                  <a:gd name="T83" fmla="*/ 290 h 759"/>
                  <a:gd name="T84" fmla="*/ 232 w 293"/>
                  <a:gd name="T85" fmla="*/ 290 h 759"/>
                  <a:gd name="T86" fmla="*/ 62 w 293"/>
                  <a:gd name="T87" fmla="*/ 328 h 759"/>
                  <a:gd name="T88" fmla="*/ 232 w 293"/>
                  <a:gd name="T89" fmla="*/ 248 h 759"/>
                  <a:gd name="T90" fmla="*/ 237 w 293"/>
                  <a:gd name="T91" fmla="*/ 607 h 759"/>
                  <a:gd name="T92" fmla="*/ 50 w 293"/>
                  <a:gd name="T93" fmla="*/ 201 h 759"/>
                  <a:gd name="T94" fmla="*/ 57 w 293"/>
                  <a:gd name="T95" fmla="*/ 196 h 759"/>
                  <a:gd name="T96" fmla="*/ 57 w 293"/>
                  <a:gd name="T97" fmla="*/ 196 h 759"/>
                  <a:gd name="T98" fmla="*/ 258 w 293"/>
                  <a:gd name="T99" fmla="*/ 20 h 759"/>
                  <a:gd name="T100" fmla="*/ 136 w 293"/>
                  <a:gd name="T101" fmla="*/ 759 h 759"/>
                  <a:gd name="T102" fmla="*/ 36 w 293"/>
                  <a:gd name="T103" fmla="*/ 693 h 759"/>
                  <a:gd name="T104" fmla="*/ 189 w 293"/>
                  <a:gd name="T105" fmla="*/ 734 h 759"/>
                  <a:gd name="T106" fmla="*/ 0 w 293"/>
                  <a:gd name="T107"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3" h="759">
                    <a:moveTo>
                      <a:pt x="20" y="20"/>
                    </a:moveTo>
                    <a:lnTo>
                      <a:pt x="20" y="20"/>
                    </a:lnTo>
                    <a:lnTo>
                      <a:pt x="26" y="20"/>
                    </a:lnTo>
                    <a:lnTo>
                      <a:pt x="26" y="724"/>
                    </a:lnTo>
                    <a:lnTo>
                      <a:pt x="20" y="724"/>
                    </a:lnTo>
                    <a:lnTo>
                      <a:pt x="20" y="20"/>
                    </a:lnTo>
                    <a:close/>
                    <a:moveTo>
                      <a:pt x="274" y="724"/>
                    </a:moveTo>
                    <a:lnTo>
                      <a:pt x="274" y="724"/>
                    </a:lnTo>
                    <a:lnTo>
                      <a:pt x="268" y="724"/>
                    </a:lnTo>
                    <a:lnTo>
                      <a:pt x="268" y="20"/>
                    </a:lnTo>
                    <a:lnTo>
                      <a:pt x="274" y="20"/>
                    </a:lnTo>
                    <a:lnTo>
                      <a:pt x="274" y="724"/>
                    </a:lnTo>
                    <a:close/>
                    <a:moveTo>
                      <a:pt x="248" y="683"/>
                    </a:moveTo>
                    <a:lnTo>
                      <a:pt x="248" y="683"/>
                    </a:lnTo>
                    <a:lnTo>
                      <a:pt x="248" y="171"/>
                    </a:lnTo>
                    <a:lnTo>
                      <a:pt x="248" y="171"/>
                    </a:lnTo>
                    <a:lnTo>
                      <a:pt x="248" y="168"/>
                    </a:lnTo>
                    <a:lnTo>
                      <a:pt x="45" y="168"/>
                    </a:lnTo>
                    <a:lnTo>
                      <a:pt x="45" y="173"/>
                    </a:lnTo>
                    <a:lnTo>
                      <a:pt x="45" y="173"/>
                    </a:lnTo>
                    <a:lnTo>
                      <a:pt x="45" y="683"/>
                    </a:lnTo>
                    <a:lnTo>
                      <a:pt x="36" y="683"/>
                    </a:lnTo>
                    <a:lnTo>
                      <a:pt x="36" y="38"/>
                    </a:lnTo>
                    <a:lnTo>
                      <a:pt x="258" y="38"/>
                    </a:lnTo>
                    <a:lnTo>
                      <a:pt x="258" y="683"/>
                    </a:lnTo>
                    <a:lnTo>
                      <a:pt x="248" y="683"/>
                    </a:lnTo>
                    <a:close/>
                    <a:moveTo>
                      <a:pt x="50" y="636"/>
                    </a:moveTo>
                    <a:lnTo>
                      <a:pt x="50" y="636"/>
                    </a:lnTo>
                    <a:lnTo>
                      <a:pt x="57" y="636"/>
                    </a:lnTo>
                    <a:lnTo>
                      <a:pt x="57" y="683"/>
                    </a:lnTo>
                    <a:lnTo>
                      <a:pt x="50" y="683"/>
                    </a:lnTo>
                    <a:lnTo>
                      <a:pt x="50" y="636"/>
                    </a:lnTo>
                    <a:close/>
                    <a:moveTo>
                      <a:pt x="243" y="248"/>
                    </a:moveTo>
                    <a:lnTo>
                      <a:pt x="243" y="248"/>
                    </a:lnTo>
                    <a:lnTo>
                      <a:pt x="237" y="248"/>
                    </a:lnTo>
                    <a:lnTo>
                      <a:pt x="237" y="173"/>
                    </a:lnTo>
                    <a:lnTo>
                      <a:pt x="243" y="173"/>
                    </a:lnTo>
                    <a:lnTo>
                      <a:pt x="243" y="248"/>
                    </a:lnTo>
                    <a:close/>
                    <a:moveTo>
                      <a:pt x="237" y="612"/>
                    </a:moveTo>
                    <a:lnTo>
                      <a:pt x="237" y="612"/>
                    </a:lnTo>
                    <a:lnTo>
                      <a:pt x="243" y="612"/>
                    </a:lnTo>
                    <a:lnTo>
                      <a:pt x="243" y="683"/>
                    </a:lnTo>
                    <a:lnTo>
                      <a:pt x="237" y="683"/>
                    </a:lnTo>
                    <a:lnTo>
                      <a:pt x="237" y="612"/>
                    </a:lnTo>
                    <a:close/>
                    <a:moveTo>
                      <a:pt x="62" y="649"/>
                    </a:moveTo>
                    <a:lnTo>
                      <a:pt x="62" y="649"/>
                    </a:lnTo>
                    <a:lnTo>
                      <a:pt x="232" y="649"/>
                    </a:lnTo>
                    <a:lnTo>
                      <a:pt x="232" y="683"/>
                    </a:lnTo>
                    <a:lnTo>
                      <a:pt x="62" y="683"/>
                    </a:lnTo>
                    <a:lnTo>
                      <a:pt x="62" y="649"/>
                    </a:lnTo>
                    <a:close/>
                    <a:moveTo>
                      <a:pt x="50" y="612"/>
                    </a:moveTo>
                    <a:lnTo>
                      <a:pt x="50" y="612"/>
                    </a:lnTo>
                    <a:lnTo>
                      <a:pt x="57" y="612"/>
                    </a:lnTo>
                    <a:lnTo>
                      <a:pt x="57" y="631"/>
                    </a:lnTo>
                    <a:lnTo>
                      <a:pt x="50" y="631"/>
                    </a:lnTo>
                    <a:lnTo>
                      <a:pt x="50" y="612"/>
                    </a:lnTo>
                    <a:close/>
                    <a:moveTo>
                      <a:pt x="50" y="555"/>
                    </a:moveTo>
                    <a:lnTo>
                      <a:pt x="50" y="555"/>
                    </a:lnTo>
                    <a:lnTo>
                      <a:pt x="57" y="555"/>
                    </a:lnTo>
                    <a:lnTo>
                      <a:pt x="57" y="607"/>
                    </a:lnTo>
                    <a:lnTo>
                      <a:pt x="50" y="607"/>
                    </a:lnTo>
                    <a:lnTo>
                      <a:pt x="50" y="555"/>
                    </a:lnTo>
                    <a:close/>
                    <a:moveTo>
                      <a:pt x="50" y="534"/>
                    </a:moveTo>
                    <a:lnTo>
                      <a:pt x="50" y="534"/>
                    </a:lnTo>
                    <a:lnTo>
                      <a:pt x="57" y="534"/>
                    </a:lnTo>
                    <a:lnTo>
                      <a:pt x="57" y="550"/>
                    </a:lnTo>
                    <a:lnTo>
                      <a:pt x="50" y="550"/>
                    </a:lnTo>
                    <a:lnTo>
                      <a:pt x="50" y="534"/>
                    </a:lnTo>
                    <a:close/>
                    <a:moveTo>
                      <a:pt x="50" y="474"/>
                    </a:moveTo>
                    <a:lnTo>
                      <a:pt x="50" y="474"/>
                    </a:lnTo>
                    <a:lnTo>
                      <a:pt x="57" y="474"/>
                    </a:lnTo>
                    <a:lnTo>
                      <a:pt x="57" y="529"/>
                    </a:lnTo>
                    <a:lnTo>
                      <a:pt x="50" y="529"/>
                    </a:lnTo>
                    <a:lnTo>
                      <a:pt x="50" y="474"/>
                    </a:lnTo>
                    <a:close/>
                    <a:moveTo>
                      <a:pt x="50" y="455"/>
                    </a:moveTo>
                    <a:lnTo>
                      <a:pt x="50" y="455"/>
                    </a:lnTo>
                    <a:lnTo>
                      <a:pt x="57" y="455"/>
                    </a:lnTo>
                    <a:lnTo>
                      <a:pt x="57" y="469"/>
                    </a:lnTo>
                    <a:lnTo>
                      <a:pt x="50" y="469"/>
                    </a:lnTo>
                    <a:lnTo>
                      <a:pt x="50" y="455"/>
                    </a:lnTo>
                    <a:close/>
                    <a:moveTo>
                      <a:pt x="50" y="394"/>
                    </a:moveTo>
                    <a:lnTo>
                      <a:pt x="50" y="394"/>
                    </a:lnTo>
                    <a:lnTo>
                      <a:pt x="57" y="394"/>
                    </a:lnTo>
                    <a:lnTo>
                      <a:pt x="57" y="450"/>
                    </a:lnTo>
                    <a:lnTo>
                      <a:pt x="50" y="450"/>
                    </a:lnTo>
                    <a:lnTo>
                      <a:pt x="50" y="394"/>
                    </a:lnTo>
                    <a:close/>
                    <a:moveTo>
                      <a:pt x="50" y="377"/>
                    </a:moveTo>
                    <a:lnTo>
                      <a:pt x="50" y="377"/>
                    </a:lnTo>
                    <a:lnTo>
                      <a:pt x="57" y="377"/>
                    </a:lnTo>
                    <a:lnTo>
                      <a:pt x="57" y="389"/>
                    </a:lnTo>
                    <a:lnTo>
                      <a:pt x="50" y="389"/>
                    </a:lnTo>
                    <a:lnTo>
                      <a:pt x="50" y="377"/>
                    </a:lnTo>
                    <a:close/>
                    <a:moveTo>
                      <a:pt x="50" y="333"/>
                    </a:moveTo>
                    <a:lnTo>
                      <a:pt x="50" y="333"/>
                    </a:lnTo>
                    <a:lnTo>
                      <a:pt x="57" y="333"/>
                    </a:lnTo>
                    <a:lnTo>
                      <a:pt x="57" y="372"/>
                    </a:lnTo>
                    <a:lnTo>
                      <a:pt x="50" y="372"/>
                    </a:lnTo>
                    <a:lnTo>
                      <a:pt x="50" y="333"/>
                    </a:lnTo>
                    <a:close/>
                    <a:moveTo>
                      <a:pt x="50" y="277"/>
                    </a:moveTo>
                    <a:lnTo>
                      <a:pt x="50" y="277"/>
                    </a:lnTo>
                    <a:lnTo>
                      <a:pt x="57" y="277"/>
                    </a:lnTo>
                    <a:lnTo>
                      <a:pt x="57" y="328"/>
                    </a:lnTo>
                    <a:lnTo>
                      <a:pt x="50" y="328"/>
                    </a:lnTo>
                    <a:lnTo>
                      <a:pt x="50" y="277"/>
                    </a:lnTo>
                    <a:close/>
                    <a:moveTo>
                      <a:pt x="50" y="253"/>
                    </a:moveTo>
                    <a:lnTo>
                      <a:pt x="50" y="253"/>
                    </a:lnTo>
                    <a:lnTo>
                      <a:pt x="57" y="253"/>
                    </a:lnTo>
                    <a:lnTo>
                      <a:pt x="57" y="272"/>
                    </a:lnTo>
                    <a:lnTo>
                      <a:pt x="50" y="272"/>
                    </a:lnTo>
                    <a:lnTo>
                      <a:pt x="50" y="253"/>
                    </a:lnTo>
                    <a:close/>
                    <a:moveTo>
                      <a:pt x="243" y="328"/>
                    </a:moveTo>
                    <a:lnTo>
                      <a:pt x="243" y="328"/>
                    </a:lnTo>
                    <a:lnTo>
                      <a:pt x="237" y="328"/>
                    </a:lnTo>
                    <a:lnTo>
                      <a:pt x="237" y="328"/>
                    </a:lnTo>
                    <a:lnTo>
                      <a:pt x="237" y="253"/>
                    </a:lnTo>
                    <a:lnTo>
                      <a:pt x="243" y="253"/>
                    </a:lnTo>
                    <a:lnTo>
                      <a:pt x="243" y="328"/>
                    </a:lnTo>
                    <a:close/>
                    <a:moveTo>
                      <a:pt x="243" y="372"/>
                    </a:moveTo>
                    <a:lnTo>
                      <a:pt x="243" y="372"/>
                    </a:lnTo>
                    <a:lnTo>
                      <a:pt x="237" y="372"/>
                    </a:lnTo>
                    <a:lnTo>
                      <a:pt x="237" y="355"/>
                    </a:lnTo>
                    <a:lnTo>
                      <a:pt x="237" y="350"/>
                    </a:lnTo>
                    <a:lnTo>
                      <a:pt x="237" y="333"/>
                    </a:lnTo>
                    <a:lnTo>
                      <a:pt x="243" y="333"/>
                    </a:lnTo>
                    <a:lnTo>
                      <a:pt x="243" y="372"/>
                    </a:lnTo>
                    <a:close/>
                    <a:moveTo>
                      <a:pt x="243" y="450"/>
                    </a:moveTo>
                    <a:lnTo>
                      <a:pt x="243" y="450"/>
                    </a:lnTo>
                    <a:lnTo>
                      <a:pt x="237" y="450"/>
                    </a:lnTo>
                    <a:lnTo>
                      <a:pt x="237" y="377"/>
                    </a:lnTo>
                    <a:lnTo>
                      <a:pt x="243" y="377"/>
                    </a:lnTo>
                    <a:lnTo>
                      <a:pt x="243" y="450"/>
                    </a:lnTo>
                    <a:close/>
                    <a:moveTo>
                      <a:pt x="243" y="529"/>
                    </a:moveTo>
                    <a:lnTo>
                      <a:pt x="243" y="529"/>
                    </a:lnTo>
                    <a:lnTo>
                      <a:pt x="237" y="529"/>
                    </a:lnTo>
                    <a:lnTo>
                      <a:pt x="237" y="455"/>
                    </a:lnTo>
                    <a:lnTo>
                      <a:pt x="243" y="455"/>
                    </a:lnTo>
                    <a:lnTo>
                      <a:pt x="243" y="529"/>
                    </a:lnTo>
                    <a:close/>
                    <a:moveTo>
                      <a:pt x="62" y="612"/>
                    </a:moveTo>
                    <a:lnTo>
                      <a:pt x="62" y="612"/>
                    </a:lnTo>
                    <a:lnTo>
                      <a:pt x="232" y="612"/>
                    </a:lnTo>
                    <a:lnTo>
                      <a:pt x="232" y="648"/>
                    </a:lnTo>
                    <a:lnTo>
                      <a:pt x="62" y="648"/>
                    </a:lnTo>
                    <a:lnTo>
                      <a:pt x="62" y="612"/>
                    </a:lnTo>
                    <a:close/>
                    <a:moveTo>
                      <a:pt x="62" y="211"/>
                    </a:moveTo>
                    <a:lnTo>
                      <a:pt x="62" y="211"/>
                    </a:lnTo>
                    <a:lnTo>
                      <a:pt x="232" y="211"/>
                    </a:lnTo>
                    <a:lnTo>
                      <a:pt x="232" y="211"/>
                    </a:lnTo>
                    <a:lnTo>
                      <a:pt x="62" y="211"/>
                    </a:lnTo>
                    <a:lnTo>
                      <a:pt x="62" y="211"/>
                    </a:lnTo>
                    <a:close/>
                    <a:moveTo>
                      <a:pt x="232" y="210"/>
                    </a:moveTo>
                    <a:lnTo>
                      <a:pt x="232" y="210"/>
                    </a:lnTo>
                    <a:lnTo>
                      <a:pt x="62" y="210"/>
                    </a:lnTo>
                    <a:lnTo>
                      <a:pt x="62" y="173"/>
                    </a:lnTo>
                    <a:lnTo>
                      <a:pt x="232" y="173"/>
                    </a:lnTo>
                    <a:lnTo>
                      <a:pt x="232" y="210"/>
                    </a:lnTo>
                    <a:close/>
                    <a:moveTo>
                      <a:pt x="62" y="333"/>
                    </a:moveTo>
                    <a:lnTo>
                      <a:pt x="62" y="333"/>
                    </a:lnTo>
                    <a:lnTo>
                      <a:pt x="232" y="333"/>
                    </a:lnTo>
                    <a:lnTo>
                      <a:pt x="232" y="350"/>
                    </a:lnTo>
                    <a:lnTo>
                      <a:pt x="62" y="350"/>
                    </a:lnTo>
                    <a:lnTo>
                      <a:pt x="62" y="333"/>
                    </a:lnTo>
                    <a:close/>
                    <a:moveTo>
                      <a:pt x="232" y="372"/>
                    </a:moveTo>
                    <a:lnTo>
                      <a:pt x="232" y="372"/>
                    </a:lnTo>
                    <a:lnTo>
                      <a:pt x="62" y="372"/>
                    </a:lnTo>
                    <a:lnTo>
                      <a:pt x="62" y="355"/>
                    </a:lnTo>
                    <a:lnTo>
                      <a:pt x="232" y="355"/>
                    </a:lnTo>
                    <a:lnTo>
                      <a:pt x="232" y="372"/>
                    </a:lnTo>
                    <a:close/>
                    <a:moveTo>
                      <a:pt x="232" y="529"/>
                    </a:moveTo>
                    <a:lnTo>
                      <a:pt x="232" y="529"/>
                    </a:lnTo>
                    <a:lnTo>
                      <a:pt x="62" y="529"/>
                    </a:lnTo>
                    <a:lnTo>
                      <a:pt x="62" y="492"/>
                    </a:lnTo>
                    <a:lnTo>
                      <a:pt x="232" y="492"/>
                    </a:lnTo>
                    <a:lnTo>
                      <a:pt x="232" y="529"/>
                    </a:lnTo>
                    <a:close/>
                    <a:moveTo>
                      <a:pt x="232" y="492"/>
                    </a:moveTo>
                    <a:lnTo>
                      <a:pt x="232" y="492"/>
                    </a:lnTo>
                    <a:lnTo>
                      <a:pt x="62" y="492"/>
                    </a:lnTo>
                    <a:lnTo>
                      <a:pt x="62" y="455"/>
                    </a:lnTo>
                    <a:lnTo>
                      <a:pt x="232" y="455"/>
                    </a:lnTo>
                    <a:lnTo>
                      <a:pt x="232" y="492"/>
                    </a:lnTo>
                    <a:close/>
                    <a:moveTo>
                      <a:pt x="232" y="450"/>
                    </a:moveTo>
                    <a:lnTo>
                      <a:pt x="232" y="450"/>
                    </a:lnTo>
                    <a:lnTo>
                      <a:pt x="62" y="450"/>
                    </a:lnTo>
                    <a:lnTo>
                      <a:pt x="62" y="414"/>
                    </a:lnTo>
                    <a:lnTo>
                      <a:pt x="232" y="414"/>
                    </a:lnTo>
                    <a:lnTo>
                      <a:pt x="232" y="450"/>
                    </a:lnTo>
                    <a:close/>
                    <a:moveTo>
                      <a:pt x="232" y="413"/>
                    </a:moveTo>
                    <a:lnTo>
                      <a:pt x="232" y="413"/>
                    </a:lnTo>
                    <a:lnTo>
                      <a:pt x="62" y="413"/>
                    </a:lnTo>
                    <a:lnTo>
                      <a:pt x="62" y="377"/>
                    </a:lnTo>
                    <a:lnTo>
                      <a:pt x="232" y="377"/>
                    </a:lnTo>
                    <a:lnTo>
                      <a:pt x="232" y="413"/>
                    </a:lnTo>
                    <a:close/>
                    <a:moveTo>
                      <a:pt x="62" y="534"/>
                    </a:moveTo>
                    <a:lnTo>
                      <a:pt x="62" y="534"/>
                    </a:lnTo>
                    <a:lnTo>
                      <a:pt x="232" y="534"/>
                    </a:lnTo>
                    <a:lnTo>
                      <a:pt x="232" y="570"/>
                    </a:lnTo>
                    <a:lnTo>
                      <a:pt x="62" y="570"/>
                    </a:lnTo>
                    <a:lnTo>
                      <a:pt x="62" y="534"/>
                    </a:lnTo>
                    <a:close/>
                    <a:moveTo>
                      <a:pt x="62" y="571"/>
                    </a:moveTo>
                    <a:lnTo>
                      <a:pt x="62" y="571"/>
                    </a:lnTo>
                    <a:lnTo>
                      <a:pt x="232" y="571"/>
                    </a:lnTo>
                    <a:lnTo>
                      <a:pt x="232" y="607"/>
                    </a:lnTo>
                    <a:lnTo>
                      <a:pt x="62" y="607"/>
                    </a:lnTo>
                    <a:lnTo>
                      <a:pt x="62" y="571"/>
                    </a:lnTo>
                    <a:close/>
                    <a:moveTo>
                      <a:pt x="62" y="291"/>
                    </a:moveTo>
                    <a:lnTo>
                      <a:pt x="62" y="291"/>
                    </a:lnTo>
                    <a:lnTo>
                      <a:pt x="232" y="291"/>
                    </a:lnTo>
                    <a:lnTo>
                      <a:pt x="232" y="291"/>
                    </a:lnTo>
                    <a:lnTo>
                      <a:pt x="62" y="291"/>
                    </a:lnTo>
                    <a:lnTo>
                      <a:pt x="62" y="291"/>
                    </a:lnTo>
                    <a:close/>
                    <a:moveTo>
                      <a:pt x="232" y="290"/>
                    </a:moveTo>
                    <a:lnTo>
                      <a:pt x="232" y="290"/>
                    </a:lnTo>
                    <a:lnTo>
                      <a:pt x="62" y="290"/>
                    </a:lnTo>
                    <a:lnTo>
                      <a:pt x="62" y="253"/>
                    </a:lnTo>
                    <a:lnTo>
                      <a:pt x="232" y="253"/>
                    </a:lnTo>
                    <a:lnTo>
                      <a:pt x="232" y="290"/>
                    </a:lnTo>
                    <a:close/>
                    <a:moveTo>
                      <a:pt x="62" y="292"/>
                    </a:moveTo>
                    <a:lnTo>
                      <a:pt x="62" y="292"/>
                    </a:lnTo>
                    <a:lnTo>
                      <a:pt x="232" y="292"/>
                    </a:lnTo>
                    <a:lnTo>
                      <a:pt x="232" y="328"/>
                    </a:lnTo>
                    <a:lnTo>
                      <a:pt x="62" y="328"/>
                    </a:lnTo>
                    <a:lnTo>
                      <a:pt x="62" y="292"/>
                    </a:lnTo>
                    <a:close/>
                    <a:moveTo>
                      <a:pt x="62" y="212"/>
                    </a:moveTo>
                    <a:lnTo>
                      <a:pt x="62" y="212"/>
                    </a:lnTo>
                    <a:lnTo>
                      <a:pt x="232" y="212"/>
                    </a:lnTo>
                    <a:lnTo>
                      <a:pt x="232" y="248"/>
                    </a:lnTo>
                    <a:lnTo>
                      <a:pt x="62" y="248"/>
                    </a:lnTo>
                    <a:lnTo>
                      <a:pt x="62" y="212"/>
                    </a:lnTo>
                    <a:close/>
                    <a:moveTo>
                      <a:pt x="243" y="607"/>
                    </a:moveTo>
                    <a:lnTo>
                      <a:pt x="243" y="607"/>
                    </a:lnTo>
                    <a:lnTo>
                      <a:pt x="237" y="607"/>
                    </a:lnTo>
                    <a:lnTo>
                      <a:pt x="237" y="534"/>
                    </a:lnTo>
                    <a:lnTo>
                      <a:pt x="243" y="534"/>
                    </a:lnTo>
                    <a:lnTo>
                      <a:pt x="243" y="607"/>
                    </a:lnTo>
                    <a:close/>
                    <a:moveTo>
                      <a:pt x="50" y="201"/>
                    </a:moveTo>
                    <a:lnTo>
                      <a:pt x="50" y="201"/>
                    </a:lnTo>
                    <a:lnTo>
                      <a:pt x="57" y="201"/>
                    </a:lnTo>
                    <a:lnTo>
                      <a:pt x="57" y="248"/>
                    </a:lnTo>
                    <a:lnTo>
                      <a:pt x="50" y="248"/>
                    </a:lnTo>
                    <a:lnTo>
                      <a:pt x="50" y="201"/>
                    </a:lnTo>
                    <a:close/>
                    <a:moveTo>
                      <a:pt x="57" y="196"/>
                    </a:moveTo>
                    <a:lnTo>
                      <a:pt x="57" y="196"/>
                    </a:lnTo>
                    <a:lnTo>
                      <a:pt x="50" y="196"/>
                    </a:lnTo>
                    <a:lnTo>
                      <a:pt x="50" y="173"/>
                    </a:lnTo>
                    <a:lnTo>
                      <a:pt x="57" y="173"/>
                    </a:lnTo>
                    <a:lnTo>
                      <a:pt x="57" y="196"/>
                    </a:lnTo>
                    <a:close/>
                    <a:moveTo>
                      <a:pt x="258" y="28"/>
                    </a:moveTo>
                    <a:lnTo>
                      <a:pt x="258" y="28"/>
                    </a:lnTo>
                    <a:lnTo>
                      <a:pt x="36" y="28"/>
                    </a:lnTo>
                    <a:lnTo>
                      <a:pt x="36" y="20"/>
                    </a:lnTo>
                    <a:lnTo>
                      <a:pt x="258" y="20"/>
                    </a:lnTo>
                    <a:lnTo>
                      <a:pt x="258" y="28"/>
                    </a:lnTo>
                    <a:close/>
                    <a:moveTo>
                      <a:pt x="0" y="743"/>
                    </a:moveTo>
                    <a:lnTo>
                      <a:pt x="0" y="743"/>
                    </a:lnTo>
                    <a:lnTo>
                      <a:pt x="112" y="743"/>
                    </a:lnTo>
                    <a:cubicBezTo>
                      <a:pt x="116" y="753"/>
                      <a:pt x="125" y="759"/>
                      <a:pt x="136" y="759"/>
                    </a:cubicBezTo>
                    <a:cubicBezTo>
                      <a:pt x="150" y="759"/>
                      <a:pt x="161" y="748"/>
                      <a:pt x="161" y="734"/>
                    </a:cubicBezTo>
                    <a:cubicBezTo>
                      <a:pt x="161" y="719"/>
                      <a:pt x="150" y="708"/>
                      <a:pt x="136" y="708"/>
                    </a:cubicBezTo>
                    <a:cubicBezTo>
                      <a:pt x="125" y="708"/>
                      <a:pt x="116" y="714"/>
                      <a:pt x="112" y="724"/>
                    </a:cubicBezTo>
                    <a:lnTo>
                      <a:pt x="36" y="724"/>
                    </a:lnTo>
                    <a:lnTo>
                      <a:pt x="36" y="693"/>
                    </a:lnTo>
                    <a:lnTo>
                      <a:pt x="258" y="693"/>
                    </a:lnTo>
                    <a:lnTo>
                      <a:pt x="258" y="724"/>
                    </a:lnTo>
                    <a:lnTo>
                      <a:pt x="238" y="724"/>
                    </a:lnTo>
                    <a:cubicBezTo>
                      <a:pt x="234" y="714"/>
                      <a:pt x="225" y="708"/>
                      <a:pt x="215" y="708"/>
                    </a:cubicBezTo>
                    <a:cubicBezTo>
                      <a:pt x="200" y="708"/>
                      <a:pt x="189" y="719"/>
                      <a:pt x="189" y="734"/>
                    </a:cubicBezTo>
                    <a:cubicBezTo>
                      <a:pt x="189" y="748"/>
                      <a:pt x="200" y="759"/>
                      <a:pt x="215" y="759"/>
                    </a:cubicBezTo>
                    <a:cubicBezTo>
                      <a:pt x="225" y="759"/>
                      <a:pt x="234" y="753"/>
                      <a:pt x="238" y="743"/>
                    </a:cubicBezTo>
                    <a:lnTo>
                      <a:pt x="293" y="743"/>
                    </a:lnTo>
                    <a:lnTo>
                      <a:pt x="293" y="0"/>
                    </a:lnTo>
                    <a:lnTo>
                      <a:pt x="0" y="0"/>
                    </a:lnTo>
                    <a:lnTo>
                      <a:pt x="0" y="74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5" name="Freeform 276"/>
              <p:cNvSpPr>
                <a:spLocks/>
              </p:cNvSpPr>
              <p:nvPr/>
            </p:nvSpPr>
            <p:spPr bwMode="auto">
              <a:xfrm>
                <a:off x="1441451" y="2286000"/>
                <a:ext cx="6350" cy="7938"/>
              </a:xfrm>
              <a:custGeom>
                <a:avLst/>
                <a:gdLst>
                  <a:gd name="T0" fmla="*/ 2 w 7"/>
                  <a:gd name="T1" fmla="*/ 5 h 8"/>
                  <a:gd name="T2" fmla="*/ 2 w 7"/>
                  <a:gd name="T3" fmla="*/ 5 h 8"/>
                  <a:gd name="T4" fmla="*/ 6 w 7"/>
                  <a:gd name="T5" fmla="*/ 5 h 8"/>
                  <a:gd name="T6" fmla="*/ 6 w 7"/>
                  <a:gd name="T7" fmla="*/ 8 h 8"/>
                  <a:gd name="T8" fmla="*/ 7 w 7"/>
                  <a:gd name="T9" fmla="*/ 8 h 8"/>
                  <a:gd name="T10" fmla="*/ 7 w 7"/>
                  <a:gd name="T11" fmla="*/ 0 h 8"/>
                  <a:gd name="T12" fmla="*/ 6 w 7"/>
                  <a:gd name="T13" fmla="*/ 0 h 8"/>
                  <a:gd name="T14" fmla="*/ 6 w 7"/>
                  <a:gd name="T15" fmla="*/ 3 h 8"/>
                  <a:gd name="T16" fmla="*/ 2 w 7"/>
                  <a:gd name="T17" fmla="*/ 3 h 8"/>
                  <a:gd name="T18" fmla="*/ 2 w 7"/>
                  <a:gd name="T19" fmla="*/ 0 h 8"/>
                  <a:gd name="T20" fmla="*/ 0 w 7"/>
                  <a:gd name="T21" fmla="*/ 0 h 8"/>
                  <a:gd name="T22" fmla="*/ 0 w 7"/>
                  <a:gd name="T23" fmla="*/ 8 h 8"/>
                  <a:gd name="T24" fmla="*/ 2 w 7"/>
                  <a:gd name="T25" fmla="*/ 8 h 8"/>
                  <a:gd name="T26" fmla="*/ 2 w 7"/>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 h="8">
                    <a:moveTo>
                      <a:pt x="2" y="5"/>
                    </a:moveTo>
                    <a:lnTo>
                      <a:pt x="2" y="5"/>
                    </a:lnTo>
                    <a:lnTo>
                      <a:pt x="6" y="5"/>
                    </a:lnTo>
                    <a:lnTo>
                      <a:pt x="6" y="8"/>
                    </a:lnTo>
                    <a:lnTo>
                      <a:pt x="7" y="8"/>
                    </a:lnTo>
                    <a:lnTo>
                      <a:pt x="7" y="0"/>
                    </a:lnTo>
                    <a:lnTo>
                      <a:pt x="6" y="0"/>
                    </a:lnTo>
                    <a:lnTo>
                      <a:pt x="6" y="3"/>
                    </a:lnTo>
                    <a:lnTo>
                      <a:pt x="2" y="3"/>
                    </a:lnTo>
                    <a:lnTo>
                      <a:pt x="2" y="0"/>
                    </a:lnTo>
                    <a:lnTo>
                      <a:pt x="0" y="0"/>
                    </a:lnTo>
                    <a:lnTo>
                      <a:pt x="0" y="8"/>
                    </a:lnTo>
                    <a:lnTo>
                      <a:pt x="2" y="8"/>
                    </a:lnTo>
                    <a:lnTo>
                      <a:pt x="2"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6" name="Freeform 277"/>
              <p:cNvSpPr>
                <a:spLocks/>
              </p:cNvSpPr>
              <p:nvPr/>
            </p:nvSpPr>
            <p:spPr bwMode="auto">
              <a:xfrm>
                <a:off x="1449388" y="2286000"/>
                <a:ext cx="6350" cy="7938"/>
              </a:xfrm>
              <a:custGeom>
                <a:avLst/>
                <a:gdLst>
                  <a:gd name="T0" fmla="*/ 4 w 7"/>
                  <a:gd name="T1" fmla="*/ 8 h 8"/>
                  <a:gd name="T2" fmla="*/ 4 w 7"/>
                  <a:gd name="T3" fmla="*/ 8 h 8"/>
                  <a:gd name="T4" fmla="*/ 7 w 7"/>
                  <a:gd name="T5" fmla="*/ 7 h 8"/>
                  <a:gd name="T6" fmla="*/ 7 w 7"/>
                  <a:gd name="T7" fmla="*/ 5 h 8"/>
                  <a:gd name="T8" fmla="*/ 7 w 7"/>
                  <a:gd name="T9" fmla="*/ 0 h 8"/>
                  <a:gd name="T10" fmla="*/ 5 w 7"/>
                  <a:gd name="T11" fmla="*/ 0 h 8"/>
                  <a:gd name="T12" fmla="*/ 5 w 7"/>
                  <a:gd name="T13" fmla="*/ 5 h 8"/>
                  <a:gd name="T14" fmla="*/ 4 w 7"/>
                  <a:gd name="T15" fmla="*/ 7 h 8"/>
                  <a:gd name="T16" fmla="*/ 2 w 7"/>
                  <a:gd name="T17" fmla="*/ 5 h 8"/>
                  <a:gd name="T18" fmla="*/ 2 w 7"/>
                  <a:gd name="T19" fmla="*/ 0 h 8"/>
                  <a:gd name="T20" fmla="*/ 0 w 7"/>
                  <a:gd name="T21" fmla="*/ 0 h 8"/>
                  <a:gd name="T22" fmla="*/ 0 w 7"/>
                  <a:gd name="T23" fmla="*/ 5 h 8"/>
                  <a:gd name="T24" fmla="*/ 0 w 7"/>
                  <a:gd name="T25" fmla="*/ 7 h 8"/>
                  <a:gd name="T26" fmla="*/ 4 w 7"/>
                  <a:gd name="T2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 h="8">
                    <a:moveTo>
                      <a:pt x="4" y="8"/>
                    </a:moveTo>
                    <a:lnTo>
                      <a:pt x="4" y="8"/>
                    </a:lnTo>
                    <a:cubicBezTo>
                      <a:pt x="5" y="8"/>
                      <a:pt x="6" y="8"/>
                      <a:pt x="7" y="7"/>
                    </a:cubicBezTo>
                    <a:cubicBezTo>
                      <a:pt x="7" y="7"/>
                      <a:pt x="7" y="6"/>
                      <a:pt x="7" y="5"/>
                    </a:cubicBezTo>
                    <a:lnTo>
                      <a:pt x="7" y="0"/>
                    </a:lnTo>
                    <a:lnTo>
                      <a:pt x="5" y="0"/>
                    </a:lnTo>
                    <a:lnTo>
                      <a:pt x="5" y="5"/>
                    </a:lnTo>
                    <a:cubicBezTo>
                      <a:pt x="5" y="6"/>
                      <a:pt x="5" y="7"/>
                      <a:pt x="4" y="7"/>
                    </a:cubicBezTo>
                    <a:cubicBezTo>
                      <a:pt x="2" y="7"/>
                      <a:pt x="2" y="6"/>
                      <a:pt x="2" y="5"/>
                    </a:cubicBezTo>
                    <a:lnTo>
                      <a:pt x="2" y="0"/>
                    </a:lnTo>
                    <a:lnTo>
                      <a:pt x="0" y="0"/>
                    </a:lnTo>
                    <a:lnTo>
                      <a:pt x="0" y="5"/>
                    </a:lnTo>
                    <a:cubicBezTo>
                      <a:pt x="0" y="6"/>
                      <a:pt x="0" y="7"/>
                      <a:pt x="0" y="7"/>
                    </a:cubicBezTo>
                    <a:cubicBezTo>
                      <a:pt x="1" y="8"/>
                      <a:pt x="2" y="8"/>
                      <a:pt x="4"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7" name="Freeform 278"/>
              <p:cNvSpPr>
                <a:spLocks noEditPoints="1"/>
              </p:cNvSpPr>
              <p:nvPr/>
            </p:nvSpPr>
            <p:spPr bwMode="auto">
              <a:xfrm>
                <a:off x="1457326" y="2286000"/>
                <a:ext cx="7938" cy="7938"/>
              </a:xfrm>
              <a:custGeom>
                <a:avLst/>
                <a:gdLst>
                  <a:gd name="T0" fmla="*/ 4 w 9"/>
                  <a:gd name="T1" fmla="*/ 2 h 8"/>
                  <a:gd name="T2" fmla="*/ 4 w 9"/>
                  <a:gd name="T3" fmla="*/ 2 h 8"/>
                  <a:gd name="T4" fmla="*/ 5 w 9"/>
                  <a:gd name="T5" fmla="*/ 5 h 8"/>
                  <a:gd name="T6" fmla="*/ 3 w 9"/>
                  <a:gd name="T7" fmla="*/ 5 h 8"/>
                  <a:gd name="T8" fmla="*/ 4 w 9"/>
                  <a:gd name="T9" fmla="*/ 2 h 8"/>
                  <a:gd name="T10" fmla="*/ 2 w 9"/>
                  <a:gd name="T11" fmla="*/ 6 h 8"/>
                  <a:gd name="T12" fmla="*/ 2 w 9"/>
                  <a:gd name="T13" fmla="*/ 6 h 8"/>
                  <a:gd name="T14" fmla="*/ 6 w 9"/>
                  <a:gd name="T15" fmla="*/ 6 h 8"/>
                  <a:gd name="T16" fmla="*/ 7 w 9"/>
                  <a:gd name="T17" fmla="*/ 8 h 8"/>
                  <a:gd name="T18" fmla="*/ 9 w 9"/>
                  <a:gd name="T19" fmla="*/ 8 h 8"/>
                  <a:gd name="T20" fmla="*/ 5 w 9"/>
                  <a:gd name="T21" fmla="*/ 0 h 8"/>
                  <a:gd name="T22" fmla="*/ 3 w 9"/>
                  <a:gd name="T23" fmla="*/ 0 h 8"/>
                  <a:gd name="T24" fmla="*/ 0 w 9"/>
                  <a:gd name="T25" fmla="*/ 8 h 8"/>
                  <a:gd name="T26" fmla="*/ 2 w 9"/>
                  <a:gd name="T27" fmla="*/ 8 h 8"/>
                  <a:gd name="T28" fmla="*/ 2 w 9"/>
                  <a:gd name="T29"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 h="8">
                    <a:moveTo>
                      <a:pt x="4" y="2"/>
                    </a:moveTo>
                    <a:lnTo>
                      <a:pt x="4" y="2"/>
                    </a:lnTo>
                    <a:lnTo>
                      <a:pt x="5" y="5"/>
                    </a:lnTo>
                    <a:lnTo>
                      <a:pt x="3" y="5"/>
                    </a:lnTo>
                    <a:lnTo>
                      <a:pt x="4" y="2"/>
                    </a:lnTo>
                    <a:close/>
                    <a:moveTo>
                      <a:pt x="2" y="6"/>
                    </a:moveTo>
                    <a:lnTo>
                      <a:pt x="2" y="6"/>
                    </a:lnTo>
                    <a:lnTo>
                      <a:pt x="6" y="6"/>
                    </a:lnTo>
                    <a:lnTo>
                      <a:pt x="7" y="8"/>
                    </a:lnTo>
                    <a:lnTo>
                      <a:pt x="9" y="8"/>
                    </a:lnTo>
                    <a:lnTo>
                      <a:pt x="5" y="0"/>
                    </a:lnTo>
                    <a:lnTo>
                      <a:pt x="3" y="0"/>
                    </a:lnTo>
                    <a:lnTo>
                      <a:pt x="0" y="8"/>
                    </a:lnTo>
                    <a:lnTo>
                      <a:pt x="2" y="8"/>
                    </a:lnTo>
                    <a:lnTo>
                      <a:pt x="2" y="6"/>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8" name="Freeform 279"/>
              <p:cNvSpPr>
                <a:spLocks/>
              </p:cNvSpPr>
              <p:nvPr/>
            </p:nvSpPr>
            <p:spPr bwMode="auto">
              <a:xfrm>
                <a:off x="1465263" y="2286000"/>
                <a:ext cx="11113" cy="7938"/>
              </a:xfrm>
              <a:custGeom>
                <a:avLst/>
                <a:gdLst>
                  <a:gd name="T0" fmla="*/ 5 w 13"/>
                  <a:gd name="T1" fmla="*/ 8 h 8"/>
                  <a:gd name="T2" fmla="*/ 5 w 13"/>
                  <a:gd name="T3" fmla="*/ 8 h 8"/>
                  <a:gd name="T4" fmla="*/ 6 w 13"/>
                  <a:gd name="T5" fmla="*/ 2 h 8"/>
                  <a:gd name="T6" fmla="*/ 8 w 13"/>
                  <a:gd name="T7" fmla="*/ 8 h 8"/>
                  <a:gd name="T8" fmla="*/ 10 w 13"/>
                  <a:gd name="T9" fmla="*/ 8 h 8"/>
                  <a:gd name="T10" fmla="*/ 13 w 13"/>
                  <a:gd name="T11" fmla="*/ 0 h 8"/>
                  <a:gd name="T12" fmla="*/ 11 w 13"/>
                  <a:gd name="T13" fmla="*/ 0 h 8"/>
                  <a:gd name="T14" fmla="*/ 9 w 13"/>
                  <a:gd name="T15" fmla="*/ 6 h 8"/>
                  <a:gd name="T16" fmla="*/ 7 w 13"/>
                  <a:gd name="T17" fmla="*/ 0 h 8"/>
                  <a:gd name="T18" fmla="*/ 5 w 13"/>
                  <a:gd name="T19" fmla="*/ 0 h 8"/>
                  <a:gd name="T20" fmla="*/ 4 w 13"/>
                  <a:gd name="T21" fmla="*/ 6 h 8"/>
                  <a:gd name="T22" fmla="*/ 2 w 13"/>
                  <a:gd name="T23" fmla="*/ 0 h 8"/>
                  <a:gd name="T24" fmla="*/ 0 w 13"/>
                  <a:gd name="T25" fmla="*/ 0 h 8"/>
                  <a:gd name="T26" fmla="*/ 3 w 13"/>
                  <a:gd name="T27" fmla="*/ 8 h 8"/>
                  <a:gd name="T28" fmla="*/ 5 w 13"/>
                  <a:gd name="T29"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8">
                    <a:moveTo>
                      <a:pt x="5" y="8"/>
                    </a:moveTo>
                    <a:lnTo>
                      <a:pt x="5" y="8"/>
                    </a:lnTo>
                    <a:lnTo>
                      <a:pt x="6" y="2"/>
                    </a:lnTo>
                    <a:lnTo>
                      <a:pt x="8" y="8"/>
                    </a:lnTo>
                    <a:lnTo>
                      <a:pt x="10" y="8"/>
                    </a:lnTo>
                    <a:lnTo>
                      <a:pt x="13" y="0"/>
                    </a:lnTo>
                    <a:lnTo>
                      <a:pt x="11" y="0"/>
                    </a:lnTo>
                    <a:lnTo>
                      <a:pt x="9" y="6"/>
                    </a:lnTo>
                    <a:lnTo>
                      <a:pt x="7" y="0"/>
                    </a:lnTo>
                    <a:lnTo>
                      <a:pt x="5" y="0"/>
                    </a:lnTo>
                    <a:lnTo>
                      <a:pt x="4" y="6"/>
                    </a:lnTo>
                    <a:lnTo>
                      <a:pt x="2" y="0"/>
                    </a:lnTo>
                    <a:lnTo>
                      <a:pt x="0" y="0"/>
                    </a:lnTo>
                    <a:lnTo>
                      <a:pt x="3" y="8"/>
                    </a:lnTo>
                    <a:lnTo>
                      <a:pt x="5" y="8"/>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39" name="Freeform 280"/>
              <p:cNvSpPr>
                <a:spLocks/>
              </p:cNvSpPr>
              <p:nvPr/>
            </p:nvSpPr>
            <p:spPr bwMode="auto">
              <a:xfrm>
                <a:off x="1476376" y="2286000"/>
                <a:ext cx="7938" cy="7938"/>
              </a:xfrm>
              <a:custGeom>
                <a:avLst/>
                <a:gdLst>
                  <a:gd name="T0" fmla="*/ 4 w 7"/>
                  <a:gd name="T1" fmla="*/ 8 h 8"/>
                  <a:gd name="T2" fmla="*/ 4 w 7"/>
                  <a:gd name="T3" fmla="*/ 8 h 8"/>
                  <a:gd name="T4" fmla="*/ 7 w 7"/>
                  <a:gd name="T5" fmla="*/ 8 h 8"/>
                  <a:gd name="T6" fmla="*/ 7 w 7"/>
                  <a:gd name="T7" fmla="*/ 7 h 8"/>
                  <a:gd name="T8" fmla="*/ 4 w 7"/>
                  <a:gd name="T9" fmla="*/ 7 h 8"/>
                  <a:gd name="T10" fmla="*/ 2 w 7"/>
                  <a:gd name="T11" fmla="*/ 5 h 8"/>
                  <a:gd name="T12" fmla="*/ 7 w 7"/>
                  <a:gd name="T13" fmla="*/ 5 h 8"/>
                  <a:gd name="T14" fmla="*/ 7 w 7"/>
                  <a:gd name="T15" fmla="*/ 3 h 8"/>
                  <a:gd name="T16" fmla="*/ 2 w 7"/>
                  <a:gd name="T17" fmla="*/ 3 h 8"/>
                  <a:gd name="T18" fmla="*/ 4 w 7"/>
                  <a:gd name="T19" fmla="*/ 2 h 8"/>
                  <a:gd name="T20" fmla="*/ 7 w 7"/>
                  <a:gd name="T21" fmla="*/ 2 h 8"/>
                  <a:gd name="T22" fmla="*/ 7 w 7"/>
                  <a:gd name="T23" fmla="*/ 0 h 8"/>
                  <a:gd name="T24" fmla="*/ 4 w 7"/>
                  <a:gd name="T25" fmla="*/ 0 h 8"/>
                  <a:gd name="T26" fmla="*/ 0 w 7"/>
                  <a:gd name="T27" fmla="*/ 4 h 8"/>
                  <a:gd name="T28" fmla="*/ 2 w 7"/>
                  <a:gd name="T29" fmla="*/ 7 h 8"/>
                  <a:gd name="T30" fmla="*/ 4 w 7"/>
                  <a:gd name="T31"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 h="8">
                    <a:moveTo>
                      <a:pt x="4" y="8"/>
                    </a:moveTo>
                    <a:lnTo>
                      <a:pt x="4" y="8"/>
                    </a:lnTo>
                    <a:lnTo>
                      <a:pt x="7" y="8"/>
                    </a:lnTo>
                    <a:lnTo>
                      <a:pt x="7" y="7"/>
                    </a:lnTo>
                    <a:lnTo>
                      <a:pt x="4" y="7"/>
                    </a:lnTo>
                    <a:cubicBezTo>
                      <a:pt x="3" y="7"/>
                      <a:pt x="2" y="6"/>
                      <a:pt x="2" y="5"/>
                    </a:cubicBezTo>
                    <a:lnTo>
                      <a:pt x="7" y="5"/>
                    </a:lnTo>
                    <a:lnTo>
                      <a:pt x="7" y="3"/>
                    </a:lnTo>
                    <a:lnTo>
                      <a:pt x="2" y="3"/>
                    </a:lnTo>
                    <a:cubicBezTo>
                      <a:pt x="2" y="2"/>
                      <a:pt x="3" y="2"/>
                      <a:pt x="4" y="2"/>
                    </a:cubicBezTo>
                    <a:lnTo>
                      <a:pt x="7" y="2"/>
                    </a:lnTo>
                    <a:lnTo>
                      <a:pt x="7" y="0"/>
                    </a:lnTo>
                    <a:lnTo>
                      <a:pt x="4" y="0"/>
                    </a:lnTo>
                    <a:cubicBezTo>
                      <a:pt x="2" y="0"/>
                      <a:pt x="0" y="2"/>
                      <a:pt x="0" y="4"/>
                    </a:cubicBezTo>
                    <a:cubicBezTo>
                      <a:pt x="0" y="6"/>
                      <a:pt x="1" y="7"/>
                      <a:pt x="2" y="7"/>
                    </a:cubicBezTo>
                    <a:cubicBezTo>
                      <a:pt x="2" y="8"/>
                      <a:pt x="3" y="8"/>
                      <a:pt x="4" y="8"/>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0" name="Freeform 281"/>
              <p:cNvSpPr>
                <a:spLocks/>
              </p:cNvSpPr>
              <p:nvPr/>
            </p:nvSpPr>
            <p:spPr bwMode="auto">
              <a:xfrm>
                <a:off x="1485901" y="2286000"/>
                <a:ext cx="1588" cy="7938"/>
              </a:xfrm>
              <a:custGeom>
                <a:avLst/>
                <a:gdLst>
                  <a:gd name="T0" fmla="*/ 2 w 2"/>
                  <a:gd name="T1" fmla="*/ 0 h 8"/>
                  <a:gd name="T2" fmla="*/ 2 w 2"/>
                  <a:gd name="T3" fmla="*/ 0 h 8"/>
                  <a:gd name="T4" fmla="*/ 0 w 2"/>
                  <a:gd name="T5" fmla="*/ 0 h 8"/>
                  <a:gd name="T6" fmla="*/ 0 w 2"/>
                  <a:gd name="T7" fmla="*/ 8 h 8"/>
                  <a:gd name="T8" fmla="*/ 2 w 2"/>
                  <a:gd name="T9" fmla="*/ 8 h 8"/>
                  <a:gd name="T10" fmla="*/ 2 w 2"/>
                  <a:gd name="T11" fmla="*/ 0 h 8"/>
                </a:gdLst>
                <a:ahLst/>
                <a:cxnLst>
                  <a:cxn ang="0">
                    <a:pos x="T0" y="T1"/>
                  </a:cxn>
                  <a:cxn ang="0">
                    <a:pos x="T2" y="T3"/>
                  </a:cxn>
                  <a:cxn ang="0">
                    <a:pos x="T4" y="T5"/>
                  </a:cxn>
                  <a:cxn ang="0">
                    <a:pos x="T6" y="T7"/>
                  </a:cxn>
                  <a:cxn ang="0">
                    <a:pos x="T8" y="T9"/>
                  </a:cxn>
                  <a:cxn ang="0">
                    <a:pos x="T10" y="T11"/>
                  </a:cxn>
                </a:cxnLst>
                <a:rect l="0" t="0" r="r" b="b"/>
                <a:pathLst>
                  <a:path w="2" h="8">
                    <a:moveTo>
                      <a:pt x="2" y="0"/>
                    </a:moveTo>
                    <a:lnTo>
                      <a:pt x="2" y="0"/>
                    </a:lnTo>
                    <a:lnTo>
                      <a:pt x="0" y="0"/>
                    </a:lnTo>
                    <a:lnTo>
                      <a:pt x="0" y="8"/>
                    </a:lnTo>
                    <a:lnTo>
                      <a:pt x="2" y="8"/>
                    </a:lnTo>
                    <a:lnTo>
                      <a:pt x="2"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1" name="Freeform 282"/>
              <p:cNvSpPr>
                <a:spLocks/>
              </p:cNvSpPr>
              <p:nvPr/>
            </p:nvSpPr>
            <p:spPr bwMode="auto">
              <a:xfrm>
                <a:off x="1414463" y="2282825"/>
                <a:ext cx="7938" cy="9525"/>
              </a:xfrm>
              <a:custGeom>
                <a:avLst/>
                <a:gdLst>
                  <a:gd name="T0" fmla="*/ 9 w 9"/>
                  <a:gd name="T1" fmla="*/ 11 h 11"/>
                  <a:gd name="T2" fmla="*/ 9 w 9"/>
                  <a:gd name="T3" fmla="*/ 11 h 11"/>
                  <a:gd name="T4" fmla="*/ 9 w 9"/>
                  <a:gd name="T5" fmla="*/ 11 h 11"/>
                  <a:gd name="T6" fmla="*/ 9 w 9"/>
                  <a:gd name="T7" fmla="*/ 11 h 11"/>
                  <a:gd name="T8" fmla="*/ 2 w 9"/>
                  <a:gd name="T9" fmla="*/ 0 h 11"/>
                  <a:gd name="T10" fmla="*/ 0 w 9"/>
                  <a:gd name="T11" fmla="*/ 4 h 11"/>
                  <a:gd name="T12" fmla="*/ 1 w 9"/>
                  <a:gd name="T13" fmla="*/ 7 h 11"/>
                  <a:gd name="T14" fmla="*/ 9 w 9"/>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1">
                    <a:moveTo>
                      <a:pt x="9" y="11"/>
                    </a:moveTo>
                    <a:lnTo>
                      <a:pt x="9" y="11"/>
                    </a:lnTo>
                    <a:cubicBezTo>
                      <a:pt x="9" y="11"/>
                      <a:pt x="9" y="11"/>
                      <a:pt x="9" y="11"/>
                    </a:cubicBezTo>
                    <a:lnTo>
                      <a:pt x="9" y="11"/>
                    </a:lnTo>
                    <a:cubicBezTo>
                      <a:pt x="6" y="5"/>
                      <a:pt x="2" y="0"/>
                      <a:pt x="2" y="0"/>
                    </a:cubicBezTo>
                    <a:cubicBezTo>
                      <a:pt x="2" y="0"/>
                      <a:pt x="0" y="2"/>
                      <a:pt x="0" y="4"/>
                    </a:cubicBezTo>
                    <a:cubicBezTo>
                      <a:pt x="0" y="6"/>
                      <a:pt x="1" y="7"/>
                      <a:pt x="1" y="7"/>
                    </a:cubicBezTo>
                    <a:cubicBezTo>
                      <a:pt x="3" y="8"/>
                      <a:pt x="8" y="11"/>
                      <a:pt x="9"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2" name="Freeform 283"/>
              <p:cNvSpPr>
                <a:spLocks/>
              </p:cNvSpPr>
              <p:nvPr/>
            </p:nvSpPr>
            <p:spPr bwMode="auto">
              <a:xfrm>
                <a:off x="1414463" y="2293938"/>
                <a:ext cx="7938" cy="3175"/>
              </a:xfrm>
              <a:custGeom>
                <a:avLst/>
                <a:gdLst>
                  <a:gd name="T0" fmla="*/ 0 w 7"/>
                  <a:gd name="T1" fmla="*/ 0 h 2"/>
                  <a:gd name="T2" fmla="*/ 0 w 7"/>
                  <a:gd name="T3" fmla="*/ 0 h 2"/>
                  <a:gd name="T4" fmla="*/ 3 w 7"/>
                  <a:gd name="T5" fmla="*/ 2 h 2"/>
                  <a:gd name="T6" fmla="*/ 7 w 7"/>
                  <a:gd name="T7" fmla="*/ 0 h 2"/>
                  <a:gd name="T8" fmla="*/ 7 w 7"/>
                  <a:gd name="T9" fmla="*/ 0 h 2"/>
                  <a:gd name="T10" fmla="*/ 7 w 7"/>
                  <a:gd name="T11" fmla="*/ 0 h 2"/>
                  <a:gd name="T12" fmla="*/ 0 w 7"/>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0" y="0"/>
                    </a:moveTo>
                    <a:lnTo>
                      <a:pt x="0" y="0"/>
                    </a:lnTo>
                    <a:cubicBezTo>
                      <a:pt x="1" y="1"/>
                      <a:pt x="2" y="2"/>
                      <a:pt x="3" y="2"/>
                    </a:cubicBezTo>
                    <a:cubicBezTo>
                      <a:pt x="4" y="2"/>
                      <a:pt x="7" y="0"/>
                      <a:pt x="7" y="0"/>
                    </a:cubicBezTo>
                    <a:cubicBezTo>
                      <a:pt x="7" y="0"/>
                      <a:pt x="7" y="0"/>
                      <a:pt x="7" y="0"/>
                    </a:cubicBezTo>
                    <a:cubicBezTo>
                      <a:pt x="7" y="0"/>
                      <a:pt x="7" y="0"/>
                      <a:pt x="7"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3" name="Freeform 284"/>
              <p:cNvSpPr>
                <a:spLocks/>
              </p:cNvSpPr>
              <p:nvPr/>
            </p:nvSpPr>
            <p:spPr bwMode="auto">
              <a:xfrm>
                <a:off x="1412876" y="2287588"/>
                <a:ext cx="9525" cy="6350"/>
              </a:xfrm>
              <a:custGeom>
                <a:avLst/>
                <a:gdLst>
                  <a:gd name="T0" fmla="*/ 3 w 10"/>
                  <a:gd name="T1" fmla="*/ 6 h 6"/>
                  <a:gd name="T2" fmla="*/ 3 w 10"/>
                  <a:gd name="T3" fmla="*/ 6 h 6"/>
                  <a:gd name="T4" fmla="*/ 5 w 10"/>
                  <a:gd name="T5" fmla="*/ 6 h 6"/>
                  <a:gd name="T6" fmla="*/ 10 w 10"/>
                  <a:gd name="T7" fmla="*/ 6 h 6"/>
                  <a:gd name="T8" fmla="*/ 10 w 10"/>
                  <a:gd name="T9" fmla="*/ 6 h 6"/>
                  <a:gd name="T10" fmla="*/ 10 w 10"/>
                  <a:gd name="T11" fmla="*/ 6 h 6"/>
                  <a:gd name="T12" fmla="*/ 1 w 10"/>
                  <a:gd name="T13" fmla="*/ 0 h 6"/>
                  <a:gd name="T14" fmla="*/ 1 w 10"/>
                  <a:gd name="T15" fmla="*/ 4 h 6"/>
                  <a:gd name="T16" fmla="*/ 3 w 10"/>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6">
                    <a:moveTo>
                      <a:pt x="3" y="6"/>
                    </a:moveTo>
                    <a:lnTo>
                      <a:pt x="3" y="6"/>
                    </a:lnTo>
                    <a:cubicBezTo>
                      <a:pt x="4" y="6"/>
                      <a:pt x="5" y="6"/>
                      <a:pt x="5" y="6"/>
                    </a:cubicBezTo>
                    <a:cubicBezTo>
                      <a:pt x="5" y="6"/>
                      <a:pt x="9" y="6"/>
                      <a:pt x="10" y="6"/>
                    </a:cubicBezTo>
                    <a:lnTo>
                      <a:pt x="10" y="6"/>
                    </a:lnTo>
                    <a:cubicBezTo>
                      <a:pt x="10" y="6"/>
                      <a:pt x="10" y="6"/>
                      <a:pt x="10" y="6"/>
                    </a:cubicBezTo>
                    <a:cubicBezTo>
                      <a:pt x="7" y="4"/>
                      <a:pt x="1" y="0"/>
                      <a:pt x="1" y="0"/>
                    </a:cubicBezTo>
                    <a:cubicBezTo>
                      <a:pt x="0" y="2"/>
                      <a:pt x="1" y="4"/>
                      <a:pt x="1" y="4"/>
                    </a:cubicBezTo>
                    <a:cubicBezTo>
                      <a:pt x="2" y="5"/>
                      <a:pt x="3" y="6"/>
                      <a:pt x="3" y="6"/>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4" name="Freeform 285"/>
              <p:cNvSpPr>
                <a:spLocks/>
              </p:cNvSpPr>
              <p:nvPr/>
            </p:nvSpPr>
            <p:spPr bwMode="auto">
              <a:xfrm>
                <a:off x="1419226" y="2279650"/>
                <a:ext cx="4763" cy="12700"/>
              </a:xfrm>
              <a:custGeom>
                <a:avLst/>
                <a:gdLst>
                  <a:gd name="T0" fmla="*/ 5 w 6"/>
                  <a:gd name="T1" fmla="*/ 14 h 14"/>
                  <a:gd name="T2" fmla="*/ 5 w 6"/>
                  <a:gd name="T3" fmla="*/ 14 h 14"/>
                  <a:gd name="T4" fmla="*/ 5 w 6"/>
                  <a:gd name="T5" fmla="*/ 14 h 14"/>
                  <a:gd name="T6" fmla="*/ 5 w 6"/>
                  <a:gd name="T7" fmla="*/ 13 h 14"/>
                  <a:gd name="T8" fmla="*/ 4 w 6"/>
                  <a:gd name="T9" fmla="*/ 0 h 14"/>
                  <a:gd name="T10" fmla="*/ 3 w 6"/>
                  <a:gd name="T11" fmla="*/ 0 h 14"/>
                  <a:gd name="T12" fmla="*/ 0 w 6"/>
                  <a:gd name="T13" fmla="*/ 2 h 14"/>
                  <a:gd name="T14" fmla="*/ 0 w 6"/>
                  <a:gd name="T15" fmla="*/ 5 h 14"/>
                  <a:gd name="T16" fmla="*/ 5 w 6"/>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4">
                    <a:moveTo>
                      <a:pt x="5" y="14"/>
                    </a:moveTo>
                    <a:lnTo>
                      <a:pt x="5" y="14"/>
                    </a:lnTo>
                    <a:cubicBezTo>
                      <a:pt x="5" y="14"/>
                      <a:pt x="5" y="14"/>
                      <a:pt x="5" y="14"/>
                    </a:cubicBezTo>
                    <a:cubicBezTo>
                      <a:pt x="5" y="14"/>
                      <a:pt x="5" y="13"/>
                      <a:pt x="5" y="13"/>
                    </a:cubicBezTo>
                    <a:cubicBezTo>
                      <a:pt x="6" y="3"/>
                      <a:pt x="4" y="0"/>
                      <a:pt x="4" y="0"/>
                    </a:cubicBezTo>
                    <a:cubicBezTo>
                      <a:pt x="4" y="0"/>
                      <a:pt x="3" y="0"/>
                      <a:pt x="3" y="0"/>
                    </a:cubicBezTo>
                    <a:cubicBezTo>
                      <a:pt x="1" y="1"/>
                      <a:pt x="0" y="2"/>
                      <a:pt x="0" y="2"/>
                    </a:cubicBezTo>
                    <a:cubicBezTo>
                      <a:pt x="0" y="3"/>
                      <a:pt x="0" y="5"/>
                      <a:pt x="0" y="5"/>
                    </a:cubicBezTo>
                    <a:cubicBezTo>
                      <a:pt x="1" y="8"/>
                      <a:pt x="4" y="12"/>
                      <a:pt x="5" y="1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5" name="Freeform 286"/>
              <p:cNvSpPr>
                <a:spLocks/>
              </p:cNvSpPr>
              <p:nvPr/>
            </p:nvSpPr>
            <p:spPr bwMode="auto">
              <a:xfrm>
                <a:off x="1423988" y="2279650"/>
                <a:ext cx="6350" cy="12700"/>
              </a:xfrm>
              <a:custGeom>
                <a:avLst/>
                <a:gdLst>
                  <a:gd name="T0" fmla="*/ 1 w 7"/>
                  <a:gd name="T1" fmla="*/ 14 h 14"/>
                  <a:gd name="T2" fmla="*/ 1 w 7"/>
                  <a:gd name="T3" fmla="*/ 14 h 14"/>
                  <a:gd name="T4" fmla="*/ 2 w 7"/>
                  <a:gd name="T5" fmla="*/ 13 h 14"/>
                  <a:gd name="T6" fmla="*/ 6 w 7"/>
                  <a:gd name="T7" fmla="*/ 5 h 14"/>
                  <a:gd name="T8" fmla="*/ 6 w 7"/>
                  <a:gd name="T9" fmla="*/ 2 h 14"/>
                  <a:gd name="T10" fmla="*/ 4 w 7"/>
                  <a:gd name="T11" fmla="*/ 0 h 14"/>
                  <a:gd name="T12" fmla="*/ 3 w 7"/>
                  <a:gd name="T13" fmla="*/ 0 h 14"/>
                  <a:gd name="T14" fmla="*/ 1 w 7"/>
                  <a:gd name="T15" fmla="*/ 13 h 14"/>
                  <a:gd name="T16" fmla="*/ 1 w 7"/>
                  <a:gd name="T1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4">
                    <a:moveTo>
                      <a:pt x="1" y="14"/>
                    </a:moveTo>
                    <a:lnTo>
                      <a:pt x="1" y="14"/>
                    </a:lnTo>
                    <a:cubicBezTo>
                      <a:pt x="2" y="14"/>
                      <a:pt x="2" y="13"/>
                      <a:pt x="2" y="13"/>
                    </a:cubicBezTo>
                    <a:cubicBezTo>
                      <a:pt x="2" y="12"/>
                      <a:pt x="6" y="8"/>
                      <a:pt x="6" y="5"/>
                    </a:cubicBezTo>
                    <a:cubicBezTo>
                      <a:pt x="6" y="5"/>
                      <a:pt x="7" y="3"/>
                      <a:pt x="6" y="2"/>
                    </a:cubicBezTo>
                    <a:cubicBezTo>
                      <a:pt x="6" y="2"/>
                      <a:pt x="6" y="0"/>
                      <a:pt x="4" y="0"/>
                    </a:cubicBezTo>
                    <a:cubicBezTo>
                      <a:pt x="4" y="0"/>
                      <a:pt x="3" y="0"/>
                      <a:pt x="3" y="0"/>
                    </a:cubicBezTo>
                    <a:cubicBezTo>
                      <a:pt x="3" y="0"/>
                      <a:pt x="0" y="3"/>
                      <a:pt x="1" y="13"/>
                    </a:cubicBezTo>
                    <a:cubicBezTo>
                      <a:pt x="1" y="14"/>
                      <a:pt x="1" y="14"/>
                      <a:pt x="1" y="1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6" name="Freeform 287"/>
              <p:cNvSpPr>
                <a:spLocks/>
              </p:cNvSpPr>
              <p:nvPr/>
            </p:nvSpPr>
            <p:spPr bwMode="auto">
              <a:xfrm>
                <a:off x="1427163" y="2293938"/>
                <a:ext cx="6350" cy="3175"/>
              </a:xfrm>
              <a:custGeom>
                <a:avLst/>
                <a:gdLst>
                  <a:gd name="T0" fmla="*/ 0 w 8"/>
                  <a:gd name="T1" fmla="*/ 0 h 3"/>
                  <a:gd name="T2" fmla="*/ 0 w 8"/>
                  <a:gd name="T3" fmla="*/ 0 h 3"/>
                  <a:gd name="T4" fmla="*/ 0 w 8"/>
                  <a:gd name="T5" fmla="*/ 0 h 3"/>
                  <a:gd name="T6" fmla="*/ 4 w 8"/>
                  <a:gd name="T7" fmla="*/ 2 h 3"/>
                  <a:gd name="T8" fmla="*/ 8 w 8"/>
                  <a:gd name="T9" fmla="*/ 0 h 3"/>
                  <a:gd name="T10" fmla="*/ 0 w 8"/>
                  <a:gd name="T11" fmla="*/ 0 h 3"/>
                  <a:gd name="T12" fmla="*/ 0 w 8"/>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8" h="3">
                    <a:moveTo>
                      <a:pt x="0" y="0"/>
                    </a:moveTo>
                    <a:lnTo>
                      <a:pt x="0" y="0"/>
                    </a:lnTo>
                    <a:cubicBezTo>
                      <a:pt x="0" y="0"/>
                      <a:pt x="0" y="0"/>
                      <a:pt x="0" y="0"/>
                    </a:cubicBezTo>
                    <a:cubicBezTo>
                      <a:pt x="1" y="0"/>
                      <a:pt x="3" y="2"/>
                      <a:pt x="4" y="2"/>
                    </a:cubicBezTo>
                    <a:cubicBezTo>
                      <a:pt x="4" y="2"/>
                      <a:pt x="6" y="3"/>
                      <a:pt x="8"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7" name="Freeform 288"/>
              <p:cNvSpPr>
                <a:spLocks/>
              </p:cNvSpPr>
              <p:nvPr/>
            </p:nvSpPr>
            <p:spPr bwMode="auto">
              <a:xfrm>
                <a:off x="1427163" y="2287588"/>
                <a:ext cx="9525" cy="6350"/>
              </a:xfrm>
              <a:custGeom>
                <a:avLst/>
                <a:gdLst>
                  <a:gd name="T0" fmla="*/ 0 w 10"/>
                  <a:gd name="T1" fmla="*/ 6 h 6"/>
                  <a:gd name="T2" fmla="*/ 0 w 10"/>
                  <a:gd name="T3" fmla="*/ 6 h 6"/>
                  <a:gd name="T4" fmla="*/ 0 w 10"/>
                  <a:gd name="T5" fmla="*/ 6 h 6"/>
                  <a:gd name="T6" fmla="*/ 6 w 10"/>
                  <a:gd name="T7" fmla="*/ 6 h 6"/>
                  <a:gd name="T8" fmla="*/ 7 w 10"/>
                  <a:gd name="T9" fmla="*/ 6 h 6"/>
                  <a:gd name="T10" fmla="*/ 10 w 10"/>
                  <a:gd name="T11" fmla="*/ 3 h 6"/>
                  <a:gd name="T12" fmla="*/ 10 w 10"/>
                  <a:gd name="T13" fmla="*/ 0 h 6"/>
                  <a:gd name="T14" fmla="*/ 0 w 10"/>
                  <a:gd name="T15" fmla="*/ 6 h 6"/>
                  <a:gd name="T16" fmla="*/ 0 w 10"/>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6">
                    <a:moveTo>
                      <a:pt x="0" y="6"/>
                    </a:moveTo>
                    <a:lnTo>
                      <a:pt x="0" y="6"/>
                    </a:lnTo>
                    <a:cubicBezTo>
                      <a:pt x="0" y="6"/>
                      <a:pt x="0" y="6"/>
                      <a:pt x="0" y="6"/>
                    </a:cubicBezTo>
                    <a:lnTo>
                      <a:pt x="6" y="6"/>
                    </a:lnTo>
                    <a:cubicBezTo>
                      <a:pt x="6" y="6"/>
                      <a:pt x="6" y="6"/>
                      <a:pt x="7" y="6"/>
                    </a:cubicBezTo>
                    <a:cubicBezTo>
                      <a:pt x="7" y="6"/>
                      <a:pt x="9" y="5"/>
                      <a:pt x="10" y="3"/>
                    </a:cubicBezTo>
                    <a:cubicBezTo>
                      <a:pt x="10" y="3"/>
                      <a:pt x="10" y="2"/>
                      <a:pt x="10" y="0"/>
                    </a:cubicBezTo>
                    <a:cubicBezTo>
                      <a:pt x="10" y="0"/>
                      <a:pt x="3" y="4"/>
                      <a:pt x="0" y="6"/>
                    </a:cubicBezTo>
                    <a:cubicBezTo>
                      <a:pt x="0" y="6"/>
                      <a:pt x="0" y="6"/>
                      <a:pt x="0" y="6"/>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8" name="Freeform 289"/>
              <p:cNvSpPr>
                <a:spLocks/>
              </p:cNvSpPr>
              <p:nvPr/>
            </p:nvSpPr>
            <p:spPr bwMode="auto">
              <a:xfrm>
                <a:off x="1425576" y="2282825"/>
                <a:ext cx="7938" cy="9525"/>
              </a:xfrm>
              <a:custGeom>
                <a:avLst/>
                <a:gdLst>
                  <a:gd name="T0" fmla="*/ 0 w 9"/>
                  <a:gd name="T1" fmla="*/ 11 h 11"/>
                  <a:gd name="T2" fmla="*/ 0 w 9"/>
                  <a:gd name="T3" fmla="*/ 11 h 11"/>
                  <a:gd name="T4" fmla="*/ 1 w 9"/>
                  <a:gd name="T5" fmla="*/ 11 h 11"/>
                  <a:gd name="T6" fmla="*/ 8 w 9"/>
                  <a:gd name="T7" fmla="*/ 7 h 11"/>
                  <a:gd name="T8" fmla="*/ 9 w 9"/>
                  <a:gd name="T9" fmla="*/ 4 h 11"/>
                  <a:gd name="T10" fmla="*/ 7 w 9"/>
                  <a:gd name="T11" fmla="*/ 0 h 11"/>
                  <a:gd name="T12" fmla="*/ 0 w 9"/>
                  <a:gd name="T13" fmla="*/ 11 h 11"/>
                  <a:gd name="T14" fmla="*/ 0 w 9"/>
                  <a:gd name="T15" fmla="*/ 1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1">
                    <a:moveTo>
                      <a:pt x="0" y="11"/>
                    </a:moveTo>
                    <a:lnTo>
                      <a:pt x="0" y="11"/>
                    </a:lnTo>
                    <a:cubicBezTo>
                      <a:pt x="0" y="11"/>
                      <a:pt x="1" y="11"/>
                      <a:pt x="1" y="11"/>
                    </a:cubicBezTo>
                    <a:cubicBezTo>
                      <a:pt x="2" y="11"/>
                      <a:pt x="6" y="8"/>
                      <a:pt x="8" y="7"/>
                    </a:cubicBezTo>
                    <a:cubicBezTo>
                      <a:pt x="8" y="7"/>
                      <a:pt x="9" y="6"/>
                      <a:pt x="9" y="4"/>
                    </a:cubicBezTo>
                    <a:cubicBezTo>
                      <a:pt x="9" y="2"/>
                      <a:pt x="7" y="0"/>
                      <a:pt x="7" y="0"/>
                    </a:cubicBezTo>
                    <a:cubicBezTo>
                      <a:pt x="7" y="0"/>
                      <a:pt x="3" y="5"/>
                      <a:pt x="0" y="11"/>
                    </a:cubicBezTo>
                    <a:cubicBezTo>
                      <a:pt x="0" y="11"/>
                      <a:pt x="0" y="11"/>
                      <a:pt x="0" y="1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49" name="Freeform 290"/>
              <p:cNvSpPr>
                <a:spLocks/>
              </p:cNvSpPr>
              <p:nvPr/>
            </p:nvSpPr>
            <p:spPr bwMode="auto">
              <a:xfrm>
                <a:off x="1508126" y="2366963"/>
                <a:ext cx="1588" cy="1588"/>
              </a:xfrm>
              <a:custGeom>
                <a:avLst/>
                <a:gdLst>
                  <a:gd name="T0" fmla="*/ 0 w 2"/>
                  <a:gd name="T1" fmla="*/ 1 h 3"/>
                  <a:gd name="T2" fmla="*/ 0 w 2"/>
                  <a:gd name="T3" fmla="*/ 1 h 3"/>
                  <a:gd name="T4" fmla="*/ 2 w 2"/>
                  <a:gd name="T5" fmla="*/ 1 h 3"/>
                  <a:gd name="T6" fmla="*/ 2 w 2"/>
                  <a:gd name="T7" fmla="*/ 3 h 3"/>
                  <a:gd name="T8" fmla="*/ 2 w 2"/>
                  <a:gd name="T9" fmla="*/ 3 h 3"/>
                  <a:gd name="T10" fmla="*/ 2 w 2"/>
                  <a:gd name="T11" fmla="*/ 0 h 3"/>
                  <a:gd name="T12" fmla="*/ 2 w 2"/>
                  <a:gd name="T13" fmla="*/ 0 h 3"/>
                  <a:gd name="T14" fmla="*/ 2 w 2"/>
                  <a:gd name="T15" fmla="*/ 1 h 3"/>
                  <a:gd name="T16" fmla="*/ 0 w 2"/>
                  <a:gd name="T17" fmla="*/ 1 h 3"/>
                  <a:gd name="T18" fmla="*/ 0 w 2"/>
                  <a:gd name="T19" fmla="*/ 0 h 3"/>
                  <a:gd name="T20" fmla="*/ 0 w 2"/>
                  <a:gd name="T21" fmla="*/ 0 h 3"/>
                  <a:gd name="T22" fmla="*/ 0 w 2"/>
                  <a:gd name="T23" fmla="*/ 3 h 3"/>
                  <a:gd name="T24" fmla="*/ 0 w 2"/>
                  <a:gd name="T25" fmla="*/ 3 h 3"/>
                  <a:gd name="T26" fmla="*/ 0 w 2"/>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0" y="1"/>
                    </a:moveTo>
                    <a:lnTo>
                      <a:pt x="0" y="1"/>
                    </a:lnTo>
                    <a:lnTo>
                      <a:pt x="2" y="1"/>
                    </a:lnTo>
                    <a:lnTo>
                      <a:pt x="2" y="3"/>
                    </a:lnTo>
                    <a:lnTo>
                      <a:pt x="2" y="3"/>
                    </a:lnTo>
                    <a:lnTo>
                      <a:pt x="2" y="0"/>
                    </a:lnTo>
                    <a:lnTo>
                      <a:pt x="2" y="0"/>
                    </a:lnTo>
                    <a:lnTo>
                      <a:pt x="2" y="1"/>
                    </a:lnTo>
                    <a:lnTo>
                      <a:pt x="0" y="1"/>
                    </a:lnTo>
                    <a:lnTo>
                      <a:pt x="0" y="0"/>
                    </a:lnTo>
                    <a:lnTo>
                      <a:pt x="0" y="0"/>
                    </a:lnTo>
                    <a:lnTo>
                      <a:pt x="0" y="3"/>
                    </a:lnTo>
                    <a:lnTo>
                      <a:pt x="0" y="3"/>
                    </a:lnTo>
                    <a:lnTo>
                      <a:pt x="0"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0" name="Freeform 291"/>
              <p:cNvSpPr>
                <a:spLocks/>
              </p:cNvSpPr>
              <p:nvPr/>
            </p:nvSpPr>
            <p:spPr bwMode="auto">
              <a:xfrm>
                <a:off x="1511301" y="2366963"/>
                <a:ext cx="1588" cy="1588"/>
              </a:xfrm>
              <a:custGeom>
                <a:avLst/>
                <a:gdLst>
                  <a:gd name="T0" fmla="*/ 1 w 3"/>
                  <a:gd name="T1" fmla="*/ 3 h 3"/>
                  <a:gd name="T2" fmla="*/ 1 w 3"/>
                  <a:gd name="T3" fmla="*/ 3 h 3"/>
                  <a:gd name="T4" fmla="*/ 3 w 3"/>
                  <a:gd name="T5" fmla="*/ 2 h 3"/>
                  <a:gd name="T6" fmla="*/ 3 w 3"/>
                  <a:gd name="T7" fmla="*/ 2 h 3"/>
                  <a:gd name="T8" fmla="*/ 3 w 3"/>
                  <a:gd name="T9" fmla="*/ 0 h 3"/>
                  <a:gd name="T10" fmla="*/ 2 w 3"/>
                  <a:gd name="T11" fmla="*/ 0 h 3"/>
                  <a:gd name="T12" fmla="*/ 2 w 3"/>
                  <a:gd name="T13" fmla="*/ 2 h 3"/>
                  <a:gd name="T14" fmla="*/ 1 w 3"/>
                  <a:gd name="T15" fmla="*/ 2 h 3"/>
                  <a:gd name="T16" fmla="*/ 1 w 3"/>
                  <a:gd name="T17" fmla="*/ 2 h 3"/>
                  <a:gd name="T18" fmla="*/ 1 w 3"/>
                  <a:gd name="T19" fmla="*/ 0 h 3"/>
                  <a:gd name="T20" fmla="*/ 0 w 3"/>
                  <a:gd name="T21" fmla="*/ 0 h 3"/>
                  <a:gd name="T22" fmla="*/ 0 w 3"/>
                  <a:gd name="T23" fmla="*/ 2 h 3"/>
                  <a:gd name="T24" fmla="*/ 0 w 3"/>
                  <a:gd name="T25" fmla="*/ 2 h 3"/>
                  <a:gd name="T26" fmla="*/ 1 w 3"/>
                  <a:gd name="T2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1" y="3"/>
                    </a:moveTo>
                    <a:lnTo>
                      <a:pt x="1" y="3"/>
                    </a:lnTo>
                    <a:cubicBezTo>
                      <a:pt x="2" y="3"/>
                      <a:pt x="2" y="3"/>
                      <a:pt x="3" y="2"/>
                    </a:cubicBezTo>
                    <a:cubicBezTo>
                      <a:pt x="3" y="2"/>
                      <a:pt x="3" y="2"/>
                      <a:pt x="3" y="2"/>
                    </a:cubicBezTo>
                    <a:lnTo>
                      <a:pt x="3" y="0"/>
                    </a:lnTo>
                    <a:lnTo>
                      <a:pt x="2" y="0"/>
                    </a:lnTo>
                    <a:lnTo>
                      <a:pt x="2" y="2"/>
                    </a:lnTo>
                    <a:cubicBezTo>
                      <a:pt x="2" y="2"/>
                      <a:pt x="2" y="2"/>
                      <a:pt x="1" y="2"/>
                    </a:cubicBezTo>
                    <a:cubicBezTo>
                      <a:pt x="1" y="2"/>
                      <a:pt x="1" y="2"/>
                      <a:pt x="1" y="2"/>
                    </a:cubicBezTo>
                    <a:lnTo>
                      <a:pt x="1" y="0"/>
                    </a:lnTo>
                    <a:lnTo>
                      <a:pt x="0" y="0"/>
                    </a:lnTo>
                    <a:lnTo>
                      <a:pt x="0" y="2"/>
                    </a:lnTo>
                    <a:cubicBezTo>
                      <a:pt x="0" y="2"/>
                      <a:pt x="0" y="2"/>
                      <a:pt x="0" y="2"/>
                    </a:cubicBezTo>
                    <a:cubicBezTo>
                      <a:pt x="0" y="3"/>
                      <a:pt x="1" y="3"/>
                      <a:pt x="1"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1" name="Freeform 292"/>
              <p:cNvSpPr>
                <a:spLocks noEditPoints="1"/>
              </p:cNvSpPr>
              <p:nvPr/>
            </p:nvSpPr>
            <p:spPr bwMode="auto">
              <a:xfrm>
                <a:off x="1512888" y="2366963"/>
                <a:ext cx="3175" cy="1588"/>
              </a:xfrm>
              <a:custGeom>
                <a:avLst/>
                <a:gdLst>
                  <a:gd name="T0" fmla="*/ 2 w 3"/>
                  <a:gd name="T1" fmla="*/ 0 h 3"/>
                  <a:gd name="T2" fmla="*/ 2 w 3"/>
                  <a:gd name="T3" fmla="*/ 0 h 3"/>
                  <a:gd name="T4" fmla="*/ 2 w 3"/>
                  <a:gd name="T5" fmla="*/ 2 h 3"/>
                  <a:gd name="T6" fmla="*/ 1 w 3"/>
                  <a:gd name="T7" fmla="*/ 2 h 3"/>
                  <a:gd name="T8" fmla="*/ 2 w 3"/>
                  <a:gd name="T9" fmla="*/ 0 h 3"/>
                  <a:gd name="T10" fmla="*/ 1 w 3"/>
                  <a:gd name="T11" fmla="*/ 2 h 3"/>
                  <a:gd name="T12" fmla="*/ 1 w 3"/>
                  <a:gd name="T13" fmla="*/ 2 h 3"/>
                  <a:gd name="T14" fmla="*/ 2 w 3"/>
                  <a:gd name="T15" fmla="*/ 2 h 3"/>
                  <a:gd name="T16" fmla="*/ 3 w 3"/>
                  <a:gd name="T17" fmla="*/ 3 h 3"/>
                  <a:gd name="T18" fmla="*/ 3 w 3"/>
                  <a:gd name="T19" fmla="*/ 3 h 3"/>
                  <a:gd name="T20" fmla="*/ 2 w 3"/>
                  <a:gd name="T21" fmla="*/ 0 h 3"/>
                  <a:gd name="T22" fmla="*/ 1 w 3"/>
                  <a:gd name="T23" fmla="*/ 0 h 3"/>
                  <a:gd name="T24" fmla="*/ 0 w 3"/>
                  <a:gd name="T25" fmla="*/ 3 h 3"/>
                  <a:gd name="T26" fmla="*/ 1 w 3"/>
                  <a:gd name="T27" fmla="*/ 3 h 3"/>
                  <a:gd name="T28" fmla="*/ 1 w 3"/>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2" y="0"/>
                    </a:moveTo>
                    <a:lnTo>
                      <a:pt x="2" y="0"/>
                    </a:lnTo>
                    <a:lnTo>
                      <a:pt x="2" y="2"/>
                    </a:lnTo>
                    <a:lnTo>
                      <a:pt x="1" y="2"/>
                    </a:lnTo>
                    <a:lnTo>
                      <a:pt x="2" y="0"/>
                    </a:lnTo>
                    <a:close/>
                    <a:moveTo>
                      <a:pt x="1" y="2"/>
                    </a:moveTo>
                    <a:lnTo>
                      <a:pt x="1" y="2"/>
                    </a:lnTo>
                    <a:lnTo>
                      <a:pt x="2" y="2"/>
                    </a:lnTo>
                    <a:lnTo>
                      <a:pt x="3" y="3"/>
                    </a:lnTo>
                    <a:lnTo>
                      <a:pt x="3" y="3"/>
                    </a:lnTo>
                    <a:lnTo>
                      <a:pt x="2" y="0"/>
                    </a:lnTo>
                    <a:lnTo>
                      <a:pt x="1" y="0"/>
                    </a:lnTo>
                    <a:lnTo>
                      <a:pt x="0" y="3"/>
                    </a:lnTo>
                    <a:lnTo>
                      <a:pt x="1" y="3"/>
                    </a:lnTo>
                    <a:lnTo>
                      <a:pt x="1"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2" name="Freeform 293"/>
              <p:cNvSpPr>
                <a:spLocks/>
              </p:cNvSpPr>
              <p:nvPr/>
            </p:nvSpPr>
            <p:spPr bwMode="auto">
              <a:xfrm>
                <a:off x="1516063" y="2366963"/>
                <a:ext cx="4763" cy="1588"/>
              </a:xfrm>
              <a:custGeom>
                <a:avLst/>
                <a:gdLst>
                  <a:gd name="T0" fmla="*/ 2 w 5"/>
                  <a:gd name="T1" fmla="*/ 3 h 3"/>
                  <a:gd name="T2" fmla="*/ 2 w 5"/>
                  <a:gd name="T3" fmla="*/ 3 h 3"/>
                  <a:gd name="T4" fmla="*/ 3 w 5"/>
                  <a:gd name="T5" fmla="*/ 0 h 3"/>
                  <a:gd name="T6" fmla="*/ 3 w 5"/>
                  <a:gd name="T7" fmla="*/ 3 h 3"/>
                  <a:gd name="T8" fmla="*/ 4 w 5"/>
                  <a:gd name="T9" fmla="*/ 3 h 3"/>
                  <a:gd name="T10" fmla="*/ 5 w 5"/>
                  <a:gd name="T11" fmla="*/ 0 h 3"/>
                  <a:gd name="T12" fmla="*/ 4 w 5"/>
                  <a:gd name="T13" fmla="*/ 0 h 3"/>
                  <a:gd name="T14" fmla="*/ 4 w 5"/>
                  <a:gd name="T15" fmla="*/ 2 h 3"/>
                  <a:gd name="T16" fmla="*/ 3 w 5"/>
                  <a:gd name="T17" fmla="*/ 0 h 3"/>
                  <a:gd name="T18" fmla="*/ 2 w 5"/>
                  <a:gd name="T19" fmla="*/ 0 h 3"/>
                  <a:gd name="T20" fmla="*/ 1 w 5"/>
                  <a:gd name="T21" fmla="*/ 2 h 3"/>
                  <a:gd name="T22" fmla="*/ 1 w 5"/>
                  <a:gd name="T23" fmla="*/ 0 h 3"/>
                  <a:gd name="T24" fmla="*/ 0 w 5"/>
                  <a:gd name="T25" fmla="*/ 0 h 3"/>
                  <a:gd name="T26" fmla="*/ 1 w 5"/>
                  <a:gd name="T27" fmla="*/ 3 h 3"/>
                  <a:gd name="T28" fmla="*/ 2 w 5"/>
                  <a:gd name="T29"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2" y="3"/>
                    </a:moveTo>
                    <a:lnTo>
                      <a:pt x="2" y="3"/>
                    </a:lnTo>
                    <a:lnTo>
                      <a:pt x="3" y="0"/>
                    </a:lnTo>
                    <a:lnTo>
                      <a:pt x="3" y="3"/>
                    </a:lnTo>
                    <a:lnTo>
                      <a:pt x="4" y="3"/>
                    </a:lnTo>
                    <a:lnTo>
                      <a:pt x="5" y="0"/>
                    </a:lnTo>
                    <a:lnTo>
                      <a:pt x="4" y="0"/>
                    </a:lnTo>
                    <a:lnTo>
                      <a:pt x="4" y="2"/>
                    </a:lnTo>
                    <a:lnTo>
                      <a:pt x="3" y="0"/>
                    </a:lnTo>
                    <a:lnTo>
                      <a:pt x="2" y="0"/>
                    </a:lnTo>
                    <a:lnTo>
                      <a:pt x="1" y="2"/>
                    </a:lnTo>
                    <a:lnTo>
                      <a:pt x="1" y="0"/>
                    </a:lnTo>
                    <a:lnTo>
                      <a:pt x="0" y="0"/>
                    </a:lnTo>
                    <a:lnTo>
                      <a:pt x="1" y="3"/>
                    </a:lnTo>
                    <a:lnTo>
                      <a:pt x="2"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3" name="Freeform 294"/>
              <p:cNvSpPr>
                <a:spLocks/>
              </p:cNvSpPr>
              <p:nvPr/>
            </p:nvSpPr>
            <p:spPr bwMode="auto">
              <a:xfrm>
                <a:off x="1520826" y="2366963"/>
                <a:ext cx="3175" cy="1588"/>
              </a:xfrm>
              <a:custGeom>
                <a:avLst/>
                <a:gdLst>
                  <a:gd name="T0" fmla="*/ 2 w 3"/>
                  <a:gd name="T1" fmla="*/ 3 h 3"/>
                  <a:gd name="T2" fmla="*/ 2 w 3"/>
                  <a:gd name="T3" fmla="*/ 3 h 3"/>
                  <a:gd name="T4" fmla="*/ 3 w 3"/>
                  <a:gd name="T5" fmla="*/ 3 h 3"/>
                  <a:gd name="T6" fmla="*/ 3 w 3"/>
                  <a:gd name="T7" fmla="*/ 2 h 3"/>
                  <a:gd name="T8" fmla="*/ 2 w 3"/>
                  <a:gd name="T9" fmla="*/ 2 h 3"/>
                  <a:gd name="T10" fmla="*/ 1 w 3"/>
                  <a:gd name="T11" fmla="*/ 1 h 3"/>
                  <a:gd name="T12" fmla="*/ 3 w 3"/>
                  <a:gd name="T13" fmla="*/ 1 h 3"/>
                  <a:gd name="T14" fmla="*/ 3 w 3"/>
                  <a:gd name="T15" fmla="*/ 1 h 3"/>
                  <a:gd name="T16" fmla="*/ 1 w 3"/>
                  <a:gd name="T17" fmla="*/ 1 h 3"/>
                  <a:gd name="T18" fmla="*/ 2 w 3"/>
                  <a:gd name="T19" fmla="*/ 0 h 3"/>
                  <a:gd name="T20" fmla="*/ 3 w 3"/>
                  <a:gd name="T21" fmla="*/ 0 h 3"/>
                  <a:gd name="T22" fmla="*/ 3 w 3"/>
                  <a:gd name="T23" fmla="*/ 0 h 3"/>
                  <a:gd name="T24" fmla="*/ 2 w 3"/>
                  <a:gd name="T25" fmla="*/ 0 h 3"/>
                  <a:gd name="T26" fmla="*/ 0 w 3"/>
                  <a:gd name="T27" fmla="*/ 1 h 3"/>
                  <a:gd name="T28" fmla="*/ 1 w 3"/>
                  <a:gd name="T29" fmla="*/ 2 h 3"/>
                  <a:gd name="T30" fmla="*/ 2 w 3"/>
                  <a:gd name="T31"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2" y="3"/>
                    </a:moveTo>
                    <a:lnTo>
                      <a:pt x="2" y="3"/>
                    </a:lnTo>
                    <a:lnTo>
                      <a:pt x="3" y="3"/>
                    </a:lnTo>
                    <a:lnTo>
                      <a:pt x="3" y="2"/>
                    </a:lnTo>
                    <a:lnTo>
                      <a:pt x="2" y="2"/>
                    </a:lnTo>
                    <a:cubicBezTo>
                      <a:pt x="1" y="2"/>
                      <a:pt x="1" y="2"/>
                      <a:pt x="1" y="1"/>
                    </a:cubicBezTo>
                    <a:lnTo>
                      <a:pt x="3" y="1"/>
                    </a:lnTo>
                    <a:lnTo>
                      <a:pt x="3" y="1"/>
                    </a:lnTo>
                    <a:lnTo>
                      <a:pt x="1" y="1"/>
                    </a:lnTo>
                    <a:cubicBezTo>
                      <a:pt x="1" y="0"/>
                      <a:pt x="1" y="0"/>
                      <a:pt x="2" y="0"/>
                    </a:cubicBezTo>
                    <a:lnTo>
                      <a:pt x="3" y="0"/>
                    </a:lnTo>
                    <a:lnTo>
                      <a:pt x="3" y="0"/>
                    </a:lnTo>
                    <a:lnTo>
                      <a:pt x="2" y="0"/>
                    </a:lnTo>
                    <a:cubicBezTo>
                      <a:pt x="1" y="0"/>
                      <a:pt x="0" y="0"/>
                      <a:pt x="0" y="1"/>
                    </a:cubicBezTo>
                    <a:cubicBezTo>
                      <a:pt x="0" y="2"/>
                      <a:pt x="0" y="2"/>
                      <a:pt x="1" y="2"/>
                    </a:cubicBezTo>
                    <a:cubicBezTo>
                      <a:pt x="1" y="3"/>
                      <a:pt x="1" y="3"/>
                      <a:pt x="2"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4" name="Freeform 295"/>
              <p:cNvSpPr>
                <a:spLocks/>
              </p:cNvSpPr>
              <p:nvPr/>
            </p:nvSpPr>
            <p:spPr bwMode="auto">
              <a:xfrm>
                <a:off x="1524001" y="2366963"/>
                <a:ext cx="1588" cy="1588"/>
              </a:xfrm>
              <a:custGeom>
                <a:avLst/>
                <a:gdLst>
                  <a:gd name="T0" fmla="*/ 1 w 1"/>
                  <a:gd name="T1" fmla="*/ 0 h 3"/>
                  <a:gd name="T2" fmla="*/ 1 w 1"/>
                  <a:gd name="T3" fmla="*/ 0 h 3"/>
                  <a:gd name="T4" fmla="*/ 0 w 1"/>
                  <a:gd name="T5" fmla="*/ 0 h 3"/>
                  <a:gd name="T6" fmla="*/ 0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lnTo>
                      <a:pt x="1" y="0"/>
                    </a:lnTo>
                    <a:lnTo>
                      <a:pt x="0" y="0"/>
                    </a:lnTo>
                    <a:lnTo>
                      <a:pt x="0" y="3"/>
                    </a:lnTo>
                    <a:lnTo>
                      <a:pt x="1" y="3"/>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5" name="Freeform 296"/>
              <p:cNvSpPr>
                <a:spLocks/>
              </p:cNvSpPr>
              <p:nvPr/>
            </p:nvSpPr>
            <p:spPr bwMode="auto">
              <a:xfrm>
                <a:off x="1497013" y="2363788"/>
                <a:ext cx="3175" cy="4763"/>
              </a:xfrm>
              <a:custGeom>
                <a:avLst/>
                <a:gdLst>
                  <a:gd name="T0" fmla="*/ 3 w 3"/>
                  <a:gd name="T1" fmla="*/ 4 h 4"/>
                  <a:gd name="T2" fmla="*/ 3 w 3"/>
                  <a:gd name="T3" fmla="*/ 4 h 4"/>
                  <a:gd name="T4" fmla="*/ 3 w 3"/>
                  <a:gd name="T5" fmla="*/ 4 h 4"/>
                  <a:gd name="T6" fmla="*/ 1 w 3"/>
                  <a:gd name="T7" fmla="*/ 0 h 4"/>
                  <a:gd name="T8" fmla="*/ 0 w 3"/>
                  <a:gd name="T9" fmla="*/ 2 h 4"/>
                  <a:gd name="T10" fmla="*/ 1 w 3"/>
                  <a:gd name="T11" fmla="*/ 3 h 4"/>
                  <a:gd name="T12" fmla="*/ 3 w 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3" y="4"/>
                    </a:moveTo>
                    <a:lnTo>
                      <a:pt x="3" y="4"/>
                    </a:lnTo>
                    <a:cubicBezTo>
                      <a:pt x="3" y="4"/>
                      <a:pt x="3" y="4"/>
                      <a:pt x="3" y="4"/>
                    </a:cubicBezTo>
                    <a:cubicBezTo>
                      <a:pt x="2" y="2"/>
                      <a:pt x="1" y="0"/>
                      <a:pt x="1" y="0"/>
                    </a:cubicBezTo>
                    <a:cubicBezTo>
                      <a:pt x="1" y="0"/>
                      <a:pt x="0" y="1"/>
                      <a:pt x="0" y="2"/>
                    </a:cubicBezTo>
                    <a:cubicBezTo>
                      <a:pt x="0" y="2"/>
                      <a:pt x="1" y="3"/>
                      <a:pt x="1" y="3"/>
                    </a:cubicBezTo>
                    <a:cubicBezTo>
                      <a:pt x="1" y="3"/>
                      <a:pt x="3" y="4"/>
                      <a:pt x="3"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6" name="Freeform 297"/>
              <p:cNvSpPr>
                <a:spLocks/>
              </p:cNvSpPr>
              <p:nvPr/>
            </p:nvSpPr>
            <p:spPr bwMode="auto">
              <a:xfrm>
                <a:off x="1497013" y="2368550"/>
                <a:ext cx="3175" cy="1588"/>
              </a:xfrm>
              <a:custGeom>
                <a:avLst/>
                <a:gdLst>
                  <a:gd name="T0" fmla="*/ 0 w 3"/>
                  <a:gd name="T1" fmla="*/ 0 h 1"/>
                  <a:gd name="T2" fmla="*/ 0 w 3"/>
                  <a:gd name="T3" fmla="*/ 0 h 1"/>
                  <a:gd name="T4" fmla="*/ 2 w 3"/>
                  <a:gd name="T5" fmla="*/ 1 h 1"/>
                  <a:gd name="T6" fmla="*/ 3 w 3"/>
                  <a:gd name="T7" fmla="*/ 0 h 1"/>
                  <a:gd name="T8" fmla="*/ 3 w 3"/>
                  <a:gd name="T9" fmla="*/ 0 h 1"/>
                  <a:gd name="T10" fmla="*/ 3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cubicBezTo>
                      <a:pt x="1" y="1"/>
                      <a:pt x="1" y="1"/>
                      <a:pt x="2" y="1"/>
                    </a:cubicBezTo>
                    <a:cubicBezTo>
                      <a:pt x="2" y="1"/>
                      <a:pt x="3" y="0"/>
                      <a:pt x="3" y="0"/>
                    </a:cubicBezTo>
                    <a:lnTo>
                      <a:pt x="3" y="0"/>
                    </a:lnTo>
                    <a:cubicBezTo>
                      <a:pt x="3" y="0"/>
                      <a:pt x="3" y="0"/>
                      <a:pt x="3"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7" name="Freeform 298"/>
              <p:cNvSpPr>
                <a:spLocks/>
              </p:cNvSpPr>
              <p:nvPr/>
            </p:nvSpPr>
            <p:spPr bwMode="auto">
              <a:xfrm>
                <a:off x="1497013" y="2366963"/>
                <a:ext cx="3175" cy="1588"/>
              </a:xfrm>
              <a:custGeom>
                <a:avLst/>
                <a:gdLst>
                  <a:gd name="T0" fmla="*/ 1 w 4"/>
                  <a:gd name="T1" fmla="*/ 1 h 2"/>
                  <a:gd name="T2" fmla="*/ 1 w 4"/>
                  <a:gd name="T3" fmla="*/ 1 h 2"/>
                  <a:gd name="T4" fmla="*/ 1 w 4"/>
                  <a:gd name="T5" fmla="*/ 2 h 2"/>
                  <a:gd name="T6" fmla="*/ 2 w 4"/>
                  <a:gd name="T7" fmla="*/ 2 h 2"/>
                  <a:gd name="T8" fmla="*/ 4 w 4"/>
                  <a:gd name="T9" fmla="*/ 2 h 2"/>
                  <a:gd name="T10" fmla="*/ 4 w 4"/>
                  <a:gd name="T11" fmla="*/ 2 h 2"/>
                  <a:gd name="T12" fmla="*/ 4 w 4"/>
                  <a:gd name="T13" fmla="*/ 2 h 2"/>
                  <a:gd name="T14" fmla="*/ 1 w 4"/>
                  <a:gd name="T15" fmla="*/ 0 h 2"/>
                  <a:gd name="T16" fmla="*/ 1 w 4"/>
                  <a:gd name="T17"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1" y="1"/>
                    </a:moveTo>
                    <a:lnTo>
                      <a:pt x="1" y="1"/>
                    </a:lnTo>
                    <a:cubicBezTo>
                      <a:pt x="1" y="1"/>
                      <a:pt x="1" y="2"/>
                      <a:pt x="1" y="2"/>
                    </a:cubicBezTo>
                    <a:cubicBezTo>
                      <a:pt x="2" y="2"/>
                      <a:pt x="2" y="2"/>
                      <a:pt x="2" y="2"/>
                    </a:cubicBezTo>
                    <a:cubicBezTo>
                      <a:pt x="2" y="2"/>
                      <a:pt x="4" y="2"/>
                      <a:pt x="4" y="2"/>
                    </a:cubicBezTo>
                    <a:lnTo>
                      <a:pt x="4" y="2"/>
                    </a:lnTo>
                    <a:lnTo>
                      <a:pt x="4" y="2"/>
                    </a:lnTo>
                    <a:cubicBezTo>
                      <a:pt x="3" y="1"/>
                      <a:pt x="1" y="0"/>
                      <a:pt x="1" y="0"/>
                    </a:cubicBezTo>
                    <a:cubicBezTo>
                      <a:pt x="0" y="0"/>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8" name="Freeform 299"/>
              <p:cNvSpPr>
                <a:spLocks/>
              </p:cNvSpPr>
              <p:nvPr/>
            </p:nvSpPr>
            <p:spPr bwMode="auto">
              <a:xfrm>
                <a:off x="1498601" y="2363788"/>
                <a:ext cx="3175" cy="4763"/>
              </a:xfrm>
              <a:custGeom>
                <a:avLst/>
                <a:gdLst>
                  <a:gd name="T0" fmla="*/ 2 w 2"/>
                  <a:gd name="T1" fmla="*/ 5 h 5"/>
                  <a:gd name="T2" fmla="*/ 2 w 2"/>
                  <a:gd name="T3" fmla="*/ 5 h 5"/>
                  <a:gd name="T4" fmla="*/ 2 w 2"/>
                  <a:gd name="T5" fmla="*/ 5 h 5"/>
                  <a:gd name="T6" fmla="*/ 2 w 2"/>
                  <a:gd name="T7" fmla="*/ 5 h 5"/>
                  <a:gd name="T8" fmla="*/ 1 w 2"/>
                  <a:gd name="T9" fmla="*/ 0 h 5"/>
                  <a:gd name="T10" fmla="*/ 1 w 2"/>
                  <a:gd name="T11" fmla="*/ 0 h 5"/>
                  <a:gd name="T12" fmla="*/ 0 w 2"/>
                  <a:gd name="T13" fmla="*/ 1 h 5"/>
                  <a:gd name="T14" fmla="*/ 0 w 2"/>
                  <a:gd name="T15" fmla="*/ 2 h 5"/>
                  <a:gd name="T16" fmla="*/ 2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2" y="5"/>
                    </a:moveTo>
                    <a:lnTo>
                      <a:pt x="2" y="5"/>
                    </a:lnTo>
                    <a:cubicBezTo>
                      <a:pt x="2" y="5"/>
                      <a:pt x="2" y="5"/>
                      <a:pt x="2" y="5"/>
                    </a:cubicBezTo>
                    <a:lnTo>
                      <a:pt x="2" y="5"/>
                    </a:lnTo>
                    <a:cubicBezTo>
                      <a:pt x="2" y="1"/>
                      <a:pt x="1" y="0"/>
                      <a:pt x="1" y="0"/>
                    </a:cubicBezTo>
                    <a:cubicBezTo>
                      <a:pt x="1" y="0"/>
                      <a:pt x="1" y="0"/>
                      <a:pt x="1" y="0"/>
                    </a:cubicBezTo>
                    <a:cubicBezTo>
                      <a:pt x="0" y="0"/>
                      <a:pt x="0" y="1"/>
                      <a:pt x="0" y="1"/>
                    </a:cubicBezTo>
                    <a:cubicBezTo>
                      <a:pt x="0" y="1"/>
                      <a:pt x="0" y="2"/>
                      <a:pt x="0" y="2"/>
                    </a:cubicBezTo>
                    <a:cubicBezTo>
                      <a:pt x="0" y="3"/>
                      <a:pt x="1" y="5"/>
                      <a:pt x="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9" name="Freeform 300"/>
              <p:cNvSpPr>
                <a:spLocks/>
              </p:cNvSpPr>
              <p:nvPr/>
            </p:nvSpPr>
            <p:spPr bwMode="auto">
              <a:xfrm>
                <a:off x="1501776" y="2363788"/>
                <a:ext cx="1588" cy="4763"/>
              </a:xfrm>
              <a:custGeom>
                <a:avLst/>
                <a:gdLst>
                  <a:gd name="T0" fmla="*/ 0 w 2"/>
                  <a:gd name="T1" fmla="*/ 5 h 5"/>
                  <a:gd name="T2" fmla="*/ 0 w 2"/>
                  <a:gd name="T3" fmla="*/ 5 h 5"/>
                  <a:gd name="T4" fmla="*/ 0 w 2"/>
                  <a:gd name="T5" fmla="*/ 5 h 5"/>
                  <a:gd name="T6" fmla="*/ 2 w 2"/>
                  <a:gd name="T7" fmla="*/ 2 h 5"/>
                  <a:gd name="T8" fmla="*/ 2 w 2"/>
                  <a:gd name="T9" fmla="*/ 1 h 5"/>
                  <a:gd name="T10" fmla="*/ 1 w 2"/>
                  <a:gd name="T11" fmla="*/ 0 h 5"/>
                  <a:gd name="T12" fmla="*/ 1 w 2"/>
                  <a:gd name="T13" fmla="*/ 0 h 5"/>
                  <a:gd name="T14" fmla="*/ 0 w 2"/>
                  <a:gd name="T15" fmla="*/ 5 h 5"/>
                  <a:gd name="T16" fmla="*/ 0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0" y="5"/>
                    </a:moveTo>
                    <a:lnTo>
                      <a:pt x="0" y="5"/>
                    </a:lnTo>
                    <a:lnTo>
                      <a:pt x="0" y="5"/>
                    </a:lnTo>
                    <a:cubicBezTo>
                      <a:pt x="1" y="5"/>
                      <a:pt x="2" y="3"/>
                      <a:pt x="2" y="2"/>
                    </a:cubicBezTo>
                    <a:cubicBezTo>
                      <a:pt x="2" y="2"/>
                      <a:pt x="2" y="1"/>
                      <a:pt x="2" y="1"/>
                    </a:cubicBezTo>
                    <a:cubicBezTo>
                      <a:pt x="2" y="1"/>
                      <a:pt x="2" y="0"/>
                      <a:pt x="1" y="0"/>
                    </a:cubicBezTo>
                    <a:cubicBezTo>
                      <a:pt x="1" y="0"/>
                      <a:pt x="1" y="0"/>
                      <a:pt x="1" y="0"/>
                    </a:cubicBezTo>
                    <a:cubicBezTo>
                      <a:pt x="1" y="0"/>
                      <a:pt x="0" y="1"/>
                      <a:pt x="0" y="5"/>
                    </a:cubicBezTo>
                    <a:lnTo>
                      <a:pt x="0"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0" name="Freeform 301"/>
              <p:cNvSpPr>
                <a:spLocks/>
              </p:cNvSpPr>
              <p:nvPr/>
            </p:nvSpPr>
            <p:spPr bwMode="auto">
              <a:xfrm>
                <a:off x="1501776" y="2368550"/>
                <a:ext cx="3175" cy="1588"/>
              </a:xfrm>
              <a:custGeom>
                <a:avLst/>
                <a:gdLst>
                  <a:gd name="T0" fmla="*/ 0 w 3"/>
                  <a:gd name="T1" fmla="*/ 0 h 1"/>
                  <a:gd name="T2" fmla="*/ 0 w 3"/>
                  <a:gd name="T3" fmla="*/ 0 h 1"/>
                  <a:gd name="T4" fmla="*/ 0 w 3"/>
                  <a:gd name="T5" fmla="*/ 0 h 1"/>
                  <a:gd name="T6" fmla="*/ 2 w 3"/>
                  <a:gd name="T7" fmla="*/ 1 h 1"/>
                  <a:gd name="T8" fmla="*/ 3 w 3"/>
                  <a:gd name="T9" fmla="*/ 0 h 1"/>
                  <a:gd name="T10" fmla="*/ 0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lnTo>
                      <a:pt x="0" y="0"/>
                    </a:lnTo>
                    <a:cubicBezTo>
                      <a:pt x="0" y="0"/>
                      <a:pt x="1" y="1"/>
                      <a:pt x="2" y="1"/>
                    </a:cubicBezTo>
                    <a:cubicBezTo>
                      <a:pt x="2" y="1"/>
                      <a:pt x="2" y="1"/>
                      <a:pt x="3"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1" name="Freeform 302"/>
              <p:cNvSpPr>
                <a:spLocks/>
              </p:cNvSpPr>
              <p:nvPr/>
            </p:nvSpPr>
            <p:spPr bwMode="auto">
              <a:xfrm>
                <a:off x="1501776" y="2366963"/>
                <a:ext cx="4763" cy="1588"/>
              </a:xfrm>
              <a:custGeom>
                <a:avLst/>
                <a:gdLst>
                  <a:gd name="T0" fmla="*/ 0 w 4"/>
                  <a:gd name="T1" fmla="*/ 2 h 2"/>
                  <a:gd name="T2" fmla="*/ 0 w 4"/>
                  <a:gd name="T3" fmla="*/ 2 h 2"/>
                  <a:gd name="T4" fmla="*/ 0 w 4"/>
                  <a:gd name="T5" fmla="*/ 2 h 2"/>
                  <a:gd name="T6" fmla="*/ 2 w 4"/>
                  <a:gd name="T7" fmla="*/ 2 h 2"/>
                  <a:gd name="T8" fmla="*/ 3 w 4"/>
                  <a:gd name="T9" fmla="*/ 2 h 2"/>
                  <a:gd name="T10" fmla="*/ 4 w 4"/>
                  <a:gd name="T11" fmla="*/ 1 h 2"/>
                  <a:gd name="T12" fmla="*/ 4 w 4"/>
                  <a:gd name="T13" fmla="*/ 0 h 2"/>
                  <a:gd name="T14" fmla="*/ 0 w 4"/>
                  <a:gd name="T15" fmla="*/ 2 h 2"/>
                  <a:gd name="T16" fmla="*/ 0 w 4"/>
                  <a:gd name="T1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0" y="2"/>
                    </a:moveTo>
                    <a:lnTo>
                      <a:pt x="0" y="2"/>
                    </a:lnTo>
                    <a:lnTo>
                      <a:pt x="0" y="2"/>
                    </a:lnTo>
                    <a:lnTo>
                      <a:pt x="2" y="2"/>
                    </a:lnTo>
                    <a:cubicBezTo>
                      <a:pt x="2" y="2"/>
                      <a:pt x="2" y="2"/>
                      <a:pt x="3" y="2"/>
                    </a:cubicBezTo>
                    <a:cubicBezTo>
                      <a:pt x="3" y="2"/>
                      <a:pt x="3" y="1"/>
                      <a:pt x="4" y="1"/>
                    </a:cubicBezTo>
                    <a:cubicBezTo>
                      <a:pt x="4" y="1"/>
                      <a:pt x="4" y="0"/>
                      <a:pt x="4" y="0"/>
                    </a:cubicBezTo>
                    <a:cubicBezTo>
                      <a:pt x="4" y="0"/>
                      <a:pt x="1" y="1"/>
                      <a:pt x="0" y="2"/>
                    </a:cubicBezTo>
                    <a:cubicBezTo>
                      <a:pt x="0" y="2"/>
                      <a:pt x="0" y="2"/>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2" name="Freeform 303"/>
              <p:cNvSpPr>
                <a:spLocks/>
              </p:cNvSpPr>
              <p:nvPr/>
            </p:nvSpPr>
            <p:spPr bwMode="auto">
              <a:xfrm>
                <a:off x="1501776" y="2363788"/>
                <a:ext cx="3175" cy="4763"/>
              </a:xfrm>
              <a:custGeom>
                <a:avLst/>
                <a:gdLst>
                  <a:gd name="T0" fmla="*/ 0 w 3"/>
                  <a:gd name="T1" fmla="*/ 4 h 4"/>
                  <a:gd name="T2" fmla="*/ 0 w 3"/>
                  <a:gd name="T3" fmla="*/ 4 h 4"/>
                  <a:gd name="T4" fmla="*/ 3 w 3"/>
                  <a:gd name="T5" fmla="*/ 3 h 4"/>
                  <a:gd name="T6" fmla="*/ 3 w 3"/>
                  <a:gd name="T7" fmla="*/ 2 h 4"/>
                  <a:gd name="T8" fmla="*/ 2 w 3"/>
                  <a:gd name="T9" fmla="*/ 0 h 4"/>
                  <a:gd name="T10" fmla="*/ 0 w 3"/>
                  <a:gd name="T11" fmla="*/ 4 h 4"/>
                  <a:gd name="T12" fmla="*/ 0 w 3"/>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3" h="4">
                    <a:moveTo>
                      <a:pt x="0" y="4"/>
                    </a:moveTo>
                    <a:lnTo>
                      <a:pt x="0" y="4"/>
                    </a:lnTo>
                    <a:cubicBezTo>
                      <a:pt x="0" y="4"/>
                      <a:pt x="2" y="3"/>
                      <a:pt x="3" y="3"/>
                    </a:cubicBezTo>
                    <a:cubicBezTo>
                      <a:pt x="3" y="3"/>
                      <a:pt x="3" y="2"/>
                      <a:pt x="3" y="2"/>
                    </a:cubicBezTo>
                    <a:cubicBezTo>
                      <a:pt x="3" y="1"/>
                      <a:pt x="2" y="0"/>
                      <a:pt x="2" y="0"/>
                    </a:cubicBezTo>
                    <a:cubicBezTo>
                      <a:pt x="2" y="0"/>
                      <a:pt x="1" y="2"/>
                      <a:pt x="0" y="4"/>
                    </a:cubicBezTo>
                    <a:cubicBezTo>
                      <a:pt x="0" y="4"/>
                      <a:pt x="0" y="4"/>
                      <a:pt x="0"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3" name="Freeform 304"/>
              <p:cNvSpPr>
                <a:spLocks/>
              </p:cNvSpPr>
              <p:nvPr/>
            </p:nvSpPr>
            <p:spPr bwMode="auto">
              <a:xfrm>
                <a:off x="1508126" y="2443163"/>
                <a:ext cx="1588" cy="3175"/>
              </a:xfrm>
              <a:custGeom>
                <a:avLst/>
                <a:gdLst>
                  <a:gd name="T0" fmla="*/ 0 w 2"/>
                  <a:gd name="T1" fmla="*/ 2 h 3"/>
                  <a:gd name="T2" fmla="*/ 0 w 2"/>
                  <a:gd name="T3" fmla="*/ 2 h 3"/>
                  <a:gd name="T4" fmla="*/ 2 w 2"/>
                  <a:gd name="T5" fmla="*/ 2 h 3"/>
                  <a:gd name="T6" fmla="*/ 2 w 2"/>
                  <a:gd name="T7" fmla="*/ 3 h 3"/>
                  <a:gd name="T8" fmla="*/ 2 w 2"/>
                  <a:gd name="T9" fmla="*/ 3 h 3"/>
                  <a:gd name="T10" fmla="*/ 2 w 2"/>
                  <a:gd name="T11" fmla="*/ 0 h 3"/>
                  <a:gd name="T12" fmla="*/ 2 w 2"/>
                  <a:gd name="T13" fmla="*/ 0 h 3"/>
                  <a:gd name="T14" fmla="*/ 2 w 2"/>
                  <a:gd name="T15" fmla="*/ 1 h 3"/>
                  <a:gd name="T16" fmla="*/ 0 w 2"/>
                  <a:gd name="T17" fmla="*/ 1 h 3"/>
                  <a:gd name="T18" fmla="*/ 0 w 2"/>
                  <a:gd name="T19" fmla="*/ 0 h 3"/>
                  <a:gd name="T20" fmla="*/ 0 w 2"/>
                  <a:gd name="T21" fmla="*/ 0 h 3"/>
                  <a:gd name="T22" fmla="*/ 0 w 2"/>
                  <a:gd name="T23" fmla="*/ 3 h 3"/>
                  <a:gd name="T24" fmla="*/ 0 w 2"/>
                  <a:gd name="T25" fmla="*/ 3 h 3"/>
                  <a:gd name="T26" fmla="*/ 0 w 2"/>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0" y="2"/>
                    </a:moveTo>
                    <a:lnTo>
                      <a:pt x="0" y="2"/>
                    </a:lnTo>
                    <a:lnTo>
                      <a:pt x="2" y="2"/>
                    </a:lnTo>
                    <a:lnTo>
                      <a:pt x="2" y="3"/>
                    </a:lnTo>
                    <a:lnTo>
                      <a:pt x="2" y="3"/>
                    </a:lnTo>
                    <a:lnTo>
                      <a:pt x="2" y="0"/>
                    </a:lnTo>
                    <a:lnTo>
                      <a:pt x="2" y="0"/>
                    </a:lnTo>
                    <a:lnTo>
                      <a:pt x="2" y="1"/>
                    </a:lnTo>
                    <a:lnTo>
                      <a:pt x="0" y="1"/>
                    </a:lnTo>
                    <a:lnTo>
                      <a:pt x="0" y="0"/>
                    </a:lnTo>
                    <a:lnTo>
                      <a:pt x="0" y="0"/>
                    </a:lnTo>
                    <a:lnTo>
                      <a:pt x="0" y="3"/>
                    </a:lnTo>
                    <a:lnTo>
                      <a:pt x="0" y="3"/>
                    </a:lnTo>
                    <a:lnTo>
                      <a:pt x="0"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4" name="Freeform 305"/>
              <p:cNvSpPr>
                <a:spLocks/>
              </p:cNvSpPr>
              <p:nvPr/>
            </p:nvSpPr>
            <p:spPr bwMode="auto">
              <a:xfrm>
                <a:off x="1511301" y="2443163"/>
                <a:ext cx="1588" cy="3175"/>
              </a:xfrm>
              <a:custGeom>
                <a:avLst/>
                <a:gdLst>
                  <a:gd name="T0" fmla="*/ 1 w 3"/>
                  <a:gd name="T1" fmla="*/ 3 h 3"/>
                  <a:gd name="T2" fmla="*/ 1 w 3"/>
                  <a:gd name="T3" fmla="*/ 3 h 3"/>
                  <a:gd name="T4" fmla="*/ 3 w 3"/>
                  <a:gd name="T5" fmla="*/ 3 h 3"/>
                  <a:gd name="T6" fmla="*/ 3 w 3"/>
                  <a:gd name="T7" fmla="*/ 2 h 3"/>
                  <a:gd name="T8" fmla="*/ 3 w 3"/>
                  <a:gd name="T9" fmla="*/ 0 h 3"/>
                  <a:gd name="T10" fmla="*/ 2 w 3"/>
                  <a:gd name="T11" fmla="*/ 0 h 3"/>
                  <a:gd name="T12" fmla="*/ 2 w 3"/>
                  <a:gd name="T13" fmla="*/ 2 h 3"/>
                  <a:gd name="T14" fmla="*/ 1 w 3"/>
                  <a:gd name="T15" fmla="*/ 3 h 3"/>
                  <a:gd name="T16" fmla="*/ 1 w 3"/>
                  <a:gd name="T17" fmla="*/ 2 h 3"/>
                  <a:gd name="T18" fmla="*/ 1 w 3"/>
                  <a:gd name="T19" fmla="*/ 0 h 3"/>
                  <a:gd name="T20" fmla="*/ 0 w 3"/>
                  <a:gd name="T21" fmla="*/ 0 h 3"/>
                  <a:gd name="T22" fmla="*/ 0 w 3"/>
                  <a:gd name="T23" fmla="*/ 2 h 3"/>
                  <a:gd name="T24" fmla="*/ 0 w 3"/>
                  <a:gd name="T25" fmla="*/ 3 h 3"/>
                  <a:gd name="T26" fmla="*/ 1 w 3"/>
                  <a:gd name="T2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1" y="3"/>
                    </a:moveTo>
                    <a:lnTo>
                      <a:pt x="1" y="3"/>
                    </a:lnTo>
                    <a:cubicBezTo>
                      <a:pt x="2" y="3"/>
                      <a:pt x="2" y="3"/>
                      <a:pt x="3" y="3"/>
                    </a:cubicBezTo>
                    <a:cubicBezTo>
                      <a:pt x="3" y="3"/>
                      <a:pt x="3" y="2"/>
                      <a:pt x="3" y="2"/>
                    </a:cubicBezTo>
                    <a:lnTo>
                      <a:pt x="3" y="0"/>
                    </a:lnTo>
                    <a:lnTo>
                      <a:pt x="2" y="0"/>
                    </a:lnTo>
                    <a:lnTo>
                      <a:pt x="2" y="2"/>
                    </a:lnTo>
                    <a:cubicBezTo>
                      <a:pt x="2" y="2"/>
                      <a:pt x="2" y="3"/>
                      <a:pt x="1" y="3"/>
                    </a:cubicBezTo>
                    <a:cubicBezTo>
                      <a:pt x="1" y="3"/>
                      <a:pt x="1" y="2"/>
                      <a:pt x="1" y="2"/>
                    </a:cubicBezTo>
                    <a:lnTo>
                      <a:pt x="1" y="0"/>
                    </a:lnTo>
                    <a:lnTo>
                      <a:pt x="0" y="0"/>
                    </a:lnTo>
                    <a:lnTo>
                      <a:pt x="0" y="2"/>
                    </a:lnTo>
                    <a:cubicBezTo>
                      <a:pt x="0" y="2"/>
                      <a:pt x="0" y="3"/>
                      <a:pt x="0" y="3"/>
                    </a:cubicBezTo>
                    <a:cubicBezTo>
                      <a:pt x="0" y="3"/>
                      <a:pt x="1" y="3"/>
                      <a:pt x="1"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5" name="Freeform 306"/>
              <p:cNvSpPr>
                <a:spLocks noEditPoints="1"/>
              </p:cNvSpPr>
              <p:nvPr/>
            </p:nvSpPr>
            <p:spPr bwMode="auto">
              <a:xfrm>
                <a:off x="1512888" y="2443163"/>
                <a:ext cx="3175" cy="3175"/>
              </a:xfrm>
              <a:custGeom>
                <a:avLst/>
                <a:gdLst>
                  <a:gd name="T0" fmla="*/ 2 w 3"/>
                  <a:gd name="T1" fmla="*/ 1 h 3"/>
                  <a:gd name="T2" fmla="*/ 2 w 3"/>
                  <a:gd name="T3" fmla="*/ 1 h 3"/>
                  <a:gd name="T4" fmla="*/ 2 w 3"/>
                  <a:gd name="T5" fmla="*/ 2 h 3"/>
                  <a:gd name="T6" fmla="*/ 1 w 3"/>
                  <a:gd name="T7" fmla="*/ 2 h 3"/>
                  <a:gd name="T8" fmla="*/ 2 w 3"/>
                  <a:gd name="T9" fmla="*/ 1 h 3"/>
                  <a:gd name="T10" fmla="*/ 1 w 3"/>
                  <a:gd name="T11" fmla="*/ 2 h 3"/>
                  <a:gd name="T12" fmla="*/ 1 w 3"/>
                  <a:gd name="T13" fmla="*/ 2 h 3"/>
                  <a:gd name="T14" fmla="*/ 2 w 3"/>
                  <a:gd name="T15" fmla="*/ 2 h 3"/>
                  <a:gd name="T16" fmla="*/ 3 w 3"/>
                  <a:gd name="T17" fmla="*/ 3 h 3"/>
                  <a:gd name="T18" fmla="*/ 3 w 3"/>
                  <a:gd name="T19" fmla="*/ 3 h 3"/>
                  <a:gd name="T20" fmla="*/ 2 w 3"/>
                  <a:gd name="T21" fmla="*/ 0 h 3"/>
                  <a:gd name="T22" fmla="*/ 1 w 3"/>
                  <a:gd name="T23" fmla="*/ 0 h 3"/>
                  <a:gd name="T24" fmla="*/ 0 w 3"/>
                  <a:gd name="T25" fmla="*/ 3 h 3"/>
                  <a:gd name="T26" fmla="*/ 1 w 3"/>
                  <a:gd name="T27" fmla="*/ 3 h 3"/>
                  <a:gd name="T28" fmla="*/ 1 w 3"/>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2" y="1"/>
                    </a:moveTo>
                    <a:lnTo>
                      <a:pt x="2" y="1"/>
                    </a:lnTo>
                    <a:lnTo>
                      <a:pt x="2" y="2"/>
                    </a:lnTo>
                    <a:lnTo>
                      <a:pt x="1" y="2"/>
                    </a:lnTo>
                    <a:lnTo>
                      <a:pt x="2" y="1"/>
                    </a:lnTo>
                    <a:close/>
                    <a:moveTo>
                      <a:pt x="1" y="2"/>
                    </a:moveTo>
                    <a:lnTo>
                      <a:pt x="1" y="2"/>
                    </a:lnTo>
                    <a:lnTo>
                      <a:pt x="2" y="2"/>
                    </a:lnTo>
                    <a:lnTo>
                      <a:pt x="3" y="3"/>
                    </a:lnTo>
                    <a:lnTo>
                      <a:pt x="3" y="3"/>
                    </a:lnTo>
                    <a:lnTo>
                      <a:pt x="2" y="0"/>
                    </a:lnTo>
                    <a:lnTo>
                      <a:pt x="1" y="0"/>
                    </a:lnTo>
                    <a:lnTo>
                      <a:pt x="0" y="3"/>
                    </a:lnTo>
                    <a:lnTo>
                      <a:pt x="1" y="3"/>
                    </a:lnTo>
                    <a:lnTo>
                      <a:pt x="1"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6" name="Freeform 307"/>
              <p:cNvSpPr>
                <a:spLocks/>
              </p:cNvSpPr>
              <p:nvPr/>
            </p:nvSpPr>
            <p:spPr bwMode="auto">
              <a:xfrm>
                <a:off x="1516063" y="2443163"/>
                <a:ext cx="4763" cy="3175"/>
              </a:xfrm>
              <a:custGeom>
                <a:avLst/>
                <a:gdLst>
                  <a:gd name="T0" fmla="*/ 2 w 5"/>
                  <a:gd name="T1" fmla="*/ 3 h 3"/>
                  <a:gd name="T2" fmla="*/ 2 w 5"/>
                  <a:gd name="T3" fmla="*/ 3 h 3"/>
                  <a:gd name="T4" fmla="*/ 3 w 5"/>
                  <a:gd name="T5" fmla="*/ 1 h 3"/>
                  <a:gd name="T6" fmla="*/ 3 w 5"/>
                  <a:gd name="T7" fmla="*/ 3 h 3"/>
                  <a:gd name="T8" fmla="*/ 4 w 5"/>
                  <a:gd name="T9" fmla="*/ 3 h 3"/>
                  <a:gd name="T10" fmla="*/ 5 w 5"/>
                  <a:gd name="T11" fmla="*/ 0 h 3"/>
                  <a:gd name="T12" fmla="*/ 4 w 5"/>
                  <a:gd name="T13" fmla="*/ 0 h 3"/>
                  <a:gd name="T14" fmla="*/ 4 w 5"/>
                  <a:gd name="T15" fmla="*/ 2 h 3"/>
                  <a:gd name="T16" fmla="*/ 3 w 5"/>
                  <a:gd name="T17" fmla="*/ 0 h 3"/>
                  <a:gd name="T18" fmla="*/ 2 w 5"/>
                  <a:gd name="T19" fmla="*/ 0 h 3"/>
                  <a:gd name="T20" fmla="*/ 1 w 5"/>
                  <a:gd name="T21" fmla="*/ 2 h 3"/>
                  <a:gd name="T22" fmla="*/ 1 w 5"/>
                  <a:gd name="T23" fmla="*/ 0 h 3"/>
                  <a:gd name="T24" fmla="*/ 0 w 5"/>
                  <a:gd name="T25" fmla="*/ 0 h 3"/>
                  <a:gd name="T26" fmla="*/ 1 w 5"/>
                  <a:gd name="T27" fmla="*/ 3 h 3"/>
                  <a:gd name="T28" fmla="*/ 2 w 5"/>
                  <a:gd name="T29"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2" y="3"/>
                    </a:moveTo>
                    <a:lnTo>
                      <a:pt x="2" y="3"/>
                    </a:lnTo>
                    <a:lnTo>
                      <a:pt x="3" y="1"/>
                    </a:lnTo>
                    <a:lnTo>
                      <a:pt x="3" y="3"/>
                    </a:lnTo>
                    <a:lnTo>
                      <a:pt x="4" y="3"/>
                    </a:lnTo>
                    <a:lnTo>
                      <a:pt x="5" y="0"/>
                    </a:lnTo>
                    <a:lnTo>
                      <a:pt x="4" y="0"/>
                    </a:lnTo>
                    <a:lnTo>
                      <a:pt x="4" y="2"/>
                    </a:lnTo>
                    <a:lnTo>
                      <a:pt x="3" y="0"/>
                    </a:lnTo>
                    <a:lnTo>
                      <a:pt x="2" y="0"/>
                    </a:lnTo>
                    <a:lnTo>
                      <a:pt x="1" y="2"/>
                    </a:lnTo>
                    <a:lnTo>
                      <a:pt x="1" y="0"/>
                    </a:lnTo>
                    <a:lnTo>
                      <a:pt x="0" y="0"/>
                    </a:lnTo>
                    <a:lnTo>
                      <a:pt x="1" y="3"/>
                    </a:lnTo>
                    <a:lnTo>
                      <a:pt x="2"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7" name="Freeform 308"/>
              <p:cNvSpPr>
                <a:spLocks/>
              </p:cNvSpPr>
              <p:nvPr/>
            </p:nvSpPr>
            <p:spPr bwMode="auto">
              <a:xfrm>
                <a:off x="1520826" y="2443163"/>
                <a:ext cx="3175" cy="3175"/>
              </a:xfrm>
              <a:custGeom>
                <a:avLst/>
                <a:gdLst>
                  <a:gd name="T0" fmla="*/ 2 w 3"/>
                  <a:gd name="T1" fmla="*/ 3 h 3"/>
                  <a:gd name="T2" fmla="*/ 2 w 3"/>
                  <a:gd name="T3" fmla="*/ 3 h 3"/>
                  <a:gd name="T4" fmla="*/ 3 w 3"/>
                  <a:gd name="T5" fmla="*/ 3 h 3"/>
                  <a:gd name="T6" fmla="*/ 3 w 3"/>
                  <a:gd name="T7" fmla="*/ 3 h 3"/>
                  <a:gd name="T8" fmla="*/ 2 w 3"/>
                  <a:gd name="T9" fmla="*/ 3 h 3"/>
                  <a:gd name="T10" fmla="*/ 1 w 3"/>
                  <a:gd name="T11" fmla="*/ 2 h 3"/>
                  <a:gd name="T12" fmla="*/ 3 w 3"/>
                  <a:gd name="T13" fmla="*/ 2 h 3"/>
                  <a:gd name="T14" fmla="*/ 3 w 3"/>
                  <a:gd name="T15" fmla="*/ 1 h 3"/>
                  <a:gd name="T16" fmla="*/ 1 w 3"/>
                  <a:gd name="T17" fmla="*/ 1 h 3"/>
                  <a:gd name="T18" fmla="*/ 2 w 3"/>
                  <a:gd name="T19" fmla="*/ 1 h 3"/>
                  <a:gd name="T20" fmla="*/ 3 w 3"/>
                  <a:gd name="T21" fmla="*/ 1 h 3"/>
                  <a:gd name="T22" fmla="*/ 3 w 3"/>
                  <a:gd name="T23" fmla="*/ 0 h 3"/>
                  <a:gd name="T24" fmla="*/ 2 w 3"/>
                  <a:gd name="T25" fmla="*/ 0 h 3"/>
                  <a:gd name="T26" fmla="*/ 0 w 3"/>
                  <a:gd name="T27" fmla="*/ 2 h 3"/>
                  <a:gd name="T28" fmla="*/ 1 w 3"/>
                  <a:gd name="T29" fmla="*/ 3 h 3"/>
                  <a:gd name="T30" fmla="*/ 2 w 3"/>
                  <a:gd name="T31"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2" y="3"/>
                    </a:moveTo>
                    <a:lnTo>
                      <a:pt x="2" y="3"/>
                    </a:lnTo>
                    <a:lnTo>
                      <a:pt x="3" y="3"/>
                    </a:lnTo>
                    <a:lnTo>
                      <a:pt x="3" y="3"/>
                    </a:lnTo>
                    <a:lnTo>
                      <a:pt x="2" y="3"/>
                    </a:lnTo>
                    <a:cubicBezTo>
                      <a:pt x="1" y="3"/>
                      <a:pt x="1" y="2"/>
                      <a:pt x="1" y="2"/>
                    </a:cubicBezTo>
                    <a:lnTo>
                      <a:pt x="3" y="2"/>
                    </a:lnTo>
                    <a:lnTo>
                      <a:pt x="3" y="1"/>
                    </a:lnTo>
                    <a:lnTo>
                      <a:pt x="1" y="1"/>
                    </a:lnTo>
                    <a:cubicBezTo>
                      <a:pt x="1" y="1"/>
                      <a:pt x="1" y="1"/>
                      <a:pt x="2" y="1"/>
                    </a:cubicBezTo>
                    <a:lnTo>
                      <a:pt x="3" y="1"/>
                    </a:lnTo>
                    <a:lnTo>
                      <a:pt x="3" y="0"/>
                    </a:lnTo>
                    <a:lnTo>
                      <a:pt x="2" y="0"/>
                    </a:lnTo>
                    <a:cubicBezTo>
                      <a:pt x="1" y="0"/>
                      <a:pt x="0" y="1"/>
                      <a:pt x="0" y="2"/>
                    </a:cubicBezTo>
                    <a:cubicBezTo>
                      <a:pt x="0" y="2"/>
                      <a:pt x="0" y="3"/>
                      <a:pt x="1" y="3"/>
                    </a:cubicBezTo>
                    <a:cubicBezTo>
                      <a:pt x="1" y="3"/>
                      <a:pt x="1" y="3"/>
                      <a:pt x="2"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8" name="Freeform 309"/>
              <p:cNvSpPr>
                <a:spLocks/>
              </p:cNvSpPr>
              <p:nvPr/>
            </p:nvSpPr>
            <p:spPr bwMode="auto">
              <a:xfrm>
                <a:off x="1524001" y="2443163"/>
                <a:ext cx="1588" cy="3175"/>
              </a:xfrm>
              <a:custGeom>
                <a:avLst/>
                <a:gdLst>
                  <a:gd name="T0" fmla="*/ 1 w 1"/>
                  <a:gd name="T1" fmla="*/ 0 h 3"/>
                  <a:gd name="T2" fmla="*/ 1 w 1"/>
                  <a:gd name="T3" fmla="*/ 0 h 3"/>
                  <a:gd name="T4" fmla="*/ 0 w 1"/>
                  <a:gd name="T5" fmla="*/ 0 h 3"/>
                  <a:gd name="T6" fmla="*/ 0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lnTo>
                      <a:pt x="1" y="0"/>
                    </a:lnTo>
                    <a:lnTo>
                      <a:pt x="0" y="0"/>
                    </a:lnTo>
                    <a:lnTo>
                      <a:pt x="0" y="3"/>
                    </a:lnTo>
                    <a:lnTo>
                      <a:pt x="1" y="3"/>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9" name="Freeform 310"/>
              <p:cNvSpPr>
                <a:spLocks/>
              </p:cNvSpPr>
              <p:nvPr/>
            </p:nvSpPr>
            <p:spPr bwMode="auto">
              <a:xfrm>
                <a:off x="1497013" y="2441575"/>
                <a:ext cx="3175" cy="4763"/>
              </a:xfrm>
              <a:custGeom>
                <a:avLst/>
                <a:gdLst>
                  <a:gd name="T0" fmla="*/ 3 w 3"/>
                  <a:gd name="T1" fmla="*/ 4 h 4"/>
                  <a:gd name="T2" fmla="*/ 3 w 3"/>
                  <a:gd name="T3" fmla="*/ 4 h 4"/>
                  <a:gd name="T4" fmla="*/ 3 w 3"/>
                  <a:gd name="T5" fmla="*/ 4 h 4"/>
                  <a:gd name="T6" fmla="*/ 3 w 3"/>
                  <a:gd name="T7" fmla="*/ 4 h 4"/>
                  <a:gd name="T8" fmla="*/ 1 w 3"/>
                  <a:gd name="T9" fmla="*/ 0 h 4"/>
                  <a:gd name="T10" fmla="*/ 0 w 3"/>
                  <a:gd name="T11" fmla="*/ 1 h 4"/>
                  <a:gd name="T12" fmla="*/ 1 w 3"/>
                  <a:gd name="T13" fmla="*/ 2 h 4"/>
                  <a:gd name="T14" fmla="*/ 3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4"/>
                    </a:moveTo>
                    <a:lnTo>
                      <a:pt x="3" y="4"/>
                    </a:lnTo>
                    <a:cubicBezTo>
                      <a:pt x="3" y="4"/>
                      <a:pt x="3" y="4"/>
                      <a:pt x="3" y="4"/>
                    </a:cubicBezTo>
                    <a:cubicBezTo>
                      <a:pt x="3" y="4"/>
                      <a:pt x="3" y="4"/>
                      <a:pt x="3" y="4"/>
                    </a:cubicBezTo>
                    <a:cubicBezTo>
                      <a:pt x="2" y="1"/>
                      <a:pt x="1" y="0"/>
                      <a:pt x="1" y="0"/>
                    </a:cubicBezTo>
                    <a:cubicBezTo>
                      <a:pt x="1" y="0"/>
                      <a:pt x="0" y="0"/>
                      <a:pt x="0" y="1"/>
                    </a:cubicBezTo>
                    <a:cubicBezTo>
                      <a:pt x="0" y="2"/>
                      <a:pt x="1" y="2"/>
                      <a:pt x="1" y="2"/>
                    </a:cubicBezTo>
                    <a:cubicBezTo>
                      <a:pt x="1" y="3"/>
                      <a:pt x="3" y="4"/>
                      <a:pt x="3"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0" name="Freeform 311"/>
              <p:cNvSpPr>
                <a:spLocks/>
              </p:cNvSpPr>
              <p:nvPr/>
            </p:nvSpPr>
            <p:spPr bwMode="auto">
              <a:xfrm>
                <a:off x="1497013" y="2446338"/>
                <a:ext cx="3175" cy="0"/>
              </a:xfrm>
              <a:custGeom>
                <a:avLst/>
                <a:gdLst>
                  <a:gd name="T0" fmla="*/ 0 w 3"/>
                  <a:gd name="T1" fmla="*/ 0 h 1"/>
                  <a:gd name="T2" fmla="*/ 0 w 3"/>
                  <a:gd name="T3" fmla="*/ 0 h 1"/>
                  <a:gd name="T4" fmla="*/ 2 w 3"/>
                  <a:gd name="T5" fmla="*/ 1 h 1"/>
                  <a:gd name="T6" fmla="*/ 3 w 3"/>
                  <a:gd name="T7" fmla="*/ 0 h 1"/>
                  <a:gd name="T8" fmla="*/ 3 w 3"/>
                  <a:gd name="T9" fmla="*/ 0 h 1"/>
                  <a:gd name="T10" fmla="*/ 3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cubicBezTo>
                      <a:pt x="1" y="1"/>
                      <a:pt x="1" y="1"/>
                      <a:pt x="2" y="1"/>
                    </a:cubicBezTo>
                    <a:cubicBezTo>
                      <a:pt x="2" y="1"/>
                      <a:pt x="3" y="1"/>
                      <a:pt x="3" y="0"/>
                    </a:cubicBezTo>
                    <a:cubicBezTo>
                      <a:pt x="3" y="0"/>
                      <a:pt x="3" y="0"/>
                      <a:pt x="3" y="0"/>
                    </a:cubicBezTo>
                    <a:cubicBezTo>
                      <a:pt x="3" y="0"/>
                      <a:pt x="3" y="0"/>
                      <a:pt x="3"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1" name="Freeform 312"/>
              <p:cNvSpPr>
                <a:spLocks/>
              </p:cNvSpPr>
              <p:nvPr/>
            </p:nvSpPr>
            <p:spPr bwMode="auto">
              <a:xfrm>
                <a:off x="1497013" y="2443163"/>
                <a:ext cx="3175" cy="3175"/>
              </a:xfrm>
              <a:custGeom>
                <a:avLst/>
                <a:gdLst>
                  <a:gd name="T0" fmla="*/ 1 w 4"/>
                  <a:gd name="T1" fmla="*/ 1 h 2"/>
                  <a:gd name="T2" fmla="*/ 1 w 4"/>
                  <a:gd name="T3" fmla="*/ 1 h 2"/>
                  <a:gd name="T4" fmla="*/ 1 w 4"/>
                  <a:gd name="T5" fmla="*/ 2 h 2"/>
                  <a:gd name="T6" fmla="*/ 2 w 4"/>
                  <a:gd name="T7" fmla="*/ 2 h 2"/>
                  <a:gd name="T8" fmla="*/ 4 w 4"/>
                  <a:gd name="T9" fmla="*/ 2 h 2"/>
                  <a:gd name="T10" fmla="*/ 4 w 4"/>
                  <a:gd name="T11" fmla="*/ 2 h 2"/>
                  <a:gd name="T12" fmla="*/ 4 w 4"/>
                  <a:gd name="T13" fmla="*/ 2 h 2"/>
                  <a:gd name="T14" fmla="*/ 1 w 4"/>
                  <a:gd name="T15" fmla="*/ 0 h 2"/>
                  <a:gd name="T16" fmla="*/ 1 w 4"/>
                  <a:gd name="T17"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1" y="1"/>
                    </a:moveTo>
                    <a:lnTo>
                      <a:pt x="1" y="1"/>
                    </a:lnTo>
                    <a:cubicBezTo>
                      <a:pt x="1" y="2"/>
                      <a:pt x="1" y="2"/>
                      <a:pt x="1" y="2"/>
                    </a:cubicBezTo>
                    <a:cubicBezTo>
                      <a:pt x="2" y="2"/>
                      <a:pt x="2" y="2"/>
                      <a:pt x="2" y="2"/>
                    </a:cubicBezTo>
                    <a:cubicBezTo>
                      <a:pt x="2" y="2"/>
                      <a:pt x="4" y="2"/>
                      <a:pt x="4" y="2"/>
                    </a:cubicBezTo>
                    <a:lnTo>
                      <a:pt x="4" y="2"/>
                    </a:lnTo>
                    <a:lnTo>
                      <a:pt x="4" y="2"/>
                    </a:lnTo>
                    <a:cubicBezTo>
                      <a:pt x="3" y="1"/>
                      <a:pt x="1" y="0"/>
                      <a:pt x="1" y="0"/>
                    </a:cubicBezTo>
                    <a:cubicBezTo>
                      <a:pt x="0" y="1"/>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2" name="Freeform 313"/>
              <p:cNvSpPr>
                <a:spLocks/>
              </p:cNvSpPr>
              <p:nvPr/>
            </p:nvSpPr>
            <p:spPr bwMode="auto">
              <a:xfrm>
                <a:off x="1498601" y="2439988"/>
                <a:ext cx="3175" cy="6350"/>
              </a:xfrm>
              <a:custGeom>
                <a:avLst/>
                <a:gdLst>
                  <a:gd name="T0" fmla="*/ 2 w 2"/>
                  <a:gd name="T1" fmla="*/ 5 h 6"/>
                  <a:gd name="T2" fmla="*/ 2 w 2"/>
                  <a:gd name="T3" fmla="*/ 5 h 6"/>
                  <a:gd name="T4" fmla="*/ 2 w 2"/>
                  <a:gd name="T5" fmla="*/ 6 h 6"/>
                  <a:gd name="T6" fmla="*/ 2 w 2"/>
                  <a:gd name="T7" fmla="*/ 5 h 6"/>
                  <a:gd name="T8" fmla="*/ 1 w 2"/>
                  <a:gd name="T9" fmla="*/ 0 h 6"/>
                  <a:gd name="T10" fmla="*/ 1 w 2"/>
                  <a:gd name="T11" fmla="*/ 0 h 6"/>
                  <a:gd name="T12" fmla="*/ 0 w 2"/>
                  <a:gd name="T13" fmla="*/ 1 h 6"/>
                  <a:gd name="T14" fmla="*/ 0 w 2"/>
                  <a:gd name="T15" fmla="*/ 2 h 6"/>
                  <a:gd name="T16" fmla="*/ 2 w 2"/>
                  <a:gd name="T17"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2" y="5"/>
                    </a:moveTo>
                    <a:lnTo>
                      <a:pt x="2" y="5"/>
                    </a:lnTo>
                    <a:cubicBezTo>
                      <a:pt x="2" y="6"/>
                      <a:pt x="2" y="6"/>
                      <a:pt x="2" y="6"/>
                    </a:cubicBezTo>
                    <a:cubicBezTo>
                      <a:pt x="2" y="6"/>
                      <a:pt x="2" y="5"/>
                      <a:pt x="2" y="5"/>
                    </a:cubicBezTo>
                    <a:cubicBezTo>
                      <a:pt x="2" y="1"/>
                      <a:pt x="1" y="0"/>
                      <a:pt x="1" y="0"/>
                    </a:cubicBezTo>
                    <a:cubicBezTo>
                      <a:pt x="1" y="0"/>
                      <a:pt x="1" y="0"/>
                      <a:pt x="1" y="0"/>
                    </a:cubicBezTo>
                    <a:cubicBezTo>
                      <a:pt x="0" y="1"/>
                      <a:pt x="0" y="1"/>
                      <a:pt x="0" y="1"/>
                    </a:cubicBezTo>
                    <a:cubicBezTo>
                      <a:pt x="0" y="2"/>
                      <a:pt x="0" y="2"/>
                      <a:pt x="0" y="2"/>
                    </a:cubicBezTo>
                    <a:cubicBezTo>
                      <a:pt x="0" y="3"/>
                      <a:pt x="1" y="5"/>
                      <a:pt x="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3" name="Freeform 314"/>
              <p:cNvSpPr>
                <a:spLocks/>
              </p:cNvSpPr>
              <p:nvPr/>
            </p:nvSpPr>
            <p:spPr bwMode="auto">
              <a:xfrm>
                <a:off x="1501776" y="2439988"/>
                <a:ext cx="1588" cy="6350"/>
              </a:xfrm>
              <a:custGeom>
                <a:avLst/>
                <a:gdLst>
                  <a:gd name="T0" fmla="*/ 0 w 2"/>
                  <a:gd name="T1" fmla="*/ 6 h 6"/>
                  <a:gd name="T2" fmla="*/ 0 w 2"/>
                  <a:gd name="T3" fmla="*/ 6 h 6"/>
                  <a:gd name="T4" fmla="*/ 0 w 2"/>
                  <a:gd name="T5" fmla="*/ 5 h 6"/>
                  <a:gd name="T6" fmla="*/ 2 w 2"/>
                  <a:gd name="T7" fmla="*/ 2 h 6"/>
                  <a:gd name="T8" fmla="*/ 2 w 2"/>
                  <a:gd name="T9" fmla="*/ 1 h 6"/>
                  <a:gd name="T10" fmla="*/ 1 w 2"/>
                  <a:gd name="T11" fmla="*/ 0 h 6"/>
                  <a:gd name="T12" fmla="*/ 1 w 2"/>
                  <a:gd name="T13" fmla="*/ 0 h 6"/>
                  <a:gd name="T14" fmla="*/ 0 w 2"/>
                  <a:gd name="T15" fmla="*/ 5 h 6"/>
                  <a:gd name="T16" fmla="*/ 0 w 2"/>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0" y="6"/>
                    </a:moveTo>
                    <a:lnTo>
                      <a:pt x="0" y="6"/>
                    </a:lnTo>
                    <a:cubicBezTo>
                      <a:pt x="0" y="6"/>
                      <a:pt x="0" y="5"/>
                      <a:pt x="0" y="5"/>
                    </a:cubicBezTo>
                    <a:cubicBezTo>
                      <a:pt x="1" y="5"/>
                      <a:pt x="2" y="3"/>
                      <a:pt x="2" y="2"/>
                    </a:cubicBezTo>
                    <a:cubicBezTo>
                      <a:pt x="2" y="2"/>
                      <a:pt x="2" y="2"/>
                      <a:pt x="2" y="1"/>
                    </a:cubicBezTo>
                    <a:cubicBezTo>
                      <a:pt x="2" y="1"/>
                      <a:pt x="2" y="1"/>
                      <a:pt x="1" y="0"/>
                    </a:cubicBezTo>
                    <a:cubicBezTo>
                      <a:pt x="1" y="0"/>
                      <a:pt x="1" y="0"/>
                      <a:pt x="1" y="0"/>
                    </a:cubicBezTo>
                    <a:cubicBezTo>
                      <a:pt x="1" y="0"/>
                      <a:pt x="0" y="1"/>
                      <a:pt x="0" y="5"/>
                    </a:cubicBezTo>
                    <a:lnTo>
                      <a:pt x="0" y="6"/>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4" name="Freeform 315"/>
              <p:cNvSpPr>
                <a:spLocks/>
              </p:cNvSpPr>
              <p:nvPr/>
            </p:nvSpPr>
            <p:spPr bwMode="auto">
              <a:xfrm>
                <a:off x="1501776" y="2446338"/>
                <a:ext cx="3175" cy="1588"/>
              </a:xfrm>
              <a:custGeom>
                <a:avLst/>
                <a:gdLst>
                  <a:gd name="T0" fmla="*/ 0 w 3"/>
                  <a:gd name="T1" fmla="*/ 0 h 2"/>
                  <a:gd name="T2" fmla="*/ 0 w 3"/>
                  <a:gd name="T3" fmla="*/ 0 h 2"/>
                  <a:gd name="T4" fmla="*/ 0 w 3"/>
                  <a:gd name="T5" fmla="*/ 0 h 2"/>
                  <a:gd name="T6" fmla="*/ 2 w 3"/>
                  <a:gd name="T7" fmla="*/ 1 h 2"/>
                  <a:gd name="T8" fmla="*/ 3 w 3"/>
                  <a:gd name="T9" fmla="*/ 0 h 2"/>
                  <a:gd name="T10" fmla="*/ 0 w 3"/>
                  <a:gd name="T11" fmla="*/ 0 h 2"/>
                  <a:gd name="T12" fmla="*/ 0 w 3"/>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3" h="2">
                    <a:moveTo>
                      <a:pt x="0" y="0"/>
                    </a:moveTo>
                    <a:lnTo>
                      <a:pt x="0" y="0"/>
                    </a:lnTo>
                    <a:lnTo>
                      <a:pt x="0" y="0"/>
                    </a:lnTo>
                    <a:cubicBezTo>
                      <a:pt x="0" y="1"/>
                      <a:pt x="1" y="1"/>
                      <a:pt x="2" y="1"/>
                    </a:cubicBezTo>
                    <a:cubicBezTo>
                      <a:pt x="2" y="1"/>
                      <a:pt x="2" y="2"/>
                      <a:pt x="3"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5" name="Freeform 316"/>
              <p:cNvSpPr>
                <a:spLocks/>
              </p:cNvSpPr>
              <p:nvPr/>
            </p:nvSpPr>
            <p:spPr bwMode="auto">
              <a:xfrm>
                <a:off x="1501776" y="2443163"/>
                <a:ext cx="4763" cy="3175"/>
              </a:xfrm>
              <a:custGeom>
                <a:avLst/>
                <a:gdLst>
                  <a:gd name="T0" fmla="*/ 0 w 4"/>
                  <a:gd name="T1" fmla="*/ 2 h 2"/>
                  <a:gd name="T2" fmla="*/ 0 w 4"/>
                  <a:gd name="T3" fmla="*/ 2 h 2"/>
                  <a:gd name="T4" fmla="*/ 0 w 4"/>
                  <a:gd name="T5" fmla="*/ 2 h 2"/>
                  <a:gd name="T6" fmla="*/ 2 w 4"/>
                  <a:gd name="T7" fmla="*/ 2 h 2"/>
                  <a:gd name="T8" fmla="*/ 3 w 4"/>
                  <a:gd name="T9" fmla="*/ 2 h 2"/>
                  <a:gd name="T10" fmla="*/ 4 w 4"/>
                  <a:gd name="T11" fmla="*/ 1 h 2"/>
                  <a:gd name="T12" fmla="*/ 4 w 4"/>
                  <a:gd name="T13" fmla="*/ 0 h 2"/>
                  <a:gd name="T14" fmla="*/ 0 w 4"/>
                  <a:gd name="T15" fmla="*/ 2 h 2"/>
                  <a:gd name="T16" fmla="*/ 0 w 4"/>
                  <a:gd name="T1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0" y="2"/>
                    </a:moveTo>
                    <a:lnTo>
                      <a:pt x="0" y="2"/>
                    </a:lnTo>
                    <a:lnTo>
                      <a:pt x="0" y="2"/>
                    </a:lnTo>
                    <a:lnTo>
                      <a:pt x="2" y="2"/>
                    </a:lnTo>
                    <a:cubicBezTo>
                      <a:pt x="2" y="2"/>
                      <a:pt x="2" y="2"/>
                      <a:pt x="3" y="2"/>
                    </a:cubicBezTo>
                    <a:cubicBezTo>
                      <a:pt x="3" y="2"/>
                      <a:pt x="3" y="2"/>
                      <a:pt x="4" y="1"/>
                    </a:cubicBezTo>
                    <a:cubicBezTo>
                      <a:pt x="4" y="1"/>
                      <a:pt x="4" y="1"/>
                      <a:pt x="4" y="0"/>
                    </a:cubicBezTo>
                    <a:cubicBezTo>
                      <a:pt x="4" y="0"/>
                      <a:pt x="1" y="1"/>
                      <a:pt x="0" y="2"/>
                    </a:cubicBezTo>
                    <a:cubicBezTo>
                      <a:pt x="0" y="2"/>
                      <a:pt x="0" y="2"/>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6" name="Freeform 317"/>
              <p:cNvSpPr>
                <a:spLocks/>
              </p:cNvSpPr>
              <p:nvPr/>
            </p:nvSpPr>
            <p:spPr bwMode="auto">
              <a:xfrm>
                <a:off x="1501776" y="2441575"/>
                <a:ext cx="3175" cy="4763"/>
              </a:xfrm>
              <a:custGeom>
                <a:avLst/>
                <a:gdLst>
                  <a:gd name="T0" fmla="*/ 0 w 3"/>
                  <a:gd name="T1" fmla="*/ 4 h 4"/>
                  <a:gd name="T2" fmla="*/ 0 w 3"/>
                  <a:gd name="T3" fmla="*/ 4 h 4"/>
                  <a:gd name="T4" fmla="*/ 0 w 3"/>
                  <a:gd name="T5" fmla="*/ 4 h 4"/>
                  <a:gd name="T6" fmla="*/ 3 w 3"/>
                  <a:gd name="T7" fmla="*/ 2 h 4"/>
                  <a:gd name="T8" fmla="*/ 3 w 3"/>
                  <a:gd name="T9" fmla="*/ 1 h 4"/>
                  <a:gd name="T10" fmla="*/ 2 w 3"/>
                  <a:gd name="T11" fmla="*/ 0 h 4"/>
                  <a:gd name="T12" fmla="*/ 0 w 3"/>
                  <a:gd name="T13" fmla="*/ 4 h 4"/>
                  <a:gd name="T14" fmla="*/ 0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0" y="4"/>
                    </a:moveTo>
                    <a:lnTo>
                      <a:pt x="0" y="4"/>
                    </a:lnTo>
                    <a:cubicBezTo>
                      <a:pt x="0" y="4"/>
                      <a:pt x="0" y="4"/>
                      <a:pt x="0" y="4"/>
                    </a:cubicBezTo>
                    <a:cubicBezTo>
                      <a:pt x="0" y="4"/>
                      <a:pt x="2" y="3"/>
                      <a:pt x="3" y="2"/>
                    </a:cubicBezTo>
                    <a:cubicBezTo>
                      <a:pt x="3" y="2"/>
                      <a:pt x="3" y="2"/>
                      <a:pt x="3" y="1"/>
                    </a:cubicBezTo>
                    <a:cubicBezTo>
                      <a:pt x="3" y="0"/>
                      <a:pt x="2" y="0"/>
                      <a:pt x="2" y="0"/>
                    </a:cubicBezTo>
                    <a:cubicBezTo>
                      <a:pt x="2" y="0"/>
                      <a:pt x="1" y="1"/>
                      <a:pt x="0" y="4"/>
                    </a:cubicBezTo>
                    <a:cubicBezTo>
                      <a:pt x="0" y="4"/>
                      <a:pt x="0" y="4"/>
                      <a:pt x="0"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7" name="Freeform 318"/>
              <p:cNvSpPr>
                <a:spLocks/>
              </p:cNvSpPr>
              <p:nvPr/>
            </p:nvSpPr>
            <p:spPr bwMode="auto">
              <a:xfrm>
                <a:off x="1508126" y="2562225"/>
                <a:ext cx="1588" cy="1588"/>
              </a:xfrm>
              <a:custGeom>
                <a:avLst/>
                <a:gdLst>
                  <a:gd name="T0" fmla="*/ 0 w 2"/>
                  <a:gd name="T1" fmla="*/ 2 h 3"/>
                  <a:gd name="T2" fmla="*/ 0 w 2"/>
                  <a:gd name="T3" fmla="*/ 2 h 3"/>
                  <a:gd name="T4" fmla="*/ 2 w 2"/>
                  <a:gd name="T5" fmla="*/ 2 h 3"/>
                  <a:gd name="T6" fmla="*/ 2 w 2"/>
                  <a:gd name="T7" fmla="*/ 3 h 3"/>
                  <a:gd name="T8" fmla="*/ 2 w 2"/>
                  <a:gd name="T9" fmla="*/ 3 h 3"/>
                  <a:gd name="T10" fmla="*/ 2 w 2"/>
                  <a:gd name="T11" fmla="*/ 0 h 3"/>
                  <a:gd name="T12" fmla="*/ 2 w 2"/>
                  <a:gd name="T13" fmla="*/ 0 h 3"/>
                  <a:gd name="T14" fmla="*/ 2 w 2"/>
                  <a:gd name="T15" fmla="*/ 1 h 3"/>
                  <a:gd name="T16" fmla="*/ 0 w 2"/>
                  <a:gd name="T17" fmla="*/ 1 h 3"/>
                  <a:gd name="T18" fmla="*/ 0 w 2"/>
                  <a:gd name="T19" fmla="*/ 0 h 3"/>
                  <a:gd name="T20" fmla="*/ 0 w 2"/>
                  <a:gd name="T21" fmla="*/ 0 h 3"/>
                  <a:gd name="T22" fmla="*/ 0 w 2"/>
                  <a:gd name="T23" fmla="*/ 3 h 3"/>
                  <a:gd name="T24" fmla="*/ 0 w 2"/>
                  <a:gd name="T25" fmla="*/ 3 h 3"/>
                  <a:gd name="T26" fmla="*/ 0 w 2"/>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0" y="2"/>
                    </a:moveTo>
                    <a:lnTo>
                      <a:pt x="0" y="2"/>
                    </a:lnTo>
                    <a:lnTo>
                      <a:pt x="2" y="2"/>
                    </a:lnTo>
                    <a:lnTo>
                      <a:pt x="2" y="3"/>
                    </a:lnTo>
                    <a:lnTo>
                      <a:pt x="2" y="3"/>
                    </a:lnTo>
                    <a:lnTo>
                      <a:pt x="2" y="0"/>
                    </a:lnTo>
                    <a:lnTo>
                      <a:pt x="2" y="0"/>
                    </a:lnTo>
                    <a:lnTo>
                      <a:pt x="2" y="1"/>
                    </a:lnTo>
                    <a:lnTo>
                      <a:pt x="0" y="1"/>
                    </a:lnTo>
                    <a:lnTo>
                      <a:pt x="0" y="0"/>
                    </a:lnTo>
                    <a:lnTo>
                      <a:pt x="0" y="0"/>
                    </a:lnTo>
                    <a:lnTo>
                      <a:pt x="0" y="3"/>
                    </a:lnTo>
                    <a:lnTo>
                      <a:pt x="0" y="3"/>
                    </a:lnTo>
                    <a:lnTo>
                      <a:pt x="0"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8" name="Freeform 319"/>
              <p:cNvSpPr>
                <a:spLocks/>
              </p:cNvSpPr>
              <p:nvPr/>
            </p:nvSpPr>
            <p:spPr bwMode="auto">
              <a:xfrm>
                <a:off x="1511301" y="2562225"/>
                <a:ext cx="1588" cy="1588"/>
              </a:xfrm>
              <a:custGeom>
                <a:avLst/>
                <a:gdLst>
                  <a:gd name="T0" fmla="*/ 1 w 3"/>
                  <a:gd name="T1" fmla="*/ 3 h 3"/>
                  <a:gd name="T2" fmla="*/ 1 w 3"/>
                  <a:gd name="T3" fmla="*/ 3 h 3"/>
                  <a:gd name="T4" fmla="*/ 3 w 3"/>
                  <a:gd name="T5" fmla="*/ 3 h 3"/>
                  <a:gd name="T6" fmla="*/ 3 w 3"/>
                  <a:gd name="T7" fmla="*/ 2 h 3"/>
                  <a:gd name="T8" fmla="*/ 3 w 3"/>
                  <a:gd name="T9" fmla="*/ 0 h 3"/>
                  <a:gd name="T10" fmla="*/ 2 w 3"/>
                  <a:gd name="T11" fmla="*/ 0 h 3"/>
                  <a:gd name="T12" fmla="*/ 2 w 3"/>
                  <a:gd name="T13" fmla="*/ 2 h 3"/>
                  <a:gd name="T14" fmla="*/ 1 w 3"/>
                  <a:gd name="T15" fmla="*/ 3 h 3"/>
                  <a:gd name="T16" fmla="*/ 1 w 3"/>
                  <a:gd name="T17" fmla="*/ 2 h 3"/>
                  <a:gd name="T18" fmla="*/ 1 w 3"/>
                  <a:gd name="T19" fmla="*/ 0 h 3"/>
                  <a:gd name="T20" fmla="*/ 0 w 3"/>
                  <a:gd name="T21" fmla="*/ 0 h 3"/>
                  <a:gd name="T22" fmla="*/ 0 w 3"/>
                  <a:gd name="T23" fmla="*/ 2 h 3"/>
                  <a:gd name="T24" fmla="*/ 0 w 3"/>
                  <a:gd name="T25" fmla="*/ 3 h 3"/>
                  <a:gd name="T26" fmla="*/ 1 w 3"/>
                  <a:gd name="T2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1" y="3"/>
                    </a:moveTo>
                    <a:lnTo>
                      <a:pt x="1" y="3"/>
                    </a:lnTo>
                    <a:cubicBezTo>
                      <a:pt x="2" y="3"/>
                      <a:pt x="2" y="3"/>
                      <a:pt x="3" y="3"/>
                    </a:cubicBezTo>
                    <a:cubicBezTo>
                      <a:pt x="3" y="2"/>
                      <a:pt x="3" y="2"/>
                      <a:pt x="3" y="2"/>
                    </a:cubicBezTo>
                    <a:lnTo>
                      <a:pt x="3" y="0"/>
                    </a:lnTo>
                    <a:lnTo>
                      <a:pt x="2" y="0"/>
                    </a:lnTo>
                    <a:lnTo>
                      <a:pt x="2" y="2"/>
                    </a:lnTo>
                    <a:cubicBezTo>
                      <a:pt x="2" y="2"/>
                      <a:pt x="2" y="3"/>
                      <a:pt x="1" y="3"/>
                    </a:cubicBezTo>
                    <a:cubicBezTo>
                      <a:pt x="1" y="3"/>
                      <a:pt x="1" y="2"/>
                      <a:pt x="1" y="2"/>
                    </a:cubicBezTo>
                    <a:lnTo>
                      <a:pt x="1" y="0"/>
                    </a:lnTo>
                    <a:lnTo>
                      <a:pt x="0" y="0"/>
                    </a:lnTo>
                    <a:lnTo>
                      <a:pt x="0" y="2"/>
                    </a:lnTo>
                    <a:cubicBezTo>
                      <a:pt x="0" y="2"/>
                      <a:pt x="0" y="2"/>
                      <a:pt x="0" y="3"/>
                    </a:cubicBezTo>
                    <a:cubicBezTo>
                      <a:pt x="0" y="3"/>
                      <a:pt x="1" y="3"/>
                      <a:pt x="1"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9" name="Freeform 320"/>
              <p:cNvSpPr>
                <a:spLocks noEditPoints="1"/>
              </p:cNvSpPr>
              <p:nvPr/>
            </p:nvSpPr>
            <p:spPr bwMode="auto">
              <a:xfrm>
                <a:off x="1512888" y="2562225"/>
                <a:ext cx="3175" cy="1588"/>
              </a:xfrm>
              <a:custGeom>
                <a:avLst/>
                <a:gdLst>
                  <a:gd name="T0" fmla="*/ 2 w 3"/>
                  <a:gd name="T1" fmla="*/ 1 h 3"/>
                  <a:gd name="T2" fmla="*/ 2 w 3"/>
                  <a:gd name="T3" fmla="*/ 1 h 3"/>
                  <a:gd name="T4" fmla="*/ 2 w 3"/>
                  <a:gd name="T5" fmla="*/ 2 h 3"/>
                  <a:gd name="T6" fmla="*/ 1 w 3"/>
                  <a:gd name="T7" fmla="*/ 2 h 3"/>
                  <a:gd name="T8" fmla="*/ 2 w 3"/>
                  <a:gd name="T9" fmla="*/ 1 h 3"/>
                  <a:gd name="T10" fmla="*/ 1 w 3"/>
                  <a:gd name="T11" fmla="*/ 2 h 3"/>
                  <a:gd name="T12" fmla="*/ 1 w 3"/>
                  <a:gd name="T13" fmla="*/ 2 h 3"/>
                  <a:gd name="T14" fmla="*/ 2 w 3"/>
                  <a:gd name="T15" fmla="*/ 2 h 3"/>
                  <a:gd name="T16" fmla="*/ 3 w 3"/>
                  <a:gd name="T17" fmla="*/ 3 h 3"/>
                  <a:gd name="T18" fmla="*/ 3 w 3"/>
                  <a:gd name="T19" fmla="*/ 3 h 3"/>
                  <a:gd name="T20" fmla="*/ 2 w 3"/>
                  <a:gd name="T21" fmla="*/ 0 h 3"/>
                  <a:gd name="T22" fmla="*/ 1 w 3"/>
                  <a:gd name="T23" fmla="*/ 0 h 3"/>
                  <a:gd name="T24" fmla="*/ 0 w 3"/>
                  <a:gd name="T25" fmla="*/ 3 h 3"/>
                  <a:gd name="T26" fmla="*/ 1 w 3"/>
                  <a:gd name="T27" fmla="*/ 3 h 3"/>
                  <a:gd name="T28" fmla="*/ 1 w 3"/>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2" y="1"/>
                    </a:moveTo>
                    <a:lnTo>
                      <a:pt x="2" y="1"/>
                    </a:lnTo>
                    <a:lnTo>
                      <a:pt x="2" y="2"/>
                    </a:lnTo>
                    <a:lnTo>
                      <a:pt x="1" y="2"/>
                    </a:lnTo>
                    <a:lnTo>
                      <a:pt x="2" y="1"/>
                    </a:lnTo>
                    <a:close/>
                    <a:moveTo>
                      <a:pt x="1" y="2"/>
                    </a:moveTo>
                    <a:lnTo>
                      <a:pt x="1" y="2"/>
                    </a:lnTo>
                    <a:lnTo>
                      <a:pt x="2" y="2"/>
                    </a:lnTo>
                    <a:lnTo>
                      <a:pt x="3" y="3"/>
                    </a:lnTo>
                    <a:lnTo>
                      <a:pt x="3" y="3"/>
                    </a:lnTo>
                    <a:lnTo>
                      <a:pt x="2" y="0"/>
                    </a:lnTo>
                    <a:lnTo>
                      <a:pt x="1" y="0"/>
                    </a:lnTo>
                    <a:lnTo>
                      <a:pt x="0" y="3"/>
                    </a:lnTo>
                    <a:lnTo>
                      <a:pt x="1" y="3"/>
                    </a:lnTo>
                    <a:lnTo>
                      <a:pt x="1"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0" name="Freeform 321"/>
              <p:cNvSpPr>
                <a:spLocks/>
              </p:cNvSpPr>
              <p:nvPr/>
            </p:nvSpPr>
            <p:spPr bwMode="auto">
              <a:xfrm>
                <a:off x="1516063" y="2562225"/>
                <a:ext cx="4763" cy="1588"/>
              </a:xfrm>
              <a:custGeom>
                <a:avLst/>
                <a:gdLst>
                  <a:gd name="T0" fmla="*/ 2 w 5"/>
                  <a:gd name="T1" fmla="*/ 3 h 3"/>
                  <a:gd name="T2" fmla="*/ 2 w 5"/>
                  <a:gd name="T3" fmla="*/ 3 h 3"/>
                  <a:gd name="T4" fmla="*/ 3 w 5"/>
                  <a:gd name="T5" fmla="*/ 1 h 3"/>
                  <a:gd name="T6" fmla="*/ 3 w 5"/>
                  <a:gd name="T7" fmla="*/ 3 h 3"/>
                  <a:gd name="T8" fmla="*/ 4 w 5"/>
                  <a:gd name="T9" fmla="*/ 3 h 3"/>
                  <a:gd name="T10" fmla="*/ 5 w 5"/>
                  <a:gd name="T11" fmla="*/ 0 h 3"/>
                  <a:gd name="T12" fmla="*/ 4 w 5"/>
                  <a:gd name="T13" fmla="*/ 0 h 3"/>
                  <a:gd name="T14" fmla="*/ 4 w 5"/>
                  <a:gd name="T15" fmla="*/ 2 h 3"/>
                  <a:gd name="T16" fmla="*/ 3 w 5"/>
                  <a:gd name="T17" fmla="*/ 0 h 3"/>
                  <a:gd name="T18" fmla="*/ 2 w 5"/>
                  <a:gd name="T19" fmla="*/ 0 h 3"/>
                  <a:gd name="T20" fmla="*/ 1 w 5"/>
                  <a:gd name="T21" fmla="*/ 2 h 3"/>
                  <a:gd name="T22" fmla="*/ 1 w 5"/>
                  <a:gd name="T23" fmla="*/ 0 h 3"/>
                  <a:gd name="T24" fmla="*/ 0 w 5"/>
                  <a:gd name="T25" fmla="*/ 0 h 3"/>
                  <a:gd name="T26" fmla="*/ 1 w 5"/>
                  <a:gd name="T27" fmla="*/ 3 h 3"/>
                  <a:gd name="T28" fmla="*/ 2 w 5"/>
                  <a:gd name="T29"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2" y="3"/>
                    </a:moveTo>
                    <a:lnTo>
                      <a:pt x="2" y="3"/>
                    </a:lnTo>
                    <a:lnTo>
                      <a:pt x="3" y="1"/>
                    </a:lnTo>
                    <a:lnTo>
                      <a:pt x="3" y="3"/>
                    </a:lnTo>
                    <a:lnTo>
                      <a:pt x="4" y="3"/>
                    </a:lnTo>
                    <a:lnTo>
                      <a:pt x="5" y="0"/>
                    </a:lnTo>
                    <a:lnTo>
                      <a:pt x="4" y="0"/>
                    </a:lnTo>
                    <a:lnTo>
                      <a:pt x="4" y="2"/>
                    </a:lnTo>
                    <a:lnTo>
                      <a:pt x="3" y="0"/>
                    </a:lnTo>
                    <a:lnTo>
                      <a:pt x="2" y="0"/>
                    </a:lnTo>
                    <a:lnTo>
                      <a:pt x="1" y="2"/>
                    </a:lnTo>
                    <a:lnTo>
                      <a:pt x="1" y="0"/>
                    </a:lnTo>
                    <a:lnTo>
                      <a:pt x="0" y="0"/>
                    </a:lnTo>
                    <a:lnTo>
                      <a:pt x="1" y="3"/>
                    </a:lnTo>
                    <a:lnTo>
                      <a:pt x="2"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1" name="Freeform 322"/>
              <p:cNvSpPr>
                <a:spLocks/>
              </p:cNvSpPr>
              <p:nvPr/>
            </p:nvSpPr>
            <p:spPr bwMode="auto">
              <a:xfrm>
                <a:off x="1520826" y="2562225"/>
                <a:ext cx="3175" cy="1588"/>
              </a:xfrm>
              <a:custGeom>
                <a:avLst/>
                <a:gdLst>
                  <a:gd name="T0" fmla="*/ 2 w 3"/>
                  <a:gd name="T1" fmla="*/ 3 h 3"/>
                  <a:gd name="T2" fmla="*/ 2 w 3"/>
                  <a:gd name="T3" fmla="*/ 3 h 3"/>
                  <a:gd name="T4" fmla="*/ 3 w 3"/>
                  <a:gd name="T5" fmla="*/ 3 h 3"/>
                  <a:gd name="T6" fmla="*/ 3 w 3"/>
                  <a:gd name="T7" fmla="*/ 2 h 3"/>
                  <a:gd name="T8" fmla="*/ 2 w 3"/>
                  <a:gd name="T9" fmla="*/ 2 h 3"/>
                  <a:gd name="T10" fmla="*/ 1 w 3"/>
                  <a:gd name="T11" fmla="*/ 2 h 3"/>
                  <a:gd name="T12" fmla="*/ 3 w 3"/>
                  <a:gd name="T13" fmla="*/ 2 h 3"/>
                  <a:gd name="T14" fmla="*/ 3 w 3"/>
                  <a:gd name="T15" fmla="*/ 1 h 3"/>
                  <a:gd name="T16" fmla="*/ 1 w 3"/>
                  <a:gd name="T17" fmla="*/ 1 h 3"/>
                  <a:gd name="T18" fmla="*/ 2 w 3"/>
                  <a:gd name="T19" fmla="*/ 0 h 3"/>
                  <a:gd name="T20" fmla="*/ 3 w 3"/>
                  <a:gd name="T21" fmla="*/ 0 h 3"/>
                  <a:gd name="T22" fmla="*/ 3 w 3"/>
                  <a:gd name="T23" fmla="*/ 0 h 3"/>
                  <a:gd name="T24" fmla="*/ 2 w 3"/>
                  <a:gd name="T25" fmla="*/ 0 h 3"/>
                  <a:gd name="T26" fmla="*/ 0 w 3"/>
                  <a:gd name="T27" fmla="*/ 2 h 3"/>
                  <a:gd name="T28" fmla="*/ 1 w 3"/>
                  <a:gd name="T29" fmla="*/ 3 h 3"/>
                  <a:gd name="T30" fmla="*/ 2 w 3"/>
                  <a:gd name="T31"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2" y="3"/>
                    </a:moveTo>
                    <a:lnTo>
                      <a:pt x="2" y="3"/>
                    </a:lnTo>
                    <a:lnTo>
                      <a:pt x="3" y="3"/>
                    </a:lnTo>
                    <a:lnTo>
                      <a:pt x="3" y="2"/>
                    </a:lnTo>
                    <a:lnTo>
                      <a:pt x="2" y="2"/>
                    </a:lnTo>
                    <a:cubicBezTo>
                      <a:pt x="1" y="2"/>
                      <a:pt x="1" y="2"/>
                      <a:pt x="1" y="2"/>
                    </a:cubicBezTo>
                    <a:lnTo>
                      <a:pt x="3" y="2"/>
                    </a:lnTo>
                    <a:lnTo>
                      <a:pt x="3" y="1"/>
                    </a:lnTo>
                    <a:lnTo>
                      <a:pt x="1" y="1"/>
                    </a:lnTo>
                    <a:cubicBezTo>
                      <a:pt x="1" y="1"/>
                      <a:pt x="1" y="0"/>
                      <a:pt x="2" y="0"/>
                    </a:cubicBezTo>
                    <a:lnTo>
                      <a:pt x="3" y="0"/>
                    </a:lnTo>
                    <a:lnTo>
                      <a:pt x="3" y="0"/>
                    </a:lnTo>
                    <a:lnTo>
                      <a:pt x="2" y="0"/>
                    </a:lnTo>
                    <a:cubicBezTo>
                      <a:pt x="1" y="0"/>
                      <a:pt x="0" y="0"/>
                      <a:pt x="0" y="2"/>
                    </a:cubicBezTo>
                    <a:cubicBezTo>
                      <a:pt x="0" y="2"/>
                      <a:pt x="0" y="2"/>
                      <a:pt x="1" y="3"/>
                    </a:cubicBezTo>
                    <a:cubicBezTo>
                      <a:pt x="1" y="3"/>
                      <a:pt x="1" y="3"/>
                      <a:pt x="2"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2" name="Freeform 323"/>
              <p:cNvSpPr>
                <a:spLocks/>
              </p:cNvSpPr>
              <p:nvPr/>
            </p:nvSpPr>
            <p:spPr bwMode="auto">
              <a:xfrm>
                <a:off x="1524001" y="2562225"/>
                <a:ext cx="1588" cy="1588"/>
              </a:xfrm>
              <a:custGeom>
                <a:avLst/>
                <a:gdLst>
                  <a:gd name="T0" fmla="*/ 1 w 1"/>
                  <a:gd name="T1" fmla="*/ 0 h 3"/>
                  <a:gd name="T2" fmla="*/ 1 w 1"/>
                  <a:gd name="T3" fmla="*/ 0 h 3"/>
                  <a:gd name="T4" fmla="*/ 0 w 1"/>
                  <a:gd name="T5" fmla="*/ 0 h 3"/>
                  <a:gd name="T6" fmla="*/ 0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lnTo>
                      <a:pt x="1" y="0"/>
                    </a:lnTo>
                    <a:lnTo>
                      <a:pt x="0" y="0"/>
                    </a:lnTo>
                    <a:lnTo>
                      <a:pt x="0" y="3"/>
                    </a:lnTo>
                    <a:lnTo>
                      <a:pt x="1" y="3"/>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3" name="Freeform 324"/>
              <p:cNvSpPr>
                <a:spLocks/>
              </p:cNvSpPr>
              <p:nvPr/>
            </p:nvSpPr>
            <p:spPr bwMode="auto">
              <a:xfrm>
                <a:off x="1497013" y="2559050"/>
                <a:ext cx="3175" cy="4763"/>
              </a:xfrm>
              <a:custGeom>
                <a:avLst/>
                <a:gdLst>
                  <a:gd name="T0" fmla="*/ 3 w 3"/>
                  <a:gd name="T1" fmla="*/ 5 h 5"/>
                  <a:gd name="T2" fmla="*/ 3 w 3"/>
                  <a:gd name="T3" fmla="*/ 5 h 5"/>
                  <a:gd name="T4" fmla="*/ 3 w 3"/>
                  <a:gd name="T5" fmla="*/ 5 h 5"/>
                  <a:gd name="T6" fmla="*/ 3 w 3"/>
                  <a:gd name="T7" fmla="*/ 5 h 5"/>
                  <a:gd name="T8" fmla="*/ 1 w 3"/>
                  <a:gd name="T9" fmla="*/ 0 h 5"/>
                  <a:gd name="T10" fmla="*/ 0 w 3"/>
                  <a:gd name="T11" fmla="*/ 2 h 5"/>
                  <a:gd name="T12" fmla="*/ 1 w 3"/>
                  <a:gd name="T13" fmla="*/ 3 h 5"/>
                  <a:gd name="T14" fmla="*/ 3 w 3"/>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3" y="5"/>
                    </a:moveTo>
                    <a:lnTo>
                      <a:pt x="3" y="5"/>
                    </a:lnTo>
                    <a:cubicBezTo>
                      <a:pt x="3" y="5"/>
                      <a:pt x="3" y="5"/>
                      <a:pt x="3" y="5"/>
                    </a:cubicBezTo>
                    <a:cubicBezTo>
                      <a:pt x="3" y="5"/>
                      <a:pt x="3" y="5"/>
                      <a:pt x="3" y="5"/>
                    </a:cubicBezTo>
                    <a:cubicBezTo>
                      <a:pt x="2" y="2"/>
                      <a:pt x="1" y="0"/>
                      <a:pt x="1" y="0"/>
                    </a:cubicBezTo>
                    <a:cubicBezTo>
                      <a:pt x="1" y="0"/>
                      <a:pt x="0" y="1"/>
                      <a:pt x="0" y="2"/>
                    </a:cubicBezTo>
                    <a:cubicBezTo>
                      <a:pt x="0" y="2"/>
                      <a:pt x="1" y="3"/>
                      <a:pt x="1" y="3"/>
                    </a:cubicBezTo>
                    <a:cubicBezTo>
                      <a:pt x="1" y="4"/>
                      <a:pt x="3" y="4"/>
                      <a:pt x="3"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4" name="Freeform 325"/>
              <p:cNvSpPr>
                <a:spLocks/>
              </p:cNvSpPr>
              <p:nvPr/>
            </p:nvSpPr>
            <p:spPr bwMode="auto">
              <a:xfrm>
                <a:off x="1497013" y="2563813"/>
                <a:ext cx="3175" cy="1588"/>
              </a:xfrm>
              <a:custGeom>
                <a:avLst/>
                <a:gdLst>
                  <a:gd name="T0" fmla="*/ 0 w 3"/>
                  <a:gd name="T1" fmla="*/ 0 h 1"/>
                  <a:gd name="T2" fmla="*/ 0 w 3"/>
                  <a:gd name="T3" fmla="*/ 0 h 1"/>
                  <a:gd name="T4" fmla="*/ 2 w 3"/>
                  <a:gd name="T5" fmla="*/ 1 h 1"/>
                  <a:gd name="T6" fmla="*/ 3 w 3"/>
                  <a:gd name="T7" fmla="*/ 0 h 1"/>
                  <a:gd name="T8" fmla="*/ 3 w 3"/>
                  <a:gd name="T9" fmla="*/ 0 h 1"/>
                  <a:gd name="T10" fmla="*/ 3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cubicBezTo>
                      <a:pt x="1" y="1"/>
                      <a:pt x="1" y="1"/>
                      <a:pt x="2" y="1"/>
                    </a:cubicBezTo>
                    <a:cubicBezTo>
                      <a:pt x="2" y="1"/>
                      <a:pt x="3" y="0"/>
                      <a:pt x="3" y="0"/>
                    </a:cubicBezTo>
                    <a:lnTo>
                      <a:pt x="3" y="0"/>
                    </a:lnTo>
                    <a:cubicBezTo>
                      <a:pt x="3" y="0"/>
                      <a:pt x="3" y="0"/>
                      <a:pt x="3"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5" name="Freeform 326"/>
              <p:cNvSpPr>
                <a:spLocks/>
              </p:cNvSpPr>
              <p:nvPr/>
            </p:nvSpPr>
            <p:spPr bwMode="auto">
              <a:xfrm>
                <a:off x="1497013" y="2562225"/>
                <a:ext cx="3175" cy="1588"/>
              </a:xfrm>
              <a:custGeom>
                <a:avLst/>
                <a:gdLst>
                  <a:gd name="T0" fmla="*/ 1 w 4"/>
                  <a:gd name="T1" fmla="*/ 1 h 2"/>
                  <a:gd name="T2" fmla="*/ 1 w 4"/>
                  <a:gd name="T3" fmla="*/ 1 h 2"/>
                  <a:gd name="T4" fmla="*/ 1 w 4"/>
                  <a:gd name="T5" fmla="*/ 2 h 2"/>
                  <a:gd name="T6" fmla="*/ 2 w 4"/>
                  <a:gd name="T7" fmla="*/ 2 h 2"/>
                  <a:gd name="T8" fmla="*/ 4 w 4"/>
                  <a:gd name="T9" fmla="*/ 2 h 2"/>
                  <a:gd name="T10" fmla="*/ 4 w 4"/>
                  <a:gd name="T11" fmla="*/ 2 h 2"/>
                  <a:gd name="T12" fmla="*/ 4 w 4"/>
                  <a:gd name="T13" fmla="*/ 2 h 2"/>
                  <a:gd name="T14" fmla="*/ 1 w 4"/>
                  <a:gd name="T15" fmla="*/ 0 h 2"/>
                  <a:gd name="T16" fmla="*/ 1 w 4"/>
                  <a:gd name="T17"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1" y="1"/>
                    </a:moveTo>
                    <a:lnTo>
                      <a:pt x="1" y="1"/>
                    </a:lnTo>
                    <a:cubicBezTo>
                      <a:pt x="1" y="2"/>
                      <a:pt x="1" y="2"/>
                      <a:pt x="1" y="2"/>
                    </a:cubicBezTo>
                    <a:cubicBezTo>
                      <a:pt x="2" y="2"/>
                      <a:pt x="2" y="2"/>
                      <a:pt x="2" y="2"/>
                    </a:cubicBezTo>
                    <a:lnTo>
                      <a:pt x="4" y="2"/>
                    </a:lnTo>
                    <a:lnTo>
                      <a:pt x="4" y="2"/>
                    </a:lnTo>
                    <a:lnTo>
                      <a:pt x="4" y="2"/>
                    </a:lnTo>
                    <a:cubicBezTo>
                      <a:pt x="3" y="1"/>
                      <a:pt x="1" y="0"/>
                      <a:pt x="1" y="0"/>
                    </a:cubicBezTo>
                    <a:cubicBezTo>
                      <a:pt x="0" y="0"/>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6" name="Freeform 327"/>
              <p:cNvSpPr>
                <a:spLocks/>
              </p:cNvSpPr>
              <p:nvPr/>
            </p:nvSpPr>
            <p:spPr bwMode="auto">
              <a:xfrm>
                <a:off x="1498601" y="2559050"/>
                <a:ext cx="3175" cy="4763"/>
              </a:xfrm>
              <a:custGeom>
                <a:avLst/>
                <a:gdLst>
                  <a:gd name="T0" fmla="*/ 2 w 2"/>
                  <a:gd name="T1" fmla="*/ 5 h 5"/>
                  <a:gd name="T2" fmla="*/ 2 w 2"/>
                  <a:gd name="T3" fmla="*/ 5 h 5"/>
                  <a:gd name="T4" fmla="*/ 2 w 2"/>
                  <a:gd name="T5" fmla="*/ 5 h 5"/>
                  <a:gd name="T6" fmla="*/ 2 w 2"/>
                  <a:gd name="T7" fmla="*/ 5 h 5"/>
                  <a:gd name="T8" fmla="*/ 1 w 2"/>
                  <a:gd name="T9" fmla="*/ 0 h 5"/>
                  <a:gd name="T10" fmla="*/ 1 w 2"/>
                  <a:gd name="T11" fmla="*/ 0 h 5"/>
                  <a:gd name="T12" fmla="*/ 0 w 2"/>
                  <a:gd name="T13" fmla="*/ 1 h 5"/>
                  <a:gd name="T14" fmla="*/ 0 w 2"/>
                  <a:gd name="T15" fmla="*/ 2 h 5"/>
                  <a:gd name="T16" fmla="*/ 2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2" y="5"/>
                    </a:moveTo>
                    <a:lnTo>
                      <a:pt x="2" y="5"/>
                    </a:lnTo>
                    <a:cubicBezTo>
                      <a:pt x="2" y="5"/>
                      <a:pt x="2" y="5"/>
                      <a:pt x="2" y="5"/>
                    </a:cubicBezTo>
                    <a:lnTo>
                      <a:pt x="2" y="5"/>
                    </a:lnTo>
                    <a:cubicBezTo>
                      <a:pt x="2" y="1"/>
                      <a:pt x="1" y="0"/>
                      <a:pt x="1" y="0"/>
                    </a:cubicBezTo>
                    <a:cubicBezTo>
                      <a:pt x="1" y="0"/>
                      <a:pt x="1" y="0"/>
                      <a:pt x="1" y="0"/>
                    </a:cubicBezTo>
                    <a:cubicBezTo>
                      <a:pt x="0" y="0"/>
                      <a:pt x="0" y="1"/>
                      <a:pt x="0" y="1"/>
                    </a:cubicBezTo>
                    <a:cubicBezTo>
                      <a:pt x="0" y="2"/>
                      <a:pt x="0" y="2"/>
                      <a:pt x="0" y="2"/>
                    </a:cubicBezTo>
                    <a:cubicBezTo>
                      <a:pt x="0" y="3"/>
                      <a:pt x="1" y="5"/>
                      <a:pt x="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7" name="Freeform 328"/>
              <p:cNvSpPr>
                <a:spLocks/>
              </p:cNvSpPr>
              <p:nvPr/>
            </p:nvSpPr>
            <p:spPr bwMode="auto">
              <a:xfrm>
                <a:off x="1501776" y="2559050"/>
                <a:ext cx="1588" cy="4763"/>
              </a:xfrm>
              <a:custGeom>
                <a:avLst/>
                <a:gdLst>
                  <a:gd name="T0" fmla="*/ 0 w 2"/>
                  <a:gd name="T1" fmla="*/ 5 h 5"/>
                  <a:gd name="T2" fmla="*/ 0 w 2"/>
                  <a:gd name="T3" fmla="*/ 5 h 5"/>
                  <a:gd name="T4" fmla="*/ 2 w 2"/>
                  <a:gd name="T5" fmla="*/ 2 h 5"/>
                  <a:gd name="T6" fmla="*/ 2 w 2"/>
                  <a:gd name="T7" fmla="*/ 1 h 5"/>
                  <a:gd name="T8" fmla="*/ 1 w 2"/>
                  <a:gd name="T9" fmla="*/ 0 h 5"/>
                  <a:gd name="T10" fmla="*/ 1 w 2"/>
                  <a:gd name="T11" fmla="*/ 0 h 5"/>
                  <a:gd name="T12" fmla="*/ 0 w 2"/>
                  <a:gd name="T13" fmla="*/ 5 h 5"/>
                  <a:gd name="T14" fmla="*/ 0 w 2"/>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5">
                    <a:moveTo>
                      <a:pt x="0" y="5"/>
                    </a:moveTo>
                    <a:lnTo>
                      <a:pt x="0" y="5"/>
                    </a:lnTo>
                    <a:cubicBezTo>
                      <a:pt x="1" y="5"/>
                      <a:pt x="2" y="3"/>
                      <a:pt x="2" y="2"/>
                    </a:cubicBezTo>
                    <a:cubicBezTo>
                      <a:pt x="2" y="2"/>
                      <a:pt x="2" y="1"/>
                      <a:pt x="2" y="1"/>
                    </a:cubicBezTo>
                    <a:cubicBezTo>
                      <a:pt x="2" y="1"/>
                      <a:pt x="2" y="0"/>
                      <a:pt x="1" y="0"/>
                    </a:cubicBezTo>
                    <a:cubicBezTo>
                      <a:pt x="1" y="0"/>
                      <a:pt x="1" y="0"/>
                      <a:pt x="1" y="0"/>
                    </a:cubicBezTo>
                    <a:cubicBezTo>
                      <a:pt x="1" y="0"/>
                      <a:pt x="0" y="1"/>
                      <a:pt x="0" y="5"/>
                    </a:cubicBezTo>
                    <a:cubicBezTo>
                      <a:pt x="0" y="5"/>
                      <a:pt x="0" y="5"/>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8" name="Freeform 329"/>
              <p:cNvSpPr>
                <a:spLocks/>
              </p:cNvSpPr>
              <p:nvPr/>
            </p:nvSpPr>
            <p:spPr bwMode="auto">
              <a:xfrm>
                <a:off x="1501776" y="2563813"/>
                <a:ext cx="3175" cy="1588"/>
              </a:xfrm>
              <a:custGeom>
                <a:avLst/>
                <a:gdLst>
                  <a:gd name="T0" fmla="*/ 0 w 3"/>
                  <a:gd name="T1" fmla="*/ 0 h 1"/>
                  <a:gd name="T2" fmla="*/ 0 w 3"/>
                  <a:gd name="T3" fmla="*/ 0 h 1"/>
                  <a:gd name="T4" fmla="*/ 0 w 3"/>
                  <a:gd name="T5" fmla="*/ 0 h 1"/>
                  <a:gd name="T6" fmla="*/ 2 w 3"/>
                  <a:gd name="T7" fmla="*/ 1 h 1"/>
                  <a:gd name="T8" fmla="*/ 3 w 3"/>
                  <a:gd name="T9" fmla="*/ 0 h 1"/>
                  <a:gd name="T10" fmla="*/ 0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lnTo>
                      <a:pt x="0" y="0"/>
                    </a:lnTo>
                    <a:cubicBezTo>
                      <a:pt x="0" y="0"/>
                      <a:pt x="1" y="1"/>
                      <a:pt x="2" y="1"/>
                    </a:cubicBezTo>
                    <a:cubicBezTo>
                      <a:pt x="2" y="1"/>
                      <a:pt x="2" y="1"/>
                      <a:pt x="3"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89" name="Freeform 330"/>
              <p:cNvSpPr>
                <a:spLocks/>
              </p:cNvSpPr>
              <p:nvPr/>
            </p:nvSpPr>
            <p:spPr bwMode="auto">
              <a:xfrm>
                <a:off x="1501776" y="2562225"/>
                <a:ext cx="4763" cy="1588"/>
              </a:xfrm>
              <a:custGeom>
                <a:avLst/>
                <a:gdLst>
                  <a:gd name="T0" fmla="*/ 0 w 4"/>
                  <a:gd name="T1" fmla="*/ 2 h 2"/>
                  <a:gd name="T2" fmla="*/ 0 w 4"/>
                  <a:gd name="T3" fmla="*/ 2 h 2"/>
                  <a:gd name="T4" fmla="*/ 0 w 4"/>
                  <a:gd name="T5" fmla="*/ 2 h 2"/>
                  <a:gd name="T6" fmla="*/ 2 w 4"/>
                  <a:gd name="T7" fmla="*/ 2 h 2"/>
                  <a:gd name="T8" fmla="*/ 3 w 4"/>
                  <a:gd name="T9" fmla="*/ 2 h 2"/>
                  <a:gd name="T10" fmla="*/ 4 w 4"/>
                  <a:gd name="T11" fmla="*/ 1 h 2"/>
                  <a:gd name="T12" fmla="*/ 4 w 4"/>
                  <a:gd name="T13" fmla="*/ 0 h 2"/>
                  <a:gd name="T14" fmla="*/ 0 w 4"/>
                  <a:gd name="T15" fmla="*/ 2 h 2"/>
                  <a:gd name="T16" fmla="*/ 0 w 4"/>
                  <a:gd name="T1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0" y="2"/>
                    </a:moveTo>
                    <a:lnTo>
                      <a:pt x="0" y="2"/>
                    </a:lnTo>
                    <a:lnTo>
                      <a:pt x="0" y="2"/>
                    </a:lnTo>
                    <a:lnTo>
                      <a:pt x="2" y="2"/>
                    </a:lnTo>
                    <a:cubicBezTo>
                      <a:pt x="2" y="2"/>
                      <a:pt x="2" y="2"/>
                      <a:pt x="3" y="2"/>
                    </a:cubicBezTo>
                    <a:cubicBezTo>
                      <a:pt x="3" y="2"/>
                      <a:pt x="3" y="2"/>
                      <a:pt x="4" y="1"/>
                    </a:cubicBezTo>
                    <a:cubicBezTo>
                      <a:pt x="4" y="1"/>
                      <a:pt x="4" y="0"/>
                      <a:pt x="4" y="0"/>
                    </a:cubicBezTo>
                    <a:cubicBezTo>
                      <a:pt x="4" y="0"/>
                      <a:pt x="1" y="1"/>
                      <a:pt x="0" y="2"/>
                    </a:cubicBezTo>
                    <a:cubicBezTo>
                      <a:pt x="0" y="2"/>
                      <a:pt x="0" y="2"/>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0" name="Freeform 331"/>
              <p:cNvSpPr>
                <a:spLocks/>
              </p:cNvSpPr>
              <p:nvPr/>
            </p:nvSpPr>
            <p:spPr bwMode="auto">
              <a:xfrm>
                <a:off x="1501776" y="2559050"/>
                <a:ext cx="3175" cy="4763"/>
              </a:xfrm>
              <a:custGeom>
                <a:avLst/>
                <a:gdLst>
                  <a:gd name="T0" fmla="*/ 0 w 3"/>
                  <a:gd name="T1" fmla="*/ 5 h 5"/>
                  <a:gd name="T2" fmla="*/ 0 w 3"/>
                  <a:gd name="T3" fmla="*/ 5 h 5"/>
                  <a:gd name="T4" fmla="*/ 0 w 3"/>
                  <a:gd name="T5" fmla="*/ 5 h 5"/>
                  <a:gd name="T6" fmla="*/ 3 w 3"/>
                  <a:gd name="T7" fmla="*/ 3 h 5"/>
                  <a:gd name="T8" fmla="*/ 3 w 3"/>
                  <a:gd name="T9" fmla="*/ 2 h 5"/>
                  <a:gd name="T10" fmla="*/ 2 w 3"/>
                  <a:gd name="T11" fmla="*/ 0 h 5"/>
                  <a:gd name="T12" fmla="*/ 0 w 3"/>
                  <a:gd name="T13" fmla="*/ 5 h 5"/>
                  <a:gd name="T14" fmla="*/ 0 w 3"/>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0" y="5"/>
                    </a:moveTo>
                    <a:lnTo>
                      <a:pt x="0" y="5"/>
                    </a:lnTo>
                    <a:lnTo>
                      <a:pt x="0" y="5"/>
                    </a:lnTo>
                    <a:cubicBezTo>
                      <a:pt x="0" y="4"/>
                      <a:pt x="2" y="4"/>
                      <a:pt x="3" y="3"/>
                    </a:cubicBezTo>
                    <a:cubicBezTo>
                      <a:pt x="3" y="3"/>
                      <a:pt x="3" y="2"/>
                      <a:pt x="3" y="2"/>
                    </a:cubicBezTo>
                    <a:cubicBezTo>
                      <a:pt x="3" y="1"/>
                      <a:pt x="2" y="0"/>
                      <a:pt x="2" y="0"/>
                    </a:cubicBezTo>
                    <a:cubicBezTo>
                      <a:pt x="2" y="0"/>
                      <a:pt x="1" y="2"/>
                      <a:pt x="0" y="5"/>
                    </a:cubicBezTo>
                    <a:cubicBezTo>
                      <a:pt x="0" y="5"/>
                      <a:pt x="0" y="5"/>
                      <a:pt x="0"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1" name="Freeform 332"/>
              <p:cNvSpPr>
                <a:spLocks/>
              </p:cNvSpPr>
              <p:nvPr/>
            </p:nvSpPr>
            <p:spPr bwMode="auto">
              <a:xfrm>
                <a:off x="1508126" y="2636838"/>
                <a:ext cx="1588" cy="1588"/>
              </a:xfrm>
              <a:custGeom>
                <a:avLst/>
                <a:gdLst>
                  <a:gd name="T0" fmla="*/ 0 w 2"/>
                  <a:gd name="T1" fmla="*/ 1 h 3"/>
                  <a:gd name="T2" fmla="*/ 0 w 2"/>
                  <a:gd name="T3" fmla="*/ 1 h 3"/>
                  <a:gd name="T4" fmla="*/ 2 w 2"/>
                  <a:gd name="T5" fmla="*/ 1 h 3"/>
                  <a:gd name="T6" fmla="*/ 2 w 2"/>
                  <a:gd name="T7" fmla="*/ 3 h 3"/>
                  <a:gd name="T8" fmla="*/ 2 w 2"/>
                  <a:gd name="T9" fmla="*/ 3 h 3"/>
                  <a:gd name="T10" fmla="*/ 2 w 2"/>
                  <a:gd name="T11" fmla="*/ 0 h 3"/>
                  <a:gd name="T12" fmla="*/ 2 w 2"/>
                  <a:gd name="T13" fmla="*/ 0 h 3"/>
                  <a:gd name="T14" fmla="*/ 2 w 2"/>
                  <a:gd name="T15" fmla="*/ 1 h 3"/>
                  <a:gd name="T16" fmla="*/ 0 w 2"/>
                  <a:gd name="T17" fmla="*/ 1 h 3"/>
                  <a:gd name="T18" fmla="*/ 0 w 2"/>
                  <a:gd name="T19" fmla="*/ 0 h 3"/>
                  <a:gd name="T20" fmla="*/ 0 w 2"/>
                  <a:gd name="T21" fmla="*/ 0 h 3"/>
                  <a:gd name="T22" fmla="*/ 0 w 2"/>
                  <a:gd name="T23" fmla="*/ 3 h 3"/>
                  <a:gd name="T24" fmla="*/ 0 w 2"/>
                  <a:gd name="T25" fmla="*/ 3 h 3"/>
                  <a:gd name="T26" fmla="*/ 0 w 2"/>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0" y="1"/>
                    </a:moveTo>
                    <a:lnTo>
                      <a:pt x="0" y="1"/>
                    </a:lnTo>
                    <a:lnTo>
                      <a:pt x="2" y="1"/>
                    </a:lnTo>
                    <a:lnTo>
                      <a:pt x="2" y="3"/>
                    </a:lnTo>
                    <a:lnTo>
                      <a:pt x="2" y="3"/>
                    </a:lnTo>
                    <a:lnTo>
                      <a:pt x="2" y="0"/>
                    </a:lnTo>
                    <a:lnTo>
                      <a:pt x="2" y="0"/>
                    </a:lnTo>
                    <a:lnTo>
                      <a:pt x="2" y="1"/>
                    </a:lnTo>
                    <a:lnTo>
                      <a:pt x="0" y="1"/>
                    </a:lnTo>
                    <a:lnTo>
                      <a:pt x="0" y="0"/>
                    </a:lnTo>
                    <a:lnTo>
                      <a:pt x="0" y="0"/>
                    </a:lnTo>
                    <a:lnTo>
                      <a:pt x="0" y="3"/>
                    </a:lnTo>
                    <a:lnTo>
                      <a:pt x="0" y="3"/>
                    </a:lnTo>
                    <a:lnTo>
                      <a:pt x="0"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2" name="Freeform 333"/>
              <p:cNvSpPr>
                <a:spLocks/>
              </p:cNvSpPr>
              <p:nvPr/>
            </p:nvSpPr>
            <p:spPr bwMode="auto">
              <a:xfrm>
                <a:off x="1511301" y="2636838"/>
                <a:ext cx="1588" cy="1588"/>
              </a:xfrm>
              <a:custGeom>
                <a:avLst/>
                <a:gdLst>
                  <a:gd name="T0" fmla="*/ 1 w 3"/>
                  <a:gd name="T1" fmla="*/ 3 h 3"/>
                  <a:gd name="T2" fmla="*/ 1 w 3"/>
                  <a:gd name="T3" fmla="*/ 3 h 3"/>
                  <a:gd name="T4" fmla="*/ 3 w 3"/>
                  <a:gd name="T5" fmla="*/ 2 h 3"/>
                  <a:gd name="T6" fmla="*/ 3 w 3"/>
                  <a:gd name="T7" fmla="*/ 1 h 3"/>
                  <a:gd name="T8" fmla="*/ 3 w 3"/>
                  <a:gd name="T9" fmla="*/ 0 h 3"/>
                  <a:gd name="T10" fmla="*/ 2 w 3"/>
                  <a:gd name="T11" fmla="*/ 0 h 3"/>
                  <a:gd name="T12" fmla="*/ 2 w 3"/>
                  <a:gd name="T13" fmla="*/ 1 h 3"/>
                  <a:gd name="T14" fmla="*/ 1 w 3"/>
                  <a:gd name="T15" fmla="*/ 2 h 3"/>
                  <a:gd name="T16" fmla="*/ 1 w 3"/>
                  <a:gd name="T17" fmla="*/ 1 h 3"/>
                  <a:gd name="T18" fmla="*/ 1 w 3"/>
                  <a:gd name="T19" fmla="*/ 0 h 3"/>
                  <a:gd name="T20" fmla="*/ 0 w 3"/>
                  <a:gd name="T21" fmla="*/ 0 h 3"/>
                  <a:gd name="T22" fmla="*/ 0 w 3"/>
                  <a:gd name="T23" fmla="*/ 1 h 3"/>
                  <a:gd name="T24" fmla="*/ 0 w 3"/>
                  <a:gd name="T25" fmla="*/ 2 h 3"/>
                  <a:gd name="T26" fmla="*/ 1 w 3"/>
                  <a:gd name="T2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1" y="3"/>
                    </a:moveTo>
                    <a:lnTo>
                      <a:pt x="1" y="3"/>
                    </a:lnTo>
                    <a:cubicBezTo>
                      <a:pt x="2" y="3"/>
                      <a:pt x="2" y="3"/>
                      <a:pt x="3" y="2"/>
                    </a:cubicBezTo>
                    <a:cubicBezTo>
                      <a:pt x="3" y="2"/>
                      <a:pt x="3" y="2"/>
                      <a:pt x="3" y="1"/>
                    </a:cubicBezTo>
                    <a:lnTo>
                      <a:pt x="3" y="0"/>
                    </a:lnTo>
                    <a:lnTo>
                      <a:pt x="2" y="0"/>
                    </a:lnTo>
                    <a:lnTo>
                      <a:pt x="2" y="1"/>
                    </a:lnTo>
                    <a:cubicBezTo>
                      <a:pt x="2" y="2"/>
                      <a:pt x="2" y="2"/>
                      <a:pt x="1" y="2"/>
                    </a:cubicBezTo>
                    <a:cubicBezTo>
                      <a:pt x="1" y="2"/>
                      <a:pt x="1" y="2"/>
                      <a:pt x="1" y="1"/>
                    </a:cubicBezTo>
                    <a:lnTo>
                      <a:pt x="1" y="0"/>
                    </a:lnTo>
                    <a:lnTo>
                      <a:pt x="0" y="0"/>
                    </a:lnTo>
                    <a:lnTo>
                      <a:pt x="0" y="1"/>
                    </a:lnTo>
                    <a:cubicBezTo>
                      <a:pt x="0" y="2"/>
                      <a:pt x="0" y="2"/>
                      <a:pt x="0" y="2"/>
                    </a:cubicBezTo>
                    <a:cubicBezTo>
                      <a:pt x="0" y="3"/>
                      <a:pt x="1" y="3"/>
                      <a:pt x="1"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3" name="Freeform 334"/>
              <p:cNvSpPr>
                <a:spLocks noEditPoints="1"/>
              </p:cNvSpPr>
              <p:nvPr/>
            </p:nvSpPr>
            <p:spPr bwMode="auto">
              <a:xfrm>
                <a:off x="1512888" y="2636838"/>
                <a:ext cx="3175" cy="1588"/>
              </a:xfrm>
              <a:custGeom>
                <a:avLst/>
                <a:gdLst>
                  <a:gd name="T0" fmla="*/ 2 w 3"/>
                  <a:gd name="T1" fmla="*/ 0 h 3"/>
                  <a:gd name="T2" fmla="*/ 2 w 3"/>
                  <a:gd name="T3" fmla="*/ 0 h 3"/>
                  <a:gd name="T4" fmla="*/ 2 w 3"/>
                  <a:gd name="T5" fmla="*/ 1 h 3"/>
                  <a:gd name="T6" fmla="*/ 1 w 3"/>
                  <a:gd name="T7" fmla="*/ 1 h 3"/>
                  <a:gd name="T8" fmla="*/ 2 w 3"/>
                  <a:gd name="T9" fmla="*/ 0 h 3"/>
                  <a:gd name="T10" fmla="*/ 1 w 3"/>
                  <a:gd name="T11" fmla="*/ 2 h 3"/>
                  <a:gd name="T12" fmla="*/ 1 w 3"/>
                  <a:gd name="T13" fmla="*/ 2 h 3"/>
                  <a:gd name="T14" fmla="*/ 2 w 3"/>
                  <a:gd name="T15" fmla="*/ 2 h 3"/>
                  <a:gd name="T16" fmla="*/ 3 w 3"/>
                  <a:gd name="T17" fmla="*/ 3 h 3"/>
                  <a:gd name="T18" fmla="*/ 3 w 3"/>
                  <a:gd name="T19" fmla="*/ 3 h 3"/>
                  <a:gd name="T20" fmla="*/ 2 w 3"/>
                  <a:gd name="T21" fmla="*/ 0 h 3"/>
                  <a:gd name="T22" fmla="*/ 1 w 3"/>
                  <a:gd name="T23" fmla="*/ 0 h 3"/>
                  <a:gd name="T24" fmla="*/ 0 w 3"/>
                  <a:gd name="T25" fmla="*/ 3 h 3"/>
                  <a:gd name="T26" fmla="*/ 1 w 3"/>
                  <a:gd name="T27" fmla="*/ 3 h 3"/>
                  <a:gd name="T28" fmla="*/ 1 w 3"/>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2" y="0"/>
                    </a:moveTo>
                    <a:lnTo>
                      <a:pt x="2" y="0"/>
                    </a:lnTo>
                    <a:lnTo>
                      <a:pt x="2" y="1"/>
                    </a:lnTo>
                    <a:lnTo>
                      <a:pt x="1" y="1"/>
                    </a:lnTo>
                    <a:lnTo>
                      <a:pt x="2" y="0"/>
                    </a:lnTo>
                    <a:close/>
                    <a:moveTo>
                      <a:pt x="1" y="2"/>
                    </a:moveTo>
                    <a:lnTo>
                      <a:pt x="1" y="2"/>
                    </a:lnTo>
                    <a:lnTo>
                      <a:pt x="2" y="2"/>
                    </a:lnTo>
                    <a:lnTo>
                      <a:pt x="3" y="3"/>
                    </a:lnTo>
                    <a:lnTo>
                      <a:pt x="3" y="3"/>
                    </a:lnTo>
                    <a:lnTo>
                      <a:pt x="2" y="0"/>
                    </a:lnTo>
                    <a:lnTo>
                      <a:pt x="1" y="0"/>
                    </a:lnTo>
                    <a:lnTo>
                      <a:pt x="0" y="3"/>
                    </a:lnTo>
                    <a:lnTo>
                      <a:pt x="1" y="3"/>
                    </a:lnTo>
                    <a:lnTo>
                      <a:pt x="1"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4" name="Freeform 335"/>
              <p:cNvSpPr>
                <a:spLocks/>
              </p:cNvSpPr>
              <p:nvPr/>
            </p:nvSpPr>
            <p:spPr bwMode="auto">
              <a:xfrm>
                <a:off x="1516063" y="2636838"/>
                <a:ext cx="4763" cy="1588"/>
              </a:xfrm>
              <a:custGeom>
                <a:avLst/>
                <a:gdLst>
                  <a:gd name="T0" fmla="*/ 2 w 5"/>
                  <a:gd name="T1" fmla="*/ 3 h 3"/>
                  <a:gd name="T2" fmla="*/ 2 w 5"/>
                  <a:gd name="T3" fmla="*/ 3 h 3"/>
                  <a:gd name="T4" fmla="*/ 3 w 5"/>
                  <a:gd name="T5" fmla="*/ 0 h 3"/>
                  <a:gd name="T6" fmla="*/ 3 w 5"/>
                  <a:gd name="T7" fmla="*/ 3 h 3"/>
                  <a:gd name="T8" fmla="*/ 4 w 5"/>
                  <a:gd name="T9" fmla="*/ 3 h 3"/>
                  <a:gd name="T10" fmla="*/ 5 w 5"/>
                  <a:gd name="T11" fmla="*/ 0 h 3"/>
                  <a:gd name="T12" fmla="*/ 4 w 5"/>
                  <a:gd name="T13" fmla="*/ 0 h 3"/>
                  <a:gd name="T14" fmla="*/ 4 w 5"/>
                  <a:gd name="T15" fmla="*/ 2 h 3"/>
                  <a:gd name="T16" fmla="*/ 3 w 5"/>
                  <a:gd name="T17" fmla="*/ 0 h 3"/>
                  <a:gd name="T18" fmla="*/ 2 w 5"/>
                  <a:gd name="T19" fmla="*/ 0 h 3"/>
                  <a:gd name="T20" fmla="*/ 1 w 5"/>
                  <a:gd name="T21" fmla="*/ 2 h 3"/>
                  <a:gd name="T22" fmla="*/ 1 w 5"/>
                  <a:gd name="T23" fmla="*/ 0 h 3"/>
                  <a:gd name="T24" fmla="*/ 0 w 5"/>
                  <a:gd name="T25" fmla="*/ 0 h 3"/>
                  <a:gd name="T26" fmla="*/ 1 w 5"/>
                  <a:gd name="T27" fmla="*/ 3 h 3"/>
                  <a:gd name="T28" fmla="*/ 2 w 5"/>
                  <a:gd name="T29"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2" y="3"/>
                    </a:moveTo>
                    <a:lnTo>
                      <a:pt x="2" y="3"/>
                    </a:lnTo>
                    <a:lnTo>
                      <a:pt x="3" y="0"/>
                    </a:lnTo>
                    <a:lnTo>
                      <a:pt x="3" y="3"/>
                    </a:lnTo>
                    <a:lnTo>
                      <a:pt x="4" y="3"/>
                    </a:lnTo>
                    <a:lnTo>
                      <a:pt x="5" y="0"/>
                    </a:lnTo>
                    <a:lnTo>
                      <a:pt x="4" y="0"/>
                    </a:lnTo>
                    <a:lnTo>
                      <a:pt x="4" y="2"/>
                    </a:lnTo>
                    <a:lnTo>
                      <a:pt x="3" y="0"/>
                    </a:lnTo>
                    <a:lnTo>
                      <a:pt x="2" y="0"/>
                    </a:lnTo>
                    <a:lnTo>
                      <a:pt x="1" y="2"/>
                    </a:lnTo>
                    <a:lnTo>
                      <a:pt x="1" y="0"/>
                    </a:lnTo>
                    <a:lnTo>
                      <a:pt x="0" y="0"/>
                    </a:lnTo>
                    <a:lnTo>
                      <a:pt x="1" y="3"/>
                    </a:lnTo>
                    <a:lnTo>
                      <a:pt x="2"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5" name="Freeform 336"/>
              <p:cNvSpPr>
                <a:spLocks/>
              </p:cNvSpPr>
              <p:nvPr/>
            </p:nvSpPr>
            <p:spPr bwMode="auto">
              <a:xfrm>
                <a:off x="1520826" y="2636838"/>
                <a:ext cx="3175" cy="1588"/>
              </a:xfrm>
              <a:custGeom>
                <a:avLst/>
                <a:gdLst>
                  <a:gd name="T0" fmla="*/ 2 w 3"/>
                  <a:gd name="T1" fmla="*/ 3 h 3"/>
                  <a:gd name="T2" fmla="*/ 2 w 3"/>
                  <a:gd name="T3" fmla="*/ 3 h 3"/>
                  <a:gd name="T4" fmla="*/ 3 w 3"/>
                  <a:gd name="T5" fmla="*/ 3 h 3"/>
                  <a:gd name="T6" fmla="*/ 3 w 3"/>
                  <a:gd name="T7" fmla="*/ 2 h 3"/>
                  <a:gd name="T8" fmla="*/ 2 w 3"/>
                  <a:gd name="T9" fmla="*/ 2 h 3"/>
                  <a:gd name="T10" fmla="*/ 1 w 3"/>
                  <a:gd name="T11" fmla="*/ 1 h 3"/>
                  <a:gd name="T12" fmla="*/ 3 w 3"/>
                  <a:gd name="T13" fmla="*/ 1 h 3"/>
                  <a:gd name="T14" fmla="*/ 3 w 3"/>
                  <a:gd name="T15" fmla="*/ 1 h 3"/>
                  <a:gd name="T16" fmla="*/ 1 w 3"/>
                  <a:gd name="T17" fmla="*/ 1 h 3"/>
                  <a:gd name="T18" fmla="*/ 2 w 3"/>
                  <a:gd name="T19" fmla="*/ 0 h 3"/>
                  <a:gd name="T20" fmla="*/ 3 w 3"/>
                  <a:gd name="T21" fmla="*/ 0 h 3"/>
                  <a:gd name="T22" fmla="*/ 3 w 3"/>
                  <a:gd name="T23" fmla="*/ 0 h 3"/>
                  <a:gd name="T24" fmla="*/ 2 w 3"/>
                  <a:gd name="T25" fmla="*/ 0 h 3"/>
                  <a:gd name="T26" fmla="*/ 0 w 3"/>
                  <a:gd name="T27" fmla="*/ 1 h 3"/>
                  <a:gd name="T28" fmla="*/ 1 w 3"/>
                  <a:gd name="T29" fmla="*/ 2 h 3"/>
                  <a:gd name="T30" fmla="*/ 2 w 3"/>
                  <a:gd name="T31"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2" y="3"/>
                    </a:moveTo>
                    <a:lnTo>
                      <a:pt x="2" y="3"/>
                    </a:lnTo>
                    <a:lnTo>
                      <a:pt x="3" y="3"/>
                    </a:lnTo>
                    <a:lnTo>
                      <a:pt x="3" y="2"/>
                    </a:lnTo>
                    <a:lnTo>
                      <a:pt x="2" y="2"/>
                    </a:lnTo>
                    <a:cubicBezTo>
                      <a:pt x="1" y="2"/>
                      <a:pt x="1" y="2"/>
                      <a:pt x="1" y="1"/>
                    </a:cubicBezTo>
                    <a:lnTo>
                      <a:pt x="3" y="1"/>
                    </a:lnTo>
                    <a:lnTo>
                      <a:pt x="3" y="1"/>
                    </a:lnTo>
                    <a:lnTo>
                      <a:pt x="1" y="1"/>
                    </a:lnTo>
                    <a:cubicBezTo>
                      <a:pt x="1" y="0"/>
                      <a:pt x="1" y="0"/>
                      <a:pt x="2" y="0"/>
                    </a:cubicBezTo>
                    <a:lnTo>
                      <a:pt x="3" y="0"/>
                    </a:lnTo>
                    <a:lnTo>
                      <a:pt x="3" y="0"/>
                    </a:lnTo>
                    <a:lnTo>
                      <a:pt x="2" y="0"/>
                    </a:lnTo>
                    <a:cubicBezTo>
                      <a:pt x="1" y="0"/>
                      <a:pt x="0" y="0"/>
                      <a:pt x="0" y="1"/>
                    </a:cubicBezTo>
                    <a:cubicBezTo>
                      <a:pt x="0" y="2"/>
                      <a:pt x="0" y="2"/>
                      <a:pt x="1" y="2"/>
                    </a:cubicBezTo>
                    <a:cubicBezTo>
                      <a:pt x="1" y="3"/>
                      <a:pt x="1" y="3"/>
                      <a:pt x="2"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6" name="Freeform 337"/>
              <p:cNvSpPr>
                <a:spLocks/>
              </p:cNvSpPr>
              <p:nvPr/>
            </p:nvSpPr>
            <p:spPr bwMode="auto">
              <a:xfrm>
                <a:off x="1524001" y="2636838"/>
                <a:ext cx="1588" cy="1588"/>
              </a:xfrm>
              <a:custGeom>
                <a:avLst/>
                <a:gdLst>
                  <a:gd name="T0" fmla="*/ 1 w 1"/>
                  <a:gd name="T1" fmla="*/ 0 h 3"/>
                  <a:gd name="T2" fmla="*/ 1 w 1"/>
                  <a:gd name="T3" fmla="*/ 0 h 3"/>
                  <a:gd name="T4" fmla="*/ 0 w 1"/>
                  <a:gd name="T5" fmla="*/ 0 h 3"/>
                  <a:gd name="T6" fmla="*/ 0 w 1"/>
                  <a:gd name="T7" fmla="*/ 3 h 3"/>
                  <a:gd name="T8" fmla="*/ 1 w 1"/>
                  <a:gd name="T9" fmla="*/ 3 h 3"/>
                  <a:gd name="T10" fmla="*/ 1 w 1"/>
                  <a:gd name="T11" fmla="*/ 0 h 3"/>
                </a:gdLst>
                <a:ahLst/>
                <a:cxnLst>
                  <a:cxn ang="0">
                    <a:pos x="T0" y="T1"/>
                  </a:cxn>
                  <a:cxn ang="0">
                    <a:pos x="T2" y="T3"/>
                  </a:cxn>
                  <a:cxn ang="0">
                    <a:pos x="T4" y="T5"/>
                  </a:cxn>
                  <a:cxn ang="0">
                    <a:pos x="T6" y="T7"/>
                  </a:cxn>
                  <a:cxn ang="0">
                    <a:pos x="T8" y="T9"/>
                  </a:cxn>
                  <a:cxn ang="0">
                    <a:pos x="T10" y="T11"/>
                  </a:cxn>
                </a:cxnLst>
                <a:rect l="0" t="0" r="r" b="b"/>
                <a:pathLst>
                  <a:path w="1" h="3">
                    <a:moveTo>
                      <a:pt x="1" y="0"/>
                    </a:moveTo>
                    <a:lnTo>
                      <a:pt x="1" y="0"/>
                    </a:lnTo>
                    <a:lnTo>
                      <a:pt x="0" y="0"/>
                    </a:lnTo>
                    <a:lnTo>
                      <a:pt x="0" y="3"/>
                    </a:lnTo>
                    <a:lnTo>
                      <a:pt x="1" y="3"/>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7" name="Freeform 338"/>
              <p:cNvSpPr>
                <a:spLocks/>
              </p:cNvSpPr>
              <p:nvPr/>
            </p:nvSpPr>
            <p:spPr bwMode="auto">
              <a:xfrm>
                <a:off x="1497013" y="2633663"/>
                <a:ext cx="3175" cy="4763"/>
              </a:xfrm>
              <a:custGeom>
                <a:avLst/>
                <a:gdLst>
                  <a:gd name="T0" fmla="*/ 3 w 3"/>
                  <a:gd name="T1" fmla="*/ 4 h 4"/>
                  <a:gd name="T2" fmla="*/ 3 w 3"/>
                  <a:gd name="T3" fmla="*/ 4 h 4"/>
                  <a:gd name="T4" fmla="*/ 3 w 3"/>
                  <a:gd name="T5" fmla="*/ 4 h 4"/>
                  <a:gd name="T6" fmla="*/ 3 w 3"/>
                  <a:gd name="T7" fmla="*/ 4 h 4"/>
                  <a:gd name="T8" fmla="*/ 1 w 3"/>
                  <a:gd name="T9" fmla="*/ 0 h 4"/>
                  <a:gd name="T10" fmla="*/ 0 w 3"/>
                  <a:gd name="T11" fmla="*/ 2 h 4"/>
                  <a:gd name="T12" fmla="*/ 1 w 3"/>
                  <a:gd name="T13" fmla="*/ 3 h 4"/>
                  <a:gd name="T14" fmla="*/ 3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4"/>
                    </a:moveTo>
                    <a:lnTo>
                      <a:pt x="3" y="4"/>
                    </a:lnTo>
                    <a:cubicBezTo>
                      <a:pt x="3" y="4"/>
                      <a:pt x="3" y="4"/>
                      <a:pt x="3" y="4"/>
                    </a:cubicBezTo>
                    <a:cubicBezTo>
                      <a:pt x="3" y="4"/>
                      <a:pt x="3" y="4"/>
                      <a:pt x="3" y="4"/>
                    </a:cubicBezTo>
                    <a:cubicBezTo>
                      <a:pt x="2" y="2"/>
                      <a:pt x="1" y="0"/>
                      <a:pt x="1" y="0"/>
                    </a:cubicBezTo>
                    <a:cubicBezTo>
                      <a:pt x="1" y="0"/>
                      <a:pt x="0" y="1"/>
                      <a:pt x="0" y="2"/>
                    </a:cubicBezTo>
                    <a:cubicBezTo>
                      <a:pt x="0" y="2"/>
                      <a:pt x="1" y="3"/>
                      <a:pt x="1" y="3"/>
                    </a:cubicBezTo>
                    <a:cubicBezTo>
                      <a:pt x="1" y="3"/>
                      <a:pt x="3" y="4"/>
                      <a:pt x="3" y="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8" name="Freeform 339"/>
              <p:cNvSpPr>
                <a:spLocks/>
              </p:cNvSpPr>
              <p:nvPr/>
            </p:nvSpPr>
            <p:spPr bwMode="auto">
              <a:xfrm>
                <a:off x="1497013" y="2638425"/>
                <a:ext cx="3175" cy="1588"/>
              </a:xfrm>
              <a:custGeom>
                <a:avLst/>
                <a:gdLst>
                  <a:gd name="T0" fmla="*/ 0 w 3"/>
                  <a:gd name="T1" fmla="*/ 0 h 1"/>
                  <a:gd name="T2" fmla="*/ 0 w 3"/>
                  <a:gd name="T3" fmla="*/ 0 h 1"/>
                  <a:gd name="T4" fmla="*/ 2 w 3"/>
                  <a:gd name="T5" fmla="*/ 1 h 1"/>
                  <a:gd name="T6" fmla="*/ 3 w 3"/>
                  <a:gd name="T7" fmla="*/ 0 h 1"/>
                  <a:gd name="T8" fmla="*/ 3 w 3"/>
                  <a:gd name="T9" fmla="*/ 0 h 1"/>
                  <a:gd name="T10" fmla="*/ 3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cubicBezTo>
                      <a:pt x="1" y="0"/>
                      <a:pt x="1" y="1"/>
                      <a:pt x="2" y="1"/>
                    </a:cubicBezTo>
                    <a:cubicBezTo>
                      <a:pt x="2" y="1"/>
                      <a:pt x="3" y="0"/>
                      <a:pt x="3" y="0"/>
                    </a:cubicBezTo>
                    <a:cubicBezTo>
                      <a:pt x="3" y="0"/>
                      <a:pt x="3" y="0"/>
                      <a:pt x="3" y="0"/>
                    </a:cubicBezTo>
                    <a:cubicBezTo>
                      <a:pt x="3" y="0"/>
                      <a:pt x="3" y="0"/>
                      <a:pt x="3" y="0"/>
                    </a:cubicBez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99" name="Freeform 340"/>
              <p:cNvSpPr>
                <a:spLocks/>
              </p:cNvSpPr>
              <p:nvPr/>
            </p:nvSpPr>
            <p:spPr bwMode="auto">
              <a:xfrm>
                <a:off x="1497013" y="2636838"/>
                <a:ext cx="3175" cy="1588"/>
              </a:xfrm>
              <a:custGeom>
                <a:avLst/>
                <a:gdLst>
                  <a:gd name="T0" fmla="*/ 1 w 4"/>
                  <a:gd name="T1" fmla="*/ 2 h 3"/>
                  <a:gd name="T2" fmla="*/ 1 w 4"/>
                  <a:gd name="T3" fmla="*/ 2 h 3"/>
                  <a:gd name="T4" fmla="*/ 1 w 4"/>
                  <a:gd name="T5" fmla="*/ 2 h 3"/>
                  <a:gd name="T6" fmla="*/ 2 w 4"/>
                  <a:gd name="T7" fmla="*/ 3 h 3"/>
                  <a:gd name="T8" fmla="*/ 4 w 4"/>
                  <a:gd name="T9" fmla="*/ 3 h 3"/>
                  <a:gd name="T10" fmla="*/ 4 w 4"/>
                  <a:gd name="T11" fmla="*/ 3 h 3"/>
                  <a:gd name="T12" fmla="*/ 4 w 4"/>
                  <a:gd name="T13" fmla="*/ 3 h 3"/>
                  <a:gd name="T14" fmla="*/ 1 w 4"/>
                  <a:gd name="T15" fmla="*/ 0 h 3"/>
                  <a:gd name="T16" fmla="*/ 1 w 4"/>
                  <a:gd name="T1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3">
                    <a:moveTo>
                      <a:pt x="1" y="2"/>
                    </a:moveTo>
                    <a:lnTo>
                      <a:pt x="1" y="2"/>
                    </a:lnTo>
                    <a:cubicBezTo>
                      <a:pt x="1" y="2"/>
                      <a:pt x="1" y="2"/>
                      <a:pt x="1" y="2"/>
                    </a:cubicBezTo>
                    <a:cubicBezTo>
                      <a:pt x="2" y="3"/>
                      <a:pt x="2" y="3"/>
                      <a:pt x="2" y="3"/>
                    </a:cubicBezTo>
                    <a:lnTo>
                      <a:pt x="4" y="3"/>
                    </a:lnTo>
                    <a:lnTo>
                      <a:pt x="4" y="3"/>
                    </a:lnTo>
                    <a:lnTo>
                      <a:pt x="4" y="3"/>
                    </a:lnTo>
                    <a:cubicBezTo>
                      <a:pt x="3" y="2"/>
                      <a:pt x="1" y="0"/>
                      <a:pt x="1" y="0"/>
                    </a:cubicBezTo>
                    <a:cubicBezTo>
                      <a:pt x="0" y="1"/>
                      <a:pt x="1" y="2"/>
                      <a:pt x="1"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0" name="Freeform 341"/>
              <p:cNvSpPr>
                <a:spLocks/>
              </p:cNvSpPr>
              <p:nvPr/>
            </p:nvSpPr>
            <p:spPr bwMode="auto">
              <a:xfrm>
                <a:off x="1498601" y="2633663"/>
                <a:ext cx="3175" cy="4763"/>
              </a:xfrm>
              <a:custGeom>
                <a:avLst/>
                <a:gdLst>
                  <a:gd name="T0" fmla="*/ 2 w 2"/>
                  <a:gd name="T1" fmla="*/ 5 h 5"/>
                  <a:gd name="T2" fmla="*/ 2 w 2"/>
                  <a:gd name="T3" fmla="*/ 5 h 5"/>
                  <a:gd name="T4" fmla="*/ 2 w 2"/>
                  <a:gd name="T5" fmla="*/ 5 h 5"/>
                  <a:gd name="T6" fmla="*/ 2 w 2"/>
                  <a:gd name="T7" fmla="*/ 5 h 5"/>
                  <a:gd name="T8" fmla="*/ 1 w 2"/>
                  <a:gd name="T9" fmla="*/ 0 h 5"/>
                  <a:gd name="T10" fmla="*/ 1 w 2"/>
                  <a:gd name="T11" fmla="*/ 0 h 5"/>
                  <a:gd name="T12" fmla="*/ 0 w 2"/>
                  <a:gd name="T13" fmla="*/ 1 h 5"/>
                  <a:gd name="T14" fmla="*/ 0 w 2"/>
                  <a:gd name="T15" fmla="*/ 2 h 5"/>
                  <a:gd name="T16" fmla="*/ 2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2" y="5"/>
                    </a:moveTo>
                    <a:lnTo>
                      <a:pt x="2" y="5"/>
                    </a:lnTo>
                    <a:cubicBezTo>
                      <a:pt x="2" y="5"/>
                      <a:pt x="2" y="5"/>
                      <a:pt x="2" y="5"/>
                    </a:cubicBezTo>
                    <a:lnTo>
                      <a:pt x="2" y="5"/>
                    </a:lnTo>
                    <a:cubicBezTo>
                      <a:pt x="2" y="1"/>
                      <a:pt x="1" y="0"/>
                      <a:pt x="1" y="0"/>
                    </a:cubicBezTo>
                    <a:cubicBezTo>
                      <a:pt x="1" y="0"/>
                      <a:pt x="1" y="0"/>
                      <a:pt x="1" y="0"/>
                    </a:cubicBezTo>
                    <a:cubicBezTo>
                      <a:pt x="0" y="0"/>
                      <a:pt x="0" y="1"/>
                      <a:pt x="0" y="1"/>
                    </a:cubicBezTo>
                    <a:cubicBezTo>
                      <a:pt x="0" y="1"/>
                      <a:pt x="0" y="2"/>
                      <a:pt x="0" y="2"/>
                    </a:cubicBezTo>
                    <a:cubicBezTo>
                      <a:pt x="0" y="3"/>
                      <a:pt x="1" y="5"/>
                      <a:pt x="2" y="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1" name="Freeform 342"/>
              <p:cNvSpPr>
                <a:spLocks/>
              </p:cNvSpPr>
              <p:nvPr/>
            </p:nvSpPr>
            <p:spPr bwMode="auto">
              <a:xfrm>
                <a:off x="1501776" y="2633663"/>
                <a:ext cx="1588" cy="4763"/>
              </a:xfrm>
              <a:custGeom>
                <a:avLst/>
                <a:gdLst>
                  <a:gd name="T0" fmla="*/ 0 w 2"/>
                  <a:gd name="T1" fmla="*/ 5 h 5"/>
                  <a:gd name="T2" fmla="*/ 0 w 2"/>
                  <a:gd name="T3" fmla="*/ 5 h 5"/>
                  <a:gd name="T4" fmla="*/ 0 w 2"/>
                  <a:gd name="T5" fmla="*/ 5 h 5"/>
                  <a:gd name="T6" fmla="*/ 2 w 2"/>
                  <a:gd name="T7" fmla="*/ 2 h 5"/>
                  <a:gd name="T8" fmla="*/ 2 w 2"/>
                  <a:gd name="T9" fmla="*/ 1 h 5"/>
                  <a:gd name="T10" fmla="*/ 1 w 2"/>
                  <a:gd name="T11" fmla="*/ 0 h 5"/>
                  <a:gd name="T12" fmla="*/ 1 w 2"/>
                  <a:gd name="T13" fmla="*/ 0 h 5"/>
                  <a:gd name="T14" fmla="*/ 0 w 2"/>
                  <a:gd name="T15" fmla="*/ 5 h 5"/>
                  <a:gd name="T16" fmla="*/ 0 w 2"/>
                  <a:gd name="T17"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0" y="5"/>
                    </a:moveTo>
                    <a:lnTo>
                      <a:pt x="0" y="5"/>
                    </a:lnTo>
                    <a:cubicBezTo>
                      <a:pt x="0" y="5"/>
                      <a:pt x="0" y="5"/>
                      <a:pt x="0" y="5"/>
                    </a:cubicBezTo>
                    <a:cubicBezTo>
                      <a:pt x="1" y="5"/>
                      <a:pt x="2" y="3"/>
                      <a:pt x="2" y="2"/>
                    </a:cubicBezTo>
                    <a:cubicBezTo>
                      <a:pt x="2" y="2"/>
                      <a:pt x="2" y="1"/>
                      <a:pt x="2" y="1"/>
                    </a:cubicBezTo>
                    <a:cubicBezTo>
                      <a:pt x="2" y="1"/>
                      <a:pt x="2" y="0"/>
                      <a:pt x="1" y="0"/>
                    </a:cubicBezTo>
                    <a:cubicBezTo>
                      <a:pt x="1" y="0"/>
                      <a:pt x="1" y="0"/>
                      <a:pt x="1" y="0"/>
                    </a:cubicBezTo>
                    <a:cubicBezTo>
                      <a:pt x="1" y="0"/>
                      <a:pt x="0" y="1"/>
                      <a:pt x="0" y="5"/>
                    </a:cubicBezTo>
                    <a:lnTo>
                      <a:pt x="0" y="5"/>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2" name="Freeform 343"/>
              <p:cNvSpPr>
                <a:spLocks/>
              </p:cNvSpPr>
              <p:nvPr/>
            </p:nvSpPr>
            <p:spPr bwMode="auto">
              <a:xfrm>
                <a:off x="1501776" y="2638425"/>
                <a:ext cx="3175" cy="1588"/>
              </a:xfrm>
              <a:custGeom>
                <a:avLst/>
                <a:gdLst>
                  <a:gd name="T0" fmla="*/ 0 w 3"/>
                  <a:gd name="T1" fmla="*/ 0 h 1"/>
                  <a:gd name="T2" fmla="*/ 0 w 3"/>
                  <a:gd name="T3" fmla="*/ 0 h 1"/>
                  <a:gd name="T4" fmla="*/ 0 w 3"/>
                  <a:gd name="T5" fmla="*/ 0 h 1"/>
                  <a:gd name="T6" fmla="*/ 2 w 3"/>
                  <a:gd name="T7" fmla="*/ 1 h 1"/>
                  <a:gd name="T8" fmla="*/ 3 w 3"/>
                  <a:gd name="T9" fmla="*/ 0 h 1"/>
                  <a:gd name="T10" fmla="*/ 0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lnTo>
                      <a:pt x="0" y="0"/>
                    </a:lnTo>
                    <a:cubicBezTo>
                      <a:pt x="0" y="0"/>
                      <a:pt x="1" y="1"/>
                      <a:pt x="2" y="1"/>
                    </a:cubicBezTo>
                    <a:cubicBezTo>
                      <a:pt x="2" y="1"/>
                      <a:pt x="2" y="1"/>
                      <a:pt x="3" y="0"/>
                    </a:cubicBezTo>
                    <a:lnTo>
                      <a:pt x="0" y="0"/>
                    </a:ln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3" name="Freeform 344"/>
              <p:cNvSpPr>
                <a:spLocks/>
              </p:cNvSpPr>
              <p:nvPr/>
            </p:nvSpPr>
            <p:spPr bwMode="auto">
              <a:xfrm>
                <a:off x="1501776" y="2636838"/>
                <a:ext cx="4763" cy="1588"/>
              </a:xfrm>
              <a:custGeom>
                <a:avLst/>
                <a:gdLst>
                  <a:gd name="T0" fmla="*/ 0 w 4"/>
                  <a:gd name="T1" fmla="*/ 3 h 3"/>
                  <a:gd name="T2" fmla="*/ 0 w 4"/>
                  <a:gd name="T3" fmla="*/ 3 h 3"/>
                  <a:gd name="T4" fmla="*/ 0 w 4"/>
                  <a:gd name="T5" fmla="*/ 3 h 3"/>
                  <a:gd name="T6" fmla="*/ 2 w 4"/>
                  <a:gd name="T7" fmla="*/ 3 h 3"/>
                  <a:gd name="T8" fmla="*/ 3 w 4"/>
                  <a:gd name="T9" fmla="*/ 2 h 3"/>
                  <a:gd name="T10" fmla="*/ 4 w 4"/>
                  <a:gd name="T11" fmla="*/ 2 h 3"/>
                  <a:gd name="T12" fmla="*/ 4 w 4"/>
                  <a:gd name="T13" fmla="*/ 0 h 3"/>
                  <a:gd name="T14" fmla="*/ 0 w 4"/>
                  <a:gd name="T15" fmla="*/ 3 h 3"/>
                  <a:gd name="T16" fmla="*/ 0 w 4"/>
                  <a:gd name="T17"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3">
                    <a:moveTo>
                      <a:pt x="0" y="3"/>
                    </a:moveTo>
                    <a:lnTo>
                      <a:pt x="0" y="3"/>
                    </a:lnTo>
                    <a:lnTo>
                      <a:pt x="0" y="3"/>
                    </a:lnTo>
                    <a:lnTo>
                      <a:pt x="2" y="3"/>
                    </a:lnTo>
                    <a:cubicBezTo>
                      <a:pt x="2" y="3"/>
                      <a:pt x="2" y="3"/>
                      <a:pt x="3" y="2"/>
                    </a:cubicBezTo>
                    <a:cubicBezTo>
                      <a:pt x="3" y="2"/>
                      <a:pt x="3" y="2"/>
                      <a:pt x="4" y="2"/>
                    </a:cubicBezTo>
                    <a:cubicBezTo>
                      <a:pt x="4" y="2"/>
                      <a:pt x="4" y="1"/>
                      <a:pt x="4" y="0"/>
                    </a:cubicBezTo>
                    <a:cubicBezTo>
                      <a:pt x="4" y="0"/>
                      <a:pt x="1" y="2"/>
                      <a:pt x="0" y="3"/>
                    </a:cubicBezTo>
                    <a:cubicBezTo>
                      <a:pt x="0" y="3"/>
                      <a:pt x="0" y="3"/>
                      <a:pt x="0" y="3"/>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4" name="Freeform 345"/>
              <p:cNvSpPr>
                <a:spLocks/>
              </p:cNvSpPr>
              <p:nvPr/>
            </p:nvSpPr>
            <p:spPr bwMode="auto">
              <a:xfrm>
                <a:off x="1501776" y="2633663"/>
                <a:ext cx="3175" cy="4763"/>
              </a:xfrm>
              <a:custGeom>
                <a:avLst/>
                <a:gdLst>
                  <a:gd name="T0" fmla="*/ 0 w 3"/>
                  <a:gd name="T1" fmla="*/ 4 h 4"/>
                  <a:gd name="T2" fmla="*/ 0 w 3"/>
                  <a:gd name="T3" fmla="*/ 4 h 4"/>
                  <a:gd name="T4" fmla="*/ 0 w 3"/>
                  <a:gd name="T5" fmla="*/ 4 h 4"/>
                  <a:gd name="T6" fmla="*/ 3 w 3"/>
                  <a:gd name="T7" fmla="*/ 3 h 4"/>
                  <a:gd name="T8" fmla="*/ 3 w 3"/>
                  <a:gd name="T9" fmla="*/ 2 h 4"/>
                  <a:gd name="T10" fmla="*/ 2 w 3"/>
                  <a:gd name="T11" fmla="*/ 0 h 4"/>
                  <a:gd name="T12" fmla="*/ 0 w 3"/>
                  <a:gd name="T13" fmla="*/ 4 h 4"/>
                  <a:gd name="T14" fmla="*/ 0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0" y="4"/>
                    </a:moveTo>
                    <a:lnTo>
                      <a:pt x="0" y="4"/>
                    </a:lnTo>
                    <a:lnTo>
                      <a:pt x="0" y="4"/>
                    </a:lnTo>
                    <a:cubicBezTo>
                      <a:pt x="0" y="4"/>
                      <a:pt x="2" y="3"/>
                      <a:pt x="3" y="3"/>
                    </a:cubicBezTo>
                    <a:cubicBezTo>
                      <a:pt x="3" y="3"/>
                      <a:pt x="3" y="2"/>
                      <a:pt x="3" y="2"/>
                    </a:cubicBezTo>
                    <a:cubicBezTo>
                      <a:pt x="3" y="1"/>
                      <a:pt x="2" y="0"/>
                      <a:pt x="2" y="0"/>
                    </a:cubicBezTo>
                    <a:cubicBezTo>
                      <a:pt x="2" y="0"/>
                      <a:pt x="1" y="2"/>
                      <a:pt x="0" y="4"/>
                    </a:cubicBezTo>
                    <a:lnTo>
                      <a:pt x="0" y="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5" name="Freeform 346"/>
              <p:cNvSpPr>
                <a:spLocks/>
              </p:cNvSpPr>
              <p:nvPr/>
            </p:nvSpPr>
            <p:spPr bwMode="auto">
              <a:xfrm>
                <a:off x="1508126" y="2709863"/>
                <a:ext cx="1588" cy="3175"/>
              </a:xfrm>
              <a:custGeom>
                <a:avLst/>
                <a:gdLst>
                  <a:gd name="T0" fmla="*/ 2 w 2"/>
                  <a:gd name="T1" fmla="*/ 1 h 3"/>
                  <a:gd name="T2" fmla="*/ 2 w 2"/>
                  <a:gd name="T3" fmla="*/ 1 h 3"/>
                  <a:gd name="T4" fmla="*/ 0 w 2"/>
                  <a:gd name="T5" fmla="*/ 1 h 3"/>
                  <a:gd name="T6" fmla="*/ 0 w 2"/>
                  <a:gd name="T7" fmla="*/ 0 h 3"/>
                  <a:gd name="T8" fmla="*/ 0 w 2"/>
                  <a:gd name="T9" fmla="*/ 0 h 3"/>
                  <a:gd name="T10" fmla="*/ 0 w 2"/>
                  <a:gd name="T11" fmla="*/ 3 h 3"/>
                  <a:gd name="T12" fmla="*/ 0 w 2"/>
                  <a:gd name="T13" fmla="*/ 3 h 3"/>
                  <a:gd name="T14" fmla="*/ 0 w 2"/>
                  <a:gd name="T15" fmla="*/ 2 h 3"/>
                  <a:gd name="T16" fmla="*/ 2 w 2"/>
                  <a:gd name="T17" fmla="*/ 2 h 3"/>
                  <a:gd name="T18" fmla="*/ 2 w 2"/>
                  <a:gd name="T19" fmla="*/ 3 h 3"/>
                  <a:gd name="T20" fmla="*/ 2 w 2"/>
                  <a:gd name="T21" fmla="*/ 3 h 3"/>
                  <a:gd name="T22" fmla="*/ 2 w 2"/>
                  <a:gd name="T23" fmla="*/ 0 h 3"/>
                  <a:gd name="T24" fmla="*/ 2 w 2"/>
                  <a:gd name="T25" fmla="*/ 0 h 3"/>
                  <a:gd name="T26" fmla="*/ 2 w 2"/>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2" y="1"/>
                    </a:moveTo>
                    <a:lnTo>
                      <a:pt x="2" y="1"/>
                    </a:lnTo>
                    <a:lnTo>
                      <a:pt x="0" y="1"/>
                    </a:lnTo>
                    <a:lnTo>
                      <a:pt x="0" y="0"/>
                    </a:lnTo>
                    <a:lnTo>
                      <a:pt x="0" y="0"/>
                    </a:lnTo>
                    <a:lnTo>
                      <a:pt x="0" y="3"/>
                    </a:lnTo>
                    <a:lnTo>
                      <a:pt x="0" y="3"/>
                    </a:lnTo>
                    <a:lnTo>
                      <a:pt x="0" y="2"/>
                    </a:lnTo>
                    <a:lnTo>
                      <a:pt x="2" y="2"/>
                    </a:lnTo>
                    <a:lnTo>
                      <a:pt x="2" y="3"/>
                    </a:lnTo>
                    <a:lnTo>
                      <a:pt x="2" y="3"/>
                    </a:lnTo>
                    <a:lnTo>
                      <a:pt x="2" y="0"/>
                    </a:lnTo>
                    <a:lnTo>
                      <a:pt x="2" y="0"/>
                    </a:lnTo>
                    <a:lnTo>
                      <a:pt x="2"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6" name="Freeform 347"/>
              <p:cNvSpPr>
                <a:spLocks/>
              </p:cNvSpPr>
              <p:nvPr/>
            </p:nvSpPr>
            <p:spPr bwMode="auto">
              <a:xfrm>
                <a:off x="1511301" y="2709863"/>
                <a:ext cx="1588" cy="3175"/>
              </a:xfrm>
              <a:custGeom>
                <a:avLst/>
                <a:gdLst>
                  <a:gd name="T0" fmla="*/ 2 w 3"/>
                  <a:gd name="T1" fmla="*/ 2 h 3"/>
                  <a:gd name="T2" fmla="*/ 2 w 3"/>
                  <a:gd name="T3" fmla="*/ 2 h 3"/>
                  <a:gd name="T4" fmla="*/ 1 w 3"/>
                  <a:gd name="T5" fmla="*/ 3 h 3"/>
                  <a:gd name="T6" fmla="*/ 1 w 3"/>
                  <a:gd name="T7" fmla="*/ 2 h 3"/>
                  <a:gd name="T8" fmla="*/ 1 w 3"/>
                  <a:gd name="T9" fmla="*/ 0 h 3"/>
                  <a:gd name="T10" fmla="*/ 0 w 3"/>
                  <a:gd name="T11" fmla="*/ 0 h 3"/>
                  <a:gd name="T12" fmla="*/ 0 w 3"/>
                  <a:gd name="T13" fmla="*/ 2 h 3"/>
                  <a:gd name="T14" fmla="*/ 0 w 3"/>
                  <a:gd name="T15" fmla="*/ 3 h 3"/>
                  <a:gd name="T16" fmla="*/ 1 w 3"/>
                  <a:gd name="T17" fmla="*/ 3 h 3"/>
                  <a:gd name="T18" fmla="*/ 3 w 3"/>
                  <a:gd name="T19" fmla="*/ 3 h 3"/>
                  <a:gd name="T20" fmla="*/ 3 w 3"/>
                  <a:gd name="T21" fmla="*/ 2 h 3"/>
                  <a:gd name="T22" fmla="*/ 3 w 3"/>
                  <a:gd name="T23" fmla="*/ 0 h 3"/>
                  <a:gd name="T24" fmla="*/ 2 w 3"/>
                  <a:gd name="T25" fmla="*/ 0 h 3"/>
                  <a:gd name="T26" fmla="*/ 2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2" y="2"/>
                    </a:moveTo>
                    <a:lnTo>
                      <a:pt x="2" y="2"/>
                    </a:lnTo>
                    <a:cubicBezTo>
                      <a:pt x="2" y="3"/>
                      <a:pt x="2" y="3"/>
                      <a:pt x="1" y="3"/>
                    </a:cubicBezTo>
                    <a:cubicBezTo>
                      <a:pt x="1" y="3"/>
                      <a:pt x="1" y="3"/>
                      <a:pt x="1" y="2"/>
                    </a:cubicBezTo>
                    <a:lnTo>
                      <a:pt x="1" y="0"/>
                    </a:lnTo>
                    <a:lnTo>
                      <a:pt x="0" y="0"/>
                    </a:lnTo>
                    <a:lnTo>
                      <a:pt x="0" y="2"/>
                    </a:lnTo>
                    <a:cubicBezTo>
                      <a:pt x="0" y="2"/>
                      <a:pt x="0" y="3"/>
                      <a:pt x="0" y="3"/>
                    </a:cubicBezTo>
                    <a:cubicBezTo>
                      <a:pt x="0" y="3"/>
                      <a:pt x="1" y="3"/>
                      <a:pt x="1" y="3"/>
                    </a:cubicBezTo>
                    <a:cubicBezTo>
                      <a:pt x="2" y="3"/>
                      <a:pt x="2" y="3"/>
                      <a:pt x="3" y="3"/>
                    </a:cubicBezTo>
                    <a:cubicBezTo>
                      <a:pt x="3" y="3"/>
                      <a:pt x="3" y="2"/>
                      <a:pt x="3" y="2"/>
                    </a:cubicBezTo>
                    <a:lnTo>
                      <a:pt x="3" y="0"/>
                    </a:lnTo>
                    <a:lnTo>
                      <a:pt x="2" y="0"/>
                    </a:lnTo>
                    <a:lnTo>
                      <a:pt x="2"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7" name="Freeform 348"/>
              <p:cNvSpPr>
                <a:spLocks noEditPoints="1"/>
              </p:cNvSpPr>
              <p:nvPr/>
            </p:nvSpPr>
            <p:spPr bwMode="auto">
              <a:xfrm>
                <a:off x="1512888" y="2709863"/>
                <a:ext cx="3175" cy="3175"/>
              </a:xfrm>
              <a:custGeom>
                <a:avLst/>
                <a:gdLst>
                  <a:gd name="T0" fmla="*/ 1 w 3"/>
                  <a:gd name="T1" fmla="*/ 2 h 3"/>
                  <a:gd name="T2" fmla="*/ 1 w 3"/>
                  <a:gd name="T3" fmla="*/ 2 h 3"/>
                  <a:gd name="T4" fmla="*/ 2 w 3"/>
                  <a:gd name="T5" fmla="*/ 1 h 3"/>
                  <a:gd name="T6" fmla="*/ 2 w 3"/>
                  <a:gd name="T7" fmla="*/ 2 h 3"/>
                  <a:gd name="T8" fmla="*/ 1 w 3"/>
                  <a:gd name="T9" fmla="*/ 2 h 3"/>
                  <a:gd name="T10" fmla="*/ 1 w 3"/>
                  <a:gd name="T11" fmla="*/ 0 h 3"/>
                  <a:gd name="T12" fmla="*/ 1 w 3"/>
                  <a:gd name="T13" fmla="*/ 0 h 3"/>
                  <a:gd name="T14" fmla="*/ 0 w 3"/>
                  <a:gd name="T15" fmla="*/ 3 h 3"/>
                  <a:gd name="T16" fmla="*/ 1 w 3"/>
                  <a:gd name="T17" fmla="*/ 3 h 3"/>
                  <a:gd name="T18" fmla="*/ 1 w 3"/>
                  <a:gd name="T19" fmla="*/ 3 h 3"/>
                  <a:gd name="T20" fmla="*/ 2 w 3"/>
                  <a:gd name="T21" fmla="*/ 3 h 3"/>
                  <a:gd name="T22" fmla="*/ 3 w 3"/>
                  <a:gd name="T23" fmla="*/ 3 h 3"/>
                  <a:gd name="T24" fmla="*/ 3 w 3"/>
                  <a:gd name="T25" fmla="*/ 3 h 3"/>
                  <a:gd name="T26" fmla="*/ 2 w 3"/>
                  <a:gd name="T27" fmla="*/ 0 h 3"/>
                  <a:gd name="T28" fmla="*/ 1 w 3"/>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1" y="2"/>
                    </a:moveTo>
                    <a:lnTo>
                      <a:pt x="1" y="2"/>
                    </a:lnTo>
                    <a:lnTo>
                      <a:pt x="2" y="1"/>
                    </a:lnTo>
                    <a:lnTo>
                      <a:pt x="2" y="2"/>
                    </a:lnTo>
                    <a:lnTo>
                      <a:pt x="1" y="2"/>
                    </a:lnTo>
                    <a:close/>
                    <a:moveTo>
                      <a:pt x="1" y="0"/>
                    </a:moveTo>
                    <a:lnTo>
                      <a:pt x="1" y="0"/>
                    </a:lnTo>
                    <a:lnTo>
                      <a:pt x="0" y="3"/>
                    </a:lnTo>
                    <a:lnTo>
                      <a:pt x="1" y="3"/>
                    </a:lnTo>
                    <a:lnTo>
                      <a:pt x="1" y="3"/>
                    </a:lnTo>
                    <a:lnTo>
                      <a:pt x="2" y="3"/>
                    </a:lnTo>
                    <a:lnTo>
                      <a:pt x="3" y="3"/>
                    </a:lnTo>
                    <a:lnTo>
                      <a:pt x="3" y="3"/>
                    </a:lnTo>
                    <a:lnTo>
                      <a:pt x="2" y="0"/>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8" name="Freeform 349"/>
              <p:cNvSpPr>
                <a:spLocks/>
              </p:cNvSpPr>
              <p:nvPr/>
            </p:nvSpPr>
            <p:spPr bwMode="auto">
              <a:xfrm>
                <a:off x="1516063" y="2709863"/>
                <a:ext cx="4763" cy="3175"/>
              </a:xfrm>
              <a:custGeom>
                <a:avLst/>
                <a:gdLst>
                  <a:gd name="T0" fmla="*/ 4 w 5"/>
                  <a:gd name="T1" fmla="*/ 3 h 3"/>
                  <a:gd name="T2" fmla="*/ 4 w 5"/>
                  <a:gd name="T3" fmla="*/ 3 h 3"/>
                  <a:gd name="T4" fmla="*/ 3 w 5"/>
                  <a:gd name="T5" fmla="*/ 0 h 3"/>
                  <a:gd name="T6" fmla="*/ 2 w 5"/>
                  <a:gd name="T7" fmla="*/ 0 h 3"/>
                  <a:gd name="T8" fmla="*/ 1 w 5"/>
                  <a:gd name="T9" fmla="*/ 3 h 3"/>
                  <a:gd name="T10" fmla="*/ 1 w 5"/>
                  <a:gd name="T11" fmla="*/ 0 h 3"/>
                  <a:gd name="T12" fmla="*/ 0 w 5"/>
                  <a:gd name="T13" fmla="*/ 0 h 3"/>
                  <a:gd name="T14" fmla="*/ 1 w 5"/>
                  <a:gd name="T15" fmla="*/ 3 h 3"/>
                  <a:gd name="T16" fmla="*/ 2 w 5"/>
                  <a:gd name="T17" fmla="*/ 3 h 3"/>
                  <a:gd name="T18" fmla="*/ 3 w 5"/>
                  <a:gd name="T19" fmla="*/ 1 h 3"/>
                  <a:gd name="T20" fmla="*/ 3 w 5"/>
                  <a:gd name="T21" fmla="*/ 3 h 3"/>
                  <a:gd name="T22" fmla="*/ 4 w 5"/>
                  <a:gd name="T23" fmla="*/ 3 h 3"/>
                  <a:gd name="T24" fmla="*/ 5 w 5"/>
                  <a:gd name="T25" fmla="*/ 0 h 3"/>
                  <a:gd name="T26" fmla="*/ 4 w 5"/>
                  <a:gd name="T27" fmla="*/ 0 h 3"/>
                  <a:gd name="T28" fmla="*/ 4 w 5"/>
                  <a:gd name="T29" fmla="*/ 3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4" y="3"/>
                    </a:moveTo>
                    <a:lnTo>
                      <a:pt x="4" y="3"/>
                    </a:lnTo>
                    <a:lnTo>
                      <a:pt x="3" y="0"/>
                    </a:lnTo>
                    <a:lnTo>
                      <a:pt x="2" y="0"/>
                    </a:lnTo>
                    <a:lnTo>
                      <a:pt x="1" y="3"/>
                    </a:lnTo>
                    <a:lnTo>
                      <a:pt x="1" y="0"/>
                    </a:lnTo>
                    <a:lnTo>
                      <a:pt x="0" y="0"/>
                    </a:lnTo>
                    <a:lnTo>
                      <a:pt x="1" y="3"/>
                    </a:lnTo>
                    <a:lnTo>
                      <a:pt x="2" y="3"/>
                    </a:lnTo>
                    <a:lnTo>
                      <a:pt x="3" y="1"/>
                    </a:lnTo>
                    <a:lnTo>
                      <a:pt x="3" y="3"/>
                    </a:lnTo>
                    <a:lnTo>
                      <a:pt x="4" y="3"/>
                    </a:lnTo>
                    <a:lnTo>
                      <a:pt x="5" y="0"/>
                    </a:lnTo>
                    <a:lnTo>
                      <a:pt x="4" y="0"/>
                    </a:lnTo>
                    <a:lnTo>
                      <a:pt x="4"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09" name="Freeform 350"/>
              <p:cNvSpPr>
                <a:spLocks/>
              </p:cNvSpPr>
              <p:nvPr/>
            </p:nvSpPr>
            <p:spPr bwMode="auto">
              <a:xfrm>
                <a:off x="1520826" y="2709863"/>
                <a:ext cx="3175" cy="3175"/>
              </a:xfrm>
              <a:custGeom>
                <a:avLst/>
                <a:gdLst>
                  <a:gd name="T0" fmla="*/ 0 w 3"/>
                  <a:gd name="T1" fmla="*/ 2 h 3"/>
                  <a:gd name="T2" fmla="*/ 0 w 3"/>
                  <a:gd name="T3" fmla="*/ 2 h 3"/>
                  <a:gd name="T4" fmla="*/ 1 w 3"/>
                  <a:gd name="T5" fmla="*/ 3 h 3"/>
                  <a:gd name="T6" fmla="*/ 2 w 3"/>
                  <a:gd name="T7" fmla="*/ 3 h 3"/>
                  <a:gd name="T8" fmla="*/ 3 w 3"/>
                  <a:gd name="T9" fmla="*/ 3 h 3"/>
                  <a:gd name="T10" fmla="*/ 3 w 3"/>
                  <a:gd name="T11" fmla="*/ 3 h 3"/>
                  <a:gd name="T12" fmla="*/ 2 w 3"/>
                  <a:gd name="T13" fmla="*/ 3 h 3"/>
                  <a:gd name="T14" fmla="*/ 1 w 3"/>
                  <a:gd name="T15" fmla="*/ 2 h 3"/>
                  <a:gd name="T16" fmla="*/ 3 w 3"/>
                  <a:gd name="T17" fmla="*/ 2 h 3"/>
                  <a:gd name="T18" fmla="*/ 3 w 3"/>
                  <a:gd name="T19" fmla="*/ 1 h 3"/>
                  <a:gd name="T20" fmla="*/ 1 w 3"/>
                  <a:gd name="T21" fmla="*/ 1 h 3"/>
                  <a:gd name="T22" fmla="*/ 2 w 3"/>
                  <a:gd name="T23" fmla="*/ 1 h 3"/>
                  <a:gd name="T24" fmla="*/ 3 w 3"/>
                  <a:gd name="T25" fmla="*/ 1 h 3"/>
                  <a:gd name="T26" fmla="*/ 3 w 3"/>
                  <a:gd name="T27" fmla="*/ 0 h 3"/>
                  <a:gd name="T28" fmla="*/ 2 w 3"/>
                  <a:gd name="T29" fmla="*/ 0 h 3"/>
                  <a:gd name="T30" fmla="*/ 0 w 3"/>
                  <a:gd name="T31"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0" y="2"/>
                    </a:moveTo>
                    <a:lnTo>
                      <a:pt x="0" y="2"/>
                    </a:lnTo>
                    <a:cubicBezTo>
                      <a:pt x="0" y="2"/>
                      <a:pt x="0" y="3"/>
                      <a:pt x="1" y="3"/>
                    </a:cubicBezTo>
                    <a:cubicBezTo>
                      <a:pt x="1" y="3"/>
                      <a:pt x="1" y="3"/>
                      <a:pt x="2" y="3"/>
                    </a:cubicBezTo>
                    <a:lnTo>
                      <a:pt x="3" y="3"/>
                    </a:lnTo>
                    <a:lnTo>
                      <a:pt x="3" y="3"/>
                    </a:lnTo>
                    <a:lnTo>
                      <a:pt x="2" y="3"/>
                    </a:lnTo>
                    <a:cubicBezTo>
                      <a:pt x="1" y="3"/>
                      <a:pt x="1" y="3"/>
                      <a:pt x="1" y="2"/>
                    </a:cubicBezTo>
                    <a:lnTo>
                      <a:pt x="3" y="2"/>
                    </a:lnTo>
                    <a:lnTo>
                      <a:pt x="3" y="1"/>
                    </a:lnTo>
                    <a:lnTo>
                      <a:pt x="1" y="1"/>
                    </a:lnTo>
                    <a:cubicBezTo>
                      <a:pt x="1" y="1"/>
                      <a:pt x="1" y="1"/>
                      <a:pt x="2" y="1"/>
                    </a:cubicBezTo>
                    <a:lnTo>
                      <a:pt x="3" y="1"/>
                    </a:lnTo>
                    <a:lnTo>
                      <a:pt x="3" y="0"/>
                    </a:lnTo>
                    <a:lnTo>
                      <a:pt x="2" y="0"/>
                    </a:lnTo>
                    <a:cubicBezTo>
                      <a:pt x="1" y="0"/>
                      <a:pt x="0"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0" name="Freeform 351"/>
              <p:cNvSpPr>
                <a:spLocks/>
              </p:cNvSpPr>
              <p:nvPr/>
            </p:nvSpPr>
            <p:spPr bwMode="auto">
              <a:xfrm>
                <a:off x="1524001" y="2709863"/>
                <a:ext cx="1588" cy="3175"/>
              </a:xfrm>
              <a:custGeom>
                <a:avLst/>
                <a:gdLst>
                  <a:gd name="T0" fmla="*/ 0 w 1"/>
                  <a:gd name="T1" fmla="*/ 3 h 3"/>
                  <a:gd name="T2" fmla="*/ 0 w 1"/>
                  <a:gd name="T3" fmla="*/ 3 h 3"/>
                  <a:gd name="T4" fmla="*/ 1 w 1"/>
                  <a:gd name="T5" fmla="*/ 3 h 3"/>
                  <a:gd name="T6" fmla="*/ 1 w 1"/>
                  <a:gd name="T7" fmla="*/ 0 h 3"/>
                  <a:gd name="T8" fmla="*/ 0 w 1"/>
                  <a:gd name="T9" fmla="*/ 0 h 3"/>
                  <a:gd name="T10" fmla="*/ 0 w 1"/>
                  <a:gd name="T11" fmla="*/ 3 h 3"/>
                </a:gdLst>
                <a:ahLst/>
                <a:cxnLst>
                  <a:cxn ang="0">
                    <a:pos x="T0" y="T1"/>
                  </a:cxn>
                  <a:cxn ang="0">
                    <a:pos x="T2" y="T3"/>
                  </a:cxn>
                  <a:cxn ang="0">
                    <a:pos x="T4" y="T5"/>
                  </a:cxn>
                  <a:cxn ang="0">
                    <a:pos x="T6" y="T7"/>
                  </a:cxn>
                  <a:cxn ang="0">
                    <a:pos x="T8" y="T9"/>
                  </a:cxn>
                  <a:cxn ang="0">
                    <a:pos x="T10" y="T11"/>
                  </a:cxn>
                </a:cxnLst>
                <a:rect l="0" t="0" r="r" b="b"/>
                <a:pathLst>
                  <a:path w="1" h="3">
                    <a:moveTo>
                      <a:pt x="0" y="3"/>
                    </a:moveTo>
                    <a:lnTo>
                      <a:pt x="0" y="3"/>
                    </a:lnTo>
                    <a:lnTo>
                      <a:pt x="1" y="3"/>
                    </a:lnTo>
                    <a:lnTo>
                      <a:pt x="1" y="0"/>
                    </a:lnTo>
                    <a:lnTo>
                      <a:pt x="0" y="0"/>
                    </a:lnTo>
                    <a:lnTo>
                      <a:pt x="0"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1" name="Freeform 352"/>
              <p:cNvSpPr>
                <a:spLocks/>
              </p:cNvSpPr>
              <p:nvPr/>
            </p:nvSpPr>
            <p:spPr bwMode="auto">
              <a:xfrm>
                <a:off x="1497013" y="2708275"/>
                <a:ext cx="3175" cy="4763"/>
              </a:xfrm>
              <a:custGeom>
                <a:avLst/>
                <a:gdLst>
                  <a:gd name="T0" fmla="*/ 0 w 3"/>
                  <a:gd name="T1" fmla="*/ 1 h 4"/>
                  <a:gd name="T2" fmla="*/ 0 w 3"/>
                  <a:gd name="T3" fmla="*/ 1 h 4"/>
                  <a:gd name="T4" fmla="*/ 1 w 3"/>
                  <a:gd name="T5" fmla="*/ 2 h 4"/>
                  <a:gd name="T6" fmla="*/ 3 w 3"/>
                  <a:gd name="T7" fmla="*/ 4 h 4"/>
                  <a:gd name="T8" fmla="*/ 3 w 3"/>
                  <a:gd name="T9" fmla="*/ 4 h 4"/>
                  <a:gd name="T10" fmla="*/ 3 w 3"/>
                  <a:gd name="T11" fmla="*/ 4 h 4"/>
                  <a:gd name="T12" fmla="*/ 1 w 3"/>
                  <a:gd name="T13" fmla="*/ 0 h 4"/>
                  <a:gd name="T14" fmla="*/ 0 w 3"/>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0" y="1"/>
                    </a:moveTo>
                    <a:lnTo>
                      <a:pt x="0" y="1"/>
                    </a:lnTo>
                    <a:cubicBezTo>
                      <a:pt x="0" y="2"/>
                      <a:pt x="1" y="2"/>
                      <a:pt x="1" y="2"/>
                    </a:cubicBezTo>
                    <a:cubicBezTo>
                      <a:pt x="1" y="3"/>
                      <a:pt x="3" y="4"/>
                      <a:pt x="3" y="4"/>
                    </a:cubicBezTo>
                    <a:lnTo>
                      <a:pt x="3" y="4"/>
                    </a:lnTo>
                    <a:cubicBezTo>
                      <a:pt x="3" y="4"/>
                      <a:pt x="3" y="4"/>
                      <a:pt x="3" y="4"/>
                    </a:cubicBezTo>
                    <a:cubicBezTo>
                      <a:pt x="2" y="1"/>
                      <a:pt x="1" y="0"/>
                      <a:pt x="1" y="0"/>
                    </a:cubicBezTo>
                    <a:cubicBezTo>
                      <a:pt x="1" y="0"/>
                      <a:pt x="0" y="0"/>
                      <a:pt x="0"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2" name="Freeform 353"/>
              <p:cNvSpPr>
                <a:spLocks/>
              </p:cNvSpPr>
              <p:nvPr/>
            </p:nvSpPr>
            <p:spPr bwMode="auto">
              <a:xfrm>
                <a:off x="1497013" y="2713038"/>
                <a:ext cx="3175" cy="1588"/>
              </a:xfrm>
              <a:custGeom>
                <a:avLst/>
                <a:gdLst>
                  <a:gd name="T0" fmla="*/ 0 w 3"/>
                  <a:gd name="T1" fmla="*/ 1 h 2"/>
                  <a:gd name="T2" fmla="*/ 0 w 3"/>
                  <a:gd name="T3" fmla="*/ 1 h 2"/>
                  <a:gd name="T4" fmla="*/ 2 w 3"/>
                  <a:gd name="T5" fmla="*/ 1 h 2"/>
                  <a:gd name="T6" fmla="*/ 3 w 3"/>
                  <a:gd name="T7" fmla="*/ 1 h 2"/>
                  <a:gd name="T8" fmla="*/ 3 w 3"/>
                  <a:gd name="T9" fmla="*/ 0 h 2"/>
                  <a:gd name="T10" fmla="*/ 3 w 3"/>
                  <a:gd name="T11" fmla="*/ 0 h 2"/>
                  <a:gd name="T12" fmla="*/ 0 w 3"/>
                  <a:gd name="T13" fmla="*/ 1 h 2"/>
                </a:gdLst>
                <a:ahLst/>
                <a:cxnLst>
                  <a:cxn ang="0">
                    <a:pos x="T0" y="T1"/>
                  </a:cxn>
                  <a:cxn ang="0">
                    <a:pos x="T2" y="T3"/>
                  </a:cxn>
                  <a:cxn ang="0">
                    <a:pos x="T4" y="T5"/>
                  </a:cxn>
                  <a:cxn ang="0">
                    <a:pos x="T6" y="T7"/>
                  </a:cxn>
                  <a:cxn ang="0">
                    <a:pos x="T8" y="T9"/>
                  </a:cxn>
                  <a:cxn ang="0">
                    <a:pos x="T10" y="T11"/>
                  </a:cxn>
                  <a:cxn ang="0">
                    <a:pos x="T12" y="T13"/>
                  </a:cxn>
                </a:cxnLst>
                <a:rect l="0" t="0" r="r" b="b"/>
                <a:pathLst>
                  <a:path w="3" h="2">
                    <a:moveTo>
                      <a:pt x="0" y="1"/>
                    </a:moveTo>
                    <a:lnTo>
                      <a:pt x="0" y="1"/>
                    </a:lnTo>
                    <a:cubicBezTo>
                      <a:pt x="1" y="1"/>
                      <a:pt x="1" y="2"/>
                      <a:pt x="2" y="1"/>
                    </a:cubicBezTo>
                    <a:cubicBezTo>
                      <a:pt x="2" y="1"/>
                      <a:pt x="3" y="1"/>
                      <a:pt x="3" y="1"/>
                    </a:cubicBezTo>
                    <a:cubicBezTo>
                      <a:pt x="3" y="1"/>
                      <a:pt x="3" y="0"/>
                      <a:pt x="3" y="0"/>
                    </a:cubicBezTo>
                    <a:cubicBezTo>
                      <a:pt x="3" y="0"/>
                      <a:pt x="3" y="0"/>
                      <a:pt x="3" y="0"/>
                    </a:cubicBezTo>
                    <a:lnTo>
                      <a:pt x="0"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3" name="Freeform 354"/>
              <p:cNvSpPr>
                <a:spLocks/>
              </p:cNvSpPr>
              <p:nvPr/>
            </p:nvSpPr>
            <p:spPr bwMode="auto">
              <a:xfrm>
                <a:off x="1497013" y="2711450"/>
                <a:ext cx="3175" cy="1588"/>
              </a:xfrm>
              <a:custGeom>
                <a:avLst/>
                <a:gdLst>
                  <a:gd name="T0" fmla="*/ 1 w 4"/>
                  <a:gd name="T1" fmla="*/ 1 h 2"/>
                  <a:gd name="T2" fmla="*/ 1 w 4"/>
                  <a:gd name="T3" fmla="*/ 1 h 2"/>
                  <a:gd name="T4" fmla="*/ 1 w 4"/>
                  <a:gd name="T5" fmla="*/ 2 h 2"/>
                  <a:gd name="T6" fmla="*/ 2 w 4"/>
                  <a:gd name="T7" fmla="*/ 2 h 2"/>
                  <a:gd name="T8" fmla="*/ 4 w 4"/>
                  <a:gd name="T9" fmla="*/ 2 h 2"/>
                  <a:gd name="T10" fmla="*/ 4 w 4"/>
                  <a:gd name="T11" fmla="*/ 2 h 2"/>
                  <a:gd name="T12" fmla="*/ 4 w 4"/>
                  <a:gd name="T13" fmla="*/ 2 h 2"/>
                  <a:gd name="T14" fmla="*/ 1 w 4"/>
                  <a:gd name="T15" fmla="*/ 0 h 2"/>
                  <a:gd name="T16" fmla="*/ 1 w 4"/>
                  <a:gd name="T17"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1" y="1"/>
                    </a:moveTo>
                    <a:lnTo>
                      <a:pt x="1" y="1"/>
                    </a:lnTo>
                    <a:cubicBezTo>
                      <a:pt x="1" y="2"/>
                      <a:pt x="1" y="2"/>
                      <a:pt x="1" y="2"/>
                    </a:cubicBezTo>
                    <a:cubicBezTo>
                      <a:pt x="2" y="2"/>
                      <a:pt x="2" y="2"/>
                      <a:pt x="2" y="2"/>
                    </a:cubicBezTo>
                    <a:lnTo>
                      <a:pt x="4" y="2"/>
                    </a:lnTo>
                    <a:lnTo>
                      <a:pt x="4" y="2"/>
                    </a:lnTo>
                    <a:lnTo>
                      <a:pt x="4" y="2"/>
                    </a:lnTo>
                    <a:cubicBezTo>
                      <a:pt x="3" y="1"/>
                      <a:pt x="1" y="0"/>
                      <a:pt x="1" y="0"/>
                    </a:cubicBezTo>
                    <a:cubicBezTo>
                      <a:pt x="0" y="1"/>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4" name="Freeform 355"/>
              <p:cNvSpPr>
                <a:spLocks/>
              </p:cNvSpPr>
              <p:nvPr/>
            </p:nvSpPr>
            <p:spPr bwMode="auto">
              <a:xfrm>
                <a:off x="1498601" y="2706688"/>
                <a:ext cx="3175" cy="6350"/>
              </a:xfrm>
              <a:custGeom>
                <a:avLst/>
                <a:gdLst>
                  <a:gd name="T0" fmla="*/ 1 w 2"/>
                  <a:gd name="T1" fmla="*/ 1 h 6"/>
                  <a:gd name="T2" fmla="*/ 1 w 2"/>
                  <a:gd name="T3" fmla="*/ 1 h 6"/>
                  <a:gd name="T4" fmla="*/ 0 w 2"/>
                  <a:gd name="T5" fmla="*/ 1 h 6"/>
                  <a:gd name="T6" fmla="*/ 0 w 2"/>
                  <a:gd name="T7" fmla="*/ 2 h 6"/>
                  <a:gd name="T8" fmla="*/ 2 w 2"/>
                  <a:gd name="T9" fmla="*/ 6 h 6"/>
                  <a:gd name="T10" fmla="*/ 2 w 2"/>
                  <a:gd name="T11" fmla="*/ 6 h 6"/>
                  <a:gd name="T12" fmla="*/ 2 w 2"/>
                  <a:gd name="T13" fmla="*/ 6 h 6"/>
                  <a:gd name="T14" fmla="*/ 1 w 2"/>
                  <a:gd name="T15" fmla="*/ 0 h 6"/>
                  <a:gd name="T16" fmla="*/ 1 w 2"/>
                  <a:gd name="T17"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1" y="1"/>
                    </a:moveTo>
                    <a:lnTo>
                      <a:pt x="1" y="1"/>
                    </a:lnTo>
                    <a:cubicBezTo>
                      <a:pt x="0" y="1"/>
                      <a:pt x="0" y="1"/>
                      <a:pt x="0" y="1"/>
                    </a:cubicBezTo>
                    <a:cubicBezTo>
                      <a:pt x="0" y="2"/>
                      <a:pt x="0" y="2"/>
                      <a:pt x="0" y="2"/>
                    </a:cubicBezTo>
                    <a:cubicBezTo>
                      <a:pt x="0" y="3"/>
                      <a:pt x="1" y="5"/>
                      <a:pt x="2" y="6"/>
                    </a:cubicBezTo>
                    <a:cubicBezTo>
                      <a:pt x="2" y="6"/>
                      <a:pt x="2" y="6"/>
                      <a:pt x="2" y="6"/>
                    </a:cubicBezTo>
                    <a:lnTo>
                      <a:pt x="2" y="6"/>
                    </a:lnTo>
                    <a:cubicBezTo>
                      <a:pt x="2" y="2"/>
                      <a:pt x="1" y="0"/>
                      <a:pt x="1" y="0"/>
                    </a:cubicBezTo>
                    <a:cubicBezTo>
                      <a:pt x="1" y="0"/>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5" name="Freeform 356"/>
              <p:cNvSpPr>
                <a:spLocks/>
              </p:cNvSpPr>
              <p:nvPr/>
            </p:nvSpPr>
            <p:spPr bwMode="auto">
              <a:xfrm>
                <a:off x="1501776" y="2706688"/>
                <a:ext cx="1588" cy="6350"/>
              </a:xfrm>
              <a:custGeom>
                <a:avLst/>
                <a:gdLst>
                  <a:gd name="T0" fmla="*/ 2 w 2"/>
                  <a:gd name="T1" fmla="*/ 1 h 6"/>
                  <a:gd name="T2" fmla="*/ 2 w 2"/>
                  <a:gd name="T3" fmla="*/ 1 h 6"/>
                  <a:gd name="T4" fmla="*/ 1 w 2"/>
                  <a:gd name="T5" fmla="*/ 1 h 6"/>
                  <a:gd name="T6" fmla="*/ 1 w 2"/>
                  <a:gd name="T7" fmla="*/ 0 h 6"/>
                  <a:gd name="T8" fmla="*/ 0 w 2"/>
                  <a:gd name="T9" fmla="*/ 6 h 6"/>
                  <a:gd name="T10" fmla="*/ 0 w 2"/>
                  <a:gd name="T11" fmla="*/ 6 h 6"/>
                  <a:gd name="T12" fmla="*/ 0 w 2"/>
                  <a:gd name="T13" fmla="*/ 6 h 6"/>
                  <a:gd name="T14" fmla="*/ 2 w 2"/>
                  <a:gd name="T15" fmla="*/ 2 h 6"/>
                  <a:gd name="T16" fmla="*/ 2 w 2"/>
                  <a:gd name="T17"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6">
                    <a:moveTo>
                      <a:pt x="2" y="1"/>
                    </a:moveTo>
                    <a:lnTo>
                      <a:pt x="2" y="1"/>
                    </a:lnTo>
                    <a:cubicBezTo>
                      <a:pt x="2" y="1"/>
                      <a:pt x="2" y="1"/>
                      <a:pt x="1" y="1"/>
                    </a:cubicBezTo>
                    <a:cubicBezTo>
                      <a:pt x="1" y="1"/>
                      <a:pt x="1" y="0"/>
                      <a:pt x="1" y="0"/>
                    </a:cubicBezTo>
                    <a:cubicBezTo>
                      <a:pt x="1" y="0"/>
                      <a:pt x="0" y="2"/>
                      <a:pt x="0" y="6"/>
                    </a:cubicBezTo>
                    <a:lnTo>
                      <a:pt x="0" y="6"/>
                    </a:lnTo>
                    <a:lnTo>
                      <a:pt x="0" y="6"/>
                    </a:lnTo>
                    <a:cubicBezTo>
                      <a:pt x="1" y="5"/>
                      <a:pt x="2" y="3"/>
                      <a:pt x="2" y="2"/>
                    </a:cubicBezTo>
                    <a:cubicBezTo>
                      <a:pt x="2" y="2"/>
                      <a:pt x="2" y="2"/>
                      <a:pt x="2"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6" name="Freeform 357"/>
              <p:cNvSpPr>
                <a:spLocks/>
              </p:cNvSpPr>
              <p:nvPr/>
            </p:nvSpPr>
            <p:spPr bwMode="auto">
              <a:xfrm>
                <a:off x="1501776" y="2713038"/>
                <a:ext cx="3175" cy="1588"/>
              </a:xfrm>
              <a:custGeom>
                <a:avLst/>
                <a:gdLst>
                  <a:gd name="T0" fmla="*/ 0 w 3"/>
                  <a:gd name="T1" fmla="*/ 0 h 2"/>
                  <a:gd name="T2" fmla="*/ 0 w 3"/>
                  <a:gd name="T3" fmla="*/ 0 h 2"/>
                  <a:gd name="T4" fmla="*/ 0 w 3"/>
                  <a:gd name="T5" fmla="*/ 1 h 2"/>
                  <a:gd name="T6" fmla="*/ 2 w 3"/>
                  <a:gd name="T7" fmla="*/ 1 h 2"/>
                  <a:gd name="T8" fmla="*/ 3 w 3"/>
                  <a:gd name="T9" fmla="*/ 1 h 2"/>
                  <a:gd name="T10" fmla="*/ 0 w 3"/>
                  <a:gd name="T11" fmla="*/ 0 h 2"/>
                  <a:gd name="T12" fmla="*/ 0 w 3"/>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3" h="2">
                    <a:moveTo>
                      <a:pt x="0" y="0"/>
                    </a:moveTo>
                    <a:lnTo>
                      <a:pt x="0" y="0"/>
                    </a:lnTo>
                    <a:lnTo>
                      <a:pt x="0" y="1"/>
                    </a:lnTo>
                    <a:cubicBezTo>
                      <a:pt x="0" y="1"/>
                      <a:pt x="1" y="1"/>
                      <a:pt x="2" y="1"/>
                    </a:cubicBezTo>
                    <a:cubicBezTo>
                      <a:pt x="2" y="1"/>
                      <a:pt x="2" y="2"/>
                      <a:pt x="3" y="1"/>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7" name="Freeform 358"/>
              <p:cNvSpPr>
                <a:spLocks/>
              </p:cNvSpPr>
              <p:nvPr/>
            </p:nvSpPr>
            <p:spPr bwMode="auto">
              <a:xfrm>
                <a:off x="1501776" y="2711450"/>
                <a:ext cx="4763" cy="1588"/>
              </a:xfrm>
              <a:custGeom>
                <a:avLst/>
                <a:gdLst>
                  <a:gd name="T0" fmla="*/ 0 w 4"/>
                  <a:gd name="T1" fmla="*/ 2 h 2"/>
                  <a:gd name="T2" fmla="*/ 0 w 4"/>
                  <a:gd name="T3" fmla="*/ 2 h 2"/>
                  <a:gd name="T4" fmla="*/ 0 w 4"/>
                  <a:gd name="T5" fmla="*/ 2 h 2"/>
                  <a:gd name="T6" fmla="*/ 0 w 4"/>
                  <a:gd name="T7" fmla="*/ 2 h 2"/>
                  <a:gd name="T8" fmla="*/ 2 w 4"/>
                  <a:gd name="T9" fmla="*/ 2 h 2"/>
                  <a:gd name="T10" fmla="*/ 3 w 4"/>
                  <a:gd name="T11" fmla="*/ 2 h 2"/>
                  <a:gd name="T12" fmla="*/ 4 w 4"/>
                  <a:gd name="T13" fmla="*/ 1 h 2"/>
                  <a:gd name="T14" fmla="*/ 4 w 4"/>
                  <a:gd name="T15" fmla="*/ 0 h 2"/>
                  <a:gd name="T16" fmla="*/ 0 w 4"/>
                  <a:gd name="T1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0" y="2"/>
                    </a:moveTo>
                    <a:lnTo>
                      <a:pt x="0" y="2"/>
                    </a:lnTo>
                    <a:cubicBezTo>
                      <a:pt x="0" y="2"/>
                      <a:pt x="0" y="2"/>
                      <a:pt x="0" y="2"/>
                    </a:cubicBezTo>
                    <a:lnTo>
                      <a:pt x="0" y="2"/>
                    </a:lnTo>
                    <a:lnTo>
                      <a:pt x="2" y="2"/>
                    </a:lnTo>
                    <a:cubicBezTo>
                      <a:pt x="2" y="2"/>
                      <a:pt x="2" y="2"/>
                      <a:pt x="3" y="2"/>
                    </a:cubicBezTo>
                    <a:cubicBezTo>
                      <a:pt x="3" y="2"/>
                      <a:pt x="3" y="2"/>
                      <a:pt x="4" y="1"/>
                    </a:cubicBezTo>
                    <a:cubicBezTo>
                      <a:pt x="4" y="1"/>
                      <a:pt x="4" y="1"/>
                      <a:pt x="4" y="0"/>
                    </a:cubicBezTo>
                    <a:cubicBezTo>
                      <a:pt x="4" y="0"/>
                      <a:pt x="1"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8" name="Freeform 359"/>
              <p:cNvSpPr>
                <a:spLocks/>
              </p:cNvSpPr>
              <p:nvPr/>
            </p:nvSpPr>
            <p:spPr bwMode="auto">
              <a:xfrm>
                <a:off x="1501776" y="2708275"/>
                <a:ext cx="3175" cy="4763"/>
              </a:xfrm>
              <a:custGeom>
                <a:avLst/>
                <a:gdLst>
                  <a:gd name="T0" fmla="*/ 3 w 3"/>
                  <a:gd name="T1" fmla="*/ 1 h 4"/>
                  <a:gd name="T2" fmla="*/ 3 w 3"/>
                  <a:gd name="T3" fmla="*/ 1 h 4"/>
                  <a:gd name="T4" fmla="*/ 2 w 3"/>
                  <a:gd name="T5" fmla="*/ 0 h 4"/>
                  <a:gd name="T6" fmla="*/ 0 w 3"/>
                  <a:gd name="T7" fmla="*/ 4 h 4"/>
                  <a:gd name="T8" fmla="*/ 0 w 3"/>
                  <a:gd name="T9" fmla="*/ 4 h 4"/>
                  <a:gd name="T10" fmla="*/ 0 w 3"/>
                  <a:gd name="T11" fmla="*/ 4 h 4"/>
                  <a:gd name="T12" fmla="*/ 3 w 3"/>
                  <a:gd name="T13" fmla="*/ 2 h 4"/>
                  <a:gd name="T14" fmla="*/ 3 w 3"/>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1"/>
                    </a:moveTo>
                    <a:lnTo>
                      <a:pt x="3" y="1"/>
                    </a:lnTo>
                    <a:cubicBezTo>
                      <a:pt x="3" y="0"/>
                      <a:pt x="2" y="0"/>
                      <a:pt x="2" y="0"/>
                    </a:cubicBezTo>
                    <a:cubicBezTo>
                      <a:pt x="2" y="0"/>
                      <a:pt x="1" y="1"/>
                      <a:pt x="0" y="4"/>
                    </a:cubicBezTo>
                    <a:lnTo>
                      <a:pt x="0" y="4"/>
                    </a:lnTo>
                    <a:lnTo>
                      <a:pt x="0" y="4"/>
                    </a:lnTo>
                    <a:cubicBezTo>
                      <a:pt x="0" y="4"/>
                      <a:pt x="2" y="3"/>
                      <a:pt x="3" y="2"/>
                    </a:cubicBezTo>
                    <a:cubicBezTo>
                      <a:pt x="3" y="2"/>
                      <a:pt x="3" y="2"/>
                      <a:pt x="3"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19" name="Freeform 360"/>
              <p:cNvSpPr>
                <a:spLocks/>
              </p:cNvSpPr>
              <p:nvPr/>
            </p:nvSpPr>
            <p:spPr bwMode="auto">
              <a:xfrm>
                <a:off x="1508126" y="2784475"/>
                <a:ext cx="1588" cy="3175"/>
              </a:xfrm>
              <a:custGeom>
                <a:avLst/>
                <a:gdLst>
                  <a:gd name="T0" fmla="*/ 2 w 2"/>
                  <a:gd name="T1" fmla="*/ 1 h 3"/>
                  <a:gd name="T2" fmla="*/ 2 w 2"/>
                  <a:gd name="T3" fmla="*/ 1 h 3"/>
                  <a:gd name="T4" fmla="*/ 0 w 2"/>
                  <a:gd name="T5" fmla="*/ 1 h 3"/>
                  <a:gd name="T6" fmla="*/ 0 w 2"/>
                  <a:gd name="T7" fmla="*/ 0 h 3"/>
                  <a:gd name="T8" fmla="*/ 0 w 2"/>
                  <a:gd name="T9" fmla="*/ 0 h 3"/>
                  <a:gd name="T10" fmla="*/ 0 w 2"/>
                  <a:gd name="T11" fmla="*/ 3 h 3"/>
                  <a:gd name="T12" fmla="*/ 0 w 2"/>
                  <a:gd name="T13" fmla="*/ 3 h 3"/>
                  <a:gd name="T14" fmla="*/ 0 w 2"/>
                  <a:gd name="T15" fmla="*/ 2 h 3"/>
                  <a:gd name="T16" fmla="*/ 2 w 2"/>
                  <a:gd name="T17" fmla="*/ 2 h 3"/>
                  <a:gd name="T18" fmla="*/ 2 w 2"/>
                  <a:gd name="T19" fmla="*/ 3 h 3"/>
                  <a:gd name="T20" fmla="*/ 2 w 2"/>
                  <a:gd name="T21" fmla="*/ 3 h 3"/>
                  <a:gd name="T22" fmla="*/ 2 w 2"/>
                  <a:gd name="T23" fmla="*/ 0 h 3"/>
                  <a:gd name="T24" fmla="*/ 2 w 2"/>
                  <a:gd name="T25" fmla="*/ 0 h 3"/>
                  <a:gd name="T26" fmla="*/ 2 w 2"/>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 h="3">
                    <a:moveTo>
                      <a:pt x="2" y="1"/>
                    </a:moveTo>
                    <a:lnTo>
                      <a:pt x="2" y="1"/>
                    </a:lnTo>
                    <a:lnTo>
                      <a:pt x="0" y="1"/>
                    </a:lnTo>
                    <a:lnTo>
                      <a:pt x="0" y="0"/>
                    </a:lnTo>
                    <a:lnTo>
                      <a:pt x="0" y="0"/>
                    </a:lnTo>
                    <a:lnTo>
                      <a:pt x="0" y="3"/>
                    </a:lnTo>
                    <a:lnTo>
                      <a:pt x="0" y="3"/>
                    </a:lnTo>
                    <a:lnTo>
                      <a:pt x="0" y="2"/>
                    </a:lnTo>
                    <a:lnTo>
                      <a:pt x="2" y="2"/>
                    </a:lnTo>
                    <a:lnTo>
                      <a:pt x="2" y="3"/>
                    </a:lnTo>
                    <a:lnTo>
                      <a:pt x="2" y="3"/>
                    </a:lnTo>
                    <a:lnTo>
                      <a:pt x="2" y="0"/>
                    </a:lnTo>
                    <a:lnTo>
                      <a:pt x="2" y="0"/>
                    </a:lnTo>
                    <a:lnTo>
                      <a:pt x="2" y="1"/>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0" name="Freeform 361"/>
              <p:cNvSpPr>
                <a:spLocks/>
              </p:cNvSpPr>
              <p:nvPr/>
            </p:nvSpPr>
            <p:spPr bwMode="auto">
              <a:xfrm>
                <a:off x="1511301" y="2784475"/>
                <a:ext cx="1588" cy="3175"/>
              </a:xfrm>
              <a:custGeom>
                <a:avLst/>
                <a:gdLst>
                  <a:gd name="T0" fmla="*/ 2 w 3"/>
                  <a:gd name="T1" fmla="*/ 2 h 3"/>
                  <a:gd name="T2" fmla="*/ 2 w 3"/>
                  <a:gd name="T3" fmla="*/ 2 h 3"/>
                  <a:gd name="T4" fmla="*/ 1 w 3"/>
                  <a:gd name="T5" fmla="*/ 2 h 3"/>
                  <a:gd name="T6" fmla="*/ 1 w 3"/>
                  <a:gd name="T7" fmla="*/ 2 h 3"/>
                  <a:gd name="T8" fmla="*/ 1 w 3"/>
                  <a:gd name="T9" fmla="*/ 0 h 3"/>
                  <a:gd name="T10" fmla="*/ 0 w 3"/>
                  <a:gd name="T11" fmla="*/ 0 h 3"/>
                  <a:gd name="T12" fmla="*/ 0 w 3"/>
                  <a:gd name="T13" fmla="*/ 2 h 3"/>
                  <a:gd name="T14" fmla="*/ 0 w 3"/>
                  <a:gd name="T15" fmla="*/ 3 h 3"/>
                  <a:gd name="T16" fmla="*/ 1 w 3"/>
                  <a:gd name="T17" fmla="*/ 3 h 3"/>
                  <a:gd name="T18" fmla="*/ 3 w 3"/>
                  <a:gd name="T19" fmla="*/ 3 h 3"/>
                  <a:gd name="T20" fmla="*/ 3 w 3"/>
                  <a:gd name="T21" fmla="*/ 2 h 3"/>
                  <a:gd name="T22" fmla="*/ 3 w 3"/>
                  <a:gd name="T23" fmla="*/ 0 h 3"/>
                  <a:gd name="T24" fmla="*/ 2 w 3"/>
                  <a:gd name="T25" fmla="*/ 0 h 3"/>
                  <a:gd name="T26" fmla="*/ 2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2" y="2"/>
                    </a:moveTo>
                    <a:lnTo>
                      <a:pt x="2" y="2"/>
                    </a:lnTo>
                    <a:cubicBezTo>
                      <a:pt x="2" y="2"/>
                      <a:pt x="2" y="2"/>
                      <a:pt x="1" y="2"/>
                    </a:cubicBezTo>
                    <a:cubicBezTo>
                      <a:pt x="1" y="2"/>
                      <a:pt x="1" y="2"/>
                      <a:pt x="1" y="2"/>
                    </a:cubicBezTo>
                    <a:lnTo>
                      <a:pt x="1" y="0"/>
                    </a:lnTo>
                    <a:lnTo>
                      <a:pt x="0" y="0"/>
                    </a:lnTo>
                    <a:lnTo>
                      <a:pt x="0" y="2"/>
                    </a:lnTo>
                    <a:cubicBezTo>
                      <a:pt x="0" y="2"/>
                      <a:pt x="0" y="2"/>
                      <a:pt x="0" y="3"/>
                    </a:cubicBezTo>
                    <a:cubicBezTo>
                      <a:pt x="0" y="3"/>
                      <a:pt x="1" y="3"/>
                      <a:pt x="1" y="3"/>
                    </a:cubicBezTo>
                    <a:cubicBezTo>
                      <a:pt x="2" y="3"/>
                      <a:pt x="2" y="3"/>
                      <a:pt x="3" y="3"/>
                    </a:cubicBezTo>
                    <a:cubicBezTo>
                      <a:pt x="3" y="2"/>
                      <a:pt x="3" y="2"/>
                      <a:pt x="3" y="2"/>
                    </a:cubicBezTo>
                    <a:lnTo>
                      <a:pt x="3" y="0"/>
                    </a:lnTo>
                    <a:lnTo>
                      <a:pt x="2" y="0"/>
                    </a:lnTo>
                    <a:lnTo>
                      <a:pt x="2"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1" name="Freeform 362"/>
              <p:cNvSpPr>
                <a:spLocks noEditPoints="1"/>
              </p:cNvSpPr>
              <p:nvPr/>
            </p:nvSpPr>
            <p:spPr bwMode="auto">
              <a:xfrm>
                <a:off x="1512888" y="2784475"/>
                <a:ext cx="3175" cy="3175"/>
              </a:xfrm>
              <a:custGeom>
                <a:avLst/>
                <a:gdLst>
                  <a:gd name="T0" fmla="*/ 1 w 3"/>
                  <a:gd name="T1" fmla="*/ 2 h 3"/>
                  <a:gd name="T2" fmla="*/ 1 w 3"/>
                  <a:gd name="T3" fmla="*/ 2 h 3"/>
                  <a:gd name="T4" fmla="*/ 2 w 3"/>
                  <a:gd name="T5" fmla="*/ 0 h 3"/>
                  <a:gd name="T6" fmla="*/ 2 w 3"/>
                  <a:gd name="T7" fmla="*/ 2 h 3"/>
                  <a:gd name="T8" fmla="*/ 1 w 3"/>
                  <a:gd name="T9" fmla="*/ 2 h 3"/>
                  <a:gd name="T10" fmla="*/ 1 w 3"/>
                  <a:gd name="T11" fmla="*/ 0 h 3"/>
                  <a:gd name="T12" fmla="*/ 1 w 3"/>
                  <a:gd name="T13" fmla="*/ 0 h 3"/>
                  <a:gd name="T14" fmla="*/ 0 w 3"/>
                  <a:gd name="T15" fmla="*/ 3 h 3"/>
                  <a:gd name="T16" fmla="*/ 1 w 3"/>
                  <a:gd name="T17" fmla="*/ 3 h 3"/>
                  <a:gd name="T18" fmla="*/ 1 w 3"/>
                  <a:gd name="T19" fmla="*/ 2 h 3"/>
                  <a:gd name="T20" fmla="*/ 2 w 3"/>
                  <a:gd name="T21" fmla="*/ 2 h 3"/>
                  <a:gd name="T22" fmla="*/ 3 w 3"/>
                  <a:gd name="T23" fmla="*/ 3 h 3"/>
                  <a:gd name="T24" fmla="*/ 3 w 3"/>
                  <a:gd name="T25" fmla="*/ 3 h 3"/>
                  <a:gd name="T26" fmla="*/ 2 w 3"/>
                  <a:gd name="T27" fmla="*/ 0 h 3"/>
                  <a:gd name="T28" fmla="*/ 1 w 3"/>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1" y="2"/>
                    </a:moveTo>
                    <a:lnTo>
                      <a:pt x="1" y="2"/>
                    </a:lnTo>
                    <a:lnTo>
                      <a:pt x="2" y="0"/>
                    </a:lnTo>
                    <a:lnTo>
                      <a:pt x="2" y="2"/>
                    </a:lnTo>
                    <a:lnTo>
                      <a:pt x="1" y="2"/>
                    </a:lnTo>
                    <a:close/>
                    <a:moveTo>
                      <a:pt x="1" y="0"/>
                    </a:moveTo>
                    <a:lnTo>
                      <a:pt x="1" y="0"/>
                    </a:lnTo>
                    <a:lnTo>
                      <a:pt x="0" y="3"/>
                    </a:lnTo>
                    <a:lnTo>
                      <a:pt x="1" y="3"/>
                    </a:lnTo>
                    <a:lnTo>
                      <a:pt x="1" y="2"/>
                    </a:lnTo>
                    <a:lnTo>
                      <a:pt x="2" y="2"/>
                    </a:lnTo>
                    <a:lnTo>
                      <a:pt x="3" y="3"/>
                    </a:lnTo>
                    <a:lnTo>
                      <a:pt x="3" y="3"/>
                    </a:lnTo>
                    <a:lnTo>
                      <a:pt x="2" y="0"/>
                    </a:lnTo>
                    <a:lnTo>
                      <a:pt x="1"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2" name="Freeform 363"/>
              <p:cNvSpPr>
                <a:spLocks/>
              </p:cNvSpPr>
              <p:nvPr/>
            </p:nvSpPr>
            <p:spPr bwMode="auto">
              <a:xfrm>
                <a:off x="1516063" y="2784475"/>
                <a:ext cx="4763" cy="3175"/>
              </a:xfrm>
              <a:custGeom>
                <a:avLst/>
                <a:gdLst>
                  <a:gd name="T0" fmla="*/ 4 w 5"/>
                  <a:gd name="T1" fmla="*/ 2 h 3"/>
                  <a:gd name="T2" fmla="*/ 4 w 5"/>
                  <a:gd name="T3" fmla="*/ 2 h 3"/>
                  <a:gd name="T4" fmla="*/ 3 w 5"/>
                  <a:gd name="T5" fmla="*/ 0 h 3"/>
                  <a:gd name="T6" fmla="*/ 2 w 5"/>
                  <a:gd name="T7" fmla="*/ 0 h 3"/>
                  <a:gd name="T8" fmla="*/ 1 w 5"/>
                  <a:gd name="T9" fmla="*/ 2 h 3"/>
                  <a:gd name="T10" fmla="*/ 1 w 5"/>
                  <a:gd name="T11" fmla="*/ 0 h 3"/>
                  <a:gd name="T12" fmla="*/ 0 w 5"/>
                  <a:gd name="T13" fmla="*/ 0 h 3"/>
                  <a:gd name="T14" fmla="*/ 1 w 5"/>
                  <a:gd name="T15" fmla="*/ 3 h 3"/>
                  <a:gd name="T16" fmla="*/ 2 w 5"/>
                  <a:gd name="T17" fmla="*/ 3 h 3"/>
                  <a:gd name="T18" fmla="*/ 3 w 5"/>
                  <a:gd name="T19" fmla="*/ 1 h 3"/>
                  <a:gd name="T20" fmla="*/ 3 w 5"/>
                  <a:gd name="T21" fmla="*/ 3 h 3"/>
                  <a:gd name="T22" fmla="*/ 4 w 5"/>
                  <a:gd name="T23" fmla="*/ 3 h 3"/>
                  <a:gd name="T24" fmla="*/ 5 w 5"/>
                  <a:gd name="T25" fmla="*/ 0 h 3"/>
                  <a:gd name="T26" fmla="*/ 4 w 5"/>
                  <a:gd name="T27" fmla="*/ 0 h 3"/>
                  <a:gd name="T28" fmla="*/ 4 w 5"/>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4" y="2"/>
                    </a:moveTo>
                    <a:lnTo>
                      <a:pt x="4" y="2"/>
                    </a:lnTo>
                    <a:lnTo>
                      <a:pt x="3" y="0"/>
                    </a:lnTo>
                    <a:lnTo>
                      <a:pt x="2" y="0"/>
                    </a:lnTo>
                    <a:lnTo>
                      <a:pt x="1" y="2"/>
                    </a:lnTo>
                    <a:lnTo>
                      <a:pt x="1" y="0"/>
                    </a:lnTo>
                    <a:lnTo>
                      <a:pt x="0" y="0"/>
                    </a:lnTo>
                    <a:lnTo>
                      <a:pt x="1" y="3"/>
                    </a:lnTo>
                    <a:lnTo>
                      <a:pt x="2" y="3"/>
                    </a:lnTo>
                    <a:lnTo>
                      <a:pt x="3" y="1"/>
                    </a:lnTo>
                    <a:lnTo>
                      <a:pt x="3" y="3"/>
                    </a:lnTo>
                    <a:lnTo>
                      <a:pt x="4" y="3"/>
                    </a:lnTo>
                    <a:lnTo>
                      <a:pt x="5" y="0"/>
                    </a:lnTo>
                    <a:lnTo>
                      <a:pt x="4" y="0"/>
                    </a:lnTo>
                    <a:lnTo>
                      <a:pt x="4" y="2"/>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3" name="Freeform 364"/>
              <p:cNvSpPr>
                <a:spLocks/>
              </p:cNvSpPr>
              <p:nvPr/>
            </p:nvSpPr>
            <p:spPr bwMode="auto">
              <a:xfrm>
                <a:off x="1520826" y="2784475"/>
                <a:ext cx="3175" cy="3175"/>
              </a:xfrm>
              <a:custGeom>
                <a:avLst/>
                <a:gdLst>
                  <a:gd name="T0" fmla="*/ 0 w 3"/>
                  <a:gd name="T1" fmla="*/ 1 h 3"/>
                  <a:gd name="T2" fmla="*/ 0 w 3"/>
                  <a:gd name="T3" fmla="*/ 1 h 3"/>
                  <a:gd name="T4" fmla="*/ 1 w 3"/>
                  <a:gd name="T5" fmla="*/ 3 h 3"/>
                  <a:gd name="T6" fmla="*/ 2 w 3"/>
                  <a:gd name="T7" fmla="*/ 3 h 3"/>
                  <a:gd name="T8" fmla="*/ 3 w 3"/>
                  <a:gd name="T9" fmla="*/ 3 h 3"/>
                  <a:gd name="T10" fmla="*/ 3 w 3"/>
                  <a:gd name="T11" fmla="*/ 2 h 3"/>
                  <a:gd name="T12" fmla="*/ 2 w 3"/>
                  <a:gd name="T13" fmla="*/ 2 h 3"/>
                  <a:gd name="T14" fmla="*/ 1 w 3"/>
                  <a:gd name="T15" fmla="*/ 2 h 3"/>
                  <a:gd name="T16" fmla="*/ 3 w 3"/>
                  <a:gd name="T17" fmla="*/ 2 h 3"/>
                  <a:gd name="T18" fmla="*/ 3 w 3"/>
                  <a:gd name="T19" fmla="*/ 1 h 3"/>
                  <a:gd name="T20" fmla="*/ 1 w 3"/>
                  <a:gd name="T21" fmla="*/ 1 h 3"/>
                  <a:gd name="T22" fmla="*/ 2 w 3"/>
                  <a:gd name="T23" fmla="*/ 0 h 3"/>
                  <a:gd name="T24" fmla="*/ 3 w 3"/>
                  <a:gd name="T25" fmla="*/ 0 h 3"/>
                  <a:gd name="T26" fmla="*/ 3 w 3"/>
                  <a:gd name="T27" fmla="*/ 0 h 3"/>
                  <a:gd name="T28" fmla="*/ 2 w 3"/>
                  <a:gd name="T29" fmla="*/ 0 h 3"/>
                  <a:gd name="T30" fmla="*/ 0 w 3"/>
                  <a:gd name="T31"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0" y="1"/>
                    </a:moveTo>
                    <a:lnTo>
                      <a:pt x="0" y="1"/>
                    </a:lnTo>
                    <a:cubicBezTo>
                      <a:pt x="0" y="2"/>
                      <a:pt x="0" y="2"/>
                      <a:pt x="1" y="3"/>
                    </a:cubicBezTo>
                    <a:cubicBezTo>
                      <a:pt x="1" y="3"/>
                      <a:pt x="1" y="3"/>
                      <a:pt x="2" y="3"/>
                    </a:cubicBezTo>
                    <a:lnTo>
                      <a:pt x="3" y="3"/>
                    </a:lnTo>
                    <a:lnTo>
                      <a:pt x="3" y="2"/>
                    </a:lnTo>
                    <a:lnTo>
                      <a:pt x="2" y="2"/>
                    </a:lnTo>
                    <a:cubicBezTo>
                      <a:pt x="1" y="2"/>
                      <a:pt x="1" y="2"/>
                      <a:pt x="1" y="2"/>
                    </a:cubicBezTo>
                    <a:lnTo>
                      <a:pt x="3" y="2"/>
                    </a:lnTo>
                    <a:lnTo>
                      <a:pt x="3" y="1"/>
                    </a:lnTo>
                    <a:lnTo>
                      <a:pt x="1" y="1"/>
                    </a:lnTo>
                    <a:cubicBezTo>
                      <a:pt x="1" y="1"/>
                      <a:pt x="1" y="0"/>
                      <a:pt x="2" y="0"/>
                    </a:cubicBezTo>
                    <a:lnTo>
                      <a:pt x="3" y="0"/>
                    </a:lnTo>
                    <a:lnTo>
                      <a:pt x="3" y="0"/>
                    </a:lnTo>
                    <a:lnTo>
                      <a:pt x="2" y="0"/>
                    </a:lnTo>
                    <a:cubicBezTo>
                      <a:pt x="1" y="0"/>
                      <a:pt x="0" y="0"/>
                      <a:pt x="0"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4" name="Freeform 365"/>
              <p:cNvSpPr>
                <a:spLocks/>
              </p:cNvSpPr>
              <p:nvPr/>
            </p:nvSpPr>
            <p:spPr bwMode="auto">
              <a:xfrm>
                <a:off x="1524001" y="2784475"/>
                <a:ext cx="1588" cy="3175"/>
              </a:xfrm>
              <a:custGeom>
                <a:avLst/>
                <a:gdLst>
                  <a:gd name="T0" fmla="*/ 0 w 1"/>
                  <a:gd name="T1" fmla="*/ 3 h 3"/>
                  <a:gd name="T2" fmla="*/ 0 w 1"/>
                  <a:gd name="T3" fmla="*/ 3 h 3"/>
                  <a:gd name="T4" fmla="*/ 1 w 1"/>
                  <a:gd name="T5" fmla="*/ 3 h 3"/>
                  <a:gd name="T6" fmla="*/ 1 w 1"/>
                  <a:gd name="T7" fmla="*/ 0 h 3"/>
                  <a:gd name="T8" fmla="*/ 0 w 1"/>
                  <a:gd name="T9" fmla="*/ 0 h 3"/>
                  <a:gd name="T10" fmla="*/ 0 w 1"/>
                  <a:gd name="T11" fmla="*/ 3 h 3"/>
                </a:gdLst>
                <a:ahLst/>
                <a:cxnLst>
                  <a:cxn ang="0">
                    <a:pos x="T0" y="T1"/>
                  </a:cxn>
                  <a:cxn ang="0">
                    <a:pos x="T2" y="T3"/>
                  </a:cxn>
                  <a:cxn ang="0">
                    <a:pos x="T4" y="T5"/>
                  </a:cxn>
                  <a:cxn ang="0">
                    <a:pos x="T6" y="T7"/>
                  </a:cxn>
                  <a:cxn ang="0">
                    <a:pos x="T8" y="T9"/>
                  </a:cxn>
                  <a:cxn ang="0">
                    <a:pos x="T10" y="T11"/>
                  </a:cxn>
                </a:cxnLst>
                <a:rect l="0" t="0" r="r" b="b"/>
                <a:pathLst>
                  <a:path w="1" h="3">
                    <a:moveTo>
                      <a:pt x="0" y="3"/>
                    </a:moveTo>
                    <a:lnTo>
                      <a:pt x="0" y="3"/>
                    </a:lnTo>
                    <a:lnTo>
                      <a:pt x="1" y="3"/>
                    </a:lnTo>
                    <a:lnTo>
                      <a:pt x="1" y="0"/>
                    </a:lnTo>
                    <a:lnTo>
                      <a:pt x="0" y="0"/>
                    </a:lnTo>
                    <a:lnTo>
                      <a:pt x="0" y="3"/>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5" name="Freeform 366"/>
              <p:cNvSpPr>
                <a:spLocks/>
              </p:cNvSpPr>
              <p:nvPr/>
            </p:nvSpPr>
            <p:spPr bwMode="auto">
              <a:xfrm>
                <a:off x="1497013" y="2782888"/>
                <a:ext cx="3175" cy="4763"/>
              </a:xfrm>
              <a:custGeom>
                <a:avLst/>
                <a:gdLst>
                  <a:gd name="T0" fmla="*/ 0 w 3"/>
                  <a:gd name="T1" fmla="*/ 2 h 5"/>
                  <a:gd name="T2" fmla="*/ 0 w 3"/>
                  <a:gd name="T3" fmla="*/ 2 h 5"/>
                  <a:gd name="T4" fmla="*/ 1 w 3"/>
                  <a:gd name="T5" fmla="*/ 3 h 5"/>
                  <a:gd name="T6" fmla="*/ 3 w 3"/>
                  <a:gd name="T7" fmla="*/ 5 h 5"/>
                  <a:gd name="T8" fmla="*/ 3 w 3"/>
                  <a:gd name="T9" fmla="*/ 5 h 5"/>
                  <a:gd name="T10" fmla="*/ 3 w 3"/>
                  <a:gd name="T11" fmla="*/ 4 h 5"/>
                  <a:gd name="T12" fmla="*/ 1 w 3"/>
                  <a:gd name="T13" fmla="*/ 0 h 5"/>
                  <a:gd name="T14" fmla="*/ 0 w 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0" y="2"/>
                    </a:moveTo>
                    <a:lnTo>
                      <a:pt x="0" y="2"/>
                    </a:lnTo>
                    <a:cubicBezTo>
                      <a:pt x="0" y="2"/>
                      <a:pt x="1" y="3"/>
                      <a:pt x="1" y="3"/>
                    </a:cubicBezTo>
                    <a:cubicBezTo>
                      <a:pt x="1" y="3"/>
                      <a:pt x="3" y="4"/>
                      <a:pt x="3" y="5"/>
                    </a:cubicBezTo>
                    <a:cubicBezTo>
                      <a:pt x="3" y="5"/>
                      <a:pt x="3" y="5"/>
                      <a:pt x="3" y="5"/>
                    </a:cubicBezTo>
                    <a:cubicBezTo>
                      <a:pt x="3" y="5"/>
                      <a:pt x="3" y="4"/>
                      <a:pt x="3" y="4"/>
                    </a:cubicBezTo>
                    <a:cubicBezTo>
                      <a:pt x="2" y="2"/>
                      <a:pt x="1" y="0"/>
                      <a:pt x="1" y="0"/>
                    </a:cubicBezTo>
                    <a:cubicBezTo>
                      <a:pt x="1" y="0"/>
                      <a:pt x="0"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6" name="Freeform 367"/>
              <p:cNvSpPr>
                <a:spLocks/>
              </p:cNvSpPr>
              <p:nvPr/>
            </p:nvSpPr>
            <p:spPr bwMode="auto">
              <a:xfrm>
                <a:off x="1497013" y="2787650"/>
                <a:ext cx="3175" cy="0"/>
              </a:xfrm>
              <a:custGeom>
                <a:avLst/>
                <a:gdLst>
                  <a:gd name="T0" fmla="*/ 0 w 3"/>
                  <a:gd name="T1" fmla="*/ 0 h 1"/>
                  <a:gd name="T2" fmla="*/ 0 w 3"/>
                  <a:gd name="T3" fmla="*/ 0 h 1"/>
                  <a:gd name="T4" fmla="*/ 2 w 3"/>
                  <a:gd name="T5" fmla="*/ 1 h 1"/>
                  <a:gd name="T6" fmla="*/ 3 w 3"/>
                  <a:gd name="T7" fmla="*/ 0 h 1"/>
                  <a:gd name="T8" fmla="*/ 3 w 3"/>
                  <a:gd name="T9" fmla="*/ 0 h 1"/>
                  <a:gd name="T10" fmla="*/ 3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cubicBezTo>
                      <a:pt x="1" y="1"/>
                      <a:pt x="1" y="1"/>
                      <a:pt x="2" y="1"/>
                    </a:cubicBezTo>
                    <a:cubicBezTo>
                      <a:pt x="2" y="1"/>
                      <a:pt x="3" y="0"/>
                      <a:pt x="3" y="0"/>
                    </a:cubicBezTo>
                    <a:cubicBezTo>
                      <a:pt x="3" y="0"/>
                      <a:pt x="3" y="0"/>
                      <a:pt x="3" y="0"/>
                    </a:cubicBezTo>
                    <a:lnTo>
                      <a:pt x="3" y="0"/>
                    </a:ln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7" name="Freeform 368"/>
              <p:cNvSpPr>
                <a:spLocks/>
              </p:cNvSpPr>
              <p:nvPr/>
            </p:nvSpPr>
            <p:spPr bwMode="auto">
              <a:xfrm>
                <a:off x="1497013" y="2786063"/>
                <a:ext cx="3175" cy="1588"/>
              </a:xfrm>
              <a:custGeom>
                <a:avLst/>
                <a:gdLst>
                  <a:gd name="T0" fmla="*/ 1 w 4"/>
                  <a:gd name="T1" fmla="*/ 1 h 2"/>
                  <a:gd name="T2" fmla="*/ 1 w 4"/>
                  <a:gd name="T3" fmla="*/ 1 h 2"/>
                  <a:gd name="T4" fmla="*/ 1 w 4"/>
                  <a:gd name="T5" fmla="*/ 2 h 2"/>
                  <a:gd name="T6" fmla="*/ 2 w 4"/>
                  <a:gd name="T7" fmla="*/ 2 h 2"/>
                  <a:gd name="T8" fmla="*/ 4 w 4"/>
                  <a:gd name="T9" fmla="*/ 2 h 2"/>
                  <a:gd name="T10" fmla="*/ 4 w 4"/>
                  <a:gd name="T11" fmla="*/ 2 h 2"/>
                  <a:gd name="T12" fmla="*/ 4 w 4"/>
                  <a:gd name="T13" fmla="*/ 2 h 2"/>
                  <a:gd name="T14" fmla="*/ 1 w 4"/>
                  <a:gd name="T15" fmla="*/ 0 h 2"/>
                  <a:gd name="T16" fmla="*/ 1 w 4"/>
                  <a:gd name="T17" fmla="*/ 1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1" y="1"/>
                    </a:moveTo>
                    <a:lnTo>
                      <a:pt x="1" y="1"/>
                    </a:lnTo>
                    <a:cubicBezTo>
                      <a:pt x="1" y="2"/>
                      <a:pt x="1" y="2"/>
                      <a:pt x="1" y="2"/>
                    </a:cubicBezTo>
                    <a:cubicBezTo>
                      <a:pt x="2" y="2"/>
                      <a:pt x="2" y="2"/>
                      <a:pt x="2" y="2"/>
                    </a:cubicBezTo>
                    <a:lnTo>
                      <a:pt x="4" y="2"/>
                    </a:lnTo>
                    <a:lnTo>
                      <a:pt x="4" y="2"/>
                    </a:lnTo>
                    <a:lnTo>
                      <a:pt x="4" y="2"/>
                    </a:lnTo>
                    <a:cubicBezTo>
                      <a:pt x="3" y="1"/>
                      <a:pt x="1" y="0"/>
                      <a:pt x="1" y="0"/>
                    </a:cubicBezTo>
                    <a:cubicBezTo>
                      <a:pt x="0" y="0"/>
                      <a:pt x="1" y="1"/>
                      <a:pt x="1" y="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8" name="Freeform 369"/>
              <p:cNvSpPr>
                <a:spLocks/>
              </p:cNvSpPr>
              <p:nvPr/>
            </p:nvSpPr>
            <p:spPr bwMode="auto">
              <a:xfrm>
                <a:off x="1498601" y="2781300"/>
                <a:ext cx="3175" cy="4763"/>
              </a:xfrm>
              <a:custGeom>
                <a:avLst/>
                <a:gdLst>
                  <a:gd name="T0" fmla="*/ 1 w 2"/>
                  <a:gd name="T1" fmla="*/ 0 h 5"/>
                  <a:gd name="T2" fmla="*/ 1 w 2"/>
                  <a:gd name="T3" fmla="*/ 0 h 5"/>
                  <a:gd name="T4" fmla="*/ 0 w 2"/>
                  <a:gd name="T5" fmla="*/ 1 h 5"/>
                  <a:gd name="T6" fmla="*/ 0 w 2"/>
                  <a:gd name="T7" fmla="*/ 2 h 5"/>
                  <a:gd name="T8" fmla="*/ 2 w 2"/>
                  <a:gd name="T9" fmla="*/ 5 h 5"/>
                  <a:gd name="T10" fmla="*/ 2 w 2"/>
                  <a:gd name="T11" fmla="*/ 5 h 5"/>
                  <a:gd name="T12" fmla="*/ 2 w 2"/>
                  <a:gd name="T13" fmla="*/ 5 h 5"/>
                  <a:gd name="T14" fmla="*/ 1 w 2"/>
                  <a:gd name="T15" fmla="*/ 0 h 5"/>
                  <a:gd name="T16" fmla="*/ 1 w 2"/>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5">
                    <a:moveTo>
                      <a:pt x="1" y="0"/>
                    </a:moveTo>
                    <a:lnTo>
                      <a:pt x="1" y="0"/>
                    </a:lnTo>
                    <a:cubicBezTo>
                      <a:pt x="0" y="0"/>
                      <a:pt x="0" y="1"/>
                      <a:pt x="0" y="1"/>
                    </a:cubicBezTo>
                    <a:cubicBezTo>
                      <a:pt x="0" y="1"/>
                      <a:pt x="0" y="2"/>
                      <a:pt x="0" y="2"/>
                    </a:cubicBezTo>
                    <a:cubicBezTo>
                      <a:pt x="0" y="3"/>
                      <a:pt x="1" y="5"/>
                      <a:pt x="2" y="5"/>
                    </a:cubicBezTo>
                    <a:lnTo>
                      <a:pt x="2" y="5"/>
                    </a:lnTo>
                    <a:lnTo>
                      <a:pt x="2" y="5"/>
                    </a:lnTo>
                    <a:cubicBezTo>
                      <a:pt x="2" y="1"/>
                      <a:pt x="1" y="0"/>
                      <a:pt x="1" y="0"/>
                    </a:cubicBezTo>
                    <a:cubicBezTo>
                      <a:pt x="1" y="0"/>
                      <a:pt x="1" y="0"/>
                      <a:pt x="1" y="0"/>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29" name="Freeform 370"/>
              <p:cNvSpPr>
                <a:spLocks/>
              </p:cNvSpPr>
              <p:nvPr/>
            </p:nvSpPr>
            <p:spPr bwMode="auto">
              <a:xfrm>
                <a:off x="1501776" y="2781300"/>
                <a:ext cx="1588" cy="4763"/>
              </a:xfrm>
              <a:custGeom>
                <a:avLst/>
                <a:gdLst>
                  <a:gd name="T0" fmla="*/ 2 w 2"/>
                  <a:gd name="T1" fmla="*/ 2 h 5"/>
                  <a:gd name="T2" fmla="*/ 2 w 2"/>
                  <a:gd name="T3" fmla="*/ 2 h 5"/>
                  <a:gd name="T4" fmla="*/ 2 w 2"/>
                  <a:gd name="T5" fmla="*/ 1 h 5"/>
                  <a:gd name="T6" fmla="*/ 1 w 2"/>
                  <a:gd name="T7" fmla="*/ 0 h 5"/>
                  <a:gd name="T8" fmla="*/ 1 w 2"/>
                  <a:gd name="T9" fmla="*/ 0 h 5"/>
                  <a:gd name="T10" fmla="*/ 0 w 2"/>
                  <a:gd name="T11" fmla="*/ 5 h 5"/>
                  <a:gd name="T12" fmla="*/ 0 w 2"/>
                  <a:gd name="T13" fmla="*/ 5 h 5"/>
                  <a:gd name="T14" fmla="*/ 0 w 2"/>
                  <a:gd name="T15" fmla="*/ 5 h 5"/>
                  <a:gd name="T16" fmla="*/ 0 w 2"/>
                  <a:gd name="T17" fmla="*/ 5 h 5"/>
                  <a:gd name="T18" fmla="*/ 2 w 2"/>
                  <a:gd name="T1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5">
                    <a:moveTo>
                      <a:pt x="2" y="2"/>
                    </a:moveTo>
                    <a:lnTo>
                      <a:pt x="2" y="2"/>
                    </a:lnTo>
                    <a:cubicBezTo>
                      <a:pt x="2" y="2"/>
                      <a:pt x="2" y="1"/>
                      <a:pt x="2" y="1"/>
                    </a:cubicBezTo>
                    <a:cubicBezTo>
                      <a:pt x="2" y="1"/>
                      <a:pt x="2" y="0"/>
                      <a:pt x="1" y="0"/>
                    </a:cubicBezTo>
                    <a:cubicBezTo>
                      <a:pt x="1" y="0"/>
                      <a:pt x="1" y="0"/>
                      <a:pt x="1" y="0"/>
                    </a:cubicBezTo>
                    <a:cubicBezTo>
                      <a:pt x="1" y="0"/>
                      <a:pt x="0" y="1"/>
                      <a:pt x="0" y="5"/>
                    </a:cubicBezTo>
                    <a:lnTo>
                      <a:pt x="0" y="5"/>
                    </a:lnTo>
                    <a:lnTo>
                      <a:pt x="0" y="5"/>
                    </a:lnTo>
                    <a:lnTo>
                      <a:pt x="0" y="5"/>
                    </a:lnTo>
                    <a:cubicBezTo>
                      <a:pt x="1" y="5"/>
                      <a:pt x="2" y="3"/>
                      <a:pt x="2"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30" name="Freeform 371"/>
              <p:cNvSpPr>
                <a:spLocks/>
              </p:cNvSpPr>
              <p:nvPr/>
            </p:nvSpPr>
            <p:spPr bwMode="auto">
              <a:xfrm>
                <a:off x="1501776" y="2787650"/>
                <a:ext cx="3175" cy="0"/>
              </a:xfrm>
              <a:custGeom>
                <a:avLst/>
                <a:gdLst>
                  <a:gd name="T0" fmla="*/ 0 w 3"/>
                  <a:gd name="T1" fmla="*/ 0 h 1"/>
                  <a:gd name="T2" fmla="*/ 0 w 3"/>
                  <a:gd name="T3" fmla="*/ 0 h 1"/>
                  <a:gd name="T4" fmla="*/ 0 w 3"/>
                  <a:gd name="T5" fmla="*/ 0 h 1"/>
                  <a:gd name="T6" fmla="*/ 2 w 3"/>
                  <a:gd name="T7" fmla="*/ 1 h 1"/>
                  <a:gd name="T8" fmla="*/ 3 w 3"/>
                  <a:gd name="T9" fmla="*/ 0 h 1"/>
                  <a:gd name="T10" fmla="*/ 0 w 3"/>
                  <a:gd name="T11" fmla="*/ 0 h 1"/>
                  <a:gd name="T12" fmla="*/ 0 w 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3" h="1">
                    <a:moveTo>
                      <a:pt x="0" y="0"/>
                    </a:moveTo>
                    <a:lnTo>
                      <a:pt x="0" y="0"/>
                    </a:lnTo>
                    <a:lnTo>
                      <a:pt x="0" y="0"/>
                    </a:lnTo>
                    <a:cubicBezTo>
                      <a:pt x="0" y="0"/>
                      <a:pt x="1" y="1"/>
                      <a:pt x="2" y="1"/>
                    </a:cubicBezTo>
                    <a:cubicBezTo>
                      <a:pt x="2" y="1"/>
                      <a:pt x="2" y="1"/>
                      <a:pt x="3" y="0"/>
                    </a:cubicBezTo>
                    <a:lnTo>
                      <a:pt x="0" y="0"/>
                    </a:lnTo>
                    <a:lnTo>
                      <a:pt x="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31" name="Freeform 372"/>
              <p:cNvSpPr>
                <a:spLocks/>
              </p:cNvSpPr>
              <p:nvPr/>
            </p:nvSpPr>
            <p:spPr bwMode="auto">
              <a:xfrm>
                <a:off x="1501776" y="2786063"/>
                <a:ext cx="4763" cy="1588"/>
              </a:xfrm>
              <a:custGeom>
                <a:avLst/>
                <a:gdLst>
                  <a:gd name="T0" fmla="*/ 0 w 4"/>
                  <a:gd name="T1" fmla="*/ 2 h 2"/>
                  <a:gd name="T2" fmla="*/ 0 w 4"/>
                  <a:gd name="T3" fmla="*/ 2 h 2"/>
                  <a:gd name="T4" fmla="*/ 0 w 4"/>
                  <a:gd name="T5" fmla="*/ 2 h 2"/>
                  <a:gd name="T6" fmla="*/ 0 w 4"/>
                  <a:gd name="T7" fmla="*/ 2 h 2"/>
                  <a:gd name="T8" fmla="*/ 2 w 4"/>
                  <a:gd name="T9" fmla="*/ 2 h 2"/>
                  <a:gd name="T10" fmla="*/ 3 w 4"/>
                  <a:gd name="T11" fmla="*/ 2 h 2"/>
                  <a:gd name="T12" fmla="*/ 4 w 4"/>
                  <a:gd name="T13" fmla="*/ 1 h 2"/>
                  <a:gd name="T14" fmla="*/ 4 w 4"/>
                  <a:gd name="T15" fmla="*/ 0 h 2"/>
                  <a:gd name="T16" fmla="*/ 0 w 4"/>
                  <a:gd name="T17"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2">
                    <a:moveTo>
                      <a:pt x="0" y="2"/>
                    </a:moveTo>
                    <a:lnTo>
                      <a:pt x="0" y="2"/>
                    </a:lnTo>
                    <a:lnTo>
                      <a:pt x="0" y="2"/>
                    </a:lnTo>
                    <a:lnTo>
                      <a:pt x="0" y="2"/>
                    </a:lnTo>
                    <a:lnTo>
                      <a:pt x="2" y="2"/>
                    </a:lnTo>
                    <a:cubicBezTo>
                      <a:pt x="2" y="2"/>
                      <a:pt x="2" y="2"/>
                      <a:pt x="3" y="2"/>
                    </a:cubicBezTo>
                    <a:cubicBezTo>
                      <a:pt x="3" y="2"/>
                      <a:pt x="3" y="2"/>
                      <a:pt x="4" y="1"/>
                    </a:cubicBezTo>
                    <a:cubicBezTo>
                      <a:pt x="4" y="1"/>
                      <a:pt x="4" y="0"/>
                      <a:pt x="4" y="0"/>
                    </a:cubicBezTo>
                    <a:cubicBezTo>
                      <a:pt x="4" y="0"/>
                      <a:pt x="1" y="1"/>
                      <a:pt x="0"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32" name="Freeform 373"/>
              <p:cNvSpPr>
                <a:spLocks/>
              </p:cNvSpPr>
              <p:nvPr/>
            </p:nvSpPr>
            <p:spPr bwMode="auto">
              <a:xfrm>
                <a:off x="1501776" y="2782888"/>
                <a:ext cx="3175" cy="4763"/>
              </a:xfrm>
              <a:custGeom>
                <a:avLst/>
                <a:gdLst>
                  <a:gd name="T0" fmla="*/ 3 w 3"/>
                  <a:gd name="T1" fmla="*/ 2 h 5"/>
                  <a:gd name="T2" fmla="*/ 3 w 3"/>
                  <a:gd name="T3" fmla="*/ 2 h 5"/>
                  <a:gd name="T4" fmla="*/ 2 w 3"/>
                  <a:gd name="T5" fmla="*/ 0 h 5"/>
                  <a:gd name="T6" fmla="*/ 0 w 3"/>
                  <a:gd name="T7" fmla="*/ 4 h 5"/>
                  <a:gd name="T8" fmla="*/ 0 w 3"/>
                  <a:gd name="T9" fmla="*/ 5 h 5"/>
                  <a:gd name="T10" fmla="*/ 0 w 3"/>
                  <a:gd name="T11" fmla="*/ 5 h 5"/>
                  <a:gd name="T12" fmla="*/ 3 w 3"/>
                  <a:gd name="T13" fmla="*/ 3 h 5"/>
                  <a:gd name="T14" fmla="*/ 3 w 3"/>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3" y="2"/>
                    </a:moveTo>
                    <a:lnTo>
                      <a:pt x="3" y="2"/>
                    </a:lnTo>
                    <a:cubicBezTo>
                      <a:pt x="3" y="1"/>
                      <a:pt x="2" y="0"/>
                      <a:pt x="2" y="0"/>
                    </a:cubicBezTo>
                    <a:cubicBezTo>
                      <a:pt x="2" y="0"/>
                      <a:pt x="1" y="2"/>
                      <a:pt x="0" y="4"/>
                    </a:cubicBezTo>
                    <a:cubicBezTo>
                      <a:pt x="0" y="4"/>
                      <a:pt x="0" y="4"/>
                      <a:pt x="0" y="5"/>
                    </a:cubicBezTo>
                    <a:cubicBezTo>
                      <a:pt x="0" y="5"/>
                      <a:pt x="0" y="5"/>
                      <a:pt x="0" y="5"/>
                    </a:cubicBezTo>
                    <a:cubicBezTo>
                      <a:pt x="0" y="4"/>
                      <a:pt x="2" y="3"/>
                      <a:pt x="3" y="3"/>
                    </a:cubicBezTo>
                    <a:cubicBezTo>
                      <a:pt x="3" y="3"/>
                      <a:pt x="3" y="2"/>
                      <a:pt x="3" y="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33" name="Freeform 374"/>
              <p:cNvSpPr>
                <a:spLocks/>
              </p:cNvSpPr>
              <p:nvPr/>
            </p:nvSpPr>
            <p:spPr bwMode="auto">
              <a:xfrm>
                <a:off x="1431926" y="2516188"/>
                <a:ext cx="38100" cy="6350"/>
              </a:xfrm>
              <a:custGeom>
                <a:avLst/>
                <a:gdLst>
                  <a:gd name="T0" fmla="*/ 0 w 39"/>
                  <a:gd name="T1" fmla="*/ 6 h 6"/>
                  <a:gd name="T2" fmla="*/ 0 w 39"/>
                  <a:gd name="T3" fmla="*/ 6 h 6"/>
                  <a:gd name="T4" fmla="*/ 39 w 39"/>
                  <a:gd name="T5" fmla="*/ 6 h 6"/>
                  <a:gd name="T6" fmla="*/ 39 w 39"/>
                  <a:gd name="T7" fmla="*/ 0 h 6"/>
                  <a:gd name="T8" fmla="*/ 0 w 39"/>
                  <a:gd name="T9" fmla="*/ 0 h 6"/>
                  <a:gd name="T10" fmla="*/ 0 w 39"/>
                  <a:gd name="T11" fmla="*/ 6 h 6"/>
                </a:gdLst>
                <a:ahLst/>
                <a:cxnLst>
                  <a:cxn ang="0">
                    <a:pos x="T0" y="T1"/>
                  </a:cxn>
                  <a:cxn ang="0">
                    <a:pos x="T2" y="T3"/>
                  </a:cxn>
                  <a:cxn ang="0">
                    <a:pos x="T4" y="T5"/>
                  </a:cxn>
                  <a:cxn ang="0">
                    <a:pos x="T6" y="T7"/>
                  </a:cxn>
                  <a:cxn ang="0">
                    <a:pos x="T8" y="T9"/>
                  </a:cxn>
                  <a:cxn ang="0">
                    <a:pos x="T10" y="T11"/>
                  </a:cxn>
                </a:cxnLst>
                <a:rect l="0" t="0" r="r" b="b"/>
                <a:pathLst>
                  <a:path w="39" h="6">
                    <a:moveTo>
                      <a:pt x="0" y="6"/>
                    </a:moveTo>
                    <a:lnTo>
                      <a:pt x="0" y="6"/>
                    </a:lnTo>
                    <a:lnTo>
                      <a:pt x="39" y="6"/>
                    </a:lnTo>
                    <a:lnTo>
                      <a:pt x="39" y="0"/>
                    </a:lnTo>
                    <a:lnTo>
                      <a:pt x="0" y="0"/>
                    </a:lnTo>
                    <a:lnTo>
                      <a:pt x="0" y="6"/>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334" name="Freeform 375"/>
              <p:cNvSpPr>
                <a:spLocks noEditPoints="1"/>
              </p:cNvSpPr>
              <p:nvPr/>
            </p:nvSpPr>
            <p:spPr bwMode="auto">
              <a:xfrm>
                <a:off x="1311276" y="2159000"/>
                <a:ext cx="276225" cy="26988"/>
              </a:xfrm>
              <a:custGeom>
                <a:avLst/>
                <a:gdLst>
                  <a:gd name="T0" fmla="*/ 48 w 289"/>
                  <a:gd name="T1" fmla="*/ 10 h 28"/>
                  <a:gd name="T2" fmla="*/ 48 w 289"/>
                  <a:gd name="T3" fmla="*/ 10 h 28"/>
                  <a:gd name="T4" fmla="*/ 247 w 289"/>
                  <a:gd name="T5" fmla="*/ 10 h 28"/>
                  <a:gd name="T6" fmla="*/ 258 w 289"/>
                  <a:gd name="T7" fmla="*/ 18 h 28"/>
                  <a:gd name="T8" fmla="*/ 36 w 289"/>
                  <a:gd name="T9" fmla="*/ 18 h 28"/>
                  <a:gd name="T10" fmla="*/ 48 w 289"/>
                  <a:gd name="T11" fmla="*/ 10 h 28"/>
                  <a:gd name="T12" fmla="*/ 250 w 289"/>
                  <a:gd name="T13" fmla="*/ 0 h 28"/>
                  <a:gd name="T14" fmla="*/ 250 w 289"/>
                  <a:gd name="T15" fmla="*/ 0 h 28"/>
                  <a:gd name="T16" fmla="*/ 45 w 289"/>
                  <a:gd name="T17" fmla="*/ 0 h 28"/>
                  <a:gd name="T18" fmla="*/ 0 w 289"/>
                  <a:gd name="T19" fmla="*/ 28 h 28"/>
                  <a:gd name="T20" fmla="*/ 289 w 289"/>
                  <a:gd name="T21" fmla="*/ 28 h 28"/>
                  <a:gd name="T22" fmla="*/ 250 w 289"/>
                  <a:gd name="T2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9" h="28">
                    <a:moveTo>
                      <a:pt x="48" y="10"/>
                    </a:moveTo>
                    <a:lnTo>
                      <a:pt x="48" y="10"/>
                    </a:lnTo>
                    <a:lnTo>
                      <a:pt x="247" y="10"/>
                    </a:lnTo>
                    <a:lnTo>
                      <a:pt x="258" y="18"/>
                    </a:lnTo>
                    <a:lnTo>
                      <a:pt x="36" y="18"/>
                    </a:lnTo>
                    <a:lnTo>
                      <a:pt x="48" y="10"/>
                    </a:lnTo>
                    <a:close/>
                    <a:moveTo>
                      <a:pt x="250" y="0"/>
                    </a:moveTo>
                    <a:lnTo>
                      <a:pt x="250" y="0"/>
                    </a:lnTo>
                    <a:lnTo>
                      <a:pt x="45" y="0"/>
                    </a:lnTo>
                    <a:lnTo>
                      <a:pt x="0" y="28"/>
                    </a:lnTo>
                    <a:lnTo>
                      <a:pt x="289" y="28"/>
                    </a:lnTo>
                    <a:lnTo>
                      <a:pt x="250" y="0"/>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335" name="Line 4"/>
            <p:cNvSpPr>
              <a:spLocks noChangeShapeType="1"/>
            </p:cNvSpPr>
            <p:nvPr/>
          </p:nvSpPr>
          <p:spPr bwMode="auto">
            <a:xfrm flipV="1">
              <a:off x="6144563" y="3351152"/>
              <a:ext cx="0" cy="468139"/>
            </a:xfrm>
            <a:prstGeom prst="line">
              <a:avLst/>
            </a:prstGeom>
            <a:noFill/>
            <a:ln w="38100">
              <a:solidFill>
                <a:schemeClr val="accent2">
                  <a:lumMod val="75000"/>
                </a:schemeClr>
              </a:solidFill>
              <a:round/>
              <a:headEnd/>
              <a:tailEnd/>
            </a:ln>
          </p:spPr>
          <p:txBody>
            <a:bodyPr lIns="80127" tIns="40065" rIns="80127" bIns="40065"/>
            <a:lstStyle/>
            <a:p>
              <a:endParaRPr lang="zh-CN" altLang="en-US" sz="1800">
                <a:latin typeface="Arial" panose="020B0604020202020204" pitchFamily="34" charset="0"/>
                <a:ea typeface="+mn-ea"/>
              </a:endParaRPr>
            </a:p>
          </p:txBody>
        </p:sp>
        <p:sp>
          <p:nvSpPr>
            <p:cNvPr id="336" name="文本框 335"/>
            <p:cNvSpPr txBox="1"/>
            <p:nvPr/>
          </p:nvSpPr>
          <p:spPr bwMode="auto">
            <a:xfrm>
              <a:off x="5588577" y="4789571"/>
              <a:ext cx="1148014"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NAS</a:t>
              </a:r>
            </a:p>
          </p:txBody>
        </p:sp>
        <p:cxnSp>
          <p:nvCxnSpPr>
            <p:cNvPr id="337" name="直接连接符 336"/>
            <p:cNvCxnSpPr/>
            <p:nvPr/>
          </p:nvCxnSpPr>
          <p:spPr bwMode="auto">
            <a:xfrm flipV="1">
              <a:off x="6016511" y="3485085"/>
              <a:ext cx="0" cy="207187"/>
            </a:xfrm>
            <a:prstGeom prst="line">
              <a:avLst/>
            </a:prstGeom>
            <a:solidFill>
              <a:schemeClr val="accent1"/>
            </a:solidFill>
            <a:ln w="22225" cap="flat" cmpd="sng" algn="ctr">
              <a:solidFill>
                <a:schemeClr val="tx1"/>
              </a:solidFill>
              <a:prstDash val="dash"/>
              <a:round/>
              <a:headEnd type="none" w="med" len="med"/>
              <a:tailEnd type="none" w="med" len="med"/>
            </a:ln>
            <a:effectLst/>
          </p:spPr>
        </p:cxnSp>
        <p:cxnSp>
          <p:nvCxnSpPr>
            <p:cNvPr id="338" name="直接连接符 337"/>
            <p:cNvCxnSpPr/>
            <p:nvPr/>
          </p:nvCxnSpPr>
          <p:spPr bwMode="auto">
            <a:xfrm flipH="1">
              <a:off x="4910186" y="3485085"/>
              <a:ext cx="1106325" cy="0"/>
            </a:xfrm>
            <a:prstGeom prst="line">
              <a:avLst/>
            </a:prstGeom>
            <a:solidFill>
              <a:schemeClr val="accent1"/>
            </a:solidFill>
            <a:ln w="22225" cap="flat" cmpd="sng" algn="ctr">
              <a:solidFill>
                <a:schemeClr val="tx1"/>
              </a:solidFill>
              <a:prstDash val="dash"/>
              <a:round/>
              <a:headEnd type="none" w="med" len="med"/>
              <a:tailEnd type="none" w="med" len="med"/>
            </a:ln>
            <a:effectLst/>
          </p:spPr>
        </p:cxnSp>
        <p:cxnSp>
          <p:nvCxnSpPr>
            <p:cNvPr id="339" name="直接连接符 338"/>
            <p:cNvCxnSpPr/>
            <p:nvPr/>
          </p:nvCxnSpPr>
          <p:spPr bwMode="auto">
            <a:xfrm>
              <a:off x="4910185" y="3485085"/>
              <a:ext cx="0" cy="207187"/>
            </a:xfrm>
            <a:prstGeom prst="line">
              <a:avLst/>
            </a:prstGeom>
            <a:solidFill>
              <a:schemeClr val="accent1"/>
            </a:solidFill>
            <a:ln w="22225" cap="flat" cmpd="sng" algn="ctr">
              <a:solidFill>
                <a:schemeClr val="tx1"/>
              </a:solidFill>
              <a:prstDash val="dash"/>
              <a:round/>
              <a:headEnd type="none" w="med" len="med"/>
              <a:tailEnd type="none" w="med" len="med"/>
            </a:ln>
            <a:effectLst/>
          </p:spPr>
        </p:cxnSp>
        <p:cxnSp>
          <p:nvCxnSpPr>
            <p:cNvPr id="340" name="直接连接符 339"/>
            <p:cNvCxnSpPr/>
            <p:nvPr/>
          </p:nvCxnSpPr>
          <p:spPr bwMode="auto">
            <a:xfrm flipV="1">
              <a:off x="7319222" y="3485085"/>
              <a:ext cx="0" cy="207187"/>
            </a:xfrm>
            <a:prstGeom prst="line">
              <a:avLst/>
            </a:prstGeom>
            <a:solidFill>
              <a:schemeClr val="accent1"/>
            </a:solidFill>
            <a:ln w="22225" cap="flat" cmpd="sng" algn="ctr">
              <a:solidFill>
                <a:schemeClr val="tx1"/>
              </a:solidFill>
              <a:prstDash val="dash"/>
              <a:round/>
              <a:headEnd type="none" w="med" len="med"/>
              <a:tailEnd type="none" w="med" len="med"/>
            </a:ln>
            <a:effectLst/>
          </p:spPr>
        </p:cxnSp>
        <p:cxnSp>
          <p:nvCxnSpPr>
            <p:cNvPr id="341" name="直接连接符 340"/>
            <p:cNvCxnSpPr/>
            <p:nvPr/>
          </p:nvCxnSpPr>
          <p:spPr bwMode="auto">
            <a:xfrm flipH="1">
              <a:off x="6232535" y="3485085"/>
              <a:ext cx="1086688" cy="0"/>
            </a:xfrm>
            <a:prstGeom prst="line">
              <a:avLst/>
            </a:prstGeom>
            <a:solidFill>
              <a:schemeClr val="accent1"/>
            </a:solidFill>
            <a:ln w="22225" cap="flat" cmpd="sng" algn="ctr">
              <a:solidFill>
                <a:schemeClr val="tx1"/>
              </a:solidFill>
              <a:prstDash val="dash"/>
              <a:round/>
              <a:headEnd type="none" w="med" len="med"/>
              <a:tailEnd type="none" w="med" len="med"/>
            </a:ln>
            <a:effectLst/>
          </p:spPr>
        </p:cxnSp>
        <p:cxnSp>
          <p:nvCxnSpPr>
            <p:cNvPr id="342" name="直接连接符 341"/>
            <p:cNvCxnSpPr/>
            <p:nvPr/>
          </p:nvCxnSpPr>
          <p:spPr bwMode="auto">
            <a:xfrm>
              <a:off x="6232535" y="3485085"/>
              <a:ext cx="0" cy="207187"/>
            </a:xfrm>
            <a:prstGeom prst="line">
              <a:avLst/>
            </a:prstGeom>
            <a:solidFill>
              <a:schemeClr val="accent1"/>
            </a:solidFill>
            <a:ln w="22225" cap="flat" cmpd="sng" algn="ctr">
              <a:solidFill>
                <a:schemeClr val="tx1"/>
              </a:solidFill>
              <a:prstDash val="dash"/>
              <a:round/>
              <a:headEnd type="none" w="med" len="med"/>
              <a:tailEnd type="none" w="med" len="med"/>
            </a:ln>
            <a:effectLst/>
          </p:spPr>
        </p:cxnSp>
        <p:sp>
          <p:nvSpPr>
            <p:cNvPr id="343" name="文本框 342"/>
            <p:cNvSpPr txBox="1"/>
            <p:nvPr/>
          </p:nvSpPr>
          <p:spPr bwMode="auto">
            <a:xfrm>
              <a:off x="5008399" y="3485085"/>
              <a:ext cx="923941"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CIFS</a:t>
              </a:r>
            </a:p>
          </p:txBody>
        </p:sp>
        <p:sp>
          <p:nvSpPr>
            <p:cNvPr id="344" name="文本框 343"/>
            <p:cNvSpPr txBox="1"/>
            <p:nvPr/>
          </p:nvSpPr>
          <p:spPr bwMode="auto">
            <a:xfrm>
              <a:off x="6313908" y="3477460"/>
              <a:ext cx="923941"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NFS</a:t>
              </a:r>
            </a:p>
          </p:txBody>
        </p:sp>
      </p:grpSp>
      <p:pic>
        <p:nvPicPr>
          <p:cNvPr id="345" name="图片 344"/>
          <p:cNvPicPr>
            <a:picLocks noChangeAspect="1"/>
          </p:cNvPicPr>
          <p:nvPr/>
        </p:nvPicPr>
        <p:blipFill>
          <a:blip r:embed="rId3"/>
          <a:stretch>
            <a:fillRect/>
          </a:stretch>
        </p:blipFill>
        <p:spPr>
          <a:xfrm>
            <a:off x="1487488" y="1988840"/>
            <a:ext cx="668018" cy="1540573"/>
          </a:xfrm>
          <a:prstGeom prst="rect">
            <a:avLst/>
          </a:prstGeom>
        </p:spPr>
      </p:pic>
      <p:pic>
        <p:nvPicPr>
          <p:cNvPr id="346" name="图片 345"/>
          <p:cNvPicPr>
            <a:picLocks noChangeAspect="1"/>
          </p:cNvPicPr>
          <p:nvPr/>
        </p:nvPicPr>
        <p:blipFill>
          <a:blip r:embed="rId3"/>
          <a:stretch>
            <a:fillRect/>
          </a:stretch>
        </p:blipFill>
        <p:spPr>
          <a:xfrm>
            <a:off x="1495862" y="3724631"/>
            <a:ext cx="668018" cy="1540573"/>
          </a:xfrm>
          <a:prstGeom prst="rect">
            <a:avLst/>
          </a:prstGeom>
        </p:spPr>
      </p:pic>
      <p:cxnSp>
        <p:nvCxnSpPr>
          <p:cNvPr id="347" name="直接连接符 346"/>
          <p:cNvCxnSpPr/>
          <p:nvPr/>
        </p:nvCxnSpPr>
        <p:spPr bwMode="auto">
          <a:xfrm>
            <a:off x="6096000" y="1233488"/>
            <a:ext cx="0" cy="5148262"/>
          </a:xfrm>
          <a:prstGeom prst="line">
            <a:avLst/>
          </a:prstGeom>
          <a:solidFill>
            <a:srgbClr val="CCFF99"/>
          </a:solidFill>
          <a:ln w="9525" cap="flat" cmpd="sng" algn="ctr">
            <a:solidFill>
              <a:srgbClr val="000000"/>
            </a:solidFill>
            <a:prstDash val="solid"/>
            <a:round/>
            <a:headEnd type="none" w="med" len="med"/>
            <a:tailEnd type="none" w="med" len="med"/>
          </a:ln>
          <a:effectLst/>
        </p:spPr>
      </p:cxnSp>
      <p:sp>
        <p:nvSpPr>
          <p:cNvPr id="348" name="文本框 347"/>
          <p:cNvSpPr txBox="1"/>
          <p:nvPr/>
        </p:nvSpPr>
        <p:spPr bwMode="auto">
          <a:xfrm>
            <a:off x="4835695" y="1268760"/>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SAN</a:t>
            </a:r>
          </a:p>
        </p:txBody>
      </p:sp>
      <p:sp>
        <p:nvSpPr>
          <p:cNvPr id="349" name="文本框 348"/>
          <p:cNvSpPr txBox="1"/>
          <p:nvPr/>
        </p:nvSpPr>
        <p:spPr bwMode="auto">
          <a:xfrm>
            <a:off x="6096000" y="1268760"/>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NAS</a:t>
            </a:r>
          </a:p>
        </p:txBody>
      </p:sp>
    </p:spTree>
    <p:extLst>
      <p:ext uri="{BB962C8B-B14F-4D97-AF65-F5344CB8AC3E}">
        <p14:creationId xmlns:p14="http://schemas.microsoft.com/office/powerpoint/2010/main" val="3145461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IP SAN &amp; FC SAN</a:t>
            </a:r>
          </a:p>
        </p:txBody>
      </p:sp>
      <p:sp>
        <p:nvSpPr>
          <p:cNvPr id="138" name="文本占位符 137"/>
          <p:cNvSpPr>
            <a:spLocks noGrp="1"/>
          </p:cNvSpPr>
          <p:nvPr>
            <p:ph type="body" sz="quarter" idx="10"/>
          </p:nvPr>
        </p:nvSpPr>
        <p:spPr>
          <a:xfrm>
            <a:off x="1008063" y="5265204"/>
            <a:ext cx="5087937" cy="690320"/>
          </a:xfrm>
        </p:spPr>
        <p:txBody>
          <a:bodyPr/>
          <a:lstStyle/>
          <a:p>
            <a:r>
              <a:rPr lang="en-US" sz="1200" dirty="0">
                <a:latin typeface="Arial" panose="020B0604020202020204" pitchFamily="34" charset="0"/>
              </a:rPr>
              <a:t>IP SAN is a storage area network </a:t>
            </a:r>
            <a:r>
              <a:rPr lang="en-US" sz="1200" dirty="0" smtClean="0">
                <a:latin typeface="Arial" panose="020B0604020202020204" pitchFamily="34" charset="0"/>
              </a:rPr>
              <a:t>architecture that is </a:t>
            </a:r>
            <a:r>
              <a:rPr lang="en-US" sz="1200" dirty="0">
                <a:latin typeface="Arial" panose="020B0604020202020204" pitchFamily="34" charset="0"/>
              </a:rPr>
              <a:t>built on Ethernet and </a:t>
            </a:r>
            <a:r>
              <a:rPr lang="en-US" sz="1200" dirty="0" smtClean="0">
                <a:latin typeface="Arial" panose="020B0604020202020204" pitchFamily="34" charset="0"/>
              </a:rPr>
              <a:t>uses </a:t>
            </a:r>
            <a:r>
              <a:rPr lang="en-US" sz="1200" dirty="0">
                <a:latin typeface="Arial" panose="020B0604020202020204" pitchFamily="34" charset="0"/>
              </a:rPr>
              <a:t>TCP/IP as the underlying transport protocol. The typical protocol that implements IP SAN is </a:t>
            </a:r>
            <a:r>
              <a:rPr lang="en-US" sz="1200" dirty="0" smtClean="0">
                <a:latin typeface="Arial" panose="020B0604020202020204" pitchFamily="34" charset="0"/>
              </a:rPr>
              <a:t>iSCSI. It defines </a:t>
            </a:r>
            <a:r>
              <a:rPr lang="en-US" sz="1200" dirty="0">
                <a:latin typeface="Arial" panose="020B0604020202020204" pitchFamily="34" charset="0"/>
              </a:rPr>
              <a:t>how SCSI instruction sets are encapsulated during IP transmission.</a:t>
            </a:r>
          </a:p>
          <a:p>
            <a:endParaRPr lang="zh-CN" altLang="en-US" sz="1200" dirty="0">
              <a:latin typeface="Arial" panose="020B0604020202020204" pitchFamily="34" charset="0"/>
            </a:endParaRPr>
          </a:p>
          <a:p>
            <a:endParaRPr lang="zh-CN" altLang="en-US" sz="1400" dirty="0" smtClean="0">
              <a:latin typeface="Arial" panose="020B0604020202020204" pitchFamily="34" charset="0"/>
            </a:endParaRPr>
          </a:p>
        </p:txBody>
      </p:sp>
      <p:grpSp>
        <p:nvGrpSpPr>
          <p:cNvPr id="3" name="组合 2"/>
          <p:cNvGrpSpPr/>
          <p:nvPr/>
        </p:nvGrpSpPr>
        <p:grpSpPr>
          <a:xfrm>
            <a:off x="1537458" y="1412776"/>
            <a:ext cx="4450528" cy="3638852"/>
            <a:chOff x="3642504" y="2196414"/>
            <a:chExt cx="4965277" cy="4167666"/>
          </a:xfrm>
        </p:grpSpPr>
        <p:sp>
          <p:nvSpPr>
            <p:cNvPr id="4" name="Text Box 99"/>
            <p:cNvSpPr txBox="1">
              <a:spLocks noChangeArrowheads="1"/>
            </p:cNvSpPr>
            <p:nvPr/>
          </p:nvSpPr>
          <p:spPr bwMode="auto">
            <a:xfrm>
              <a:off x="7096971" y="5753886"/>
              <a:ext cx="1510810"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Storage device</a:t>
              </a:r>
            </a:p>
          </p:txBody>
        </p:sp>
        <p:sp>
          <p:nvSpPr>
            <p:cNvPr id="5" name="Text Box 229"/>
            <p:cNvSpPr txBox="1">
              <a:spLocks noChangeArrowheads="1"/>
            </p:cNvSpPr>
            <p:nvPr/>
          </p:nvSpPr>
          <p:spPr bwMode="auto">
            <a:xfrm>
              <a:off x="3642504" y="5693038"/>
              <a:ext cx="1510810"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Storage device</a:t>
              </a:r>
            </a:p>
          </p:txBody>
        </p:sp>
        <p:sp>
          <p:nvSpPr>
            <p:cNvPr id="6" name="Text Box 98"/>
            <p:cNvSpPr txBox="1">
              <a:spLocks noChangeArrowheads="1"/>
            </p:cNvSpPr>
            <p:nvPr/>
          </p:nvSpPr>
          <p:spPr bwMode="auto">
            <a:xfrm>
              <a:off x="6589225" y="4847469"/>
              <a:ext cx="1544789"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Ethernet switch</a:t>
              </a:r>
            </a:p>
          </p:txBody>
        </p:sp>
        <p:grpSp>
          <p:nvGrpSpPr>
            <p:cNvPr id="7" name="组合 1310"/>
            <p:cNvGrpSpPr/>
            <p:nvPr/>
          </p:nvGrpSpPr>
          <p:grpSpPr>
            <a:xfrm>
              <a:off x="4097866" y="2196414"/>
              <a:ext cx="3620159" cy="1490120"/>
              <a:chOff x="2407422" y="1946579"/>
              <a:chExt cx="5076898" cy="2510424"/>
            </a:xfrm>
          </p:grpSpPr>
          <p:sp>
            <p:nvSpPr>
              <p:cNvPr id="55" name="Line 4"/>
              <p:cNvSpPr>
                <a:spLocks noChangeShapeType="1"/>
              </p:cNvSpPr>
              <p:nvPr/>
            </p:nvSpPr>
            <p:spPr bwMode="auto">
              <a:xfrm flipV="1">
                <a:off x="3869989" y="3672320"/>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56" name="Line 8"/>
              <p:cNvSpPr>
                <a:spLocks noChangeShapeType="1"/>
              </p:cNvSpPr>
              <p:nvPr/>
            </p:nvSpPr>
            <p:spPr bwMode="auto">
              <a:xfrm flipV="1">
                <a:off x="2807804" y="3672319"/>
                <a:ext cx="4302546" cy="5749"/>
              </a:xfrm>
              <a:prstGeom prst="line">
                <a:avLst/>
              </a:prstGeom>
              <a:noFill/>
              <a:ln w="57150">
                <a:solidFill>
                  <a:schemeClr val="accent2">
                    <a:lumMod val="75000"/>
                  </a:schemeClr>
                </a:solidFill>
                <a:round/>
                <a:headEnd type="none" w="med" len="med"/>
                <a:tailEnd type="none" w="med" len="med"/>
              </a:ln>
            </p:spPr>
            <p:txBody>
              <a:bodyPr wrap="square" lIns="79200" tIns="39600" rIns="79200" bIns="39600">
                <a:spAutoFit/>
              </a:bodyPr>
              <a:lstStyle/>
              <a:p>
                <a:endParaRPr lang="zh-CN" altLang="en-US" sz="1400">
                  <a:solidFill>
                    <a:srgbClr val="000000"/>
                  </a:solidFill>
                  <a:latin typeface="Arial" panose="020B0604020202020204" pitchFamily="34" charset="0"/>
                  <a:ea typeface="微软雅黑"/>
                </a:endParaRPr>
              </a:p>
            </p:txBody>
          </p:sp>
          <p:sp>
            <p:nvSpPr>
              <p:cNvPr id="57" name="Text Box 94"/>
              <p:cNvSpPr txBox="1">
                <a:spLocks noChangeArrowheads="1"/>
              </p:cNvSpPr>
              <p:nvPr/>
            </p:nvSpPr>
            <p:spPr bwMode="auto">
              <a:xfrm>
                <a:off x="6391361" y="3865809"/>
                <a:ext cx="1092959" cy="570019"/>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Server</a:t>
                </a:r>
              </a:p>
            </p:txBody>
          </p:sp>
          <p:sp>
            <p:nvSpPr>
              <p:cNvPr id="58" name="Text Box 201"/>
              <p:cNvSpPr txBox="1">
                <a:spLocks noChangeArrowheads="1"/>
              </p:cNvSpPr>
              <p:nvPr/>
            </p:nvSpPr>
            <p:spPr bwMode="auto">
              <a:xfrm>
                <a:off x="4656636" y="1946579"/>
                <a:ext cx="1108008"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B</a:t>
                </a:r>
              </a:p>
            </p:txBody>
          </p:sp>
          <p:sp>
            <p:nvSpPr>
              <p:cNvPr id="59" name="Text Box 227"/>
              <p:cNvSpPr txBox="1">
                <a:spLocks noChangeArrowheads="1"/>
              </p:cNvSpPr>
              <p:nvPr/>
            </p:nvSpPr>
            <p:spPr bwMode="auto">
              <a:xfrm>
                <a:off x="2407422" y="3886983"/>
                <a:ext cx="1092959"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Server</a:t>
                </a:r>
              </a:p>
            </p:txBody>
          </p:sp>
          <p:sp>
            <p:nvSpPr>
              <p:cNvPr id="60" name="Line 4"/>
              <p:cNvSpPr>
                <a:spLocks noChangeShapeType="1"/>
              </p:cNvSpPr>
              <p:nvPr/>
            </p:nvSpPr>
            <p:spPr bwMode="auto">
              <a:xfrm flipV="1">
                <a:off x="6102237" y="3681028"/>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61" name="Line 4"/>
              <p:cNvSpPr>
                <a:spLocks noChangeShapeType="1"/>
              </p:cNvSpPr>
              <p:nvPr/>
            </p:nvSpPr>
            <p:spPr bwMode="auto">
              <a:xfrm flipV="1">
                <a:off x="5020455" y="3348284"/>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62" name="Text Box 201"/>
              <p:cNvSpPr txBox="1">
                <a:spLocks noChangeArrowheads="1"/>
              </p:cNvSpPr>
              <p:nvPr/>
            </p:nvSpPr>
            <p:spPr bwMode="auto">
              <a:xfrm>
                <a:off x="6265705" y="1954506"/>
                <a:ext cx="1123056"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C</a:t>
                </a:r>
              </a:p>
            </p:txBody>
          </p:sp>
          <p:sp>
            <p:nvSpPr>
              <p:cNvPr id="63" name="Line 4"/>
              <p:cNvSpPr>
                <a:spLocks noChangeShapeType="1"/>
              </p:cNvSpPr>
              <p:nvPr/>
            </p:nvSpPr>
            <p:spPr bwMode="auto">
              <a:xfrm flipV="1">
                <a:off x="6676441" y="3371835"/>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64" name="Text Box 201"/>
              <p:cNvSpPr txBox="1">
                <a:spLocks noChangeArrowheads="1"/>
              </p:cNvSpPr>
              <p:nvPr/>
            </p:nvSpPr>
            <p:spPr bwMode="auto">
              <a:xfrm>
                <a:off x="2784057" y="1948373"/>
                <a:ext cx="1092557"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A</a:t>
                </a:r>
              </a:p>
            </p:txBody>
          </p:sp>
          <p:sp>
            <p:nvSpPr>
              <p:cNvPr id="65" name="Line 4"/>
              <p:cNvSpPr>
                <a:spLocks noChangeShapeType="1"/>
              </p:cNvSpPr>
              <p:nvPr/>
            </p:nvSpPr>
            <p:spPr bwMode="auto">
              <a:xfrm flipV="1">
                <a:off x="3180556" y="3371835"/>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grpSp>
        <p:sp>
          <p:nvSpPr>
            <p:cNvPr id="8" name="Text Box 98"/>
            <p:cNvSpPr txBox="1">
              <a:spLocks noChangeArrowheads="1"/>
            </p:cNvSpPr>
            <p:nvPr/>
          </p:nvSpPr>
          <p:spPr bwMode="auto">
            <a:xfrm>
              <a:off x="3647728" y="3040200"/>
              <a:ext cx="590711"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LAN</a:t>
              </a:r>
            </a:p>
          </p:txBody>
        </p:sp>
        <p:sp>
          <p:nvSpPr>
            <p:cNvPr id="9" name="Text Box 98"/>
            <p:cNvSpPr txBox="1">
              <a:spLocks noChangeArrowheads="1"/>
            </p:cNvSpPr>
            <p:nvPr/>
          </p:nvSpPr>
          <p:spPr bwMode="auto">
            <a:xfrm>
              <a:off x="3968817" y="4814547"/>
              <a:ext cx="1575120"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TCP/IP network</a:t>
              </a:r>
            </a:p>
          </p:txBody>
        </p:sp>
        <p:sp>
          <p:nvSpPr>
            <p:cNvPr id="10" name="矩形 9"/>
            <p:cNvSpPr/>
            <p:nvPr/>
          </p:nvSpPr>
          <p:spPr>
            <a:xfrm>
              <a:off x="5718661" y="4471817"/>
              <a:ext cx="719297" cy="352505"/>
            </a:xfrm>
            <a:prstGeom prst="rect">
              <a:avLst/>
            </a:prstGeom>
          </p:spPr>
          <p:txBody>
            <a:bodyPr wrap="none">
              <a:spAutoFit/>
            </a:bodyPr>
            <a:lstStyle/>
            <a:p>
              <a:r>
                <a:rPr lang="en-US" sz="1400" dirty="0">
                  <a:solidFill>
                    <a:srgbClr val="000000"/>
                  </a:solidFill>
                  <a:latin typeface="Arial" panose="020B0604020202020204" pitchFamily="34" charset="0"/>
                  <a:ea typeface="微软雅黑"/>
                </a:rPr>
                <a:t>iSCSI</a:t>
              </a:r>
            </a:p>
          </p:txBody>
        </p:sp>
        <p:sp>
          <p:nvSpPr>
            <p:cNvPr id="11" name="disk-storage_17946"/>
            <p:cNvSpPr>
              <a:spLocks noChangeAspect="1"/>
            </p:cNvSpPr>
            <p:nvPr/>
          </p:nvSpPr>
          <p:spPr bwMode="auto">
            <a:xfrm>
              <a:off x="5051125" y="5744460"/>
              <a:ext cx="579674" cy="609685"/>
            </a:xfrm>
            <a:custGeom>
              <a:avLst/>
              <a:gdLst>
                <a:gd name="connsiteX0" fmla="*/ 487897 w 573838"/>
                <a:gd name="connsiteY0" fmla="*/ 529726 h 603546"/>
                <a:gd name="connsiteX1" fmla="*/ 476610 w 573838"/>
                <a:gd name="connsiteY1" fmla="*/ 540997 h 603546"/>
                <a:gd name="connsiteX2" fmla="*/ 487897 w 573838"/>
                <a:gd name="connsiteY2" fmla="*/ 552394 h 603546"/>
                <a:gd name="connsiteX3" fmla="*/ 499309 w 573838"/>
                <a:gd name="connsiteY3" fmla="*/ 540997 h 603546"/>
                <a:gd name="connsiteX4" fmla="*/ 487897 w 573838"/>
                <a:gd name="connsiteY4" fmla="*/ 529726 h 603546"/>
                <a:gd name="connsiteX5" fmla="*/ 487897 w 573838"/>
                <a:gd name="connsiteY5" fmla="*/ 515198 h 603546"/>
                <a:gd name="connsiteX6" fmla="*/ 513857 w 573838"/>
                <a:gd name="connsiteY6" fmla="*/ 540997 h 603546"/>
                <a:gd name="connsiteX7" fmla="*/ 487897 w 573838"/>
                <a:gd name="connsiteY7" fmla="*/ 566922 h 603546"/>
                <a:gd name="connsiteX8" fmla="*/ 462062 w 573838"/>
                <a:gd name="connsiteY8" fmla="*/ 540997 h 603546"/>
                <a:gd name="connsiteX9" fmla="*/ 487897 w 573838"/>
                <a:gd name="connsiteY9" fmla="*/ 515198 h 603546"/>
                <a:gd name="connsiteX10" fmla="*/ 39799 w 573838"/>
                <a:gd name="connsiteY10" fmla="*/ 513222 h 603546"/>
                <a:gd name="connsiteX11" fmla="*/ 174508 w 573838"/>
                <a:gd name="connsiteY11" fmla="*/ 513222 h 603546"/>
                <a:gd name="connsiteX12" fmla="*/ 174508 w 573838"/>
                <a:gd name="connsiteY12" fmla="*/ 531710 h 603546"/>
                <a:gd name="connsiteX13" fmla="*/ 39799 w 573838"/>
                <a:gd name="connsiteY13" fmla="*/ 531710 h 603546"/>
                <a:gd name="connsiteX14" fmla="*/ 14659 w 573838"/>
                <a:gd name="connsiteY14" fmla="*/ 500328 h 603546"/>
                <a:gd name="connsiteX15" fmla="*/ 14659 w 573838"/>
                <a:gd name="connsiteY15" fmla="*/ 589033 h 603546"/>
                <a:gd name="connsiteX16" fmla="*/ 559179 w 573838"/>
                <a:gd name="connsiteY16" fmla="*/ 589033 h 603546"/>
                <a:gd name="connsiteX17" fmla="*/ 559179 w 573838"/>
                <a:gd name="connsiteY17" fmla="*/ 500328 h 603546"/>
                <a:gd name="connsiteX18" fmla="*/ 487897 w 573838"/>
                <a:gd name="connsiteY18" fmla="*/ 429774 h 603546"/>
                <a:gd name="connsiteX19" fmla="*/ 476610 w 573838"/>
                <a:gd name="connsiteY19" fmla="*/ 441034 h 603546"/>
                <a:gd name="connsiteX20" fmla="*/ 487897 w 573838"/>
                <a:gd name="connsiteY20" fmla="*/ 452418 h 603546"/>
                <a:gd name="connsiteX21" fmla="*/ 499309 w 573838"/>
                <a:gd name="connsiteY21" fmla="*/ 441034 h 603546"/>
                <a:gd name="connsiteX22" fmla="*/ 487897 w 573838"/>
                <a:gd name="connsiteY22" fmla="*/ 429774 h 603546"/>
                <a:gd name="connsiteX23" fmla="*/ 487897 w 573838"/>
                <a:gd name="connsiteY23" fmla="*/ 415136 h 603546"/>
                <a:gd name="connsiteX24" fmla="*/ 513857 w 573838"/>
                <a:gd name="connsiteY24" fmla="*/ 441034 h 603546"/>
                <a:gd name="connsiteX25" fmla="*/ 487897 w 573838"/>
                <a:gd name="connsiteY25" fmla="*/ 466931 h 603546"/>
                <a:gd name="connsiteX26" fmla="*/ 462062 w 573838"/>
                <a:gd name="connsiteY26" fmla="*/ 441034 h 603546"/>
                <a:gd name="connsiteX27" fmla="*/ 487897 w 573838"/>
                <a:gd name="connsiteY27" fmla="*/ 415136 h 603546"/>
                <a:gd name="connsiteX28" fmla="*/ 39799 w 573838"/>
                <a:gd name="connsiteY28" fmla="*/ 413161 h 603546"/>
                <a:gd name="connsiteX29" fmla="*/ 174508 w 573838"/>
                <a:gd name="connsiteY29" fmla="*/ 413161 h 603546"/>
                <a:gd name="connsiteX30" fmla="*/ 174508 w 573838"/>
                <a:gd name="connsiteY30" fmla="*/ 431790 h 603546"/>
                <a:gd name="connsiteX31" fmla="*/ 39799 w 573838"/>
                <a:gd name="connsiteY31" fmla="*/ 431790 h 603546"/>
                <a:gd name="connsiteX32" fmla="*/ 14659 w 573838"/>
                <a:gd name="connsiteY32" fmla="*/ 398360 h 603546"/>
                <a:gd name="connsiteX33" fmla="*/ 14659 w 573838"/>
                <a:gd name="connsiteY33" fmla="*/ 485814 h 603546"/>
                <a:gd name="connsiteX34" fmla="*/ 559179 w 573838"/>
                <a:gd name="connsiteY34" fmla="*/ 485814 h 603546"/>
                <a:gd name="connsiteX35" fmla="*/ 559179 w 573838"/>
                <a:gd name="connsiteY35" fmla="*/ 398360 h 603546"/>
                <a:gd name="connsiteX36" fmla="*/ 487897 w 573838"/>
                <a:gd name="connsiteY36" fmla="*/ 323937 h 603546"/>
                <a:gd name="connsiteX37" fmla="*/ 476610 w 573838"/>
                <a:gd name="connsiteY37" fmla="*/ 335319 h 603546"/>
                <a:gd name="connsiteX38" fmla="*/ 487897 w 573838"/>
                <a:gd name="connsiteY38" fmla="*/ 346575 h 603546"/>
                <a:gd name="connsiteX39" fmla="*/ 499309 w 573838"/>
                <a:gd name="connsiteY39" fmla="*/ 335319 h 603546"/>
                <a:gd name="connsiteX40" fmla="*/ 487897 w 573838"/>
                <a:gd name="connsiteY40" fmla="*/ 323937 h 603546"/>
                <a:gd name="connsiteX41" fmla="*/ 39799 w 573838"/>
                <a:gd name="connsiteY41" fmla="*/ 316698 h 603546"/>
                <a:gd name="connsiteX42" fmla="*/ 174508 w 573838"/>
                <a:gd name="connsiteY42" fmla="*/ 316698 h 603546"/>
                <a:gd name="connsiteX43" fmla="*/ 174508 w 573838"/>
                <a:gd name="connsiteY43" fmla="*/ 335186 h 603546"/>
                <a:gd name="connsiteX44" fmla="*/ 39799 w 573838"/>
                <a:gd name="connsiteY44" fmla="*/ 335186 h 603546"/>
                <a:gd name="connsiteX45" fmla="*/ 487897 w 573838"/>
                <a:gd name="connsiteY45" fmla="*/ 309429 h 603546"/>
                <a:gd name="connsiteX46" fmla="*/ 513857 w 573838"/>
                <a:gd name="connsiteY46" fmla="*/ 335193 h 603546"/>
                <a:gd name="connsiteX47" fmla="*/ 487897 w 573838"/>
                <a:gd name="connsiteY47" fmla="*/ 361083 h 603546"/>
                <a:gd name="connsiteX48" fmla="*/ 462062 w 573838"/>
                <a:gd name="connsiteY48" fmla="*/ 335193 h 603546"/>
                <a:gd name="connsiteX49" fmla="*/ 487897 w 573838"/>
                <a:gd name="connsiteY49" fmla="*/ 309429 h 603546"/>
                <a:gd name="connsiteX50" fmla="*/ 14659 w 573838"/>
                <a:gd name="connsiteY50" fmla="*/ 295142 h 603546"/>
                <a:gd name="connsiteX51" fmla="*/ 14659 w 573838"/>
                <a:gd name="connsiteY51" fmla="*/ 382596 h 603546"/>
                <a:gd name="connsiteX52" fmla="*/ 559179 w 573838"/>
                <a:gd name="connsiteY52" fmla="*/ 382596 h 603546"/>
                <a:gd name="connsiteX53" fmla="*/ 559179 w 573838"/>
                <a:gd name="connsiteY53" fmla="*/ 295142 h 603546"/>
                <a:gd name="connsiteX54" fmla="*/ 70790 w 573838"/>
                <a:gd name="connsiteY54" fmla="*/ 0 h 603546"/>
                <a:gd name="connsiteX55" fmla="*/ 518083 w 573838"/>
                <a:gd name="connsiteY55" fmla="*/ 0 h 603546"/>
                <a:gd name="connsiteX56" fmla="*/ 573838 w 573838"/>
                <a:gd name="connsiteY56" fmla="*/ 286384 h 603546"/>
                <a:gd name="connsiteX57" fmla="*/ 573838 w 573838"/>
                <a:gd name="connsiteY57" fmla="*/ 295142 h 603546"/>
                <a:gd name="connsiteX58" fmla="*/ 573838 w 573838"/>
                <a:gd name="connsiteY58" fmla="*/ 382596 h 603546"/>
                <a:gd name="connsiteX59" fmla="*/ 573838 w 573838"/>
                <a:gd name="connsiteY59" fmla="*/ 398360 h 603546"/>
                <a:gd name="connsiteX60" fmla="*/ 573838 w 573838"/>
                <a:gd name="connsiteY60" fmla="*/ 485814 h 603546"/>
                <a:gd name="connsiteX61" fmla="*/ 573838 w 573838"/>
                <a:gd name="connsiteY61" fmla="*/ 500328 h 603546"/>
                <a:gd name="connsiteX62" fmla="*/ 573838 w 573838"/>
                <a:gd name="connsiteY62" fmla="*/ 603546 h 603546"/>
                <a:gd name="connsiteX63" fmla="*/ 0 w 573838"/>
                <a:gd name="connsiteY63" fmla="*/ 603546 h 603546"/>
                <a:gd name="connsiteX64" fmla="*/ 0 w 573838"/>
                <a:gd name="connsiteY64" fmla="*/ 500328 h 603546"/>
                <a:gd name="connsiteX65" fmla="*/ 0 w 573838"/>
                <a:gd name="connsiteY65" fmla="*/ 485814 h 603546"/>
                <a:gd name="connsiteX66" fmla="*/ 0 w 573838"/>
                <a:gd name="connsiteY66" fmla="*/ 398360 h 603546"/>
                <a:gd name="connsiteX67" fmla="*/ 0 w 573838"/>
                <a:gd name="connsiteY67" fmla="*/ 382596 h 603546"/>
                <a:gd name="connsiteX68" fmla="*/ 0 w 573838"/>
                <a:gd name="connsiteY68" fmla="*/ 295142 h 603546"/>
                <a:gd name="connsiteX69" fmla="*/ 0 w 573838"/>
                <a:gd name="connsiteY69" fmla="*/ 287010 h 60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3838" h="603546">
                  <a:moveTo>
                    <a:pt x="487897" y="529726"/>
                  </a:moveTo>
                  <a:cubicBezTo>
                    <a:pt x="481626" y="529726"/>
                    <a:pt x="476610" y="534861"/>
                    <a:pt x="476610" y="540997"/>
                  </a:cubicBezTo>
                  <a:cubicBezTo>
                    <a:pt x="476610" y="547259"/>
                    <a:pt x="481626" y="552394"/>
                    <a:pt x="487897" y="552394"/>
                  </a:cubicBezTo>
                  <a:cubicBezTo>
                    <a:pt x="494167" y="552394"/>
                    <a:pt x="499309" y="547259"/>
                    <a:pt x="499309" y="540997"/>
                  </a:cubicBezTo>
                  <a:cubicBezTo>
                    <a:pt x="499309" y="534861"/>
                    <a:pt x="494167" y="529726"/>
                    <a:pt x="487897" y="529726"/>
                  </a:cubicBezTo>
                  <a:close/>
                  <a:moveTo>
                    <a:pt x="487897" y="515198"/>
                  </a:moveTo>
                  <a:cubicBezTo>
                    <a:pt x="502194" y="515198"/>
                    <a:pt x="513857" y="526720"/>
                    <a:pt x="513857" y="540997"/>
                  </a:cubicBezTo>
                  <a:cubicBezTo>
                    <a:pt x="513857" y="555400"/>
                    <a:pt x="502194" y="566922"/>
                    <a:pt x="487897" y="566922"/>
                  </a:cubicBezTo>
                  <a:cubicBezTo>
                    <a:pt x="473600" y="566922"/>
                    <a:pt x="462062" y="555400"/>
                    <a:pt x="462062" y="540997"/>
                  </a:cubicBezTo>
                  <a:cubicBezTo>
                    <a:pt x="462062" y="526720"/>
                    <a:pt x="473600" y="515198"/>
                    <a:pt x="487897" y="515198"/>
                  </a:cubicBezTo>
                  <a:close/>
                  <a:moveTo>
                    <a:pt x="39799" y="513222"/>
                  </a:moveTo>
                  <a:lnTo>
                    <a:pt x="174508" y="513222"/>
                  </a:lnTo>
                  <a:lnTo>
                    <a:pt x="174508" y="531710"/>
                  </a:lnTo>
                  <a:lnTo>
                    <a:pt x="39799" y="531710"/>
                  </a:lnTo>
                  <a:close/>
                  <a:moveTo>
                    <a:pt x="14659" y="500328"/>
                  </a:moveTo>
                  <a:lnTo>
                    <a:pt x="14659" y="589033"/>
                  </a:lnTo>
                  <a:lnTo>
                    <a:pt x="559179" y="589033"/>
                  </a:lnTo>
                  <a:lnTo>
                    <a:pt x="559179" y="500328"/>
                  </a:lnTo>
                  <a:close/>
                  <a:moveTo>
                    <a:pt x="487897" y="429774"/>
                  </a:moveTo>
                  <a:cubicBezTo>
                    <a:pt x="481626" y="429774"/>
                    <a:pt x="476610" y="434778"/>
                    <a:pt x="476610" y="441034"/>
                  </a:cubicBezTo>
                  <a:cubicBezTo>
                    <a:pt x="476610" y="447289"/>
                    <a:pt x="481626" y="452418"/>
                    <a:pt x="487897" y="452418"/>
                  </a:cubicBezTo>
                  <a:cubicBezTo>
                    <a:pt x="494167" y="452418"/>
                    <a:pt x="499309" y="447289"/>
                    <a:pt x="499309" y="441034"/>
                  </a:cubicBezTo>
                  <a:cubicBezTo>
                    <a:pt x="499309" y="434778"/>
                    <a:pt x="494167" y="429774"/>
                    <a:pt x="487897" y="429774"/>
                  </a:cubicBezTo>
                  <a:close/>
                  <a:moveTo>
                    <a:pt x="487897" y="415136"/>
                  </a:moveTo>
                  <a:cubicBezTo>
                    <a:pt x="502194" y="415136"/>
                    <a:pt x="513857" y="426771"/>
                    <a:pt x="513857" y="441034"/>
                  </a:cubicBezTo>
                  <a:cubicBezTo>
                    <a:pt x="513857" y="455296"/>
                    <a:pt x="502194" y="466931"/>
                    <a:pt x="487897" y="466931"/>
                  </a:cubicBezTo>
                  <a:cubicBezTo>
                    <a:pt x="473600" y="466931"/>
                    <a:pt x="462062" y="455296"/>
                    <a:pt x="462062" y="441034"/>
                  </a:cubicBezTo>
                  <a:cubicBezTo>
                    <a:pt x="462062" y="426771"/>
                    <a:pt x="473600" y="415136"/>
                    <a:pt x="487897" y="415136"/>
                  </a:cubicBezTo>
                  <a:close/>
                  <a:moveTo>
                    <a:pt x="39799" y="413161"/>
                  </a:moveTo>
                  <a:lnTo>
                    <a:pt x="174508" y="413161"/>
                  </a:lnTo>
                  <a:lnTo>
                    <a:pt x="174508" y="431790"/>
                  </a:lnTo>
                  <a:lnTo>
                    <a:pt x="39799" y="431790"/>
                  </a:lnTo>
                  <a:close/>
                  <a:moveTo>
                    <a:pt x="14659" y="398360"/>
                  </a:moveTo>
                  <a:lnTo>
                    <a:pt x="14659" y="485814"/>
                  </a:lnTo>
                  <a:lnTo>
                    <a:pt x="559179" y="485814"/>
                  </a:lnTo>
                  <a:lnTo>
                    <a:pt x="559179" y="398360"/>
                  </a:lnTo>
                  <a:close/>
                  <a:moveTo>
                    <a:pt x="487897" y="323937"/>
                  </a:moveTo>
                  <a:cubicBezTo>
                    <a:pt x="481626" y="323937"/>
                    <a:pt x="476610" y="329065"/>
                    <a:pt x="476610" y="335319"/>
                  </a:cubicBezTo>
                  <a:cubicBezTo>
                    <a:pt x="476610" y="341447"/>
                    <a:pt x="481626" y="346575"/>
                    <a:pt x="487897" y="346575"/>
                  </a:cubicBezTo>
                  <a:cubicBezTo>
                    <a:pt x="494167" y="346575"/>
                    <a:pt x="499309" y="341447"/>
                    <a:pt x="499309" y="335319"/>
                  </a:cubicBezTo>
                  <a:cubicBezTo>
                    <a:pt x="499309" y="329065"/>
                    <a:pt x="494167" y="323937"/>
                    <a:pt x="487897" y="323937"/>
                  </a:cubicBezTo>
                  <a:close/>
                  <a:moveTo>
                    <a:pt x="39799" y="316698"/>
                  </a:moveTo>
                  <a:lnTo>
                    <a:pt x="174508" y="316698"/>
                  </a:lnTo>
                  <a:lnTo>
                    <a:pt x="174508" y="335186"/>
                  </a:lnTo>
                  <a:lnTo>
                    <a:pt x="39799" y="335186"/>
                  </a:lnTo>
                  <a:close/>
                  <a:moveTo>
                    <a:pt x="487897" y="309429"/>
                  </a:moveTo>
                  <a:cubicBezTo>
                    <a:pt x="502194" y="309429"/>
                    <a:pt x="513857" y="320935"/>
                    <a:pt x="513857" y="335193"/>
                  </a:cubicBezTo>
                  <a:cubicBezTo>
                    <a:pt x="513857" y="349451"/>
                    <a:pt x="502194" y="361083"/>
                    <a:pt x="487897" y="361083"/>
                  </a:cubicBezTo>
                  <a:cubicBezTo>
                    <a:pt x="473600" y="361083"/>
                    <a:pt x="462062" y="349451"/>
                    <a:pt x="462062" y="335193"/>
                  </a:cubicBezTo>
                  <a:cubicBezTo>
                    <a:pt x="462062" y="320935"/>
                    <a:pt x="473600" y="309429"/>
                    <a:pt x="487897" y="309429"/>
                  </a:cubicBezTo>
                  <a:close/>
                  <a:moveTo>
                    <a:pt x="14659" y="295142"/>
                  </a:moveTo>
                  <a:lnTo>
                    <a:pt x="14659" y="382596"/>
                  </a:lnTo>
                  <a:lnTo>
                    <a:pt x="559179" y="382596"/>
                  </a:lnTo>
                  <a:lnTo>
                    <a:pt x="559179" y="295142"/>
                  </a:lnTo>
                  <a:close/>
                  <a:moveTo>
                    <a:pt x="70790" y="0"/>
                  </a:moveTo>
                  <a:lnTo>
                    <a:pt x="518083" y="0"/>
                  </a:lnTo>
                  <a:lnTo>
                    <a:pt x="573838" y="286384"/>
                  </a:lnTo>
                  <a:lnTo>
                    <a:pt x="573838" y="295142"/>
                  </a:lnTo>
                  <a:lnTo>
                    <a:pt x="573838" y="382596"/>
                  </a:lnTo>
                  <a:lnTo>
                    <a:pt x="573838" y="398360"/>
                  </a:lnTo>
                  <a:lnTo>
                    <a:pt x="573838" y="485814"/>
                  </a:lnTo>
                  <a:lnTo>
                    <a:pt x="573838" y="500328"/>
                  </a:lnTo>
                  <a:lnTo>
                    <a:pt x="573838" y="603546"/>
                  </a:lnTo>
                  <a:lnTo>
                    <a:pt x="0" y="603546"/>
                  </a:lnTo>
                  <a:lnTo>
                    <a:pt x="0" y="500328"/>
                  </a:lnTo>
                  <a:lnTo>
                    <a:pt x="0" y="485814"/>
                  </a:lnTo>
                  <a:lnTo>
                    <a:pt x="0" y="398360"/>
                  </a:lnTo>
                  <a:lnTo>
                    <a:pt x="0" y="382596"/>
                  </a:lnTo>
                  <a:lnTo>
                    <a:pt x="0" y="295142"/>
                  </a:lnTo>
                  <a:lnTo>
                    <a:pt x="0" y="287010"/>
                  </a:lnTo>
                  <a:close/>
                </a:path>
              </a:pathLst>
            </a:custGeom>
            <a:solidFill>
              <a:srgbClr val="3ABABA"/>
            </a:solidFill>
            <a:ln>
              <a:noFill/>
            </a:ln>
          </p:spPr>
        </p:sp>
        <p:sp>
          <p:nvSpPr>
            <p:cNvPr id="12" name="disk-storage_17946"/>
            <p:cNvSpPr>
              <a:spLocks noChangeAspect="1"/>
            </p:cNvSpPr>
            <p:nvPr/>
          </p:nvSpPr>
          <p:spPr bwMode="auto">
            <a:xfrm>
              <a:off x="6554259" y="5754395"/>
              <a:ext cx="579674" cy="609685"/>
            </a:xfrm>
            <a:custGeom>
              <a:avLst/>
              <a:gdLst>
                <a:gd name="connsiteX0" fmla="*/ 487897 w 573838"/>
                <a:gd name="connsiteY0" fmla="*/ 529726 h 603546"/>
                <a:gd name="connsiteX1" fmla="*/ 476610 w 573838"/>
                <a:gd name="connsiteY1" fmla="*/ 540997 h 603546"/>
                <a:gd name="connsiteX2" fmla="*/ 487897 w 573838"/>
                <a:gd name="connsiteY2" fmla="*/ 552394 h 603546"/>
                <a:gd name="connsiteX3" fmla="*/ 499309 w 573838"/>
                <a:gd name="connsiteY3" fmla="*/ 540997 h 603546"/>
                <a:gd name="connsiteX4" fmla="*/ 487897 w 573838"/>
                <a:gd name="connsiteY4" fmla="*/ 529726 h 603546"/>
                <a:gd name="connsiteX5" fmla="*/ 487897 w 573838"/>
                <a:gd name="connsiteY5" fmla="*/ 515198 h 603546"/>
                <a:gd name="connsiteX6" fmla="*/ 513857 w 573838"/>
                <a:gd name="connsiteY6" fmla="*/ 540997 h 603546"/>
                <a:gd name="connsiteX7" fmla="*/ 487897 w 573838"/>
                <a:gd name="connsiteY7" fmla="*/ 566922 h 603546"/>
                <a:gd name="connsiteX8" fmla="*/ 462062 w 573838"/>
                <a:gd name="connsiteY8" fmla="*/ 540997 h 603546"/>
                <a:gd name="connsiteX9" fmla="*/ 487897 w 573838"/>
                <a:gd name="connsiteY9" fmla="*/ 515198 h 603546"/>
                <a:gd name="connsiteX10" fmla="*/ 39799 w 573838"/>
                <a:gd name="connsiteY10" fmla="*/ 513222 h 603546"/>
                <a:gd name="connsiteX11" fmla="*/ 174508 w 573838"/>
                <a:gd name="connsiteY11" fmla="*/ 513222 h 603546"/>
                <a:gd name="connsiteX12" fmla="*/ 174508 w 573838"/>
                <a:gd name="connsiteY12" fmla="*/ 531710 h 603546"/>
                <a:gd name="connsiteX13" fmla="*/ 39799 w 573838"/>
                <a:gd name="connsiteY13" fmla="*/ 531710 h 603546"/>
                <a:gd name="connsiteX14" fmla="*/ 14659 w 573838"/>
                <a:gd name="connsiteY14" fmla="*/ 500328 h 603546"/>
                <a:gd name="connsiteX15" fmla="*/ 14659 w 573838"/>
                <a:gd name="connsiteY15" fmla="*/ 589033 h 603546"/>
                <a:gd name="connsiteX16" fmla="*/ 559179 w 573838"/>
                <a:gd name="connsiteY16" fmla="*/ 589033 h 603546"/>
                <a:gd name="connsiteX17" fmla="*/ 559179 w 573838"/>
                <a:gd name="connsiteY17" fmla="*/ 500328 h 603546"/>
                <a:gd name="connsiteX18" fmla="*/ 487897 w 573838"/>
                <a:gd name="connsiteY18" fmla="*/ 429774 h 603546"/>
                <a:gd name="connsiteX19" fmla="*/ 476610 w 573838"/>
                <a:gd name="connsiteY19" fmla="*/ 441034 h 603546"/>
                <a:gd name="connsiteX20" fmla="*/ 487897 w 573838"/>
                <a:gd name="connsiteY20" fmla="*/ 452418 h 603546"/>
                <a:gd name="connsiteX21" fmla="*/ 499309 w 573838"/>
                <a:gd name="connsiteY21" fmla="*/ 441034 h 603546"/>
                <a:gd name="connsiteX22" fmla="*/ 487897 w 573838"/>
                <a:gd name="connsiteY22" fmla="*/ 429774 h 603546"/>
                <a:gd name="connsiteX23" fmla="*/ 487897 w 573838"/>
                <a:gd name="connsiteY23" fmla="*/ 415136 h 603546"/>
                <a:gd name="connsiteX24" fmla="*/ 513857 w 573838"/>
                <a:gd name="connsiteY24" fmla="*/ 441034 h 603546"/>
                <a:gd name="connsiteX25" fmla="*/ 487897 w 573838"/>
                <a:gd name="connsiteY25" fmla="*/ 466931 h 603546"/>
                <a:gd name="connsiteX26" fmla="*/ 462062 w 573838"/>
                <a:gd name="connsiteY26" fmla="*/ 441034 h 603546"/>
                <a:gd name="connsiteX27" fmla="*/ 487897 w 573838"/>
                <a:gd name="connsiteY27" fmla="*/ 415136 h 603546"/>
                <a:gd name="connsiteX28" fmla="*/ 39799 w 573838"/>
                <a:gd name="connsiteY28" fmla="*/ 413161 h 603546"/>
                <a:gd name="connsiteX29" fmla="*/ 174508 w 573838"/>
                <a:gd name="connsiteY29" fmla="*/ 413161 h 603546"/>
                <a:gd name="connsiteX30" fmla="*/ 174508 w 573838"/>
                <a:gd name="connsiteY30" fmla="*/ 431790 h 603546"/>
                <a:gd name="connsiteX31" fmla="*/ 39799 w 573838"/>
                <a:gd name="connsiteY31" fmla="*/ 431790 h 603546"/>
                <a:gd name="connsiteX32" fmla="*/ 14659 w 573838"/>
                <a:gd name="connsiteY32" fmla="*/ 398360 h 603546"/>
                <a:gd name="connsiteX33" fmla="*/ 14659 w 573838"/>
                <a:gd name="connsiteY33" fmla="*/ 485814 h 603546"/>
                <a:gd name="connsiteX34" fmla="*/ 559179 w 573838"/>
                <a:gd name="connsiteY34" fmla="*/ 485814 h 603546"/>
                <a:gd name="connsiteX35" fmla="*/ 559179 w 573838"/>
                <a:gd name="connsiteY35" fmla="*/ 398360 h 603546"/>
                <a:gd name="connsiteX36" fmla="*/ 487897 w 573838"/>
                <a:gd name="connsiteY36" fmla="*/ 323937 h 603546"/>
                <a:gd name="connsiteX37" fmla="*/ 476610 w 573838"/>
                <a:gd name="connsiteY37" fmla="*/ 335319 h 603546"/>
                <a:gd name="connsiteX38" fmla="*/ 487897 w 573838"/>
                <a:gd name="connsiteY38" fmla="*/ 346575 h 603546"/>
                <a:gd name="connsiteX39" fmla="*/ 499309 w 573838"/>
                <a:gd name="connsiteY39" fmla="*/ 335319 h 603546"/>
                <a:gd name="connsiteX40" fmla="*/ 487897 w 573838"/>
                <a:gd name="connsiteY40" fmla="*/ 323937 h 603546"/>
                <a:gd name="connsiteX41" fmla="*/ 39799 w 573838"/>
                <a:gd name="connsiteY41" fmla="*/ 316698 h 603546"/>
                <a:gd name="connsiteX42" fmla="*/ 174508 w 573838"/>
                <a:gd name="connsiteY42" fmla="*/ 316698 h 603546"/>
                <a:gd name="connsiteX43" fmla="*/ 174508 w 573838"/>
                <a:gd name="connsiteY43" fmla="*/ 335186 h 603546"/>
                <a:gd name="connsiteX44" fmla="*/ 39799 w 573838"/>
                <a:gd name="connsiteY44" fmla="*/ 335186 h 603546"/>
                <a:gd name="connsiteX45" fmla="*/ 487897 w 573838"/>
                <a:gd name="connsiteY45" fmla="*/ 309429 h 603546"/>
                <a:gd name="connsiteX46" fmla="*/ 513857 w 573838"/>
                <a:gd name="connsiteY46" fmla="*/ 335193 h 603546"/>
                <a:gd name="connsiteX47" fmla="*/ 487897 w 573838"/>
                <a:gd name="connsiteY47" fmla="*/ 361083 h 603546"/>
                <a:gd name="connsiteX48" fmla="*/ 462062 w 573838"/>
                <a:gd name="connsiteY48" fmla="*/ 335193 h 603546"/>
                <a:gd name="connsiteX49" fmla="*/ 487897 w 573838"/>
                <a:gd name="connsiteY49" fmla="*/ 309429 h 603546"/>
                <a:gd name="connsiteX50" fmla="*/ 14659 w 573838"/>
                <a:gd name="connsiteY50" fmla="*/ 295142 h 603546"/>
                <a:gd name="connsiteX51" fmla="*/ 14659 w 573838"/>
                <a:gd name="connsiteY51" fmla="*/ 382596 h 603546"/>
                <a:gd name="connsiteX52" fmla="*/ 559179 w 573838"/>
                <a:gd name="connsiteY52" fmla="*/ 382596 h 603546"/>
                <a:gd name="connsiteX53" fmla="*/ 559179 w 573838"/>
                <a:gd name="connsiteY53" fmla="*/ 295142 h 603546"/>
                <a:gd name="connsiteX54" fmla="*/ 70790 w 573838"/>
                <a:gd name="connsiteY54" fmla="*/ 0 h 603546"/>
                <a:gd name="connsiteX55" fmla="*/ 518083 w 573838"/>
                <a:gd name="connsiteY55" fmla="*/ 0 h 603546"/>
                <a:gd name="connsiteX56" fmla="*/ 573838 w 573838"/>
                <a:gd name="connsiteY56" fmla="*/ 286384 h 603546"/>
                <a:gd name="connsiteX57" fmla="*/ 573838 w 573838"/>
                <a:gd name="connsiteY57" fmla="*/ 295142 h 603546"/>
                <a:gd name="connsiteX58" fmla="*/ 573838 w 573838"/>
                <a:gd name="connsiteY58" fmla="*/ 382596 h 603546"/>
                <a:gd name="connsiteX59" fmla="*/ 573838 w 573838"/>
                <a:gd name="connsiteY59" fmla="*/ 398360 h 603546"/>
                <a:gd name="connsiteX60" fmla="*/ 573838 w 573838"/>
                <a:gd name="connsiteY60" fmla="*/ 485814 h 603546"/>
                <a:gd name="connsiteX61" fmla="*/ 573838 w 573838"/>
                <a:gd name="connsiteY61" fmla="*/ 500328 h 603546"/>
                <a:gd name="connsiteX62" fmla="*/ 573838 w 573838"/>
                <a:gd name="connsiteY62" fmla="*/ 603546 h 603546"/>
                <a:gd name="connsiteX63" fmla="*/ 0 w 573838"/>
                <a:gd name="connsiteY63" fmla="*/ 603546 h 603546"/>
                <a:gd name="connsiteX64" fmla="*/ 0 w 573838"/>
                <a:gd name="connsiteY64" fmla="*/ 500328 h 603546"/>
                <a:gd name="connsiteX65" fmla="*/ 0 w 573838"/>
                <a:gd name="connsiteY65" fmla="*/ 485814 h 603546"/>
                <a:gd name="connsiteX66" fmla="*/ 0 w 573838"/>
                <a:gd name="connsiteY66" fmla="*/ 398360 h 603546"/>
                <a:gd name="connsiteX67" fmla="*/ 0 w 573838"/>
                <a:gd name="connsiteY67" fmla="*/ 382596 h 603546"/>
                <a:gd name="connsiteX68" fmla="*/ 0 w 573838"/>
                <a:gd name="connsiteY68" fmla="*/ 295142 h 603546"/>
                <a:gd name="connsiteX69" fmla="*/ 0 w 573838"/>
                <a:gd name="connsiteY69" fmla="*/ 287010 h 60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3838" h="603546">
                  <a:moveTo>
                    <a:pt x="487897" y="529726"/>
                  </a:moveTo>
                  <a:cubicBezTo>
                    <a:pt x="481626" y="529726"/>
                    <a:pt x="476610" y="534861"/>
                    <a:pt x="476610" y="540997"/>
                  </a:cubicBezTo>
                  <a:cubicBezTo>
                    <a:pt x="476610" y="547259"/>
                    <a:pt x="481626" y="552394"/>
                    <a:pt x="487897" y="552394"/>
                  </a:cubicBezTo>
                  <a:cubicBezTo>
                    <a:pt x="494167" y="552394"/>
                    <a:pt x="499309" y="547259"/>
                    <a:pt x="499309" y="540997"/>
                  </a:cubicBezTo>
                  <a:cubicBezTo>
                    <a:pt x="499309" y="534861"/>
                    <a:pt x="494167" y="529726"/>
                    <a:pt x="487897" y="529726"/>
                  </a:cubicBezTo>
                  <a:close/>
                  <a:moveTo>
                    <a:pt x="487897" y="515198"/>
                  </a:moveTo>
                  <a:cubicBezTo>
                    <a:pt x="502194" y="515198"/>
                    <a:pt x="513857" y="526720"/>
                    <a:pt x="513857" y="540997"/>
                  </a:cubicBezTo>
                  <a:cubicBezTo>
                    <a:pt x="513857" y="555400"/>
                    <a:pt x="502194" y="566922"/>
                    <a:pt x="487897" y="566922"/>
                  </a:cubicBezTo>
                  <a:cubicBezTo>
                    <a:pt x="473600" y="566922"/>
                    <a:pt x="462062" y="555400"/>
                    <a:pt x="462062" y="540997"/>
                  </a:cubicBezTo>
                  <a:cubicBezTo>
                    <a:pt x="462062" y="526720"/>
                    <a:pt x="473600" y="515198"/>
                    <a:pt x="487897" y="515198"/>
                  </a:cubicBezTo>
                  <a:close/>
                  <a:moveTo>
                    <a:pt x="39799" y="513222"/>
                  </a:moveTo>
                  <a:lnTo>
                    <a:pt x="174508" y="513222"/>
                  </a:lnTo>
                  <a:lnTo>
                    <a:pt x="174508" y="531710"/>
                  </a:lnTo>
                  <a:lnTo>
                    <a:pt x="39799" y="531710"/>
                  </a:lnTo>
                  <a:close/>
                  <a:moveTo>
                    <a:pt x="14659" y="500328"/>
                  </a:moveTo>
                  <a:lnTo>
                    <a:pt x="14659" y="589033"/>
                  </a:lnTo>
                  <a:lnTo>
                    <a:pt x="559179" y="589033"/>
                  </a:lnTo>
                  <a:lnTo>
                    <a:pt x="559179" y="500328"/>
                  </a:lnTo>
                  <a:close/>
                  <a:moveTo>
                    <a:pt x="487897" y="429774"/>
                  </a:moveTo>
                  <a:cubicBezTo>
                    <a:pt x="481626" y="429774"/>
                    <a:pt x="476610" y="434778"/>
                    <a:pt x="476610" y="441034"/>
                  </a:cubicBezTo>
                  <a:cubicBezTo>
                    <a:pt x="476610" y="447289"/>
                    <a:pt x="481626" y="452418"/>
                    <a:pt x="487897" y="452418"/>
                  </a:cubicBezTo>
                  <a:cubicBezTo>
                    <a:pt x="494167" y="452418"/>
                    <a:pt x="499309" y="447289"/>
                    <a:pt x="499309" y="441034"/>
                  </a:cubicBezTo>
                  <a:cubicBezTo>
                    <a:pt x="499309" y="434778"/>
                    <a:pt x="494167" y="429774"/>
                    <a:pt x="487897" y="429774"/>
                  </a:cubicBezTo>
                  <a:close/>
                  <a:moveTo>
                    <a:pt x="487897" y="415136"/>
                  </a:moveTo>
                  <a:cubicBezTo>
                    <a:pt x="502194" y="415136"/>
                    <a:pt x="513857" y="426771"/>
                    <a:pt x="513857" y="441034"/>
                  </a:cubicBezTo>
                  <a:cubicBezTo>
                    <a:pt x="513857" y="455296"/>
                    <a:pt x="502194" y="466931"/>
                    <a:pt x="487897" y="466931"/>
                  </a:cubicBezTo>
                  <a:cubicBezTo>
                    <a:pt x="473600" y="466931"/>
                    <a:pt x="462062" y="455296"/>
                    <a:pt x="462062" y="441034"/>
                  </a:cubicBezTo>
                  <a:cubicBezTo>
                    <a:pt x="462062" y="426771"/>
                    <a:pt x="473600" y="415136"/>
                    <a:pt x="487897" y="415136"/>
                  </a:cubicBezTo>
                  <a:close/>
                  <a:moveTo>
                    <a:pt x="39799" y="413161"/>
                  </a:moveTo>
                  <a:lnTo>
                    <a:pt x="174508" y="413161"/>
                  </a:lnTo>
                  <a:lnTo>
                    <a:pt x="174508" y="431790"/>
                  </a:lnTo>
                  <a:lnTo>
                    <a:pt x="39799" y="431790"/>
                  </a:lnTo>
                  <a:close/>
                  <a:moveTo>
                    <a:pt x="14659" y="398360"/>
                  </a:moveTo>
                  <a:lnTo>
                    <a:pt x="14659" y="485814"/>
                  </a:lnTo>
                  <a:lnTo>
                    <a:pt x="559179" y="485814"/>
                  </a:lnTo>
                  <a:lnTo>
                    <a:pt x="559179" y="398360"/>
                  </a:lnTo>
                  <a:close/>
                  <a:moveTo>
                    <a:pt x="487897" y="323937"/>
                  </a:moveTo>
                  <a:cubicBezTo>
                    <a:pt x="481626" y="323937"/>
                    <a:pt x="476610" y="329065"/>
                    <a:pt x="476610" y="335319"/>
                  </a:cubicBezTo>
                  <a:cubicBezTo>
                    <a:pt x="476610" y="341447"/>
                    <a:pt x="481626" y="346575"/>
                    <a:pt x="487897" y="346575"/>
                  </a:cubicBezTo>
                  <a:cubicBezTo>
                    <a:pt x="494167" y="346575"/>
                    <a:pt x="499309" y="341447"/>
                    <a:pt x="499309" y="335319"/>
                  </a:cubicBezTo>
                  <a:cubicBezTo>
                    <a:pt x="499309" y="329065"/>
                    <a:pt x="494167" y="323937"/>
                    <a:pt x="487897" y="323937"/>
                  </a:cubicBezTo>
                  <a:close/>
                  <a:moveTo>
                    <a:pt x="39799" y="316698"/>
                  </a:moveTo>
                  <a:lnTo>
                    <a:pt x="174508" y="316698"/>
                  </a:lnTo>
                  <a:lnTo>
                    <a:pt x="174508" y="335186"/>
                  </a:lnTo>
                  <a:lnTo>
                    <a:pt x="39799" y="335186"/>
                  </a:lnTo>
                  <a:close/>
                  <a:moveTo>
                    <a:pt x="487897" y="309429"/>
                  </a:moveTo>
                  <a:cubicBezTo>
                    <a:pt x="502194" y="309429"/>
                    <a:pt x="513857" y="320935"/>
                    <a:pt x="513857" y="335193"/>
                  </a:cubicBezTo>
                  <a:cubicBezTo>
                    <a:pt x="513857" y="349451"/>
                    <a:pt x="502194" y="361083"/>
                    <a:pt x="487897" y="361083"/>
                  </a:cubicBezTo>
                  <a:cubicBezTo>
                    <a:pt x="473600" y="361083"/>
                    <a:pt x="462062" y="349451"/>
                    <a:pt x="462062" y="335193"/>
                  </a:cubicBezTo>
                  <a:cubicBezTo>
                    <a:pt x="462062" y="320935"/>
                    <a:pt x="473600" y="309429"/>
                    <a:pt x="487897" y="309429"/>
                  </a:cubicBezTo>
                  <a:close/>
                  <a:moveTo>
                    <a:pt x="14659" y="295142"/>
                  </a:moveTo>
                  <a:lnTo>
                    <a:pt x="14659" y="382596"/>
                  </a:lnTo>
                  <a:lnTo>
                    <a:pt x="559179" y="382596"/>
                  </a:lnTo>
                  <a:lnTo>
                    <a:pt x="559179" y="295142"/>
                  </a:lnTo>
                  <a:close/>
                  <a:moveTo>
                    <a:pt x="70790" y="0"/>
                  </a:moveTo>
                  <a:lnTo>
                    <a:pt x="518083" y="0"/>
                  </a:lnTo>
                  <a:lnTo>
                    <a:pt x="573838" y="286384"/>
                  </a:lnTo>
                  <a:lnTo>
                    <a:pt x="573838" y="295142"/>
                  </a:lnTo>
                  <a:lnTo>
                    <a:pt x="573838" y="382596"/>
                  </a:lnTo>
                  <a:lnTo>
                    <a:pt x="573838" y="398360"/>
                  </a:lnTo>
                  <a:lnTo>
                    <a:pt x="573838" y="485814"/>
                  </a:lnTo>
                  <a:lnTo>
                    <a:pt x="573838" y="500328"/>
                  </a:lnTo>
                  <a:lnTo>
                    <a:pt x="573838" y="603546"/>
                  </a:lnTo>
                  <a:lnTo>
                    <a:pt x="0" y="603546"/>
                  </a:lnTo>
                  <a:lnTo>
                    <a:pt x="0" y="500328"/>
                  </a:lnTo>
                  <a:lnTo>
                    <a:pt x="0" y="485814"/>
                  </a:lnTo>
                  <a:lnTo>
                    <a:pt x="0" y="398360"/>
                  </a:lnTo>
                  <a:lnTo>
                    <a:pt x="0" y="382596"/>
                  </a:lnTo>
                  <a:lnTo>
                    <a:pt x="0" y="295142"/>
                  </a:lnTo>
                  <a:lnTo>
                    <a:pt x="0" y="287010"/>
                  </a:lnTo>
                  <a:close/>
                </a:path>
              </a:pathLst>
            </a:custGeom>
            <a:solidFill>
              <a:srgbClr val="3ABABA"/>
            </a:solidFill>
            <a:ln>
              <a:noFill/>
            </a:ln>
          </p:spPr>
        </p:sp>
        <p:grpSp>
          <p:nvGrpSpPr>
            <p:cNvPr id="13" name="组合 12"/>
            <p:cNvGrpSpPr/>
            <p:nvPr/>
          </p:nvGrpSpPr>
          <p:grpSpPr>
            <a:xfrm>
              <a:off x="5516930" y="4883043"/>
              <a:ext cx="1037329" cy="338798"/>
              <a:chOff x="2460625" y="1127126"/>
              <a:chExt cx="706438" cy="161925"/>
            </a:xfrm>
            <a:solidFill>
              <a:srgbClr val="60C7C7"/>
            </a:solidFill>
          </p:grpSpPr>
          <p:sp>
            <p:nvSpPr>
              <p:cNvPr id="49" name="Freeform 70"/>
              <p:cNvSpPr>
                <a:spLocks/>
              </p:cNvSpPr>
              <p:nvPr/>
            </p:nvSpPr>
            <p:spPr bwMode="auto">
              <a:xfrm>
                <a:off x="2460625" y="1127126"/>
                <a:ext cx="706438" cy="150813"/>
              </a:xfrm>
              <a:custGeom>
                <a:avLst/>
                <a:gdLst>
                  <a:gd name="T0" fmla="*/ 798 w 830"/>
                  <a:gd name="T1" fmla="*/ 175 h 175"/>
                  <a:gd name="T2" fmla="*/ 798 w 830"/>
                  <a:gd name="T3" fmla="*/ 175 h 175"/>
                  <a:gd name="T4" fmla="*/ 743 w 830"/>
                  <a:gd name="T5" fmla="*/ 175 h 175"/>
                  <a:gd name="T6" fmla="*/ 731 w 830"/>
                  <a:gd name="T7" fmla="*/ 163 h 175"/>
                  <a:gd name="T8" fmla="*/ 743 w 830"/>
                  <a:gd name="T9" fmla="*/ 151 h 175"/>
                  <a:gd name="T10" fmla="*/ 798 w 830"/>
                  <a:gd name="T11" fmla="*/ 151 h 175"/>
                  <a:gd name="T12" fmla="*/ 806 w 830"/>
                  <a:gd name="T13" fmla="*/ 142 h 175"/>
                  <a:gd name="T14" fmla="*/ 806 w 830"/>
                  <a:gd name="T15" fmla="*/ 33 h 175"/>
                  <a:gd name="T16" fmla="*/ 798 w 830"/>
                  <a:gd name="T17" fmla="*/ 25 h 175"/>
                  <a:gd name="T18" fmla="*/ 33 w 830"/>
                  <a:gd name="T19" fmla="*/ 25 h 175"/>
                  <a:gd name="T20" fmla="*/ 25 w 830"/>
                  <a:gd name="T21" fmla="*/ 33 h 175"/>
                  <a:gd name="T22" fmla="*/ 25 w 830"/>
                  <a:gd name="T23" fmla="*/ 142 h 175"/>
                  <a:gd name="T24" fmla="*/ 33 w 830"/>
                  <a:gd name="T25" fmla="*/ 151 h 175"/>
                  <a:gd name="T26" fmla="*/ 668 w 830"/>
                  <a:gd name="T27" fmla="*/ 151 h 175"/>
                  <a:gd name="T28" fmla="*/ 680 w 830"/>
                  <a:gd name="T29" fmla="*/ 163 h 175"/>
                  <a:gd name="T30" fmla="*/ 668 w 830"/>
                  <a:gd name="T31" fmla="*/ 175 h 175"/>
                  <a:gd name="T32" fmla="*/ 33 w 830"/>
                  <a:gd name="T33" fmla="*/ 175 h 175"/>
                  <a:gd name="T34" fmla="*/ 0 w 830"/>
                  <a:gd name="T35" fmla="*/ 142 h 175"/>
                  <a:gd name="T36" fmla="*/ 0 w 830"/>
                  <a:gd name="T37" fmla="*/ 33 h 175"/>
                  <a:gd name="T38" fmla="*/ 33 w 830"/>
                  <a:gd name="T39" fmla="*/ 0 h 175"/>
                  <a:gd name="T40" fmla="*/ 798 w 830"/>
                  <a:gd name="T41" fmla="*/ 0 h 175"/>
                  <a:gd name="T42" fmla="*/ 830 w 830"/>
                  <a:gd name="T43" fmla="*/ 33 h 175"/>
                  <a:gd name="T44" fmla="*/ 830 w 830"/>
                  <a:gd name="T45" fmla="*/ 142 h 175"/>
                  <a:gd name="T46" fmla="*/ 798 w 830"/>
                  <a:gd name="T47"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30" h="175">
                    <a:moveTo>
                      <a:pt x="798" y="175"/>
                    </a:moveTo>
                    <a:lnTo>
                      <a:pt x="798" y="175"/>
                    </a:lnTo>
                    <a:lnTo>
                      <a:pt x="743" y="175"/>
                    </a:lnTo>
                    <a:cubicBezTo>
                      <a:pt x="736" y="175"/>
                      <a:pt x="731" y="170"/>
                      <a:pt x="731" y="163"/>
                    </a:cubicBezTo>
                    <a:cubicBezTo>
                      <a:pt x="731" y="156"/>
                      <a:pt x="736" y="151"/>
                      <a:pt x="743" y="151"/>
                    </a:cubicBezTo>
                    <a:lnTo>
                      <a:pt x="798" y="151"/>
                    </a:lnTo>
                    <a:cubicBezTo>
                      <a:pt x="802" y="151"/>
                      <a:pt x="806" y="147"/>
                      <a:pt x="806" y="142"/>
                    </a:cubicBezTo>
                    <a:lnTo>
                      <a:pt x="806" y="33"/>
                    </a:lnTo>
                    <a:cubicBezTo>
                      <a:pt x="806" y="29"/>
                      <a:pt x="802" y="25"/>
                      <a:pt x="798" y="25"/>
                    </a:cubicBezTo>
                    <a:lnTo>
                      <a:pt x="33" y="25"/>
                    </a:lnTo>
                    <a:cubicBezTo>
                      <a:pt x="28" y="25"/>
                      <a:pt x="25" y="29"/>
                      <a:pt x="25" y="33"/>
                    </a:cubicBezTo>
                    <a:lnTo>
                      <a:pt x="25" y="142"/>
                    </a:lnTo>
                    <a:cubicBezTo>
                      <a:pt x="25" y="147"/>
                      <a:pt x="28" y="151"/>
                      <a:pt x="33" y="151"/>
                    </a:cubicBezTo>
                    <a:lnTo>
                      <a:pt x="668" y="151"/>
                    </a:lnTo>
                    <a:cubicBezTo>
                      <a:pt x="675" y="151"/>
                      <a:pt x="680" y="156"/>
                      <a:pt x="680" y="163"/>
                    </a:cubicBezTo>
                    <a:cubicBezTo>
                      <a:pt x="680" y="170"/>
                      <a:pt x="675" y="175"/>
                      <a:pt x="668" y="175"/>
                    </a:cubicBezTo>
                    <a:lnTo>
                      <a:pt x="33" y="175"/>
                    </a:lnTo>
                    <a:cubicBezTo>
                      <a:pt x="15" y="175"/>
                      <a:pt x="0" y="161"/>
                      <a:pt x="0" y="142"/>
                    </a:cubicBezTo>
                    <a:lnTo>
                      <a:pt x="0" y="33"/>
                    </a:lnTo>
                    <a:cubicBezTo>
                      <a:pt x="0" y="15"/>
                      <a:pt x="15" y="0"/>
                      <a:pt x="33" y="0"/>
                    </a:cubicBezTo>
                    <a:lnTo>
                      <a:pt x="798" y="0"/>
                    </a:lnTo>
                    <a:cubicBezTo>
                      <a:pt x="816" y="0"/>
                      <a:pt x="830" y="15"/>
                      <a:pt x="830" y="33"/>
                    </a:cubicBezTo>
                    <a:lnTo>
                      <a:pt x="830" y="142"/>
                    </a:lnTo>
                    <a:cubicBezTo>
                      <a:pt x="830" y="161"/>
                      <a:pt x="816" y="175"/>
                      <a:pt x="798" y="175"/>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50" name="Freeform 71"/>
              <p:cNvSpPr>
                <a:spLocks/>
              </p:cNvSpPr>
              <p:nvPr/>
            </p:nvSpPr>
            <p:spPr bwMode="auto">
              <a:xfrm>
                <a:off x="3005138" y="1246188"/>
                <a:ext cx="44450" cy="4286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39"/>
                      <a:pt x="0" y="25"/>
                    </a:cubicBezTo>
                    <a:cubicBezTo>
                      <a:pt x="0" y="11"/>
                      <a:pt x="11" y="0"/>
                      <a:pt x="25" y="0"/>
                    </a:cubicBezTo>
                    <a:cubicBezTo>
                      <a:pt x="40" y="0"/>
                      <a:pt x="51" y="11"/>
                      <a:pt x="51" y="25"/>
                    </a:cubicBezTo>
                    <a:cubicBezTo>
                      <a:pt x="51" y="39"/>
                      <a:pt x="40"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51" name="Freeform 72"/>
              <p:cNvSpPr>
                <a:spLocks/>
              </p:cNvSpPr>
              <p:nvPr/>
            </p:nvSpPr>
            <p:spPr bwMode="auto">
              <a:xfrm>
                <a:off x="3073400" y="1244601"/>
                <a:ext cx="42863" cy="44450"/>
              </a:xfrm>
              <a:custGeom>
                <a:avLst/>
                <a:gdLst>
                  <a:gd name="T0" fmla="*/ 26 w 51"/>
                  <a:gd name="T1" fmla="*/ 52 h 52"/>
                  <a:gd name="T2" fmla="*/ 26 w 51"/>
                  <a:gd name="T3" fmla="*/ 52 h 52"/>
                  <a:gd name="T4" fmla="*/ 0 w 51"/>
                  <a:gd name="T5" fmla="*/ 26 h 52"/>
                  <a:gd name="T6" fmla="*/ 26 w 51"/>
                  <a:gd name="T7" fmla="*/ 0 h 52"/>
                  <a:gd name="T8" fmla="*/ 51 w 51"/>
                  <a:gd name="T9" fmla="*/ 26 h 52"/>
                  <a:gd name="T10" fmla="*/ 26 w 51"/>
                  <a:gd name="T11" fmla="*/ 52 h 52"/>
                </a:gdLst>
                <a:ahLst/>
                <a:cxnLst>
                  <a:cxn ang="0">
                    <a:pos x="T0" y="T1"/>
                  </a:cxn>
                  <a:cxn ang="0">
                    <a:pos x="T2" y="T3"/>
                  </a:cxn>
                  <a:cxn ang="0">
                    <a:pos x="T4" y="T5"/>
                  </a:cxn>
                  <a:cxn ang="0">
                    <a:pos x="T6" y="T7"/>
                  </a:cxn>
                  <a:cxn ang="0">
                    <a:pos x="T8" y="T9"/>
                  </a:cxn>
                  <a:cxn ang="0">
                    <a:pos x="T10" y="T11"/>
                  </a:cxn>
                </a:cxnLst>
                <a:rect l="0" t="0" r="r" b="b"/>
                <a:pathLst>
                  <a:path w="51" h="52">
                    <a:moveTo>
                      <a:pt x="26" y="52"/>
                    </a:moveTo>
                    <a:lnTo>
                      <a:pt x="26" y="52"/>
                    </a:lnTo>
                    <a:cubicBezTo>
                      <a:pt x="11" y="52"/>
                      <a:pt x="0" y="40"/>
                      <a:pt x="0" y="26"/>
                    </a:cubicBezTo>
                    <a:cubicBezTo>
                      <a:pt x="0" y="12"/>
                      <a:pt x="11" y="0"/>
                      <a:pt x="26" y="0"/>
                    </a:cubicBezTo>
                    <a:cubicBezTo>
                      <a:pt x="40" y="0"/>
                      <a:pt x="51" y="12"/>
                      <a:pt x="51" y="26"/>
                    </a:cubicBezTo>
                    <a:cubicBezTo>
                      <a:pt x="51" y="40"/>
                      <a:pt x="40" y="52"/>
                      <a:pt x="26" y="52"/>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52" name="Freeform 73"/>
              <p:cNvSpPr>
                <a:spLocks noEditPoints="1"/>
              </p:cNvSpPr>
              <p:nvPr/>
            </p:nvSpPr>
            <p:spPr bwMode="auto">
              <a:xfrm>
                <a:off x="2506663" y="1158876"/>
                <a:ext cx="615950" cy="79375"/>
              </a:xfrm>
              <a:custGeom>
                <a:avLst/>
                <a:gdLst>
                  <a:gd name="T0" fmla="*/ 21 w 725"/>
                  <a:gd name="T1" fmla="*/ 15 h 94"/>
                  <a:gd name="T2" fmla="*/ 21 w 725"/>
                  <a:gd name="T3" fmla="*/ 15 h 94"/>
                  <a:gd name="T4" fmla="*/ 15 w 725"/>
                  <a:gd name="T5" fmla="*/ 22 h 94"/>
                  <a:gd name="T6" fmla="*/ 15 w 725"/>
                  <a:gd name="T7" fmla="*/ 72 h 94"/>
                  <a:gd name="T8" fmla="*/ 21 w 725"/>
                  <a:gd name="T9" fmla="*/ 80 h 94"/>
                  <a:gd name="T10" fmla="*/ 704 w 725"/>
                  <a:gd name="T11" fmla="*/ 80 h 94"/>
                  <a:gd name="T12" fmla="*/ 710 w 725"/>
                  <a:gd name="T13" fmla="*/ 72 h 94"/>
                  <a:gd name="T14" fmla="*/ 710 w 725"/>
                  <a:gd name="T15" fmla="*/ 22 h 94"/>
                  <a:gd name="T16" fmla="*/ 704 w 725"/>
                  <a:gd name="T17" fmla="*/ 15 h 94"/>
                  <a:gd name="T18" fmla="*/ 21 w 725"/>
                  <a:gd name="T19" fmla="*/ 15 h 94"/>
                  <a:gd name="T20" fmla="*/ 704 w 725"/>
                  <a:gd name="T21" fmla="*/ 94 h 94"/>
                  <a:gd name="T22" fmla="*/ 704 w 725"/>
                  <a:gd name="T23" fmla="*/ 94 h 94"/>
                  <a:gd name="T24" fmla="*/ 21 w 725"/>
                  <a:gd name="T25" fmla="*/ 94 h 94"/>
                  <a:gd name="T26" fmla="*/ 0 w 725"/>
                  <a:gd name="T27" fmla="*/ 72 h 94"/>
                  <a:gd name="T28" fmla="*/ 0 w 725"/>
                  <a:gd name="T29" fmla="*/ 22 h 94"/>
                  <a:gd name="T30" fmla="*/ 21 w 725"/>
                  <a:gd name="T31" fmla="*/ 0 h 94"/>
                  <a:gd name="T32" fmla="*/ 704 w 725"/>
                  <a:gd name="T33" fmla="*/ 0 h 94"/>
                  <a:gd name="T34" fmla="*/ 725 w 725"/>
                  <a:gd name="T35" fmla="*/ 22 h 94"/>
                  <a:gd name="T36" fmla="*/ 725 w 725"/>
                  <a:gd name="T37" fmla="*/ 72 h 94"/>
                  <a:gd name="T38" fmla="*/ 704 w 725"/>
                  <a:gd name="T39"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5" h="94">
                    <a:moveTo>
                      <a:pt x="21" y="15"/>
                    </a:moveTo>
                    <a:lnTo>
                      <a:pt x="21" y="15"/>
                    </a:lnTo>
                    <a:cubicBezTo>
                      <a:pt x="18" y="15"/>
                      <a:pt x="15" y="18"/>
                      <a:pt x="15" y="22"/>
                    </a:cubicBezTo>
                    <a:lnTo>
                      <a:pt x="15" y="72"/>
                    </a:lnTo>
                    <a:cubicBezTo>
                      <a:pt x="15" y="76"/>
                      <a:pt x="18" y="80"/>
                      <a:pt x="21" y="80"/>
                    </a:cubicBezTo>
                    <a:lnTo>
                      <a:pt x="704" y="80"/>
                    </a:lnTo>
                    <a:cubicBezTo>
                      <a:pt x="707" y="80"/>
                      <a:pt x="710" y="76"/>
                      <a:pt x="710" y="72"/>
                    </a:cubicBezTo>
                    <a:lnTo>
                      <a:pt x="710" y="22"/>
                    </a:lnTo>
                    <a:cubicBezTo>
                      <a:pt x="710" y="18"/>
                      <a:pt x="707" y="15"/>
                      <a:pt x="704" y="15"/>
                    </a:cubicBezTo>
                    <a:lnTo>
                      <a:pt x="21" y="15"/>
                    </a:lnTo>
                    <a:close/>
                    <a:moveTo>
                      <a:pt x="704" y="94"/>
                    </a:moveTo>
                    <a:lnTo>
                      <a:pt x="704" y="94"/>
                    </a:lnTo>
                    <a:lnTo>
                      <a:pt x="21" y="94"/>
                    </a:lnTo>
                    <a:cubicBezTo>
                      <a:pt x="10" y="94"/>
                      <a:pt x="0" y="84"/>
                      <a:pt x="0" y="72"/>
                    </a:cubicBezTo>
                    <a:lnTo>
                      <a:pt x="0" y="22"/>
                    </a:lnTo>
                    <a:cubicBezTo>
                      <a:pt x="0" y="10"/>
                      <a:pt x="10" y="0"/>
                      <a:pt x="21" y="0"/>
                    </a:cubicBezTo>
                    <a:lnTo>
                      <a:pt x="704" y="0"/>
                    </a:lnTo>
                    <a:cubicBezTo>
                      <a:pt x="716" y="0"/>
                      <a:pt x="725" y="10"/>
                      <a:pt x="725" y="22"/>
                    </a:cubicBezTo>
                    <a:lnTo>
                      <a:pt x="725" y="72"/>
                    </a:lnTo>
                    <a:cubicBezTo>
                      <a:pt x="725" y="84"/>
                      <a:pt x="716" y="94"/>
                      <a:pt x="704" y="94"/>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53" name="Freeform 74"/>
              <p:cNvSpPr>
                <a:spLocks noEditPoints="1"/>
              </p:cNvSpPr>
              <p:nvPr/>
            </p:nvSpPr>
            <p:spPr bwMode="auto">
              <a:xfrm>
                <a:off x="2541588" y="1181101"/>
                <a:ext cx="106363" cy="34925"/>
              </a:xfrm>
              <a:custGeom>
                <a:avLst/>
                <a:gdLst>
                  <a:gd name="T0" fmla="*/ 109 w 126"/>
                  <a:gd name="T1" fmla="*/ 18 h 42"/>
                  <a:gd name="T2" fmla="*/ 93 w 126"/>
                  <a:gd name="T3" fmla="*/ 8 h 42"/>
                  <a:gd name="T4" fmla="*/ 97 w 126"/>
                  <a:gd name="T5" fmla="*/ 4 h 42"/>
                  <a:gd name="T6" fmla="*/ 106 w 126"/>
                  <a:gd name="T7" fmla="*/ 8 h 42"/>
                  <a:gd name="T8" fmla="*/ 109 w 126"/>
                  <a:gd name="T9" fmla="*/ 18 h 42"/>
                  <a:gd name="T10" fmla="*/ 109 w 126"/>
                  <a:gd name="T11" fmla="*/ 34 h 42"/>
                  <a:gd name="T12" fmla="*/ 106 w 126"/>
                  <a:gd name="T13" fmla="*/ 38 h 42"/>
                  <a:gd name="T14" fmla="*/ 97 w 126"/>
                  <a:gd name="T15" fmla="*/ 34 h 42"/>
                  <a:gd name="T16" fmla="*/ 93 w 126"/>
                  <a:gd name="T17" fmla="*/ 24 h 42"/>
                  <a:gd name="T18" fmla="*/ 109 w 126"/>
                  <a:gd name="T19" fmla="*/ 34 h 42"/>
                  <a:gd name="T20" fmla="*/ 84 w 126"/>
                  <a:gd name="T21" fmla="*/ 18 h 42"/>
                  <a:gd name="T22" fmla="*/ 68 w 126"/>
                  <a:gd name="T23" fmla="*/ 8 h 42"/>
                  <a:gd name="T24" fmla="*/ 71 w 126"/>
                  <a:gd name="T25" fmla="*/ 4 h 42"/>
                  <a:gd name="T26" fmla="*/ 80 w 126"/>
                  <a:gd name="T27" fmla="*/ 8 h 42"/>
                  <a:gd name="T28" fmla="*/ 84 w 126"/>
                  <a:gd name="T29" fmla="*/ 18 h 42"/>
                  <a:gd name="T30" fmla="*/ 84 w 126"/>
                  <a:gd name="T31" fmla="*/ 34 h 42"/>
                  <a:gd name="T32" fmla="*/ 80 w 126"/>
                  <a:gd name="T33" fmla="*/ 38 h 42"/>
                  <a:gd name="T34" fmla="*/ 71 w 126"/>
                  <a:gd name="T35" fmla="*/ 34 h 42"/>
                  <a:gd name="T36" fmla="*/ 68 w 126"/>
                  <a:gd name="T37" fmla="*/ 24 h 42"/>
                  <a:gd name="T38" fmla="*/ 84 w 126"/>
                  <a:gd name="T39" fmla="*/ 34 h 42"/>
                  <a:gd name="T40" fmla="*/ 58 w 126"/>
                  <a:gd name="T41" fmla="*/ 18 h 42"/>
                  <a:gd name="T42" fmla="*/ 42 w 126"/>
                  <a:gd name="T43" fmla="*/ 8 h 42"/>
                  <a:gd name="T44" fmla="*/ 46 w 126"/>
                  <a:gd name="T45" fmla="*/ 4 h 42"/>
                  <a:gd name="T46" fmla="*/ 55 w 126"/>
                  <a:gd name="T47" fmla="*/ 8 h 42"/>
                  <a:gd name="T48" fmla="*/ 58 w 126"/>
                  <a:gd name="T49" fmla="*/ 18 h 42"/>
                  <a:gd name="T50" fmla="*/ 58 w 126"/>
                  <a:gd name="T51" fmla="*/ 34 h 42"/>
                  <a:gd name="T52" fmla="*/ 55 w 126"/>
                  <a:gd name="T53" fmla="*/ 38 h 42"/>
                  <a:gd name="T54" fmla="*/ 46 w 126"/>
                  <a:gd name="T55" fmla="*/ 34 h 42"/>
                  <a:gd name="T56" fmla="*/ 42 w 126"/>
                  <a:gd name="T57" fmla="*/ 24 h 42"/>
                  <a:gd name="T58" fmla="*/ 58 w 126"/>
                  <a:gd name="T59" fmla="*/ 34 h 42"/>
                  <a:gd name="T60" fmla="*/ 33 w 126"/>
                  <a:gd name="T61" fmla="*/ 18 h 42"/>
                  <a:gd name="T62" fmla="*/ 17 w 126"/>
                  <a:gd name="T63" fmla="*/ 8 h 42"/>
                  <a:gd name="T64" fmla="*/ 20 w 126"/>
                  <a:gd name="T65" fmla="*/ 4 h 42"/>
                  <a:gd name="T66" fmla="*/ 29 w 126"/>
                  <a:gd name="T67" fmla="*/ 8 h 42"/>
                  <a:gd name="T68" fmla="*/ 33 w 126"/>
                  <a:gd name="T69" fmla="*/ 18 h 42"/>
                  <a:gd name="T70" fmla="*/ 33 w 126"/>
                  <a:gd name="T71" fmla="*/ 34 h 42"/>
                  <a:gd name="T72" fmla="*/ 29 w 126"/>
                  <a:gd name="T73" fmla="*/ 38 h 42"/>
                  <a:gd name="T74" fmla="*/ 20 w 126"/>
                  <a:gd name="T75" fmla="*/ 34 h 42"/>
                  <a:gd name="T76" fmla="*/ 17 w 126"/>
                  <a:gd name="T77" fmla="*/ 24 h 42"/>
                  <a:gd name="T78" fmla="*/ 33 w 126"/>
                  <a:gd name="T79" fmla="*/ 34 h 42"/>
                  <a:gd name="T80" fmla="*/ 0 w 126"/>
                  <a:gd name="T81" fmla="*/ 42 h 42"/>
                  <a:gd name="T82" fmla="*/ 126 w 126"/>
                  <a:gd name="T83" fmla="*/ 0 h 42"/>
                  <a:gd name="T84" fmla="*/ 0 w 126"/>
                  <a:gd name="T85"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6" h="42">
                    <a:moveTo>
                      <a:pt x="109" y="18"/>
                    </a:moveTo>
                    <a:lnTo>
                      <a:pt x="109" y="18"/>
                    </a:lnTo>
                    <a:lnTo>
                      <a:pt x="93" y="18"/>
                    </a:lnTo>
                    <a:lnTo>
                      <a:pt x="93" y="8"/>
                    </a:lnTo>
                    <a:lnTo>
                      <a:pt x="97" y="8"/>
                    </a:lnTo>
                    <a:lnTo>
                      <a:pt x="97" y="4"/>
                    </a:lnTo>
                    <a:lnTo>
                      <a:pt x="106" y="4"/>
                    </a:lnTo>
                    <a:lnTo>
                      <a:pt x="106" y="8"/>
                    </a:lnTo>
                    <a:lnTo>
                      <a:pt x="109" y="8"/>
                    </a:lnTo>
                    <a:lnTo>
                      <a:pt x="109" y="18"/>
                    </a:lnTo>
                    <a:close/>
                    <a:moveTo>
                      <a:pt x="109" y="34"/>
                    </a:moveTo>
                    <a:lnTo>
                      <a:pt x="109" y="34"/>
                    </a:lnTo>
                    <a:lnTo>
                      <a:pt x="106" y="34"/>
                    </a:lnTo>
                    <a:lnTo>
                      <a:pt x="106" y="38"/>
                    </a:lnTo>
                    <a:lnTo>
                      <a:pt x="97" y="38"/>
                    </a:lnTo>
                    <a:lnTo>
                      <a:pt x="97" y="34"/>
                    </a:lnTo>
                    <a:lnTo>
                      <a:pt x="93" y="34"/>
                    </a:lnTo>
                    <a:lnTo>
                      <a:pt x="93" y="24"/>
                    </a:lnTo>
                    <a:lnTo>
                      <a:pt x="109" y="24"/>
                    </a:lnTo>
                    <a:lnTo>
                      <a:pt x="109" y="34"/>
                    </a:lnTo>
                    <a:close/>
                    <a:moveTo>
                      <a:pt x="84" y="18"/>
                    </a:moveTo>
                    <a:lnTo>
                      <a:pt x="84" y="18"/>
                    </a:lnTo>
                    <a:lnTo>
                      <a:pt x="68" y="18"/>
                    </a:lnTo>
                    <a:lnTo>
                      <a:pt x="68" y="8"/>
                    </a:lnTo>
                    <a:lnTo>
                      <a:pt x="71" y="8"/>
                    </a:lnTo>
                    <a:lnTo>
                      <a:pt x="71" y="4"/>
                    </a:lnTo>
                    <a:lnTo>
                      <a:pt x="80" y="4"/>
                    </a:lnTo>
                    <a:lnTo>
                      <a:pt x="80" y="8"/>
                    </a:lnTo>
                    <a:lnTo>
                      <a:pt x="84" y="8"/>
                    </a:lnTo>
                    <a:lnTo>
                      <a:pt x="84" y="18"/>
                    </a:lnTo>
                    <a:close/>
                    <a:moveTo>
                      <a:pt x="84" y="34"/>
                    </a:moveTo>
                    <a:lnTo>
                      <a:pt x="84" y="34"/>
                    </a:lnTo>
                    <a:lnTo>
                      <a:pt x="80" y="34"/>
                    </a:lnTo>
                    <a:lnTo>
                      <a:pt x="80" y="38"/>
                    </a:lnTo>
                    <a:lnTo>
                      <a:pt x="71" y="38"/>
                    </a:lnTo>
                    <a:lnTo>
                      <a:pt x="71" y="34"/>
                    </a:lnTo>
                    <a:lnTo>
                      <a:pt x="68" y="34"/>
                    </a:lnTo>
                    <a:lnTo>
                      <a:pt x="68" y="24"/>
                    </a:lnTo>
                    <a:lnTo>
                      <a:pt x="84" y="24"/>
                    </a:lnTo>
                    <a:lnTo>
                      <a:pt x="84" y="34"/>
                    </a:lnTo>
                    <a:close/>
                    <a:moveTo>
                      <a:pt x="58" y="18"/>
                    </a:moveTo>
                    <a:lnTo>
                      <a:pt x="58" y="18"/>
                    </a:lnTo>
                    <a:lnTo>
                      <a:pt x="42" y="18"/>
                    </a:lnTo>
                    <a:lnTo>
                      <a:pt x="42" y="8"/>
                    </a:lnTo>
                    <a:lnTo>
                      <a:pt x="46" y="8"/>
                    </a:lnTo>
                    <a:lnTo>
                      <a:pt x="46" y="4"/>
                    </a:lnTo>
                    <a:lnTo>
                      <a:pt x="55" y="4"/>
                    </a:lnTo>
                    <a:lnTo>
                      <a:pt x="55" y="8"/>
                    </a:lnTo>
                    <a:lnTo>
                      <a:pt x="58" y="8"/>
                    </a:lnTo>
                    <a:lnTo>
                      <a:pt x="58" y="18"/>
                    </a:lnTo>
                    <a:close/>
                    <a:moveTo>
                      <a:pt x="58" y="34"/>
                    </a:moveTo>
                    <a:lnTo>
                      <a:pt x="58" y="34"/>
                    </a:lnTo>
                    <a:lnTo>
                      <a:pt x="55" y="34"/>
                    </a:lnTo>
                    <a:lnTo>
                      <a:pt x="55" y="38"/>
                    </a:lnTo>
                    <a:lnTo>
                      <a:pt x="46" y="38"/>
                    </a:lnTo>
                    <a:lnTo>
                      <a:pt x="46" y="34"/>
                    </a:lnTo>
                    <a:lnTo>
                      <a:pt x="42" y="34"/>
                    </a:lnTo>
                    <a:lnTo>
                      <a:pt x="42" y="24"/>
                    </a:lnTo>
                    <a:lnTo>
                      <a:pt x="58" y="24"/>
                    </a:lnTo>
                    <a:lnTo>
                      <a:pt x="58" y="34"/>
                    </a:lnTo>
                    <a:close/>
                    <a:moveTo>
                      <a:pt x="33" y="18"/>
                    </a:moveTo>
                    <a:lnTo>
                      <a:pt x="33" y="18"/>
                    </a:lnTo>
                    <a:lnTo>
                      <a:pt x="17" y="18"/>
                    </a:lnTo>
                    <a:lnTo>
                      <a:pt x="17" y="8"/>
                    </a:lnTo>
                    <a:lnTo>
                      <a:pt x="20" y="8"/>
                    </a:lnTo>
                    <a:lnTo>
                      <a:pt x="20" y="4"/>
                    </a:lnTo>
                    <a:lnTo>
                      <a:pt x="29" y="4"/>
                    </a:lnTo>
                    <a:lnTo>
                      <a:pt x="29" y="8"/>
                    </a:lnTo>
                    <a:lnTo>
                      <a:pt x="33" y="8"/>
                    </a:lnTo>
                    <a:lnTo>
                      <a:pt x="33" y="18"/>
                    </a:lnTo>
                    <a:close/>
                    <a:moveTo>
                      <a:pt x="33" y="34"/>
                    </a:moveTo>
                    <a:lnTo>
                      <a:pt x="33" y="34"/>
                    </a:lnTo>
                    <a:lnTo>
                      <a:pt x="29" y="34"/>
                    </a:lnTo>
                    <a:lnTo>
                      <a:pt x="29" y="38"/>
                    </a:lnTo>
                    <a:lnTo>
                      <a:pt x="20" y="38"/>
                    </a:lnTo>
                    <a:lnTo>
                      <a:pt x="20" y="34"/>
                    </a:lnTo>
                    <a:lnTo>
                      <a:pt x="17" y="34"/>
                    </a:lnTo>
                    <a:lnTo>
                      <a:pt x="17" y="24"/>
                    </a:lnTo>
                    <a:lnTo>
                      <a:pt x="33" y="24"/>
                    </a:lnTo>
                    <a:lnTo>
                      <a:pt x="33" y="34"/>
                    </a:lnTo>
                    <a:close/>
                    <a:moveTo>
                      <a:pt x="0" y="42"/>
                    </a:moveTo>
                    <a:lnTo>
                      <a:pt x="0" y="42"/>
                    </a:lnTo>
                    <a:lnTo>
                      <a:pt x="126" y="42"/>
                    </a:lnTo>
                    <a:lnTo>
                      <a:pt x="126" y="0"/>
                    </a:lnTo>
                    <a:lnTo>
                      <a:pt x="0" y="0"/>
                    </a:lnTo>
                    <a:lnTo>
                      <a:pt x="0" y="42"/>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54" name="Freeform 75"/>
              <p:cNvSpPr>
                <a:spLocks noEditPoints="1"/>
              </p:cNvSpPr>
              <p:nvPr/>
            </p:nvSpPr>
            <p:spPr bwMode="auto">
              <a:xfrm>
                <a:off x="2663825" y="1181101"/>
                <a:ext cx="109538" cy="34925"/>
              </a:xfrm>
              <a:custGeom>
                <a:avLst/>
                <a:gdLst>
                  <a:gd name="T0" fmla="*/ 110 w 127"/>
                  <a:gd name="T1" fmla="*/ 18 h 42"/>
                  <a:gd name="T2" fmla="*/ 93 w 127"/>
                  <a:gd name="T3" fmla="*/ 8 h 42"/>
                  <a:gd name="T4" fmla="*/ 97 w 127"/>
                  <a:gd name="T5" fmla="*/ 4 h 42"/>
                  <a:gd name="T6" fmla="*/ 106 w 127"/>
                  <a:gd name="T7" fmla="*/ 8 h 42"/>
                  <a:gd name="T8" fmla="*/ 110 w 127"/>
                  <a:gd name="T9" fmla="*/ 18 h 42"/>
                  <a:gd name="T10" fmla="*/ 110 w 127"/>
                  <a:gd name="T11" fmla="*/ 34 h 42"/>
                  <a:gd name="T12" fmla="*/ 106 w 127"/>
                  <a:gd name="T13" fmla="*/ 38 h 42"/>
                  <a:gd name="T14" fmla="*/ 97 w 127"/>
                  <a:gd name="T15" fmla="*/ 34 h 42"/>
                  <a:gd name="T16" fmla="*/ 93 w 127"/>
                  <a:gd name="T17" fmla="*/ 24 h 42"/>
                  <a:gd name="T18" fmla="*/ 110 w 127"/>
                  <a:gd name="T19" fmla="*/ 34 h 42"/>
                  <a:gd name="T20" fmla="*/ 84 w 127"/>
                  <a:gd name="T21" fmla="*/ 18 h 42"/>
                  <a:gd name="T22" fmla="*/ 68 w 127"/>
                  <a:gd name="T23" fmla="*/ 8 h 42"/>
                  <a:gd name="T24" fmla="*/ 72 w 127"/>
                  <a:gd name="T25" fmla="*/ 4 h 42"/>
                  <a:gd name="T26" fmla="*/ 81 w 127"/>
                  <a:gd name="T27" fmla="*/ 8 h 42"/>
                  <a:gd name="T28" fmla="*/ 84 w 127"/>
                  <a:gd name="T29" fmla="*/ 18 h 42"/>
                  <a:gd name="T30" fmla="*/ 84 w 127"/>
                  <a:gd name="T31" fmla="*/ 34 h 42"/>
                  <a:gd name="T32" fmla="*/ 81 w 127"/>
                  <a:gd name="T33" fmla="*/ 38 h 42"/>
                  <a:gd name="T34" fmla="*/ 72 w 127"/>
                  <a:gd name="T35" fmla="*/ 34 h 42"/>
                  <a:gd name="T36" fmla="*/ 68 w 127"/>
                  <a:gd name="T37" fmla="*/ 24 h 42"/>
                  <a:gd name="T38" fmla="*/ 84 w 127"/>
                  <a:gd name="T39" fmla="*/ 34 h 42"/>
                  <a:gd name="T40" fmla="*/ 59 w 127"/>
                  <a:gd name="T41" fmla="*/ 18 h 42"/>
                  <a:gd name="T42" fmla="*/ 43 w 127"/>
                  <a:gd name="T43" fmla="*/ 8 h 42"/>
                  <a:gd name="T44" fmla="*/ 46 w 127"/>
                  <a:gd name="T45" fmla="*/ 4 h 42"/>
                  <a:gd name="T46" fmla="*/ 55 w 127"/>
                  <a:gd name="T47" fmla="*/ 8 h 42"/>
                  <a:gd name="T48" fmla="*/ 59 w 127"/>
                  <a:gd name="T49" fmla="*/ 18 h 42"/>
                  <a:gd name="T50" fmla="*/ 59 w 127"/>
                  <a:gd name="T51" fmla="*/ 34 h 42"/>
                  <a:gd name="T52" fmla="*/ 55 w 127"/>
                  <a:gd name="T53" fmla="*/ 38 h 42"/>
                  <a:gd name="T54" fmla="*/ 46 w 127"/>
                  <a:gd name="T55" fmla="*/ 34 h 42"/>
                  <a:gd name="T56" fmla="*/ 43 w 127"/>
                  <a:gd name="T57" fmla="*/ 24 h 42"/>
                  <a:gd name="T58" fmla="*/ 59 w 127"/>
                  <a:gd name="T59" fmla="*/ 34 h 42"/>
                  <a:gd name="T60" fmla="*/ 34 w 127"/>
                  <a:gd name="T61" fmla="*/ 18 h 42"/>
                  <a:gd name="T62" fmla="*/ 17 w 127"/>
                  <a:gd name="T63" fmla="*/ 8 h 42"/>
                  <a:gd name="T64" fmla="*/ 21 w 127"/>
                  <a:gd name="T65" fmla="*/ 4 h 42"/>
                  <a:gd name="T66" fmla="*/ 30 w 127"/>
                  <a:gd name="T67" fmla="*/ 8 h 42"/>
                  <a:gd name="T68" fmla="*/ 34 w 127"/>
                  <a:gd name="T69" fmla="*/ 18 h 42"/>
                  <a:gd name="T70" fmla="*/ 34 w 127"/>
                  <a:gd name="T71" fmla="*/ 34 h 42"/>
                  <a:gd name="T72" fmla="*/ 30 w 127"/>
                  <a:gd name="T73" fmla="*/ 38 h 42"/>
                  <a:gd name="T74" fmla="*/ 21 w 127"/>
                  <a:gd name="T75" fmla="*/ 34 h 42"/>
                  <a:gd name="T76" fmla="*/ 17 w 127"/>
                  <a:gd name="T77" fmla="*/ 24 h 42"/>
                  <a:gd name="T78" fmla="*/ 34 w 127"/>
                  <a:gd name="T79" fmla="*/ 34 h 42"/>
                  <a:gd name="T80" fmla="*/ 0 w 127"/>
                  <a:gd name="T81" fmla="*/ 42 h 42"/>
                  <a:gd name="T82" fmla="*/ 127 w 127"/>
                  <a:gd name="T83" fmla="*/ 0 h 42"/>
                  <a:gd name="T84" fmla="*/ 0 w 127"/>
                  <a:gd name="T85"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7" h="42">
                    <a:moveTo>
                      <a:pt x="110" y="18"/>
                    </a:moveTo>
                    <a:lnTo>
                      <a:pt x="110" y="18"/>
                    </a:lnTo>
                    <a:lnTo>
                      <a:pt x="93" y="18"/>
                    </a:lnTo>
                    <a:lnTo>
                      <a:pt x="93" y="8"/>
                    </a:lnTo>
                    <a:lnTo>
                      <a:pt x="97" y="8"/>
                    </a:lnTo>
                    <a:lnTo>
                      <a:pt x="97" y="4"/>
                    </a:lnTo>
                    <a:lnTo>
                      <a:pt x="106" y="4"/>
                    </a:lnTo>
                    <a:lnTo>
                      <a:pt x="106" y="8"/>
                    </a:lnTo>
                    <a:lnTo>
                      <a:pt x="110" y="8"/>
                    </a:lnTo>
                    <a:lnTo>
                      <a:pt x="110" y="18"/>
                    </a:lnTo>
                    <a:close/>
                    <a:moveTo>
                      <a:pt x="110" y="34"/>
                    </a:moveTo>
                    <a:lnTo>
                      <a:pt x="110" y="34"/>
                    </a:lnTo>
                    <a:lnTo>
                      <a:pt x="106" y="34"/>
                    </a:lnTo>
                    <a:lnTo>
                      <a:pt x="106" y="38"/>
                    </a:lnTo>
                    <a:lnTo>
                      <a:pt x="97" y="38"/>
                    </a:lnTo>
                    <a:lnTo>
                      <a:pt x="97" y="34"/>
                    </a:lnTo>
                    <a:lnTo>
                      <a:pt x="93" y="34"/>
                    </a:lnTo>
                    <a:lnTo>
                      <a:pt x="93" y="24"/>
                    </a:lnTo>
                    <a:lnTo>
                      <a:pt x="110" y="24"/>
                    </a:lnTo>
                    <a:lnTo>
                      <a:pt x="110" y="34"/>
                    </a:lnTo>
                    <a:close/>
                    <a:moveTo>
                      <a:pt x="84" y="18"/>
                    </a:moveTo>
                    <a:lnTo>
                      <a:pt x="84" y="18"/>
                    </a:lnTo>
                    <a:lnTo>
                      <a:pt x="68" y="18"/>
                    </a:lnTo>
                    <a:lnTo>
                      <a:pt x="68" y="8"/>
                    </a:lnTo>
                    <a:lnTo>
                      <a:pt x="72" y="8"/>
                    </a:lnTo>
                    <a:lnTo>
                      <a:pt x="72" y="4"/>
                    </a:lnTo>
                    <a:lnTo>
                      <a:pt x="81" y="4"/>
                    </a:lnTo>
                    <a:lnTo>
                      <a:pt x="81" y="8"/>
                    </a:lnTo>
                    <a:lnTo>
                      <a:pt x="84" y="8"/>
                    </a:lnTo>
                    <a:lnTo>
                      <a:pt x="84" y="18"/>
                    </a:lnTo>
                    <a:close/>
                    <a:moveTo>
                      <a:pt x="84" y="34"/>
                    </a:moveTo>
                    <a:lnTo>
                      <a:pt x="84" y="34"/>
                    </a:lnTo>
                    <a:lnTo>
                      <a:pt x="81" y="34"/>
                    </a:lnTo>
                    <a:lnTo>
                      <a:pt x="81" y="38"/>
                    </a:lnTo>
                    <a:lnTo>
                      <a:pt x="72" y="38"/>
                    </a:lnTo>
                    <a:lnTo>
                      <a:pt x="72" y="34"/>
                    </a:lnTo>
                    <a:lnTo>
                      <a:pt x="68" y="34"/>
                    </a:lnTo>
                    <a:lnTo>
                      <a:pt x="68" y="24"/>
                    </a:lnTo>
                    <a:lnTo>
                      <a:pt x="84" y="24"/>
                    </a:lnTo>
                    <a:lnTo>
                      <a:pt x="84" y="34"/>
                    </a:lnTo>
                    <a:close/>
                    <a:moveTo>
                      <a:pt x="59" y="18"/>
                    </a:moveTo>
                    <a:lnTo>
                      <a:pt x="59" y="18"/>
                    </a:lnTo>
                    <a:lnTo>
                      <a:pt x="43" y="18"/>
                    </a:lnTo>
                    <a:lnTo>
                      <a:pt x="43" y="8"/>
                    </a:lnTo>
                    <a:lnTo>
                      <a:pt x="46" y="8"/>
                    </a:lnTo>
                    <a:lnTo>
                      <a:pt x="46" y="4"/>
                    </a:lnTo>
                    <a:lnTo>
                      <a:pt x="55" y="4"/>
                    </a:lnTo>
                    <a:lnTo>
                      <a:pt x="55" y="8"/>
                    </a:lnTo>
                    <a:lnTo>
                      <a:pt x="59" y="8"/>
                    </a:lnTo>
                    <a:lnTo>
                      <a:pt x="59" y="18"/>
                    </a:lnTo>
                    <a:close/>
                    <a:moveTo>
                      <a:pt x="59" y="34"/>
                    </a:moveTo>
                    <a:lnTo>
                      <a:pt x="59" y="34"/>
                    </a:lnTo>
                    <a:lnTo>
                      <a:pt x="55" y="34"/>
                    </a:lnTo>
                    <a:lnTo>
                      <a:pt x="55" y="38"/>
                    </a:lnTo>
                    <a:lnTo>
                      <a:pt x="46" y="38"/>
                    </a:lnTo>
                    <a:lnTo>
                      <a:pt x="46" y="34"/>
                    </a:lnTo>
                    <a:lnTo>
                      <a:pt x="43" y="34"/>
                    </a:lnTo>
                    <a:lnTo>
                      <a:pt x="43" y="24"/>
                    </a:lnTo>
                    <a:lnTo>
                      <a:pt x="59" y="24"/>
                    </a:lnTo>
                    <a:lnTo>
                      <a:pt x="59" y="34"/>
                    </a:lnTo>
                    <a:close/>
                    <a:moveTo>
                      <a:pt x="34" y="18"/>
                    </a:moveTo>
                    <a:lnTo>
                      <a:pt x="34" y="18"/>
                    </a:lnTo>
                    <a:lnTo>
                      <a:pt x="17" y="18"/>
                    </a:lnTo>
                    <a:lnTo>
                      <a:pt x="17" y="8"/>
                    </a:lnTo>
                    <a:lnTo>
                      <a:pt x="21" y="8"/>
                    </a:lnTo>
                    <a:lnTo>
                      <a:pt x="21" y="4"/>
                    </a:lnTo>
                    <a:lnTo>
                      <a:pt x="30" y="4"/>
                    </a:lnTo>
                    <a:lnTo>
                      <a:pt x="30" y="8"/>
                    </a:lnTo>
                    <a:lnTo>
                      <a:pt x="34" y="8"/>
                    </a:lnTo>
                    <a:lnTo>
                      <a:pt x="34" y="18"/>
                    </a:lnTo>
                    <a:close/>
                    <a:moveTo>
                      <a:pt x="34" y="34"/>
                    </a:moveTo>
                    <a:lnTo>
                      <a:pt x="34" y="34"/>
                    </a:lnTo>
                    <a:lnTo>
                      <a:pt x="30" y="34"/>
                    </a:lnTo>
                    <a:lnTo>
                      <a:pt x="30" y="38"/>
                    </a:lnTo>
                    <a:lnTo>
                      <a:pt x="21" y="38"/>
                    </a:lnTo>
                    <a:lnTo>
                      <a:pt x="21" y="34"/>
                    </a:lnTo>
                    <a:lnTo>
                      <a:pt x="17" y="34"/>
                    </a:lnTo>
                    <a:lnTo>
                      <a:pt x="17" y="24"/>
                    </a:lnTo>
                    <a:lnTo>
                      <a:pt x="34" y="24"/>
                    </a:lnTo>
                    <a:lnTo>
                      <a:pt x="34" y="34"/>
                    </a:lnTo>
                    <a:close/>
                    <a:moveTo>
                      <a:pt x="0" y="42"/>
                    </a:moveTo>
                    <a:lnTo>
                      <a:pt x="0" y="42"/>
                    </a:lnTo>
                    <a:lnTo>
                      <a:pt x="127" y="42"/>
                    </a:lnTo>
                    <a:lnTo>
                      <a:pt x="127" y="0"/>
                    </a:lnTo>
                    <a:lnTo>
                      <a:pt x="0" y="0"/>
                    </a:lnTo>
                    <a:lnTo>
                      <a:pt x="0" y="42"/>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grpSp>
          <p:nvGrpSpPr>
            <p:cNvPr id="14" name="组合 18401"/>
            <p:cNvGrpSpPr/>
            <p:nvPr/>
          </p:nvGrpSpPr>
          <p:grpSpPr>
            <a:xfrm>
              <a:off x="4873300" y="3374837"/>
              <a:ext cx="509595" cy="893458"/>
              <a:chOff x="7499351" y="736601"/>
              <a:chExt cx="227013" cy="428625"/>
            </a:xfrm>
            <a:solidFill>
              <a:srgbClr val="60C7C7"/>
            </a:solidFill>
          </p:grpSpPr>
          <p:sp>
            <p:nvSpPr>
              <p:cNvPr id="36"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7"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8"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9"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0"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1"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2"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3"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4"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5"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6"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7"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48"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grpSp>
          <p:nvGrpSpPr>
            <p:cNvPr id="15" name="组合 18401"/>
            <p:cNvGrpSpPr/>
            <p:nvPr/>
          </p:nvGrpSpPr>
          <p:grpSpPr>
            <a:xfrm>
              <a:off x="6478458" y="3388828"/>
              <a:ext cx="509595" cy="893458"/>
              <a:chOff x="7499351" y="736601"/>
              <a:chExt cx="227013" cy="428625"/>
            </a:xfrm>
            <a:solidFill>
              <a:srgbClr val="60C7C7"/>
            </a:solidFill>
          </p:grpSpPr>
          <p:sp>
            <p:nvSpPr>
              <p:cNvPr id="23"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4"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5"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6"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7"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8"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29"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0"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1"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2"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3"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4"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35"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sp>
          <p:nvSpPr>
            <p:cNvPr id="16" name="computer-worker-on-frontal-view_49709"/>
            <p:cNvSpPr>
              <a:spLocks noChangeAspect="1"/>
            </p:cNvSpPr>
            <p:nvPr/>
          </p:nvSpPr>
          <p:spPr bwMode="auto">
            <a:xfrm>
              <a:off x="4344318" y="2514909"/>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17" name="computer-worker-on-frontal-view_49709"/>
            <p:cNvSpPr>
              <a:spLocks noChangeAspect="1"/>
            </p:cNvSpPr>
            <p:nvPr/>
          </p:nvSpPr>
          <p:spPr bwMode="auto">
            <a:xfrm>
              <a:off x="5656286" y="2510016"/>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18" name="computer-worker-on-frontal-view_49709"/>
            <p:cNvSpPr>
              <a:spLocks noChangeAspect="1"/>
            </p:cNvSpPr>
            <p:nvPr/>
          </p:nvSpPr>
          <p:spPr bwMode="auto">
            <a:xfrm>
              <a:off x="6854427" y="2523008"/>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cxnSp>
          <p:nvCxnSpPr>
            <p:cNvPr id="19" name="直接连接符 18"/>
            <p:cNvCxnSpPr>
              <a:stCxn id="47" idx="0"/>
            </p:cNvCxnSpPr>
            <p:nvPr/>
          </p:nvCxnSpPr>
          <p:spPr bwMode="auto">
            <a:xfrm>
              <a:off x="5109335" y="4268295"/>
              <a:ext cx="705973" cy="614748"/>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20" name="直接连接符 19"/>
            <p:cNvCxnSpPr>
              <a:stCxn id="34" idx="0"/>
            </p:cNvCxnSpPr>
            <p:nvPr/>
          </p:nvCxnSpPr>
          <p:spPr bwMode="auto">
            <a:xfrm flipH="1">
              <a:off x="6183827" y="4282286"/>
              <a:ext cx="530666" cy="600757"/>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21" name="直接连接符 20"/>
            <p:cNvCxnSpPr/>
            <p:nvPr/>
          </p:nvCxnSpPr>
          <p:spPr bwMode="auto">
            <a:xfrm>
              <a:off x="6163755" y="5198591"/>
              <a:ext cx="653243" cy="557778"/>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22" name="直接连接符 21"/>
            <p:cNvCxnSpPr/>
            <p:nvPr/>
          </p:nvCxnSpPr>
          <p:spPr bwMode="auto">
            <a:xfrm flipV="1">
              <a:off x="5353564" y="5198591"/>
              <a:ext cx="563797" cy="555804"/>
            </a:xfrm>
            <a:prstGeom prst="line">
              <a:avLst/>
            </a:prstGeom>
            <a:solidFill>
              <a:schemeClr val="accent1"/>
            </a:solidFill>
            <a:ln w="28575" cap="flat" cmpd="sng" algn="ctr">
              <a:solidFill>
                <a:srgbClr val="60C7C7"/>
              </a:solidFill>
              <a:prstDash val="solid"/>
              <a:round/>
              <a:headEnd type="none" w="med" len="med"/>
              <a:tailEnd type="none" w="med" len="med"/>
            </a:ln>
            <a:effectLst/>
          </p:spPr>
        </p:cxnSp>
      </p:grpSp>
      <p:grpSp>
        <p:nvGrpSpPr>
          <p:cNvPr id="66" name="组合 65"/>
          <p:cNvGrpSpPr/>
          <p:nvPr/>
        </p:nvGrpSpPr>
        <p:grpSpPr>
          <a:xfrm>
            <a:off x="6794043" y="1448780"/>
            <a:ext cx="4436562" cy="3638852"/>
            <a:chOff x="1665170" y="2133052"/>
            <a:chExt cx="4949697" cy="4167666"/>
          </a:xfrm>
        </p:grpSpPr>
        <p:sp>
          <p:nvSpPr>
            <p:cNvPr id="67" name="Text Box 99"/>
            <p:cNvSpPr txBox="1">
              <a:spLocks noChangeArrowheads="1"/>
            </p:cNvSpPr>
            <p:nvPr/>
          </p:nvSpPr>
          <p:spPr bwMode="auto">
            <a:xfrm>
              <a:off x="5104056" y="5690524"/>
              <a:ext cx="1510811"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Storage device</a:t>
              </a:r>
            </a:p>
          </p:txBody>
        </p:sp>
        <p:sp>
          <p:nvSpPr>
            <p:cNvPr id="68" name="Text Box 229"/>
            <p:cNvSpPr txBox="1">
              <a:spLocks noChangeArrowheads="1"/>
            </p:cNvSpPr>
            <p:nvPr/>
          </p:nvSpPr>
          <p:spPr bwMode="auto">
            <a:xfrm>
              <a:off x="1665170" y="5638134"/>
              <a:ext cx="1510810"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Storage device</a:t>
              </a:r>
            </a:p>
          </p:txBody>
        </p:sp>
        <p:sp>
          <p:nvSpPr>
            <p:cNvPr id="69" name="Text Box 98"/>
            <p:cNvSpPr txBox="1">
              <a:spLocks noChangeArrowheads="1"/>
            </p:cNvSpPr>
            <p:nvPr/>
          </p:nvSpPr>
          <p:spPr bwMode="auto">
            <a:xfrm>
              <a:off x="4617344" y="4817006"/>
              <a:ext cx="1056555"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FC switch</a:t>
              </a:r>
            </a:p>
          </p:txBody>
        </p:sp>
        <p:grpSp>
          <p:nvGrpSpPr>
            <p:cNvPr id="70" name="组合 1310"/>
            <p:cNvGrpSpPr/>
            <p:nvPr/>
          </p:nvGrpSpPr>
          <p:grpSpPr>
            <a:xfrm>
              <a:off x="2139893" y="2133052"/>
              <a:ext cx="3758629" cy="1490120"/>
              <a:chOff x="2407422" y="1946579"/>
              <a:chExt cx="5271088" cy="2510424"/>
            </a:xfrm>
          </p:grpSpPr>
          <p:sp>
            <p:nvSpPr>
              <p:cNvPr id="127" name="Line 4"/>
              <p:cNvSpPr>
                <a:spLocks noChangeShapeType="1"/>
              </p:cNvSpPr>
              <p:nvPr/>
            </p:nvSpPr>
            <p:spPr bwMode="auto">
              <a:xfrm flipV="1">
                <a:off x="3869989" y="3672320"/>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128" name="Line 8"/>
              <p:cNvSpPr>
                <a:spLocks noChangeShapeType="1"/>
              </p:cNvSpPr>
              <p:nvPr/>
            </p:nvSpPr>
            <p:spPr bwMode="auto">
              <a:xfrm flipV="1">
                <a:off x="2807804" y="3672319"/>
                <a:ext cx="4302546" cy="5749"/>
              </a:xfrm>
              <a:prstGeom prst="line">
                <a:avLst/>
              </a:prstGeom>
              <a:noFill/>
              <a:ln w="57150">
                <a:solidFill>
                  <a:schemeClr val="accent2">
                    <a:lumMod val="75000"/>
                  </a:schemeClr>
                </a:solidFill>
                <a:round/>
                <a:headEnd type="none" w="med" len="med"/>
                <a:tailEnd type="none" w="med" len="med"/>
              </a:ln>
            </p:spPr>
            <p:txBody>
              <a:bodyPr wrap="square" lIns="79200" tIns="39600" rIns="79200" bIns="39600">
                <a:spAutoFit/>
              </a:bodyPr>
              <a:lstStyle/>
              <a:p>
                <a:endParaRPr lang="zh-CN" altLang="en-US" sz="1400">
                  <a:solidFill>
                    <a:srgbClr val="000000"/>
                  </a:solidFill>
                  <a:latin typeface="Arial" panose="020B0604020202020204" pitchFamily="34" charset="0"/>
                  <a:ea typeface="微软雅黑"/>
                </a:endParaRPr>
              </a:p>
            </p:txBody>
          </p:sp>
          <p:sp>
            <p:nvSpPr>
              <p:cNvPr id="129" name="Text Box 94"/>
              <p:cNvSpPr txBox="1">
                <a:spLocks noChangeArrowheads="1"/>
              </p:cNvSpPr>
              <p:nvPr/>
            </p:nvSpPr>
            <p:spPr bwMode="auto">
              <a:xfrm>
                <a:off x="6585551" y="3846731"/>
                <a:ext cx="1092959" cy="570019"/>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Server</a:t>
                </a:r>
              </a:p>
            </p:txBody>
          </p:sp>
          <p:sp>
            <p:nvSpPr>
              <p:cNvPr id="130" name="Text Box 201"/>
              <p:cNvSpPr txBox="1">
                <a:spLocks noChangeArrowheads="1"/>
              </p:cNvSpPr>
              <p:nvPr/>
            </p:nvSpPr>
            <p:spPr bwMode="auto">
              <a:xfrm>
                <a:off x="4656636" y="1946579"/>
                <a:ext cx="1108008"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B</a:t>
                </a:r>
              </a:p>
            </p:txBody>
          </p:sp>
          <p:sp>
            <p:nvSpPr>
              <p:cNvPr id="131" name="Text Box 227"/>
              <p:cNvSpPr txBox="1">
                <a:spLocks noChangeArrowheads="1"/>
              </p:cNvSpPr>
              <p:nvPr/>
            </p:nvSpPr>
            <p:spPr bwMode="auto">
              <a:xfrm>
                <a:off x="2407422" y="3886983"/>
                <a:ext cx="1092959"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Server</a:t>
                </a:r>
              </a:p>
            </p:txBody>
          </p:sp>
          <p:sp>
            <p:nvSpPr>
              <p:cNvPr id="132" name="Line 4"/>
              <p:cNvSpPr>
                <a:spLocks noChangeShapeType="1"/>
              </p:cNvSpPr>
              <p:nvPr/>
            </p:nvSpPr>
            <p:spPr bwMode="auto">
              <a:xfrm flipV="1">
                <a:off x="6102237" y="3681028"/>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133" name="Line 4"/>
              <p:cNvSpPr>
                <a:spLocks noChangeShapeType="1"/>
              </p:cNvSpPr>
              <p:nvPr/>
            </p:nvSpPr>
            <p:spPr bwMode="auto">
              <a:xfrm flipV="1">
                <a:off x="5020455" y="3348284"/>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134" name="Text Box 201"/>
              <p:cNvSpPr txBox="1">
                <a:spLocks noChangeArrowheads="1"/>
              </p:cNvSpPr>
              <p:nvPr/>
            </p:nvSpPr>
            <p:spPr bwMode="auto">
              <a:xfrm>
                <a:off x="6265705" y="1954506"/>
                <a:ext cx="1123056"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C</a:t>
                </a:r>
              </a:p>
            </p:txBody>
          </p:sp>
          <p:sp>
            <p:nvSpPr>
              <p:cNvPr id="135" name="Line 4"/>
              <p:cNvSpPr>
                <a:spLocks noChangeShapeType="1"/>
              </p:cNvSpPr>
              <p:nvPr/>
            </p:nvSpPr>
            <p:spPr bwMode="auto">
              <a:xfrm flipV="1">
                <a:off x="6676441" y="3371835"/>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sp>
            <p:nvSpPr>
              <p:cNvPr id="136" name="Text Box 201"/>
              <p:cNvSpPr txBox="1">
                <a:spLocks noChangeArrowheads="1"/>
              </p:cNvSpPr>
              <p:nvPr/>
            </p:nvSpPr>
            <p:spPr bwMode="auto">
              <a:xfrm>
                <a:off x="2784057" y="1948373"/>
                <a:ext cx="1092557" cy="570020"/>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User A</a:t>
                </a:r>
              </a:p>
            </p:txBody>
          </p:sp>
          <p:sp>
            <p:nvSpPr>
              <p:cNvPr id="137" name="Line 4"/>
              <p:cNvSpPr>
                <a:spLocks noChangeShapeType="1"/>
              </p:cNvSpPr>
              <p:nvPr/>
            </p:nvSpPr>
            <p:spPr bwMode="auto">
              <a:xfrm flipV="1">
                <a:off x="3180556" y="3371835"/>
                <a:ext cx="0" cy="287660"/>
              </a:xfrm>
              <a:prstGeom prst="line">
                <a:avLst/>
              </a:prstGeom>
              <a:noFill/>
              <a:ln w="38100">
                <a:solidFill>
                  <a:schemeClr val="accent2">
                    <a:lumMod val="75000"/>
                  </a:schemeClr>
                </a:solidFill>
                <a:round/>
                <a:headEnd/>
                <a:tailEnd/>
              </a:ln>
            </p:spPr>
            <p:txBody>
              <a:bodyPr lIns="80127" tIns="40065" rIns="80127" bIns="40065"/>
              <a:lstStyle/>
              <a:p>
                <a:endParaRPr lang="zh-CN" altLang="en-US" sz="1400">
                  <a:solidFill>
                    <a:srgbClr val="000000"/>
                  </a:solidFill>
                  <a:latin typeface="Arial" panose="020B0604020202020204" pitchFamily="34" charset="0"/>
                  <a:ea typeface="微软雅黑"/>
                </a:endParaRPr>
              </a:p>
            </p:txBody>
          </p:sp>
        </p:grpSp>
        <p:sp>
          <p:nvSpPr>
            <p:cNvPr id="71" name="Text Box 98"/>
            <p:cNvSpPr txBox="1">
              <a:spLocks noChangeArrowheads="1"/>
            </p:cNvSpPr>
            <p:nvPr/>
          </p:nvSpPr>
          <p:spPr bwMode="auto">
            <a:xfrm>
              <a:off x="1689755" y="2976838"/>
              <a:ext cx="590711"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LAN</a:t>
              </a:r>
            </a:p>
          </p:txBody>
        </p:sp>
        <p:sp>
          <p:nvSpPr>
            <p:cNvPr id="72" name="Text Box 98"/>
            <p:cNvSpPr txBox="1">
              <a:spLocks noChangeArrowheads="1"/>
            </p:cNvSpPr>
            <p:nvPr/>
          </p:nvSpPr>
          <p:spPr bwMode="auto">
            <a:xfrm>
              <a:off x="2372615" y="4809403"/>
              <a:ext cx="1199627" cy="338348"/>
            </a:xfrm>
            <a:prstGeom prst="rect">
              <a:avLst/>
            </a:prstGeom>
            <a:noFill/>
            <a:ln w="9525" algn="ctr">
              <a:noFill/>
              <a:miter lim="800000"/>
              <a:headEnd/>
              <a:tailEnd/>
            </a:ln>
          </p:spPr>
          <p:txBody>
            <a:bodyPr wrap="none" lIns="79200" tIns="39600" rIns="79200" bIns="39600">
              <a:spAutoFit/>
            </a:bodyPr>
            <a:lstStyle/>
            <a:p>
              <a:pPr defTabSz="801688"/>
              <a:r>
                <a:rPr lang="en-US" sz="1400" dirty="0">
                  <a:solidFill>
                    <a:srgbClr val="000000"/>
                  </a:solidFill>
                  <a:latin typeface="Arial" panose="020B0604020202020204" pitchFamily="34" charset="0"/>
                  <a:ea typeface="微软雅黑"/>
                </a:rPr>
                <a:t>FC network</a:t>
              </a:r>
            </a:p>
          </p:txBody>
        </p:sp>
        <p:sp>
          <p:nvSpPr>
            <p:cNvPr id="73" name="矩形 72"/>
            <p:cNvSpPr/>
            <p:nvPr/>
          </p:nvSpPr>
          <p:spPr>
            <a:xfrm>
              <a:off x="3813062" y="4408455"/>
              <a:ext cx="472498" cy="352505"/>
            </a:xfrm>
            <a:prstGeom prst="rect">
              <a:avLst/>
            </a:prstGeom>
          </p:spPr>
          <p:txBody>
            <a:bodyPr wrap="none">
              <a:spAutoFit/>
            </a:bodyPr>
            <a:lstStyle/>
            <a:p>
              <a:r>
                <a:rPr lang="en-US" sz="1400" dirty="0">
                  <a:solidFill>
                    <a:srgbClr val="000000"/>
                  </a:solidFill>
                  <a:latin typeface="Arial" panose="020B0604020202020204" pitchFamily="34" charset="0"/>
                  <a:ea typeface="微软雅黑"/>
                </a:rPr>
                <a:t>FC</a:t>
              </a:r>
            </a:p>
          </p:txBody>
        </p:sp>
        <p:sp>
          <p:nvSpPr>
            <p:cNvPr id="74" name="disk-storage_17946"/>
            <p:cNvSpPr>
              <a:spLocks noChangeAspect="1"/>
            </p:cNvSpPr>
            <p:nvPr/>
          </p:nvSpPr>
          <p:spPr bwMode="auto">
            <a:xfrm>
              <a:off x="3093152" y="5681098"/>
              <a:ext cx="579674" cy="609685"/>
            </a:xfrm>
            <a:custGeom>
              <a:avLst/>
              <a:gdLst>
                <a:gd name="connsiteX0" fmla="*/ 487897 w 573838"/>
                <a:gd name="connsiteY0" fmla="*/ 529726 h 603546"/>
                <a:gd name="connsiteX1" fmla="*/ 476610 w 573838"/>
                <a:gd name="connsiteY1" fmla="*/ 540997 h 603546"/>
                <a:gd name="connsiteX2" fmla="*/ 487897 w 573838"/>
                <a:gd name="connsiteY2" fmla="*/ 552394 h 603546"/>
                <a:gd name="connsiteX3" fmla="*/ 499309 w 573838"/>
                <a:gd name="connsiteY3" fmla="*/ 540997 h 603546"/>
                <a:gd name="connsiteX4" fmla="*/ 487897 w 573838"/>
                <a:gd name="connsiteY4" fmla="*/ 529726 h 603546"/>
                <a:gd name="connsiteX5" fmla="*/ 487897 w 573838"/>
                <a:gd name="connsiteY5" fmla="*/ 515198 h 603546"/>
                <a:gd name="connsiteX6" fmla="*/ 513857 w 573838"/>
                <a:gd name="connsiteY6" fmla="*/ 540997 h 603546"/>
                <a:gd name="connsiteX7" fmla="*/ 487897 w 573838"/>
                <a:gd name="connsiteY7" fmla="*/ 566922 h 603546"/>
                <a:gd name="connsiteX8" fmla="*/ 462062 w 573838"/>
                <a:gd name="connsiteY8" fmla="*/ 540997 h 603546"/>
                <a:gd name="connsiteX9" fmla="*/ 487897 w 573838"/>
                <a:gd name="connsiteY9" fmla="*/ 515198 h 603546"/>
                <a:gd name="connsiteX10" fmla="*/ 39799 w 573838"/>
                <a:gd name="connsiteY10" fmla="*/ 513222 h 603546"/>
                <a:gd name="connsiteX11" fmla="*/ 174508 w 573838"/>
                <a:gd name="connsiteY11" fmla="*/ 513222 h 603546"/>
                <a:gd name="connsiteX12" fmla="*/ 174508 w 573838"/>
                <a:gd name="connsiteY12" fmla="*/ 531710 h 603546"/>
                <a:gd name="connsiteX13" fmla="*/ 39799 w 573838"/>
                <a:gd name="connsiteY13" fmla="*/ 531710 h 603546"/>
                <a:gd name="connsiteX14" fmla="*/ 14659 w 573838"/>
                <a:gd name="connsiteY14" fmla="*/ 500328 h 603546"/>
                <a:gd name="connsiteX15" fmla="*/ 14659 w 573838"/>
                <a:gd name="connsiteY15" fmla="*/ 589033 h 603546"/>
                <a:gd name="connsiteX16" fmla="*/ 559179 w 573838"/>
                <a:gd name="connsiteY16" fmla="*/ 589033 h 603546"/>
                <a:gd name="connsiteX17" fmla="*/ 559179 w 573838"/>
                <a:gd name="connsiteY17" fmla="*/ 500328 h 603546"/>
                <a:gd name="connsiteX18" fmla="*/ 487897 w 573838"/>
                <a:gd name="connsiteY18" fmla="*/ 429774 h 603546"/>
                <a:gd name="connsiteX19" fmla="*/ 476610 w 573838"/>
                <a:gd name="connsiteY19" fmla="*/ 441034 h 603546"/>
                <a:gd name="connsiteX20" fmla="*/ 487897 w 573838"/>
                <a:gd name="connsiteY20" fmla="*/ 452418 h 603546"/>
                <a:gd name="connsiteX21" fmla="*/ 499309 w 573838"/>
                <a:gd name="connsiteY21" fmla="*/ 441034 h 603546"/>
                <a:gd name="connsiteX22" fmla="*/ 487897 w 573838"/>
                <a:gd name="connsiteY22" fmla="*/ 429774 h 603546"/>
                <a:gd name="connsiteX23" fmla="*/ 487897 w 573838"/>
                <a:gd name="connsiteY23" fmla="*/ 415136 h 603546"/>
                <a:gd name="connsiteX24" fmla="*/ 513857 w 573838"/>
                <a:gd name="connsiteY24" fmla="*/ 441034 h 603546"/>
                <a:gd name="connsiteX25" fmla="*/ 487897 w 573838"/>
                <a:gd name="connsiteY25" fmla="*/ 466931 h 603546"/>
                <a:gd name="connsiteX26" fmla="*/ 462062 w 573838"/>
                <a:gd name="connsiteY26" fmla="*/ 441034 h 603546"/>
                <a:gd name="connsiteX27" fmla="*/ 487897 w 573838"/>
                <a:gd name="connsiteY27" fmla="*/ 415136 h 603546"/>
                <a:gd name="connsiteX28" fmla="*/ 39799 w 573838"/>
                <a:gd name="connsiteY28" fmla="*/ 413161 h 603546"/>
                <a:gd name="connsiteX29" fmla="*/ 174508 w 573838"/>
                <a:gd name="connsiteY29" fmla="*/ 413161 h 603546"/>
                <a:gd name="connsiteX30" fmla="*/ 174508 w 573838"/>
                <a:gd name="connsiteY30" fmla="*/ 431790 h 603546"/>
                <a:gd name="connsiteX31" fmla="*/ 39799 w 573838"/>
                <a:gd name="connsiteY31" fmla="*/ 431790 h 603546"/>
                <a:gd name="connsiteX32" fmla="*/ 14659 w 573838"/>
                <a:gd name="connsiteY32" fmla="*/ 398360 h 603546"/>
                <a:gd name="connsiteX33" fmla="*/ 14659 w 573838"/>
                <a:gd name="connsiteY33" fmla="*/ 485814 h 603546"/>
                <a:gd name="connsiteX34" fmla="*/ 559179 w 573838"/>
                <a:gd name="connsiteY34" fmla="*/ 485814 h 603546"/>
                <a:gd name="connsiteX35" fmla="*/ 559179 w 573838"/>
                <a:gd name="connsiteY35" fmla="*/ 398360 h 603546"/>
                <a:gd name="connsiteX36" fmla="*/ 487897 w 573838"/>
                <a:gd name="connsiteY36" fmla="*/ 323937 h 603546"/>
                <a:gd name="connsiteX37" fmla="*/ 476610 w 573838"/>
                <a:gd name="connsiteY37" fmla="*/ 335319 h 603546"/>
                <a:gd name="connsiteX38" fmla="*/ 487897 w 573838"/>
                <a:gd name="connsiteY38" fmla="*/ 346575 h 603546"/>
                <a:gd name="connsiteX39" fmla="*/ 499309 w 573838"/>
                <a:gd name="connsiteY39" fmla="*/ 335319 h 603546"/>
                <a:gd name="connsiteX40" fmla="*/ 487897 w 573838"/>
                <a:gd name="connsiteY40" fmla="*/ 323937 h 603546"/>
                <a:gd name="connsiteX41" fmla="*/ 39799 w 573838"/>
                <a:gd name="connsiteY41" fmla="*/ 316698 h 603546"/>
                <a:gd name="connsiteX42" fmla="*/ 174508 w 573838"/>
                <a:gd name="connsiteY42" fmla="*/ 316698 h 603546"/>
                <a:gd name="connsiteX43" fmla="*/ 174508 w 573838"/>
                <a:gd name="connsiteY43" fmla="*/ 335186 h 603546"/>
                <a:gd name="connsiteX44" fmla="*/ 39799 w 573838"/>
                <a:gd name="connsiteY44" fmla="*/ 335186 h 603546"/>
                <a:gd name="connsiteX45" fmla="*/ 487897 w 573838"/>
                <a:gd name="connsiteY45" fmla="*/ 309429 h 603546"/>
                <a:gd name="connsiteX46" fmla="*/ 513857 w 573838"/>
                <a:gd name="connsiteY46" fmla="*/ 335193 h 603546"/>
                <a:gd name="connsiteX47" fmla="*/ 487897 w 573838"/>
                <a:gd name="connsiteY47" fmla="*/ 361083 h 603546"/>
                <a:gd name="connsiteX48" fmla="*/ 462062 w 573838"/>
                <a:gd name="connsiteY48" fmla="*/ 335193 h 603546"/>
                <a:gd name="connsiteX49" fmla="*/ 487897 w 573838"/>
                <a:gd name="connsiteY49" fmla="*/ 309429 h 603546"/>
                <a:gd name="connsiteX50" fmla="*/ 14659 w 573838"/>
                <a:gd name="connsiteY50" fmla="*/ 295142 h 603546"/>
                <a:gd name="connsiteX51" fmla="*/ 14659 w 573838"/>
                <a:gd name="connsiteY51" fmla="*/ 382596 h 603546"/>
                <a:gd name="connsiteX52" fmla="*/ 559179 w 573838"/>
                <a:gd name="connsiteY52" fmla="*/ 382596 h 603546"/>
                <a:gd name="connsiteX53" fmla="*/ 559179 w 573838"/>
                <a:gd name="connsiteY53" fmla="*/ 295142 h 603546"/>
                <a:gd name="connsiteX54" fmla="*/ 70790 w 573838"/>
                <a:gd name="connsiteY54" fmla="*/ 0 h 603546"/>
                <a:gd name="connsiteX55" fmla="*/ 518083 w 573838"/>
                <a:gd name="connsiteY55" fmla="*/ 0 h 603546"/>
                <a:gd name="connsiteX56" fmla="*/ 573838 w 573838"/>
                <a:gd name="connsiteY56" fmla="*/ 286384 h 603546"/>
                <a:gd name="connsiteX57" fmla="*/ 573838 w 573838"/>
                <a:gd name="connsiteY57" fmla="*/ 295142 h 603546"/>
                <a:gd name="connsiteX58" fmla="*/ 573838 w 573838"/>
                <a:gd name="connsiteY58" fmla="*/ 382596 h 603546"/>
                <a:gd name="connsiteX59" fmla="*/ 573838 w 573838"/>
                <a:gd name="connsiteY59" fmla="*/ 398360 h 603546"/>
                <a:gd name="connsiteX60" fmla="*/ 573838 w 573838"/>
                <a:gd name="connsiteY60" fmla="*/ 485814 h 603546"/>
                <a:gd name="connsiteX61" fmla="*/ 573838 w 573838"/>
                <a:gd name="connsiteY61" fmla="*/ 500328 h 603546"/>
                <a:gd name="connsiteX62" fmla="*/ 573838 w 573838"/>
                <a:gd name="connsiteY62" fmla="*/ 603546 h 603546"/>
                <a:gd name="connsiteX63" fmla="*/ 0 w 573838"/>
                <a:gd name="connsiteY63" fmla="*/ 603546 h 603546"/>
                <a:gd name="connsiteX64" fmla="*/ 0 w 573838"/>
                <a:gd name="connsiteY64" fmla="*/ 500328 h 603546"/>
                <a:gd name="connsiteX65" fmla="*/ 0 w 573838"/>
                <a:gd name="connsiteY65" fmla="*/ 485814 h 603546"/>
                <a:gd name="connsiteX66" fmla="*/ 0 w 573838"/>
                <a:gd name="connsiteY66" fmla="*/ 398360 h 603546"/>
                <a:gd name="connsiteX67" fmla="*/ 0 w 573838"/>
                <a:gd name="connsiteY67" fmla="*/ 382596 h 603546"/>
                <a:gd name="connsiteX68" fmla="*/ 0 w 573838"/>
                <a:gd name="connsiteY68" fmla="*/ 295142 h 603546"/>
                <a:gd name="connsiteX69" fmla="*/ 0 w 573838"/>
                <a:gd name="connsiteY69" fmla="*/ 287010 h 60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3838" h="603546">
                  <a:moveTo>
                    <a:pt x="487897" y="529726"/>
                  </a:moveTo>
                  <a:cubicBezTo>
                    <a:pt x="481626" y="529726"/>
                    <a:pt x="476610" y="534861"/>
                    <a:pt x="476610" y="540997"/>
                  </a:cubicBezTo>
                  <a:cubicBezTo>
                    <a:pt x="476610" y="547259"/>
                    <a:pt x="481626" y="552394"/>
                    <a:pt x="487897" y="552394"/>
                  </a:cubicBezTo>
                  <a:cubicBezTo>
                    <a:pt x="494167" y="552394"/>
                    <a:pt x="499309" y="547259"/>
                    <a:pt x="499309" y="540997"/>
                  </a:cubicBezTo>
                  <a:cubicBezTo>
                    <a:pt x="499309" y="534861"/>
                    <a:pt x="494167" y="529726"/>
                    <a:pt x="487897" y="529726"/>
                  </a:cubicBezTo>
                  <a:close/>
                  <a:moveTo>
                    <a:pt x="487897" y="515198"/>
                  </a:moveTo>
                  <a:cubicBezTo>
                    <a:pt x="502194" y="515198"/>
                    <a:pt x="513857" y="526720"/>
                    <a:pt x="513857" y="540997"/>
                  </a:cubicBezTo>
                  <a:cubicBezTo>
                    <a:pt x="513857" y="555400"/>
                    <a:pt x="502194" y="566922"/>
                    <a:pt x="487897" y="566922"/>
                  </a:cubicBezTo>
                  <a:cubicBezTo>
                    <a:pt x="473600" y="566922"/>
                    <a:pt x="462062" y="555400"/>
                    <a:pt x="462062" y="540997"/>
                  </a:cubicBezTo>
                  <a:cubicBezTo>
                    <a:pt x="462062" y="526720"/>
                    <a:pt x="473600" y="515198"/>
                    <a:pt x="487897" y="515198"/>
                  </a:cubicBezTo>
                  <a:close/>
                  <a:moveTo>
                    <a:pt x="39799" y="513222"/>
                  </a:moveTo>
                  <a:lnTo>
                    <a:pt x="174508" y="513222"/>
                  </a:lnTo>
                  <a:lnTo>
                    <a:pt x="174508" y="531710"/>
                  </a:lnTo>
                  <a:lnTo>
                    <a:pt x="39799" y="531710"/>
                  </a:lnTo>
                  <a:close/>
                  <a:moveTo>
                    <a:pt x="14659" y="500328"/>
                  </a:moveTo>
                  <a:lnTo>
                    <a:pt x="14659" y="589033"/>
                  </a:lnTo>
                  <a:lnTo>
                    <a:pt x="559179" y="589033"/>
                  </a:lnTo>
                  <a:lnTo>
                    <a:pt x="559179" y="500328"/>
                  </a:lnTo>
                  <a:close/>
                  <a:moveTo>
                    <a:pt x="487897" y="429774"/>
                  </a:moveTo>
                  <a:cubicBezTo>
                    <a:pt x="481626" y="429774"/>
                    <a:pt x="476610" y="434778"/>
                    <a:pt x="476610" y="441034"/>
                  </a:cubicBezTo>
                  <a:cubicBezTo>
                    <a:pt x="476610" y="447289"/>
                    <a:pt x="481626" y="452418"/>
                    <a:pt x="487897" y="452418"/>
                  </a:cubicBezTo>
                  <a:cubicBezTo>
                    <a:pt x="494167" y="452418"/>
                    <a:pt x="499309" y="447289"/>
                    <a:pt x="499309" y="441034"/>
                  </a:cubicBezTo>
                  <a:cubicBezTo>
                    <a:pt x="499309" y="434778"/>
                    <a:pt x="494167" y="429774"/>
                    <a:pt x="487897" y="429774"/>
                  </a:cubicBezTo>
                  <a:close/>
                  <a:moveTo>
                    <a:pt x="487897" y="415136"/>
                  </a:moveTo>
                  <a:cubicBezTo>
                    <a:pt x="502194" y="415136"/>
                    <a:pt x="513857" y="426771"/>
                    <a:pt x="513857" y="441034"/>
                  </a:cubicBezTo>
                  <a:cubicBezTo>
                    <a:pt x="513857" y="455296"/>
                    <a:pt x="502194" y="466931"/>
                    <a:pt x="487897" y="466931"/>
                  </a:cubicBezTo>
                  <a:cubicBezTo>
                    <a:pt x="473600" y="466931"/>
                    <a:pt x="462062" y="455296"/>
                    <a:pt x="462062" y="441034"/>
                  </a:cubicBezTo>
                  <a:cubicBezTo>
                    <a:pt x="462062" y="426771"/>
                    <a:pt x="473600" y="415136"/>
                    <a:pt x="487897" y="415136"/>
                  </a:cubicBezTo>
                  <a:close/>
                  <a:moveTo>
                    <a:pt x="39799" y="413161"/>
                  </a:moveTo>
                  <a:lnTo>
                    <a:pt x="174508" y="413161"/>
                  </a:lnTo>
                  <a:lnTo>
                    <a:pt x="174508" y="431790"/>
                  </a:lnTo>
                  <a:lnTo>
                    <a:pt x="39799" y="431790"/>
                  </a:lnTo>
                  <a:close/>
                  <a:moveTo>
                    <a:pt x="14659" y="398360"/>
                  </a:moveTo>
                  <a:lnTo>
                    <a:pt x="14659" y="485814"/>
                  </a:lnTo>
                  <a:lnTo>
                    <a:pt x="559179" y="485814"/>
                  </a:lnTo>
                  <a:lnTo>
                    <a:pt x="559179" y="398360"/>
                  </a:lnTo>
                  <a:close/>
                  <a:moveTo>
                    <a:pt x="487897" y="323937"/>
                  </a:moveTo>
                  <a:cubicBezTo>
                    <a:pt x="481626" y="323937"/>
                    <a:pt x="476610" y="329065"/>
                    <a:pt x="476610" y="335319"/>
                  </a:cubicBezTo>
                  <a:cubicBezTo>
                    <a:pt x="476610" y="341447"/>
                    <a:pt x="481626" y="346575"/>
                    <a:pt x="487897" y="346575"/>
                  </a:cubicBezTo>
                  <a:cubicBezTo>
                    <a:pt x="494167" y="346575"/>
                    <a:pt x="499309" y="341447"/>
                    <a:pt x="499309" y="335319"/>
                  </a:cubicBezTo>
                  <a:cubicBezTo>
                    <a:pt x="499309" y="329065"/>
                    <a:pt x="494167" y="323937"/>
                    <a:pt x="487897" y="323937"/>
                  </a:cubicBezTo>
                  <a:close/>
                  <a:moveTo>
                    <a:pt x="39799" y="316698"/>
                  </a:moveTo>
                  <a:lnTo>
                    <a:pt x="174508" y="316698"/>
                  </a:lnTo>
                  <a:lnTo>
                    <a:pt x="174508" y="335186"/>
                  </a:lnTo>
                  <a:lnTo>
                    <a:pt x="39799" y="335186"/>
                  </a:lnTo>
                  <a:close/>
                  <a:moveTo>
                    <a:pt x="487897" y="309429"/>
                  </a:moveTo>
                  <a:cubicBezTo>
                    <a:pt x="502194" y="309429"/>
                    <a:pt x="513857" y="320935"/>
                    <a:pt x="513857" y="335193"/>
                  </a:cubicBezTo>
                  <a:cubicBezTo>
                    <a:pt x="513857" y="349451"/>
                    <a:pt x="502194" y="361083"/>
                    <a:pt x="487897" y="361083"/>
                  </a:cubicBezTo>
                  <a:cubicBezTo>
                    <a:pt x="473600" y="361083"/>
                    <a:pt x="462062" y="349451"/>
                    <a:pt x="462062" y="335193"/>
                  </a:cubicBezTo>
                  <a:cubicBezTo>
                    <a:pt x="462062" y="320935"/>
                    <a:pt x="473600" y="309429"/>
                    <a:pt x="487897" y="309429"/>
                  </a:cubicBezTo>
                  <a:close/>
                  <a:moveTo>
                    <a:pt x="14659" y="295142"/>
                  </a:moveTo>
                  <a:lnTo>
                    <a:pt x="14659" y="382596"/>
                  </a:lnTo>
                  <a:lnTo>
                    <a:pt x="559179" y="382596"/>
                  </a:lnTo>
                  <a:lnTo>
                    <a:pt x="559179" y="295142"/>
                  </a:lnTo>
                  <a:close/>
                  <a:moveTo>
                    <a:pt x="70790" y="0"/>
                  </a:moveTo>
                  <a:lnTo>
                    <a:pt x="518083" y="0"/>
                  </a:lnTo>
                  <a:lnTo>
                    <a:pt x="573838" y="286384"/>
                  </a:lnTo>
                  <a:lnTo>
                    <a:pt x="573838" y="295142"/>
                  </a:lnTo>
                  <a:lnTo>
                    <a:pt x="573838" y="382596"/>
                  </a:lnTo>
                  <a:lnTo>
                    <a:pt x="573838" y="398360"/>
                  </a:lnTo>
                  <a:lnTo>
                    <a:pt x="573838" y="485814"/>
                  </a:lnTo>
                  <a:lnTo>
                    <a:pt x="573838" y="500328"/>
                  </a:lnTo>
                  <a:lnTo>
                    <a:pt x="573838" y="603546"/>
                  </a:lnTo>
                  <a:lnTo>
                    <a:pt x="0" y="603546"/>
                  </a:lnTo>
                  <a:lnTo>
                    <a:pt x="0" y="500328"/>
                  </a:lnTo>
                  <a:lnTo>
                    <a:pt x="0" y="485814"/>
                  </a:lnTo>
                  <a:lnTo>
                    <a:pt x="0" y="398360"/>
                  </a:lnTo>
                  <a:lnTo>
                    <a:pt x="0" y="382596"/>
                  </a:lnTo>
                  <a:lnTo>
                    <a:pt x="0" y="295142"/>
                  </a:lnTo>
                  <a:lnTo>
                    <a:pt x="0" y="287010"/>
                  </a:lnTo>
                  <a:close/>
                </a:path>
              </a:pathLst>
            </a:custGeom>
            <a:solidFill>
              <a:srgbClr val="3ABABA"/>
            </a:solidFill>
            <a:ln>
              <a:noFill/>
            </a:ln>
          </p:spPr>
        </p:sp>
        <p:sp>
          <p:nvSpPr>
            <p:cNvPr id="75" name="disk-storage_17946"/>
            <p:cNvSpPr>
              <a:spLocks noChangeAspect="1"/>
            </p:cNvSpPr>
            <p:nvPr/>
          </p:nvSpPr>
          <p:spPr bwMode="auto">
            <a:xfrm>
              <a:off x="4596286" y="5691033"/>
              <a:ext cx="579674" cy="609685"/>
            </a:xfrm>
            <a:custGeom>
              <a:avLst/>
              <a:gdLst>
                <a:gd name="connsiteX0" fmla="*/ 487897 w 573838"/>
                <a:gd name="connsiteY0" fmla="*/ 529726 h 603546"/>
                <a:gd name="connsiteX1" fmla="*/ 476610 w 573838"/>
                <a:gd name="connsiteY1" fmla="*/ 540997 h 603546"/>
                <a:gd name="connsiteX2" fmla="*/ 487897 w 573838"/>
                <a:gd name="connsiteY2" fmla="*/ 552394 h 603546"/>
                <a:gd name="connsiteX3" fmla="*/ 499309 w 573838"/>
                <a:gd name="connsiteY3" fmla="*/ 540997 h 603546"/>
                <a:gd name="connsiteX4" fmla="*/ 487897 w 573838"/>
                <a:gd name="connsiteY4" fmla="*/ 529726 h 603546"/>
                <a:gd name="connsiteX5" fmla="*/ 487897 w 573838"/>
                <a:gd name="connsiteY5" fmla="*/ 515198 h 603546"/>
                <a:gd name="connsiteX6" fmla="*/ 513857 w 573838"/>
                <a:gd name="connsiteY6" fmla="*/ 540997 h 603546"/>
                <a:gd name="connsiteX7" fmla="*/ 487897 w 573838"/>
                <a:gd name="connsiteY7" fmla="*/ 566922 h 603546"/>
                <a:gd name="connsiteX8" fmla="*/ 462062 w 573838"/>
                <a:gd name="connsiteY8" fmla="*/ 540997 h 603546"/>
                <a:gd name="connsiteX9" fmla="*/ 487897 w 573838"/>
                <a:gd name="connsiteY9" fmla="*/ 515198 h 603546"/>
                <a:gd name="connsiteX10" fmla="*/ 39799 w 573838"/>
                <a:gd name="connsiteY10" fmla="*/ 513222 h 603546"/>
                <a:gd name="connsiteX11" fmla="*/ 174508 w 573838"/>
                <a:gd name="connsiteY11" fmla="*/ 513222 h 603546"/>
                <a:gd name="connsiteX12" fmla="*/ 174508 w 573838"/>
                <a:gd name="connsiteY12" fmla="*/ 531710 h 603546"/>
                <a:gd name="connsiteX13" fmla="*/ 39799 w 573838"/>
                <a:gd name="connsiteY13" fmla="*/ 531710 h 603546"/>
                <a:gd name="connsiteX14" fmla="*/ 14659 w 573838"/>
                <a:gd name="connsiteY14" fmla="*/ 500328 h 603546"/>
                <a:gd name="connsiteX15" fmla="*/ 14659 w 573838"/>
                <a:gd name="connsiteY15" fmla="*/ 589033 h 603546"/>
                <a:gd name="connsiteX16" fmla="*/ 559179 w 573838"/>
                <a:gd name="connsiteY16" fmla="*/ 589033 h 603546"/>
                <a:gd name="connsiteX17" fmla="*/ 559179 w 573838"/>
                <a:gd name="connsiteY17" fmla="*/ 500328 h 603546"/>
                <a:gd name="connsiteX18" fmla="*/ 487897 w 573838"/>
                <a:gd name="connsiteY18" fmla="*/ 429774 h 603546"/>
                <a:gd name="connsiteX19" fmla="*/ 476610 w 573838"/>
                <a:gd name="connsiteY19" fmla="*/ 441034 h 603546"/>
                <a:gd name="connsiteX20" fmla="*/ 487897 w 573838"/>
                <a:gd name="connsiteY20" fmla="*/ 452418 h 603546"/>
                <a:gd name="connsiteX21" fmla="*/ 499309 w 573838"/>
                <a:gd name="connsiteY21" fmla="*/ 441034 h 603546"/>
                <a:gd name="connsiteX22" fmla="*/ 487897 w 573838"/>
                <a:gd name="connsiteY22" fmla="*/ 429774 h 603546"/>
                <a:gd name="connsiteX23" fmla="*/ 487897 w 573838"/>
                <a:gd name="connsiteY23" fmla="*/ 415136 h 603546"/>
                <a:gd name="connsiteX24" fmla="*/ 513857 w 573838"/>
                <a:gd name="connsiteY24" fmla="*/ 441034 h 603546"/>
                <a:gd name="connsiteX25" fmla="*/ 487897 w 573838"/>
                <a:gd name="connsiteY25" fmla="*/ 466931 h 603546"/>
                <a:gd name="connsiteX26" fmla="*/ 462062 w 573838"/>
                <a:gd name="connsiteY26" fmla="*/ 441034 h 603546"/>
                <a:gd name="connsiteX27" fmla="*/ 487897 w 573838"/>
                <a:gd name="connsiteY27" fmla="*/ 415136 h 603546"/>
                <a:gd name="connsiteX28" fmla="*/ 39799 w 573838"/>
                <a:gd name="connsiteY28" fmla="*/ 413161 h 603546"/>
                <a:gd name="connsiteX29" fmla="*/ 174508 w 573838"/>
                <a:gd name="connsiteY29" fmla="*/ 413161 h 603546"/>
                <a:gd name="connsiteX30" fmla="*/ 174508 w 573838"/>
                <a:gd name="connsiteY30" fmla="*/ 431790 h 603546"/>
                <a:gd name="connsiteX31" fmla="*/ 39799 w 573838"/>
                <a:gd name="connsiteY31" fmla="*/ 431790 h 603546"/>
                <a:gd name="connsiteX32" fmla="*/ 14659 w 573838"/>
                <a:gd name="connsiteY32" fmla="*/ 398360 h 603546"/>
                <a:gd name="connsiteX33" fmla="*/ 14659 w 573838"/>
                <a:gd name="connsiteY33" fmla="*/ 485814 h 603546"/>
                <a:gd name="connsiteX34" fmla="*/ 559179 w 573838"/>
                <a:gd name="connsiteY34" fmla="*/ 485814 h 603546"/>
                <a:gd name="connsiteX35" fmla="*/ 559179 w 573838"/>
                <a:gd name="connsiteY35" fmla="*/ 398360 h 603546"/>
                <a:gd name="connsiteX36" fmla="*/ 487897 w 573838"/>
                <a:gd name="connsiteY36" fmla="*/ 323937 h 603546"/>
                <a:gd name="connsiteX37" fmla="*/ 476610 w 573838"/>
                <a:gd name="connsiteY37" fmla="*/ 335319 h 603546"/>
                <a:gd name="connsiteX38" fmla="*/ 487897 w 573838"/>
                <a:gd name="connsiteY38" fmla="*/ 346575 h 603546"/>
                <a:gd name="connsiteX39" fmla="*/ 499309 w 573838"/>
                <a:gd name="connsiteY39" fmla="*/ 335319 h 603546"/>
                <a:gd name="connsiteX40" fmla="*/ 487897 w 573838"/>
                <a:gd name="connsiteY40" fmla="*/ 323937 h 603546"/>
                <a:gd name="connsiteX41" fmla="*/ 39799 w 573838"/>
                <a:gd name="connsiteY41" fmla="*/ 316698 h 603546"/>
                <a:gd name="connsiteX42" fmla="*/ 174508 w 573838"/>
                <a:gd name="connsiteY42" fmla="*/ 316698 h 603546"/>
                <a:gd name="connsiteX43" fmla="*/ 174508 w 573838"/>
                <a:gd name="connsiteY43" fmla="*/ 335186 h 603546"/>
                <a:gd name="connsiteX44" fmla="*/ 39799 w 573838"/>
                <a:gd name="connsiteY44" fmla="*/ 335186 h 603546"/>
                <a:gd name="connsiteX45" fmla="*/ 487897 w 573838"/>
                <a:gd name="connsiteY45" fmla="*/ 309429 h 603546"/>
                <a:gd name="connsiteX46" fmla="*/ 513857 w 573838"/>
                <a:gd name="connsiteY46" fmla="*/ 335193 h 603546"/>
                <a:gd name="connsiteX47" fmla="*/ 487897 w 573838"/>
                <a:gd name="connsiteY47" fmla="*/ 361083 h 603546"/>
                <a:gd name="connsiteX48" fmla="*/ 462062 w 573838"/>
                <a:gd name="connsiteY48" fmla="*/ 335193 h 603546"/>
                <a:gd name="connsiteX49" fmla="*/ 487897 w 573838"/>
                <a:gd name="connsiteY49" fmla="*/ 309429 h 603546"/>
                <a:gd name="connsiteX50" fmla="*/ 14659 w 573838"/>
                <a:gd name="connsiteY50" fmla="*/ 295142 h 603546"/>
                <a:gd name="connsiteX51" fmla="*/ 14659 w 573838"/>
                <a:gd name="connsiteY51" fmla="*/ 382596 h 603546"/>
                <a:gd name="connsiteX52" fmla="*/ 559179 w 573838"/>
                <a:gd name="connsiteY52" fmla="*/ 382596 h 603546"/>
                <a:gd name="connsiteX53" fmla="*/ 559179 w 573838"/>
                <a:gd name="connsiteY53" fmla="*/ 295142 h 603546"/>
                <a:gd name="connsiteX54" fmla="*/ 70790 w 573838"/>
                <a:gd name="connsiteY54" fmla="*/ 0 h 603546"/>
                <a:gd name="connsiteX55" fmla="*/ 518083 w 573838"/>
                <a:gd name="connsiteY55" fmla="*/ 0 h 603546"/>
                <a:gd name="connsiteX56" fmla="*/ 573838 w 573838"/>
                <a:gd name="connsiteY56" fmla="*/ 286384 h 603546"/>
                <a:gd name="connsiteX57" fmla="*/ 573838 w 573838"/>
                <a:gd name="connsiteY57" fmla="*/ 295142 h 603546"/>
                <a:gd name="connsiteX58" fmla="*/ 573838 w 573838"/>
                <a:gd name="connsiteY58" fmla="*/ 382596 h 603546"/>
                <a:gd name="connsiteX59" fmla="*/ 573838 w 573838"/>
                <a:gd name="connsiteY59" fmla="*/ 398360 h 603546"/>
                <a:gd name="connsiteX60" fmla="*/ 573838 w 573838"/>
                <a:gd name="connsiteY60" fmla="*/ 485814 h 603546"/>
                <a:gd name="connsiteX61" fmla="*/ 573838 w 573838"/>
                <a:gd name="connsiteY61" fmla="*/ 500328 h 603546"/>
                <a:gd name="connsiteX62" fmla="*/ 573838 w 573838"/>
                <a:gd name="connsiteY62" fmla="*/ 603546 h 603546"/>
                <a:gd name="connsiteX63" fmla="*/ 0 w 573838"/>
                <a:gd name="connsiteY63" fmla="*/ 603546 h 603546"/>
                <a:gd name="connsiteX64" fmla="*/ 0 w 573838"/>
                <a:gd name="connsiteY64" fmla="*/ 500328 h 603546"/>
                <a:gd name="connsiteX65" fmla="*/ 0 w 573838"/>
                <a:gd name="connsiteY65" fmla="*/ 485814 h 603546"/>
                <a:gd name="connsiteX66" fmla="*/ 0 w 573838"/>
                <a:gd name="connsiteY66" fmla="*/ 398360 h 603546"/>
                <a:gd name="connsiteX67" fmla="*/ 0 w 573838"/>
                <a:gd name="connsiteY67" fmla="*/ 382596 h 603546"/>
                <a:gd name="connsiteX68" fmla="*/ 0 w 573838"/>
                <a:gd name="connsiteY68" fmla="*/ 295142 h 603546"/>
                <a:gd name="connsiteX69" fmla="*/ 0 w 573838"/>
                <a:gd name="connsiteY69" fmla="*/ 287010 h 60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73838" h="603546">
                  <a:moveTo>
                    <a:pt x="487897" y="529726"/>
                  </a:moveTo>
                  <a:cubicBezTo>
                    <a:pt x="481626" y="529726"/>
                    <a:pt x="476610" y="534861"/>
                    <a:pt x="476610" y="540997"/>
                  </a:cubicBezTo>
                  <a:cubicBezTo>
                    <a:pt x="476610" y="547259"/>
                    <a:pt x="481626" y="552394"/>
                    <a:pt x="487897" y="552394"/>
                  </a:cubicBezTo>
                  <a:cubicBezTo>
                    <a:pt x="494167" y="552394"/>
                    <a:pt x="499309" y="547259"/>
                    <a:pt x="499309" y="540997"/>
                  </a:cubicBezTo>
                  <a:cubicBezTo>
                    <a:pt x="499309" y="534861"/>
                    <a:pt x="494167" y="529726"/>
                    <a:pt x="487897" y="529726"/>
                  </a:cubicBezTo>
                  <a:close/>
                  <a:moveTo>
                    <a:pt x="487897" y="515198"/>
                  </a:moveTo>
                  <a:cubicBezTo>
                    <a:pt x="502194" y="515198"/>
                    <a:pt x="513857" y="526720"/>
                    <a:pt x="513857" y="540997"/>
                  </a:cubicBezTo>
                  <a:cubicBezTo>
                    <a:pt x="513857" y="555400"/>
                    <a:pt x="502194" y="566922"/>
                    <a:pt x="487897" y="566922"/>
                  </a:cubicBezTo>
                  <a:cubicBezTo>
                    <a:pt x="473600" y="566922"/>
                    <a:pt x="462062" y="555400"/>
                    <a:pt x="462062" y="540997"/>
                  </a:cubicBezTo>
                  <a:cubicBezTo>
                    <a:pt x="462062" y="526720"/>
                    <a:pt x="473600" y="515198"/>
                    <a:pt x="487897" y="515198"/>
                  </a:cubicBezTo>
                  <a:close/>
                  <a:moveTo>
                    <a:pt x="39799" y="513222"/>
                  </a:moveTo>
                  <a:lnTo>
                    <a:pt x="174508" y="513222"/>
                  </a:lnTo>
                  <a:lnTo>
                    <a:pt x="174508" y="531710"/>
                  </a:lnTo>
                  <a:lnTo>
                    <a:pt x="39799" y="531710"/>
                  </a:lnTo>
                  <a:close/>
                  <a:moveTo>
                    <a:pt x="14659" y="500328"/>
                  </a:moveTo>
                  <a:lnTo>
                    <a:pt x="14659" y="589033"/>
                  </a:lnTo>
                  <a:lnTo>
                    <a:pt x="559179" y="589033"/>
                  </a:lnTo>
                  <a:lnTo>
                    <a:pt x="559179" y="500328"/>
                  </a:lnTo>
                  <a:close/>
                  <a:moveTo>
                    <a:pt x="487897" y="429774"/>
                  </a:moveTo>
                  <a:cubicBezTo>
                    <a:pt x="481626" y="429774"/>
                    <a:pt x="476610" y="434778"/>
                    <a:pt x="476610" y="441034"/>
                  </a:cubicBezTo>
                  <a:cubicBezTo>
                    <a:pt x="476610" y="447289"/>
                    <a:pt x="481626" y="452418"/>
                    <a:pt x="487897" y="452418"/>
                  </a:cubicBezTo>
                  <a:cubicBezTo>
                    <a:pt x="494167" y="452418"/>
                    <a:pt x="499309" y="447289"/>
                    <a:pt x="499309" y="441034"/>
                  </a:cubicBezTo>
                  <a:cubicBezTo>
                    <a:pt x="499309" y="434778"/>
                    <a:pt x="494167" y="429774"/>
                    <a:pt x="487897" y="429774"/>
                  </a:cubicBezTo>
                  <a:close/>
                  <a:moveTo>
                    <a:pt x="487897" y="415136"/>
                  </a:moveTo>
                  <a:cubicBezTo>
                    <a:pt x="502194" y="415136"/>
                    <a:pt x="513857" y="426771"/>
                    <a:pt x="513857" y="441034"/>
                  </a:cubicBezTo>
                  <a:cubicBezTo>
                    <a:pt x="513857" y="455296"/>
                    <a:pt x="502194" y="466931"/>
                    <a:pt x="487897" y="466931"/>
                  </a:cubicBezTo>
                  <a:cubicBezTo>
                    <a:pt x="473600" y="466931"/>
                    <a:pt x="462062" y="455296"/>
                    <a:pt x="462062" y="441034"/>
                  </a:cubicBezTo>
                  <a:cubicBezTo>
                    <a:pt x="462062" y="426771"/>
                    <a:pt x="473600" y="415136"/>
                    <a:pt x="487897" y="415136"/>
                  </a:cubicBezTo>
                  <a:close/>
                  <a:moveTo>
                    <a:pt x="39799" y="413161"/>
                  </a:moveTo>
                  <a:lnTo>
                    <a:pt x="174508" y="413161"/>
                  </a:lnTo>
                  <a:lnTo>
                    <a:pt x="174508" y="431790"/>
                  </a:lnTo>
                  <a:lnTo>
                    <a:pt x="39799" y="431790"/>
                  </a:lnTo>
                  <a:close/>
                  <a:moveTo>
                    <a:pt x="14659" y="398360"/>
                  </a:moveTo>
                  <a:lnTo>
                    <a:pt x="14659" y="485814"/>
                  </a:lnTo>
                  <a:lnTo>
                    <a:pt x="559179" y="485814"/>
                  </a:lnTo>
                  <a:lnTo>
                    <a:pt x="559179" y="398360"/>
                  </a:lnTo>
                  <a:close/>
                  <a:moveTo>
                    <a:pt x="487897" y="323937"/>
                  </a:moveTo>
                  <a:cubicBezTo>
                    <a:pt x="481626" y="323937"/>
                    <a:pt x="476610" y="329065"/>
                    <a:pt x="476610" y="335319"/>
                  </a:cubicBezTo>
                  <a:cubicBezTo>
                    <a:pt x="476610" y="341447"/>
                    <a:pt x="481626" y="346575"/>
                    <a:pt x="487897" y="346575"/>
                  </a:cubicBezTo>
                  <a:cubicBezTo>
                    <a:pt x="494167" y="346575"/>
                    <a:pt x="499309" y="341447"/>
                    <a:pt x="499309" y="335319"/>
                  </a:cubicBezTo>
                  <a:cubicBezTo>
                    <a:pt x="499309" y="329065"/>
                    <a:pt x="494167" y="323937"/>
                    <a:pt x="487897" y="323937"/>
                  </a:cubicBezTo>
                  <a:close/>
                  <a:moveTo>
                    <a:pt x="39799" y="316698"/>
                  </a:moveTo>
                  <a:lnTo>
                    <a:pt x="174508" y="316698"/>
                  </a:lnTo>
                  <a:lnTo>
                    <a:pt x="174508" y="335186"/>
                  </a:lnTo>
                  <a:lnTo>
                    <a:pt x="39799" y="335186"/>
                  </a:lnTo>
                  <a:close/>
                  <a:moveTo>
                    <a:pt x="487897" y="309429"/>
                  </a:moveTo>
                  <a:cubicBezTo>
                    <a:pt x="502194" y="309429"/>
                    <a:pt x="513857" y="320935"/>
                    <a:pt x="513857" y="335193"/>
                  </a:cubicBezTo>
                  <a:cubicBezTo>
                    <a:pt x="513857" y="349451"/>
                    <a:pt x="502194" y="361083"/>
                    <a:pt x="487897" y="361083"/>
                  </a:cubicBezTo>
                  <a:cubicBezTo>
                    <a:pt x="473600" y="361083"/>
                    <a:pt x="462062" y="349451"/>
                    <a:pt x="462062" y="335193"/>
                  </a:cubicBezTo>
                  <a:cubicBezTo>
                    <a:pt x="462062" y="320935"/>
                    <a:pt x="473600" y="309429"/>
                    <a:pt x="487897" y="309429"/>
                  </a:cubicBezTo>
                  <a:close/>
                  <a:moveTo>
                    <a:pt x="14659" y="295142"/>
                  </a:moveTo>
                  <a:lnTo>
                    <a:pt x="14659" y="382596"/>
                  </a:lnTo>
                  <a:lnTo>
                    <a:pt x="559179" y="382596"/>
                  </a:lnTo>
                  <a:lnTo>
                    <a:pt x="559179" y="295142"/>
                  </a:lnTo>
                  <a:close/>
                  <a:moveTo>
                    <a:pt x="70790" y="0"/>
                  </a:moveTo>
                  <a:lnTo>
                    <a:pt x="518083" y="0"/>
                  </a:lnTo>
                  <a:lnTo>
                    <a:pt x="573838" y="286384"/>
                  </a:lnTo>
                  <a:lnTo>
                    <a:pt x="573838" y="295142"/>
                  </a:lnTo>
                  <a:lnTo>
                    <a:pt x="573838" y="382596"/>
                  </a:lnTo>
                  <a:lnTo>
                    <a:pt x="573838" y="398360"/>
                  </a:lnTo>
                  <a:lnTo>
                    <a:pt x="573838" y="485814"/>
                  </a:lnTo>
                  <a:lnTo>
                    <a:pt x="573838" y="500328"/>
                  </a:lnTo>
                  <a:lnTo>
                    <a:pt x="573838" y="603546"/>
                  </a:lnTo>
                  <a:lnTo>
                    <a:pt x="0" y="603546"/>
                  </a:lnTo>
                  <a:lnTo>
                    <a:pt x="0" y="500328"/>
                  </a:lnTo>
                  <a:lnTo>
                    <a:pt x="0" y="485814"/>
                  </a:lnTo>
                  <a:lnTo>
                    <a:pt x="0" y="398360"/>
                  </a:lnTo>
                  <a:lnTo>
                    <a:pt x="0" y="382596"/>
                  </a:lnTo>
                  <a:lnTo>
                    <a:pt x="0" y="295142"/>
                  </a:lnTo>
                  <a:lnTo>
                    <a:pt x="0" y="287010"/>
                  </a:lnTo>
                  <a:close/>
                </a:path>
              </a:pathLst>
            </a:custGeom>
            <a:solidFill>
              <a:srgbClr val="3ABABA"/>
            </a:solidFill>
            <a:ln>
              <a:noFill/>
            </a:ln>
          </p:spPr>
        </p:sp>
        <p:grpSp>
          <p:nvGrpSpPr>
            <p:cNvPr id="76" name="组合 18401"/>
            <p:cNvGrpSpPr/>
            <p:nvPr/>
          </p:nvGrpSpPr>
          <p:grpSpPr>
            <a:xfrm>
              <a:off x="2915327" y="3311475"/>
              <a:ext cx="509595" cy="893458"/>
              <a:chOff x="7499351" y="736601"/>
              <a:chExt cx="227013" cy="428625"/>
            </a:xfrm>
            <a:solidFill>
              <a:srgbClr val="60C7C7"/>
            </a:solidFill>
          </p:grpSpPr>
          <p:sp>
            <p:nvSpPr>
              <p:cNvPr id="114"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5"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6"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7"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8"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9"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0"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1"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2"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3"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4"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5"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26"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grpSp>
          <p:nvGrpSpPr>
            <p:cNvPr id="77" name="组合 18401"/>
            <p:cNvGrpSpPr/>
            <p:nvPr/>
          </p:nvGrpSpPr>
          <p:grpSpPr>
            <a:xfrm>
              <a:off x="4520485" y="3325466"/>
              <a:ext cx="509595" cy="893458"/>
              <a:chOff x="7499351" y="736601"/>
              <a:chExt cx="227013" cy="428625"/>
            </a:xfrm>
            <a:solidFill>
              <a:srgbClr val="60C7C7"/>
            </a:solidFill>
          </p:grpSpPr>
          <p:sp>
            <p:nvSpPr>
              <p:cNvPr id="101" name="Freeform 988"/>
              <p:cNvSpPr>
                <a:spLocks/>
              </p:cNvSpPr>
              <p:nvPr/>
            </p:nvSpPr>
            <p:spPr bwMode="auto">
              <a:xfrm>
                <a:off x="7499351" y="736601"/>
                <a:ext cx="227013" cy="417513"/>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2" name="Freeform 989"/>
              <p:cNvSpPr>
                <a:spLocks noEditPoints="1"/>
              </p:cNvSpPr>
              <p:nvPr/>
            </p:nvSpPr>
            <p:spPr bwMode="auto">
              <a:xfrm>
                <a:off x="7564438" y="779463"/>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3" name="Freeform 990"/>
              <p:cNvSpPr>
                <a:spLocks/>
              </p:cNvSpPr>
              <p:nvPr/>
            </p:nvSpPr>
            <p:spPr bwMode="auto">
              <a:xfrm>
                <a:off x="7561263" y="1054101"/>
                <a:ext cx="103188" cy="19050"/>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4" name="Freeform 991"/>
              <p:cNvSpPr>
                <a:spLocks noEditPoints="1"/>
              </p:cNvSpPr>
              <p:nvPr/>
            </p:nvSpPr>
            <p:spPr bwMode="auto">
              <a:xfrm>
                <a:off x="7564438" y="873126"/>
                <a:ext cx="96838" cy="57150"/>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5" name="Freeform 992"/>
              <p:cNvSpPr>
                <a:spLocks noEditPoints="1"/>
              </p:cNvSpPr>
              <p:nvPr/>
            </p:nvSpPr>
            <p:spPr bwMode="auto">
              <a:xfrm>
                <a:off x="7564438" y="960438"/>
                <a:ext cx="96838" cy="57150"/>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6" name="Freeform 993"/>
              <p:cNvSpPr>
                <a:spLocks/>
              </p:cNvSpPr>
              <p:nvPr/>
            </p:nvSpPr>
            <p:spPr bwMode="auto">
              <a:xfrm>
                <a:off x="7510463" y="8540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7" name="Freeform 994"/>
              <p:cNvSpPr>
                <a:spLocks/>
              </p:cNvSpPr>
              <p:nvPr/>
            </p:nvSpPr>
            <p:spPr bwMode="auto">
              <a:xfrm>
                <a:off x="7510463" y="942976"/>
                <a:ext cx="204788" cy="4763"/>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8" name="Freeform 995"/>
              <p:cNvSpPr>
                <a:spLocks/>
              </p:cNvSpPr>
              <p:nvPr/>
            </p:nvSpPr>
            <p:spPr bwMode="auto">
              <a:xfrm>
                <a:off x="7510463" y="1035051"/>
                <a:ext cx="204788" cy="3175"/>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9" name="Freeform 996"/>
              <p:cNvSpPr>
                <a:spLocks/>
              </p:cNvSpPr>
              <p:nvPr/>
            </p:nvSpPr>
            <p:spPr bwMode="auto">
              <a:xfrm>
                <a:off x="7604126" y="812801"/>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0" name="Freeform 997"/>
              <p:cNvSpPr>
                <a:spLocks/>
              </p:cNvSpPr>
              <p:nvPr/>
            </p:nvSpPr>
            <p:spPr bwMode="auto">
              <a:xfrm>
                <a:off x="7604126" y="906463"/>
                <a:ext cx="17463" cy="3175"/>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1" name="Freeform 998"/>
              <p:cNvSpPr>
                <a:spLocks/>
              </p:cNvSpPr>
              <p:nvPr/>
            </p:nvSpPr>
            <p:spPr bwMode="auto">
              <a:xfrm>
                <a:off x="7604126" y="993776"/>
                <a:ext cx="17463" cy="4763"/>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2" name="Freeform 999"/>
              <p:cNvSpPr>
                <a:spLocks/>
              </p:cNvSpPr>
              <p:nvPr/>
            </p:nvSpPr>
            <p:spPr bwMode="auto">
              <a:xfrm>
                <a:off x="7583488" y="1120776"/>
                <a:ext cx="42863" cy="44450"/>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13" name="Freeform 1000"/>
              <p:cNvSpPr>
                <a:spLocks/>
              </p:cNvSpPr>
              <p:nvPr/>
            </p:nvSpPr>
            <p:spPr bwMode="auto">
              <a:xfrm>
                <a:off x="7650163" y="1120776"/>
                <a:ext cx="42863" cy="44450"/>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sp>
          <p:nvSpPr>
            <p:cNvPr id="78" name="computer-worker-on-frontal-view_49709"/>
            <p:cNvSpPr>
              <a:spLocks noChangeAspect="1"/>
            </p:cNvSpPr>
            <p:nvPr/>
          </p:nvSpPr>
          <p:spPr bwMode="auto">
            <a:xfrm>
              <a:off x="2386345" y="2451547"/>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79" name="computer-worker-on-frontal-view_49709"/>
            <p:cNvSpPr>
              <a:spLocks noChangeAspect="1"/>
            </p:cNvSpPr>
            <p:nvPr/>
          </p:nvSpPr>
          <p:spPr bwMode="auto">
            <a:xfrm>
              <a:off x="3698313" y="2446654"/>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sp>
          <p:nvSpPr>
            <p:cNvPr id="80" name="computer-worker-on-frontal-view_49709"/>
            <p:cNvSpPr>
              <a:spLocks noChangeAspect="1"/>
            </p:cNvSpPr>
            <p:nvPr/>
          </p:nvSpPr>
          <p:spPr bwMode="auto">
            <a:xfrm>
              <a:off x="4896454" y="2459646"/>
              <a:ext cx="609685" cy="482043"/>
            </a:xfrm>
            <a:custGeom>
              <a:avLst/>
              <a:gdLst>
                <a:gd name="connsiteX0" fmla="*/ 304702 w 609403"/>
                <a:gd name="connsiteY0" fmla="*/ 226021 h 481821"/>
                <a:gd name="connsiteX1" fmla="*/ 327636 w 609403"/>
                <a:gd name="connsiteY1" fmla="*/ 248926 h 481821"/>
                <a:gd name="connsiteX2" fmla="*/ 320334 w 609403"/>
                <a:gd name="connsiteY2" fmla="*/ 256219 h 481821"/>
                <a:gd name="connsiteX3" fmla="*/ 320334 w 609403"/>
                <a:gd name="connsiteY3" fmla="*/ 278098 h 481821"/>
                <a:gd name="connsiteX4" fmla="*/ 289070 w 609403"/>
                <a:gd name="connsiteY4" fmla="*/ 278098 h 481821"/>
                <a:gd name="connsiteX5" fmla="*/ 289070 w 609403"/>
                <a:gd name="connsiteY5" fmla="*/ 256219 h 481821"/>
                <a:gd name="connsiteX6" fmla="*/ 281768 w 609403"/>
                <a:gd name="connsiteY6" fmla="*/ 248926 h 481821"/>
                <a:gd name="connsiteX7" fmla="*/ 204714 w 609403"/>
                <a:gd name="connsiteY7" fmla="*/ 219317 h 481821"/>
                <a:gd name="connsiteX8" fmla="*/ 206541 w 609403"/>
                <a:gd name="connsiteY8" fmla="*/ 219317 h 481821"/>
                <a:gd name="connsiteX9" fmla="*/ 206541 w 609403"/>
                <a:gd name="connsiteY9" fmla="*/ 277315 h 481821"/>
                <a:gd name="connsiteX10" fmla="*/ 188554 w 609403"/>
                <a:gd name="connsiteY10" fmla="*/ 277315 h 481821"/>
                <a:gd name="connsiteX11" fmla="*/ 167140 w 609403"/>
                <a:gd name="connsiteY11" fmla="*/ 298644 h 481821"/>
                <a:gd name="connsiteX12" fmla="*/ 167140 w 609403"/>
                <a:gd name="connsiteY12" fmla="*/ 389776 h 481821"/>
                <a:gd name="connsiteX13" fmla="*/ 147954 w 609403"/>
                <a:gd name="connsiteY13" fmla="*/ 424279 h 481821"/>
                <a:gd name="connsiteX14" fmla="*/ 165542 w 609403"/>
                <a:gd name="connsiteY14" fmla="*/ 457755 h 481821"/>
                <a:gd name="connsiteX15" fmla="*/ 188040 w 609403"/>
                <a:gd name="connsiteY15" fmla="*/ 457755 h 481821"/>
                <a:gd name="connsiteX16" fmla="*/ 176505 w 609403"/>
                <a:gd name="connsiteY16" fmla="*/ 443155 h 481821"/>
                <a:gd name="connsiteX17" fmla="*/ 176505 w 609403"/>
                <a:gd name="connsiteY17" fmla="*/ 302237 h 481821"/>
                <a:gd name="connsiteX18" fmla="*/ 191580 w 609403"/>
                <a:gd name="connsiteY18" fmla="*/ 287181 h 481821"/>
                <a:gd name="connsiteX19" fmla="*/ 417765 w 609403"/>
                <a:gd name="connsiteY19" fmla="*/ 287181 h 481821"/>
                <a:gd name="connsiteX20" fmla="*/ 432841 w 609403"/>
                <a:gd name="connsiteY20" fmla="*/ 302237 h 481821"/>
                <a:gd name="connsiteX21" fmla="*/ 432841 w 609403"/>
                <a:gd name="connsiteY21" fmla="*/ 443155 h 481821"/>
                <a:gd name="connsiteX22" fmla="*/ 421363 w 609403"/>
                <a:gd name="connsiteY22" fmla="*/ 457755 h 481821"/>
                <a:gd name="connsiteX23" fmla="*/ 443804 w 609403"/>
                <a:gd name="connsiteY23" fmla="*/ 457755 h 481821"/>
                <a:gd name="connsiteX24" fmla="*/ 461392 w 609403"/>
                <a:gd name="connsiteY24" fmla="*/ 424279 h 481821"/>
                <a:gd name="connsiteX25" fmla="*/ 442205 w 609403"/>
                <a:gd name="connsiteY25" fmla="*/ 389776 h 481821"/>
                <a:gd name="connsiteX26" fmla="*/ 442205 w 609403"/>
                <a:gd name="connsiteY26" fmla="*/ 298644 h 481821"/>
                <a:gd name="connsiteX27" fmla="*/ 420849 w 609403"/>
                <a:gd name="connsiteY27" fmla="*/ 277315 h 481821"/>
                <a:gd name="connsiteX28" fmla="*/ 402862 w 609403"/>
                <a:gd name="connsiteY28" fmla="*/ 277315 h 481821"/>
                <a:gd name="connsiteX29" fmla="*/ 402862 w 609403"/>
                <a:gd name="connsiteY29" fmla="*/ 219374 h 481821"/>
                <a:gd name="connsiteX30" fmla="*/ 434782 w 609403"/>
                <a:gd name="connsiteY30" fmla="*/ 233973 h 481821"/>
                <a:gd name="connsiteX31" fmla="*/ 568346 w 609403"/>
                <a:gd name="connsiteY31" fmla="*/ 390233 h 481821"/>
                <a:gd name="connsiteX32" fmla="*/ 568574 w 609403"/>
                <a:gd name="connsiteY32" fmla="*/ 390461 h 481821"/>
                <a:gd name="connsiteX33" fmla="*/ 569374 w 609403"/>
                <a:gd name="connsiteY33" fmla="*/ 391430 h 481821"/>
                <a:gd name="connsiteX34" fmla="*/ 569888 w 609403"/>
                <a:gd name="connsiteY34" fmla="*/ 392115 h 481821"/>
                <a:gd name="connsiteX35" fmla="*/ 570630 w 609403"/>
                <a:gd name="connsiteY35" fmla="*/ 393084 h 481821"/>
                <a:gd name="connsiteX36" fmla="*/ 571087 w 609403"/>
                <a:gd name="connsiteY36" fmla="*/ 393825 h 481821"/>
                <a:gd name="connsiteX37" fmla="*/ 571772 w 609403"/>
                <a:gd name="connsiteY37" fmla="*/ 394795 h 481821"/>
                <a:gd name="connsiteX38" fmla="*/ 572229 w 609403"/>
                <a:gd name="connsiteY38" fmla="*/ 395536 h 481821"/>
                <a:gd name="connsiteX39" fmla="*/ 572800 w 609403"/>
                <a:gd name="connsiteY39" fmla="*/ 396506 h 481821"/>
                <a:gd name="connsiteX40" fmla="*/ 573257 w 609403"/>
                <a:gd name="connsiteY40" fmla="*/ 397304 h 481821"/>
                <a:gd name="connsiteX41" fmla="*/ 573771 w 609403"/>
                <a:gd name="connsiteY41" fmla="*/ 398274 h 481821"/>
                <a:gd name="connsiteX42" fmla="*/ 574228 w 609403"/>
                <a:gd name="connsiteY42" fmla="*/ 399129 h 481821"/>
                <a:gd name="connsiteX43" fmla="*/ 574627 w 609403"/>
                <a:gd name="connsiteY43" fmla="*/ 400099 h 481821"/>
                <a:gd name="connsiteX44" fmla="*/ 575027 w 609403"/>
                <a:gd name="connsiteY44" fmla="*/ 401011 h 481821"/>
                <a:gd name="connsiteX45" fmla="*/ 575484 w 609403"/>
                <a:gd name="connsiteY45" fmla="*/ 402038 h 481821"/>
                <a:gd name="connsiteX46" fmla="*/ 575826 w 609403"/>
                <a:gd name="connsiteY46" fmla="*/ 402893 h 481821"/>
                <a:gd name="connsiteX47" fmla="*/ 576169 w 609403"/>
                <a:gd name="connsiteY47" fmla="*/ 403977 h 481821"/>
                <a:gd name="connsiteX48" fmla="*/ 576455 w 609403"/>
                <a:gd name="connsiteY48" fmla="*/ 404832 h 481821"/>
                <a:gd name="connsiteX49" fmla="*/ 576797 w 609403"/>
                <a:gd name="connsiteY49" fmla="*/ 405973 h 481821"/>
                <a:gd name="connsiteX50" fmla="*/ 577026 w 609403"/>
                <a:gd name="connsiteY50" fmla="*/ 406771 h 481821"/>
                <a:gd name="connsiteX51" fmla="*/ 577311 w 609403"/>
                <a:gd name="connsiteY51" fmla="*/ 407912 h 481821"/>
                <a:gd name="connsiteX52" fmla="*/ 577482 w 609403"/>
                <a:gd name="connsiteY52" fmla="*/ 408767 h 481821"/>
                <a:gd name="connsiteX53" fmla="*/ 577711 w 609403"/>
                <a:gd name="connsiteY53" fmla="*/ 409851 h 481821"/>
                <a:gd name="connsiteX54" fmla="*/ 577882 w 609403"/>
                <a:gd name="connsiteY54" fmla="*/ 410820 h 481821"/>
                <a:gd name="connsiteX55" fmla="*/ 577996 w 609403"/>
                <a:gd name="connsiteY55" fmla="*/ 411790 h 481821"/>
                <a:gd name="connsiteX56" fmla="*/ 578111 w 609403"/>
                <a:gd name="connsiteY56" fmla="*/ 412873 h 481821"/>
                <a:gd name="connsiteX57" fmla="*/ 578225 w 609403"/>
                <a:gd name="connsiteY57" fmla="*/ 413786 h 481821"/>
                <a:gd name="connsiteX58" fmla="*/ 578282 w 609403"/>
                <a:gd name="connsiteY58" fmla="*/ 414926 h 481821"/>
                <a:gd name="connsiteX59" fmla="*/ 578339 w 609403"/>
                <a:gd name="connsiteY59" fmla="*/ 415839 h 481821"/>
                <a:gd name="connsiteX60" fmla="*/ 578396 w 609403"/>
                <a:gd name="connsiteY60" fmla="*/ 417036 h 481821"/>
                <a:gd name="connsiteX61" fmla="*/ 578396 w 609403"/>
                <a:gd name="connsiteY61" fmla="*/ 417378 h 481821"/>
                <a:gd name="connsiteX62" fmla="*/ 578339 w 609403"/>
                <a:gd name="connsiteY62" fmla="*/ 418006 h 481821"/>
                <a:gd name="connsiteX63" fmla="*/ 578339 w 609403"/>
                <a:gd name="connsiteY63" fmla="*/ 419089 h 481821"/>
                <a:gd name="connsiteX64" fmla="*/ 578282 w 609403"/>
                <a:gd name="connsiteY64" fmla="*/ 420173 h 481821"/>
                <a:gd name="connsiteX65" fmla="*/ 578225 w 609403"/>
                <a:gd name="connsiteY65" fmla="*/ 421028 h 481821"/>
                <a:gd name="connsiteX66" fmla="*/ 578053 w 609403"/>
                <a:gd name="connsiteY66" fmla="*/ 422283 h 481821"/>
                <a:gd name="connsiteX67" fmla="*/ 577996 w 609403"/>
                <a:gd name="connsiteY67" fmla="*/ 422967 h 481821"/>
                <a:gd name="connsiteX68" fmla="*/ 577768 w 609403"/>
                <a:gd name="connsiteY68" fmla="*/ 424393 h 481821"/>
                <a:gd name="connsiteX69" fmla="*/ 577711 w 609403"/>
                <a:gd name="connsiteY69" fmla="*/ 424906 h 481821"/>
                <a:gd name="connsiteX70" fmla="*/ 577368 w 609403"/>
                <a:gd name="connsiteY70" fmla="*/ 426389 h 481821"/>
                <a:gd name="connsiteX71" fmla="*/ 577311 w 609403"/>
                <a:gd name="connsiteY71" fmla="*/ 426845 h 481821"/>
                <a:gd name="connsiteX72" fmla="*/ 576911 w 609403"/>
                <a:gd name="connsiteY72" fmla="*/ 428385 h 481821"/>
                <a:gd name="connsiteX73" fmla="*/ 576797 w 609403"/>
                <a:gd name="connsiteY73" fmla="*/ 428784 h 481821"/>
                <a:gd name="connsiteX74" fmla="*/ 576340 w 609403"/>
                <a:gd name="connsiteY74" fmla="*/ 430324 h 481821"/>
                <a:gd name="connsiteX75" fmla="*/ 576169 w 609403"/>
                <a:gd name="connsiteY75" fmla="*/ 430780 h 481821"/>
                <a:gd name="connsiteX76" fmla="*/ 575655 w 609403"/>
                <a:gd name="connsiteY76" fmla="*/ 432149 h 481821"/>
                <a:gd name="connsiteX77" fmla="*/ 575427 w 609403"/>
                <a:gd name="connsiteY77" fmla="*/ 432833 h 481821"/>
                <a:gd name="connsiteX78" fmla="*/ 574913 w 609403"/>
                <a:gd name="connsiteY78" fmla="*/ 433974 h 481821"/>
                <a:gd name="connsiteX79" fmla="*/ 574570 w 609403"/>
                <a:gd name="connsiteY79" fmla="*/ 434829 h 481821"/>
                <a:gd name="connsiteX80" fmla="*/ 574113 w 609403"/>
                <a:gd name="connsiteY80" fmla="*/ 435742 h 481821"/>
                <a:gd name="connsiteX81" fmla="*/ 573599 w 609403"/>
                <a:gd name="connsiteY81" fmla="*/ 436768 h 481821"/>
                <a:gd name="connsiteX82" fmla="*/ 573200 w 609403"/>
                <a:gd name="connsiteY82" fmla="*/ 437510 h 481821"/>
                <a:gd name="connsiteX83" fmla="*/ 572514 w 609403"/>
                <a:gd name="connsiteY83" fmla="*/ 438650 h 481821"/>
                <a:gd name="connsiteX84" fmla="*/ 572172 w 609403"/>
                <a:gd name="connsiteY84" fmla="*/ 439220 h 481821"/>
                <a:gd name="connsiteX85" fmla="*/ 571430 w 609403"/>
                <a:gd name="connsiteY85" fmla="*/ 440418 h 481821"/>
                <a:gd name="connsiteX86" fmla="*/ 571087 w 609403"/>
                <a:gd name="connsiteY86" fmla="*/ 440874 h 481821"/>
                <a:gd name="connsiteX87" fmla="*/ 570230 w 609403"/>
                <a:gd name="connsiteY87" fmla="*/ 442129 h 481821"/>
                <a:gd name="connsiteX88" fmla="*/ 569888 w 609403"/>
                <a:gd name="connsiteY88" fmla="*/ 442528 h 481821"/>
                <a:gd name="connsiteX89" fmla="*/ 569031 w 609403"/>
                <a:gd name="connsiteY89" fmla="*/ 443669 h 481821"/>
                <a:gd name="connsiteX90" fmla="*/ 568632 w 609403"/>
                <a:gd name="connsiteY90" fmla="*/ 444182 h 481821"/>
                <a:gd name="connsiteX91" fmla="*/ 567775 w 609403"/>
                <a:gd name="connsiteY91" fmla="*/ 445151 h 481821"/>
                <a:gd name="connsiteX92" fmla="*/ 567204 w 609403"/>
                <a:gd name="connsiteY92" fmla="*/ 445779 h 481821"/>
                <a:gd name="connsiteX93" fmla="*/ 566404 w 609403"/>
                <a:gd name="connsiteY93" fmla="*/ 446577 h 481821"/>
                <a:gd name="connsiteX94" fmla="*/ 565719 w 609403"/>
                <a:gd name="connsiteY94" fmla="*/ 447319 h 481821"/>
                <a:gd name="connsiteX95" fmla="*/ 564977 w 609403"/>
                <a:gd name="connsiteY95" fmla="*/ 448003 h 481821"/>
                <a:gd name="connsiteX96" fmla="*/ 564063 w 609403"/>
                <a:gd name="connsiteY96" fmla="*/ 448801 h 481821"/>
                <a:gd name="connsiteX97" fmla="*/ 563721 w 609403"/>
                <a:gd name="connsiteY97" fmla="*/ 449143 h 481821"/>
                <a:gd name="connsiteX98" fmla="*/ 563492 w 609403"/>
                <a:gd name="connsiteY98" fmla="*/ 449315 h 481821"/>
                <a:gd name="connsiteX99" fmla="*/ 562464 w 609403"/>
                <a:gd name="connsiteY99" fmla="*/ 450170 h 481821"/>
                <a:gd name="connsiteX100" fmla="*/ 561836 w 609403"/>
                <a:gd name="connsiteY100" fmla="*/ 450626 h 481821"/>
                <a:gd name="connsiteX101" fmla="*/ 560751 w 609403"/>
                <a:gd name="connsiteY101" fmla="*/ 451425 h 481821"/>
                <a:gd name="connsiteX102" fmla="*/ 560123 w 609403"/>
                <a:gd name="connsiteY102" fmla="*/ 451881 h 481821"/>
                <a:gd name="connsiteX103" fmla="*/ 559095 w 609403"/>
                <a:gd name="connsiteY103" fmla="*/ 452565 h 481821"/>
                <a:gd name="connsiteX104" fmla="*/ 558410 w 609403"/>
                <a:gd name="connsiteY104" fmla="*/ 452964 h 481821"/>
                <a:gd name="connsiteX105" fmla="*/ 557382 w 609403"/>
                <a:gd name="connsiteY105" fmla="*/ 453592 h 481821"/>
                <a:gd name="connsiteX106" fmla="*/ 556583 w 609403"/>
                <a:gd name="connsiteY106" fmla="*/ 454048 h 481821"/>
                <a:gd name="connsiteX107" fmla="*/ 555612 w 609403"/>
                <a:gd name="connsiteY107" fmla="*/ 454561 h 481821"/>
                <a:gd name="connsiteX108" fmla="*/ 554755 w 609403"/>
                <a:gd name="connsiteY108" fmla="*/ 454960 h 481821"/>
                <a:gd name="connsiteX109" fmla="*/ 553785 w 609403"/>
                <a:gd name="connsiteY109" fmla="*/ 455417 h 481821"/>
                <a:gd name="connsiteX110" fmla="*/ 552928 w 609403"/>
                <a:gd name="connsiteY110" fmla="*/ 455816 h 481821"/>
                <a:gd name="connsiteX111" fmla="*/ 551843 w 609403"/>
                <a:gd name="connsiteY111" fmla="*/ 456215 h 481821"/>
                <a:gd name="connsiteX112" fmla="*/ 551044 w 609403"/>
                <a:gd name="connsiteY112" fmla="*/ 456557 h 481821"/>
                <a:gd name="connsiteX113" fmla="*/ 549902 w 609403"/>
                <a:gd name="connsiteY113" fmla="*/ 456956 h 481821"/>
                <a:gd name="connsiteX114" fmla="*/ 549102 w 609403"/>
                <a:gd name="connsiteY114" fmla="*/ 457242 h 481821"/>
                <a:gd name="connsiteX115" fmla="*/ 547960 w 609403"/>
                <a:gd name="connsiteY115" fmla="*/ 457527 h 481821"/>
                <a:gd name="connsiteX116" fmla="*/ 547218 w 609403"/>
                <a:gd name="connsiteY116" fmla="*/ 457755 h 481821"/>
                <a:gd name="connsiteX117" fmla="*/ 609403 w 609403"/>
                <a:gd name="connsiteY117" fmla="*/ 457755 h 481821"/>
                <a:gd name="connsiteX118" fmla="*/ 609403 w 609403"/>
                <a:gd name="connsiteY118" fmla="*/ 481821 h 481821"/>
                <a:gd name="connsiteX119" fmla="*/ 0 w 609403"/>
                <a:gd name="connsiteY119" fmla="*/ 481821 h 481821"/>
                <a:gd name="connsiteX120" fmla="*/ 0 w 609403"/>
                <a:gd name="connsiteY120" fmla="*/ 457755 h 481821"/>
                <a:gd name="connsiteX121" fmla="*/ 62185 w 609403"/>
                <a:gd name="connsiteY121" fmla="*/ 457755 h 481821"/>
                <a:gd name="connsiteX122" fmla="*/ 61443 w 609403"/>
                <a:gd name="connsiteY122" fmla="*/ 457584 h 481821"/>
                <a:gd name="connsiteX123" fmla="*/ 60301 w 609403"/>
                <a:gd name="connsiteY123" fmla="*/ 457242 h 481821"/>
                <a:gd name="connsiteX124" fmla="*/ 59501 w 609403"/>
                <a:gd name="connsiteY124" fmla="*/ 456956 h 481821"/>
                <a:gd name="connsiteX125" fmla="*/ 58359 w 609403"/>
                <a:gd name="connsiteY125" fmla="*/ 456557 h 481821"/>
                <a:gd name="connsiteX126" fmla="*/ 57560 w 609403"/>
                <a:gd name="connsiteY126" fmla="*/ 456272 h 481821"/>
                <a:gd name="connsiteX127" fmla="*/ 56475 w 609403"/>
                <a:gd name="connsiteY127" fmla="*/ 455816 h 481821"/>
                <a:gd name="connsiteX128" fmla="*/ 55618 w 609403"/>
                <a:gd name="connsiteY128" fmla="*/ 455417 h 481821"/>
                <a:gd name="connsiteX129" fmla="*/ 54590 w 609403"/>
                <a:gd name="connsiteY129" fmla="*/ 454960 h 481821"/>
                <a:gd name="connsiteX130" fmla="*/ 53791 w 609403"/>
                <a:gd name="connsiteY130" fmla="*/ 454561 h 481821"/>
                <a:gd name="connsiteX131" fmla="*/ 52763 w 609403"/>
                <a:gd name="connsiteY131" fmla="*/ 454048 h 481821"/>
                <a:gd name="connsiteX132" fmla="*/ 52021 w 609403"/>
                <a:gd name="connsiteY132" fmla="*/ 453592 h 481821"/>
                <a:gd name="connsiteX133" fmla="*/ 50993 w 609403"/>
                <a:gd name="connsiteY133" fmla="*/ 453021 h 481821"/>
                <a:gd name="connsiteX134" fmla="*/ 50308 w 609403"/>
                <a:gd name="connsiteY134" fmla="*/ 452565 h 481821"/>
                <a:gd name="connsiteX135" fmla="*/ 49280 w 609403"/>
                <a:gd name="connsiteY135" fmla="*/ 451881 h 481821"/>
                <a:gd name="connsiteX136" fmla="*/ 48595 w 609403"/>
                <a:gd name="connsiteY136" fmla="*/ 451425 h 481821"/>
                <a:gd name="connsiteX137" fmla="*/ 47567 w 609403"/>
                <a:gd name="connsiteY137" fmla="*/ 450626 h 481821"/>
                <a:gd name="connsiteX138" fmla="*/ 46939 w 609403"/>
                <a:gd name="connsiteY138" fmla="*/ 450170 h 481821"/>
                <a:gd name="connsiteX139" fmla="*/ 45911 w 609403"/>
                <a:gd name="connsiteY139" fmla="*/ 449315 h 481821"/>
                <a:gd name="connsiteX140" fmla="*/ 45682 w 609403"/>
                <a:gd name="connsiteY140" fmla="*/ 449143 h 481821"/>
                <a:gd name="connsiteX141" fmla="*/ 45283 w 609403"/>
                <a:gd name="connsiteY141" fmla="*/ 448801 h 481821"/>
                <a:gd name="connsiteX142" fmla="*/ 44369 w 609403"/>
                <a:gd name="connsiteY142" fmla="*/ 448003 h 481821"/>
                <a:gd name="connsiteX143" fmla="*/ 43684 w 609403"/>
                <a:gd name="connsiteY143" fmla="*/ 447319 h 481821"/>
                <a:gd name="connsiteX144" fmla="*/ 42941 w 609403"/>
                <a:gd name="connsiteY144" fmla="*/ 446577 h 481821"/>
                <a:gd name="connsiteX145" fmla="*/ 42199 w 609403"/>
                <a:gd name="connsiteY145" fmla="*/ 445779 h 481821"/>
                <a:gd name="connsiteX146" fmla="*/ 41628 w 609403"/>
                <a:gd name="connsiteY146" fmla="*/ 445151 h 481821"/>
                <a:gd name="connsiteX147" fmla="*/ 40772 w 609403"/>
                <a:gd name="connsiteY147" fmla="*/ 444182 h 481821"/>
                <a:gd name="connsiteX148" fmla="*/ 40372 w 609403"/>
                <a:gd name="connsiteY148" fmla="*/ 443669 h 481821"/>
                <a:gd name="connsiteX149" fmla="*/ 39458 w 609403"/>
                <a:gd name="connsiteY149" fmla="*/ 442585 h 481821"/>
                <a:gd name="connsiteX150" fmla="*/ 39173 w 609403"/>
                <a:gd name="connsiteY150" fmla="*/ 442129 h 481821"/>
                <a:gd name="connsiteX151" fmla="*/ 38316 w 609403"/>
                <a:gd name="connsiteY151" fmla="*/ 440931 h 481821"/>
                <a:gd name="connsiteX152" fmla="*/ 37973 w 609403"/>
                <a:gd name="connsiteY152" fmla="*/ 440475 h 481821"/>
                <a:gd name="connsiteX153" fmla="*/ 37174 w 609403"/>
                <a:gd name="connsiteY153" fmla="*/ 439220 h 481821"/>
                <a:gd name="connsiteX154" fmla="*/ 36889 w 609403"/>
                <a:gd name="connsiteY154" fmla="*/ 438650 h 481821"/>
                <a:gd name="connsiteX155" fmla="*/ 36203 w 609403"/>
                <a:gd name="connsiteY155" fmla="*/ 437510 h 481821"/>
                <a:gd name="connsiteX156" fmla="*/ 35804 w 609403"/>
                <a:gd name="connsiteY156" fmla="*/ 436825 h 481821"/>
                <a:gd name="connsiteX157" fmla="*/ 35290 w 609403"/>
                <a:gd name="connsiteY157" fmla="*/ 435799 h 481821"/>
                <a:gd name="connsiteX158" fmla="*/ 34833 w 609403"/>
                <a:gd name="connsiteY158" fmla="*/ 434829 h 481821"/>
                <a:gd name="connsiteX159" fmla="*/ 34490 w 609403"/>
                <a:gd name="connsiteY159" fmla="*/ 433974 h 481821"/>
                <a:gd name="connsiteX160" fmla="*/ 33976 w 609403"/>
                <a:gd name="connsiteY160" fmla="*/ 432833 h 481821"/>
                <a:gd name="connsiteX161" fmla="*/ 33748 w 609403"/>
                <a:gd name="connsiteY161" fmla="*/ 432206 h 481821"/>
                <a:gd name="connsiteX162" fmla="*/ 33234 w 609403"/>
                <a:gd name="connsiteY162" fmla="*/ 430780 h 481821"/>
                <a:gd name="connsiteX163" fmla="*/ 33063 w 609403"/>
                <a:gd name="connsiteY163" fmla="*/ 430324 h 481821"/>
                <a:gd name="connsiteX164" fmla="*/ 32606 w 609403"/>
                <a:gd name="connsiteY164" fmla="*/ 428784 h 481821"/>
                <a:gd name="connsiteX165" fmla="*/ 32492 w 609403"/>
                <a:gd name="connsiteY165" fmla="*/ 428385 h 481821"/>
                <a:gd name="connsiteX166" fmla="*/ 32092 w 609403"/>
                <a:gd name="connsiteY166" fmla="*/ 426845 h 481821"/>
                <a:gd name="connsiteX167" fmla="*/ 32035 w 609403"/>
                <a:gd name="connsiteY167" fmla="*/ 426446 h 481821"/>
                <a:gd name="connsiteX168" fmla="*/ 31692 w 609403"/>
                <a:gd name="connsiteY168" fmla="*/ 424906 h 481821"/>
                <a:gd name="connsiteX169" fmla="*/ 31635 w 609403"/>
                <a:gd name="connsiteY169" fmla="*/ 424393 h 481821"/>
                <a:gd name="connsiteX170" fmla="*/ 31407 w 609403"/>
                <a:gd name="connsiteY170" fmla="*/ 423024 h 481821"/>
                <a:gd name="connsiteX171" fmla="*/ 31292 w 609403"/>
                <a:gd name="connsiteY171" fmla="*/ 422283 h 481821"/>
                <a:gd name="connsiteX172" fmla="*/ 31178 w 609403"/>
                <a:gd name="connsiteY172" fmla="*/ 421028 h 481821"/>
                <a:gd name="connsiteX173" fmla="*/ 31121 w 609403"/>
                <a:gd name="connsiteY173" fmla="*/ 420173 h 481821"/>
                <a:gd name="connsiteX174" fmla="*/ 31064 w 609403"/>
                <a:gd name="connsiteY174" fmla="*/ 419089 h 481821"/>
                <a:gd name="connsiteX175" fmla="*/ 31007 w 609403"/>
                <a:gd name="connsiteY175" fmla="*/ 418006 h 481821"/>
                <a:gd name="connsiteX176" fmla="*/ 31007 w 609403"/>
                <a:gd name="connsiteY176" fmla="*/ 417378 h 481821"/>
                <a:gd name="connsiteX177" fmla="*/ 31007 w 609403"/>
                <a:gd name="connsiteY177" fmla="*/ 417036 h 481821"/>
                <a:gd name="connsiteX178" fmla="*/ 31064 w 609403"/>
                <a:gd name="connsiteY178" fmla="*/ 415839 h 481821"/>
                <a:gd name="connsiteX179" fmla="*/ 31064 w 609403"/>
                <a:gd name="connsiteY179" fmla="*/ 414983 h 481821"/>
                <a:gd name="connsiteX180" fmla="*/ 31178 w 609403"/>
                <a:gd name="connsiteY180" fmla="*/ 413786 h 481821"/>
                <a:gd name="connsiteX181" fmla="*/ 31235 w 609403"/>
                <a:gd name="connsiteY181" fmla="*/ 412873 h 481821"/>
                <a:gd name="connsiteX182" fmla="*/ 31407 w 609403"/>
                <a:gd name="connsiteY182" fmla="*/ 411790 h 481821"/>
                <a:gd name="connsiteX183" fmla="*/ 31521 w 609403"/>
                <a:gd name="connsiteY183" fmla="*/ 410820 h 481821"/>
                <a:gd name="connsiteX184" fmla="*/ 31692 w 609403"/>
                <a:gd name="connsiteY184" fmla="*/ 409851 h 481821"/>
                <a:gd name="connsiteX185" fmla="*/ 31921 w 609403"/>
                <a:gd name="connsiteY185" fmla="*/ 408767 h 481821"/>
                <a:gd name="connsiteX186" fmla="*/ 32092 w 609403"/>
                <a:gd name="connsiteY186" fmla="*/ 407912 h 481821"/>
                <a:gd name="connsiteX187" fmla="*/ 32377 w 609403"/>
                <a:gd name="connsiteY187" fmla="*/ 406771 h 481821"/>
                <a:gd name="connsiteX188" fmla="*/ 32606 w 609403"/>
                <a:gd name="connsiteY188" fmla="*/ 405973 h 481821"/>
                <a:gd name="connsiteX189" fmla="*/ 32948 w 609403"/>
                <a:gd name="connsiteY189" fmla="*/ 404832 h 481821"/>
                <a:gd name="connsiteX190" fmla="*/ 33234 w 609403"/>
                <a:gd name="connsiteY190" fmla="*/ 403977 h 481821"/>
                <a:gd name="connsiteX191" fmla="*/ 33577 w 609403"/>
                <a:gd name="connsiteY191" fmla="*/ 402893 h 481821"/>
                <a:gd name="connsiteX192" fmla="*/ 33919 w 609403"/>
                <a:gd name="connsiteY192" fmla="*/ 402038 h 481821"/>
                <a:gd name="connsiteX193" fmla="*/ 34319 w 609403"/>
                <a:gd name="connsiteY193" fmla="*/ 401011 h 481821"/>
                <a:gd name="connsiteX194" fmla="*/ 34719 w 609403"/>
                <a:gd name="connsiteY194" fmla="*/ 400099 h 481821"/>
                <a:gd name="connsiteX195" fmla="*/ 35175 w 609403"/>
                <a:gd name="connsiteY195" fmla="*/ 399129 h 481821"/>
                <a:gd name="connsiteX196" fmla="*/ 35632 w 609403"/>
                <a:gd name="connsiteY196" fmla="*/ 398274 h 481821"/>
                <a:gd name="connsiteX197" fmla="*/ 36146 w 609403"/>
                <a:gd name="connsiteY197" fmla="*/ 397361 h 481821"/>
                <a:gd name="connsiteX198" fmla="*/ 36603 w 609403"/>
                <a:gd name="connsiteY198" fmla="*/ 396506 h 481821"/>
                <a:gd name="connsiteX199" fmla="*/ 37174 w 609403"/>
                <a:gd name="connsiteY199" fmla="*/ 395536 h 481821"/>
                <a:gd name="connsiteX200" fmla="*/ 37631 w 609403"/>
                <a:gd name="connsiteY200" fmla="*/ 394795 h 481821"/>
                <a:gd name="connsiteX201" fmla="*/ 38316 w 609403"/>
                <a:gd name="connsiteY201" fmla="*/ 393825 h 481821"/>
                <a:gd name="connsiteX202" fmla="*/ 38773 w 609403"/>
                <a:gd name="connsiteY202" fmla="*/ 393084 h 481821"/>
                <a:gd name="connsiteX203" fmla="*/ 39515 w 609403"/>
                <a:gd name="connsiteY203" fmla="*/ 392115 h 481821"/>
                <a:gd name="connsiteX204" fmla="*/ 40029 w 609403"/>
                <a:gd name="connsiteY204" fmla="*/ 391430 h 481821"/>
                <a:gd name="connsiteX205" fmla="*/ 40829 w 609403"/>
                <a:gd name="connsiteY205" fmla="*/ 390461 h 481821"/>
                <a:gd name="connsiteX206" fmla="*/ 41057 w 609403"/>
                <a:gd name="connsiteY206" fmla="*/ 390233 h 481821"/>
                <a:gd name="connsiteX207" fmla="*/ 174621 w 609403"/>
                <a:gd name="connsiteY207" fmla="*/ 233973 h 481821"/>
                <a:gd name="connsiteX208" fmla="*/ 204714 w 609403"/>
                <a:gd name="connsiteY208" fmla="*/ 219374 h 481821"/>
                <a:gd name="connsiteX209" fmla="*/ 302867 w 609403"/>
                <a:gd name="connsiteY209" fmla="*/ 0 h 481821"/>
                <a:gd name="connsiteX210" fmla="*/ 406457 w 609403"/>
                <a:gd name="connsiteY210" fmla="*/ 103379 h 481821"/>
                <a:gd name="connsiteX211" fmla="*/ 302867 w 609403"/>
                <a:gd name="connsiteY211" fmla="*/ 206758 h 481821"/>
                <a:gd name="connsiteX212" fmla="*/ 199277 w 609403"/>
                <a:gd name="connsiteY212" fmla="*/ 103379 h 481821"/>
                <a:gd name="connsiteX213" fmla="*/ 302867 w 609403"/>
                <a:gd name="connsiteY213" fmla="*/ 0 h 481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609403" h="481821">
                  <a:moveTo>
                    <a:pt x="304702" y="226021"/>
                  </a:moveTo>
                  <a:lnTo>
                    <a:pt x="327636" y="248926"/>
                  </a:lnTo>
                  <a:lnTo>
                    <a:pt x="320334" y="256219"/>
                  </a:lnTo>
                  <a:lnTo>
                    <a:pt x="320334" y="278098"/>
                  </a:lnTo>
                  <a:lnTo>
                    <a:pt x="289070" y="278098"/>
                  </a:lnTo>
                  <a:lnTo>
                    <a:pt x="289070" y="256219"/>
                  </a:lnTo>
                  <a:lnTo>
                    <a:pt x="281768" y="248926"/>
                  </a:lnTo>
                  <a:close/>
                  <a:moveTo>
                    <a:pt x="204714" y="219317"/>
                  </a:moveTo>
                  <a:lnTo>
                    <a:pt x="206541" y="219317"/>
                  </a:lnTo>
                  <a:lnTo>
                    <a:pt x="206541" y="277315"/>
                  </a:lnTo>
                  <a:lnTo>
                    <a:pt x="188554" y="277315"/>
                  </a:lnTo>
                  <a:cubicBezTo>
                    <a:pt x="176734" y="277315"/>
                    <a:pt x="167140" y="286896"/>
                    <a:pt x="167140" y="298644"/>
                  </a:cubicBezTo>
                  <a:lnTo>
                    <a:pt x="167140" y="389776"/>
                  </a:lnTo>
                  <a:cubicBezTo>
                    <a:pt x="155663" y="396962"/>
                    <a:pt x="147954" y="409736"/>
                    <a:pt x="147954" y="424279"/>
                  </a:cubicBezTo>
                  <a:cubicBezTo>
                    <a:pt x="147954" y="438194"/>
                    <a:pt x="154920" y="450398"/>
                    <a:pt x="165542" y="457755"/>
                  </a:cubicBezTo>
                  <a:lnTo>
                    <a:pt x="188040" y="457755"/>
                  </a:lnTo>
                  <a:cubicBezTo>
                    <a:pt x="181416" y="456158"/>
                    <a:pt x="176505" y="450227"/>
                    <a:pt x="176505" y="443155"/>
                  </a:cubicBezTo>
                  <a:lnTo>
                    <a:pt x="176505" y="302237"/>
                  </a:lnTo>
                  <a:cubicBezTo>
                    <a:pt x="176505" y="293911"/>
                    <a:pt x="183301" y="287181"/>
                    <a:pt x="191580" y="287181"/>
                  </a:cubicBezTo>
                  <a:lnTo>
                    <a:pt x="417765" y="287181"/>
                  </a:lnTo>
                  <a:cubicBezTo>
                    <a:pt x="426102" y="287181"/>
                    <a:pt x="432841" y="293911"/>
                    <a:pt x="432841" y="302237"/>
                  </a:cubicBezTo>
                  <a:lnTo>
                    <a:pt x="432841" y="443155"/>
                  </a:lnTo>
                  <a:cubicBezTo>
                    <a:pt x="432841" y="450227"/>
                    <a:pt x="427930" y="456158"/>
                    <a:pt x="421363" y="457755"/>
                  </a:cubicBezTo>
                  <a:lnTo>
                    <a:pt x="443804" y="457755"/>
                  </a:lnTo>
                  <a:cubicBezTo>
                    <a:pt x="454426" y="450398"/>
                    <a:pt x="461392" y="438194"/>
                    <a:pt x="461392" y="424279"/>
                  </a:cubicBezTo>
                  <a:cubicBezTo>
                    <a:pt x="461392" y="409736"/>
                    <a:pt x="453740" y="396962"/>
                    <a:pt x="442205" y="389776"/>
                  </a:cubicBezTo>
                  <a:lnTo>
                    <a:pt x="442205" y="298644"/>
                  </a:lnTo>
                  <a:cubicBezTo>
                    <a:pt x="442205" y="286896"/>
                    <a:pt x="432612" y="277315"/>
                    <a:pt x="420849" y="277315"/>
                  </a:cubicBezTo>
                  <a:lnTo>
                    <a:pt x="402862" y="277315"/>
                  </a:lnTo>
                  <a:lnTo>
                    <a:pt x="402862" y="219374"/>
                  </a:lnTo>
                  <a:cubicBezTo>
                    <a:pt x="414682" y="219317"/>
                    <a:pt x="426502" y="224279"/>
                    <a:pt x="434782" y="233973"/>
                  </a:cubicBezTo>
                  <a:lnTo>
                    <a:pt x="568346" y="390233"/>
                  </a:lnTo>
                  <a:cubicBezTo>
                    <a:pt x="568460" y="390290"/>
                    <a:pt x="568517" y="390404"/>
                    <a:pt x="568574" y="390461"/>
                  </a:cubicBezTo>
                  <a:cubicBezTo>
                    <a:pt x="568860" y="390803"/>
                    <a:pt x="569088" y="391145"/>
                    <a:pt x="569374" y="391430"/>
                  </a:cubicBezTo>
                  <a:cubicBezTo>
                    <a:pt x="569545" y="391658"/>
                    <a:pt x="569716" y="391886"/>
                    <a:pt x="569888" y="392115"/>
                  </a:cubicBezTo>
                  <a:cubicBezTo>
                    <a:pt x="570116" y="392457"/>
                    <a:pt x="570345" y="392742"/>
                    <a:pt x="570630" y="393084"/>
                  </a:cubicBezTo>
                  <a:cubicBezTo>
                    <a:pt x="570744" y="393312"/>
                    <a:pt x="570916" y="393540"/>
                    <a:pt x="571087" y="393825"/>
                  </a:cubicBezTo>
                  <a:cubicBezTo>
                    <a:pt x="571315" y="394111"/>
                    <a:pt x="571544" y="394453"/>
                    <a:pt x="571772" y="394795"/>
                  </a:cubicBezTo>
                  <a:cubicBezTo>
                    <a:pt x="571886" y="395023"/>
                    <a:pt x="572058" y="395308"/>
                    <a:pt x="572229" y="395536"/>
                  </a:cubicBezTo>
                  <a:cubicBezTo>
                    <a:pt x="572400" y="395878"/>
                    <a:pt x="572629" y="396164"/>
                    <a:pt x="572800" y="396506"/>
                  </a:cubicBezTo>
                  <a:cubicBezTo>
                    <a:pt x="572971" y="396791"/>
                    <a:pt x="573086" y="397076"/>
                    <a:pt x="573257" y="397304"/>
                  </a:cubicBezTo>
                  <a:cubicBezTo>
                    <a:pt x="573428" y="397646"/>
                    <a:pt x="573599" y="397931"/>
                    <a:pt x="573771" y="398274"/>
                  </a:cubicBezTo>
                  <a:cubicBezTo>
                    <a:pt x="573885" y="398559"/>
                    <a:pt x="574056" y="398844"/>
                    <a:pt x="574228" y="399129"/>
                  </a:cubicBezTo>
                  <a:cubicBezTo>
                    <a:pt x="574342" y="399471"/>
                    <a:pt x="574513" y="399813"/>
                    <a:pt x="574627" y="400099"/>
                  </a:cubicBezTo>
                  <a:cubicBezTo>
                    <a:pt x="574799" y="400384"/>
                    <a:pt x="574913" y="400726"/>
                    <a:pt x="575027" y="401011"/>
                  </a:cubicBezTo>
                  <a:cubicBezTo>
                    <a:pt x="575198" y="401353"/>
                    <a:pt x="575312" y="401695"/>
                    <a:pt x="575484" y="402038"/>
                  </a:cubicBezTo>
                  <a:cubicBezTo>
                    <a:pt x="575598" y="402323"/>
                    <a:pt x="575712" y="402608"/>
                    <a:pt x="575826" y="402893"/>
                  </a:cubicBezTo>
                  <a:cubicBezTo>
                    <a:pt x="575941" y="403235"/>
                    <a:pt x="576055" y="403634"/>
                    <a:pt x="576169" y="403977"/>
                  </a:cubicBezTo>
                  <a:cubicBezTo>
                    <a:pt x="576283" y="404262"/>
                    <a:pt x="576398" y="404547"/>
                    <a:pt x="576455" y="404832"/>
                  </a:cubicBezTo>
                  <a:cubicBezTo>
                    <a:pt x="576569" y="405174"/>
                    <a:pt x="576683" y="405573"/>
                    <a:pt x="576797" y="405973"/>
                  </a:cubicBezTo>
                  <a:cubicBezTo>
                    <a:pt x="576854" y="406201"/>
                    <a:pt x="576968" y="406486"/>
                    <a:pt x="577026" y="406771"/>
                  </a:cubicBezTo>
                  <a:cubicBezTo>
                    <a:pt x="577140" y="407170"/>
                    <a:pt x="577197" y="407512"/>
                    <a:pt x="577311" y="407912"/>
                  </a:cubicBezTo>
                  <a:cubicBezTo>
                    <a:pt x="577368" y="408197"/>
                    <a:pt x="577425" y="408482"/>
                    <a:pt x="577482" y="408767"/>
                  </a:cubicBezTo>
                  <a:cubicBezTo>
                    <a:pt x="577540" y="409109"/>
                    <a:pt x="577654" y="409508"/>
                    <a:pt x="577711" y="409851"/>
                  </a:cubicBezTo>
                  <a:cubicBezTo>
                    <a:pt x="577768" y="410136"/>
                    <a:pt x="577825" y="410478"/>
                    <a:pt x="577882" y="410820"/>
                  </a:cubicBezTo>
                  <a:cubicBezTo>
                    <a:pt x="577939" y="411162"/>
                    <a:pt x="577939" y="411447"/>
                    <a:pt x="577996" y="411790"/>
                  </a:cubicBezTo>
                  <a:cubicBezTo>
                    <a:pt x="578053" y="412132"/>
                    <a:pt x="578111" y="412531"/>
                    <a:pt x="578111" y="412873"/>
                  </a:cubicBezTo>
                  <a:cubicBezTo>
                    <a:pt x="578168" y="413158"/>
                    <a:pt x="578168" y="413500"/>
                    <a:pt x="578225" y="413786"/>
                  </a:cubicBezTo>
                  <a:cubicBezTo>
                    <a:pt x="578282" y="414185"/>
                    <a:pt x="578282" y="414584"/>
                    <a:pt x="578282" y="414926"/>
                  </a:cubicBezTo>
                  <a:cubicBezTo>
                    <a:pt x="578339" y="415268"/>
                    <a:pt x="578339" y="415553"/>
                    <a:pt x="578339" y="415839"/>
                  </a:cubicBezTo>
                  <a:cubicBezTo>
                    <a:pt x="578339" y="416238"/>
                    <a:pt x="578396" y="416637"/>
                    <a:pt x="578396" y="417036"/>
                  </a:cubicBezTo>
                  <a:cubicBezTo>
                    <a:pt x="578396" y="417150"/>
                    <a:pt x="578396" y="417264"/>
                    <a:pt x="578396" y="417378"/>
                  </a:cubicBezTo>
                  <a:cubicBezTo>
                    <a:pt x="578396" y="417606"/>
                    <a:pt x="578396" y="417778"/>
                    <a:pt x="578339" y="418006"/>
                  </a:cubicBezTo>
                  <a:cubicBezTo>
                    <a:pt x="578339" y="418348"/>
                    <a:pt x="578339" y="418690"/>
                    <a:pt x="578339" y="419089"/>
                  </a:cubicBezTo>
                  <a:cubicBezTo>
                    <a:pt x="578339" y="419431"/>
                    <a:pt x="578282" y="419774"/>
                    <a:pt x="578282" y="420173"/>
                  </a:cubicBezTo>
                  <a:cubicBezTo>
                    <a:pt x="578282" y="420458"/>
                    <a:pt x="578225" y="420743"/>
                    <a:pt x="578225" y="421028"/>
                  </a:cubicBezTo>
                  <a:cubicBezTo>
                    <a:pt x="578168" y="421484"/>
                    <a:pt x="578111" y="421884"/>
                    <a:pt x="578053" y="422283"/>
                  </a:cubicBezTo>
                  <a:cubicBezTo>
                    <a:pt x="578053" y="422511"/>
                    <a:pt x="577996" y="422739"/>
                    <a:pt x="577996" y="422967"/>
                  </a:cubicBezTo>
                  <a:cubicBezTo>
                    <a:pt x="577939" y="423480"/>
                    <a:pt x="577882" y="423937"/>
                    <a:pt x="577768" y="424393"/>
                  </a:cubicBezTo>
                  <a:cubicBezTo>
                    <a:pt x="577768" y="424564"/>
                    <a:pt x="577711" y="424735"/>
                    <a:pt x="577711" y="424906"/>
                  </a:cubicBezTo>
                  <a:cubicBezTo>
                    <a:pt x="577597" y="425419"/>
                    <a:pt x="577482" y="425933"/>
                    <a:pt x="577368" y="426389"/>
                  </a:cubicBezTo>
                  <a:cubicBezTo>
                    <a:pt x="577368" y="426560"/>
                    <a:pt x="577311" y="426731"/>
                    <a:pt x="577311" y="426845"/>
                  </a:cubicBezTo>
                  <a:cubicBezTo>
                    <a:pt x="577140" y="427358"/>
                    <a:pt x="577026" y="427872"/>
                    <a:pt x="576911" y="428385"/>
                  </a:cubicBezTo>
                  <a:cubicBezTo>
                    <a:pt x="576854" y="428499"/>
                    <a:pt x="576797" y="428670"/>
                    <a:pt x="576797" y="428784"/>
                  </a:cubicBezTo>
                  <a:cubicBezTo>
                    <a:pt x="576626" y="429297"/>
                    <a:pt x="576455" y="429811"/>
                    <a:pt x="576340" y="430324"/>
                  </a:cubicBezTo>
                  <a:cubicBezTo>
                    <a:pt x="576283" y="430495"/>
                    <a:pt x="576226" y="430609"/>
                    <a:pt x="576169" y="430780"/>
                  </a:cubicBezTo>
                  <a:cubicBezTo>
                    <a:pt x="575998" y="431236"/>
                    <a:pt x="575826" y="431693"/>
                    <a:pt x="575655" y="432149"/>
                  </a:cubicBezTo>
                  <a:cubicBezTo>
                    <a:pt x="575598" y="432377"/>
                    <a:pt x="575484" y="432605"/>
                    <a:pt x="575427" y="432833"/>
                  </a:cubicBezTo>
                  <a:cubicBezTo>
                    <a:pt x="575255" y="433232"/>
                    <a:pt x="575084" y="433575"/>
                    <a:pt x="574913" y="433974"/>
                  </a:cubicBezTo>
                  <a:cubicBezTo>
                    <a:pt x="574799" y="434259"/>
                    <a:pt x="574684" y="434544"/>
                    <a:pt x="574570" y="434829"/>
                  </a:cubicBezTo>
                  <a:cubicBezTo>
                    <a:pt x="574399" y="435114"/>
                    <a:pt x="574228" y="435457"/>
                    <a:pt x="574113" y="435742"/>
                  </a:cubicBezTo>
                  <a:cubicBezTo>
                    <a:pt x="573942" y="436141"/>
                    <a:pt x="573771" y="436426"/>
                    <a:pt x="573599" y="436768"/>
                  </a:cubicBezTo>
                  <a:cubicBezTo>
                    <a:pt x="573428" y="437053"/>
                    <a:pt x="573314" y="437281"/>
                    <a:pt x="573200" y="437510"/>
                  </a:cubicBezTo>
                  <a:cubicBezTo>
                    <a:pt x="572971" y="437909"/>
                    <a:pt x="572743" y="438308"/>
                    <a:pt x="572514" y="438650"/>
                  </a:cubicBezTo>
                  <a:cubicBezTo>
                    <a:pt x="572400" y="438878"/>
                    <a:pt x="572286" y="439049"/>
                    <a:pt x="572172" y="439220"/>
                  </a:cubicBezTo>
                  <a:cubicBezTo>
                    <a:pt x="571943" y="439620"/>
                    <a:pt x="571658" y="440019"/>
                    <a:pt x="571430" y="440418"/>
                  </a:cubicBezTo>
                  <a:cubicBezTo>
                    <a:pt x="571315" y="440589"/>
                    <a:pt x="571201" y="440760"/>
                    <a:pt x="571087" y="440874"/>
                  </a:cubicBezTo>
                  <a:cubicBezTo>
                    <a:pt x="570801" y="441330"/>
                    <a:pt x="570516" y="441730"/>
                    <a:pt x="570230" y="442129"/>
                  </a:cubicBezTo>
                  <a:cubicBezTo>
                    <a:pt x="570116" y="442243"/>
                    <a:pt x="570002" y="442414"/>
                    <a:pt x="569888" y="442528"/>
                  </a:cubicBezTo>
                  <a:cubicBezTo>
                    <a:pt x="569602" y="442927"/>
                    <a:pt x="569317" y="443327"/>
                    <a:pt x="569031" y="443669"/>
                  </a:cubicBezTo>
                  <a:cubicBezTo>
                    <a:pt x="568917" y="443840"/>
                    <a:pt x="568746" y="444011"/>
                    <a:pt x="568632" y="444182"/>
                  </a:cubicBezTo>
                  <a:cubicBezTo>
                    <a:pt x="568346" y="444524"/>
                    <a:pt x="568060" y="444809"/>
                    <a:pt x="567775" y="445151"/>
                  </a:cubicBezTo>
                  <a:cubicBezTo>
                    <a:pt x="567604" y="445380"/>
                    <a:pt x="567375" y="445551"/>
                    <a:pt x="567204" y="445779"/>
                  </a:cubicBezTo>
                  <a:cubicBezTo>
                    <a:pt x="566976" y="446064"/>
                    <a:pt x="566690" y="446292"/>
                    <a:pt x="566404" y="446577"/>
                  </a:cubicBezTo>
                  <a:cubicBezTo>
                    <a:pt x="566176" y="446805"/>
                    <a:pt x="565948" y="447090"/>
                    <a:pt x="565719" y="447319"/>
                  </a:cubicBezTo>
                  <a:cubicBezTo>
                    <a:pt x="565491" y="447547"/>
                    <a:pt x="565205" y="447775"/>
                    <a:pt x="564977" y="448003"/>
                  </a:cubicBezTo>
                  <a:cubicBezTo>
                    <a:pt x="564691" y="448231"/>
                    <a:pt x="564406" y="448516"/>
                    <a:pt x="564063" y="448801"/>
                  </a:cubicBezTo>
                  <a:cubicBezTo>
                    <a:pt x="563949" y="448915"/>
                    <a:pt x="563835" y="449029"/>
                    <a:pt x="563721" y="449143"/>
                  </a:cubicBezTo>
                  <a:cubicBezTo>
                    <a:pt x="563606" y="449200"/>
                    <a:pt x="563549" y="449257"/>
                    <a:pt x="563492" y="449315"/>
                  </a:cubicBezTo>
                  <a:cubicBezTo>
                    <a:pt x="563150" y="449600"/>
                    <a:pt x="562807" y="449885"/>
                    <a:pt x="562464" y="450170"/>
                  </a:cubicBezTo>
                  <a:cubicBezTo>
                    <a:pt x="562236" y="450341"/>
                    <a:pt x="562065" y="450455"/>
                    <a:pt x="561836" y="450626"/>
                  </a:cubicBezTo>
                  <a:cubicBezTo>
                    <a:pt x="561494" y="450911"/>
                    <a:pt x="561151" y="451139"/>
                    <a:pt x="560751" y="451425"/>
                  </a:cubicBezTo>
                  <a:cubicBezTo>
                    <a:pt x="560580" y="451539"/>
                    <a:pt x="560352" y="451710"/>
                    <a:pt x="560123" y="451881"/>
                  </a:cubicBezTo>
                  <a:cubicBezTo>
                    <a:pt x="559780" y="452109"/>
                    <a:pt x="559438" y="452337"/>
                    <a:pt x="559095" y="452565"/>
                  </a:cubicBezTo>
                  <a:cubicBezTo>
                    <a:pt x="558867" y="452679"/>
                    <a:pt x="558638" y="452850"/>
                    <a:pt x="558410" y="452964"/>
                  </a:cubicBezTo>
                  <a:cubicBezTo>
                    <a:pt x="558067" y="453193"/>
                    <a:pt x="557725" y="453364"/>
                    <a:pt x="557382" y="453592"/>
                  </a:cubicBezTo>
                  <a:cubicBezTo>
                    <a:pt x="557097" y="453706"/>
                    <a:pt x="556868" y="453877"/>
                    <a:pt x="556583" y="454048"/>
                  </a:cubicBezTo>
                  <a:cubicBezTo>
                    <a:pt x="556240" y="454219"/>
                    <a:pt x="555955" y="454390"/>
                    <a:pt x="555612" y="454561"/>
                  </a:cubicBezTo>
                  <a:cubicBezTo>
                    <a:pt x="555326" y="454675"/>
                    <a:pt x="555041" y="454846"/>
                    <a:pt x="554755" y="454960"/>
                  </a:cubicBezTo>
                  <a:cubicBezTo>
                    <a:pt x="554413" y="455131"/>
                    <a:pt x="554070" y="455303"/>
                    <a:pt x="553785" y="455417"/>
                  </a:cubicBezTo>
                  <a:cubicBezTo>
                    <a:pt x="553499" y="455531"/>
                    <a:pt x="553214" y="455702"/>
                    <a:pt x="552928" y="455816"/>
                  </a:cubicBezTo>
                  <a:cubicBezTo>
                    <a:pt x="552586" y="455987"/>
                    <a:pt x="552186" y="456101"/>
                    <a:pt x="551843" y="456215"/>
                  </a:cubicBezTo>
                  <a:cubicBezTo>
                    <a:pt x="551558" y="456329"/>
                    <a:pt x="551272" y="456443"/>
                    <a:pt x="551044" y="456557"/>
                  </a:cubicBezTo>
                  <a:cubicBezTo>
                    <a:pt x="550644" y="456728"/>
                    <a:pt x="550244" y="456842"/>
                    <a:pt x="549902" y="456956"/>
                  </a:cubicBezTo>
                  <a:cubicBezTo>
                    <a:pt x="549616" y="457070"/>
                    <a:pt x="549331" y="457127"/>
                    <a:pt x="549102" y="457242"/>
                  </a:cubicBezTo>
                  <a:cubicBezTo>
                    <a:pt x="548703" y="457356"/>
                    <a:pt x="548303" y="457470"/>
                    <a:pt x="547960" y="457527"/>
                  </a:cubicBezTo>
                  <a:cubicBezTo>
                    <a:pt x="547675" y="457641"/>
                    <a:pt x="547446" y="457698"/>
                    <a:pt x="547218" y="457755"/>
                  </a:cubicBezTo>
                  <a:lnTo>
                    <a:pt x="609403" y="457755"/>
                  </a:lnTo>
                  <a:lnTo>
                    <a:pt x="609403" y="481821"/>
                  </a:lnTo>
                  <a:lnTo>
                    <a:pt x="0" y="481821"/>
                  </a:lnTo>
                  <a:lnTo>
                    <a:pt x="0" y="457755"/>
                  </a:lnTo>
                  <a:lnTo>
                    <a:pt x="62185" y="457755"/>
                  </a:lnTo>
                  <a:cubicBezTo>
                    <a:pt x="61957" y="457698"/>
                    <a:pt x="61671" y="457641"/>
                    <a:pt x="61443" y="457584"/>
                  </a:cubicBezTo>
                  <a:cubicBezTo>
                    <a:pt x="61043" y="457470"/>
                    <a:pt x="60700" y="457356"/>
                    <a:pt x="60301" y="457242"/>
                  </a:cubicBezTo>
                  <a:cubicBezTo>
                    <a:pt x="60015" y="457127"/>
                    <a:pt x="59787" y="457070"/>
                    <a:pt x="59501" y="456956"/>
                  </a:cubicBezTo>
                  <a:cubicBezTo>
                    <a:pt x="59102" y="456842"/>
                    <a:pt x="58759" y="456728"/>
                    <a:pt x="58359" y="456557"/>
                  </a:cubicBezTo>
                  <a:cubicBezTo>
                    <a:pt x="58074" y="456443"/>
                    <a:pt x="57788" y="456329"/>
                    <a:pt x="57560" y="456272"/>
                  </a:cubicBezTo>
                  <a:cubicBezTo>
                    <a:pt x="57160" y="456101"/>
                    <a:pt x="56817" y="455987"/>
                    <a:pt x="56475" y="455816"/>
                  </a:cubicBezTo>
                  <a:cubicBezTo>
                    <a:pt x="56189" y="455702"/>
                    <a:pt x="55904" y="455588"/>
                    <a:pt x="55618" y="455417"/>
                  </a:cubicBezTo>
                  <a:cubicBezTo>
                    <a:pt x="55276" y="455303"/>
                    <a:pt x="54933" y="455131"/>
                    <a:pt x="54590" y="454960"/>
                  </a:cubicBezTo>
                  <a:cubicBezTo>
                    <a:pt x="54362" y="454846"/>
                    <a:pt x="54077" y="454675"/>
                    <a:pt x="53791" y="454561"/>
                  </a:cubicBezTo>
                  <a:cubicBezTo>
                    <a:pt x="53448" y="454390"/>
                    <a:pt x="53106" y="454219"/>
                    <a:pt x="52763" y="454048"/>
                  </a:cubicBezTo>
                  <a:cubicBezTo>
                    <a:pt x="52535" y="453877"/>
                    <a:pt x="52249" y="453763"/>
                    <a:pt x="52021" y="453592"/>
                  </a:cubicBezTo>
                  <a:cubicBezTo>
                    <a:pt x="51678" y="453421"/>
                    <a:pt x="51336" y="453193"/>
                    <a:pt x="50993" y="453021"/>
                  </a:cubicBezTo>
                  <a:cubicBezTo>
                    <a:pt x="50765" y="452850"/>
                    <a:pt x="50536" y="452679"/>
                    <a:pt x="50308" y="452565"/>
                  </a:cubicBezTo>
                  <a:cubicBezTo>
                    <a:pt x="49965" y="452337"/>
                    <a:pt x="49622" y="452109"/>
                    <a:pt x="49280" y="451881"/>
                  </a:cubicBezTo>
                  <a:cubicBezTo>
                    <a:pt x="49051" y="451710"/>
                    <a:pt x="48823" y="451539"/>
                    <a:pt x="48595" y="451425"/>
                  </a:cubicBezTo>
                  <a:cubicBezTo>
                    <a:pt x="48252" y="451139"/>
                    <a:pt x="47909" y="450911"/>
                    <a:pt x="47567" y="450626"/>
                  </a:cubicBezTo>
                  <a:cubicBezTo>
                    <a:pt x="47338" y="450455"/>
                    <a:pt x="47167" y="450341"/>
                    <a:pt x="46939" y="450170"/>
                  </a:cubicBezTo>
                  <a:cubicBezTo>
                    <a:pt x="46596" y="449885"/>
                    <a:pt x="46253" y="449600"/>
                    <a:pt x="45911" y="449315"/>
                  </a:cubicBezTo>
                  <a:cubicBezTo>
                    <a:pt x="45854" y="449257"/>
                    <a:pt x="45739" y="449200"/>
                    <a:pt x="45682" y="449143"/>
                  </a:cubicBezTo>
                  <a:cubicBezTo>
                    <a:pt x="45568" y="449029"/>
                    <a:pt x="45454" y="448915"/>
                    <a:pt x="45283" y="448801"/>
                  </a:cubicBezTo>
                  <a:cubicBezTo>
                    <a:pt x="44997" y="448516"/>
                    <a:pt x="44712" y="448231"/>
                    <a:pt x="44369" y="448003"/>
                  </a:cubicBezTo>
                  <a:cubicBezTo>
                    <a:pt x="44141" y="447775"/>
                    <a:pt x="43912" y="447547"/>
                    <a:pt x="43684" y="447319"/>
                  </a:cubicBezTo>
                  <a:cubicBezTo>
                    <a:pt x="43455" y="447090"/>
                    <a:pt x="43227" y="446862"/>
                    <a:pt x="42941" y="446577"/>
                  </a:cubicBezTo>
                  <a:cubicBezTo>
                    <a:pt x="42713" y="446292"/>
                    <a:pt x="42428" y="446064"/>
                    <a:pt x="42199" y="445779"/>
                  </a:cubicBezTo>
                  <a:cubicBezTo>
                    <a:pt x="41971" y="445551"/>
                    <a:pt x="41799" y="445380"/>
                    <a:pt x="41628" y="445151"/>
                  </a:cubicBezTo>
                  <a:cubicBezTo>
                    <a:pt x="41343" y="444866"/>
                    <a:pt x="41057" y="444524"/>
                    <a:pt x="40772" y="444182"/>
                  </a:cubicBezTo>
                  <a:cubicBezTo>
                    <a:pt x="40657" y="444011"/>
                    <a:pt x="40486" y="443840"/>
                    <a:pt x="40372" y="443669"/>
                  </a:cubicBezTo>
                  <a:cubicBezTo>
                    <a:pt x="40086" y="443327"/>
                    <a:pt x="39744" y="442927"/>
                    <a:pt x="39458" y="442585"/>
                  </a:cubicBezTo>
                  <a:cubicBezTo>
                    <a:pt x="39344" y="442414"/>
                    <a:pt x="39230" y="442243"/>
                    <a:pt x="39173" y="442129"/>
                  </a:cubicBezTo>
                  <a:cubicBezTo>
                    <a:pt x="38830" y="441730"/>
                    <a:pt x="38545" y="441330"/>
                    <a:pt x="38316" y="440931"/>
                  </a:cubicBezTo>
                  <a:cubicBezTo>
                    <a:pt x="38202" y="440760"/>
                    <a:pt x="38088" y="440589"/>
                    <a:pt x="37973" y="440475"/>
                  </a:cubicBezTo>
                  <a:cubicBezTo>
                    <a:pt x="37688" y="440019"/>
                    <a:pt x="37460" y="439620"/>
                    <a:pt x="37174" y="439220"/>
                  </a:cubicBezTo>
                  <a:cubicBezTo>
                    <a:pt x="37060" y="439049"/>
                    <a:pt x="37003" y="438878"/>
                    <a:pt x="36889" y="438650"/>
                  </a:cubicBezTo>
                  <a:cubicBezTo>
                    <a:pt x="36660" y="438308"/>
                    <a:pt x="36432" y="437909"/>
                    <a:pt x="36203" y="437510"/>
                  </a:cubicBezTo>
                  <a:cubicBezTo>
                    <a:pt x="36089" y="437281"/>
                    <a:pt x="35918" y="437053"/>
                    <a:pt x="35804" y="436825"/>
                  </a:cubicBezTo>
                  <a:cubicBezTo>
                    <a:pt x="35632" y="436483"/>
                    <a:pt x="35461" y="436141"/>
                    <a:pt x="35290" y="435799"/>
                  </a:cubicBezTo>
                  <a:cubicBezTo>
                    <a:pt x="35118" y="435457"/>
                    <a:pt x="35004" y="435171"/>
                    <a:pt x="34833" y="434829"/>
                  </a:cubicBezTo>
                  <a:cubicBezTo>
                    <a:pt x="34719" y="434544"/>
                    <a:pt x="34604" y="434259"/>
                    <a:pt x="34490" y="433974"/>
                  </a:cubicBezTo>
                  <a:cubicBezTo>
                    <a:pt x="34319" y="433632"/>
                    <a:pt x="34148" y="433232"/>
                    <a:pt x="33976" y="432833"/>
                  </a:cubicBezTo>
                  <a:cubicBezTo>
                    <a:pt x="33919" y="432605"/>
                    <a:pt x="33805" y="432377"/>
                    <a:pt x="33748" y="432206"/>
                  </a:cubicBezTo>
                  <a:cubicBezTo>
                    <a:pt x="33577" y="431750"/>
                    <a:pt x="33405" y="431236"/>
                    <a:pt x="33234" y="430780"/>
                  </a:cubicBezTo>
                  <a:cubicBezTo>
                    <a:pt x="33177" y="430609"/>
                    <a:pt x="33120" y="430495"/>
                    <a:pt x="33063" y="430324"/>
                  </a:cubicBezTo>
                  <a:cubicBezTo>
                    <a:pt x="32891" y="429811"/>
                    <a:pt x="32777" y="429297"/>
                    <a:pt x="32606" y="428784"/>
                  </a:cubicBezTo>
                  <a:cubicBezTo>
                    <a:pt x="32549" y="428670"/>
                    <a:pt x="32549" y="428556"/>
                    <a:pt x="32492" y="428385"/>
                  </a:cubicBezTo>
                  <a:cubicBezTo>
                    <a:pt x="32377" y="427872"/>
                    <a:pt x="32206" y="427358"/>
                    <a:pt x="32092" y="426845"/>
                  </a:cubicBezTo>
                  <a:cubicBezTo>
                    <a:pt x="32092" y="426731"/>
                    <a:pt x="32035" y="426560"/>
                    <a:pt x="32035" y="426446"/>
                  </a:cubicBezTo>
                  <a:cubicBezTo>
                    <a:pt x="31921" y="425933"/>
                    <a:pt x="31806" y="425419"/>
                    <a:pt x="31692" y="424906"/>
                  </a:cubicBezTo>
                  <a:cubicBezTo>
                    <a:pt x="31692" y="424735"/>
                    <a:pt x="31635" y="424564"/>
                    <a:pt x="31635" y="424393"/>
                  </a:cubicBezTo>
                  <a:cubicBezTo>
                    <a:pt x="31521" y="423937"/>
                    <a:pt x="31464" y="423480"/>
                    <a:pt x="31407" y="423024"/>
                  </a:cubicBezTo>
                  <a:cubicBezTo>
                    <a:pt x="31350" y="422739"/>
                    <a:pt x="31350" y="422511"/>
                    <a:pt x="31292" y="422283"/>
                  </a:cubicBezTo>
                  <a:cubicBezTo>
                    <a:pt x="31235" y="421884"/>
                    <a:pt x="31235" y="421484"/>
                    <a:pt x="31178" y="421028"/>
                  </a:cubicBezTo>
                  <a:cubicBezTo>
                    <a:pt x="31178" y="420743"/>
                    <a:pt x="31121" y="420458"/>
                    <a:pt x="31121" y="420173"/>
                  </a:cubicBezTo>
                  <a:cubicBezTo>
                    <a:pt x="31064" y="419774"/>
                    <a:pt x="31064" y="419431"/>
                    <a:pt x="31064" y="419089"/>
                  </a:cubicBezTo>
                  <a:cubicBezTo>
                    <a:pt x="31064" y="418690"/>
                    <a:pt x="31007" y="418348"/>
                    <a:pt x="31007" y="418006"/>
                  </a:cubicBezTo>
                  <a:cubicBezTo>
                    <a:pt x="31007" y="417778"/>
                    <a:pt x="31007" y="417606"/>
                    <a:pt x="31007" y="417378"/>
                  </a:cubicBezTo>
                  <a:cubicBezTo>
                    <a:pt x="31007" y="417264"/>
                    <a:pt x="31007" y="417150"/>
                    <a:pt x="31007" y="417036"/>
                  </a:cubicBezTo>
                  <a:cubicBezTo>
                    <a:pt x="31007" y="416637"/>
                    <a:pt x="31007" y="416238"/>
                    <a:pt x="31064" y="415839"/>
                  </a:cubicBezTo>
                  <a:cubicBezTo>
                    <a:pt x="31064" y="415553"/>
                    <a:pt x="31064" y="415268"/>
                    <a:pt x="31064" y="414983"/>
                  </a:cubicBezTo>
                  <a:cubicBezTo>
                    <a:pt x="31121" y="414584"/>
                    <a:pt x="31121" y="414185"/>
                    <a:pt x="31178" y="413786"/>
                  </a:cubicBezTo>
                  <a:cubicBezTo>
                    <a:pt x="31178" y="413500"/>
                    <a:pt x="31235" y="413158"/>
                    <a:pt x="31235" y="412873"/>
                  </a:cubicBezTo>
                  <a:cubicBezTo>
                    <a:pt x="31292" y="412531"/>
                    <a:pt x="31350" y="412189"/>
                    <a:pt x="31407" y="411790"/>
                  </a:cubicBezTo>
                  <a:cubicBezTo>
                    <a:pt x="31407" y="411447"/>
                    <a:pt x="31464" y="411162"/>
                    <a:pt x="31521" y="410820"/>
                  </a:cubicBezTo>
                  <a:cubicBezTo>
                    <a:pt x="31578" y="410478"/>
                    <a:pt x="31635" y="410193"/>
                    <a:pt x="31692" y="409851"/>
                  </a:cubicBezTo>
                  <a:cubicBezTo>
                    <a:pt x="31749" y="409508"/>
                    <a:pt x="31806" y="409109"/>
                    <a:pt x="31921" y="408767"/>
                  </a:cubicBezTo>
                  <a:cubicBezTo>
                    <a:pt x="31978" y="408482"/>
                    <a:pt x="32035" y="408197"/>
                    <a:pt x="32092" y="407912"/>
                  </a:cubicBezTo>
                  <a:cubicBezTo>
                    <a:pt x="32206" y="407512"/>
                    <a:pt x="32263" y="407170"/>
                    <a:pt x="32377" y="406771"/>
                  </a:cubicBezTo>
                  <a:cubicBezTo>
                    <a:pt x="32434" y="406486"/>
                    <a:pt x="32549" y="406258"/>
                    <a:pt x="32606" y="405973"/>
                  </a:cubicBezTo>
                  <a:cubicBezTo>
                    <a:pt x="32720" y="405573"/>
                    <a:pt x="32834" y="405174"/>
                    <a:pt x="32948" y="404832"/>
                  </a:cubicBezTo>
                  <a:cubicBezTo>
                    <a:pt x="33006" y="404547"/>
                    <a:pt x="33120" y="404262"/>
                    <a:pt x="33234" y="403977"/>
                  </a:cubicBezTo>
                  <a:cubicBezTo>
                    <a:pt x="33348" y="403634"/>
                    <a:pt x="33462" y="403235"/>
                    <a:pt x="33577" y="402893"/>
                  </a:cubicBezTo>
                  <a:cubicBezTo>
                    <a:pt x="33691" y="402608"/>
                    <a:pt x="33805" y="402323"/>
                    <a:pt x="33919" y="402038"/>
                  </a:cubicBezTo>
                  <a:cubicBezTo>
                    <a:pt x="34090" y="401695"/>
                    <a:pt x="34205" y="401353"/>
                    <a:pt x="34319" y="401011"/>
                  </a:cubicBezTo>
                  <a:cubicBezTo>
                    <a:pt x="34490" y="400726"/>
                    <a:pt x="34604" y="400441"/>
                    <a:pt x="34719" y="400099"/>
                  </a:cubicBezTo>
                  <a:cubicBezTo>
                    <a:pt x="34890" y="399813"/>
                    <a:pt x="35004" y="399471"/>
                    <a:pt x="35175" y="399129"/>
                  </a:cubicBezTo>
                  <a:cubicBezTo>
                    <a:pt x="35347" y="398844"/>
                    <a:pt x="35461" y="398559"/>
                    <a:pt x="35632" y="398274"/>
                  </a:cubicBezTo>
                  <a:cubicBezTo>
                    <a:pt x="35804" y="397931"/>
                    <a:pt x="35975" y="397646"/>
                    <a:pt x="36146" y="397361"/>
                  </a:cubicBezTo>
                  <a:cubicBezTo>
                    <a:pt x="36260" y="397076"/>
                    <a:pt x="36432" y="396791"/>
                    <a:pt x="36603" y="396506"/>
                  </a:cubicBezTo>
                  <a:cubicBezTo>
                    <a:pt x="36774" y="396164"/>
                    <a:pt x="36946" y="395878"/>
                    <a:pt x="37174" y="395536"/>
                  </a:cubicBezTo>
                  <a:cubicBezTo>
                    <a:pt x="37288" y="395308"/>
                    <a:pt x="37460" y="395023"/>
                    <a:pt x="37631" y="394795"/>
                  </a:cubicBezTo>
                  <a:cubicBezTo>
                    <a:pt x="37859" y="394453"/>
                    <a:pt x="38088" y="394111"/>
                    <a:pt x="38316" y="393825"/>
                  </a:cubicBezTo>
                  <a:cubicBezTo>
                    <a:pt x="38430" y="393597"/>
                    <a:pt x="38602" y="393369"/>
                    <a:pt x="38773" y="393084"/>
                  </a:cubicBezTo>
                  <a:cubicBezTo>
                    <a:pt x="39001" y="392799"/>
                    <a:pt x="39287" y="392457"/>
                    <a:pt x="39515" y="392115"/>
                  </a:cubicBezTo>
                  <a:cubicBezTo>
                    <a:pt x="39687" y="391886"/>
                    <a:pt x="39858" y="391658"/>
                    <a:pt x="40029" y="391430"/>
                  </a:cubicBezTo>
                  <a:cubicBezTo>
                    <a:pt x="40315" y="391145"/>
                    <a:pt x="40543" y="390803"/>
                    <a:pt x="40829" y="390461"/>
                  </a:cubicBezTo>
                  <a:cubicBezTo>
                    <a:pt x="40886" y="390404"/>
                    <a:pt x="40943" y="390290"/>
                    <a:pt x="41057" y="390233"/>
                  </a:cubicBezTo>
                  <a:lnTo>
                    <a:pt x="174621" y="233973"/>
                  </a:lnTo>
                  <a:cubicBezTo>
                    <a:pt x="182501" y="224792"/>
                    <a:pt x="193522" y="219830"/>
                    <a:pt x="204714" y="219374"/>
                  </a:cubicBezTo>
                  <a:close/>
                  <a:moveTo>
                    <a:pt x="302867" y="0"/>
                  </a:moveTo>
                  <a:cubicBezTo>
                    <a:pt x="360078" y="0"/>
                    <a:pt x="406457" y="46284"/>
                    <a:pt x="406457" y="103379"/>
                  </a:cubicBezTo>
                  <a:cubicBezTo>
                    <a:pt x="406457" y="160474"/>
                    <a:pt x="360078" y="206758"/>
                    <a:pt x="302867" y="206758"/>
                  </a:cubicBezTo>
                  <a:cubicBezTo>
                    <a:pt x="245656" y="206758"/>
                    <a:pt x="199277" y="160474"/>
                    <a:pt x="199277" y="103379"/>
                  </a:cubicBezTo>
                  <a:cubicBezTo>
                    <a:pt x="199277" y="46284"/>
                    <a:pt x="245656" y="0"/>
                    <a:pt x="302867" y="0"/>
                  </a:cubicBezTo>
                  <a:close/>
                </a:path>
              </a:pathLst>
            </a:custGeom>
            <a:solidFill>
              <a:srgbClr val="60C7C7"/>
            </a:solidFill>
            <a:ln>
              <a:noFill/>
            </a:ln>
          </p:spPr>
        </p:sp>
        <p:cxnSp>
          <p:nvCxnSpPr>
            <p:cNvPr id="81" name="直接连接符 80"/>
            <p:cNvCxnSpPr>
              <a:stCxn id="125" idx="0"/>
            </p:cNvCxnSpPr>
            <p:nvPr/>
          </p:nvCxnSpPr>
          <p:spPr bwMode="auto">
            <a:xfrm>
              <a:off x="3151362" y="4204933"/>
              <a:ext cx="705973" cy="614748"/>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82" name="直接连接符 81"/>
            <p:cNvCxnSpPr>
              <a:stCxn id="112" idx="0"/>
            </p:cNvCxnSpPr>
            <p:nvPr/>
          </p:nvCxnSpPr>
          <p:spPr bwMode="auto">
            <a:xfrm flipH="1">
              <a:off x="4225854" y="4218924"/>
              <a:ext cx="530666" cy="600757"/>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83" name="直接连接符 82"/>
            <p:cNvCxnSpPr/>
            <p:nvPr/>
          </p:nvCxnSpPr>
          <p:spPr bwMode="auto">
            <a:xfrm>
              <a:off x="4205782" y="5135229"/>
              <a:ext cx="653243" cy="557778"/>
            </a:xfrm>
            <a:prstGeom prst="line">
              <a:avLst/>
            </a:prstGeom>
            <a:solidFill>
              <a:schemeClr val="accent1"/>
            </a:solidFill>
            <a:ln w="28575" cap="flat" cmpd="sng" algn="ctr">
              <a:solidFill>
                <a:srgbClr val="60C7C7"/>
              </a:solidFill>
              <a:prstDash val="solid"/>
              <a:round/>
              <a:headEnd type="none" w="med" len="med"/>
              <a:tailEnd type="none" w="med" len="med"/>
            </a:ln>
            <a:effectLst/>
          </p:spPr>
        </p:cxnSp>
        <p:cxnSp>
          <p:nvCxnSpPr>
            <p:cNvPr id="84" name="直接连接符 83"/>
            <p:cNvCxnSpPr/>
            <p:nvPr/>
          </p:nvCxnSpPr>
          <p:spPr bwMode="auto">
            <a:xfrm flipV="1">
              <a:off x="3395591" y="5135229"/>
              <a:ext cx="563797" cy="555804"/>
            </a:xfrm>
            <a:prstGeom prst="line">
              <a:avLst/>
            </a:prstGeom>
            <a:solidFill>
              <a:schemeClr val="accent1"/>
            </a:solidFill>
            <a:ln w="28575" cap="flat" cmpd="sng" algn="ctr">
              <a:solidFill>
                <a:srgbClr val="60C7C7"/>
              </a:solidFill>
              <a:prstDash val="solid"/>
              <a:round/>
              <a:headEnd type="none" w="med" len="med"/>
              <a:tailEnd type="none" w="med" len="med"/>
            </a:ln>
            <a:effectLst/>
          </p:spPr>
        </p:cxnSp>
        <p:grpSp>
          <p:nvGrpSpPr>
            <p:cNvPr id="85" name="组合 19608"/>
            <p:cNvGrpSpPr/>
            <p:nvPr/>
          </p:nvGrpSpPr>
          <p:grpSpPr>
            <a:xfrm>
              <a:off x="3541065" y="4822634"/>
              <a:ext cx="1013854" cy="331304"/>
              <a:chOff x="1188230" y="1104202"/>
              <a:chExt cx="706438" cy="203899"/>
            </a:xfrm>
            <a:solidFill>
              <a:srgbClr val="60C7C7"/>
            </a:solidFill>
          </p:grpSpPr>
          <p:sp>
            <p:nvSpPr>
              <p:cNvPr id="86" name="Freeform 43"/>
              <p:cNvSpPr>
                <a:spLocks/>
              </p:cNvSpPr>
              <p:nvPr/>
            </p:nvSpPr>
            <p:spPr bwMode="auto">
              <a:xfrm>
                <a:off x="1188230" y="1104202"/>
                <a:ext cx="706438" cy="188913"/>
              </a:xfrm>
              <a:custGeom>
                <a:avLst/>
                <a:gdLst>
                  <a:gd name="T0" fmla="*/ 797 w 830"/>
                  <a:gd name="T1" fmla="*/ 222 h 222"/>
                  <a:gd name="T2" fmla="*/ 797 w 830"/>
                  <a:gd name="T3" fmla="*/ 222 h 222"/>
                  <a:gd name="T4" fmla="*/ 743 w 830"/>
                  <a:gd name="T5" fmla="*/ 222 h 222"/>
                  <a:gd name="T6" fmla="*/ 730 w 830"/>
                  <a:gd name="T7" fmla="*/ 209 h 222"/>
                  <a:gd name="T8" fmla="*/ 743 w 830"/>
                  <a:gd name="T9" fmla="*/ 197 h 222"/>
                  <a:gd name="T10" fmla="*/ 797 w 830"/>
                  <a:gd name="T11" fmla="*/ 197 h 222"/>
                  <a:gd name="T12" fmla="*/ 805 w 830"/>
                  <a:gd name="T13" fmla="*/ 189 h 222"/>
                  <a:gd name="T14" fmla="*/ 805 w 830"/>
                  <a:gd name="T15" fmla="*/ 33 h 222"/>
                  <a:gd name="T16" fmla="*/ 797 w 830"/>
                  <a:gd name="T17" fmla="*/ 25 h 222"/>
                  <a:gd name="T18" fmla="*/ 32 w 830"/>
                  <a:gd name="T19" fmla="*/ 25 h 222"/>
                  <a:gd name="T20" fmla="*/ 24 w 830"/>
                  <a:gd name="T21" fmla="*/ 33 h 222"/>
                  <a:gd name="T22" fmla="*/ 24 w 830"/>
                  <a:gd name="T23" fmla="*/ 189 h 222"/>
                  <a:gd name="T24" fmla="*/ 32 w 830"/>
                  <a:gd name="T25" fmla="*/ 197 h 222"/>
                  <a:gd name="T26" fmla="*/ 667 w 830"/>
                  <a:gd name="T27" fmla="*/ 197 h 222"/>
                  <a:gd name="T28" fmla="*/ 680 w 830"/>
                  <a:gd name="T29" fmla="*/ 209 h 222"/>
                  <a:gd name="T30" fmla="*/ 667 w 830"/>
                  <a:gd name="T31" fmla="*/ 222 h 222"/>
                  <a:gd name="T32" fmla="*/ 32 w 830"/>
                  <a:gd name="T33" fmla="*/ 222 h 222"/>
                  <a:gd name="T34" fmla="*/ 0 w 830"/>
                  <a:gd name="T35" fmla="*/ 189 h 222"/>
                  <a:gd name="T36" fmla="*/ 0 w 830"/>
                  <a:gd name="T37" fmla="*/ 33 h 222"/>
                  <a:gd name="T38" fmla="*/ 32 w 830"/>
                  <a:gd name="T39" fmla="*/ 0 h 222"/>
                  <a:gd name="T40" fmla="*/ 797 w 830"/>
                  <a:gd name="T41" fmla="*/ 0 h 222"/>
                  <a:gd name="T42" fmla="*/ 830 w 830"/>
                  <a:gd name="T43" fmla="*/ 33 h 222"/>
                  <a:gd name="T44" fmla="*/ 830 w 830"/>
                  <a:gd name="T45" fmla="*/ 189 h 222"/>
                  <a:gd name="T46" fmla="*/ 797 w 830"/>
                  <a:gd name="T4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30" h="222">
                    <a:moveTo>
                      <a:pt x="797" y="222"/>
                    </a:moveTo>
                    <a:lnTo>
                      <a:pt x="797" y="222"/>
                    </a:lnTo>
                    <a:lnTo>
                      <a:pt x="743" y="222"/>
                    </a:lnTo>
                    <a:cubicBezTo>
                      <a:pt x="736" y="222"/>
                      <a:pt x="730" y="216"/>
                      <a:pt x="730" y="209"/>
                    </a:cubicBezTo>
                    <a:cubicBezTo>
                      <a:pt x="730" y="203"/>
                      <a:pt x="736" y="197"/>
                      <a:pt x="743" y="197"/>
                    </a:cubicBezTo>
                    <a:lnTo>
                      <a:pt x="797" y="197"/>
                    </a:lnTo>
                    <a:cubicBezTo>
                      <a:pt x="802" y="197"/>
                      <a:pt x="805" y="193"/>
                      <a:pt x="805" y="189"/>
                    </a:cubicBezTo>
                    <a:lnTo>
                      <a:pt x="805" y="33"/>
                    </a:lnTo>
                    <a:cubicBezTo>
                      <a:pt x="805" y="28"/>
                      <a:pt x="802" y="25"/>
                      <a:pt x="797" y="25"/>
                    </a:cubicBezTo>
                    <a:lnTo>
                      <a:pt x="32" y="25"/>
                    </a:lnTo>
                    <a:cubicBezTo>
                      <a:pt x="28" y="25"/>
                      <a:pt x="24" y="28"/>
                      <a:pt x="24" y="33"/>
                    </a:cubicBezTo>
                    <a:lnTo>
                      <a:pt x="24" y="189"/>
                    </a:lnTo>
                    <a:cubicBezTo>
                      <a:pt x="24" y="193"/>
                      <a:pt x="28" y="197"/>
                      <a:pt x="32" y="197"/>
                    </a:cubicBezTo>
                    <a:lnTo>
                      <a:pt x="667" y="197"/>
                    </a:lnTo>
                    <a:cubicBezTo>
                      <a:pt x="674" y="197"/>
                      <a:pt x="680" y="203"/>
                      <a:pt x="680" y="209"/>
                    </a:cubicBezTo>
                    <a:cubicBezTo>
                      <a:pt x="680" y="216"/>
                      <a:pt x="674" y="222"/>
                      <a:pt x="667" y="222"/>
                    </a:cubicBezTo>
                    <a:lnTo>
                      <a:pt x="32" y="222"/>
                    </a:lnTo>
                    <a:cubicBezTo>
                      <a:pt x="14" y="222"/>
                      <a:pt x="0" y="207"/>
                      <a:pt x="0" y="189"/>
                    </a:cubicBezTo>
                    <a:lnTo>
                      <a:pt x="0" y="33"/>
                    </a:lnTo>
                    <a:cubicBezTo>
                      <a:pt x="0" y="15"/>
                      <a:pt x="14" y="0"/>
                      <a:pt x="32" y="0"/>
                    </a:cubicBezTo>
                    <a:lnTo>
                      <a:pt x="797" y="0"/>
                    </a:lnTo>
                    <a:cubicBezTo>
                      <a:pt x="815" y="0"/>
                      <a:pt x="830" y="15"/>
                      <a:pt x="830" y="33"/>
                    </a:cubicBezTo>
                    <a:lnTo>
                      <a:pt x="830" y="189"/>
                    </a:lnTo>
                    <a:cubicBezTo>
                      <a:pt x="830" y="207"/>
                      <a:pt x="815" y="222"/>
                      <a:pt x="797" y="222"/>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87" name="Freeform 44"/>
              <p:cNvSpPr>
                <a:spLocks/>
              </p:cNvSpPr>
              <p:nvPr/>
            </p:nvSpPr>
            <p:spPr bwMode="auto">
              <a:xfrm>
                <a:off x="1709738" y="1265238"/>
                <a:ext cx="42863" cy="42863"/>
              </a:xfrm>
              <a:custGeom>
                <a:avLst/>
                <a:gdLst>
                  <a:gd name="T0" fmla="*/ 26 w 52"/>
                  <a:gd name="T1" fmla="*/ 51 h 51"/>
                  <a:gd name="T2" fmla="*/ 26 w 52"/>
                  <a:gd name="T3" fmla="*/ 51 h 51"/>
                  <a:gd name="T4" fmla="*/ 0 w 52"/>
                  <a:gd name="T5" fmla="*/ 26 h 51"/>
                  <a:gd name="T6" fmla="*/ 26 w 52"/>
                  <a:gd name="T7" fmla="*/ 0 h 51"/>
                  <a:gd name="T8" fmla="*/ 52 w 52"/>
                  <a:gd name="T9" fmla="*/ 26 h 51"/>
                  <a:gd name="T10" fmla="*/ 26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26" y="51"/>
                    </a:moveTo>
                    <a:lnTo>
                      <a:pt x="26" y="51"/>
                    </a:lnTo>
                    <a:cubicBezTo>
                      <a:pt x="12" y="51"/>
                      <a:pt x="0" y="40"/>
                      <a:pt x="0" y="26"/>
                    </a:cubicBezTo>
                    <a:cubicBezTo>
                      <a:pt x="0" y="11"/>
                      <a:pt x="12" y="0"/>
                      <a:pt x="26" y="0"/>
                    </a:cubicBezTo>
                    <a:cubicBezTo>
                      <a:pt x="40" y="0"/>
                      <a:pt x="52" y="11"/>
                      <a:pt x="52" y="26"/>
                    </a:cubicBezTo>
                    <a:cubicBezTo>
                      <a:pt x="52" y="40"/>
                      <a:pt x="40" y="51"/>
                      <a:pt x="26"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88" name="Freeform 45"/>
              <p:cNvSpPr>
                <a:spLocks/>
              </p:cNvSpPr>
              <p:nvPr/>
            </p:nvSpPr>
            <p:spPr bwMode="auto">
              <a:xfrm>
                <a:off x="1776413" y="1265238"/>
                <a:ext cx="44450" cy="42863"/>
              </a:xfrm>
              <a:custGeom>
                <a:avLst/>
                <a:gdLst>
                  <a:gd name="T0" fmla="*/ 26 w 52"/>
                  <a:gd name="T1" fmla="*/ 51 h 51"/>
                  <a:gd name="T2" fmla="*/ 26 w 52"/>
                  <a:gd name="T3" fmla="*/ 51 h 51"/>
                  <a:gd name="T4" fmla="*/ 0 w 52"/>
                  <a:gd name="T5" fmla="*/ 25 h 51"/>
                  <a:gd name="T6" fmla="*/ 26 w 52"/>
                  <a:gd name="T7" fmla="*/ 0 h 51"/>
                  <a:gd name="T8" fmla="*/ 52 w 52"/>
                  <a:gd name="T9" fmla="*/ 25 h 51"/>
                  <a:gd name="T10" fmla="*/ 26 w 52"/>
                  <a:gd name="T11" fmla="*/ 51 h 51"/>
                </a:gdLst>
                <a:ahLst/>
                <a:cxnLst>
                  <a:cxn ang="0">
                    <a:pos x="T0" y="T1"/>
                  </a:cxn>
                  <a:cxn ang="0">
                    <a:pos x="T2" y="T3"/>
                  </a:cxn>
                  <a:cxn ang="0">
                    <a:pos x="T4" y="T5"/>
                  </a:cxn>
                  <a:cxn ang="0">
                    <a:pos x="T6" y="T7"/>
                  </a:cxn>
                  <a:cxn ang="0">
                    <a:pos x="T8" y="T9"/>
                  </a:cxn>
                  <a:cxn ang="0">
                    <a:pos x="T10" y="T11"/>
                  </a:cxn>
                </a:cxnLst>
                <a:rect l="0" t="0" r="r" b="b"/>
                <a:pathLst>
                  <a:path w="52" h="51">
                    <a:moveTo>
                      <a:pt x="26" y="51"/>
                    </a:moveTo>
                    <a:lnTo>
                      <a:pt x="26" y="51"/>
                    </a:lnTo>
                    <a:cubicBezTo>
                      <a:pt x="12" y="51"/>
                      <a:pt x="0" y="39"/>
                      <a:pt x="0" y="25"/>
                    </a:cubicBezTo>
                    <a:cubicBezTo>
                      <a:pt x="0" y="11"/>
                      <a:pt x="12" y="0"/>
                      <a:pt x="26" y="0"/>
                    </a:cubicBezTo>
                    <a:cubicBezTo>
                      <a:pt x="40" y="0"/>
                      <a:pt x="52" y="11"/>
                      <a:pt x="52" y="25"/>
                    </a:cubicBezTo>
                    <a:cubicBezTo>
                      <a:pt x="52" y="39"/>
                      <a:pt x="40" y="51"/>
                      <a:pt x="26" y="51"/>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89" name="Freeform 46"/>
              <p:cNvSpPr>
                <a:spLocks/>
              </p:cNvSpPr>
              <p:nvPr/>
            </p:nvSpPr>
            <p:spPr bwMode="auto">
              <a:xfrm>
                <a:off x="1487488" y="1168401"/>
                <a:ext cx="7938" cy="7938"/>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3" y="0"/>
                      <a:pt x="0" y="2"/>
                      <a:pt x="0" y="5"/>
                    </a:cubicBezTo>
                    <a:cubicBezTo>
                      <a:pt x="0" y="7"/>
                      <a:pt x="3" y="10"/>
                      <a:pt x="5" y="10"/>
                    </a:cubicBezTo>
                    <a:cubicBezTo>
                      <a:pt x="8" y="10"/>
                      <a:pt x="10" y="7"/>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0" name="Freeform 47"/>
              <p:cNvSpPr>
                <a:spLocks noEditPoints="1"/>
              </p:cNvSpPr>
              <p:nvPr/>
            </p:nvSpPr>
            <p:spPr bwMode="auto">
              <a:xfrm>
                <a:off x="1301750" y="1150938"/>
                <a:ext cx="211138" cy="41275"/>
              </a:xfrm>
              <a:custGeom>
                <a:avLst/>
                <a:gdLst>
                  <a:gd name="T0" fmla="*/ 222 w 248"/>
                  <a:gd name="T1" fmla="*/ 35 h 49"/>
                  <a:gd name="T2" fmla="*/ 222 w 248"/>
                  <a:gd name="T3" fmla="*/ 35 h 49"/>
                  <a:gd name="T4" fmla="*/ 212 w 248"/>
                  <a:gd name="T5" fmla="*/ 25 h 49"/>
                  <a:gd name="T6" fmla="*/ 222 w 248"/>
                  <a:gd name="T7" fmla="*/ 15 h 49"/>
                  <a:gd name="T8" fmla="*/ 232 w 248"/>
                  <a:gd name="T9" fmla="*/ 25 h 49"/>
                  <a:gd name="T10" fmla="*/ 222 w 248"/>
                  <a:gd name="T11" fmla="*/ 35 h 49"/>
                  <a:gd name="T12" fmla="*/ 185 w 248"/>
                  <a:gd name="T13" fmla="*/ 35 h 49"/>
                  <a:gd name="T14" fmla="*/ 185 w 248"/>
                  <a:gd name="T15" fmla="*/ 35 h 49"/>
                  <a:gd name="T16" fmla="*/ 163 w 248"/>
                  <a:gd name="T17" fmla="*/ 35 h 49"/>
                  <a:gd name="T18" fmla="*/ 163 w 248"/>
                  <a:gd name="T19" fmla="*/ 22 h 49"/>
                  <a:gd name="T20" fmla="*/ 168 w 248"/>
                  <a:gd name="T21" fmla="*/ 22 h 49"/>
                  <a:gd name="T22" fmla="*/ 168 w 248"/>
                  <a:gd name="T23" fmla="*/ 17 h 49"/>
                  <a:gd name="T24" fmla="*/ 180 w 248"/>
                  <a:gd name="T25" fmla="*/ 17 h 49"/>
                  <a:gd name="T26" fmla="*/ 180 w 248"/>
                  <a:gd name="T27" fmla="*/ 22 h 49"/>
                  <a:gd name="T28" fmla="*/ 185 w 248"/>
                  <a:gd name="T29" fmla="*/ 22 h 49"/>
                  <a:gd name="T30" fmla="*/ 185 w 248"/>
                  <a:gd name="T31" fmla="*/ 35 h 49"/>
                  <a:gd name="T32" fmla="*/ 151 w 248"/>
                  <a:gd name="T33" fmla="*/ 35 h 49"/>
                  <a:gd name="T34" fmla="*/ 151 w 248"/>
                  <a:gd name="T35" fmla="*/ 35 h 49"/>
                  <a:gd name="T36" fmla="*/ 130 w 248"/>
                  <a:gd name="T37" fmla="*/ 35 h 49"/>
                  <a:gd name="T38" fmla="*/ 130 w 248"/>
                  <a:gd name="T39" fmla="*/ 22 h 49"/>
                  <a:gd name="T40" fmla="*/ 135 w 248"/>
                  <a:gd name="T41" fmla="*/ 22 h 49"/>
                  <a:gd name="T42" fmla="*/ 135 w 248"/>
                  <a:gd name="T43" fmla="*/ 17 h 49"/>
                  <a:gd name="T44" fmla="*/ 147 w 248"/>
                  <a:gd name="T45" fmla="*/ 17 h 49"/>
                  <a:gd name="T46" fmla="*/ 147 w 248"/>
                  <a:gd name="T47" fmla="*/ 22 h 49"/>
                  <a:gd name="T48" fmla="*/ 151 w 248"/>
                  <a:gd name="T49" fmla="*/ 22 h 49"/>
                  <a:gd name="T50" fmla="*/ 151 w 248"/>
                  <a:gd name="T51" fmla="*/ 35 h 49"/>
                  <a:gd name="T52" fmla="*/ 118 w 248"/>
                  <a:gd name="T53" fmla="*/ 35 h 49"/>
                  <a:gd name="T54" fmla="*/ 118 w 248"/>
                  <a:gd name="T55" fmla="*/ 35 h 49"/>
                  <a:gd name="T56" fmla="*/ 97 w 248"/>
                  <a:gd name="T57" fmla="*/ 35 h 49"/>
                  <a:gd name="T58" fmla="*/ 97 w 248"/>
                  <a:gd name="T59" fmla="*/ 22 h 49"/>
                  <a:gd name="T60" fmla="*/ 101 w 248"/>
                  <a:gd name="T61" fmla="*/ 22 h 49"/>
                  <a:gd name="T62" fmla="*/ 101 w 248"/>
                  <a:gd name="T63" fmla="*/ 17 h 49"/>
                  <a:gd name="T64" fmla="*/ 113 w 248"/>
                  <a:gd name="T65" fmla="*/ 17 h 49"/>
                  <a:gd name="T66" fmla="*/ 113 w 248"/>
                  <a:gd name="T67" fmla="*/ 22 h 49"/>
                  <a:gd name="T68" fmla="*/ 118 w 248"/>
                  <a:gd name="T69" fmla="*/ 22 h 49"/>
                  <a:gd name="T70" fmla="*/ 118 w 248"/>
                  <a:gd name="T71" fmla="*/ 35 h 49"/>
                  <a:gd name="T72" fmla="*/ 85 w 248"/>
                  <a:gd name="T73" fmla="*/ 35 h 49"/>
                  <a:gd name="T74" fmla="*/ 85 w 248"/>
                  <a:gd name="T75" fmla="*/ 35 h 49"/>
                  <a:gd name="T76" fmla="*/ 63 w 248"/>
                  <a:gd name="T77" fmla="*/ 35 h 49"/>
                  <a:gd name="T78" fmla="*/ 63 w 248"/>
                  <a:gd name="T79" fmla="*/ 22 h 49"/>
                  <a:gd name="T80" fmla="*/ 67 w 248"/>
                  <a:gd name="T81" fmla="*/ 22 h 49"/>
                  <a:gd name="T82" fmla="*/ 67 w 248"/>
                  <a:gd name="T83" fmla="*/ 17 h 49"/>
                  <a:gd name="T84" fmla="*/ 79 w 248"/>
                  <a:gd name="T85" fmla="*/ 17 h 49"/>
                  <a:gd name="T86" fmla="*/ 79 w 248"/>
                  <a:gd name="T87" fmla="*/ 22 h 49"/>
                  <a:gd name="T88" fmla="*/ 85 w 248"/>
                  <a:gd name="T89" fmla="*/ 22 h 49"/>
                  <a:gd name="T90" fmla="*/ 85 w 248"/>
                  <a:gd name="T91" fmla="*/ 35 h 49"/>
                  <a:gd name="T92" fmla="*/ 26 w 248"/>
                  <a:gd name="T93" fmla="*/ 35 h 49"/>
                  <a:gd name="T94" fmla="*/ 26 w 248"/>
                  <a:gd name="T95" fmla="*/ 35 h 49"/>
                  <a:gd name="T96" fmla="*/ 16 w 248"/>
                  <a:gd name="T97" fmla="*/ 25 h 49"/>
                  <a:gd name="T98" fmla="*/ 26 w 248"/>
                  <a:gd name="T99" fmla="*/ 15 h 49"/>
                  <a:gd name="T100" fmla="*/ 36 w 248"/>
                  <a:gd name="T101" fmla="*/ 25 h 49"/>
                  <a:gd name="T102" fmla="*/ 26 w 248"/>
                  <a:gd name="T103" fmla="*/ 35 h 49"/>
                  <a:gd name="T104" fmla="*/ 0 w 248"/>
                  <a:gd name="T105" fmla="*/ 49 h 49"/>
                  <a:gd name="T106" fmla="*/ 0 w 248"/>
                  <a:gd name="T107" fmla="*/ 49 h 49"/>
                  <a:gd name="T108" fmla="*/ 248 w 248"/>
                  <a:gd name="T109" fmla="*/ 49 h 49"/>
                  <a:gd name="T110" fmla="*/ 248 w 248"/>
                  <a:gd name="T111" fmla="*/ 0 h 49"/>
                  <a:gd name="T112" fmla="*/ 0 w 248"/>
                  <a:gd name="T113" fmla="*/ 0 h 49"/>
                  <a:gd name="T114" fmla="*/ 0 w 248"/>
                  <a:gd name="T115" fmla="*/ 49 h 49"/>
                  <a:gd name="T116" fmla="*/ 0 w 248"/>
                  <a:gd name="T117" fmla="*/ 0 h 49"/>
                  <a:gd name="T118" fmla="*/ 0 w 248"/>
                  <a:gd name="T1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8" h="49">
                    <a:moveTo>
                      <a:pt x="222" y="35"/>
                    </a:moveTo>
                    <a:lnTo>
                      <a:pt x="222" y="35"/>
                    </a:lnTo>
                    <a:cubicBezTo>
                      <a:pt x="217" y="35"/>
                      <a:pt x="212" y="30"/>
                      <a:pt x="212" y="25"/>
                    </a:cubicBezTo>
                    <a:cubicBezTo>
                      <a:pt x="212" y="19"/>
                      <a:pt x="217" y="15"/>
                      <a:pt x="222" y="15"/>
                    </a:cubicBezTo>
                    <a:cubicBezTo>
                      <a:pt x="228" y="15"/>
                      <a:pt x="232" y="19"/>
                      <a:pt x="232" y="25"/>
                    </a:cubicBezTo>
                    <a:cubicBezTo>
                      <a:pt x="232" y="30"/>
                      <a:pt x="228" y="35"/>
                      <a:pt x="222" y="35"/>
                    </a:cubicBezTo>
                    <a:close/>
                    <a:moveTo>
                      <a:pt x="185" y="35"/>
                    </a:moveTo>
                    <a:lnTo>
                      <a:pt x="185" y="35"/>
                    </a:lnTo>
                    <a:lnTo>
                      <a:pt x="163" y="35"/>
                    </a:lnTo>
                    <a:lnTo>
                      <a:pt x="163" y="22"/>
                    </a:lnTo>
                    <a:lnTo>
                      <a:pt x="168" y="22"/>
                    </a:lnTo>
                    <a:lnTo>
                      <a:pt x="168" y="17"/>
                    </a:lnTo>
                    <a:lnTo>
                      <a:pt x="180" y="17"/>
                    </a:lnTo>
                    <a:lnTo>
                      <a:pt x="180" y="22"/>
                    </a:lnTo>
                    <a:lnTo>
                      <a:pt x="185" y="22"/>
                    </a:lnTo>
                    <a:lnTo>
                      <a:pt x="185" y="35"/>
                    </a:lnTo>
                    <a:close/>
                    <a:moveTo>
                      <a:pt x="151" y="35"/>
                    </a:moveTo>
                    <a:lnTo>
                      <a:pt x="151" y="35"/>
                    </a:lnTo>
                    <a:lnTo>
                      <a:pt x="130" y="35"/>
                    </a:lnTo>
                    <a:lnTo>
                      <a:pt x="130" y="22"/>
                    </a:lnTo>
                    <a:lnTo>
                      <a:pt x="135" y="22"/>
                    </a:lnTo>
                    <a:lnTo>
                      <a:pt x="135" y="17"/>
                    </a:lnTo>
                    <a:lnTo>
                      <a:pt x="147" y="17"/>
                    </a:lnTo>
                    <a:lnTo>
                      <a:pt x="147" y="22"/>
                    </a:lnTo>
                    <a:lnTo>
                      <a:pt x="151" y="22"/>
                    </a:lnTo>
                    <a:lnTo>
                      <a:pt x="151" y="35"/>
                    </a:lnTo>
                    <a:close/>
                    <a:moveTo>
                      <a:pt x="118" y="35"/>
                    </a:moveTo>
                    <a:lnTo>
                      <a:pt x="118" y="35"/>
                    </a:lnTo>
                    <a:lnTo>
                      <a:pt x="97" y="35"/>
                    </a:lnTo>
                    <a:lnTo>
                      <a:pt x="97" y="22"/>
                    </a:lnTo>
                    <a:lnTo>
                      <a:pt x="101" y="22"/>
                    </a:lnTo>
                    <a:lnTo>
                      <a:pt x="101" y="17"/>
                    </a:lnTo>
                    <a:lnTo>
                      <a:pt x="113" y="17"/>
                    </a:lnTo>
                    <a:lnTo>
                      <a:pt x="113" y="22"/>
                    </a:lnTo>
                    <a:lnTo>
                      <a:pt x="118" y="22"/>
                    </a:lnTo>
                    <a:lnTo>
                      <a:pt x="118" y="35"/>
                    </a:lnTo>
                    <a:close/>
                    <a:moveTo>
                      <a:pt x="85" y="35"/>
                    </a:moveTo>
                    <a:lnTo>
                      <a:pt x="85" y="35"/>
                    </a:lnTo>
                    <a:lnTo>
                      <a:pt x="63" y="35"/>
                    </a:lnTo>
                    <a:lnTo>
                      <a:pt x="63" y="22"/>
                    </a:lnTo>
                    <a:lnTo>
                      <a:pt x="67" y="22"/>
                    </a:lnTo>
                    <a:lnTo>
                      <a:pt x="67" y="17"/>
                    </a:lnTo>
                    <a:lnTo>
                      <a:pt x="79" y="17"/>
                    </a:lnTo>
                    <a:lnTo>
                      <a:pt x="79" y="22"/>
                    </a:lnTo>
                    <a:lnTo>
                      <a:pt x="85" y="22"/>
                    </a:lnTo>
                    <a:lnTo>
                      <a:pt x="85" y="35"/>
                    </a:lnTo>
                    <a:close/>
                    <a:moveTo>
                      <a:pt x="26" y="35"/>
                    </a:moveTo>
                    <a:lnTo>
                      <a:pt x="26" y="35"/>
                    </a:lnTo>
                    <a:cubicBezTo>
                      <a:pt x="20" y="35"/>
                      <a:pt x="16" y="30"/>
                      <a:pt x="16" y="25"/>
                    </a:cubicBezTo>
                    <a:cubicBezTo>
                      <a:pt x="16" y="19"/>
                      <a:pt x="20" y="15"/>
                      <a:pt x="26" y="15"/>
                    </a:cubicBezTo>
                    <a:cubicBezTo>
                      <a:pt x="31" y="15"/>
                      <a:pt x="36" y="19"/>
                      <a:pt x="36" y="25"/>
                    </a:cubicBezTo>
                    <a:cubicBezTo>
                      <a:pt x="36" y="30"/>
                      <a:pt x="31" y="35"/>
                      <a:pt x="26" y="35"/>
                    </a:cubicBezTo>
                    <a:close/>
                    <a:moveTo>
                      <a:pt x="0" y="49"/>
                    </a:moveTo>
                    <a:lnTo>
                      <a:pt x="0" y="49"/>
                    </a:lnTo>
                    <a:lnTo>
                      <a:pt x="248" y="49"/>
                    </a:lnTo>
                    <a:lnTo>
                      <a:pt x="248" y="0"/>
                    </a:lnTo>
                    <a:lnTo>
                      <a:pt x="0" y="0"/>
                    </a:lnTo>
                    <a:lnTo>
                      <a:pt x="0" y="49"/>
                    </a:lnTo>
                    <a:close/>
                    <a:moveTo>
                      <a:pt x="0" y="0"/>
                    </a:moveTo>
                    <a:lnTo>
                      <a:pt x="0" y="0"/>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1" name="Freeform 48"/>
              <p:cNvSpPr>
                <a:spLocks/>
              </p:cNvSpPr>
              <p:nvPr/>
            </p:nvSpPr>
            <p:spPr bwMode="auto">
              <a:xfrm>
                <a:off x="1320800" y="1168401"/>
                <a:ext cx="7938" cy="7938"/>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2" y="0"/>
                      <a:pt x="0" y="2"/>
                      <a:pt x="0" y="5"/>
                    </a:cubicBezTo>
                    <a:cubicBezTo>
                      <a:pt x="0" y="7"/>
                      <a:pt x="2" y="10"/>
                      <a:pt x="5" y="10"/>
                    </a:cubicBezTo>
                    <a:cubicBezTo>
                      <a:pt x="8" y="10"/>
                      <a:pt x="10" y="7"/>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2" name="Freeform 49"/>
              <p:cNvSpPr>
                <a:spLocks/>
              </p:cNvSpPr>
              <p:nvPr/>
            </p:nvSpPr>
            <p:spPr bwMode="auto">
              <a:xfrm>
                <a:off x="1711325" y="1168401"/>
                <a:ext cx="7938" cy="7938"/>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3" y="0"/>
                      <a:pt x="0" y="2"/>
                      <a:pt x="0" y="5"/>
                    </a:cubicBezTo>
                    <a:cubicBezTo>
                      <a:pt x="0" y="7"/>
                      <a:pt x="3" y="10"/>
                      <a:pt x="5" y="10"/>
                    </a:cubicBezTo>
                    <a:cubicBezTo>
                      <a:pt x="8" y="10"/>
                      <a:pt x="10" y="7"/>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3" name="Freeform 50"/>
              <p:cNvSpPr>
                <a:spLocks/>
              </p:cNvSpPr>
              <p:nvPr/>
            </p:nvSpPr>
            <p:spPr bwMode="auto">
              <a:xfrm>
                <a:off x="1544638" y="1168401"/>
                <a:ext cx="7938" cy="7938"/>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2" y="0"/>
                      <a:pt x="0" y="2"/>
                      <a:pt x="0" y="5"/>
                    </a:cubicBezTo>
                    <a:cubicBezTo>
                      <a:pt x="0" y="7"/>
                      <a:pt x="2" y="10"/>
                      <a:pt x="5" y="10"/>
                    </a:cubicBezTo>
                    <a:cubicBezTo>
                      <a:pt x="8" y="10"/>
                      <a:pt x="10" y="7"/>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4" name="Freeform 51"/>
              <p:cNvSpPr>
                <a:spLocks noEditPoints="1"/>
              </p:cNvSpPr>
              <p:nvPr/>
            </p:nvSpPr>
            <p:spPr bwMode="auto">
              <a:xfrm>
                <a:off x="1527175" y="1150938"/>
                <a:ext cx="209550" cy="41275"/>
              </a:xfrm>
              <a:custGeom>
                <a:avLst/>
                <a:gdLst>
                  <a:gd name="T0" fmla="*/ 221 w 247"/>
                  <a:gd name="T1" fmla="*/ 35 h 49"/>
                  <a:gd name="T2" fmla="*/ 221 w 247"/>
                  <a:gd name="T3" fmla="*/ 35 h 49"/>
                  <a:gd name="T4" fmla="*/ 212 w 247"/>
                  <a:gd name="T5" fmla="*/ 25 h 49"/>
                  <a:gd name="T6" fmla="*/ 221 w 247"/>
                  <a:gd name="T7" fmla="*/ 15 h 49"/>
                  <a:gd name="T8" fmla="*/ 231 w 247"/>
                  <a:gd name="T9" fmla="*/ 25 h 49"/>
                  <a:gd name="T10" fmla="*/ 221 w 247"/>
                  <a:gd name="T11" fmla="*/ 35 h 49"/>
                  <a:gd name="T12" fmla="*/ 184 w 247"/>
                  <a:gd name="T13" fmla="*/ 35 h 49"/>
                  <a:gd name="T14" fmla="*/ 184 w 247"/>
                  <a:gd name="T15" fmla="*/ 35 h 49"/>
                  <a:gd name="T16" fmla="*/ 163 w 247"/>
                  <a:gd name="T17" fmla="*/ 35 h 49"/>
                  <a:gd name="T18" fmla="*/ 163 w 247"/>
                  <a:gd name="T19" fmla="*/ 22 h 49"/>
                  <a:gd name="T20" fmla="*/ 167 w 247"/>
                  <a:gd name="T21" fmla="*/ 22 h 49"/>
                  <a:gd name="T22" fmla="*/ 167 w 247"/>
                  <a:gd name="T23" fmla="*/ 17 h 49"/>
                  <a:gd name="T24" fmla="*/ 179 w 247"/>
                  <a:gd name="T25" fmla="*/ 17 h 49"/>
                  <a:gd name="T26" fmla="*/ 179 w 247"/>
                  <a:gd name="T27" fmla="*/ 22 h 49"/>
                  <a:gd name="T28" fmla="*/ 184 w 247"/>
                  <a:gd name="T29" fmla="*/ 22 h 49"/>
                  <a:gd name="T30" fmla="*/ 184 w 247"/>
                  <a:gd name="T31" fmla="*/ 35 h 49"/>
                  <a:gd name="T32" fmla="*/ 151 w 247"/>
                  <a:gd name="T33" fmla="*/ 35 h 49"/>
                  <a:gd name="T34" fmla="*/ 151 w 247"/>
                  <a:gd name="T35" fmla="*/ 35 h 49"/>
                  <a:gd name="T36" fmla="*/ 129 w 247"/>
                  <a:gd name="T37" fmla="*/ 35 h 49"/>
                  <a:gd name="T38" fmla="*/ 129 w 247"/>
                  <a:gd name="T39" fmla="*/ 22 h 49"/>
                  <a:gd name="T40" fmla="*/ 134 w 247"/>
                  <a:gd name="T41" fmla="*/ 22 h 49"/>
                  <a:gd name="T42" fmla="*/ 134 w 247"/>
                  <a:gd name="T43" fmla="*/ 17 h 49"/>
                  <a:gd name="T44" fmla="*/ 146 w 247"/>
                  <a:gd name="T45" fmla="*/ 17 h 49"/>
                  <a:gd name="T46" fmla="*/ 146 w 247"/>
                  <a:gd name="T47" fmla="*/ 22 h 49"/>
                  <a:gd name="T48" fmla="*/ 151 w 247"/>
                  <a:gd name="T49" fmla="*/ 22 h 49"/>
                  <a:gd name="T50" fmla="*/ 151 w 247"/>
                  <a:gd name="T51" fmla="*/ 35 h 49"/>
                  <a:gd name="T52" fmla="*/ 117 w 247"/>
                  <a:gd name="T53" fmla="*/ 35 h 49"/>
                  <a:gd name="T54" fmla="*/ 117 w 247"/>
                  <a:gd name="T55" fmla="*/ 35 h 49"/>
                  <a:gd name="T56" fmla="*/ 96 w 247"/>
                  <a:gd name="T57" fmla="*/ 35 h 49"/>
                  <a:gd name="T58" fmla="*/ 96 w 247"/>
                  <a:gd name="T59" fmla="*/ 22 h 49"/>
                  <a:gd name="T60" fmla="*/ 101 w 247"/>
                  <a:gd name="T61" fmla="*/ 22 h 49"/>
                  <a:gd name="T62" fmla="*/ 101 w 247"/>
                  <a:gd name="T63" fmla="*/ 17 h 49"/>
                  <a:gd name="T64" fmla="*/ 112 w 247"/>
                  <a:gd name="T65" fmla="*/ 17 h 49"/>
                  <a:gd name="T66" fmla="*/ 112 w 247"/>
                  <a:gd name="T67" fmla="*/ 22 h 49"/>
                  <a:gd name="T68" fmla="*/ 117 w 247"/>
                  <a:gd name="T69" fmla="*/ 22 h 49"/>
                  <a:gd name="T70" fmla="*/ 117 w 247"/>
                  <a:gd name="T71" fmla="*/ 35 h 49"/>
                  <a:gd name="T72" fmla="*/ 84 w 247"/>
                  <a:gd name="T73" fmla="*/ 35 h 49"/>
                  <a:gd name="T74" fmla="*/ 84 w 247"/>
                  <a:gd name="T75" fmla="*/ 35 h 49"/>
                  <a:gd name="T76" fmla="*/ 62 w 247"/>
                  <a:gd name="T77" fmla="*/ 35 h 49"/>
                  <a:gd name="T78" fmla="*/ 62 w 247"/>
                  <a:gd name="T79" fmla="*/ 22 h 49"/>
                  <a:gd name="T80" fmla="*/ 67 w 247"/>
                  <a:gd name="T81" fmla="*/ 22 h 49"/>
                  <a:gd name="T82" fmla="*/ 67 w 247"/>
                  <a:gd name="T83" fmla="*/ 17 h 49"/>
                  <a:gd name="T84" fmla="*/ 78 w 247"/>
                  <a:gd name="T85" fmla="*/ 17 h 49"/>
                  <a:gd name="T86" fmla="*/ 78 w 247"/>
                  <a:gd name="T87" fmla="*/ 22 h 49"/>
                  <a:gd name="T88" fmla="*/ 84 w 247"/>
                  <a:gd name="T89" fmla="*/ 22 h 49"/>
                  <a:gd name="T90" fmla="*/ 84 w 247"/>
                  <a:gd name="T91" fmla="*/ 35 h 49"/>
                  <a:gd name="T92" fmla="*/ 25 w 247"/>
                  <a:gd name="T93" fmla="*/ 35 h 49"/>
                  <a:gd name="T94" fmla="*/ 25 w 247"/>
                  <a:gd name="T95" fmla="*/ 35 h 49"/>
                  <a:gd name="T96" fmla="*/ 15 w 247"/>
                  <a:gd name="T97" fmla="*/ 25 h 49"/>
                  <a:gd name="T98" fmla="*/ 25 w 247"/>
                  <a:gd name="T99" fmla="*/ 15 h 49"/>
                  <a:gd name="T100" fmla="*/ 35 w 247"/>
                  <a:gd name="T101" fmla="*/ 25 h 49"/>
                  <a:gd name="T102" fmla="*/ 25 w 247"/>
                  <a:gd name="T103" fmla="*/ 35 h 49"/>
                  <a:gd name="T104" fmla="*/ 0 w 247"/>
                  <a:gd name="T105" fmla="*/ 49 h 49"/>
                  <a:gd name="T106" fmla="*/ 0 w 247"/>
                  <a:gd name="T107" fmla="*/ 49 h 49"/>
                  <a:gd name="T108" fmla="*/ 247 w 247"/>
                  <a:gd name="T109" fmla="*/ 49 h 49"/>
                  <a:gd name="T110" fmla="*/ 247 w 247"/>
                  <a:gd name="T111" fmla="*/ 0 h 49"/>
                  <a:gd name="T112" fmla="*/ 0 w 247"/>
                  <a:gd name="T113" fmla="*/ 0 h 49"/>
                  <a:gd name="T114" fmla="*/ 0 w 247"/>
                  <a:gd name="T115" fmla="*/ 49 h 49"/>
                  <a:gd name="T116" fmla="*/ 0 w 247"/>
                  <a:gd name="T117" fmla="*/ 0 h 49"/>
                  <a:gd name="T118" fmla="*/ 0 w 247"/>
                  <a:gd name="T1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7" h="49">
                    <a:moveTo>
                      <a:pt x="221" y="35"/>
                    </a:moveTo>
                    <a:lnTo>
                      <a:pt x="221" y="35"/>
                    </a:lnTo>
                    <a:cubicBezTo>
                      <a:pt x="216" y="35"/>
                      <a:pt x="212" y="30"/>
                      <a:pt x="212" y="25"/>
                    </a:cubicBezTo>
                    <a:cubicBezTo>
                      <a:pt x="212" y="19"/>
                      <a:pt x="216" y="15"/>
                      <a:pt x="221" y="15"/>
                    </a:cubicBezTo>
                    <a:cubicBezTo>
                      <a:pt x="227" y="15"/>
                      <a:pt x="231" y="19"/>
                      <a:pt x="231" y="25"/>
                    </a:cubicBezTo>
                    <a:cubicBezTo>
                      <a:pt x="231" y="30"/>
                      <a:pt x="227" y="35"/>
                      <a:pt x="221" y="35"/>
                    </a:cubicBezTo>
                    <a:close/>
                    <a:moveTo>
                      <a:pt x="184" y="35"/>
                    </a:moveTo>
                    <a:lnTo>
                      <a:pt x="184" y="35"/>
                    </a:lnTo>
                    <a:lnTo>
                      <a:pt x="163" y="35"/>
                    </a:lnTo>
                    <a:lnTo>
                      <a:pt x="163" y="22"/>
                    </a:lnTo>
                    <a:lnTo>
                      <a:pt x="167" y="22"/>
                    </a:lnTo>
                    <a:lnTo>
                      <a:pt x="167" y="17"/>
                    </a:lnTo>
                    <a:lnTo>
                      <a:pt x="179" y="17"/>
                    </a:lnTo>
                    <a:lnTo>
                      <a:pt x="179" y="22"/>
                    </a:lnTo>
                    <a:lnTo>
                      <a:pt x="184" y="22"/>
                    </a:lnTo>
                    <a:lnTo>
                      <a:pt x="184" y="35"/>
                    </a:lnTo>
                    <a:close/>
                    <a:moveTo>
                      <a:pt x="151" y="35"/>
                    </a:moveTo>
                    <a:lnTo>
                      <a:pt x="151" y="35"/>
                    </a:lnTo>
                    <a:lnTo>
                      <a:pt x="129" y="35"/>
                    </a:lnTo>
                    <a:lnTo>
                      <a:pt x="129" y="22"/>
                    </a:lnTo>
                    <a:lnTo>
                      <a:pt x="134" y="22"/>
                    </a:lnTo>
                    <a:lnTo>
                      <a:pt x="134" y="17"/>
                    </a:lnTo>
                    <a:lnTo>
                      <a:pt x="146" y="17"/>
                    </a:lnTo>
                    <a:lnTo>
                      <a:pt x="146" y="22"/>
                    </a:lnTo>
                    <a:lnTo>
                      <a:pt x="151" y="22"/>
                    </a:lnTo>
                    <a:lnTo>
                      <a:pt x="151" y="35"/>
                    </a:lnTo>
                    <a:close/>
                    <a:moveTo>
                      <a:pt x="117" y="35"/>
                    </a:moveTo>
                    <a:lnTo>
                      <a:pt x="117" y="35"/>
                    </a:lnTo>
                    <a:lnTo>
                      <a:pt x="96" y="35"/>
                    </a:lnTo>
                    <a:lnTo>
                      <a:pt x="96" y="22"/>
                    </a:lnTo>
                    <a:lnTo>
                      <a:pt x="101" y="22"/>
                    </a:lnTo>
                    <a:lnTo>
                      <a:pt x="101" y="17"/>
                    </a:lnTo>
                    <a:lnTo>
                      <a:pt x="112" y="17"/>
                    </a:lnTo>
                    <a:lnTo>
                      <a:pt x="112" y="22"/>
                    </a:lnTo>
                    <a:lnTo>
                      <a:pt x="117" y="22"/>
                    </a:lnTo>
                    <a:lnTo>
                      <a:pt x="117" y="35"/>
                    </a:lnTo>
                    <a:close/>
                    <a:moveTo>
                      <a:pt x="84" y="35"/>
                    </a:moveTo>
                    <a:lnTo>
                      <a:pt x="84" y="35"/>
                    </a:lnTo>
                    <a:lnTo>
                      <a:pt x="62" y="35"/>
                    </a:lnTo>
                    <a:lnTo>
                      <a:pt x="62" y="22"/>
                    </a:lnTo>
                    <a:lnTo>
                      <a:pt x="67" y="22"/>
                    </a:lnTo>
                    <a:lnTo>
                      <a:pt x="67" y="17"/>
                    </a:lnTo>
                    <a:lnTo>
                      <a:pt x="78" y="17"/>
                    </a:lnTo>
                    <a:lnTo>
                      <a:pt x="78" y="22"/>
                    </a:lnTo>
                    <a:lnTo>
                      <a:pt x="84" y="22"/>
                    </a:lnTo>
                    <a:lnTo>
                      <a:pt x="84" y="35"/>
                    </a:lnTo>
                    <a:close/>
                    <a:moveTo>
                      <a:pt x="25" y="35"/>
                    </a:moveTo>
                    <a:lnTo>
                      <a:pt x="25" y="35"/>
                    </a:lnTo>
                    <a:cubicBezTo>
                      <a:pt x="20" y="35"/>
                      <a:pt x="15" y="30"/>
                      <a:pt x="15" y="25"/>
                    </a:cubicBezTo>
                    <a:cubicBezTo>
                      <a:pt x="15" y="19"/>
                      <a:pt x="20" y="15"/>
                      <a:pt x="25" y="15"/>
                    </a:cubicBezTo>
                    <a:cubicBezTo>
                      <a:pt x="30" y="15"/>
                      <a:pt x="35" y="19"/>
                      <a:pt x="35" y="25"/>
                    </a:cubicBezTo>
                    <a:cubicBezTo>
                      <a:pt x="35" y="30"/>
                      <a:pt x="30" y="35"/>
                      <a:pt x="25" y="35"/>
                    </a:cubicBezTo>
                    <a:close/>
                    <a:moveTo>
                      <a:pt x="0" y="49"/>
                    </a:moveTo>
                    <a:lnTo>
                      <a:pt x="0" y="49"/>
                    </a:lnTo>
                    <a:lnTo>
                      <a:pt x="247" y="49"/>
                    </a:lnTo>
                    <a:lnTo>
                      <a:pt x="247" y="0"/>
                    </a:lnTo>
                    <a:lnTo>
                      <a:pt x="0" y="0"/>
                    </a:lnTo>
                    <a:lnTo>
                      <a:pt x="0" y="49"/>
                    </a:lnTo>
                    <a:close/>
                    <a:moveTo>
                      <a:pt x="0" y="0"/>
                    </a:moveTo>
                    <a:lnTo>
                      <a:pt x="0" y="0"/>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5" name="Freeform 52"/>
              <p:cNvSpPr>
                <a:spLocks/>
              </p:cNvSpPr>
              <p:nvPr/>
            </p:nvSpPr>
            <p:spPr bwMode="auto">
              <a:xfrm>
                <a:off x="1487488" y="1227138"/>
                <a:ext cx="7938" cy="9525"/>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3" y="0"/>
                      <a:pt x="0" y="2"/>
                      <a:pt x="0" y="5"/>
                    </a:cubicBezTo>
                    <a:cubicBezTo>
                      <a:pt x="0" y="8"/>
                      <a:pt x="3" y="10"/>
                      <a:pt x="5" y="10"/>
                    </a:cubicBezTo>
                    <a:cubicBezTo>
                      <a:pt x="8" y="10"/>
                      <a:pt x="10" y="8"/>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6" name="Freeform 53"/>
              <p:cNvSpPr>
                <a:spLocks/>
              </p:cNvSpPr>
              <p:nvPr/>
            </p:nvSpPr>
            <p:spPr bwMode="auto">
              <a:xfrm>
                <a:off x="1320800" y="1227138"/>
                <a:ext cx="7938" cy="9525"/>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2" y="0"/>
                      <a:pt x="0" y="2"/>
                      <a:pt x="0" y="5"/>
                    </a:cubicBezTo>
                    <a:cubicBezTo>
                      <a:pt x="0" y="8"/>
                      <a:pt x="2" y="10"/>
                      <a:pt x="5" y="10"/>
                    </a:cubicBezTo>
                    <a:cubicBezTo>
                      <a:pt x="8" y="10"/>
                      <a:pt x="10" y="8"/>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7" name="Freeform 54"/>
              <p:cNvSpPr>
                <a:spLocks noEditPoints="1"/>
              </p:cNvSpPr>
              <p:nvPr/>
            </p:nvSpPr>
            <p:spPr bwMode="auto">
              <a:xfrm>
                <a:off x="1301750" y="1211263"/>
                <a:ext cx="211138" cy="41275"/>
              </a:xfrm>
              <a:custGeom>
                <a:avLst/>
                <a:gdLst>
                  <a:gd name="T0" fmla="*/ 222 w 248"/>
                  <a:gd name="T1" fmla="*/ 35 h 49"/>
                  <a:gd name="T2" fmla="*/ 222 w 248"/>
                  <a:gd name="T3" fmla="*/ 35 h 49"/>
                  <a:gd name="T4" fmla="*/ 212 w 248"/>
                  <a:gd name="T5" fmla="*/ 25 h 49"/>
                  <a:gd name="T6" fmla="*/ 222 w 248"/>
                  <a:gd name="T7" fmla="*/ 15 h 49"/>
                  <a:gd name="T8" fmla="*/ 232 w 248"/>
                  <a:gd name="T9" fmla="*/ 25 h 49"/>
                  <a:gd name="T10" fmla="*/ 222 w 248"/>
                  <a:gd name="T11" fmla="*/ 35 h 49"/>
                  <a:gd name="T12" fmla="*/ 185 w 248"/>
                  <a:gd name="T13" fmla="*/ 35 h 49"/>
                  <a:gd name="T14" fmla="*/ 185 w 248"/>
                  <a:gd name="T15" fmla="*/ 35 h 49"/>
                  <a:gd name="T16" fmla="*/ 163 w 248"/>
                  <a:gd name="T17" fmla="*/ 35 h 49"/>
                  <a:gd name="T18" fmla="*/ 163 w 248"/>
                  <a:gd name="T19" fmla="*/ 22 h 49"/>
                  <a:gd name="T20" fmla="*/ 168 w 248"/>
                  <a:gd name="T21" fmla="*/ 22 h 49"/>
                  <a:gd name="T22" fmla="*/ 168 w 248"/>
                  <a:gd name="T23" fmla="*/ 17 h 49"/>
                  <a:gd name="T24" fmla="*/ 180 w 248"/>
                  <a:gd name="T25" fmla="*/ 17 h 49"/>
                  <a:gd name="T26" fmla="*/ 180 w 248"/>
                  <a:gd name="T27" fmla="*/ 22 h 49"/>
                  <a:gd name="T28" fmla="*/ 185 w 248"/>
                  <a:gd name="T29" fmla="*/ 22 h 49"/>
                  <a:gd name="T30" fmla="*/ 185 w 248"/>
                  <a:gd name="T31" fmla="*/ 35 h 49"/>
                  <a:gd name="T32" fmla="*/ 151 w 248"/>
                  <a:gd name="T33" fmla="*/ 35 h 49"/>
                  <a:gd name="T34" fmla="*/ 151 w 248"/>
                  <a:gd name="T35" fmla="*/ 35 h 49"/>
                  <a:gd name="T36" fmla="*/ 130 w 248"/>
                  <a:gd name="T37" fmla="*/ 35 h 49"/>
                  <a:gd name="T38" fmla="*/ 130 w 248"/>
                  <a:gd name="T39" fmla="*/ 22 h 49"/>
                  <a:gd name="T40" fmla="*/ 135 w 248"/>
                  <a:gd name="T41" fmla="*/ 22 h 49"/>
                  <a:gd name="T42" fmla="*/ 135 w 248"/>
                  <a:gd name="T43" fmla="*/ 17 h 49"/>
                  <a:gd name="T44" fmla="*/ 147 w 248"/>
                  <a:gd name="T45" fmla="*/ 17 h 49"/>
                  <a:gd name="T46" fmla="*/ 147 w 248"/>
                  <a:gd name="T47" fmla="*/ 22 h 49"/>
                  <a:gd name="T48" fmla="*/ 151 w 248"/>
                  <a:gd name="T49" fmla="*/ 22 h 49"/>
                  <a:gd name="T50" fmla="*/ 151 w 248"/>
                  <a:gd name="T51" fmla="*/ 35 h 49"/>
                  <a:gd name="T52" fmla="*/ 118 w 248"/>
                  <a:gd name="T53" fmla="*/ 35 h 49"/>
                  <a:gd name="T54" fmla="*/ 118 w 248"/>
                  <a:gd name="T55" fmla="*/ 35 h 49"/>
                  <a:gd name="T56" fmla="*/ 97 w 248"/>
                  <a:gd name="T57" fmla="*/ 35 h 49"/>
                  <a:gd name="T58" fmla="*/ 97 w 248"/>
                  <a:gd name="T59" fmla="*/ 22 h 49"/>
                  <a:gd name="T60" fmla="*/ 101 w 248"/>
                  <a:gd name="T61" fmla="*/ 22 h 49"/>
                  <a:gd name="T62" fmla="*/ 101 w 248"/>
                  <a:gd name="T63" fmla="*/ 17 h 49"/>
                  <a:gd name="T64" fmla="*/ 113 w 248"/>
                  <a:gd name="T65" fmla="*/ 17 h 49"/>
                  <a:gd name="T66" fmla="*/ 113 w 248"/>
                  <a:gd name="T67" fmla="*/ 22 h 49"/>
                  <a:gd name="T68" fmla="*/ 118 w 248"/>
                  <a:gd name="T69" fmla="*/ 22 h 49"/>
                  <a:gd name="T70" fmla="*/ 118 w 248"/>
                  <a:gd name="T71" fmla="*/ 35 h 49"/>
                  <a:gd name="T72" fmla="*/ 85 w 248"/>
                  <a:gd name="T73" fmla="*/ 35 h 49"/>
                  <a:gd name="T74" fmla="*/ 85 w 248"/>
                  <a:gd name="T75" fmla="*/ 35 h 49"/>
                  <a:gd name="T76" fmla="*/ 63 w 248"/>
                  <a:gd name="T77" fmla="*/ 35 h 49"/>
                  <a:gd name="T78" fmla="*/ 63 w 248"/>
                  <a:gd name="T79" fmla="*/ 22 h 49"/>
                  <a:gd name="T80" fmla="*/ 67 w 248"/>
                  <a:gd name="T81" fmla="*/ 22 h 49"/>
                  <a:gd name="T82" fmla="*/ 67 w 248"/>
                  <a:gd name="T83" fmla="*/ 17 h 49"/>
                  <a:gd name="T84" fmla="*/ 79 w 248"/>
                  <a:gd name="T85" fmla="*/ 17 h 49"/>
                  <a:gd name="T86" fmla="*/ 79 w 248"/>
                  <a:gd name="T87" fmla="*/ 22 h 49"/>
                  <a:gd name="T88" fmla="*/ 85 w 248"/>
                  <a:gd name="T89" fmla="*/ 22 h 49"/>
                  <a:gd name="T90" fmla="*/ 85 w 248"/>
                  <a:gd name="T91" fmla="*/ 35 h 49"/>
                  <a:gd name="T92" fmla="*/ 26 w 248"/>
                  <a:gd name="T93" fmla="*/ 35 h 49"/>
                  <a:gd name="T94" fmla="*/ 26 w 248"/>
                  <a:gd name="T95" fmla="*/ 35 h 49"/>
                  <a:gd name="T96" fmla="*/ 16 w 248"/>
                  <a:gd name="T97" fmla="*/ 25 h 49"/>
                  <a:gd name="T98" fmla="*/ 26 w 248"/>
                  <a:gd name="T99" fmla="*/ 15 h 49"/>
                  <a:gd name="T100" fmla="*/ 36 w 248"/>
                  <a:gd name="T101" fmla="*/ 25 h 49"/>
                  <a:gd name="T102" fmla="*/ 26 w 248"/>
                  <a:gd name="T103" fmla="*/ 35 h 49"/>
                  <a:gd name="T104" fmla="*/ 0 w 248"/>
                  <a:gd name="T105" fmla="*/ 49 h 49"/>
                  <a:gd name="T106" fmla="*/ 0 w 248"/>
                  <a:gd name="T107" fmla="*/ 49 h 49"/>
                  <a:gd name="T108" fmla="*/ 248 w 248"/>
                  <a:gd name="T109" fmla="*/ 49 h 49"/>
                  <a:gd name="T110" fmla="*/ 248 w 248"/>
                  <a:gd name="T111" fmla="*/ 0 h 49"/>
                  <a:gd name="T112" fmla="*/ 0 w 248"/>
                  <a:gd name="T113" fmla="*/ 0 h 49"/>
                  <a:gd name="T114" fmla="*/ 0 w 248"/>
                  <a:gd name="T115" fmla="*/ 49 h 49"/>
                  <a:gd name="T116" fmla="*/ 0 w 248"/>
                  <a:gd name="T117" fmla="*/ 0 h 49"/>
                  <a:gd name="T118" fmla="*/ 0 w 248"/>
                  <a:gd name="T1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8" h="49">
                    <a:moveTo>
                      <a:pt x="222" y="35"/>
                    </a:moveTo>
                    <a:lnTo>
                      <a:pt x="222" y="35"/>
                    </a:lnTo>
                    <a:cubicBezTo>
                      <a:pt x="217" y="35"/>
                      <a:pt x="212" y="30"/>
                      <a:pt x="212" y="25"/>
                    </a:cubicBezTo>
                    <a:cubicBezTo>
                      <a:pt x="212" y="19"/>
                      <a:pt x="217" y="15"/>
                      <a:pt x="222" y="15"/>
                    </a:cubicBezTo>
                    <a:cubicBezTo>
                      <a:pt x="228" y="15"/>
                      <a:pt x="232" y="19"/>
                      <a:pt x="232" y="25"/>
                    </a:cubicBezTo>
                    <a:cubicBezTo>
                      <a:pt x="232" y="30"/>
                      <a:pt x="228" y="35"/>
                      <a:pt x="222" y="35"/>
                    </a:cubicBezTo>
                    <a:close/>
                    <a:moveTo>
                      <a:pt x="185" y="35"/>
                    </a:moveTo>
                    <a:lnTo>
                      <a:pt x="185" y="35"/>
                    </a:lnTo>
                    <a:lnTo>
                      <a:pt x="163" y="35"/>
                    </a:lnTo>
                    <a:lnTo>
                      <a:pt x="163" y="22"/>
                    </a:lnTo>
                    <a:lnTo>
                      <a:pt x="168" y="22"/>
                    </a:lnTo>
                    <a:lnTo>
                      <a:pt x="168" y="17"/>
                    </a:lnTo>
                    <a:lnTo>
                      <a:pt x="180" y="17"/>
                    </a:lnTo>
                    <a:lnTo>
                      <a:pt x="180" y="22"/>
                    </a:lnTo>
                    <a:lnTo>
                      <a:pt x="185" y="22"/>
                    </a:lnTo>
                    <a:lnTo>
                      <a:pt x="185" y="35"/>
                    </a:lnTo>
                    <a:close/>
                    <a:moveTo>
                      <a:pt x="151" y="35"/>
                    </a:moveTo>
                    <a:lnTo>
                      <a:pt x="151" y="35"/>
                    </a:lnTo>
                    <a:lnTo>
                      <a:pt x="130" y="35"/>
                    </a:lnTo>
                    <a:lnTo>
                      <a:pt x="130" y="22"/>
                    </a:lnTo>
                    <a:lnTo>
                      <a:pt x="135" y="22"/>
                    </a:lnTo>
                    <a:lnTo>
                      <a:pt x="135" y="17"/>
                    </a:lnTo>
                    <a:lnTo>
                      <a:pt x="147" y="17"/>
                    </a:lnTo>
                    <a:lnTo>
                      <a:pt x="147" y="22"/>
                    </a:lnTo>
                    <a:lnTo>
                      <a:pt x="151" y="22"/>
                    </a:lnTo>
                    <a:lnTo>
                      <a:pt x="151" y="35"/>
                    </a:lnTo>
                    <a:close/>
                    <a:moveTo>
                      <a:pt x="118" y="35"/>
                    </a:moveTo>
                    <a:lnTo>
                      <a:pt x="118" y="35"/>
                    </a:lnTo>
                    <a:lnTo>
                      <a:pt x="97" y="35"/>
                    </a:lnTo>
                    <a:lnTo>
                      <a:pt x="97" y="22"/>
                    </a:lnTo>
                    <a:lnTo>
                      <a:pt x="101" y="22"/>
                    </a:lnTo>
                    <a:lnTo>
                      <a:pt x="101" y="17"/>
                    </a:lnTo>
                    <a:lnTo>
                      <a:pt x="113" y="17"/>
                    </a:lnTo>
                    <a:lnTo>
                      <a:pt x="113" y="22"/>
                    </a:lnTo>
                    <a:lnTo>
                      <a:pt x="118" y="22"/>
                    </a:lnTo>
                    <a:lnTo>
                      <a:pt x="118" y="35"/>
                    </a:lnTo>
                    <a:close/>
                    <a:moveTo>
                      <a:pt x="85" y="35"/>
                    </a:moveTo>
                    <a:lnTo>
                      <a:pt x="85" y="35"/>
                    </a:lnTo>
                    <a:lnTo>
                      <a:pt x="63" y="35"/>
                    </a:lnTo>
                    <a:lnTo>
                      <a:pt x="63" y="22"/>
                    </a:lnTo>
                    <a:lnTo>
                      <a:pt x="67" y="22"/>
                    </a:lnTo>
                    <a:lnTo>
                      <a:pt x="67" y="17"/>
                    </a:lnTo>
                    <a:lnTo>
                      <a:pt x="79" y="17"/>
                    </a:lnTo>
                    <a:lnTo>
                      <a:pt x="79" y="22"/>
                    </a:lnTo>
                    <a:lnTo>
                      <a:pt x="85" y="22"/>
                    </a:lnTo>
                    <a:lnTo>
                      <a:pt x="85" y="35"/>
                    </a:lnTo>
                    <a:close/>
                    <a:moveTo>
                      <a:pt x="26" y="35"/>
                    </a:moveTo>
                    <a:lnTo>
                      <a:pt x="26" y="35"/>
                    </a:lnTo>
                    <a:cubicBezTo>
                      <a:pt x="20" y="35"/>
                      <a:pt x="16" y="30"/>
                      <a:pt x="16" y="25"/>
                    </a:cubicBezTo>
                    <a:cubicBezTo>
                      <a:pt x="16" y="19"/>
                      <a:pt x="20" y="15"/>
                      <a:pt x="26" y="15"/>
                    </a:cubicBezTo>
                    <a:cubicBezTo>
                      <a:pt x="31" y="15"/>
                      <a:pt x="36" y="19"/>
                      <a:pt x="36" y="25"/>
                    </a:cubicBezTo>
                    <a:cubicBezTo>
                      <a:pt x="36" y="30"/>
                      <a:pt x="31" y="35"/>
                      <a:pt x="26" y="35"/>
                    </a:cubicBezTo>
                    <a:close/>
                    <a:moveTo>
                      <a:pt x="0" y="49"/>
                    </a:moveTo>
                    <a:lnTo>
                      <a:pt x="0" y="49"/>
                    </a:lnTo>
                    <a:lnTo>
                      <a:pt x="248" y="49"/>
                    </a:lnTo>
                    <a:lnTo>
                      <a:pt x="248" y="0"/>
                    </a:lnTo>
                    <a:lnTo>
                      <a:pt x="0" y="0"/>
                    </a:lnTo>
                    <a:lnTo>
                      <a:pt x="0" y="49"/>
                    </a:lnTo>
                    <a:close/>
                    <a:moveTo>
                      <a:pt x="0" y="0"/>
                    </a:moveTo>
                    <a:lnTo>
                      <a:pt x="0" y="0"/>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8" name="Freeform 55"/>
              <p:cNvSpPr>
                <a:spLocks/>
              </p:cNvSpPr>
              <p:nvPr/>
            </p:nvSpPr>
            <p:spPr bwMode="auto">
              <a:xfrm>
                <a:off x="1711325" y="1227138"/>
                <a:ext cx="7938" cy="9525"/>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3" y="0"/>
                      <a:pt x="0" y="2"/>
                      <a:pt x="0" y="5"/>
                    </a:cubicBezTo>
                    <a:cubicBezTo>
                      <a:pt x="0" y="8"/>
                      <a:pt x="3" y="10"/>
                      <a:pt x="5" y="10"/>
                    </a:cubicBezTo>
                    <a:cubicBezTo>
                      <a:pt x="8" y="10"/>
                      <a:pt x="10" y="8"/>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99" name="Freeform 56"/>
              <p:cNvSpPr>
                <a:spLocks/>
              </p:cNvSpPr>
              <p:nvPr/>
            </p:nvSpPr>
            <p:spPr bwMode="auto">
              <a:xfrm>
                <a:off x="1544638" y="1227138"/>
                <a:ext cx="7938" cy="9525"/>
              </a:xfrm>
              <a:custGeom>
                <a:avLst/>
                <a:gdLst>
                  <a:gd name="T0" fmla="*/ 5 w 10"/>
                  <a:gd name="T1" fmla="*/ 0 h 10"/>
                  <a:gd name="T2" fmla="*/ 5 w 10"/>
                  <a:gd name="T3" fmla="*/ 0 h 10"/>
                  <a:gd name="T4" fmla="*/ 0 w 10"/>
                  <a:gd name="T5" fmla="*/ 5 h 10"/>
                  <a:gd name="T6" fmla="*/ 5 w 10"/>
                  <a:gd name="T7" fmla="*/ 10 h 10"/>
                  <a:gd name="T8" fmla="*/ 10 w 10"/>
                  <a:gd name="T9" fmla="*/ 5 h 10"/>
                  <a:gd name="T10" fmla="*/ 5 w 10"/>
                  <a:gd name="T11" fmla="*/ 0 h 10"/>
                </a:gdLst>
                <a:ahLst/>
                <a:cxnLst>
                  <a:cxn ang="0">
                    <a:pos x="T0" y="T1"/>
                  </a:cxn>
                  <a:cxn ang="0">
                    <a:pos x="T2" y="T3"/>
                  </a:cxn>
                  <a:cxn ang="0">
                    <a:pos x="T4" y="T5"/>
                  </a:cxn>
                  <a:cxn ang="0">
                    <a:pos x="T6" y="T7"/>
                  </a:cxn>
                  <a:cxn ang="0">
                    <a:pos x="T8" y="T9"/>
                  </a:cxn>
                  <a:cxn ang="0">
                    <a:pos x="T10" y="T11"/>
                  </a:cxn>
                </a:cxnLst>
                <a:rect l="0" t="0" r="r" b="b"/>
                <a:pathLst>
                  <a:path w="10" h="10">
                    <a:moveTo>
                      <a:pt x="5" y="0"/>
                    </a:moveTo>
                    <a:lnTo>
                      <a:pt x="5" y="0"/>
                    </a:lnTo>
                    <a:cubicBezTo>
                      <a:pt x="2" y="0"/>
                      <a:pt x="0" y="2"/>
                      <a:pt x="0" y="5"/>
                    </a:cubicBezTo>
                    <a:cubicBezTo>
                      <a:pt x="0" y="8"/>
                      <a:pt x="2" y="10"/>
                      <a:pt x="5" y="10"/>
                    </a:cubicBezTo>
                    <a:cubicBezTo>
                      <a:pt x="8" y="10"/>
                      <a:pt x="10" y="8"/>
                      <a:pt x="10" y="5"/>
                    </a:cubicBezTo>
                    <a:cubicBezTo>
                      <a:pt x="10" y="2"/>
                      <a:pt x="8" y="0"/>
                      <a:pt x="5" y="0"/>
                    </a:cubicBez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sp>
            <p:nvSpPr>
              <p:cNvPr id="100" name="Freeform 57"/>
              <p:cNvSpPr>
                <a:spLocks noEditPoints="1"/>
              </p:cNvSpPr>
              <p:nvPr/>
            </p:nvSpPr>
            <p:spPr bwMode="auto">
              <a:xfrm>
                <a:off x="1527175" y="1211263"/>
                <a:ext cx="209550" cy="41275"/>
              </a:xfrm>
              <a:custGeom>
                <a:avLst/>
                <a:gdLst>
                  <a:gd name="T0" fmla="*/ 221 w 247"/>
                  <a:gd name="T1" fmla="*/ 35 h 49"/>
                  <a:gd name="T2" fmla="*/ 221 w 247"/>
                  <a:gd name="T3" fmla="*/ 35 h 49"/>
                  <a:gd name="T4" fmla="*/ 212 w 247"/>
                  <a:gd name="T5" fmla="*/ 25 h 49"/>
                  <a:gd name="T6" fmla="*/ 221 w 247"/>
                  <a:gd name="T7" fmla="*/ 15 h 49"/>
                  <a:gd name="T8" fmla="*/ 231 w 247"/>
                  <a:gd name="T9" fmla="*/ 25 h 49"/>
                  <a:gd name="T10" fmla="*/ 221 w 247"/>
                  <a:gd name="T11" fmla="*/ 35 h 49"/>
                  <a:gd name="T12" fmla="*/ 184 w 247"/>
                  <a:gd name="T13" fmla="*/ 35 h 49"/>
                  <a:gd name="T14" fmla="*/ 184 w 247"/>
                  <a:gd name="T15" fmla="*/ 35 h 49"/>
                  <a:gd name="T16" fmla="*/ 163 w 247"/>
                  <a:gd name="T17" fmla="*/ 35 h 49"/>
                  <a:gd name="T18" fmla="*/ 163 w 247"/>
                  <a:gd name="T19" fmla="*/ 22 h 49"/>
                  <a:gd name="T20" fmla="*/ 167 w 247"/>
                  <a:gd name="T21" fmla="*/ 22 h 49"/>
                  <a:gd name="T22" fmla="*/ 167 w 247"/>
                  <a:gd name="T23" fmla="*/ 17 h 49"/>
                  <a:gd name="T24" fmla="*/ 179 w 247"/>
                  <a:gd name="T25" fmla="*/ 17 h 49"/>
                  <a:gd name="T26" fmla="*/ 179 w 247"/>
                  <a:gd name="T27" fmla="*/ 22 h 49"/>
                  <a:gd name="T28" fmla="*/ 184 w 247"/>
                  <a:gd name="T29" fmla="*/ 22 h 49"/>
                  <a:gd name="T30" fmla="*/ 184 w 247"/>
                  <a:gd name="T31" fmla="*/ 35 h 49"/>
                  <a:gd name="T32" fmla="*/ 151 w 247"/>
                  <a:gd name="T33" fmla="*/ 35 h 49"/>
                  <a:gd name="T34" fmla="*/ 151 w 247"/>
                  <a:gd name="T35" fmla="*/ 35 h 49"/>
                  <a:gd name="T36" fmla="*/ 129 w 247"/>
                  <a:gd name="T37" fmla="*/ 35 h 49"/>
                  <a:gd name="T38" fmla="*/ 129 w 247"/>
                  <a:gd name="T39" fmla="*/ 22 h 49"/>
                  <a:gd name="T40" fmla="*/ 134 w 247"/>
                  <a:gd name="T41" fmla="*/ 22 h 49"/>
                  <a:gd name="T42" fmla="*/ 134 w 247"/>
                  <a:gd name="T43" fmla="*/ 17 h 49"/>
                  <a:gd name="T44" fmla="*/ 146 w 247"/>
                  <a:gd name="T45" fmla="*/ 17 h 49"/>
                  <a:gd name="T46" fmla="*/ 146 w 247"/>
                  <a:gd name="T47" fmla="*/ 22 h 49"/>
                  <a:gd name="T48" fmla="*/ 151 w 247"/>
                  <a:gd name="T49" fmla="*/ 22 h 49"/>
                  <a:gd name="T50" fmla="*/ 151 w 247"/>
                  <a:gd name="T51" fmla="*/ 35 h 49"/>
                  <a:gd name="T52" fmla="*/ 117 w 247"/>
                  <a:gd name="T53" fmla="*/ 35 h 49"/>
                  <a:gd name="T54" fmla="*/ 117 w 247"/>
                  <a:gd name="T55" fmla="*/ 35 h 49"/>
                  <a:gd name="T56" fmla="*/ 96 w 247"/>
                  <a:gd name="T57" fmla="*/ 35 h 49"/>
                  <a:gd name="T58" fmla="*/ 96 w 247"/>
                  <a:gd name="T59" fmla="*/ 22 h 49"/>
                  <a:gd name="T60" fmla="*/ 101 w 247"/>
                  <a:gd name="T61" fmla="*/ 22 h 49"/>
                  <a:gd name="T62" fmla="*/ 101 w 247"/>
                  <a:gd name="T63" fmla="*/ 17 h 49"/>
                  <a:gd name="T64" fmla="*/ 112 w 247"/>
                  <a:gd name="T65" fmla="*/ 17 h 49"/>
                  <a:gd name="T66" fmla="*/ 112 w 247"/>
                  <a:gd name="T67" fmla="*/ 22 h 49"/>
                  <a:gd name="T68" fmla="*/ 117 w 247"/>
                  <a:gd name="T69" fmla="*/ 22 h 49"/>
                  <a:gd name="T70" fmla="*/ 117 w 247"/>
                  <a:gd name="T71" fmla="*/ 35 h 49"/>
                  <a:gd name="T72" fmla="*/ 84 w 247"/>
                  <a:gd name="T73" fmla="*/ 35 h 49"/>
                  <a:gd name="T74" fmla="*/ 84 w 247"/>
                  <a:gd name="T75" fmla="*/ 35 h 49"/>
                  <a:gd name="T76" fmla="*/ 62 w 247"/>
                  <a:gd name="T77" fmla="*/ 35 h 49"/>
                  <a:gd name="T78" fmla="*/ 62 w 247"/>
                  <a:gd name="T79" fmla="*/ 22 h 49"/>
                  <a:gd name="T80" fmla="*/ 67 w 247"/>
                  <a:gd name="T81" fmla="*/ 22 h 49"/>
                  <a:gd name="T82" fmla="*/ 67 w 247"/>
                  <a:gd name="T83" fmla="*/ 17 h 49"/>
                  <a:gd name="T84" fmla="*/ 78 w 247"/>
                  <a:gd name="T85" fmla="*/ 17 h 49"/>
                  <a:gd name="T86" fmla="*/ 78 w 247"/>
                  <a:gd name="T87" fmla="*/ 22 h 49"/>
                  <a:gd name="T88" fmla="*/ 84 w 247"/>
                  <a:gd name="T89" fmla="*/ 22 h 49"/>
                  <a:gd name="T90" fmla="*/ 84 w 247"/>
                  <a:gd name="T91" fmla="*/ 35 h 49"/>
                  <a:gd name="T92" fmla="*/ 25 w 247"/>
                  <a:gd name="T93" fmla="*/ 35 h 49"/>
                  <a:gd name="T94" fmla="*/ 25 w 247"/>
                  <a:gd name="T95" fmla="*/ 35 h 49"/>
                  <a:gd name="T96" fmla="*/ 15 w 247"/>
                  <a:gd name="T97" fmla="*/ 25 h 49"/>
                  <a:gd name="T98" fmla="*/ 25 w 247"/>
                  <a:gd name="T99" fmla="*/ 15 h 49"/>
                  <a:gd name="T100" fmla="*/ 35 w 247"/>
                  <a:gd name="T101" fmla="*/ 25 h 49"/>
                  <a:gd name="T102" fmla="*/ 25 w 247"/>
                  <a:gd name="T103" fmla="*/ 35 h 49"/>
                  <a:gd name="T104" fmla="*/ 0 w 247"/>
                  <a:gd name="T105" fmla="*/ 49 h 49"/>
                  <a:gd name="T106" fmla="*/ 0 w 247"/>
                  <a:gd name="T107" fmla="*/ 49 h 49"/>
                  <a:gd name="T108" fmla="*/ 247 w 247"/>
                  <a:gd name="T109" fmla="*/ 49 h 49"/>
                  <a:gd name="T110" fmla="*/ 247 w 247"/>
                  <a:gd name="T111" fmla="*/ 0 h 49"/>
                  <a:gd name="T112" fmla="*/ 0 w 247"/>
                  <a:gd name="T113" fmla="*/ 0 h 49"/>
                  <a:gd name="T114" fmla="*/ 0 w 247"/>
                  <a:gd name="T115" fmla="*/ 49 h 49"/>
                  <a:gd name="T116" fmla="*/ 0 w 247"/>
                  <a:gd name="T117" fmla="*/ 0 h 49"/>
                  <a:gd name="T118" fmla="*/ 0 w 247"/>
                  <a:gd name="T1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7" h="49">
                    <a:moveTo>
                      <a:pt x="221" y="35"/>
                    </a:moveTo>
                    <a:lnTo>
                      <a:pt x="221" y="35"/>
                    </a:lnTo>
                    <a:cubicBezTo>
                      <a:pt x="216" y="35"/>
                      <a:pt x="212" y="30"/>
                      <a:pt x="212" y="25"/>
                    </a:cubicBezTo>
                    <a:cubicBezTo>
                      <a:pt x="212" y="19"/>
                      <a:pt x="216" y="15"/>
                      <a:pt x="221" y="15"/>
                    </a:cubicBezTo>
                    <a:cubicBezTo>
                      <a:pt x="227" y="15"/>
                      <a:pt x="231" y="19"/>
                      <a:pt x="231" y="25"/>
                    </a:cubicBezTo>
                    <a:cubicBezTo>
                      <a:pt x="231" y="30"/>
                      <a:pt x="227" y="35"/>
                      <a:pt x="221" y="35"/>
                    </a:cubicBezTo>
                    <a:close/>
                    <a:moveTo>
                      <a:pt x="184" y="35"/>
                    </a:moveTo>
                    <a:lnTo>
                      <a:pt x="184" y="35"/>
                    </a:lnTo>
                    <a:lnTo>
                      <a:pt x="163" y="35"/>
                    </a:lnTo>
                    <a:lnTo>
                      <a:pt x="163" y="22"/>
                    </a:lnTo>
                    <a:lnTo>
                      <a:pt x="167" y="22"/>
                    </a:lnTo>
                    <a:lnTo>
                      <a:pt x="167" y="17"/>
                    </a:lnTo>
                    <a:lnTo>
                      <a:pt x="179" y="17"/>
                    </a:lnTo>
                    <a:lnTo>
                      <a:pt x="179" y="22"/>
                    </a:lnTo>
                    <a:lnTo>
                      <a:pt x="184" y="22"/>
                    </a:lnTo>
                    <a:lnTo>
                      <a:pt x="184" y="35"/>
                    </a:lnTo>
                    <a:close/>
                    <a:moveTo>
                      <a:pt x="151" y="35"/>
                    </a:moveTo>
                    <a:lnTo>
                      <a:pt x="151" y="35"/>
                    </a:lnTo>
                    <a:lnTo>
                      <a:pt x="129" y="35"/>
                    </a:lnTo>
                    <a:lnTo>
                      <a:pt x="129" y="22"/>
                    </a:lnTo>
                    <a:lnTo>
                      <a:pt x="134" y="22"/>
                    </a:lnTo>
                    <a:lnTo>
                      <a:pt x="134" y="17"/>
                    </a:lnTo>
                    <a:lnTo>
                      <a:pt x="146" y="17"/>
                    </a:lnTo>
                    <a:lnTo>
                      <a:pt x="146" y="22"/>
                    </a:lnTo>
                    <a:lnTo>
                      <a:pt x="151" y="22"/>
                    </a:lnTo>
                    <a:lnTo>
                      <a:pt x="151" y="35"/>
                    </a:lnTo>
                    <a:close/>
                    <a:moveTo>
                      <a:pt x="117" y="35"/>
                    </a:moveTo>
                    <a:lnTo>
                      <a:pt x="117" y="35"/>
                    </a:lnTo>
                    <a:lnTo>
                      <a:pt x="96" y="35"/>
                    </a:lnTo>
                    <a:lnTo>
                      <a:pt x="96" y="22"/>
                    </a:lnTo>
                    <a:lnTo>
                      <a:pt x="101" y="22"/>
                    </a:lnTo>
                    <a:lnTo>
                      <a:pt x="101" y="17"/>
                    </a:lnTo>
                    <a:lnTo>
                      <a:pt x="112" y="17"/>
                    </a:lnTo>
                    <a:lnTo>
                      <a:pt x="112" y="22"/>
                    </a:lnTo>
                    <a:lnTo>
                      <a:pt x="117" y="22"/>
                    </a:lnTo>
                    <a:lnTo>
                      <a:pt x="117" y="35"/>
                    </a:lnTo>
                    <a:close/>
                    <a:moveTo>
                      <a:pt x="84" y="35"/>
                    </a:moveTo>
                    <a:lnTo>
                      <a:pt x="84" y="35"/>
                    </a:lnTo>
                    <a:lnTo>
                      <a:pt x="62" y="35"/>
                    </a:lnTo>
                    <a:lnTo>
                      <a:pt x="62" y="22"/>
                    </a:lnTo>
                    <a:lnTo>
                      <a:pt x="67" y="22"/>
                    </a:lnTo>
                    <a:lnTo>
                      <a:pt x="67" y="17"/>
                    </a:lnTo>
                    <a:lnTo>
                      <a:pt x="78" y="17"/>
                    </a:lnTo>
                    <a:lnTo>
                      <a:pt x="78" y="22"/>
                    </a:lnTo>
                    <a:lnTo>
                      <a:pt x="84" y="22"/>
                    </a:lnTo>
                    <a:lnTo>
                      <a:pt x="84" y="35"/>
                    </a:lnTo>
                    <a:close/>
                    <a:moveTo>
                      <a:pt x="25" y="35"/>
                    </a:moveTo>
                    <a:lnTo>
                      <a:pt x="25" y="35"/>
                    </a:lnTo>
                    <a:cubicBezTo>
                      <a:pt x="20" y="35"/>
                      <a:pt x="15" y="30"/>
                      <a:pt x="15" y="25"/>
                    </a:cubicBezTo>
                    <a:cubicBezTo>
                      <a:pt x="15" y="19"/>
                      <a:pt x="20" y="15"/>
                      <a:pt x="25" y="15"/>
                    </a:cubicBezTo>
                    <a:cubicBezTo>
                      <a:pt x="30" y="15"/>
                      <a:pt x="35" y="19"/>
                      <a:pt x="35" y="25"/>
                    </a:cubicBezTo>
                    <a:cubicBezTo>
                      <a:pt x="35" y="30"/>
                      <a:pt x="30" y="35"/>
                      <a:pt x="25" y="35"/>
                    </a:cubicBezTo>
                    <a:close/>
                    <a:moveTo>
                      <a:pt x="0" y="49"/>
                    </a:moveTo>
                    <a:lnTo>
                      <a:pt x="0" y="49"/>
                    </a:lnTo>
                    <a:lnTo>
                      <a:pt x="247" y="49"/>
                    </a:lnTo>
                    <a:lnTo>
                      <a:pt x="247" y="0"/>
                    </a:lnTo>
                    <a:lnTo>
                      <a:pt x="0" y="0"/>
                    </a:lnTo>
                    <a:lnTo>
                      <a:pt x="0" y="49"/>
                    </a:lnTo>
                    <a:close/>
                    <a:moveTo>
                      <a:pt x="0" y="0"/>
                    </a:moveTo>
                    <a:lnTo>
                      <a:pt x="0" y="0"/>
                    </a:lnTo>
                    <a:close/>
                  </a:path>
                </a:pathLst>
              </a:custGeom>
              <a:grpFill/>
              <a:ln w="0">
                <a:noFill/>
                <a:prstDash val="solid"/>
                <a:round/>
                <a:headEnd/>
                <a:tailEnd/>
              </a:ln>
            </p:spPr>
            <p:txBody>
              <a:bodyPr/>
              <a:lstStyle/>
              <a:p>
                <a:pPr defTabSz="543689">
                  <a:defRPr/>
                </a:pPr>
                <a:endParaRPr lang="zh-CN" altLang="en-US" sz="1400">
                  <a:solidFill>
                    <a:srgbClr val="000000"/>
                  </a:solidFill>
                  <a:latin typeface="Arial" panose="020B0604020202020204" pitchFamily="34" charset="0"/>
                  <a:ea typeface="微软雅黑"/>
                </a:endParaRPr>
              </a:p>
            </p:txBody>
          </p:sp>
        </p:grpSp>
      </p:grpSp>
      <p:sp>
        <p:nvSpPr>
          <p:cNvPr id="139" name="文本占位符 137"/>
          <p:cNvSpPr txBox="1">
            <a:spLocks/>
          </p:cNvSpPr>
          <p:nvPr/>
        </p:nvSpPr>
        <p:spPr bwMode="auto">
          <a:xfrm>
            <a:off x="6794042" y="5265204"/>
            <a:ext cx="4414525" cy="69032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a:buClr>
                <a:srgbClr val="FFFFFF">
                  <a:lumMod val="50000"/>
                </a:srgbClr>
              </a:buClr>
            </a:pPr>
            <a:r>
              <a:rPr lang="en-US" sz="1200" dirty="0">
                <a:solidFill>
                  <a:srgbClr val="000000"/>
                </a:solidFill>
                <a:latin typeface="Arial" panose="020B0604020202020204" pitchFamily="34" charset="0"/>
              </a:rPr>
              <a:t>Servers and storage devices are directly connected through FC switches.</a:t>
            </a:r>
          </a:p>
        </p:txBody>
      </p:sp>
    </p:spTree>
    <p:extLst>
      <p:ext uri="{BB962C8B-B14F-4D97-AF65-F5344CB8AC3E}">
        <p14:creationId xmlns:p14="http://schemas.microsoft.com/office/powerpoint/2010/main" val="1551786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IP SAN vs FC SAN</a:t>
            </a:r>
          </a:p>
        </p:txBody>
      </p:sp>
      <p:graphicFrame>
        <p:nvGraphicFramePr>
          <p:cNvPr id="141" name="表格 140"/>
          <p:cNvGraphicFramePr>
            <a:graphicFrameLocks noGrp="1"/>
          </p:cNvGraphicFramePr>
          <p:nvPr>
            <p:extLst>
              <p:ext uri="{D42A27DB-BD31-4B8C-83A1-F6EECF244321}">
                <p14:modId xmlns:p14="http://schemas.microsoft.com/office/powerpoint/2010/main" val="537863756"/>
              </p:ext>
            </p:extLst>
          </p:nvPr>
        </p:nvGraphicFramePr>
        <p:xfrm>
          <a:off x="1044164" y="1268760"/>
          <a:ext cx="10416432" cy="5073485"/>
        </p:xfrm>
        <a:graphic>
          <a:graphicData uri="http://schemas.openxmlformats.org/drawingml/2006/table">
            <a:tbl>
              <a:tblPr/>
              <a:tblGrid>
                <a:gridCol w="2037162"/>
                <a:gridCol w="4189635"/>
                <a:gridCol w="4189635"/>
              </a:tblGrid>
              <a:tr h="46644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defRPr/>
                      </a:pPr>
                      <a:r>
                        <a:rPr kumimoji="0" lang="en-US" sz="1600" b="1" u="none" strike="noStrike" cap="none" normalizeH="0" baseline="0" dirty="0">
                          <a:ln>
                            <a:noFill/>
                          </a:ln>
                          <a:latin typeface="Arial" panose="020B0604020202020204" pitchFamily="34" charset="0"/>
                        </a:rPr>
                        <a:t>Description</a:t>
                      </a:r>
                    </a:p>
                  </a:txBody>
                  <a:tcPr marL="90000" marR="90000" marT="46800" marB="46800" anchor="ctr" horzOverflow="overflow">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600" b="1" u="none" strike="noStrike" cap="none" normalizeH="0" baseline="0" dirty="0">
                          <a:ln>
                            <a:noFill/>
                          </a:ln>
                          <a:latin typeface="Arial" panose="020B0604020202020204" pitchFamily="34" charset="0"/>
                        </a:rPr>
                        <a:t>IP SAN</a:t>
                      </a:r>
                    </a:p>
                  </a:txBody>
                  <a:tcPr marL="90000" marR="90000" marT="46800" marB="46800" anchor="ctr" horzOverflow="overflow">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600" b="1" u="none" strike="noStrike" cap="none" normalizeH="0" baseline="0" dirty="0">
                          <a:ln>
                            <a:noFill/>
                          </a:ln>
                          <a:latin typeface="Arial" panose="020B0604020202020204" pitchFamily="34" charset="0"/>
                        </a:rPr>
                        <a:t>FC SAN</a:t>
                      </a:r>
                    </a:p>
                  </a:txBody>
                  <a:tcPr marL="90000" marR="90000" marT="46800" marB="46800" anchor="ctr" horzOverflow="overflow">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Network speed</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1 Gbit/s, 10 Gbit/s, 40 Gbit/s</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4 Gbit/s, 8 Gbit/s, 16 Gbit/s</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Network architecture</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Existing IP </a:t>
                      </a:r>
                      <a:r>
                        <a:rPr kumimoji="0" lang="en-US" sz="1400" u="none" strike="noStrike" cap="none" normalizeH="0" baseline="0" dirty="0" smtClean="0">
                          <a:ln>
                            <a:noFill/>
                          </a:ln>
                          <a:latin typeface="Arial" panose="020B0604020202020204" pitchFamily="34" charset="0"/>
                        </a:rPr>
                        <a:t>networks</a:t>
                      </a:r>
                      <a:endParaRPr kumimoji="0" lang="en-US" sz="1400" u="none" strike="noStrike" cap="none" normalizeH="0" baseline="0" dirty="0">
                        <a:ln>
                          <a:noFill/>
                        </a:ln>
                        <a:latin typeface="Arial" panose="020B0604020202020204" pitchFamily="34" charset="0"/>
                      </a:endParaRP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Dedicated FC network and HBA card</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Transmission distance </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No limit in theory</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Limited by the transmission distances of optical fibers</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Management and maintenance</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Simple operations like those with IP devices</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Complex techniques and management</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Compatibility</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Compatible with all IP network devices</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Poor compatibility</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6000">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Performance</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1 Gbit/s is the current mainstream; 10 Gbit/s is emerging.</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High transmission and read/write performance</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648000">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Cost</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Low purchase and maintenance costs</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High purchase costs (FC switches, HBA cards, FC disk </a:t>
                      </a:r>
                      <a:r>
                        <a:rPr kumimoji="0" lang="en-US" sz="1400" u="none" strike="noStrike" cap="none" normalizeH="0" baseline="0" dirty="0">
                          <a:ln>
                            <a:noFill/>
                          </a:ln>
                          <a:solidFill>
                            <a:schemeClr val="tx1"/>
                          </a:solidFill>
                          <a:latin typeface="Arial" panose="020B0604020202020204" pitchFamily="34" charset="0"/>
                        </a:rPr>
                        <a:t>arrays, </a:t>
                      </a:r>
                      <a:r>
                        <a:rPr kumimoji="0" lang="en-US" sz="1400" u="none" strike="noStrike" cap="none" normalizeH="0" baseline="0" dirty="0" smtClean="0">
                          <a:ln>
                            <a:noFill/>
                          </a:ln>
                          <a:solidFill>
                            <a:schemeClr val="tx1"/>
                          </a:solidFill>
                          <a:latin typeface="Arial" panose="020B0604020202020204" pitchFamily="34" charset="0"/>
                        </a:rPr>
                        <a:t>etc.) </a:t>
                      </a:r>
                      <a:r>
                        <a:rPr kumimoji="0" lang="en-US" sz="1400" u="none" strike="noStrike" cap="none" normalizeH="0" baseline="0" dirty="0">
                          <a:ln>
                            <a:noFill/>
                          </a:ln>
                          <a:latin typeface="Arial" panose="020B0604020202020204" pitchFamily="34" charset="0"/>
                        </a:rPr>
                        <a:t>and maintenance costs (personnel training, system configuration and monitoring)</a:t>
                      </a:r>
                    </a:p>
                  </a:txBody>
                  <a:tcPr marL="90000" marR="90000" marT="46800" marB="46800" anchor="ctr" horzOverflow="overflow">
                    <a:lnR w="28575" cap="flat" cmpd="sng" algn="ctr">
                      <a:solidFill>
                        <a:schemeClr val="tx1"/>
                      </a:solidFill>
                      <a:prstDash val="solid"/>
                      <a:round/>
                      <a:headEnd type="none" w="med" len="med"/>
                      <a:tailEnd type="none" w="med" len="med"/>
                    </a:lnR>
                  </a:tcPr>
                </a:tc>
              </a:tr>
              <a:tr h="396000">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DR</a:t>
                      </a:r>
                    </a:p>
                  </a:txBody>
                  <a:tcPr marL="90000" marR="90000" marT="46800" marB="46800" anchor="ctr" horzOverflow="overflow">
                    <a:lnL w="28575" cap="flat" cmpd="sng" algn="ctr">
                      <a:solidFill>
                        <a:schemeClr val="tx1"/>
                      </a:solidFill>
                      <a:prstDash val="solid"/>
                      <a:round/>
                      <a:headEnd type="none" w="med" len="med"/>
                      <a:tailEnd type="none" w="med" len="med"/>
                    </a:lnL>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Built-in local and remote disaster recovery capability at low costs</a:t>
                      </a:r>
                    </a:p>
                  </a:txBody>
                  <a:tcPr marL="90000" marR="90000" marT="46800" marB="46800" anchor="ctr" horzOverflow="overflow"/>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High hardware and software </a:t>
                      </a:r>
                      <a:r>
                        <a:rPr kumimoji="0" lang="en-US" sz="1400" u="none" strike="noStrike" cap="none" normalizeH="0" baseline="0" dirty="0" smtClean="0">
                          <a:ln>
                            <a:noFill/>
                          </a:ln>
                          <a:latin typeface="Arial" panose="020B0604020202020204" pitchFamily="34" charset="0"/>
                        </a:rPr>
                        <a:t>costs for DR</a:t>
                      </a:r>
                      <a:endParaRPr kumimoji="0" lang="en-US" sz="1400" u="none" strike="noStrike" cap="none" normalizeH="0" baseline="0" dirty="0">
                        <a:ln>
                          <a:noFill/>
                        </a:ln>
                        <a:latin typeface="Arial" panose="020B0604020202020204" pitchFamily="34" charset="0"/>
                      </a:endParaRPr>
                    </a:p>
                  </a:txBody>
                  <a:tcPr marL="90000" marR="90000" marT="46800" marB="46800" anchor="ctr" horzOverflow="overflow">
                    <a:lnR w="28575" cap="flat" cmpd="sng" algn="ctr">
                      <a:solidFill>
                        <a:schemeClr val="tx1"/>
                      </a:solidFill>
                      <a:prstDash val="solid"/>
                      <a:round/>
                      <a:headEnd type="none" w="med" len="med"/>
                      <a:tailEnd type="none" w="med" len="med"/>
                    </a:lnR>
                  </a:tcPr>
                </a:tc>
              </a:tr>
              <a:tr h="394681">
                <a:tc>
                  <a:txBody>
                    <a:bodyPr/>
                    <a:lstStyle/>
                    <a:p>
                      <a:pPr marL="0" marR="0" lvl="0" indent="0" algn="ctr"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Security</a:t>
                      </a:r>
                    </a:p>
                  </a:txBody>
                  <a:tcPr marL="90000" marR="90000" marT="46800" marB="46800" anchor="ctr" horzOverflow="overflow">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Relatively low</a:t>
                      </a:r>
                    </a:p>
                  </a:txBody>
                  <a:tcPr marL="90000" marR="90000" marT="46800" marB="46800" anchor="ctr" horzOverflow="overflow">
                    <a:lnB w="28575" cap="flat" cmpd="sng" algn="ctr">
                      <a:solidFill>
                        <a:schemeClr val="tx1"/>
                      </a:solidFill>
                      <a:prstDash val="solid"/>
                      <a:round/>
                      <a:headEnd type="none" w="med" len="med"/>
                      <a:tailEnd type="none" w="med" len="med"/>
                    </a:lnB>
                  </a:tcPr>
                </a:tc>
                <a:tc>
                  <a:txBody>
                    <a:bodyPr/>
                    <a:lstStyle/>
                    <a:p>
                      <a:pPr marL="0" marR="0" lvl="0" indent="0" algn="l" defTabSz="801688" rtl="0" eaLnBrk="1" fontAlgn="base" latinLnBrk="0" hangingPunct="1">
                        <a:lnSpc>
                          <a:spcPct val="100000"/>
                        </a:lnSpc>
                        <a:spcBef>
                          <a:spcPct val="0"/>
                        </a:spcBef>
                        <a:spcAft>
                          <a:spcPct val="0"/>
                        </a:spcAft>
                        <a:buClr>
                          <a:schemeClr val="tx1"/>
                        </a:buClr>
                        <a:buSzPct val="60000"/>
                        <a:buFont typeface="Wingdings" pitchFamily="2" charset="2"/>
                        <a:buNone/>
                        <a:tabLst/>
                      </a:pPr>
                      <a:r>
                        <a:rPr kumimoji="0" lang="en-US" sz="1400" u="none" strike="noStrike" cap="none" normalizeH="0" baseline="0" dirty="0">
                          <a:ln>
                            <a:noFill/>
                          </a:ln>
                          <a:latin typeface="Arial" panose="020B0604020202020204" pitchFamily="34" charset="0"/>
                        </a:rPr>
                        <a:t>High</a:t>
                      </a:r>
                    </a:p>
                  </a:txBody>
                  <a:tcPr marL="90000" marR="90000" marT="46800" marB="46800" anchor="ctr" horzOverflow="overflow">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165700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dirty="0">
                <a:latin typeface="Arial" panose="020B0604020202020204" pitchFamily="34" charset="0"/>
              </a:rPr>
              <a:t>NAS Architecture</a:t>
            </a:r>
          </a:p>
        </p:txBody>
      </p:sp>
      <p:sp>
        <p:nvSpPr>
          <p:cNvPr id="7" name="AutoShape 355"/>
          <p:cNvSpPr>
            <a:spLocks noChangeAspect="1" noChangeArrowheads="1"/>
          </p:cNvSpPr>
          <p:nvPr/>
        </p:nvSpPr>
        <p:spPr bwMode="auto">
          <a:xfrm>
            <a:off x="3184272" y="421368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8" name="AutoShape 366"/>
          <p:cNvSpPr>
            <a:spLocks noChangeAspect="1" noChangeArrowheads="1"/>
          </p:cNvSpPr>
          <p:nvPr/>
        </p:nvSpPr>
        <p:spPr bwMode="auto">
          <a:xfrm>
            <a:off x="4266625" y="421368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9" name="AutoShape 367"/>
          <p:cNvSpPr>
            <a:spLocks noChangeAspect="1" noChangeArrowheads="1"/>
          </p:cNvSpPr>
          <p:nvPr/>
        </p:nvSpPr>
        <p:spPr bwMode="auto">
          <a:xfrm>
            <a:off x="5348980" y="421368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0" name="AutoShape 368"/>
          <p:cNvSpPr>
            <a:spLocks noChangeAspect="1" noChangeArrowheads="1"/>
          </p:cNvSpPr>
          <p:nvPr/>
        </p:nvSpPr>
        <p:spPr bwMode="auto">
          <a:xfrm>
            <a:off x="6431334" y="421368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1" name="AutoShape 369"/>
          <p:cNvSpPr>
            <a:spLocks noChangeAspect="1" noChangeArrowheads="1"/>
          </p:cNvSpPr>
          <p:nvPr/>
        </p:nvSpPr>
        <p:spPr bwMode="auto">
          <a:xfrm>
            <a:off x="7513688" y="421368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2" name="AutoShape 370"/>
          <p:cNvSpPr>
            <a:spLocks noChangeAspect="1" noChangeArrowheads="1"/>
          </p:cNvSpPr>
          <p:nvPr/>
        </p:nvSpPr>
        <p:spPr bwMode="auto">
          <a:xfrm>
            <a:off x="8596042" y="421368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3" name="AutoShape 372"/>
          <p:cNvSpPr>
            <a:spLocks noChangeAspect="1" noChangeArrowheads="1"/>
          </p:cNvSpPr>
          <p:nvPr/>
        </p:nvSpPr>
        <p:spPr bwMode="auto">
          <a:xfrm>
            <a:off x="3184272" y="503340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4" name="AutoShape 373"/>
          <p:cNvSpPr>
            <a:spLocks noChangeAspect="1" noChangeArrowheads="1"/>
          </p:cNvSpPr>
          <p:nvPr/>
        </p:nvSpPr>
        <p:spPr bwMode="auto">
          <a:xfrm>
            <a:off x="4266625" y="503340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5" name="AutoShape 374"/>
          <p:cNvSpPr>
            <a:spLocks noChangeAspect="1" noChangeArrowheads="1"/>
          </p:cNvSpPr>
          <p:nvPr/>
        </p:nvSpPr>
        <p:spPr bwMode="auto">
          <a:xfrm>
            <a:off x="5348980" y="503340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6" name="AutoShape 375"/>
          <p:cNvSpPr>
            <a:spLocks noChangeAspect="1" noChangeArrowheads="1"/>
          </p:cNvSpPr>
          <p:nvPr/>
        </p:nvSpPr>
        <p:spPr bwMode="auto">
          <a:xfrm>
            <a:off x="6431334" y="503340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7" name="AutoShape 376"/>
          <p:cNvSpPr>
            <a:spLocks noChangeAspect="1" noChangeArrowheads="1"/>
          </p:cNvSpPr>
          <p:nvPr/>
        </p:nvSpPr>
        <p:spPr bwMode="auto">
          <a:xfrm>
            <a:off x="7513688" y="5033404"/>
            <a:ext cx="783024"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8" name="AutoShape 377"/>
          <p:cNvSpPr>
            <a:spLocks noChangeAspect="1" noChangeArrowheads="1"/>
          </p:cNvSpPr>
          <p:nvPr/>
        </p:nvSpPr>
        <p:spPr bwMode="auto">
          <a:xfrm>
            <a:off x="8596042" y="5033404"/>
            <a:ext cx="783026" cy="633006"/>
          </a:xfrm>
          <a:prstGeom prst="can">
            <a:avLst>
              <a:gd name="adj" fmla="val 17171"/>
            </a:avLst>
          </a:prstGeom>
          <a:noFill/>
          <a:ln w="19050">
            <a:solidFill>
              <a:srgbClr val="60C7C7"/>
            </a:solidFill>
            <a:round/>
            <a:headEnd/>
            <a:tailEnd/>
          </a:ln>
        </p:spPr>
        <p:txBody>
          <a:bodyPr wrap="none" anchor="ctr"/>
          <a:lstStyle/>
          <a:p>
            <a:pPr>
              <a:lnSpc>
                <a:spcPct val="140000"/>
              </a:lnSpc>
              <a:buClr>
                <a:srgbClr val="000000"/>
              </a:buClr>
              <a:buSzPct val="60000"/>
              <a:buFontTx/>
              <a:buChar char="•"/>
              <a:defRPr/>
            </a:pPr>
            <a:endParaRPr lang="zh-CN" altLang="en-US" sz="1400">
              <a:solidFill>
                <a:srgbClr val="000000"/>
              </a:solidFill>
              <a:latin typeface="Arial" panose="020B0604020202020204" pitchFamily="34" charset="0"/>
              <a:ea typeface="微软雅黑"/>
            </a:endParaRPr>
          </a:p>
        </p:txBody>
      </p:sp>
      <p:sp>
        <p:nvSpPr>
          <p:cNvPr id="19" name="Text Box 380"/>
          <p:cNvSpPr txBox="1">
            <a:spLocks noChangeArrowheads="1"/>
          </p:cNvSpPr>
          <p:nvPr/>
        </p:nvSpPr>
        <p:spPr bwMode="auto">
          <a:xfrm>
            <a:off x="3179933" y="4543145"/>
            <a:ext cx="787364"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LUN0</a:t>
            </a:r>
          </a:p>
        </p:txBody>
      </p:sp>
      <p:sp>
        <p:nvSpPr>
          <p:cNvPr id="20" name="Text Box 381"/>
          <p:cNvSpPr txBox="1">
            <a:spLocks noChangeArrowheads="1"/>
          </p:cNvSpPr>
          <p:nvPr/>
        </p:nvSpPr>
        <p:spPr bwMode="auto">
          <a:xfrm>
            <a:off x="4262288" y="4543145"/>
            <a:ext cx="787365"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LUN1</a:t>
            </a:r>
          </a:p>
        </p:txBody>
      </p:sp>
      <p:sp>
        <p:nvSpPr>
          <p:cNvPr id="21" name="Text Box 382"/>
          <p:cNvSpPr txBox="1">
            <a:spLocks noChangeArrowheads="1"/>
          </p:cNvSpPr>
          <p:nvPr/>
        </p:nvSpPr>
        <p:spPr bwMode="auto">
          <a:xfrm>
            <a:off x="5344642" y="4543145"/>
            <a:ext cx="787364"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LUN2</a:t>
            </a:r>
          </a:p>
        </p:txBody>
      </p:sp>
      <p:sp>
        <p:nvSpPr>
          <p:cNvPr id="22" name="Text Box 383"/>
          <p:cNvSpPr txBox="1">
            <a:spLocks noChangeArrowheads="1"/>
          </p:cNvSpPr>
          <p:nvPr/>
        </p:nvSpPr>
        <p:spPr bwMode="auto">
          <a:xfrm>
            <a:off x="6426996" y="4543145"/>
            <a:ext cx="787365"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LUN3</a:t>
            </a:r>
          </a:p>
        </p:txBody>
      </p:sp>
      <p:sp>
        <p:nvSpPr>
          <p:cNvPr id="23" name="Text Box 384"/>
          <p:cNvSpPr txBox="1">
            <a:spLocks noChangeArrowheads="1"/>
          </p:cNvSpPr>
          <p:nvPr/>
        </p:nvSpPr>
        <p:spPr bwMode="auto">
          <a:xfrm>
            <a:off x="3179933" y="5369695"/>
            <a:ext cx="787364"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LUN6</a:t>
            </a:r>
          </a:p>
        </p:txBody>
      </p:sp>
      <p:sp>
        <p:nvSpPr>
          <p:cNvPr id="24" name="Text Box 385"/>
          <p:cNvSpPr txBox="1">
            <a:spLocks noChangeArrowheads="1"/>
          </p:cNvSpPr>
          <p:nvPr/>
        </p:nvSpPr>
        <p:spPr bwMode="auto">
          <a:xfrm>
            <a:off x="4262288" y="5369695"/>
            <a:ext cx="787365"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LUN7</a:t>
            </a:r>
          </a:p>
        </p:txBody>
      </p:sp>
      <p:sp>
        <p:nvSpPr>
          <p:cNvPr id="25" name="Text Box 386"/>
          <p:cNvSpPr txBox="1">
            <a:spLocks noChangeArrowheads="1"/>
          </p:cNvSpPr>
          <p:nvPr/>
        </p:nvSpPr>
        <p:spPr bwMode="auto">
          <a:xfrm>
            <a:off x="5344642" y="5369695"/>
            <a:ext cx="787364"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LUN8</a:t>
            </a:r>
          </a:p>
        </p:txBody>
      </p:sp>
      <p:sp>
        <p:nvSpPr>
          <p:cNvPr id="26" name="Text Box 387"/>
          <p:cNvSpPr txBox="1">
            <a:spLocks noChangeArrowheads="1"/>
          </p:cNvSpPr>
          <p:nvPr/>
        </p:nvSpPr>
        <p:spPr bwMode="auto">
          <a:xfrm>
            <a:off x="6426996" y="5369695"/>
            <a:ext cx="787365"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LUN9</a:t>
            </a:r>
          </a:p>
        </p:txBody>
      </p:sp>
      <p:sp>
        <p:nvSpPr>
          <p:cNvPr id="27" name="Text Box 388"/>
          <p:cNvSpPr txBox="1">
            <a:spLocks noChangeArrowheads="1"/>
          </p:cNvSpPr>
          <p:nvPr/>
        </p:nvSpPr>
        <p:spPr bwMode="auto">
          <a:xfrm>
            <a:off x="7509350" y="4543145"/>
            <a:ext cx="787364"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LUN4</a:t>
            </a:r>
          </a:p>
        </p:txBody>
      </p:sp>
      <p:sp>
        <p:nvSpPr>
          <p:cNvPr id="28" name="Text Box 390"/>
          <p:cNvSpPr txBox="1">
            <a:spLocks noChangeArrowheads="1"/>
          </p:cNvSpPr>
          <p:nvPr/>
        </p:nvSpPr>
        <p:spPr bwMode="auto">
          <a:xfrm>
            <a:off x="8591703" y="4543145"/>
            <a:ext cx="787365"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LUN5</a:t>
            </a:r>
          </a:p>
        </p:txBody>
      </p:sp>
      <p:sp>
        <p:nvSpPr>
          <p:cNvPr id="29" name="Text Box 391"/>
          <p:cNvSpPr txBox="1">
            <a:spLocks noChangeArrowheads="1"/>
          </p:cNvSpPr>
          <p:nvPr/>
        </p:nvSpPr>
        <p:spPr bwMode="auto">
          <a:xfrm>
            <a:off x="8506155" y="5369695"/>
            <a:ext cx="984747"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LUN11</a:t>
            </a:r>
          </a:p>
        </p:txBody>
      </p:sp>
      <p:sp>
        <p:nvSpPr>
          <p:cNvPr id="30" name="AutoShape 392"/>
          <p:cNvSpPr>
            <a:spLocks noChangeArrowheads="1"/>
          </p:cNvSpPr>
          <p:nvPr/>
        </p:nvSpPr>
        <p:spPr bwMode="gray">
          <a:xfrm>
            <a:off x="3279709" y="3559904"/>
            <a:ext cx="2459699" cy="414413"/>
          </a:xfrm>
          <a:prstGeom prst="roundRect">
            <a:avLst>
              <a:gd name="adj" fmla="val 5009"/>
            </a:avLst>
          </a:prstGeom>
          <a:noFill/>
          <a:ln w="19050" algn="ctr">
            <a:solidFill>
              <a:srgbClr val="60C7C7"/>
            </a:solidFill>
            <a:round/>
            <a:headEnd/>
            <a:tailEnd/>
          </a:ln>
        </p:spPr>
        <p:txBody>
          <a:bodyPr lIns="0" tIns="0" rIns="39129" bIns="0"/>
          <a:lstStyle/>
          <a:p>
            <a:pPr algn="ctr" defTabSz="784225"/>
            <a:endParaRPr lang="zh-CN" altLang="en-US" sz="1400" b="1">
              <a:solidFill>
                <a:srgbClr val="990000"/>
              </a:solidFill>
              <a:latin typeface="Arial" panose="020B0604020202020204" pitchFamily="34" charset="0"/>
              <a:ea typeface="微软雅黑"/>
            </a:endParaRPr>
          </a:p>
        </p:txBody>
      </p:sp>
      <p:sp>
        <p:nvSpPr>
          <p:cNvPr id="31" name="Text Box 393"/>
          <p:cNvSpPr txBox="1">
            <a:spLocks noChangeArrowheads="1"/>
          </p:cNvSpPr>
          <p:nvPr/>
        </p:nvSpPr>
        <p:spPr bwMode="auto">
          <a:xfrm>
            <a:off x="3320236" y="3645604"/>
            <a:ext cx="2379720" cy="215444"/>
          </a:xfrm>
          <a:prstGeom prst="rect">
            <a:avLst/>
          </a:prstGeom>
          <a:noFill/>
          <a:ln w="6350">
            <a:noFill/>
            <a:miter lim="800000"/>
            <a:headEnd/>
            <a:tailEnd/>
          </a:ln>
        </p:spPr>
        <p:txBody>
          <a:bodyPr wrap="square" lIns="0" tIns="0" rIns="0" bIns="0" anchor="ctr">
            <a:spAutoFit/>
          </a:bodyPr>
          <a:lstStyle/>
          <a:p>
            <a:pPr algn="ctr" eaLnBrk="0" hangingPunct="0"/>
            <a:r>
              <a:rPr lang="en-US" sz="1400" dirty="0">
                <a:solidFill>
                  <a:srgbClr val="000000"/>
                </a:solidFill>
                <a:latin typeface="Arial" panose="020B0604020202020204" pitchFamily="34" charset="0"/>
                <a:ea typeface="微软雅黑"/>
                <a:cs typeface="Arial Unicode MS" pitchFamily="34" charset="-122"/>
              </a:rPr>
              <a:t>Volume Management Module</a:t>
            </a:r>
          </a:p>
        </p:txBody>
      </p:sp>
      <p:sp>
        <p:nvSpPr>
          <p:cNvPr id="32" name="AutoShape 394"/>
          <p:cNvSpPr>
            <a:spLocks noChangeArrowheads="1"/>
          </p:cNvSpPr>
          <p:nvPr/>
        </p:nvSpPr>
        <p:spPr bwMode="gray">
          <a:xfrm>
            <a:off x="6780076" y="3559904"/>
            <a:ext cx="2460439" cy="414413"/>
          </a:xfrm>
          <a:prstGeom prst="roundRect">
            <a:avLst>
              <a:gd name="adj" fmla="val 5009"/>
            </a:avLst>
          </a:prstGeom>
          <a:noFill/>
          <a:ln w="19050" algn="ctr">
            <a:solidFill>
              <a:srgbClr val="60C7C7"/>
            </a:solidFill>
            <a:round/>
            <a:headEnd/>
            <a:tailEnd/>
          </a:ln>
        </p:spPr>
        <p:txBody>
          <a:bodyPr lIns="0" tIns="0" rIns="39129" bIns="0"/>
          <a:lstStyle/>
          <a:p>
            <a:pPr algn="ctr" defTabSz="784225"/>
            <a:endParaRPr lang="zh-CN" altLang="en-US" sz="1400" b="1">
              <a:solidFill>
                <a:srgbClr val="990000"/>
              </a:solidFill>
              <a:latin typeface="Arial" panose="020B0604020202020204" pitchFamily="34" charset="0"/>
              <a:ea typeface="微软雅黑"/>
            </a:endParaRPr>
          </a:p>
        </p:txBody>
      </p:sp>
      <p:sp>
        <p:nvSpPr>
          <p:cNvPr id="33" name="Text Box 395"/>
          <p:cNvSpPr txBox="1">
            <a:spLocks noChangeArrowheads="1"/>
          </p:cNvSpPr>
          <p:nvPr/>
        </p:nvSpPr>
        <p:spPr bwMode="auto">
          <a:xfrm>
            <a:off x="6839918" y="3645024"/>
            <a:ext cx="2352426" cy="215444"/>
          </a:xfrm>
          <a:prstGeom prst="rect">
            <a:avLst/>
          </a:prstGeom>
          <a:noFill/>
          <a:ln w="6350">
            <a:noFill/>
            <a:miter lim="800000"/>
            <a:headEnd/>
            <a:tailEnd/>
          </a:ln>
        </p:spPr>
        <p:txBody>
          <a:bodyPr wrap="square" lIns="0" tIns="0" rIns="0" bIns="0" anchor="ctr">
            <a:spAutoFit/>
          </a:bodyPr>
          <a:lstStyle/>
          <a:p>
            <a:pPr algn="ctr" eaLnBrk="0" hangingPunct="0"/>
            <a:r>
              <a:rPr lang="en-US" sz="1400" dirty="0">
                <a:solidFill>
                  <a:srgbClr val="000000"/>
                </a:solidFill>
                <a:latin typeface="Arial" panose="020B0604020202020204" pitchFamily="34" charset="0"/>
                <a:ea typeface="微软雅黑"/>
                <a:cs typeface="Arial Unicode MS" pitchFamily="34" charset="-122"/>
              </a:rPr>
              <a:t>Volume Management Module</a:t>
            </a:r>
          </a:p>
        </p:txBody>
      </p:sp>
      <p:sp>
        <p:nvSpPr>
          <p:cNvPr id="34" name="AutoShape 396"/>
          <p:cNvSpPr>
            <a:spLocks noChangeArrowheads="1"/>
          </p:cNvSpPr>
          <p:nvPr/>
        </p:nvSpPr>
        <p:spPr bwMode="gray">
          <a:xfrm>
            <a:off x="3279710" y="2998476"/>
            <a:ext cx="5960806" cy="414413"/>
          </a:xfrm>
          <a:prstGeom prst="roundRect">
            <a:avLst>
              <a:gd name="adj" fmla="val 5009"/>
            </a:avLst>
          </a:prstGeom>
          <a:noFill/>
          <a:ln w="19050" algn="ctr">
            <a:solidFill>
              <a:srgbClr val="60C7C7"/>
            </a:solidFill>
            <a:round/>
            <a:headEnd/>
            <a:tailEnd/>
          </a:ln>
        </p:spPr>
        <p:txBody>
          <a:bodyPr lIns="0" tIns="0" rIns="39129" bIns="0"/>
          <a:lstStyle/>
          <a:p>
            <a:pPr algn="ctr" defTabSz="784225"/>
            <a:endParaRPr lang="zh-CN" altLang="en-US" sz="1400" b="1">
              <a:solidFill>
                <a:srgbClr val="990000"/>
              </a:solidFill>
              <a:latin typeface="Arial" panose="020B0604020202020204" pitchFamily="34" charset="0"/>
              <a:ea typeface="微软雅黑"/>
            </a:endParaRPr>
          </a:p>
        </p:txBody>
      </p:sp>
      <p:sp>
        <p:nvSpPr>
          <p:cNvPr id="35" name="Text Box 397"/>
          <p:cNvSpPr txBox="1">
            <a:spLocks noChangeArrowheads="1"/>
          </p:cNvSpPr>
          <p:nvPr/>
        </p:nvSpPr>
        <p:spPr bwMode="auto">
          <a:xfrm>
            <a:off x="5739409" y="3066082"/>
            <a:ext cx="1277567" cy="215444"/>
          </a:xfrm>
          <a:prstGeom prst="rect">
            <a:avLst/>
          </a:prstGeom>
          <a:noFill/>
          <a:ln w="6350">
            <a:noFill/>
            <a:miter lim="800000"/>
            <a:headEnd/>
            <a:tailEnd/>
          </a:ln>
        </p:spPr>
        <p:txBody>
          <a:bodyPr lIns="0" tIns="0" rIns="0" bIns="0" anchor="ctr">
            <a:spAutoFit/>
          </a:bodyPr>
          <a:lstStyle/>
          <a:p>
            <a:pPr eaLnBrk="0" hangingPunct="0"/>
            <a:r>
              <a:rPr lang="en-US" sz="1400" dirty="0">
                <a:solidFill>
                  <a:srgbClr val="000000"/>
                </a:solidFill>
                <a:latin typeface="Arial" panose="020B0604020202020204" pitchFamily="34" charset="0"/>
                <a:ea typeface="微软雅黑"/>
                <a:cs typeface="Arial Unicode MS" pitchFamily="34" charset="-122"/>
              </a:rPr>
              <a:t>File System</a:t>
            </a:r>
          </a:p>
        </p:txBody>
      </p:sp>
      <p:sp>
        <p:nvSpPr>
          <p:cNvPr id="36" name="Text Box 400"/>
          <p:cNvSpPr txBox="1">
            <a:spLocks noChangeArrowheads="1"/>
          </p:cNvSpPr>
          <p:nvPr/>
        </p:nvSpPr>
        <p:spPr bwMode="auto">
          <a:xfrm>
            <a:off x="4799856" y="2456244"/>
            <a:ext cx="3004895" cy="430887"/>
          </a:xfrm>
          <a:prstGeom prst="rect">
            <a:avLst/>
          </a:prstGeom>
          <a:noFill/>
          <a:ln w="6350">
            <a:noFill/>
            <a:miter lim="800000"/>
            <a:headEnd/>
            <a:tailEnd/>
          </a:ln>
        </p:spPr>
        <p:txBody>
          <a:bodyPr wrap="square" lIns="0" tIns="0" rIns="0" bIns="0" anchor="ctr">
            <a:spAutoFit/>
          </a:bodyPr>
          <a:lstStyle/>
          <a:p>
            <a:pPr algn="ctr" eaLnBrk="0" hangingPunct="0"/>
            <a:r>
              <a:rPr lang="en-US" sz="1400" dirty="0">
                <a:solidFill>
                  <a:srgbClr val="000000"/>
                </a:solidFill>
                <a:latin typeface="Arial" panose="020B0604020202020204" pitchFamily="34" charset="0"/>
                <a:ea typeface="微软雅黑"/>
                <a:cs typeface="Arial Unicode MS" pitchFamily="34" charset="-122"/>
              </a:rPr>
              <a:t>Network file system protocol (NFS/CIFS)</a:t>
            </a:r>
          </a:p>
        </p:txBody>
      </p:sp>
      <p:sp>
        <p:nvSpPr>
          <p:cNvPr id="37" name="AutoShape 401"/>
          <p:cNvSpPr>
            <a:spLocks noChangeArrowheads="1"/>
          </p:cNvSpPr>
          <p:nvPr/>
        </p:nvSpPr>
        <p:spPr bwMode="gray">
          <a:xfrm>
            <a:off x="3879864" y="1964720"/>
            <a:ext cx="1672336" cy="414413"/>
          </a:xfrm>
          <a:prstGeom prst="roundRect">
            <a:avLst>
              <a:gd name="adj" fmla="val 5009"/>
            </a:avLst>
          </a:prstGeom>
          <a:noFill/>
          <a:ln w="19050" algn="ctr">
            <a:solidFill>
              <a:srgbClr val="60C7C7"/>
            </a:solidFill>
            <a:round/>
            <a:headEnd/>
            <a:tailEnd/>
          </a:ln>
        </p:spPr>
        <p:txBody>
          <a:bodyPr lIns="0" tIns="0" rIns="39129" bIns="0"/>
          <a:lstStyle/>
          <a:p>
            <a:pPr algn="ctr" defTabSz="784225"/>
            <a:endParaRPr lang="zh-CN" altLang="en-US" sz="1400" b="1">
              <a:solidFill>
                <a:srgbClr val="990000"/>
              </a:solidFill>
              <a:latin typeface="Arial" panose="020B0604020202020204" pitchFamily="34" charset="0"/>
              <a:ea typeface="微软雅黑"/>
            </a:endParaRPr>
          </a:p>
        </p:txBody>
      </p:sp>
      <p:sp>
        <p:nvSpPr>
          <p:cNvPr id="38" name="Text Box 402"/>
          <p:cNvSpPr txBox="1">
            <a:spLocks noChangeArrowheads="1"/>
          </p:cNvSpPr>
          <p:nvPr/>
        </p:nvSpPr>
        <p:spPr bwMode="auto">
          <a:xfrm>
            <a:off x="4008981" y="2060848"/>
            <a:ext cx="1474951" cy="215444"/>
          </a:xfrm>
          <a:prstGeom prst="rect">
            <a:avLst/>
          </a:prstGeom>
          <a:noFill/>
          <a:ln w="6350">
            <a:noFill/>
            <a:miter lim="800000"/>
            <a:headEnd/>
            <a:tailEnd/>
          </a:ln>
        </p:spPr>
        <p:txBody>
          <a:bodyPr lIns="0" tIns="0" rIns="0" bIns="0" anchor="ctr">
            <a:spAutoFit/>
          </a:bodyPr>
          <a:lstStyle/>
          <a:p>
            <a:pPr eaLnBrk="0" hangingPunct="0"/>
            <a:r>
              <a:rPr lang="en-US" sz="1400" dirty="0">
                <a:solidFill>
                  <a:srgbClr val="000000"/>
                </a:solidFill>
                <a:latin typeface="Arial" panose="020B0604020202020204" pitchFamily="34" charset="0"/>
                <a:ea typeface="微软雅黑"/>
                <a:cs typeface="Arial Unicode MS" pitchFamily="34" charset="-122"/>
              </a:rPr>
              <a:t>Ethernet Interface</a:t>
            </a:r>
          </a:p>
        </p:txBody>
      </p:sp>
      <p:sp>
        <p:nvSpPr>
          <p:cNvPr id="39" name="AutoShape 403"/>
          <p:cNvSpPr>
            <a:spLocks noChangeArrowheads="1"/>
          </p:cNvSpPr>
          <p:nvPr/>
        </p:nvSpPr>
        <p:spPr bwMode="gray">
          <a:xfrm>
            <a:off x="7027824" y="1964720"/>
            <a:ext cx="1672334" cy="414413"/>
          </a:xfrm>
          <a:prstGeom prst="roundRect">
            <a:avLst>
              <a:gd name="adj" fmla="val 5009"/>
            </a:avLst>
          </a:prstGeom>
          <a:noFill/>
          <a:ln w="19050" algn="ctr">
            <a:solidFill>
              <a:srgbClr val="60C7C7"/>
            </a:solidFill>
            <a:round/>
            <a:headEnd/>
            <a:tailEnd/>
          </a:ln>
        </p:spPr>
        <p:txBody>
          <a:bodyPr lIns="0" tIns="0" rIns="39129" bIns="0"/>
          <a:lstStyle/>
          <a:p>
            <a:pPr algn="ctr" defTabSz="784225"/>
            <a:endParaRPr lang="zh-CN" altLang="en-US" sz="1400" b="1">
              <a:solidFill>
                <a:srgbClr val="990000"/>
              </a:solidFill>
              <a:latin typeface="Arial" panose="020B0604020202020204" pitchFamily="34" charset="0"/>
              <a:ea typeface="微软雅黑"/>
            </a:endParaRPr>
          </a:p>
        </p:txBody>
      </p:sp>
      <p:sp>
        <p:nvSpPr>
          <p:cNvPr id="40" name="Text Box 404"/>
          <p:cNvSpPr txBox="1">
            <a:spLocks noChangeArrowheads="1"/>
          </p:cNvSpPr>
          <p:nvPr/>
        </p:nvSpPr>
        <p:spPr bwMode="auto">
          <a:xfrm>
            <a:off x="7177333" y="2061428"/>
            <a:ext cx="1474951" cy="215444"/>
          </a:xfrm>
          <a:prstGeom prst="rect">
            <a:avLst/>
          </a:prstGeom>
          <a:noFill/>
          <a:ln w="6350">
            <a:noFill/>
            <a:miter lim="800000"/>
            <a:headEnd/>
            <a:tailEnd/>
          </a:ln>
        </p:spPr>
        <p:txBody>
          <a:bodyPr lIns="0" tIns="0" rIns="0" bIns="0" anchor="ctr">
            <a:spAutoFit/>
          </a:bodyPr>
          <a:lstStyle/>
          <a:p>
            <a:pPr eaLnBrk="0" hangingPunct="0"/>
            <a:r>
              <a:rPr lang="en-US" sz="1400" dirty="0">
                <a:solidFill>
                  <a:srgbClr val="000000"/>
                </a:solidFill>
                <a:latin typeface="Arial" panose="020B0604020202020204" pitchFamily="34" charset="0"/>
                <a:ea typeface="微软雅黑"/>
                <a:cs typeface="Arial Unicode MS" pitchFamily="34" charset="-122"/>
              </a:rPr>
              <a:t>Ethernet Interface</a:t>
            </a:r>
          </a:p>
        </p:txBody>
      </p:sp>
      <p:sp>
        <p:nvSpPr>
          <p:cNvPr id="41" name="AutoShape 406"/>
          <p:cNvSpPr>
            <a:spLocks noChangeArrowheads="1"/>
          </p:cNvSpPr>
          <p:nvPr/>
        </p:nvSpPr>
        <p:spPr bwMode="auto">
          <a:xfrm>
            <a:off x="4670659" y="2433781"/>
            <a:ext cx="101945" cy="432630"/>
          </a:xfrm>
          <a:prstGeom prst="upArrow">
            <a:avLst>
              <a:gd name="adj1" fmla="val 50000"/>
              <a:gd name="adj2" fmla="val 101065"/>
            </a:avLst>
          </a:prstGeom>
          <a:noFill/>
          <a:ln w="9525">
            <a:solidFill>
              <a:srgbClr val="60C7C7"/>
            </a:solidFill>
            <a:miter lim="800000"/>
            <a:headEnd/>
            <a:tailEnd/>
          </a:ln>
        </p:spPr>
        <p:txBody>
          <a:bodyPr wrap="none" anchor="ctr"/>
          <a:lstStyle/>
          <a:p>
            <a:pPr>
              <a:lnSpc>
                <a:spcPct val="140000"/>
              </a:lnSpc>
              <a:buClr>
                <a:srgbClr val="000000"/>
              </a:buClr>
              <a:buSzPct val="60000"/>
              <a:buFontTx/>
              <a:buChar char="•"/>
            </a:pPr>
            <a:endParaRPr lang="zh-CN" altLang="en-US" sz="1400">
              <a:solidFill>
                <a:srgbClr val="000000"/>
              </a:solidFill>
              <a:latin typeface="Arial" panose="020B0604020202020204" pitchFamily="34" charset="0"/>
              <a:ea typeface="微软雅黑"/>
            </a:endParaRPr>
          </a:p>
        </p:txBody>
      </p:sp>
      <p:sp>
        <p:nvSpPr>
          <p:cNvPr id="42" name="AutoShape 407"/>
          <p:cNvSpPr>
            <a:spLocks noChangeArrowheads="1"/>
          </p:cNvSpPr>
          <p:nvPr/>
        </p:nvSpPr>
        <p:spPr bwMode="auto">
          <a:xfrm>
            <a:off x="7835828" y="2433781"/>
            <a:ext cx="101946" cy="432630"/>
          </a:xfrm>
          <a:prstGeom prst="upArrow">
            <a:avLst>
              <a:gd name="adj1" fmla="val 50000"/>
              <a:gd name="adj2" fmla="val 101063"/>
            </a:avLst>
          </a:prstGeom>
          <a:noFill/>
          <a:ln w="9525">
            <a:solidFill>
              <a:srgbClr val="60C7C7"/>
            </a:solidFill>
            <a:miter lim="800000"/>
            <a:headEnd/>
            <a:tailEnd/>
          </a:ln>
        </p:spPr>
        <p:txBody>
          <a:bodyPr wrap="none" anchor="ctr"/>
          <a:lstStyle/>
          <a:p>
            <a:pPr>
              <a:lnSpc>
                <a:spcPct val="140000"/>
              </a:lnSpc>
              <a:buClr>
                <a:srgbClr val="000000"/>
              </a:buClr>
              <a:buSzPct val="60000"/>
              <a:buFontTx/>
              <a:buChar char="•"/>
            </a:pPr>
            <a:endParaRPr lang="zh-CN" altLang="en-US" sz="1400">
              <a:solidFill>
                <a:srgbClr val="000000"/>
              </a:solidFill>
              <a:latin typeface="Arial" panose="020B0604020202020204" pitchFamily="34" charset="0"/>
              <a:ea typeface="微软雅黑"/>
            </a:endParaRPr>
          </a:p>
        </p:txBody>
      </p:sp>
      <p:sp>
        <p:nvSpPr>
          <p:cNvPr id="43" name="Text Box 391"/>
          <p:cNvSpPr txBox="1">
            <a:spLocks noChangeArrowheads="1"/>
          </p:cNvSpPr>
          <p:nvPr/>
        </p:nvSpPr>
        <p:spPr bwMode="auto">
          <a:xfrm>
            <a:off x="7411742" y="5364427"/>
            <a:ext cx="984747" cy="215444"/>
          </a:xfrm>
          <a:prstGeom prst="rect">
            <a:avLst/>
          </a:prstGeom>
          <a:noFill/>
          <a:ln w="6350">
            <a:noFill/>
            <a:miter lim="800000"/>
            <a:headEnd/>
            <a:tailEnd/>
          </a:ln>
        </p:spPr>
        <p:txBody>
          <a:bodyPr lIns="0" tIns="0" rIns="0" bIns="0" anchor="ctr">
            <a:spAutoFit/>
          </a:bodyPr>
          <a:lstStyle/>
          <a:p>
            <a:pPr algn="ctr" eaLnBrk="0" hangingPunct="0">
              <a:defRPr/>
            </a:pPr>
            <a:r>
              <a:rPr lang="en-US" sz="1400" dirty="0">
                <a:solidFill>
                  <a:srgbClr val="000000"/>
                </a:solidFill>
                <a:latin typeface="Arial" panose="020B0604020202020204" pitchFamily="34" charset="0"/>
                <a:ea typeface="微软雅黑"/>
                <a:cs typeface="Arial Unicode MS" pitchFamily="34" charset="-122"/>
              </a:rPr>
              <a:t>LUN10</a:t>
            </a:r>
          </a:p>
        </p:txBody>
      </p:sp>
    </p:spTree>
    <p:extLst>
      <p:ext uri="{BB962C8B-B14F-4D97-AF65-F5344CB8AC3E}">
        <p14:creationId xmlns:p14="http://schemas.microsoft.com/office/powerpoint/2010/main" val="1093586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latin typeface="Arial" panose="020B0604020202020204" pitchFamily="34" charset="0"/>
              </a:rPr>
              <a:t>CIFS</a:t>
            </a:r>
          </a:p>
        </p:txBody>
      </p:sp>
      <p:sp>
        <p:nvSpPr>
          <p:cNvPr id="4" name="文本占位符 3"/>
          <p:cNvSpPr>
            <a:spLocks noGrp="1"/>
          </p:cNvSpPr>
          <p:nvPr>
            <p:ph type="body" sz="quarter" idx="10"/>
          </p:nvPr>
        </p:nvSpPr>
        <p:spPr/>
        <p:txBody>
          <a:bodyPr/>
          <a:lstStyle/>
          <a:p>
            <a:pPr algn="l"/>
            <a:r>
              <a:rPr lang="en-US" dirty="0">
                <a:latin typeface="Arial" panose="020B0604020202020204" pitchFamily="34" charset="0"/>
              </a:rPr>
              <a:t>Common Internet File System (CIFS) is a </a:t>
            </a:r>
            <a:r>
              <a:rPr lang="en-US" dirty="0" smtClean="0">
                <a:latin typeface="Arial" panose="020B0604020202020204" pitchFamily="34" charset="0"/>
              </a:rPr>
              <a:t>shared open </a:t>
            </a:r>
            <a:r>
              <a:rPr lang="en-US" dirty="0">
                <a:latin typeface="Arial" panose="020B0604020202020204" pitchFamily="34" charset="0"/>
              </a:rPr>
              <a:t>file system developed from Microsoft’s Server Message Block (SMB). In a Windows OS, you can mount shared resources on the CIFS server to your own system by creating a simple shared </a:t>
            </a:r>
            <a:r>
              <a:rPr lang="en-US" dirty="0" smtClean="0">
                <a:latin typeface="Arial" panose="020B0604020202020204" pitchFamily="34" charset="0"/>
              </a:rPr>
              <a:t>mapping. Then you can use </a:t>
            </a:r>
            <a:r>
              <a:rPr lang="en-US" dirty="0">
                <a:latin typeface="Arial" panose="020B0604020202020204" pitchFamily="34" charset="0"/>
              </a:rPr>
              <a:t>the shared resources as if using local resources.</a:t>
            </a:r>
          </a:p>
          <a:p>
            <a:endParaRPr lang="zh-CN" altLang="en-US" dirty="0">
              <a:latin typeface="Arial" panose="020B0604020202020204" pitchFamily="34" charset="0"/>
            </a:endParaRPr>
          </a:p>
        </p:txBody>
      </p:sp>
    </p:spTree>
    <p:extLst>
      <p:ext uri="{BB962C8B-B14F-4D97-AF65-F5344CB8AC3E}">
        <p14:creationId xmlns:p14="http://schemas.microsoft.com/office/powerpoint/2010/main" val="1567020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NFS</a:t>
            </a:r>
          </a:p>
        </p:txBody>
      </p:sp>
      <p:sp>
        <p:nvSpPr>
          <p:cNvPr id="3" name="文本占位符 2"/>
          <p:cNvSpPr>
            <a:spLocks noGrp="1"/>
          </p:cNvSpPr>
          <p:nvPr>
            <p:ph type="body" sz="quarter" idx="10"/>
          </p:nvPr>
        </p:nvSpPr>
        <p:spPr/>
        <p:txBody>
          <a:bodyPr/>
          <a:lstStyle/>
          <a:p>
            <a:pPr algn="l"/>
            <a:r>
              <a:rPr lang="en-US" dirty="0">
                <a:latin typeface="Arial" panose="020B0604020202020204" pitchFamily="34" charset="0"/>
              </a:rPr>
              <a:t>Network File System (NFS) was originally developed by Sun Microsystems. It can be used for cross-network file sharing in UNIX-like operating systems such as Linux/UNIX/AIX/HP-UX/Mac OS X. You can use the mount command to mount remote file systems to your own file system, and access the remote shared files as if accessing local files.</a:t>
            </a:r>
          </a:p>
          <a:p>
            <a:endParaRPr lang="zh-CN" altLang="en-US" dirty="0">
              <a:latin typeface="Arial" panose="020B0604020202020204" pitchFamily="34" charset="0"/>
            </a:endParaRPr>
          </a:p>
        </p:txBody>
      </p:sp>
    </p:spTree>
    <p:extLst>
      <p:ext uri="{BB962C8B-B14F-4D97-AF65-F5344CB8AC3E}">
        <p14:creationId xmlns:p14="http://schemas.microsoft.com/office/powerpoint/2010/main" val="6271481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CIFS vs NFS</a:t>
            </a:r>
          </a:p>
        </p:txBody>
      </p:sp>
      <p:graphicFrame>
        <p:nvGraphicFramePr>
          <p:cNvPr id="3" name="表格 2"/>
          <p:cNvGraphicFramePr>
            <a:graphicFrameLocks noGrp="1"/>
          </p:cNvGraphicFramePr>
          <p:nvPr>
            <p:extLst/>
          </p:nvPr>
        </p:nvGraphicFramePr>
        <p:xfrm>
          <a:off x="1594800" y="1304764"/>
          <a:ext cx="9288191" cy="2700000"/>
        </p:xfrm>
        <a:graphic>
          <a:graphicData uri="http://schemas.openxmlformats.org/drawingml/2006/table">
            <a:tbl>
              <a:tblPr firstRow="1" bandRow="1"/>
              <a:tblGrid>
                <a:gridCol w="1728191"/>
                <a:gridCol w="3780000"/>
                <a:gridCol w="3780000"/>
              </a:tblGrid>
              <a:tr h="540000">
                <a:tc>
                  <a:txBody>
                    <a:bodyPr/>
                    <a:lstStyle/>
                    <a:p>
                      <a:endParaRPr lang="zh-CN" altLang="en-US" dirty="0">
                        <a:latin typeface="Arial" panose="020B0604020202020204" pitchFamily="34" charset="0"/>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b="1" dirty="0">
                          <a:latin typeface="Arial" panose="020B0604020202020204" pitchFamily="34" charset="0"/>
                        </a:rPr>
                        <a:t>CIFS</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b="1" dirty="0">
                          <a:latin typeface="Arial" panose="020B0604020202020204" pitchFamily="34" charset="0"/>
                        </a:rPr>
                        <a:t>NFS</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540000">
                <a:tc>
                  <a:txBody>
                    <a:bodyPr/>
                    <a:lstStyle/>
                    <a:p>
                      <a:r>
                        <a:rPr lang="en-US" sz="1400" b="1" dirty="0">
                          <a:latin typeface="Arial" panose="020B0604020202020204" pitchFamily="34" charset="0"/>
                        </a:rPr>
                        <a:t>Transmission</a:t>
                      </a:r>
                    </a:p>
                  </a:txBody>
                  <a:tcPr anchor="ctr">
                    <a:lnL w="28575" cap="flat" cmpd="sng" algn="ctr">
                      <a:solidFill>
                        <a:schemeClr val="tx1"/>
                      </a:solidFill>
                      <a:prstDash val="solid"/>
                      <a:round/>
                      <a:headEnd type="none" w="med" len="med"/>
                      <a:tailEnd type="none" w="med" len="med"/>
                    </a:lnL>
                  </a:tcPr>
                </a:tc>
                <a:tc>
                  <a:txBody>
                    <a:bodyPr/>
                    <a:lstStyle/>
                    <a:p>
                      <a:r>
                        <a:rPr lang="en-US" sz="1400" dirty="0">
                          <a:latin typeface="Arial" panose="020B0604020202020204" pitchFamily="34" charset="0"/>
                        </a:rPr>
                        <a:t>Network-based, high reliability requirements</a:t>
                      </a:r>
                    </a:p>
                  </a:txBody>
                  <a:tcPr anchor="ctr"/>
                </a:tc>
                <a:tc>
                  <a:txBody>
                    <a:bodyPr/>
                    <a:lstStyle/>
                    <a:p>
                      <a:r>
                        <a:rPr lang="en-US" sz="1400" dirty="0">
                          <a:latin typeface="Arial" panose="020B0604020202020204" pitchFamily="34" charset="0"/>
                        </a:rPr>
                        <a:t>Transmission-independent</a:t>
                      </a:r>
                    </a:p>
                  </a:txBody>
                  <a:tcPr anchor="ctr">
                    <a:lnR w="28575" cap="flat" cmpd="sng" algn="ctr">
                      <a:solidFill>
                        <a:schemeClr val="tx1"/>
                      </a:solidFill>
                      <a:prstDash val="solid"/>
                      <a:round/>
                      <a:headEnd type="none" w="med" len="med"/>
                      <a:tailEnd type="none" w="med" len="med"/>
                    </a:lnR>
                  </a:tcPr>
                </a:tc>
              </a:tr>
              <a:tr h="540000">
                <a:tc>
                  <a:txBody>
                    <a:bodyPr/>
                    <a:lstStyle/>
                    <a:p>
                      <a:r>
                        <a:rPr lang="en-US" sz="1400" b="1" dirty="0">
                          <a:latin typeface="Arial" panose="020B0604020202020204" pitchFamily="34" charset="0"/>
                        </a:rPr>
                        <a:t>Ease of use</a:t>
                      </a:r>
                    </a:p>
                  </a:txBody>
                  <a:tcPr anchor="ctr">
                    <a:lnL w="28575" cap="flat" cmpd="sng" algn="ctr">
                      <a:solidFill>
                        <a:schemeClr val="tx1"/>
                      </a:solidFill>
                      <a:prstDash val="solid"/>
                      <a:round/>
                      <a:headEnd type="none" w="med" len="med"/>
                      <a:tailEnd type="none" w="med" len="med"/>
                    </a:lnL>
                  </a:tcPr>
                </a:tc>
                <a:tc>
                  <a:txBody>
                    <a:bodyPr/>
                    <a:lstStyle/>
                    <a:p>
                      <a:r>
                        <a:rPr lang="en-US" sz="1400" dirty="0">
                          <a:latin typeface="Arial" panose="020B0604020202020204" pitchFamily="34" charset="0"/>
                        </a:rPr>
                        <a:t>No additional software required</a:t>
                      </a:r>
                    </a:p>
                  </a:txBody>
                  <a:tcPr anchor="ctr"/>
                </a:tc>
                <a:tc>
                  <a:txBody>
                    <a:bodyPr/>
                    <a:lstStyle/>
                    <a:p>
                      <a:r>
                        <a:rPr lang="en-US" sz="1400" dirty="0">
                          <a:latin typeface="Arial" panose="020B0604020202020204" pitchFamily="34" charset="0"/>
                        </a:rPr>
                        <a:t>Dedicated software required</a:t>
                      </a:r>
                    </a:p>
                  </a:txBody>
                  <a:tcPr anchor="ctr">
                    <a:lnR w="28575" cap="flat" cmpd="sng" algn="ctr">
                      <a:solidFill>
                        <a:schemeClr val="tx1"/>
                      </a:solidFill>
                      <a:prstDash val="solid"/>
                      <a:round/>
                      <a:headEnd type="none" w="med" len="med"/>
                      <a:tailEnd type="none" w="med" len="med"/>
                    </a:lnR>
                  </a:tcPr>
                </a:tc>
              </a:tr>
              <a:tr h="540000">
                <a:tc>
                  <a:txBody>
                    <a:bodyPr/>
                    <a:lstStyle/>
                    <a:p>
                      <a:r>
                        <a:rPr lang="en-US" sz="1400" b="1" dirty="0">
                          <a:latin typeface="Arial" panose="020B0604020202020204" pitchFamily="34" charset="0"/>
                        </a:rPr>
                        <a:t>Security</a:t>
                      </a:r>
                    </a:p>
                  </a:txBody>
                  <a:tcPr anchor="ctr">
                    <a:lnL w="28575" cap="flat" cmpd="sng" algn="ctr">
                      <a:solidFill>
                        <a:schemeClr val="tx1"/>
                      </a:solidFill>
                      <a:prstDash val="solid"/>
                      <a:round/>
                      <a:headEnd type="none" w="med" len="med"/>
                      <a:tailEnd type="none" w="med" len="med"/>
                    </a:lnL>
                  </a:tcPr>
                </a:tc>
                <a:tc>
                  <a:txBody>
                    <a:bodyPr/>
                    <a:lstStyle/>
                    <a:p>
                      <a:r>
                        <a:rPr lang="en-US" sz="1400" dirty="0">
                          <a:latin typeface="Arial" panose="020B0604020202020204" pitchFamily="34" charset="0"/>
                        </a:rPr>
                        <a:t>No error correction</a:t>
                      </a:r>
                    </a:p>
                  </a:txBody>
                  <a:tcPr anchor="ctr"/>
                </a:tc>
                <a:tc>
                  <a:txBody>
                    <a:bodyPr/>
                    <a:lstStyle/>
                    <a:p>
                      <a:r>
                        <a:rPr lang="en-US" sz="1400" dirty="0">
                          <a:latin typeface="Arial" panose="020B0604020202020204" pitchFamily="34" charset="0"/>
                        </a:rPr>
                        <a:t>Error correction supported</a:t>
                      </a:r>
                    </a:p>
                  </a:txBody>
                  <a:tcPr anchor="ctr">
                    <a:lnR w="28575" cap="flat" cmpd="sng" algn="ctr">
                      <a:solidFill>
                        <a:schemeClr val="tx1"/>
                      </a:solidFill>
                      <a:prstDash val="solid"/>
                      <a:round/>
                      <a:headEnd type="none" w="med" len="med"/>
                      <a:tailEnd type="none" w="med" len="med"/>
                    </a:lnR>
                  </a:tcPr>
                </a:tc>
              </a:tr>
              <a:tr h="540000">
                <a:tc>
                  <a:txBody>
                    <a:bodyPr/>
                    <a:lstStyle/>
                    <a:p>
                      <a:r>
                        <a:rPr lang="en-US" sz="1400" b="1" dirty="0">
                          <a:latin typeface="Arial" panose="020B0604020202020204" pitchFamily="34" charset="0"/>
                        </a:rPr>
                        <a:t>File conversion</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r>
                        <a:rPr lang="en-US" sz="1400" dirty="0">
                          <a:latin typeface="Arial" panose="020B0604020202020204" pitchFamily="34" charset="0"/>
                        </a:rPr>
                        <a:t>No file format retained.</a:t>
                      </a:r>
                    </a:p>
                  </a:txBody>
                  <a:tcPr anchor="ctr">
                    <a:lnB w="28575" cap="flat" cmpd="sng" algn="ctr">
                      <a:solidFill>
                        <a:schemeClr val="tx1"/>
                      </a:solidFill>
                      <a:prstDash val="solid"/>
                      <a:round/>
                      <a:headEnd type="none" w="med" len="med"/>
                      <a:tailEnd type="none" w="med" len="med"/>
                    </a:lnB>
                  </a:tcPr>
                </a:tc>
                <a:tc>
                  <a:txBody>
                    <a:bodyPr/>
                    <a:lstStyle/>
                    <a:p>
                      <a:r>
                        <a:rPr lang="en-US" sz="1400" dirty="0">
                          <a:latin typeface="Arial" panose="020B0604020202020204" pitchFamily="34" charset="0"/>
                        </a:rPr>
                        <a:t>File format retained</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62655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 name="组合 100"/>
          <p:cNvGrpSpPr/>
          <p:nvPr/>
        </p:nvGrpSpPr>
        <p:grpSpPr>
          <a:xfrm>
            <a:off x="5303912" y="3068960"/>
            <a:ext cx="1615491" cy="1843353"/>
            <a:chOff x="5303912" y="4970023"/>
            <a:chExt cx="1615491" cy="1843353"/>
          </a:xfrm>
        </p:grpSpPr>
        <p:sp>
          <p:nvSpPr>
            <p:cNvPr id="268" name="hard-drive_77649"/>
            <p:cNvSpPr>
              <a:spLocks noChangeAspect="1"/>
            </p:cNvSpPr>
            <p:nvPr/>
          </p:nvSpPr>
          <p:spPr bwMode="auto">
            <a:xfrm>
              <a:off x="5303912" y="498432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69" name="hard-drive_77649"/>
            <p:cNvSpPr>
              <a:spLocks noChangeAspect="1"/>
            </p:cNvSpPr>
            <p:nvPr/>
          </p:nvSpPr>
          <p:spPr bwMode="auto">
            <a:xfrm>
              <a:off x="5303912" y="559400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0" name="hard-drive_77649"/>
            <p:cNvSpPr>
              <a:spLocks noChangeAspect="1"/>
            </p:cNvSpPr>
            <p:nvPr/>
          </p:nvSpPr>
          <p:spPr bwMode="auto">
            <a:xfrm>
              <a:off x="5303912" y="620369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1" name="hard-drive_77649"/>
            <p:cNvSpPr>
              <a:spLocks noChangeAspect="1"/>
            </p:cNvSpPr>
            <p:nvPr/>
          </p:nvSpPr>
          <p:spPr bwMode="auto">
            <a:xfrm>
              <a:off x="5704645" y="497002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2" name="hard-drive_77649"/>
            <p:cNvSpPr>
              <a:spLocks noChangeAspect="1"/>
            </p:cNvSpPr>
            <p:nvPr/>
          </p:nvSpPr>
          <p:spPr bwMode="auto">
            <a:xfrm>
              <a:off x="5704645"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3" name="hard-drive_77649"/>
            <p:cNvSpPr>
              <a:spLocks noChangeAspect="1"/>
            </p:cNvSpPr>
            <p:nvPr/>
          </p:nvSpPr>
          <p:spPr bwMode="auto">
            <a:xfrm>
              <a:off x="5704645" y="618939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4" name="hard-drive_77649"/>
            <p:cNvSpPr>
              <a:spLocks noChangeAspect="1"/>
            </p:cNvSpPr>
            <p:nvPr/>
          </p:nvSpPr>
          <p:spPr bwMode="auto">
            <a:xfrm>
              <a:off x="6100689" y="497002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5" name="hard-drive_77649"/>
            <p:cNvSpPr>
              <a:spLocks noChangeAspect="1"/>
            </p:cNvSpPr>
            <p:nvPr/>
          </p:nvSpPr>
          <p:spPr bwMode="auto">
            <a:xfrm>
              <a:off x="6100689"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6" name="hard-drive_77649"/>
            <p:cNvSpPr>
              <a:spLocks noChangeAspect="1"/>
            </p:cNvSpPr>
            <p:nvPr/>
          </p:nvSpPr>
          <p:spPr bwMode="auto">
            <a:xfrm>
              <a:off x="6100689" y="618939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7" name="hard-drive_77649"/>
            <p:cNvSpPr>
              <a:spLocks noChangeAspect="1"/>
            </p:cNvSpPr>
            <p:nvPr/>
          </p:nvSpPr>
          <p:spPr bwMode="auto">
            <a:xfrm>
              <a:off x="6492044" y="497002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8" name="hard-drive_77649"/>
            <p:cNvSpPr>
              <a:spLocks noChangeAspect="1"/>
            </p:cNvSpPr>
            <p:nvPr/>
          </p:nvSpPr>
          <p:spPr bwMode="auto">
            <a:xfrm>
              <a:off x="6492044" y="55797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279" name="hard-drive_77649"/>
            <p:cNvSpPr>
              <a:spLocks noChangeAspect="1"/>
            </p:cNvSpPr>
            <p:nvPr/>
          </p:nvSpPr>
          <p:spPr bwMode="auto">
            <a:xfrm>
              <a:off x="6492044" y="618939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sp>
        <p:nvSpPr>
          <p:cNvPr id="2" name="标题 1"/>
          <p:cNvSpPr>
            <a:spLocks noGrp="1"/>
          </p:cNvSpPr>
          <p:nvPr>
            <p:ph type="title"/>
          </p:nvPr>
        </p:nvSpPr>
        <p:spPr/>
        <p:txBody>
          <a:bodyPr/>
          <a:lstStyle/>
          <a:p>
            <a:r>
              <a:rPr lang="en-US" dirty="0">
                <a:latin typeface="Arial" panose="020B0604020202020204" pitchFamily="34" charset="0"/>
              </a:rPr>
              <a:t>Distributed Storage</a:t>
            </a:r>
          </a:p>
        </p:txBody>
      </p:sp>
      <p:sp>
        <p:nvSpPr>
          <p:cNvPr id="142" name="hard-drive_77649"/>
          <p:cNvSpPr>
            <a:spLocks noChangeAspect="1"/>
          </p:cNvSpPr>
          <p:nvPr/>
        </p:nvSpPr>
        <p:spPr bwMode="auto">
          <a:xfrm>
            <a:off x="2351584" y="309395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60" name="组合 159"/>
          <p:cNvGrpSpPr/>
          <p:nvPr/>
        </p:nvGrpSpPr>
        <p:grpSpPr>
          <a:xfrm>
            <a:off x="2315580" y="2930705"/>
            <a:ext cx="633350" cy="1333536"/>
            <a:chOff x="4130502" y="3211588"/>
            <a:chExt cx="633350" cy="1333536"/>
          </a:xfrm>
        </p:grpSpPr>
        <p:sp>
          <p:nvSpPr>
            <p:cNvPr id="161"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2"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3"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4"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5"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6"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7"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8"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69"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70"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71"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72"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73"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174" name="hard-drive_77649"/>
          <p:cNvSpPr>
            <a:spLocks noChangeAspect="1"/>
          </p:cNvSpPr>
          <p:nvPr/>
        </p:nvSpPr>
        <p:spPr bwMode="auto">
          <a:xfrm>
            <a:off x="2423592" y="324635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75" name="hard-drive_77649"/>
          <p:cNvSpPr>
            <a:spLocks noChangeAspect="1"/>
          </p:cNvSpPr>
          <p:nvPr/>
        </p:nvSpPr>
        <p:spPr bwMode="auto">
          <a:xfrm>
            <a:off x="2495600" y="339875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78" name="hard-drive_77649"/>
          <p:cNvSpPr>
            <a:spLocks noChangeAspect="1"/>
          </p:cNvSpPr>
          <p:nvPr/>
        </p:nvSpPr>
        <p:spPr bwMode="auto">
          <a:xfrm>
            <a:off x="2351584" y="48870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79" name="组合 178"/>
          <p:cNvGrpSpPr/>
          <p:nvPr/>
        </p:nvGrpSpPr>
        <p:grpSpPr>
          <a:xfrm>
            <a:off x="2315580" y="4723756"/>
            <a:ext cx="633350" cy="1333536"/>
            <a:chOff x="4130502" y="3211588"/>
            <a:chExt cx="633350" cy="1333536"/>
          </a:xfrm>
        </p:grpSpPr>
        <p:sp>
          <p:nvSpPr>
            <p:cNvPr id="180"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1"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2"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3"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4"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5"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6"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7"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8"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89"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90"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91"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192"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193" name="hard-drive_77649"/>
          <p:cNvSpPr>
            <a:spLocks noChangeAspect="1"/>
          </p:cNvSpPr>
          <p:nvPr/>
        </p:nvSpPr>
        <p:spPr bwMode="auto">
          <a:xfrm>
            <a:off x="2423592" y="50394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94" name="hard-drive_77649"/>
          <p:cNvSpPr>
            <a:spLocks noChangeAspect="1"/>
          </p:cNvSpPr>
          <p:nvPr/>
        </p:nvSpPr>
        <p:spPr bwMode="auto">
          <a:xfrm>
            <a:off x="2495600" y="519180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98" name="hard-drive_77649"/>
          <p:cNvSpPr>
            <a:spLocks noChangeAspect="1"/>
          </p:cNvSpPr>
          <p:nvPr/>
        </p:nvSpPr>
        <p:spPr bwMode="auto">
          <a:xfrm>
            <a:off x="8919034" y="307965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99" name="组合 198"/>
          <p:cNvGrpSpPr/>
          <p:nvPr/>
        </p:nvGrpSpPr>
        <p:grpSpPr>
          <a:xfrm>
            <a:off x="8883030" y="2916407"/>
            <a:ext cx="633350" cy="1333536"/>
            <a:chOff x="4130502" y="3211588"/>
            <a:chExt cx="633350" cy="1333536"/>
          </a:xfrm>
        </p:grpSpPr>
        <p:sp>
          <p:nvSpPr>
            <p:cNvPr id="200"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1"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2"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3"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4"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5"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6"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7"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8"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09"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0"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1"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2"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213" name="hard-drive_77649"/>
          <p:cNvSpPr>
            <a:spLocks noChangeAspect="1"/>
          </p:cNvSpPr>
          <p:nvPr/>
        </p:nvSpPr>
        <p:spPr bwMode="auto">
          <a:xfrm>
            <a:off x="8991042" y="323205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14" name="hard-drive_77649"/>
          <p:cNvSpPr>
            <a:spLocks noChangeAspect="1"/>
          </p:cNvSpPr>
          <p:nvPr/>
        </p:nvSpPr>
        <p:spPr bwMode="auto">
          <a:xfrm>
            <a:off x="9063050" y="338445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15" name="hard-drive_77649"/>
          <p:cNvSpPr>
            <a:spLocks noChangeAspect="1"/>
          </p:cNvSpPr>
          <p:nvPr/>
        </p:nvSpPr>
        <p:spPr bwMode="auto">
          <a:xfrm>
            <a:off x="8919034" y="4872710"/>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216" name="组合 215"/>
          <p:cNvGrpSpPr/>
          <p:nvPr/>
        </p:nvGrpSpPr>
        <p:grpSpPr>
          <a:xfrm>
            <a:off x="8883030" y="4709458"/>
            <a:ext cx="633350" cy="1333536"/>
            <a:chOff x="4130502" y="3211588"/>
            <a:chExt cx="633350" cy="1333536"/>
          </a:xfrm>
        </p:grpSpPr>
        <p:sp>
          <p:nvSpPr>
            <p:cNvPr id="217" name="Freeform 988"/>
            <p:cNvSpPr>
              <a:spLocks/>
            </p:cNvSpPr>
            <p:nvPr/>
          </p:nvSpPr>
          <p:spPr bwMode="auto">
            <a:xfrm>
              <a:off x="4130502" y="3211588"/>
              <a:ext cx="633350" cy="1298964"/>
            </a:xfrm>
            <a:custGeom>
              <a:avLst/>
              <a:gdLst>
                <a:gd name="T0" fmla="*/ 254 w 267"/>
                <a:gd name="T1" fmla="*/ 490 h 490"/>
                <a:gd name="T2" fmla="*/ 254 w 267"/>
                <a:gd name="T3" fmla="*/ 490 h 490"/>
                <a:gd name="T4" fmla="*/ 198 w 267"/>
                <a:gd name="T5" fmla="*/ 490 h 490"/>
                <a:gd name="T6" fmla="*/ 198 w 267"/>
                <a:gd name="T7" fmla="*/ 465 h 490"/>
                <a:gd name="T8" fmla="*/ 242 w 267"/>
                <a:gd name="T9" fmla="*/ 465 h 490"/>
                <a:gd name="T10" fmla="*/ 242 w 267"/>
                <a:gd name="T11" fmla="*/ 24 h 490"/>
                <a:gd name="T12" fmla="*/ 25 w 267"/>
                <a:gd name="T13" fmla="*/ 24 h 490"/>
                <a:gd name="T14" fmla="*/ 25 w 267"/>
                <a:gd name="T15" fmla="*/ 465 h 490"/>
                <a:gd name="T16" fmla="*/ 114 w 267"/>
                <a:gd name="T17" fmla="*/ 465 h 490"/>
                <a:gd name="T18" fmla="*/ 114 w 267"/>
                <a:gd name="T19" fmla="*/ 490 h 490"/>
                <a:gd name="T20" fmla="*/ 13 w 267"/>
                <a:gd name="T21" fmla="*/ 490 h 490"/>
                <a:gd name="T22" fmla="*/ 0 w 267"/>
                <a:gd name="T23" fmla="*/ 478 h 490"/>
                <a:gd name="T24" fmla="*/ 0 w 267"/>
                <a:gd name="T25" fmla="*/ 12 h 490"/>
                <a:gd name="T26" fmla="*/ 13 w 267"/>
                <a:gd name="T27" fmla="*/ 0 h 490"/>
                <a:gd name="T28" fmla="*/ 254 w 267"/>
                <a:gd name="T29" fmla="*/ 0 h 490"/>
                <a:gd name="T30" fmla="*/ 267 w 267"/>
                <a:gd name="T31" fmla="*/ 12 h 490"/>
                <a:gd name="T32" fmla="*/ 267 w 267"/>
                <a:gd name="T33" fmla="*/ 478 h 490"/>
                <a:gd name="T34" fmla="*/ 254 w 267"/>
                <a:gd name="T35" fmla="*/ 49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490">
                  <a:moveTo>
                    <a:pt x="254" y="490"/>
                  </a:moveTo>
                  <a:lnTo>
                    <a:pt x="254" y="490"/>
                  </a:lnTo>
                  <a:lnTo>
                    <a:pt x="198" y="490"/>
                  </a:lnTo>
                  <a:lnTo>
                    <a:pt x="198" y="465"/>
                  </a:lnTo>
                  <a:lnTo>
                    <a:pt x="242" y="465"/>
                  </a:lnTo>
                  <a:lnTo>
                    <a:pt x="242" y="24"/>
                  </a:lnTo>
                  <a:lnTo>
                    <a:pt x="25" y="24"/>
                  </a:lnTo>
                  <a:lnTo>
                    <a:pt x="25" y="465"/>
                  </a:lnTo>
                  <a:lnTo>
                    <a:pt x="114" y="465"/>
                  </a:lnTo>
                  <a:lnTo>
                    <a:pt x="114" y="490"/>
                  </a:lnTo>
                  <a:lnTo>
                    <a:pt x="13" y="490"/>
                  </a:lnTo>
                  <a:cubicBezTo>
                    <a:pt x="6" y="490"/>
                    <a:pt x="0" y="484"/>
                    <a:pt x="0" y="478"/>
                  </a:cubicBezTo>
                  <a:lnTo>
                    <a:pt x="0" y="12"/>
                  </a:lnTo>
                  <a:cubicBezTo>
                    <a:pt x="0" y="5"/>
                    <a:pt x="6" y="0"/>
                    <a:pt x="13" y="0"/>
                  </a:cubicBezTo>
                  <a:lnTo>
                    <a:pt x="254" y="0"/>
                  </a:lnTo>
                  <a:cubicBezTo>
                    <a:pt x="261" y="0"/>
                    <a:pt x="267" y="5"/>
                    <a:pt x="267" y="12"/>
                  </a:cubicBezTo>
                  <a:lnTo>
                    <a:pt x="267" y="478"/>
                  </a:lnTo>
                  <a:cubicBezTo>
                    <a:pt x="267" y="484"/>
                    <a:pt x="261" y="490"/>
                    <a:pt x="254" y="490"/>
                  </a:cubicBez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8" name="Freeform 989"/>
            <p:cNvSpPr>
              <a:spLocks noEditPoints="1"/>
            </p:cNvSpPr>
            <p:nvPr/>
          </p:nvSpPr>
          <p:spPr bwMode="auto">
            <a:xfrm>
              <a:off x="4312090" y="3344940"/>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19" name="Freeform 990"/>
            <p:cNvSpPr>
              <a:spLocks/>
            </p:cNvSpPr>
            <p:nvPr/>
          </p:nvSpPr>
          <p:spPr bwMode="auto">
            <a:xfrm>
              <a:off x="4303232" y="4199393"/>
              <a:ext cx="287887" cy="59269"/>
            </a:xfrm>
            <a:custGeom>
              <a:avLst/>
              <a:gdLst>
                <a:gd name="T0" fmla="*/ 121 w 121"/>
                <a:gd name="T1" fmla="*/ 11 h 21"/>
                <a:gd name="T2" fmla="*/ 121 w 121"/>
                <a:gd name="T3" fmla="*/ 11 h 21"/>
                <a:gd name="T4" fmla="*/ 111 w 121"/>
                <a:gd name="T5" fmla="*/ 21 h 21"/>
                <a:gd name="T6" fmla="*/ 11 w 121"/>
                <a:gd name="T7" fmla="*/ 21 h 21"/>
                <a:gd name="T8" fmla="*/ 0 w 121"/>
                <a:gd name="T9" fmla="*/ 11 h 21"/>
                <a:gd name="T10" fmla="*/ 11 w 121"/>
                <a:gd name="T11" fmla="*/ 0 h 21"/>
                <a:gd name="T12" fmla="*/ 111 w 121"/>
                <a:gd name="T13" fmla="*/ 0 h 21"/>
                <a:gd name="T14" fmla="*/ 121 w 121"/>
                <a:gd name="T15" fmla="*/ 1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21">
                  <a:moveTo>
                    <a:pt x="121" y="11"/>
                  </a:moveTo>
                  <a:lnTo>
                    <a:pt x="121" y="11"/>
                  </a:lnTo>
                  <a:cubicBezTo>
                    <a:pt x="121" y="17"/>
                    <a:pt x="116" y="21"/>
                    <a:pt x="111" y="21"/>
                  </a:cubicBezTo>
                  <a:lnTo>
                    <a:pt x="11" y="21"/>
                  </a:lnTo>
                  <a:cubicBezTo>
                    <a:pt x="5" y="21"/>
                    <a:pt x="0" y="17"/>
                    <a:pt x="0" y="11"/>
                  </a:cubicBezTo>
                  <a:cubicBezTo>
                    <a:pt x="0" y="5"/>
                    <a:pt x="5" y="0"/>
                    <a:pt x="11" y="0"/>
                  </a:cubicBezTo>
                  <a:lnTo>
                    <a:pt x="111" y="0"/>
                  </a:lnTo>
                  <a:cubicBezTo>
                    <a:pt x="116" y="0"/>
                    <a:pt x="121" y="5"/>
                    <a:pt x="121" y="1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0" name="Freeform 991"/>
            <p:cNvSpPr>
              <a:spLocks noEditPoints="1"/>
            </p:cNvSpPr>
            <p:nvPr/>
          </p:nvSpPr>
          <p:spPr bwMode="auto">
            <a:xfrm>
              <a:off x="4312090" y="3636343"/>
              <a:ext cx="270171" cy="177805"/>
            </a:xfrm>
            <a:custGeom>
              <a:avLst/>
              <a:gdLst>
                <a:gd name="T0" fmla="*/ 17 w 115"/>
                <a:gd name="T1" fmla="*/ 15 h 67"/>
                <a:gd name="T2" fmla="*/ 17 w 115"/>
                <a:gd name="T3" fmla="*/ 15 h 67"/>
                <a:gd name="T4" fmla="*/ 15 w 115"/>
                <a:gd name="T5" fmla="*/ 17 h 67"/>
                <a:gd name="T6" fmla="*/ 15 w 115"/>
                <a:gd name="T7" fmla="*/ 51 h 67"/>
                <a:gd name="T8" fmla="*/ 17 w 115"/>
                <a:gd name="T9" fmla="*/ 52 h 67"/>
                <a:gd name="T10" fmla="*/ 98 w 115"/>
                <a:gd name="T11" fmla="*/ 52 h 67"/>
                <a:gd name="T12" fmla="*/ 100 w 115"/>
                <a:gd name="T13" fmla="*/ 51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1 h 67"/>
                <a:gd name="T28" fmla="*/ 0 w 115"/>
                <a:gd name="T29" fmla="*/ 17 h 67"/>
                <a:gd name="T30" fmla="*/ 17 w 115"/>
                <a:gd name="T31" fmla="*/ 0 h 67"/>
                <a:gd name="T32" fmla="*/ 98 w 115"/>
                <a:gd name="T33" fmla="*/ 0 h 67"/>
                <a:gd name="T34" fmla="*/ 115 w 115"/>
                <a:gd name="T35" fmla="*/ 17 h 67"/>
                <a:gd name="T36" fmla="*/ 115 w 115"/>
                <a:gd name="T37" fmla="*/ 51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1"/>
                  </a:lnTo>
                  <a:cubicBezTo>
                    <a:pt x="15" y="52"/>
                    <a:pt x="16" y="52"/>
                    <a:pt x="17" y="52"/>
                  </a:cubicBezTo>
                  <a:lnTo>
                    <a:pt x="98" y="52"/>
                  </a:lnTo>
                  <a:cubicBezTo>
                    <a:pt x="99" y="52"/>
                    <a:pt x="100" y="52"/>
                    <a:pt x="100" y="51"/>
                  </a:cubicBezTo>
                  <a:lnTo>
                    <a:pt x="100" y="17"/>
                  </a:lnTo>
                  <a:cubicBezTo>
                    <a:pt x="100" y="16"/>
                    <a:pt x="99" y="15"/>
                    <a:pt x="98" y="15"/>
                  </a:cubicBezTo>
                  <a:lnTo>
                    <a:pt x="17" y="15"/>
                  </a:lnTo>
                  <a:close/>
                  <a:moveTo>
                    <a:pt x="98" y="67"/>
                  </a:moveTo>
                  <a:lnTo>
                    <a:pt x="98" y="67"/>
                  </a:lnTo>
                  <a:lnTo>
                    <a:pt x="17" y="67"/>
                  </a:lnTo>
                  <a:cubicBezTo>
                    <a:pt x="7" y="67"/>
                    <a:pt x="0" y="60"/>
                    <a:pt x="0" y="51"/>
                  </a:cubicBezTo>
                  <a:lnTo>
                    <a:pt x="0" y="17"/>
                  </a:lnTo>
                  <a:cubicBezTo>
                    <a:pt x="0" y="8"/>
                    <a:pt x="7" y="0"/>
                    <a:pt x="17" y="0"/>
                  </a:cubicBezTo>
                  <a:lnTo>
                    <a:pt x="98" y="0"/>
                  </a:lnTo>
                  <a:cubicBezTo>
                    <a:pt x="108" y="0"/>
                    <a:pt x="115" y="8"/>
                    <a:pt x="115" y="17"/>
                  </a:cubicBezTo>
                  <a:lnTo>
                    <a:pt x="115" y="51"/>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1" name="Freeform 992"/>
            <p:cNvSpPr>
              <a:spLocks noEditPoints="1"/>
            </p:cNvSpPr>
            <p:nvPr/>
          </p:nvSpPr>
          <p:spPr bwMode="auto">
            <a:xfrm>
              <a:off x="4312090" y="3907988"/>
              <a:ext cx="270171" cy="177805"/>
            </a:xfrm>
            <a:custGeom>
              <a:avLst/>
              <a:gdLst>
                <a:gd name="T0" fmla="*/ 17 w 115"/>
                <a:gd name="T1" fmla="*/ 15 h 67"/>
                <a:gd name="T2" fmla="*/ 17 w 115"/>
                <a:gd name="T3" fmla="*/ 15 h 67"/>
                <a:gd name="T4" fmla="*/ 15 w 115"/>
                <a:gd name="T5" fmla="*/ 17 h 67"/>
                <a:gd name="T6" fmla="*/ 15 w 115"/>
                <a:gd name="T7" fmla="*/ 50 h 67"/>
                <a:gd name="T8" fmla="*/ 17 w 115"/>
                <a:gd name="T9" fmla="*/ 52 h 67"/>
                <a:gd name="T10" fmla="*/ 98 w 115"/>
                <a:gd name="T11" fmla="*/ 52 h 67"/>
                <a:gd name="T12" fmla="*/ 100 w 115"/>
                <a:gd name="T13" fmla="*/ 50 h 67"/>
                <a:gd name="T14" fmla="*/ 100 w 115"/>
                <a:gd name="T15" fmla="*/ 17 h 67"/>
                <a:gd name="T16" fmla="*/ 98 w 115"/>
                <a:gd name="T17" fmla="*/ 15 h 67"/>
                <a:gd name="T18" fmla="*/ 17 w 115"/>
                <a:gd name="T19" fmla="*/ 15 h 67"/>
                <a:gd name="T20" fmla="*/ 98 w 115"/>
                <a:gd name="T21" fmla="*/ 67 h 67"/>
                <a:gd name="T22" fmla="*/ 98 w 115"/>
                <a:gd name="T23" fmla="*/ 67 h 67"/>
                <a:gd name="T24" fmla="*/ 17 w 115"/>
                <a:gd name="T25" fmla="*/ 67 h 67"/>
                <a:gd name="T26" fmla="*/ 0 w 115"/>
                <a:gd name="T27" fmla="*/ 50 h 67"/>
                <a:gd name="T28" fmla="*/ 0 w 115"/>
                <a:gd name="T29" fmla="*/ 17 h 67"/>
                <a:gd name="T30" fmla="*/ 17 w 115"/>
                <a:gd name="T31" fmla="*/ 0 h 67"/>
                <a:gd name="T32" fmla="*/ 98 w 115"/>
                <a:gd name="T33" fmla="*/ 0 h 67"/>
                <a:gd name="T34" fmla="*/ 115 w 115"/>
                <a:gd name="T35" fmla="*/ 17 h 67"/>
                <a:gd name="T36" fmla="*/ 115 w 115"/>
                <a:gd name="T37" fmla="*/ 50 h 67"/>
                <a:gd name="T38" fmla="*/ 98 w 115"/>
                <a:gd name="T39"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67">
                  <a:moveTo>
                    <a:pt x="17" y="15"/>
                  </a:moveTo>
                  <a:lnTo>
                    <a:pt x="17" y="15"/>
                  </a:lnTo>
                  <a:cubicBezTo>
                    <a:pt x="16" y="15"/>
                    <a:pt x="15" y="16"/>
                    <a:pt x="15" y="17"/>
                  </a:cubicBezTo>
                  <a:lnTo>
                    <a:pt x="15" y="50"/>
                  </a:lnTo>
                  <a:cubicBezTo>
                    <a:pt x="15" y="52"/>
                    <a:pt x="16" y="52"/>
                    <a:pt x="17" y="52"/>
                  </a:cubicBezTo>
                  <a:lnTo>
                    <a:pt x="98" y="52"/>
                  </a:lnTo>
                  <a:cubicBezTo>
                    <a:pt x="99" y="52"/>
                    <a:pt x="100" y="52"/>
                    <a:pt x="100" y="50"/>
                  </a:cubicBezTo>
                  <a:lnTo>
                    <a:pt x="100" y="17"/>
                  </a:lnTo>
                  <a:cubicBezTo>
                    <a:pt x="100" y="16"/>
                    <a:pt x="99" y="15"/>
                    <a:pt x="98" y="15"/>
                  </a:cubicBezTo>
                  <a:lnTo>
                    <a:pt x="17" y="15"/>
                  </a:lnTo>
                  <a:close/>
                  <a:moveTo>
                    <a:pt x="98" y="67"/>
                  </a:moveTo>
                  <a:lnTo>
                    <a:pt x="98" y="67"/>
                  </a:lnTo>
                  <a:lnTo>
                    <a:pt x="17" y="67"/>
                  </a:lnTo>
                  <a:cubicBezTo>
                    <a:pt x="7" y="67"/>
                    <a:pt x="0" y="60"/>
                    <a:pt x="0" y="50"/>
                  </a:cubicBezTo>
                  <a:lnTo>
                    <a:pt x="0" y="17"/>
                  </a:lnTo>
                  <a:cubicBezTo>
                    <a:pt x="0" y="8"/>
                    <a:pt x="7" y="0"/>
                    <a:pt x="17" y="0"/>
                  </a:cubicBezTo>
                  <a:lnTo>
                    <a:pt x="98" y="0"/>
                  </a:lnTo>
                  <a:cubicBezTo>
                    <a:pt x="108" y="0"/>
                    <a:pt x="115" y="8"/>
                    <a:pt x="115" y="17"/>
                  </a:cubicBezTo>
                  <a:lnTo>
                    <a:pt x="115" y="50"/>
                  </a:lnTo>
                  <a:cubicBezTo>
                    <a:pt x="115" y="60"/>
                    <a:pt x="108" y="67"/>
                    <a:pt x="98" y="67"/>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2" name="Freeform 993"/>
            <p:cNvSpPr>
              <a:spLocks/>
            </p:cNvSpPr>
            <p:nvPr/>
          </p:nvSpPr>
          <p:spPr bwMode="auto">
            <a:xfrm>
              <a:off x="4161504" y="3577076"/>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3" name="Freeform 994"/>
            <p:cNvSpPr>
              <a:spLocks/>
            </p:cNvSpPr>
            <p:nvPr/>
          </p:nvSpPr>
          <p:spPr bwMode="auto">
            <a:xfrm>
              <a:off x="4161504" y="3853661"/>
              <a:ext cx="571344" cy="14819"/>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4" name="Freeform 995"/>
            <p:cNvSpPr>
              <a:spLocks/>
            </p:cNvSpPr>
            <p:nvPr/>
          </p:nvSpPr>
          <p:spPr bwMode="auto">
            <a:xfrm>
              <a:off x="4161504" y="4140124"/>
              <a:ext cx="571344" cy="9878"/>
            </a:xfrm>
            <a:custGeom>
              <a:avLst/>
              <a:gdLst>
                <a:gd name="T0" fmla="*/ 241 w 241"/>
                <a:gd name="T1" fmla="*/ 5 h 5"/>
                <a:gd name="T2" fmla="*/ 241 w 241"/>
                <a:gd name="T3" fmla="*/ 5 h 5"/>
                <a:gd name="T4" fmla="*/ 0 w 241"/>
                <a:gd name="T5" fmla="*/ 5 h 5"/>
                <a:gd name="T6" fmla="*/ 0 w 241"/>
                <a:gd name="T7" fmla="*/ 0 h 5"/>
                <a:gd name="T8" fmla="*/ 241 w 241"/>
                <a:gd name="T9" fmla="*/ 0 h 5"/>
                <a:gd name="T10" fmla="*/ 241 w 241"/>
                <a:gd name="T11" fmla="*/ 5 h 5"/>
              </a:gdLst>
              <a:ahLst/>
              <a:cxnLst>
                <a:cxn ang="0">
                  <a:pos x="T0" y="T1"/>
                </a:cxn>
                <a:cxn ang="0">
                  <a:pos x="T2" y="T3"/>
                </a:cxn>
                <a:cxn ang="0">
                  <a:pos x="T4" y="T5"/>
                </a:cxn>
                <a:cxn ang="0">
                  <a:pos x="T6" y="T7"/>
                </a:cxn>
                <a:cxn ang="0">
                  <a:pos x="T8" y="T9"/>
                </a:cxn>
                <a:cxn ang="0">
                  <a:pos x="T10" y="T11"/>
                </a:cxn>
              </a:cxnLst>
              <a:rect l="0" t="0" r="r" b="b"/>
              <a:pathLst>
                <a:path w="241" h="5">
                  <a:moveTo>
                    <a:pt x="241" y="5"/>
                  </a:moveTo>
                  <a:lnTo>
                    <a:pt x="241" y="5"/>
                  </a:lnTo>
                  <a:lnTo>
                    <a:pt x="0" y="5"/>
                  </a:lnTo>
                  <a:lnTo>
                    <a:pt x="0" y="0"/>
                  </a:lnTo>
                  <a:lnTo>
                    <a:pt x="241" y="0"/>
                  </a:lnTo>
                  <a:lnTo>
                    <a:pt x="241" y="5"/>
                  </a:lnTo>
                  <a:close/>
                </a:path>
              </a:pathLst>
            </a:custGeom>
            <a:no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5" name="Freeform 996"/>
            <p:cNvSpPr>
              <a:spLocks/>
            </p:cNvSpPr>
            <p:nvPr/>
          </p:nvSpPr>
          <p:spPr bwMode="auto">
            <a:xfrm>
              <a:off x="4422816" y="3448662"/>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6" name="Freeform 997"/>
            <p:cNvSpPr>
              <a:spLocks/>
            </p:cNvSpPr>
            <p:nvPr/>
          </p:nvSpPr>
          <p:spPr bwMode="auto">
            <a:xfrm>
              <a:off x="4422816" y="3740062"/>
              <a:ext cx="48720" cy="9878"/>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7" name="Freeform 998"/>
            <p:cNvSpPr>
              <a:spLocks/>
            </p:cNvSpPr>
            <p:nvPr/>
          </p:nvSpPr>
          <p:spPr bwMode="auto">
            <a:xfrm>
              <a:off x="4422816" y="4011710"/>
              <a:ext cx="48720" cy="14819"/>
            </a:xfrm>
            <a:custGeom>
              <a:avLst/>
              <a:gdLst>
                <a:gd name="T0" fmla="*/ 19 w 19"/>
                <a:gd name="T1" fmla="*/ 5 h 5"/>
                <a:gd name="T2" fmla="*/ 19 w 19"/>
                <a:gd name="T3" fmla="*/ 5 h 5"/>
                <a:gd name="T4" fmla="*/ 0 w 19"/>
                <a:gd name="T5" fmla="*/ 5 h 5"/>
                <a:gd name="T6" fmla="*/ 0 w 19"/>
                <a:gd name="T7" fmla="*/ 0 h 5"/>
                <a:gd name="T8" fmla="*/ 19 w 19"/>
                <a:gd name="T9" fmla="*/ 0 h 5"/>
                <a:gd name="T10" fmla="*/ 19 w 19"/>
                <a:gd name="T11" fmla="*/ 5 h 5"/>
              </a:gdLst>
              <a:ahLst/>
              <a:cxnLst>
                <a:cxn ang="0">
                  <a:pos x="T0" y="T1"/>
                </a:cxn>
                <a:cxn ang="0">
                  <a:pos x="T2" y="T3"/>
                </a:cxn>
                <a:cxn ang="0">
                  <a:pos x="T4" y="T5"/>
                </a:cxn>
                <a:cxn ang="0">
                  <a:pos x="T6" y="T7"/>
                </a:cxn>
                <a:cxn ang="0">
                  <a:pos x="T8" y="T9"/>
                </a:cxn>
                <a:cxn ang="0">
                  <a:pos x="T10" y="T11"/>
                </a:cxn>
              </a:cxnLst>
              <a:rect l="0" t="0" r="r" b="b"/>
              <a:pathLst>
                <a:path w="19" h="5">
                  <a:moveTo>
                    <a:pt x="19" y="5"/>
                  </a:moveTo>
                  <a:lnTo>
                    <a:pt x="19" y="5"/>
                  </a:lnTo>
                  <a:lnTo>
                    <a:pt x="0" y="5"/>
                  </a:lnTo>
                  <a:lnTo>
                    <a:pt x="0" y="0"/>
                  </a:lnTo>
                  <a:lnTo>
                    <a:pt x="19" y="0"/>
                  </a:lnTo>
                  <a:lnTo>
                    <a:pt x="19" y="5"/>
                  </a:lnTo>
                  <a:close/>
                </a:path>
              </a:pathLst>
            </a:custGeom>
            <a:solidFill>
              <a:srgbClr val="3C3C3B"/>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8" name="Freeform 999"/>
            <p:cNvSpPr>
              <a:spLocks/>
            </p:cNvSpPr>
            <p:nvPr/>
          </p:nvSpPr>
          <p:spPr bwMode="auto">
            <a:xfrm>
              <a:off x="4365238" y="4406831"/>
              <a:ext cx="119585" cy="138293"/>
            </a:xfrm>
            <a:custGeom>
              <a:avLst/>
              <a:gdLst>
                <a:gd name="T0" fmla="*/ 25 w 51"/>
                <a:gd name="T1" fmla="*/ 51 h 51"/>
                <a:gd name="T2" fmla="*/ 25 w 51"/>
                <a:gd name="T3" fmla="*/ 51 h 51"/>
                <a:gd name="T4" fmla="*/ 0 w 51"/>
                <a:gd name="T5" fmla="*/ 26 h 51"/>
                <a:gd name="T6" fmla="*/ 25 w 51"/>
                <a:gd name="T7" fmla="*/ 0 h 51"/>
                <a:gd name="T8" fmla="*/ 51 w 51"/>
                <a:gd name="T9" fmla="*/ 26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6"/>
                  </a:cubicBezTo>
                  <a:cubicBezTo>
                    <a:pt x="0" y="12"/>
                    <a:pt x="11" y="0"/>
                    <a:pt x="25" y="0"/>
                  </a:cubicBezTo>
                  <a:cubicBezTo>
                    <a:pt x="39" y="0"/>
                    <a:pt x="51" y="12"/>
                    <a:pt x="51" y="26"/>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29" name="Freeform 1000"/>
            <p:cNvSpPr>
              <a:spLocks/>
            </p:cNvSpPr>
            <p:nvPr/>
          </p:nvSpPr>
          <p:spPr bwMode="auto">
            <a:xfrm>
              <a:off x="4551256" y="4406831"/>
              <a:ext cx="119585" cy="13829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39" y="0"/>
                    <a:pt x="51" y="11"/>
                    <a:pt x="51" y="25"/>
                  </a:cubicBezTo>
                  <a:cubicBezTo>
                    <a:pt x="51" y="40"/>
                    <a:pt x="39" y="51"/>
                    <a:pt x="25" y="51"/>
                  </a:cubicBezTo>
                  <a:close/>
                </a:path>
              </a:pathLst>
            </a:custGeom>
            <a:solidFill>
              <a:srgbClr val="57C4C4"/>
            </a:solid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230" name="hard-drive_77649"/>
          <p:cNvSpPr>
            <a:spLocks noChangeAspect="1"/>
          </p:cNvSpPr>
          <p:nvPr/>
        </p:nvSpPr>
        <p:spPr bwMode="auto">
          <a:xfrm>
            <a:off x="8991042" y="5025110"/>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31" name="hard-drive_77649"/>
          <p:cNvSpPr>
            <a:spLocks noChangeAspect="1"/>
          </p:cNvSpPr>
          <p:nvPr/>
        </p:nvSpPr>
        <p:spPr bwMode="auto">
          <a:xfrm>
            <a:off x="9063050" y="5177510"/>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91" name="组合 90"/>
          <p:cNvGrpSpPr/>
          <p:nvPr/>
        </p:nvGrpSpPr>
        <p:grpSpPr>
          <a:xfrm>
            <a:off x="4734154" y="1836287"/>
            <a:ext cx="2699517" cy="654286"/>
            <a:chOff x="4734154" y="4797152"/>
            <a:chExt cx="2699517" cy="654286"/>
          </a:xfrm>
        </p:grpSpPr>
        <p:grpSp>
          <p:nvGrpSpPr>
            <p:cNvPr id="239" name="组合 238"/>
            <p:cNvGrpSpPr/>
            <p:nvPr/>
          </p:nvGrpSpPr>
          <p:grpSpPr>
            <a:xfrm>
              <a:off x="6640515" y="4905164"/>
              <a:ext cx="463603" cy="546273"/>
              <a:chOff x="8435975" y="2055813"/>
              <a:chExt cx="387881" cy="458788"/>
            </a:xfrm>
            <a:solidFill>
              <a:srgbClr val="3ABABA"/>
            </a:solidFill>
          </p:grpSpPr>
          <p:sp>
            <p:nvSpPr>
              <p:cNvPr id="240" name="Freeform 219"/>
              <p:cNvSpPr>
                <a:spLocks noEditPoints="1"/>
              </p:cNvSpPr>
              <p:nvPr/>
            </p:nvSpPr>
            <p:spPr bwMode="auto">
              <a:xfrm>
                <a:off x="8463493"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1"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2"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3"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grpSp>
          <p:nvGrpSpPr>
            <p:cNvPr id="244" name="组合 243"/>
            <p:cNvGrpSpPr/>
            <p:nvPr/>
          </p:nvGrpSpPr>
          <p:grpSpPr>
            <a:xfrm>
              <a:off x="6010329" y="4905165"/>
              <a:ext cx="463603" cy="546273"/>
              <a:chOff x="8435975" y="2055813"/>
              <a:chExt cx="387881" cy="458788"/>
            </a:xfrm>
            <a:solidFill>
              <a:srgbClr val="3ABABA"/>
            </a:solidFill>
          </p:grpSpPr>
          <p:sp>
            <p:nvSpPr>
              <p:cNvPr id="245" name="Freeform 219"/>
              <p:cNvSpPr>
                <a:spLocks noEditPoints="1"/>
              </p:cNvSpPr>
              <p:nvPr/>
            </p:nvSpPr>
            <p:spPr bwMode="auto">
              <a:xfrm>
                <a:off x="8463493"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4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grpSp>
          <p:nvGrpSpPr>
            <p:cNvPr id="249" name="组合 248"/>
            <p:cNvGrpSpPr/>
            <p:nvPr/>
          </p:nvGrpSpPr>
          <p:grpSpPr>
            <a:xfrm>
              <a:off x="5381710" y="4905165"/>
              <a:ext cx="463603" cy="546273"/>
              <a:chOff x="8435975" y="2055813"/>
              <a:chExt cx="387881" cy="458788"/>
            </a:xfrm>
            <a:solidFill>
              <a:srgbClr val="3ABABA"/>
            </a:solidFill>
          </p:grpSpPr>
          <p:sp>
            <p:nvSpPr>
              <p:cNvPr id="250" name="Freeform 219"/>
              <p:cNvSpPr>
                <a:spLocks noEditPoints="1"/>
              </p:cNvSpPr>
              <p:nvPr/>
            </p:nvSpPr>
            <p:spPr bwMode="auto">
              <a:xfrm>
                <a:off x="8463493"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51"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52"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sp>
            <p:nvSpPr>
              <p:cNvPr id="253"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nchor="ctr"/>
              <a:lstStyle/>
              <a:p>
                <a:pPr defTabSz="543689">
                  <a:defRPr/>
                </a:pPr>
                <a:endParaRPr lang="zh-CN" altLang="en-US" sz="3201">
                  <a:latin typeface="Arial" panose="020B0604020202020204" pitchFamily="34" charset="0"/>
                  <a:ea typeface="+mn-ea"/>
                  <a:cs typeface="+mn-ea"/>
                  <a:sym typeface="+mn-lt"/>
                </a:endParaRPr>
              </a:p>
            </p:txBody>
          </p:sp>
        </p:grpSp>
        <p:sp>
          <p:nvSpPr>
            <p:cNvPr id="254" name="圆角矩形 253"/>
            <p:cNvSpPr/>
            <p:nvPr/>
          </p:nvSpPr>
          <p:spPr bwMode="auto">
            <a:xfrm>
              <a:off x="4734154" y="4797152"/>
              <a:ext cx="2699517"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3600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Distributed</a:t>
              </a:r>
            </a:p>
            <a:p>
              <a:pPr marL="0" marR="0" indent="0"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Storage</a:t>
              </a:r>
            </a:p>
            <a:p>
              <a:pPr marL="0" marR="0" indent="0"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Pool</a:t>
              </a:r>
              <a:endParaRPr lang="en-US" sz="1100" dirty="0">
                <a:latin typeface="Arial" panose="020B0604020202020204" pitchFamily="34" charset="0"/>
                <a:ea typeface="+mn-ea"/>
                <a:cs typeface="+mn-ea"/>
                <a:sym typeface="+mn-lt"/>
              </a:endParaRPr>
            </a:p>
          </p:txBody>
        </p:sp>
      </p:grpSp>
      <p:sp>
        <p:nvSpPr>
          <p:cNvPr id="256" name="hard-drive_77649"/>
          <p:cNvSpPr>
            <a:spLocks noChangeAspect="1"/>
          </p:cNvSpPr>
          <p:nvPr/>
        </p:nvSpPr>
        <p:spPr bwMode="auto">
          <a:xfrm>
            <a:off x="5303912" y="307610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57" name="hard-drive_77649"/>
          <p:cNvSpPr>
            <a:spLocks noChangeAspect="1"/>
          </p:cNvSpPr>
          <p:nvPr/>
        </p:nvSpPr>
        <p:spPr bwMode="auto">
          <a:xfrm>
            <a:off x="5303912" y="3685794"/>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58" name="hard-drive_77649"/>
          <p:cNvSpPr>
            <a:spLocks noChangeAspect="1"/>
          </p:cNvSpPr>
          <p:nvPr/>
        </p:nvSpPr>
        <p:spPr bwMode="auto">
          <a:xfrm>
            <a:off x="5303912" y="429547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59" name="hard-drive_77649"/>
          <p:cNvSpPr>
            <a:spLocks noChangeAspect="1"/>
          </p:cNvSpPr>
          <p:nvPr/>
        </p:nvSpPr>
        <p:spPr bwMode="auto">
          <a:xfrm>
            <a:off x="5704645" y="306181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0" name="hard-drive_77649"/>
          <p:cNvSpPr>
            <a:spLocks noChangeAspect="1"/>
          </p:cNvSpPr>
          <p:nvPr/>
        </p:nvSpPr>
        <p:spPr bwMode="auto">
          <a:xfrm>
            <a:off x="5704645" y="367149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1" name="hard-drive_77649"/>
          <p:cNvSpPr>
            <a:spLocks noChangeAspect="1"/>
          </p:cNvSpPr>
          <p:nvPr/>
        </p:nvSpPr>
        <p:spPr bwMode="auto">
          <a:xfrm>
            <a:off x="5704645" y="428118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2" name="hard-drive_77649"/>
          <p:cNvSpPr>
            <a:spLocks noChangeAspect="1"/>
          </p:cNvSpPr>
          <p:nvPr/>
        </p:nvSpPr>
        <p:spPr bwMode="auto">
          <a:xfrm>
            <a:off x="6100689" y="306181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3" name="hard-drive_77649"/>
          <p:cNvSpPr>
            <a:spLocks noChangeAspect="1"/>
          </p:cNvSpPr>
          <p:nvPr/>
        </p:nvSpPr>
        <p:spPr bwMode="auto">
          <a:xfrm>
            <a:off x="6100689" y="367149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4" name="hard-drive_77649"/>
          <p:cNvSpPr>
            <a:spLocks noChangeAspect="1"/>
          </p:cNvSpPr>
          <p:nvPr/>
        </p:nvSpPr>
        <p:spPr bwMode="auto">
          <a:xfrm>
            <a:off x="6100689" y="428118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5" name="hard-drive_77649"/>
          <p:cNvSpPr>
            <a:spLocks noChangeAspect="1"/>
          </p:cNvSpPr>
          <p:nvPr/>
        </p:nvSpPr>
        <p:spPr bwMode="auto">
          <a:xfrm>
            <a:off x="6492044" y="306181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6" name="hard-drive_77649"/>
          <p:cNvSpPr>
            <a:spLocks noChangeAspect="1"/>
          </p:cNvSpPr>
          <p:nvPr/>
        </p:nvSpPr>
        <p:spPr bwMode="auto">
          <a:xfrm>
            <a:off x="6492044" y="3671496"/>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67" name="hard-drive_77649"/>
          <p:cNvSpPr>
            <a:spLocks noChangeAspect="1"/>
          </p:cNvSpPr>
          <p:nvPr/>
        </p:nvSpPr>
        <p:spPr bwMode="auto">
          <a:xfrm>
            <a:off x="6492044" y="4281181"/>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238" name="文本框 237"/>
          <p:cNvSpPr txBox="1"/>
          <p:nvPr/>
        </p:nvSpPr>
        <p:spPr bwMode="auto">
          <a:xfrm>
            <a:off x="4871864" y="3789040"/>
            <a:ext cx="2520280" cy="377947"/>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800" b="1" dirty="0">
                <a:solidFill>
                  <a:srgbClr val="C00000"/>
                </a:solidFill>
                <a:latin typeface="Arial" panose="020B0604020202020204" pitchFamily="34" charset="0"/>
                <a:ea typeface="+mn-ea"/>
                <a:cs typeface="Arial" pitchFamily="34" charset="0"/>
              </a:rPr>
              <a:t>Replication</a:t>
            </a:r>
          </a:p>
        </p:txBody>
      </p:sp>
      <p:cxnSp>
        <p:nvCxnSpPr>
          <p:cNvPr id="281" name="直接箭头连接符 280"/>
          <p:cNvCxnSpPr>
            <a:endCxn id="180" idx="15"/>
          </p:cNvCxnSpPr>
          <p:nvPr/>
        </p:nvCxnSpPr>
        <p:spPr bwMode="auto">
          <a:xfrm flipH="1">
            <a:off x="2948930" y="2528900"/>
            <a:ext cx="3147070" cy="2226667"/>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285" name="直接箭头连接符 284"/>
          <p:cNvCxnSpPr>
            <a:endCxn id="217" idx="13"/>
          </p:cNvCxnSpPr>
          <p:nvPr/>
        </p:nvCxnSpPr>
        <p:spPr bwMode="auto">
          <a:xfrm>
            <a:off x="6096000" y="2528900"/>
            <a:ext cx="2817867" cy="2180558"/>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287" name="直接箭头连接符 286"/>
          <p:cNvCxnSpPr>
            <a:stCxn id="161" idx="14"/>
            <a:endCxn id="254" idx="1"/>
          </p:cNvCxnSpPr>
          <p:nvPr/>
        </p:nvCxnSpPr>
        <p:spPr bwMode="auto">
          <a:xfrm flipV="1">
            <a:off x="2918093" y="2160323"/>
            <a:ext cx="1816061" cy="770382"/>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289" name="直接箭头连接符 288"/>
          <p:cNvCxnSpPr>
            <a:stCxn id="254" idx="3"/>
            <a:endCxn id="200" idx="12"/>
          </p:cNvCxnSpPr>
          <p:nvPr/>
        </p:nvCxnSpPr>
        <p:spPr bwMode="auto">
          <a:xfrm>
            <a:off x="7433671" y="2160323"/>
            <a:ext cx="1449359" cy="787895"/>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290" name="文本框 289"/>
          <p:cNvSpPr txBox="1"/>
          <p:nvPr/>
        </p:nvSpPr>
        <p:spPr bwMode="auto">
          <a:xfrm rot="20217840">
            <a:off x="3342845" y="2136128"/>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291" name="文本框 290"/>
          <p:cNvSpPr txBox="1"/>
          <p:nvPr/>
        </p:nvSpPr>
        <p:spPr bwMode="auto">
          <a:xfrm rot="19393218">
            <a:off x="3583412" y="3574080"/>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292" name="文本框 291"/>
          <p:cNvSpPr txBox="1"/>
          <p:nvPr/>
        </p:nvSpPr>
        <p:spPr bwMode="auto">
          <a:xfrm rot="1836080">
            <a:off x="7803255" y="2176887"/>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
        <p:nvSpPr>
          <p:cNvPr id="293" name="文本框 292"/>
          <p:cNvSpPr txBox="1"/>
          <p:nvPr/>
        </p:nvSpPr>
        <p:spPr bwMode="auto">
          <a:xfrm rot="2450932">
            <a:off x="7473551" y="3475794"/>
            <a:ext cx="864096"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latin typeface="Arial" panose="020B0604020202020204" pitchFamily="34" charset="0"/>
                <a:ea typeface="+mn-ea"/>
              </a:rPr>
              <a:t>Data read/write</a:t>
            </a:r>
          </a:p>
        </p:txBody>
      </p:sp>
    </p:spTree>
    <p:extLst>
      <p:ext uri="{BB962C8B-B14F-4D97-AF65-F5344CB8AC3E}">
        <p14:creationId xmlns:p14="http://schemas.microsoft.com/office/powerpoint/2010/main" val="176813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anim calcmode="lin" valueType="num">
                                      <p:cBhvr>
                                        <p:cTn id="7" dur="500" fill="hold"/>
                                        <p:tgtEl>
                                          <p:spTgt spid="142"/>
                                        </p:tgtEl>
                                        <p:attrNameLst>
                                          <p:attrName>ppt_w</p:attrName>
                                        </p:attrNameLst>
                                      </p:cBhvr>
                                      <p:tavLst>
                                        <p:tav tm="0">
                                          <p:val>
                                            <p:fltVal val="0"/>
                                          </p:val>
                                        </p:tav>
                                        <p:tav tm="100000">
                                          <p:val>
                                            <p:strVal val="#ppt_w"/>
                                          </p:val>
                                        </p:tav>
                                      </p:tavLst>
                                    </p:anim>
                                    <p:anim calcmode="lin" valueType="num">
                                      <p:cBhvr>
                                        <p:cTn id="8" dur="500" fill="hold"/>
                                        <p:tgtEl>
                                          <p:spTgt spid="142"/>
                                        </p:tgtEl>
                                        <p:attrNameLst>
                                          <p:attrName>ppt_h</p:attrName>
                                        </p:attrNameLst>
                                      </p:cBhvr>
                                      <p:tavLst>
                                        <p:tav tm="0">
                                          <p:val>
                                            <p:fltVal val="0"/>
                                          </p:val>
                                        </p:tav>
                                        <p:tav tm="100000">
                                          <p:val>
                                            <p:strVal val="#ppt_h"/>
                                          </p:val>
                                        </p:tav>
                                      </p:tavLst>
                                    </p:anim>
                                    <p:animEffect transition="in" filter="fade">
                                      <p:cBhvr>
                                        <p:cTn id="9" dur="500"/>
                                        <p:tgtEl>
                                          <p:spTgt spid="142"/>
                                        </p:tgtEl>
                                      </p:cBhvr>
                                    </p:animEffect>
                                  </p:childTnLst>
                                </p:cTn>
                              </p:par>
                              <p:par>
                                <p:cTn id="10" presetID="53" presetClass="entr" presetSubtype="16" fill="hold" nodeType="withEffect">
                                  <p:stCondLst>
                                    <p:cond delay="0"/>
                                  </p:stCondLst>
                                  <p:childTnLst>
                                    <p:set>
                                      <p:cBhvr>
                                        <p:cTn id="11" dur="1" fill="hold">
                                          <p:stCondLst>
                                            <p:cond delay="0"/>
                                          </p:stCondLst>
                                        </p:cTn>
                                        <p:tgtEl>
                                          <p:spTgt spid="174"/>
                                        </p:tgtEl>
                                        <p:attrNameLst>
                                          <p:attrName>style.visibility</p:attrName>
                                        </p:attrNameLst>
                                      </p:cBhvr>
                                      <p:to>
                                        <p:strVal val="visible"/>
                                      </p:to>
                                    </p:set>
                                    <p:anim calcmode="lin" valueType="num">
                                      <p:cBhvr>
                                        <p:cTn id="12" dur="500" fill="hold"/>
                                        <p:tgtEl>
                                          <p:spTgt spid="174"/>
                                        </p:tgtEl>
                                        <p:attrNameLst>
                                          <p:attrName>ppt_w</p:attrName>
                                        </p:attrNameLst>
                                      </p:cBhvr>
                                      <p:tavLst>
                                        <p:tav tm="0">
                                          <p:val>
                                            <p:fltVal val="0"/>
                                          </p:val>
                                        </p:tav>
                                        <p:tav tm="100000">
                                          <p:val>
                                            <p:strVal val="#ppt_w"/>
                                          </p:val>
                                        </p:tav>
                                      </p:tavLst>
                                    </p:anim>
                                    <p:anim calcmode="lin" valueType="num">
                                      <p:cBhvr>
                                        <p:cTn id="13" dur="500" fill="hold"/>
                                        <p:tgtEl>
                                          <p:spTgt spid="174"/>
                                        </p:tgtEl>
                                        <p:attrNameLst>
                                          <p:attrName>ppt_h</p:attrName>
                                        </p:attrNameLst>
                                      </p:cBhvr>
                                      <p:tavLst>
                                        <p:tav tm="0">
                                          <p:val>
                                            <p:fltVal val="0"/>
                                          </p:val>
                                        </p:tav>
                                        <p:tav tm="100000">
                                          <p:val>
                                            <p:strVal val="#ppt_h"/>
                                          </p:val>
                                        </p:tav>
                                      </p:tavLst>
                                    </p:anim>
                                    <p:animEffect transition="in" filter="fade">
                                      <p:cBhvr>
                                        <p:cTn id="14" dur="500"/>
                                        <p:tgtEl>
                                          <p:spTgt spid="174"/>
                                        </p:tgtEl>
                                      </p:cBhvr>
                                    </p:animEffect>
                                  </p:childTnLst>
                                </p:cTn>
                              </p:par>
                              <p:par>
                                <p:cTn id="15" presetID="53" presetClass="entr" presetSubtype="16" fill="hold" nodeType="withEffect">
                                  <p:stCondLst>
                                    <p:cond delay="0"/>
                                  </p:stCondLst>
                                  <p:childTnLst>
                                    <p:set>
                                      <p:cBhvr>
                                        <p:cTn id="16" dur="1" fill="hold">
                                          <p:stCondLst>
                                            <p:cond delay="0"/>
                                          </p:stCondLst>
                                        </p:cTn>
                                        <p:tgtEl>
                                          <p:spTgt spid="175"/>
                                        </p:tgtEl>
                                        <p:attrNameLst>
                                          <p:attrName>style.visibility</p:attrName>
                                        </p:attrNameLst>
                                      </p:cBhvr>
                                      <p:to>
                                        <p:strVal val="visible"/>
                                      </p:to>
                                    </p:set>
                                    <p:anim calcmode="lin" valueType="num">
                                      <p:cBhvr>
                                        <p:cTn id="17" dur="500" fill="hold"/>
                                        <p:tgtEl>
                                          <p:spTgt spid="175"/>
                                        </p:tgtEl>
                                        <p:attrNameLst>
                                          <p:attrName>ppt_w</p:attrName>
                                        </p:attrNameLst>
                                      </p:cBhvr>
                                      <p:tavLst>
                                        <p:tav tm="0">
                                          <p:val>
                                            <p:fltVal val="0"/>
                                          </p:val>
                                        </p:tav>
                                        <p:tav tm="100000">
                                          <p:val>
                                            <p:strVal val="#ppt_w"/>
                                          </p:val>
                                        </p:tav>
                                      </p:tavLst>
                                    </p:anim>
                                    <p:anim calcmode="lin" valueType="num">
                                      <p:cBhvr>
                                        <p:cTn id="18" dur="500" fill="hold"/>
                                        <p:tgtEl>
                                          <p:spTgt spid="175"/>
                                        </p:tgtEl>
                                        <p:attrNameLst>
                                          <p:attrName>ppt_h</p:attrName>
                                        </p:attrNameLst>
                                      </p:cBhvr>
                                      <p:tavLst>
                                        <p:tav tm="0">
                                          <p:val>
                                            <p:fltVal val="0"/>
                                          </p:val>
                                        </p:tav>
                                        <p:tav tm="100000">
                                          <p:val>
                                            <p:strVal val="#ppt_h"/>
                                          </p:val>
                                        </p:tav>
                                      </p:tavLst>
                                    </p:anim>
                                    <p:animEffect transition="in" filter="fade">
                                      <p:cBhvr>
                                        <p:cTn id="19" dur="500"/>
                                        <p:tgtEl>
                                          <p:spTgt spid="175"/>
                                        </p:tgtEl>
                                      </p:cBhvr>
                                    </p:animEffect>
                                  </p:childTnLst>
                                </p:cTn>
                              </p:par>
                              <p:par>
                                <p:cTn id="20" presetID="53" presetClass="entr" presetSubtype="16" fill="hold" nodeType="withEffect">
                                  <p:stCondLst>
                                    <p:cond delay="0"/>
                                  </p:stCondLst>
                                  <p:childTnLst>
                                    <p:set>
                                      <p:cBhvr>
                                        <p:cTn id="21" dur="1" fill="hold">
                                          <p:stCondLst>
                                            <p:cond delay="0"/>
                                          </p:stCondLst>
                                        </p:cTn>
                                        <p:tgtEl>
                                          <p:spTgt spid="178"/>
                                        </p:tgtEl>
                                        <p:attrNameLst>
                                          <p:attrName>style.visibility</p:attrName>
                                        </p:attrNameLst>
                                      </p:cBhvr>
                                      <p:to>
                                        <p:strVal val="visible"/>
                                      </p:to>
                                    </p:set>
                                    <p:anim calcmode="lin" valueType="num">
                                      <p:cBhvr>
                                        <p:cTn id="22" dur="500" fill="hold"/>
                                        <p:tgtEl>
                                          <p:spTgt spid="178"/>
                                        </p:tgtEl>
                                        <p:attrNameLst>
                                          <p:attrName>ppt_w</p:attrName>
                                        </p:attrNameLst>
                                      </p:cBhvr>
                                      <p:tavLst>
                                        <p:tav tm="0">
                                          <p:val>
                                            <p:fltVal val="0"/>
                                          </p:val>
                                        </p:tav>
                                        <p:tav tm="100000">
                                          <p:val>
                                            <p:strVal val="#ppt_w"/>
                                          </p:val>
                                        </p:tav>
                                      </p:tavLst>
                                    </p:anim>
                                    <p:anim calcmode="lin" valueType="num">
                                      <p:cBhvr>
                                        <p:cTn id="23" dur="500" fill="hold"/>
                                        <p:tgtEl>
                                          <p:spTgt spid="178"/>
                                        </p:tgtEl>
                                        <p:attrNameLst>
                                          <p:attrName>ppt_h</p:attrName>
                                        </p:attrNameLst>
                                      </p:cBhvr>
                                      <p:tavLst>
                                        <p:tav tm="0">
                                          <p:val>
                                            <p:fltVal val="0"/>
                                          </p:val>
                                        </p:tav>
                                        <p:tav tm="100000">
                                          <p:val>
                                            <p:strVal val="#ppt_h"/>
                                          </p:val>
                                        </p:tav>
                                      </p:tavLst>
                                    </p:anim>
                                    <p:animEffect transition="in" filter="fade">
                                      <p:cBhvr>
                                        <p:cTn id="24" dur="500"/>
                                        <p:tgtEl>
                                          <p:spTgt spid="178"/>
                                        </p:tgtEl>
                                      </p:cBhvr>
                                    </p:animEffect>
                                  </p:childTnLst>
                                </p:cTn>
                              </p:par>
                              <p:par>
                                <p:cTn id="25" presetID="53" presetClass="entr" presetSubtype="16" fill="hold" nodeType="withEffect">
                                  <p:stCondLst>
                                    <p:cond delay="0"/>
                                  </p:stCondLst>
                                  <p:childTnLst>
                                    <p:set>
                                      <p:cBhvr>
                                        <p:cTn id="26" dur="1" fill="hold">
                                          <p:stCondLst>
                                            <p:cond delay="0"/>
                                          </p:stCondLst>
                                        </p:cTn>
                                        <p:tgtEl>
                                          <p:spTgt spid="193"/>
                                        </p:tgtEl>
                                        <p:attrNameLst>
                                          <p:attrName>style.visibility</p:attrName>
                                        </p:attrNameLst>
                                      </p:cBhvr>
                                      <p:to>
                                        <p:strVal val="visible"/>
                                      </p:to>
                                    </p:set>
                                    <p:anim calcmode="lin" valueType="num">
                                      <p:cBhvr>
                                        <p:cTn id="27" dur="500" fill="hold"/>
                                        <p:tgtEl>
                                          <p:spTgt spid="193"/>
                                        </p:tgtEl>
                                        <p:attrNameLst>
                                          <p:attrName>ppt_w</p:attrName>
                                        </p:attrNameLst>
                                      </p:cBhvr>
                                      <p:tavLst>
                                        <p:tav tm="0">
                                          <p:val>
                                            <p:fltVal val="0"/>
                                          </p:val>
                                        </p:tav>
                                        <p:tav tm="100000">
                                          <p:val>
                                            <p:strVal val="#ppt_w"/>
                                          </p:val>
                                        </p:tav>
                                      </p:tavLst>
                                    </p:anim>
                                    <p:anim calcmode="lin" valueType="num">
                                      <p:cBhvr>
                                        <p:cTn id="28" dur="500" fill="hold"/>
                                        <p:tgtEl>
                                          <p:spTgt spid="193"/>
                                        </p:tgtEl>
                                        <p:attrNameLst>
                                          <p:attrName>ppt_h</p:attrName>
                                        </p:attrNameLst>
                                      </p:cBhvr>
                                      <p:tavLst>
                                        <p:tav tm="0">
                                          <p:val>
                                            <p:fltVal val="0"/>
                                          </p:val>
                                        </p:tav>
                                        <p:tav tm="100000">
                                          <p:val>
                                            <p:strVal val="#ppt_h"/>
                                          </p:val>
                                        </p:tav>
                                      </p:tavLst>
                                    </p:anim>
                                    <p:animEffect transition="in" filter="fade">
                                      <p:cBhvr>
                                        <p:cTn id="29" dur="500"/>
                                        <p:tgtEl>
                                          <p:spTgt spid="193"/>
                                        </p:tgtEl>
                                      </p:cBhvr>
                                    </p:animEffect>
                                  </p:childTnLst>
                                </p:cTn>
                              </p:par>
                              <p:par>
                                <p:cTn id="30" presetID="53" presetClass="entr" presetSubtype="16" fill="hold" nodeType="withEffect">
                                  <p:stCondLst>
                                    <p:cond delay="0"/>
                                  </p:stCondLst>
                                  <p:childTnLst>
                                    <p:set>
                                      <p:cBhvr>
                                        <p:cTn id="31" dur="1" fill="hold">
                                          <p:stCondLst>
                                            <p:cond delay="0"/>
                                          </p:stCondLst>
                                        </p:cTn>
                                        <p:tgtEl>
                                          <p:spTgt spid="194"/>
                                        </p:tgtEl>
                                        <p:attrNameLst>
                                          <p:attrName>style.visibility</p:attrName>
                                        </p:attrNameLst>
                                      </p:cBhvr>
                                      <p:to>
                                        <p:strVal val="visible"/>
                                      </p:to>
                                    </p:set>
                                    <p:anim calcmode="lin" valueType="num">
                                      <p:cBhvr>
                                        <p:cTn id="32" dur="500" fill="hold"/>
                                        <p:tgtEl>
                                          <p:spTgt spid="194"/>
                                        </p:tgtEl>
                                        <p:attrNameLst>
                                          <p:attrName>ppt_w</p:attrName>
                                        </p:attrNameLst>
                                      </p:cBhvr>
                                      <p:tavLst>
                                        <p:tav tm="0">
                                          <p:val>
                                            <p:fltVal val="0"/>
                                          </p:val>
                                        </p:tav>
                                        <p:tav tm="100000">
                                          <p:val>
                                            <p:strVal val="#ppt_w"/>
                                          </p:val>
                                        </p:tav>
                                      </p:tavLst>
                                    </p:anim>
                                    <p:anim calcmode="lin" valueType="num">
                                      <p:cBhvr>
                                        <p:cTn id="33" dur="500" fill="hold"/>
                                        <p:tgtEl>
                                          <p:spTgt spid="194"/>
                                        </p:tgtEl>
                                        <p:attrNameLst>
                                          <p:attrName>ppt_h</p:attrName>
                                        </p:attrNameLst>
                                      </p:cBhvr>
                                      <p:tavLst>
                                        <p:tav tm="0">
                                          <p:val>
                                            <p:fltVal val="0"/>
                                          </p:val>
                                        </p:tav>
                                        <p:tav tm="100000">
                                          <p:val>
                                            <p:strVal val="#ppt_h"/>
                                          </p:val>
                                        </p:tav>
                                      </p:tavLst>
                                    </p:anim>
                                    <p:animEffect transition="in" filter="fade">
                                      <p:cBhvr>
                                        <p:cTn id="34" dur="500"/>
                                        <p:tgtEl>
                                          <p:spTgt spid="194"/>
                                        </p:tgtEl>
                                      </p:cBhvr>
                                    </p:animEffect>
                                  </p:childTnLst>
                                </p:cTn>
                              </p:par>
                              <p:par>
                                <p:cTn id="35" presetID="53" presetClass="entr" presetSubtype="16" fill="hold" nodeType="withEffect">
                                  <p:stCondLst>
                                    <p:cond delay="0"/>
                                  </p:stCondLst>
                                  <p:childTnLst>
                                    <p:set>
                                      <p:cBhvr>
                                        <p:cTn id="36" dur="1" fill="hold">
                                          <p:stCondLst>
                                            <p:cond delay="0"/>
                                          </p:stCondLst>
                                        </p:cTn>
                                        <p:tgtEl>
                                          <p:spTgt spid="198"/>
                                        </p:tgtEl>
                                        <p:attrNameLst>
                                          <p:attrName>style.visibility</p:attrName>
                                        </p:attrNameLst>
                                      </p:cBhvr>
                                      <p:to>
                                        <p:strVal val="visible"/>
                                      </p:to>
                                    </p:set>
                                    <p:anim calcmode="lin" valueType="num">
                                      <p:cBhvr>
                                        <p:cTn id="37" dur="500" fill="hold"/>
                                        <p:tgtEl>
                                          <p:spTgt spid="198"/>
                                        </p:tgtEl>
                                        <p:attrNameLst>
                                          <p:attrName>ppt_w</p:attrName>
                                        </p:attrNameLst>
                                      </p:cBhvr>
                                      <p:tavLst>
                                        <p:tav tm="0">
                                          <p:val>
                                            <p:fltVal val="0"/>
                                          </p:val>
                                        </p:tav>
                                        <p:tav tm="100000">
                                          <p:val>
                                            <p:strVal val="#ppt_w"/>
                                          </p:val>
                                        </p:tav>
                                      </p:tavLst>
                                    </p:anim>
                                    <p:anim calcmode="lin" valueType="num">
                                      <p:cBhvr>
                                        <p:cTn id="38" dur="500" fill="hold"/>
                                        <p:tgtEl>
                                          <p:spTgt spid="198"/>
                                        </p:tgtEl>
                                        <p:attrNameLst>
                                          <p:attrName>ppt_h</p:attrName>
                                        </p:attrNameLst>
                                      </p:cBhvr>
                                      <p:tavLst>
                                        <p:tav tm="0">
                                          <p:val>
                                            <p:fltVal val="0"/>
                                          </p:val>
                                        </p:tav>
                                        <p:tav tm="100000">
                                          <p:val>
                                            <p:strVal val="#ppt_h"/>
                                          </p:val>
                                        </p:tav>
                                      </p:tavLst>
                                    </p:anim>
                                    <p:animEffect transition="in" filter="fade">
                                      <p:cBhvr>
                                        <p:cTn id="39" dur="500"/>
                                        <p:tgtEl>
                                          <p:spTgt spid="198"/>
                                        </p:tgtEl>
                                      </p:cBhvr>
                                    </p:animEffect>
                                  </p:childTnLst>
                                </p:cTn>
                              </p:par>
                              <p:par>
                                <p:cTn id="40" presetID="53" presetClass="entr" presetSubtype="16" fill="hold" nodeType="withEffect">
                                  <p:stCondLst>
                                    <p:cond delay="0"/>
                                  </p:stCondLst>
                                  <p:childTnLst>
                                    <p:set>
                                      <p:cBhvr>
                                        <p:cTn id="41" dur="1" fill="hold">
                                          <p:stCondLst>
                                            <p:cond delay="0"/>
                                          </p:stCondLst>
                                        </p:cTn>
                                        <p:tgtEl>
                                          <p:spTgt spid="213"/>
                                        </p:tgtEl>
                                        <p:attrNameLst>
                                          <p:attrName>style.visibility</p:attrName>
                                        </p:attrNameLst>
                                      </p:cBhvr>
                                      <p:to>
                                        <p:strVal val="visible"/>
                                      </p:to>
                                    </p:set>
                                    <p:anim calcmode="lin" valueType="num">
                                      <p:cBhvr>
                                        <p:cTn id="42" dur="500" fill="hold"/>
                                        <p:tgtEl>
                                          <p:spTgt spid="213"/>
                                        </p:tgtEl>
                                        <p:attrNameLst>
                                          <p:attrName>ppt_w</p:attrName>
                                        </p:attrNameLst>
                                      </p:cBhvr>
                                      <p:tavLst>
                                        <p:tav tm="0">
                                          <p:val>
                                            <p:fltVal val="0"/>
                                          </p:val>
                                        </p:tav>
                                        <p:tav tm="100000">
                                          <p:val>
                                            <p:strVal val="#ppt_w"/>
                                          </p:val>
                                        </p:tav>
                                      </p:tavLst>
                                    </p:anim>
                                    <p:anim calcmode="lin" valueType="num">
                                      <p:cBhvr>
                                        <p:cTn id="43" dur="500" fill="hold"/>
                                        <p:tgtEl>
                                          <p:spTgt spid="213"/>
                                        </p:tgtEl>
                                        <p:attrNameLst>
                                          <p:attrName>ppt_h</p:attrName>
                                        </p:attrNameLst>
                                      </p:cBhvr>
                                      <p:tavLst>
                                        <p:tav tm="0">
                                          <p:val>
                                            <p:fltVal val="0"/>
                                          </p:val>
                                        </p:tav>
                                        <p:tav tm="100000">
                                          <p:val>
                                            <p:strVal val="#ppt_h"/>
                                          </p:val>
                                        </p:tav>
                                      </p:tavLst>
                                    </p:anim>
                                    <p:animEffect transition="in" filter="fade">
                                      <p:cBhvr>
                                        <p:cTn id="44" dur="500"/>
                                        <p:tgtEl>
                                          <p:spTgt spid="213"/>
                                        </p:tgtEl>
                                      </p:cBhvr>
                                    </p:animEffect>
                                  </p:childTnLst>
                                </p:cTn>
                              </p:par>
                              <p:par>
                                <p:cTn id="45" presetID="53" presetClass="entr" presetSubtype="16" fill="hold" nodeType="withEffect">
                                  <p:stCondLst>
                                    <p:cond delay="0"/>
                                  </p:stCondLst>
                                  <p:childTnLst>
                                    <p:set>
                                      <p:cBhvr>
                                        <p:cTn id="46" dur="1" fill="hold">
                                          <p:stCondLst>
                                            <p:cond delay="0"/>
                                          </p:stCondLst>
                                        </p:cTn>
                                        <p:tgtEl>
                                          <p:spTgt spid="214"/>
                                        </p:tgtEl>
                                        <p:attrNameLst>
                                          <p:attrName>style.visibility</p:attrName>
                                        </p:attrNameLst>
                                      </p:cBhvr>
                                      <p:to>
                                        <p:strVal val="visible"/>
                                      </p:to>
                                    </p:set>
                                    <p:anim calcmode="lin" valueType="num">
                                      <p:cBhvr>
                                        <p:cTn id="47" dur="500" fill="hold"/>
                                        <p:tgtEl>
                                          <p:spTgt spid="214"/>
                                        </p:tgtEl>
                                        <p:attrNameLst>
                                          <p:attrName>ppt_w</p:attrName>
                                        </p:attrNameLst>
                                      </p:cBhvr>
                                      <p:tavLst>
                                        <p:tav tm="0">
                                          <p:val>
                                            <p:fltVal val="0"/>
                                          </p:val>
                                        </p:tav>
                                        <p:tav tm="100000">
                                          <p:val>
                                            <p:strVal val="#ppt_w"/>
                                          </p:val>
                                        </p:tav>
                                      </p:tavLst>
                                    </p:anim>
                                    <p:anim calcmode="lin" valueType="num">
                                      <p:cBhvr>
                                        <p:cTn id="48" dur="500" fill="hold"/>
                                        <p:tgtEl>
                                          <p:spTgt spid="214"/>
                                        </p:tgtEl>
                                        <p:attrNameLst>
                                          <p:attrName>ppt_h</p:attrName>
                                        </p:attrNameLst>
                                      </p:cBhvr>
                                      <p:tavLst>
                                        <p:tav tm="0">
                                          <p:val>
                                            <p:fltVal val="0"/>
                                          </p:val>
                                        </p:tav>
                                        <p:tav tm="100000">
                                          <p:val>
                                            <p:strVal val="#ppt_h"/>
                                          </p:val>
                                        </p:tav>
                                      </p:tavLst>
                                    </p:anim>
                                    <p:animEffect transition="in" filter="fade">
                                      <p:cBhvr>
                                        <p:cTn id="49" dur="500"/>
                                        <p:tgtEl>
                                          <p:spTgt spid="214"/>
                                        </p:tgtEl>
                                      </p:cBhvr>
                                    </p:animEffect>
                                  </p:childTnLst>
                                </p:cTn>
                              </p:par>
                              <p:par>
                                <p:cTn id="50" presetID="53" presetClass="entr" presetSubtype="16" fill="hold" nodeType="withEffect">
                                  <p:stCondLst>
                                    <p:cond delay="0"/>
                                  </p:stCondLst>
                                  <p:childTnLst>
                                    <p:set>
                                      <p:cBhvr>
                                        <p:cTn id="51" dur="1" fill="hold">
                                          <p:stCondLst>
                                            <p:cond delay="0"/>
                                          </p:stCondLst>
                                        </p:cTn>
                                        <p:tgtEl>
                                          <p:spTgt spid="215"/>
                                        </p:tgtEl>
                                        <p:attrNameLst>
                                          <p:attrName>style.visibility</p:attrName>
                                        </p:attrNameLst>
                                      </p:cBhvr>
                                      <p:to>
                                        <p:strVal val="visible"/>
                                      </p:to>
                                    </p:set>
                                    <p:anim calcmode="lin" valueType="num">
                                      <p:cBhvr>
                                        <p:cTn id="52" dur="500" fill="hold"/>
                                        <p:tgtEl>
                                          <p:spTgt spid="215"/>
                                        </p:tgtEl>
                                        <p:attrNameLst>
                                          <p:attrName>ppt_w</p:attrName>
                                        </p:attrNameLst>
                                      </p:cBhvr>
                                      <p:tavLst>
                                        <p:tav tm="0">
                                          <p:val>
                                            <p:fltVal val="0"/>
                                          </p:val>
                                        </p:tav>
                                        <p:tav tm="100000">
                                          <p:val>
                                            <p:strVal val="#ppt_w"/>
                                          </p:val>
                                        </p:tav>
                                      </p:tavLst>
                                    </p:anim>
                                    <p:anim calcmode="lin" valueType="num">
                                      <p:cBhvr>
                                        <p:cTn id="53" dur="500" fill="hold"/>
                                        <p:tgtEl>
                                          <p:spTgt spid="215"/>
                                        </p:tgtEl>
                                        <p:attrNameLst>
                                          <p:attrName>ppt_h</p:attrName>
                                        </p:attrNameLst>
                                      </p:cBhvr>
                                      <p:tavLst>
                                        <p:tav tm="0">
                                          <p:val>
                                            <p:fltVal val="0"/>
                                          </p:val>
                                        </p:tav>
                                        <p:tav tm="100000">
                                          <p:val>
                                            <p:strVal val="#ppt_h"/>
                                          </p:val>
                                        </p:tav>
                                      </p:tavLst>
                                    </p:anim>
                                    <p:animEffect transition="in" filter="fade">
                                      <p:cBhvr>
                                        <p:cTn id="54" dur="500"/>
                                        <p:tgtEl>
                                          <p:spTgt spid="215"/>
                                        </p:tgtEl>
                                      </p:cBhvr>
                                    </p:animEffect>
                                  </p:childTnLst>
                                </p:cTn>
                              </p:par>
                              <p:par>
                                <p:cTn id="55" presetID="53" presetClass="entr" presetSubtype="16" fill="hold" nodeType="withEffect">
                                  <p:stCondLst>
                                    <p:cond delay="0"/>
                                  </p:stCondLst>
                                  <p:childTnLst>
                                    <p:set>
                                      <p:cBhvr>
                                        <p:cTn id="56" dur="1" fill="hold">
                                          <p:stCondLst>
                                            <p:cond delay="0"/>
                                          </p:stCondLst>
                                        </p:cTn>
                                        <p:tgtEl>
                                          <p:spTgt spid="230"/>
                                        </p:tgtEl>
                                        <p:attrNameLst>
                                          <p:attrName>style.visibility</p:attrName>
                                        </p:attrNameLst>
                                      </p:cBhvr>
                                      <p:to>
                                        <p:strVal val="visible"/>
                                      </p:to>
                                    </p:set>
                                    <p:anim calcmode="lin" valueType="num">
                                      <p:cBhvr>
                                        <p:cTn id="57" dur="500" fill="hold"/>
                                        <p:tgtEl>
                                          <p:spTgt spid="230"/>
                                        </p:tgtEl>
                                        <p:attrNameLst>
                                          <p:attrName>ppt_w</p:attrName>
                                        </p:attrNameLst>
                                      </p:cBhvr>
                                      <p:tavLst>
                                        <p:tav tm="0">
                                          <p:val>
                                            <p:fltVal val="0"/>
                                          </p:val>
                                        </p:tav>
                                        <p:tav tm="100000">
                                          <p:val>
                                            <p:strVal val="#ppt_w"/>
                                          </p:val>
                                        </p:tav>
                                      </p:tavLst>
                                    </p:anim>
                                    <p:anim calcmode="lin" valueType="num">
                                      <p:cBhvr>
                                        <p:cTn id="58" dur="500" fill="hold"/>
                                        <p:tgtEl>
                                          <p:spTgt spid="230"/>
                                        </p:tgtEl>
                                        <p:attrNameLst>
                                          <p:attrName>ppt_h</p:attrName>
                                        </p:attrNameLst>
                                      </p:cBhvr>
                                      <p:tavLst>
                                        <p:tav tm="0">
                                          <p:val>
                                            <p:fltVal val="0"/>
                                          </p:val>
                                        </p:tav>
                                        <p:tav tm="100000">
                                          <p:val>
                                            <p:strVal val="#ppt_h"/>
                                          </p:val>
                                        </p:tav>
                                      </p:tavLst>
                                    </p:anim>
                                    <p:animEffect transition="in" filter="fade">
                                      <p:cBhvr>
                                        <p:cTn id="59" dur="500"/>
                                        <p:tgtEl>
                                          <p:spTgt spid="230"/>
                                        </p:tgtEl>
                                      </p:cBhvr>
                                    </p:animEffect>
                                  </p:childTnLst>
                                </p:cTn>
                              </p:par>
                              <p:par>
                                <p:cTn id="60" presetID="53" presetClass="entr" presetSubtype="16" fill="hold" nodeType="withEffect">
                                  <p:stCondLst>
                                    <p:cond delay="0"/>
                                  </p:stCondLst>
                                  <p:childTnLst>
                                    <p:set>
                                      <p:cBhvr>
                                        <p:cTn id="61" dur="1" fill="hold">
                                          <p:stCondLst>
                                            <p:cond delay="0"/>
                                          </p:stCondLst>
                                        </p:cTn>
                                        <p:tgtEl>
                                          <p:spTgt spid="231"/>
                                        </p:tgtEl>
                                        <p:attrNameLst>
                                          <p:attrName>style.visibility</p:attrName>
                                        </p:attrNameLst>
                                      </p:cBhvr>
                                      <p:to>
                                        <p:strVal val="visible"/>
                                      </p:to>
                                    </p:set>
                                    <p:anim calcmode="lin" valueType="num">
                                      <p:cBhvr>
                                        <p:cTn id="62" dur="500" fill="hold"/>
                                        <p:tgtEl>
                                          <p:spTgt spid="231"/>
                                        </p:tgtEl>
                                        <p:attrNameLst>
                                          <p:attrName>ppt_w</p:attrName>
                                        </p:attrNameLst>
                                      </p:cBhvr>
                                      <p:tavLst>
                                        <p:tav tm="0">
                                          <p:val>
                                            <p:fltVal val="0"/>
                                          </p:val>
                                        </p:tav>
                                        <p:tav tm="100000">
                                          <p:val>
                                            <p:strVal val="#ppt_w"/>
                                          </p:val>
                                        </p:tav>
                                      </p:tavLst>
                                    </p:anim>
                                    <p:anim calcmode="lin" valueType="num">
                                      <p:cBhvr>
                                        <p:cTn id="63" dur="500" fill="hold"/>
                                        <p:tgtEl>
                                          <p:spTgt spid="231"/>
                                        </p:tgtEl>
                                        <p:attrNameLst>
                                          <p:attrName>ppt_h</p:attrName>
                                        </p:attrNameLst>
                                      </p:cBhvr>
                                      <p:tavLst>
                                        <p:tav tm="0">
                                          <p:val>
                                            <p:fltVal val="0"/>
                                          </p:val>
                                        </p:tav>
                                        <p:tav tm="100000">
                                          <p:val>
                                            <p:strVal val="#ppt_h"/>
                                          </p:val>
                                        </p:tav>
                                      </p:tavLst>
                                    </p:anim>
                                    <p:animEffect transition="in" filter="fade">
                                      <p:cBhvr>
                                        <p:cTn id="64" dur="500"/>
                                        <p:tgtEl>
                                          <p:spTgt spid="231"/>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xit" presetSubtype="0" fill="hold" nodeType="clickEffect">
                                  <p:stCondLst>
                                    <p:cond delay="0"/>
                                  </p:stCondLst>
                                  <p:childTnLst>
                                    <p:animEffect transition="out" filter="fade">
                                      <p:cBhvr>
                                        <p:cTn id="68" dur="2000"/>
                                        <p:tgtEl>
                                          <p:spTgt spid="142"/>
                                        </p:tgtEl>
                                      </p:cBhvr>
                                    </p:animEffect>
                                    <p:set>
                                      <p:cBhvr>
                                        <p:cTn id="69" dur="1" fill="hold">
                                          <p:stCondLst>
                                            <p:cond delay="1999"/>
                                          </p:stCondLst>
                                        </p:cTn>
                                        <p:tgtEl>
                                          <p:spTgt spid="142"/>
                                        </p:tgtEl>
                                        <p:attrNameLst>
                                          <p:attrName>style.visibility</p:attrName>
                                        </p:attrNameLst>
                                      </p:cBhvr>
                                      <p:to>
                                        <p:strVal val="hidden"/>
                                      </p:to>
                                    </p:set>
                                  </p:childTnLst>
                                </p:cTn>
                              </p:par>
                              <p:par>
                                <p:cTn id="70" presetID="10" presetClass="entr" presetSubtype="0" fill="hold" nodeType="withEffect">
                                  <p:stCondLst>
                                    <p:cond delay="0"/>
                                  </p:stCondLst>
                                  <p:childTnLst>
                                    <p:set>
                                      <p:cBhvr>
                                        <p:cTn id="71" dur="1" fill="hold">
                                          <p:stCondLst>
                                            <p:cond delay="0"/>
                                          </p:stCondLst>
                                        </p:cTn>
                                        <p:tgtEl>
                                          <p:spTgt spid="256"/>
                                        </p:tgtEl>
                                        <p:attrNameLst>
                                          <p:attrName>style.visibility</p:attrName>
                                        </p:attrNameLst>
                                      </p:cBhvr>
                                      <p:to>
                                        <p:strVal val="visible"/>
                                      </p:to>
                                    </p:set>
                                    <p:animEffect transition="in" filter="fade">
                                      <p:cBhvr>
                                        <p:cTn id="72" dur="2000"/>
                                        <p:tgtEl>
                                          <p:spTgt spid="256"/>
                                        </p:tgtEl>
                                      </p:cBhvr>
                                    </p:animEffect>
                                  </p:childTnLst>
                                </p:cTn>
                              </p:par>
                              <p:par>
                                <p:cTn id="73" presetID="63" presetClass="path" presetSubtype="0" accel="50000" decel="50000" fill="hold" nodeType="withEffect">
                                  <p:stCondLst>
                                    <p:cond delay="0"/>
                                  </p:stCondLst>
                                  <p:childTnLst>
                                    <p:animMotion origin="layout" path="M 0 0 L 0.242153 -0.002603 E" pathEditMode="relative" ptsTypes="">
                                      <p:cBhvr>
                                        <p:cTn id="74" dur="2000" fill="hold"/>
                                        <p:tgtEl>
                                          <p:spTgt spid="142"/>
                                        </p:tgtEl>
                                        <p:attrNameLst>
                                          <p:attrName>ppt_x</p:attrName>
                                          <p:attrName>ppt_y</p:attrName>
                                        </p:attrNameLst>
                                      </p:cBhvr>
                                    </p:animMotion>
                                  </p:childTnLst>
                                </p:cTn>
                              </p:par>
                              <p:par>
                                <p:cTn id="75" presetID="63" presetClass="path" presetSubtype="0" accel="50000" decel="50000" fill="hold" nodeType="withEffect">
                                  <p:stCondLst>
                                    <p:cond delay="0"/>
                                  </p:stCondLst>
                                  <p:childTnLst>
                                    <p:animMotion origin="layout" path="M -0.242153 0.002603 L 0 0 E" pathEditMode="relative" ptsTypes="">
                                      <p:cBhvr>
                                        <p:cTn id="76" dur="2000" fill="hold"/>
                                        <p:tgtEl>
                                          <p:spTgt spid="256"/>
                                        </p:tgtEl>
                                        <p:attrNameLst>
                                          <p:attrName>ppt_x</p:attrName>
                                          <p:attrName>ppt_y</p:attrName>
                                        </p:attrNameLst>
                                      </p:cBhvr>
                                    </p:animMotion>
                                  </p:childTnLst>
                                </p:cTn>
                              </p:par>
                              <p:par>
                                <p:cTn id="77" presetID="6" presetClass="emph" presetSubtype="0" accel="50000" decel="50000" fill="hold" nodeType="withEffect">
                                  <p:stCondLst>
                                    <p:cond delay="0"/>
                                  </p:stCondLst>
                                  <p:childTnLst>
                                    <p:animScale>
                                      <p:cBhvr>
                                        <p:cTn id="78" dur="2000" fill="hold"/>
                                        <p:tgtEl>
                                          <p:spTgt spid="142"/>
                                        </p:tgtEl>
                                      </p:cBhvr>
                                      <p:by x="150000" y="150000"/>
                                      <p:from x="100000" y="100000"/>
                                      <p:to x="100000" y="100000"/>
                                    </p:animScale>
                                  </p:childTnLst>
                                </p:cTn>
                              </p:par>
                              <p:par>
                                <p:cTn id="79" presetID="6" presetClass="emph" presetSubtype="0" accel="50000" decel="50000" fill="hold" nodeType="withEffect">
                                  <p:stCondLst>
                                    <p:cond delay="0"/>
                                  </p:stCondLst>
                                  <p:childTnLst>
                                    <p:animScale>
                                      <p:cBhvr>
                                        <p:cTn id="80" dur="2000" fill="hold"/>
                                        <p:tgtEl>
                                          <p:spTgt spid="256"/>
                                        </p:tgtEl>
                                      </p:cBhvr>
                                      <p:by x="150000" y="150000"/>
                                      <p:from x="100000" y="100000"/>
                                      <p:to x="100000" y="100000"/>
                                    </p:animScale>
                                  </p:childTnLst>
                                </p:cTn>
                              </p:par>
                              <p:par>
                                <p:cTn id="81" presetID="10" presetClass="exit" presetSubtype="0" fill="hold" nodeType="withEffect">
                                  <p:stCondLst>
                                    <p:cond delay="0"/>
                                  </p:stCondLst>
                                  <p:childTnLst>
                                    <p:animEffect transition="out" filter="fade">
                                      <p:cBhvr>
                                        <p:cTn id="82" dur="2000"/>
                                        <p:tgtEl>
                                          <p:spTgt spid="174"/>
                                        </p:tgtEl>
                                      </p:cBhvr>
                                    </p:animEffect>
                                    <p:set>
                                      <p:cBhvr>
                                        <p:cTn id="83" dur="1" fill="hold">
                                          <p:stCondLst>
                                            <p:cond delay="1999"/>
                                          </p:stCondLst>
                                        </p:cTn>
                                        <p:tgtEl>
                                          <p:spTgt spid="174"/>
                                        </p:tgtEl>
                                        <p:attrNameLst>
                                          <p:attrName>style.visibility</p:attrName>
                                        </p:attrNameLst>
                                      </p:cBhvr>
                                      <p:to>
                                        <p:strVal val="hidden"/>
                                      </p:to>
                                    </p:set>
                                  </p:childTnLst>
                                </p:cTn>
                              </p:par>
                              <p:par>
                                <p:cTn id="84" presetID="10" presetClass="entr" presetSubtype="0" fill="hold" nodeType="withEffect">
                                  <p:stCondLst>
                                    <p:cond delay="0"/>
                                  </p:stCondLst>
                                  <p:childTnLst>
                                    <p:set>
                                      <p:cBhvr>
                                        <p:cTn id="85" dur="1" fill="hold">
                                          <p:stCondLst>
                                            <p:cond delay="0"/>
                                          </p:stCondLst>
                                        </p:cTn>
                                        <p:tgtEl>
                                          <p:spTgt spid="257"/>
                                        </p:tgtEl>
                                        <p:attrNameLst>
                                          <p:attrName>style.visibility</p:attrName>
                                        </p:attrNameLst>
                                      </p:cBhvr>
                                      <p:to>
                                        <p:strVal val="visible"/>
                                      </p:to>
                                    </p:set>
                                    <p:animEffect transition="in" filter="fade">
                                      <p:cBhvr>
                                        <p:cTn id="86" dur="2000"/>
                                        <p:tgtEl>
                                          <p:spTgt spid="257"/>
                                        </p:tgtEl>
                                      </p:cBhvr>
                                    </p:animEffect>
                                  </p:childTnLst>
                                </p:cTn>
                              </p:par>
                              <p:par>
                                <p:cTn id="87" presetID="63" presetClass="path" presetSubtype="0" accel="50000" decel="50000" fill="hold" nodeType="withEffect">
                                  <p:stCondLst>
                                    <p:cond delay="0"/>
                                  </p:stCondLst>
                                  <p:childTnLst>
                                    <p:animMotion origin="layout" path="M 0 0 L 0.236247 0.064077 E" pathEditMode="relative" ptsTypes="">
                                      <p:cBhvr>
                                        <p:cTn id="88" dur="2000" fill="hold"/>
                                        <p:tgtEl>
                                          <p:spTgt spid="174"/>
                                        </p:tgtEl>
                                        <p:attrNameLst>
                                          <p:attrName>ppt_x</p:attrName>
                                          <p:attrName>ppt_y</p:attrName>
                                        </p:attrNameLst>
                                      </p:cBhvr>
                                    </p:animMotion>
                                  </p:childTnLst>
                                </p:cTn>
                              </p:par>
                              <p:par>
                                <p:cTn id="89" presetID="63" presetClass="path" presetSubtype="0" accel="50000" decel="50000" fill="hold" nodeType="withEffect">
                                  <p:stCondLst>
                                    <p:cond delay="0"/>
                                  </p:stCondLst>
                                  <p:childTnLst>
                                    <p:animMotion origin="layout" path="M -0.236247 -0.064077 L 0 0 E" pathEditMode="relative" ptsTypes="">
                                      <p:cBhvr>
                                        <p:cTn id="90" dur="2000" fill="hold"/>
                                        <p:tgtEl>
                                          <p:spTgt spid="257"/>
                                        </p:tgtEl>
                                        <p:attrNameLst>
                                          <p:attrName>ppt_x</p:attrName>
                                          <p:attrName>ppt_y</p:attrName>
                                        </p:attrNameLst>
                                      </p:cBhvr>
                                    </p:animMotion>
                                  </p:childTnLst>
                                </p:cTn>
                              </p:par>
                              <p:par>
                                <p:cTn id="91" presetID="6" presetClass="emph" presetSubtype="0" accel="50000" decel="50000" fill="hold" nodeType="withEffect">
                                  <p:stCondLst>
                                    <p:cond delay="0"/>
                                  </p:stCondLst>
                                  <p:childTnLst>
                                    <p:animScale>
                                      <p:cBhvr>
                                        <p:cTn id="92" dur="2000" fill="hold"/>
                                        <p:tgtEl>
                                          <p:spTgt spid="174"/>
                                        </p:tgtEl>
                                      </p:cBhvr>
                                      <p:by x="150000" y="150000"/>
                                      <p:from x="100000" y="100000"/>
                                      <p:to x="100000" y="100000"/>
                                    </p:animScale>
                                  </p:childTnLst>
                                </p:cTn>
                              </p:par>
                              <p:par>
                                <p:cTn id="93" presetID="6" presetClass="emph" presetSubtype="0" accel="50000" decel="50000" fill="hold" nodeType="withEffect">
                                  <p:stCondLst>
                                    <p:cond delay="0"/>
                                  </p:stCondLst>
                                  <p:childTnLst>
                                    <p:animScale>
                                      <p:cBhvr>
                                        <p:cTn id="94" dur="2000" fill="hold"/>
                                        <p:tgtEl>
                                          <p:spTgt spid="257"/>
                                        </p:tgtEl>
                                      </p:cBhvr>
                                      <p:by x="150000" y="150000"/>
                                      <p:from x="100000" y="100000"/>
                                      <p:to x="100000" y="100000"/>
                                    </p:animScale>
                                  </p:childTnLst>
                                </p:cTn>
                              </p:par>
                              <p:par>
                                <p:cTn id="95" presetID="10" presetClass="exit" presetSubtype="0" fill="hold" nodeType="withEffect">
                                  <p:stCondLst>
                                    <p:cond delay="0"/>
                                  </p:stCondLst>
                                  <p:childTnLst>
                                    <p:animEffect transition="out" filter="fade">
                                      <p:cBhvr>
                                        <p:cTn id="96" dur="2000"/>
                                        <p:tgtEl>
                                          <p:spTgt spid="175"/>
                                        </p:tgtEl>
                                      </p:cBhvr>
                                    </p:animEffect>
                                    <p:set>
                                      <p:cBhvr>
                                        <p:cTn id="97" dur="1" fill="hold">
                                          <p:stCondLst>
                                            <p:cond delay="1999"/>
                                          </p:stCondLst>
                                        </p:cTn>
                                        <p:tgtEl>
                                          <p:spTgt spid="175"/>
                                        </p:tgtEl>
                                        <p:attrNameLst>
                                          <p:attrName>style.visibility</p:attrName>
                                        </p:attrNameLst>
                                      </p:cBhvr>
                                      <p:to>
                                        <p:strVal val="hidden"/>
                                      </p:to>
                                    </p:set>
                                  </p:childTnLst>
                                </p:cTn>
                              </p:par>
                              <p:par>
                                <p:cTn id="98" presetID="10" presetClass="entr" presetSubtype="0" fill="hold" nodeType="withEffect">
                                  <p:stCondLst>
                                    <p:cond delay="0"/>
                                  </p:stCondLst>
                                  <p:childTnLst>
                                    <p:set>
                                      <p:cBhvr>
                                        <p:cTn id="99" dur="1" fill="hold">
                                          <p:stCondLst>
                                            <p:cond delay="0"/>
                                          </p:stCondLst>
                                        </p:cTn>
                                        <p:tgtEl>
                                          <p:spTgt spid="258"/>
                                        </p:tgtEl>
                                        <p:attrNameLst>
                                          <p:attrName>style.visibility</p:attrName>
                                        </p:attrNameLst>
                                      </p:cBhvr>
                                      <p:to>
                                        <p:strVal val="visible"/>
                                      </p:to>
                                    </p:set>
                                    <p:animEffect transition="in" filter="fade">
                                      <p:cBhvr>
                                        <p:cTn id="100" dur="2000"/>
                                        <p:tgtEl>
                                          <p:spTgt spid="258"/>
                                        </p:tgtEl>
                                      </p:cBhvr>
                                    </p:animEffect>
                                  </p:childTnLst>
                                </p:cTn>
                              </p:par>
                              <p:par>
                                <p:cTn id="101" presetID="63" presetClass="path" presetSubtype="0" accel="50000" decel="50000" fill="hold" nodeType="withEffect">
                                  <p:stCondLst>
                                    <p:cond delay="0"/>
                                  </p:stCondLst>
                                  <p:childTnLst>
                                    <p:animMotion origin="layout" path="M 0 0 L 0.230341 0.130756 E" pathEditMode="relative" ptsTypes="">
                                      <p:cBhvr>
                                        <p:cTn id="102" dur="2000" fill="hold"/>
                                        <p:tgtEl>
                                          <p:spTgt spid="175"/>
                                        </p:tgtEl>
                                        <p:attrNameLst>
                                          <p:attrName>ppt_x</p:attrName>
                                          <p:attrName>ppt_y</p:attrName>
                                        </p:attrNameLst>
                                      </p:cBhvr>
                                    </p:animMotion>
                                  </p:childTnLst>
                                </p:cTn>
                              </p:par>
                              <p:par>
                                <p:cTn id="103" presetID="63" presetClass="path" presetSubtype="0" accel="50000" decel="50000" fill="hold" nodeType="withEffect">
                                  <p:stCondLst>
                                    <p:cond delay="0"/>
                                  </p:stCondLst>
                                  <p:childTnLst>
                                    <p:animMotion origin="layout" path="M -0.230341 -0.130756 L 0 0 E" pathEditMode="relative" ptsTypes="">
                                      <p:cBhvr>
                                        <p:cTn id="104" dur="2000" fill="hold"/>
                                        <p:tgtEl>
                                          <p:spTgt spid="258"/>
                                        </p:tgtEl>
                                        <p:attrNameLst>
                                          <p:attrName>ppt_x</p:attrName>
                                          <p:attrName>ppt_y</p:attrName>
                                        </p:attrNameLst>
                                      </p:cBhvr>
                                    </p:animMotion>
                                  </p:childTnLst>
                                </p:cTn>
                              </p:par>
                              <p:par>
                                <p:cTn id="105" presetID="6" presetClass="emph" presetSubtype="0" accel="50000" decel="50000" fill="hold" nodeType="withEffect">
                                  <p:stCondLst>
                                    <p:cond delay="0"/>
                                  </p:stCondLst>
                                  <p:childTnLst>
                                    <p:animScale>
                                      <p:cBhvr>
                                        <p:cTn id="106" dur="2000" fill="hold"/>
                                        <p:tgtEl>
                                          <p:spTgt spid="175"/>
                                        </p:tgtEl>
                                      </p:cBhvr>
                                      <p:by x="150000" y="150000"/>
                                      <p:from x="100000" y="100000"/>
                                      <p:to x="100000" y="100000"/>
                                    </p:animScale>
                                  </p:childTnLst>
                                </p:cTn>
                              </p:par>
                              <p:par>
                                <p:cTn id="107" presetID="6" presetClass="emph" presetSubtype="0" accel="50000" decel="50000" fill="hold" nodeType="withEffect">
                                  <p:stCondLst>
                                    <p:cond delay="0"/>
                                  </p:stCondLst>
                                  <p:childTnLst>
                                    <p:animScale>
                                      <p:cBhvr>
                                        <p:cTn id="108" dur="2000" fill="hold"/>
                                        <p:tgtEl>
                                          <p:spTgt spid="258"/>
                                        </p:tgtEl>
                                      </p:cBhvr>
                                      <p:by x="150000" y="150000"/>
                                      <p:from x="100000" y="100000"/>
                                      <p:to x="100000" y="100000"/>
                                    </p:animScale>
                                  </p:childTnLst>
                                </p:cTn>
                              </p:par>
                              <p:par>
                                <p:cTn id="109" presetID="10" presetClass="exit" presetSubtype="0" fill="hold" nodeType="withEffect">
                                  <p:stCondLst>
                                    <p:cond delay="0"/>
                                  </p:stCondLst>
                                  <p:childTnLst>
                                    <p:animEffect transition="out" filter="fade">
                                      <p:cBhvr>
                                        <p:cTn id="110" dur="2000"/>
                                        <p:tgtEl>
                                          <p:spTgt spid="178"/>
                                        </p:tgtEl>
                                      </p:cBhvr>
                                    </p:animEffect>
                                    <p:set>
                                      <p:cBhvr>
                                        <p:cTn id="111" dur="1" fill="hold">
                                          <p:stCondLst>
                                            <p:cond delay="1999"/>
                                          </p:stCondLst>
                                        </p:cTn>
                                        <p:tgtEl>
                                          <p:spTgt spid="178"/>
                                        </p:tgtEl>
                                        <p:attrNameLst>
                                          <p:attrName>style.visibility</p:attrName>
                                        </p:attrNameLst>
                                      </p:cBhvr>
                                      <p:to>
                                        <p:strVal val="hidden"/>
                                      </p:to>
                                    </p:set>
                                  </p:childTnLst>
                                </p:cTn>
                              </p:par>
                              <p:par>
                                <p:cTn id="112" presetID="10" presetClass="entr" presetSubtype="0" fill="hold" nodeType="withEffect">
                                  <p:stCondLst>
                                    <p:cond delay="0"/>
                                  </p:stCondLst>
                                  <p:childTnLst>
                                    <p:set>
                                      <p:cBhvr>
                                        <p:cTn id="113" dur="1" fill="hold">
                                          <p:stCondLst>
                                            <p:cond delay="0"/>
                                          </p:stCondLst>
                                        </p:cTn>
                                        <p:tgtEl>
                                          <p:spTgt spid="259"/>
                                        </p:tgtEl>
                                        <p:attrNameLst>
                                          <p:attrName>style.visibility</p:attrName>
                                        </p:attrNameLst>
                                      </p:cBhvr>
                                      <p:to>
                                        <p:strVal val="visible"/>
                                      </p:to>
                                    </p:set>
                                    <p:animEffect transition="in" filter="fade">
                                      <p:cBhvr>
                                        <p:cTn id="114" dur="2000"/>
                                        <p:tgtEl>
                                          <p:spTgt spid="259"/>
                                        </p:tgtEl>
                                      </p:cBhvr>
                                    </p:animEffect>
                                  </p:childTnLst>
                                </p:cTn>
                              </p:par>
                              <p:par>
                                <p:cTn id="115" presetID="63" presetClass="path" presetSubtype="0" accel="50000" decel="50000" fill="hold" nodeType="withEffect">
                                  <p:stCondLst>
                                    <p:cond delay="0"/>
                                  </p:stCondLst>
                                  <p:childTnLst>
                                    <p:animMotion origin="layout" path="M 0 0 L 0.275021 -0.266141 E" pathEditMode="relative" ptsTypes="">
                                      <p:cBhvr>
                                        <p:cTn id="116" dur="2000" fill="hold"/>
                                        <p:tgtEl>
                                          <p:spTgt spid="178"/>
                                        </p:tgtEl>
                                        <p:attrNameLst>
                                          <p:attrName>ppt_x</p:attrName>
                                          <p:attrName>ppt_y</p:attrName>
                                        </p:attrNameLst>
                                      </p:cBhvr>
                                    </p:animMotion>
                                  </p:childTnLst>
                                </p:cTn>
                              </p:par>
                              <p:par>
                                <p:cTn id="117" presetID="63" presetClass="path" presetSubtype="0" accel="50000" decel="50000" fill="hold" nodeType="withEffect">
                                  <p:stCondLst>
                                    <p:cond delay="0"/>
                                  </p:stCondLst>
                                  <p:childTnLst>
                                    <p:animMotion origin="layout" path="M -0.275021 0.266141 L 0 0 E" pathEditMode="relative" ptsTypes="">
                                      <p:cBhvr>
                                        <p:cTn id="118" dur="2000" fill="hold"/>
                                        <p:tgtEl>
                                          <p:spTgt spid="259"/>
                                        </p:tgtEl>
                                        <p:attrNameLst>
                                          <p:attrName>ppt_x</p:attrName>
                                          <p:attrName>ppt_y</p:attrName>
                                        </p:attrNameLst>
                                      </p:cBhvr>
                                    </p:animMotion>
                                  </p:childTnLst>
                                </p:cTn>
                              </p:par>
                              <p:par>
                                <p:cTn id="119" presetID="6" presetClass="emph" presetSubtype="0" accel="50000" decel="50000" fill="hold" nodeType="withEffect">
                                  <p:stCondLst>
                                    <p:cond delay="0"/>
                                  </p:stCondLst>
                                  <p:childTnLst>
                                    <p:animScale>
                                      <p:cBhvr>
                                        <p:cTn id="120" dur="2000" fill="hold"/>
                                        <p:tgtEl>
                                          <p:spTgt spid="178"/>
                                        </p:tgtEl>
                                      </p:cBhvr>
                                      <p:by x="150000" y="150000"/>
                                      <p:from x="100000" y="100000"/>
                                      <p:to x="100000" y="100000"/>
                                    </p:animScale>
                                  </p:childTnLst>
                                </p:cTn>
                              </p:par>
                              <p:par>
                                <p:cTn id="121" presetID="6" presetClass="emph" presetSubtype="0" accel="50000" decel="50000" fill="hold" nodeType="withEffect">
                                  <p:stCondLst>
                                    <p:cond delay="0"/>
                                  </p:stCondLst>
                                  <p:childTnLst>
                                    <p:animScale>
                                      <p:cBhvr>
                                        <p:cTn id="122" dur="2000" fill="hold"/>
                                        <p:tgtEl>
                                          <p:spTgt spid="259"/>
                                        </p:tgtEl>
                                      </p:cBhvr>
                                      <p:by x="150000" y="150000"/>
                                      <p:from x="100000" y="100000"/>
                                      <p:to x="100000" y="100000"/>
                                    </p:animScale>
                                  </p:childTnLst>
                                </p:cTn>
                              </p:par>
                              <p:par>
                                <p:cTn id="123" presetID="10" presetClass="exit" presetSubtype="0" fill="hold" nodeType="withEffect">
                                  <p:stCondLst>
                                    <p:cond delay="0"/>
                                  </p:stCondLst>
                                  <p:childTnLst>
                                    <p:animEffect transition="out" filter="fade">
                                      <p:cBhvr>
                                        <p:cTn id="124" dur="2000"/>
                                        <p:tgtEl>
                                          <p:spTgt spid="193"/>
                                        </p:tgtEl>
                                      </p:cBhvr>
                                    </p:animEffect>
                                    <p:set>
                                      <p:cBhvr>
                                        <p:cTn id="125" dur="1" fill="hold">
                                          <p:stCondLst>
                                            <p:cond delay="1999"/>
                                          </p:stCondLst>
                                        </p:cTn>
                                        <p:tgtEl>
                                          <p:spTgt spid="193"/>
                                        </p:tgtEl>
                                        <p:attrNameLst>
                                          <p:attrName>style.visibility</p:attrName>
                                        </p:attrNameLst>
                                      </p:cBhvr>
                                      <p:to>
                                        <p:strVal val="hidden"/>
                                      </p:to>
                                    </p:set>
                                  </p:childTnLst>
                                </p:cTn>
                              </p:par>
                              <p:par>
                                <p:cTn id="126" presetID="10" presetClass="entr" presetSubtype="0" fill="hold" nodeType="withEffect">
                                  <p:stCondLst>
                                    <p:cond delay="0"/>
                                  </p:stCondLst>
                                  <p:childTnLst>
                                    <p:set>
                                      <p:cBhvr>
                                        <p:cTn id="127" dur="1" fill="hold">
                                          <p:stCondLst>
                                            <p:cond delay="0"/>
                                          </p:stCondLst>
                                        </p:cTn>
                                        <p:tgtEl>
                                          <p:spTgt spid="260"/>
                                        </p:tgtEl>
                                        <p:attrNameLst>
                                          <p:attrName>style.visibility</p:attrName>
                                        </p:attrNameLst>
                                      </p:cBhvr>
                                      <p:to>
                                        <p:strVal val="visible"/>
                                      </p:to>
                                    </p:set>
                                    <p:animEffect transition="in" filter="fade">
                                      <p:cBhvr>
                                        <p:cTn id="128" dur="2000"/>
                                        <p:tgtEl>
                                          <p:spTgt spid="260"/>
                                        </p:tgtEl>
                                      </p:cBhvr>
                                    </p:animEffect>
                                  </p:childTnLst>
                                </p:cTn>
                              </p:par>
                              <p:par>
                                <p:cTn id="129" presetID="63" presetClass="path" presetSubtype="0" accel="50000" decel="50000" fill="hold" nodeType="withEffect">
                                  <p:stCondLst>
                                    <p:cond delay="0"/>
                                  </p:stCondLst>
                                  <p:childTnLst>
                                    <p:animMotion origin="layout" path="M 0 0 L 0.269115 -0.199462 E" pathEditMode="relative" ptsTypes="">
                                      <p:cBhvr>
                                        <p:cTn id="130" dur="2000" fill="hold"/>
                                        <p:tgtEl>
                                          <p:spTgt spid="193"/>
                                        </p:tgtEl>
                                        <p:attrNameLst>
                                          <p:attrName>ppt_x</p:attrName>
                                          <p:attrName>ppt_y</p:attrName>
                                        </p:attrNameLst>
                                      </p:cBhvr>
                                    </p:animMotion>
                                  </p:childTnLst>
                                </p:cTn>
                              </p:par>
                              <p:par>
                                <p:cTn id="131" presetID="63" presetClass="path" presetSubtype="0" accel="50000" decel="50000" fill="hold" nodeType="withEffect">
                                  <p:stCondLst>
                                    <p:cond delay="0"/>
                                  </p:stCondLst>
                                  <p:childTnLst>
                                    <p:animMotion origin="layout" path="M -0.269115 0.199462 L 0 0 E" pathEditMode="relative" ptsTypes="">
                                      <p:cBhvr>
                                        <p:cTn id="132" dur="2000" fill="hold"/>
                                        <p:tgtEl>
                                          <p:spTgt spid="260"/>
                                        </p:tgtEl>
                                        <p:attrNameLst>
                                          <p:attrName>ppt_x</p:attrName>
                                          <p:attrName>ppt_y</p:attrName>
                                        </p:attrNameLst>
                                      </p:cBhvr>
                                    </p:animMotion>
                                  </p:childTnLst>
                                </p:cTn>
                              </p:par>
                              <p:par>
                                <p:cTn id="133" presetID="6" presetClass="emph" presetSubtype="0" accel="50000" decel="50000" fill="hold" nodeType="withEffect">
                                  <p:stCondLst>
                                    <p:cond delay="0"/>
                                  </p:stCondLst>
                                  <p:childTnLst>
                                    <p:animScale>
                                      <p:cBhvr>
                                        <p:cTn id="134" dur="2000" fill="hold"/>
                                        <p:tgtEl>
                                          <p:spTgt spid="193"/>
                                        </p:tgtEl>
                                      </p:cBhvr>
                                      <p:by x="150000" y="150000"/>
                                      <p:from x="100000" y="100000"/>
                                      <p:to x="100000" y="100000"/>
                                    </p:animScale>
                                  </p:childTnLst>
                                </p:cTn>
                              </p:par>
                              <p:par>
                                <p:cTn id="135" presetID="6" presetClass="emph" presetSubtype="0" accel="50000" decel="50000" fill="hold" nodeType="withEffect">
                                  <p:stCondLst>
                                    <p:cond delay="0"/>
                                  </p:stCondLst>
                                  <p:childTnLst>
                                    <p:animScale>
                                      <p:cBhvr>
                                        <p:cTn id="136" dur="2000" fill="hold"/>
                                        <p:tgtEl>
                                          <p:spTgt spid="260"/>
                                        </p:tgtEl>
                                      </p:cBhvr>
                                      <p:by x="150000" y="150000"/>
                                      <p:from x="100000" y="100000"/>
                                      <p:to x="100000" y="100000"/>
                                    </p:animScale>
                                  </p:childTnLst>
                                </p:cTn>
                              </p:par>
                              <p:par>
                                <p:cTn id="137" presetID="10" presetClass="exit" presetSubtype="0" fill="hold" nodeType="withEffect">
                                  <p:stCondLst>
                                    <p:cond delay="0"/>
                                  </p:stCondLst>
                                  <p:childTnLst>
                                    <p:animEffect transition="out" filter="fade">
                                      <p:cBhvr>
                                        <p:cTn id="138" dur="2000"/>
                                        <p:tgtEl>
                                          <p:spTgt spid="194"/>
                                        </p:tgtEl>
                                      </p:cBhvr>
                                    </p:animEffect>
                                    <p:set>
                                      <p:cBhvr>
                                        <p:cTn id="139" dur="1" fill="hold">
                                          <p:stCondLst>
                                            <p:cond delay="1999"/>
                                          </p:stCondLst>
                                        </p:cTn>
                                        <p:tgtEl>
                                          <p:spTgt spid="194"/>
                                        </p:tgtEl>
                                        <p:attrNameLst>
                                          <p:attrName>style.visibility</p:attrName>
                                        </p:attrNameLst>
                                      </p:cBhvr>
                                      <p:to>
                                        <p:strVal val="hidden"/>
                                      </p:to>
                                    </p:set>
                                  </p:childTnLst>
                                </p:cTn>
                              </p:par>
                              <p:par>
                                <p:cTn id="140" presetID="10" presetClass="entr" presetSubtype="0" fill="hold" nodeType="withEffect">
                                  <p:stCondLst>
                                    <p:cond delay="0"/>
                                  </p:stCondLst>
                                  <p:childTnLst>
                                    <p:set>
                                      <p:cBhvr>
                                        <p:cTn id="141" dur="1" fill="hold">
                                          <p:stCondLst>
                                            <p:cond delay="0"/>
                                          </p:stCondLst>
                                        </p:cTn>
                                        <p:tgtEl>
                                          <p:spTgt spid="261"/>
                                        </p:tgtEl>
                                        <p:attrNameLst>
                                          <p:attrName>style.visibility</p:attrName>
                                        </p:attrNameLst>
                                      </p:cBhvr>
                                      <p:to>
                                        <p:strVal val="visible"/>
                                      </p:to>
                                    </p:set>
                                    <p:animEffect transition="in" filter="fade">
                                      <p:cBhvr>
                                        <p:cTn id="142" dur="2000"/>
                                        <p:tgtEl>
                                          <p:spTgt spid="261"/>
                                        </p:tgtEl>
                                      </p:cBhvr>
                                    </p:animEffect>
                                  </p:childTnLst>
                                </p:cTn>
                              </p:par>
                              <p:par>
                                <p:cTn id="143" presetID="63" presetClass="path" presetSubtype="0" accel="50000" decel="50000" fill="hold" nodeType="withEffect">
                                  <p:stCondLst>
                                    <p:cond delay="0"/>
                                  </p:stCondLst>
                                  <p:childTnLst>
                                    <p:animMotion origin="layout" path="M 0 0 L 0.263209 -0.132783 E" pathEditMode="relative" ptsTypes="">
                                      <p:cBhvr>
                                        <p:cTn id="144" dur="2000" fill="hold"/>
                                        <p:tgtEl>
                                          <p:spTgt spid="194"/>
                                        </p:tgtEl>
                                        <p:attrNameLst>
                                          <p:attrName>ppt_x</p:attrName>
                                          <p:attrName>ppt_y</p:attrName>
                                        </p:attrNameLst>
                                      </p:cBhvr>
                                    </p:animMotion>
                                  </p:childTnLst>
                                </p:cTn>
                              </p:par>
                              <p:par>
                                <p:cTn id="145" presetID="63" presetClass="path" presetSubtype="0" accel="50000" decel="50000" fill="hold" nodeType="withEffect">
                                  <p:stCondLst>
                                    <p:cond delay="0"/>
                                  </p:stCondLst>
                                  <p:childTnLst>
                                    <p:animMotion origin="layout" path="M -0.263209 0.132783 L 0 0 E" pathEditMode="relative" ptsTypes="">
                                      <p:cBhvr>
                                        <p:cTn id="146" dur="2000" fill="hold"/>
                                        <p:tgtEl>
                                          <p:spTgt spid="261"/>
                                        </p:tgtEl>
                                        <p:attrNameLst>
                                          <p:attrName>ppt_x</p:attrName>
                                          <p:attrName>ppt_y</p:attrName>
                                        </p:attrNameLst>
                                      </p:cBhvr>
                                    </p:animMotion>
                                  </p:childTnLst>
                                </p:cTn>
                              </p:par>
                              <p:par>
                                <p:cTn id="147" presetID="6" presetClass="emph" presetSubtype="0" accel="50000" decel="50000" fill="hold" nodeType="withEffect">
                                  <p:stCondLst>
                                    <p:cond delay="0"/>
                                  </p:stCondLst>
                                  <p:childTnLst>
                                    <p:animScale>
                                      <p:cBhvr>
                                        <p:cTn id="148" dur="2000" fill="hold"/>
                                        <p:tgtEl>
                                          <p:spTgt spid="194"/>
                                        </p:tgtEl>
                                      </p:cBhvr>
                                      <p:by x="150000" y="150000"/>
                                      <p:from x="100000" y="100000"/>
                                      <p:to x="100000" y="100000"/>
                                    </p:animScale>
                                  </p:childTnLst>
                                </p:cTn>
                              </p:par>
                              <p:par>
                                <p:cTn id="149" presetID="6" presetClass="emph" presetSubtype="0" accel="50000" decel="50000" fill="hold" nodeType="withEffect">
                                  <p:stCondLst>
                                    <p:cond delay="0"/>
                                  </p:stCondLst>
                                  <p:childTnLst>
                                    <p:animScale>
                                      <p:cBhvr>
                                        <p:cTn id="150" dur="2000" fill="hold"/>
                                        <p:tgtEl>
                                          <p:spTgt spid="261"/>
                                        </p:tgtEl>
                                      </p:cBhvr>
                                      <p:by x="150000" y="150000"/>
                                      <p:from x="100000" y="100000"/>
                                      <p:to x="100000" y="100000"/>
                                    </p:animScale>
                                  </p:childTnLst>
                                </p:cTn>
                              </p:par>
                              <p:par>
                                <p:cTn id="151" presetID="10" presetClass="exit" presetSubtype="0" fill="hold" nodeType="withEffect">
                                  <p:stCondLst>
                                    <p:cond delay="0"/>
                                  </p:stCondLst>
                                  <p:childTnLst>
                                    <p:animEffect transition="out" filter="fade">
                                      <p:cBhvr>
                                        <p:cTn id="152" dur="2000"/>
                                        <p:tgtEl>
                                          <p:spTgt spid="198"/>
                                        </p:tgtEl>
                                      </p:cBhvr>
                                    </p:animEffect>
                                    <p:set>
                                      <p:cBhvr>
                                        <p:cTn id="153" dur="1" fill="hold">
                                          <p:stCondLst>
                                            <p:cond delay="1999"/>
                                          </p:stCondLst>
                                        </p:cTn>
                                        <p:tgtEl>
                                          <p:spTgt spid="198"/>
                                        </p:tgtEl>
                                        <p:attrNameLst>
                                          <p:attrName>style.visibility</p:attrName>
                                        </p:attrNameLst>
                                      </p:cBhvr>
                                      <p:to>
                                        <p:strVal val="hidden"/>
                                      </p:to>
                                    </p:set>
                                  </p:childTnLst>
                                </p:cTn>
                              </p:par>
                              <p:par>
                                <p:cTn id="154" presetID="10" presetClass="entr" presetSubtype="0" fill="hold" nodeType="withEffect">
                                  <p:stCondLst>
                                    <p:cond delay="0"/>
                                  </p:stCondLst>
                                  <p:childTnLst>
                                    <p:set>
                                      <p:cBhvr>
                                        <p:cTn id="155" dur="1" fill="hold">
                                          <p:stCondLst>
                                            <p:cond delay="0"/>
                                          </p:stCondLst>
                                        </p:cTn>
                                        <p:tgtEl>
                                          <p:spTgt spid="262"/>
                                        </p:tgtEl>
                                        <p:attrNameLst>
                                          <p:attrName>style.visibility</p:attrName>
                                        </p:attrNameLst>
                                      </p:cBhvr>
                                      <p:to>
                                        <p:strVal val="visible"/>
                                      </p:to>
                                    </p:set>
                                    <p:animEffect transition="in" filter="fade">
                                      <p:cBhvr>
                                        <p:cTn id="156" dur="2000"/>
                                        <p:tgtEl>
                                          <p:spTgt spid="262"/>
                                        </p:tgtEl>
                                      </p:cBhvr>
                                    </p:animEffect>
                                  </p:childTnLst>
                                </p:cTn>
                              </p:par>
                              <p:par>
                                <p:cTn id="157" presetID="63" presetClass="path" presetSubtype="0" accel="50000" decel="50000" fill="hold" nodeType="withEffect">
                                  <p:stCondLst>
                                    <p:cond delay="0"/>
                                  </p:stCondLst>
                                  <p:childTnLst>
                                    <p:animMotion origin="layout" path="M 0 0 L -0.231163 -0.002602 E" pathEditMode="relative" ptsTypes="">
                                      <p:cBhvr>
                                        <p:cTn id="158" dur="2000" fill="hold"/>
                                        <p:tgtEl>
                                          <p:spTgt spid="198"/>
                                        </p:tgtEl>
                                        <p:attrNameLst>
                                          <p:attrName>ppt_x</p:attrName>
                                          <p:attrName>ppt_y</p:attrName>
                                        </p:attrNameLst>
                                      </p:cBhvr>
                                    </p:animMotion>
                                  </p:childTnLst>
                                </p:cTn>
                              </p:par>
                              <p:par>
                                <p:cTn id="159" presetID="63" presetClass="path" presetSubtype="0" accel="50000" decel="50000" fill="hold" nodeType="withEffect">
                                  <p:stCondLst>
                                    <p:cond delay="0"/>
                                  </p:stCondLst>
                                  <p:childTnLst>
                                    <p:animMotion origin="layout" path="M 0.231163 0.002602 L 0 0 E" pathEditMode="relative" ptsTypes="">
                                      <p:cBhvr>
                                        <p:cTn id="160" dur="2000" fill="hold"/>
                                        <p:tgtEl>
                                          <p:spTgt spid="262"/>
                                        </p:tgtEl>
                                        <p:attrNameLst>
                                          <p:attrName>ppt_x</p:attrName>
                                          <p:attrName>ppt_y</p:attrName>
                                        </p:attrNameLst>
                                      </p:cBhvr>
                                    </p:animMotion>
                                  </p:childTnLst>
                                </p:cTn>
                              </p:par>
                              <p:par>
                                <p:cTn id="161" presetID="6" presetClass="emph" presetSubtype="0" accel="50000" decel="50000" fill="hold" nodeType="withEffect">
                                  <p:stCondLst>
                                    <p:cond delay="0"/>
                                  </p:stCondLst>
                                  <p:childTnLst>
                                    <p:animScale>
                                      <p:cBhvr>
                                        <p:cTn id="162" dur="2000" fill="hold"/>
                                        <p:tgtEl>
                                          <p:spTgt spid="198"/>
                                        </p:tgtEl>
                                      </p:cBhvr>
                                      <p:by x="150000" y="150000"/>
                                      <p:from x="100000" y="100000"/>
                                      <p:to x="100000" y="100000"/>
                                    </p:animScale>
                                  </p:childTnLst>
                                </p:cTn>
                              </p:par>
                              <p:par>
                                <p:cTn id="163" presetID="6" presetClass="emph" presetSubtype="0" accel="50000" decel="50000" fill="hold" nodeType="withEffect">
                                  <p:stCondLst>
                                    <p:cond delay="0"/>
                                  </p:stCondLst>
                                  <p:childTnLst>
                                    <p:animScale>
                                      <p:cBhvr>
                                        <p:cTn id="164" dur="2000" fill="hold"/>
                                        <p:tgtEl>
                                          <p:spTgt spid="262"/>
                                        </p:tgtEl>
                                      </p:cBhvr>
                                      <p:by x="150000" y="150000"/>
                                      <p:from x="100000" y="100000"/>
                                      <p:to x="100000" y="100000"/>
                                    </p:animScale>
                                  </p:childTnLst>
                                </p:cTn>
                              </p:par>
                              <p:par>
                                <p:cTn id="165" presetID="10" presetClass="exit" presetSubtype="0" fill="hold" nodeType="withEffect">
                                  <p:stCondLst>
                                    <p:cond delay="0"/>
                                  </p:stCondLst>
                                  <p:childTnLst>
                                    <p:animEffect transition="out" filter="fade">
                                      <p:cBhvr>
                                        <p:cTn id="166" dur="2000"/>
                                        <p:tgtEl>
                                          <p:spTgt spid="213"/>
                                        </p:tgtEl>
                                      </p:cBhvr>
                                    </p:animEffect>
                                    <p:set>
                                      <p:cBhvr>
                                        <p:cTn id="167" dur="1" fill="hold">
                                          <p:stCondLst>
                                            <p:cond delay="1999"/>
                                          </p:stCondLst>
                                        </p:cTn>
                                        <p:tgtEl>
                                          <p:spTgt spid="213"/>
                                        </p:tgtEl>
                                        <p:attrNameLst>
                                          <p:attrName>style.visibility</p:attrName>
                                        </p:attrNameLst>
                                      </p:cBhvr>
                                      <p:to>
                                        <p:strVal val="hidden"/>
                                      </p:to>
                                    </p:set>
                                  </p:childTnLst>
                                </p:cTn>
                              </p:par>
                              <p:par>
                                <p:cTn id="168" presetID="10" presetClass="entr" presetSubtype="0" fill="hold" nodeType="withEffect">
                                  <p:stCondLst>
                                    <p:cond delay="0"/>
                                  </p:stCondLst>
                                  <p:childTnLst>
                                    <p:set>
                                      <p:cBhvr>
                                        <p:cTn id="169" dur="1" fill="hold">
                                          <p:stCondLst>
                                            <p:cond delay="0"/>
                                          </p:stCondLst>
                                        </p:cTn>
                                        <p:tgtEl>
                                          <p:spTgt spid="263"/>
                                        </p:tgtEl>
                                        <p:attrNameLst>
                                          <p:attrName>style.visibility</p:attrName>
                                        </p:attrNameLst>
                                      </p:cBhvr>
                                      <p:to>
                                        <p:strVal val="visible"/>
                                      </p:to>
                                    </p:set>
                                    <p:animEffect transition="in" filter="fade">
                                      <p:cBhvr>
                                        <p:cTn id="170" dur="2000"/>
                                        <p:tgtEl>
                                          <p:spTgt spid="263"/>
                                        </p:tgtEl>
                                      </p:cBhvr>
                                    </p:animEffect>
                                  </p:childTnLst>
                                </p:cTn>
                              </p:par>
                              <p:par>
                                <p:cTn id="171" presetID="63" presetClass="path" presetSubtype="0" accel="50000" decel="50000" fill="hold" nodeType="withEffect">
                                  <p:stCondLst>
                                    <p:cond delay="0"/>
                                  </p:stCondLst>
                                  <p:childTnLst>
                                    <p:animMotion origin="layout" path="M 0 0 L -0.23707 0.064077 E" pathEditMode="relative" ptsTypes="">
                                      <p:cBhvr>
                                        <p:cTn id="172" dur="2000" fill="hold"/>
                                        <p:tgtEl>
                                          <p:spTgt spid="213"/>
                                        </p:tgtEl>
                                        <p:attrNameLst>
                                          <p:attrName>ppt_x</p:attrName>
                                          <p:attrName>ppt_y</p:attrName>
                                        </p:attrNameLst>
                                      </p:cBhvr>
                                    </p:animMotion>
                                  </p:childTnLst>
                                </p:cTn>
                              </p:par>
                              <p:par>
                                <p:cTn id="173" presetID="63" presetClass="path" presetSubtype="0" accel="50000" decel="50000" fill="hold" nodeType="withEffect">
                                  <p:stCondLst>
                                    <p:cond delay="0"/>
                                  </p:stCondLst>
                                  <p:childTnLst>
                                    <p:animMotion origin="layout" path="M 0.23707 -0.064077 L 0 0 E" pathEditMode="relative" ptsTypes="">
                                      <p:cBhvr>
                                        <p:cTn id="174" dur="2000" fill="hold"/>
                                        <p:tgtEl>
                                          <p:spTgt spid="263"/>
                                        </p:tgtEl>
                                        <p:attrNameLst>
                                          <p:attrName>ppt_x</p:attrName>
                                          <p:attrName>ppt_y</p:attrName>
                                        </p:attrNameLst>
                                      </p:cBhvr>
                                    </p:animMotion>
                                  </p:childTnLst>
                                </p:cTn>
                              </p:par>
                              <p:par>
                                <p:cTn id="175" presetID="6" presetClass="emph" presetSubtype="0" accel="50000" decel="50000" fill="hold" nodeType="withEffect">
                                  <p:stCondLst>
                                    <p:cond delay="0"/>
                                  </p:stCondLst>
                                  <p:childTnLst>
                                    <p:animScale>
                                      <p:cBhvr>
                                        <p:cTn id="176" dur="2000" fill="hold"/>
                                        <p:tgtEl>
                                          <p:spTgt spid="213"/>
                                        </p:tgtEl>
                                      </p:cBhvr>
                                      <p:by x="150000" y="150000"/>
                                      <p:from x="100000" y="100000"/>
                                      <p:to x="100000" y="100000"/>
                                    </p:animScale>
                                  </p:childTnLst>
                                </p:cTn>
                              </p:par>
                              <p:par>
                                <p:cTn id="177" presetID="6" presetClass="emph" presetSubtype="0" accel="50000" decel="50000" fill="hold" nodeType="withEffect">
                                  <p:stCondLst>
                                    <p:cond delay="0"/>
                                  </p:stCondLst>
                                  <p:childTnLst>
                                    <p:animScale>
                                      <p:cBhvr>
                                        <p:cTn id="178" dur="2000" fill="hold"/>
                                        <p:tgtEl>
                                          <p:spTgt spid="263"/>
                                        </p:tgtEl>
                                      </p:cBhvr>
                                      <p:by x="150000" y="150000"/>
                                      <p:from x="100000" y="100000"/>
                                      <p:to x="100000" y="100000"/>
                                    </p:animScale>
                                  </p:childTnLst>
                                </p:cTn>
                              </p:par>
                              <p:par>
                                <p:cTn id="179" presetID="10" presetClass="exit" presetSubtype="0" fill="hold" nodeType="withEffect">
                                  <p:stCondLst>
                                    <p:cond delay="0"/>
                                  </p:stCondLst>
                                  <p:childTnLst>
                                    <p:animEffect transition="out" filter="fade">
                                      <p:cBhvr>
                                        <p:cTn id="180" dur="2000"/>
                                        <p:tgtEl>
                                          <p:spTgt spid="214"/>
                                        </p:tgtEl>
                                      </p:cBhvr>
                                    </p:animEffect>
                                    <p:set>
                                      <p:cBhvr>
                                        <p:cTn id="181" dur="1" fill="hold">
                                          <p:stCondLst>
                                            <p:cond delay="1999"/>
                                          </p:stCondLst>
                                        </p:cTn>
                                        <p:tgtEl>
                                          <p:spTgt spid="214"/>
                                        </p:tgtEl>
                                        <p:attrNameLst>
                                          <p:attrName>style.visibility</p:attrName>
                                        </p:attrNameLst>
                                      </p:cBhvr>
                                      <p:to>
                                        <p:strVal val="hidden"/>
                                      </p:to>
                                    </p:set>
                                  </p:childTnLst>
                                </p:cTn>
                              </p:par>
                              <p:par>
                                <p:cTn id="182" presetID="10" presetClass="entr" presetSubtype="0" fill="hold" nodeType="withEffect">
                                  <p:stCondLst>
                                    <p:cond delay="0"/>
                                  </p:stCondLst>
                                  <p:childTnLst>
                                    <p:set>
                                      <p:cBhvr>
                                        <p:cTn id="183" dur="1" fill="hold">
                                          <p:stCondLst>
                                            <p:cond delay="0"/>
                                          </p:stCondLst>
                                        </p:cTn>
                                        <p:tgtEl>
                                          <p:spTgt spid="264"/>
                                        </p:tgtEl>
                                        <p:attrNameLst>
                                          <p:attrName>style.visibility</p:attrName>
                                        </p:attrNameLst>
                                      </p:cBhvr>
                                      <p:to>
                                        <p:strVal val="visible"/>
                                      </p:to>
                                    </p:set>
                                    <p:animEffect transition="in" filter="fade">
                                      <p:cBhvr>
                                        <p:cTn id="184" dur="2000"/>
                                        <p:tgtEl>
                                          <p:spTgt spid="264"/>
                                        </p:tgtEl>
                                      </p:cBhvr>
                                    </p:animEffect>
                                  </p:childTnLst>
                                </p:cTn>
                              </p:par>
                              <p:par>
                                <p:cTn id="185" presetID="63" presetClass="path" presetSubtype="0" accel="50000" decel="50000" fill="hold" nodeType="withEffect">
                                  <p:stCondLst>
                                    <p:cond delay="0"/>
                                  </p:stCondLst>
                                  <p:childTnLst>
                                    <p:animMotion origin="layout" path="M 0 0 L -0.242976 0.130756 E" pathEditMode="relative" ptsTypes="">
                                      <p:cBhvr>
                                        <p:cTn id="186" dur="2000" fill="hold"/>
                                        <p:tgtEl>
                                          <p:spTgt spid="214"/>
                                        </p:tgtEl>
                                        <p:attrNameLst>
                                          <p:attrName>ppt_x</p:attrName>
                                          <p:attrName>ppt_y</p:attrName>
                                        </p:attrNameLst>
                                      </p:cBhvr>
                                    </p:animMotion>
                                  </p:childTnLst>
                                </p:cTn>
                              </p:par>
                              <p:par>
                                <p:cTn id="187" presetID="63" presetClass="path" presetSubtype="0" accel="50000" decel="50000" fill="hold" nodeType="withEffect">
                                  <p:stCondLst>
                                    <p:cond delay="0"/>
                                  </p:stCondLst>
                                  <p:childTnLst>
                                    <p:animMotion origin="layout" path="M 0.242976 -0.130756 L 0 0 E" pathEditMode="relative" ptsTypes="">
                                      <p:cBhvr>
                                        <p:cTn id="188" dur="2000" fill="hold"/>
                                        <p:tgtEl>
                                          <p:spTgt spid="264"/>
                                        </p:tgtEl>
                                        <p:attrNameLst>
                                          <p:attrName>ppt_x</p:attrName>
                                          <p:attrName>ppt_y</p:attrName>
                                        </p:attrNameLst>
                                      </p:cBhvr>
                                    </p:animMotion>
                                  </p:childTnLst>
                                </p:cTn>
                              </p:par>
                              <p:par>
                                <p:cTn id="189" presetID="6" presetClass="emph" presetSubtype="0" accel="50000" decel="50000" fill="hold" nodeType="withEffect">
                                  <p:stCondLst>
                                    <p:cond delay="0"/>
                                  </p:stCondLst>
                                  <p:childTnLst>
                                    <p:animScale>
                                      <p:cBhvr>
                                        <p:cTn id="190" dur="2000" fill="hold"/>
                                        <p:tgtEl>
                                          <p:spTgt spid="214"/>
                                        </p:tgtEl>
                                      </p:cBhvr>
                                      <p:by x="150000" y="150000"/>
                                      <p:from x="100000" y="100000"/>
                                      <p:to x="100000" y="100000"/>
                                    </p:animScale>
                                  </p:childTnLst>
                                </p:cTn>
                              </p:par>
                              <p:par>
                                <p:cTn id="191" presetID="6" presetClass="emph" presetSubtype="0" accel="50000" decel="50000" fill="hold" nodeType="withEffect">
                                  <p:stCondLst>
                                    <p:cond delay="0"/>
                                  </p:stCondLst>
                                  <p:childTnLst>
                                    <p:animScale>
                                      <p:cBhvr>
                                        <p:cTn id="192" dur="2000" fill="hold"/>
                                        <p:tgtEl>
                                          <p:spTgt spid="264"/>
                                        </p:tgtEl>
                                      </p:cBhvr>
                                      <p:by x="150000" y="150000"/>
                                      <p:from x="100000" y="100000"/>
                                      <p:to x="100000" y="100000"/>
                                    </p:animScale>
                                  </p:childTnLst>
                                </p:cTn>
                              </p:par>
                              <p:par>
                                <p:cTn id="193" presetID="10" presetClass="exit" presetSubtype="0" fill="hold" nodeType="withEffect">
                                  <p:stCondLst>
                                    <p:cond delay="0"/>
                                  </p:stCondLst>
                                  <p:childTnLst>
                                    <p:animEffect transition="out" filter="fade">
                                      <p:cBhvr>
                                        <p:cTn id="194" dur="2000"/>
                                        <p:tgtEl>
                                          <p:spTgt spid="215"/>
                                        </p:tgtEl>
                                      </p:cBhvr>
                                    </p:animEffect>
                                    <p:set>
                                      <p:cBhvr>
                                        <p:cTn id="195" dur="1" fill="hold">
                                          <p:stCondLst>
                                            <p:cond delay="1999"/>
                                          </p:stCondLst>
                                        </p:cTn>
                                        <p:tgtEl>
                                          <p:spTgt spid="215"/>
                                        </p:tgtEl>
                                        <p:attrNameLst>
                                          <p:attrName>style.visibility</p:attrName>
                                        </p:attrNameLst>
                                      </p:cBhvr>
                                      <p:to>
                                        <p:strVal val="hidden"/>
                                      </p:to>
                                    </p:set>
                                  </p:childTnLst>
                                </p:cTn>
                              </p:par>
                              <p:par>
                                <p:cTn id="196" presetID="10" presetClass="entr" presetSubtype="0" fill="hold" nodeType="withEffect">
                                  <p:stCondLst>
                                    <p:cond delay="0"/>
                                  </p:stCondLst>
                                  <p:childTnLst>
                                    <p:set>
                                      <p:cBhvr>
                                        <p:cTn id="197" dur="1" fill="hold">
                                          <p:stCondLst>
                                            <p:cond delay="0"/>
                                          </p:stCondLst>
                                        </p:cTn>
                                        <p:tgtEl>
                                          <p:spTgt spid="265"/>
                                        </p:tgtEl>
                                        <p:attrNameLst>
                                          <p:attrName>style.visibility</p:attrName>
                                        </p:attrNameLst>
                                      </p:cBhvr>
                                      <p:to>
                                        <p:strVal val="visible"/>
                                      </p:to>
                                    </p:set>
                                    <p:animEffect transition="in" filter="fade">
                                      <p:cBhvr>
                                        <p:cTn id="198" dur="2000"/>
                                        <p:tgtEl>
                                          <p:spTgt spid="265"/>
                                        </p:tgtEl>
                                      </p:cBhvr>
                                    </p:animEffect>
                                  </p:childTnLst>
                                </p:cTn>
                              </p:par>
                              <p:par>
                                <p:cTn id="199" presetID="63" presetClass="path" presetSubtype="0" accel="50000" decel="50000" fill="hold" nodeType="withEffect">
                                  <p:stCondLst>
                                    <p:cond delay="0"/>
                                  </p:stCondLst>
                                  <p:childTnLst>
                                    <p:animMotion origin="layout" path="M 0 0 L -0.199064 -0.264056 E" pathEditMode="relative" ptsTypes="">
                                      <p:cBhvr>
                                        <p:cTn id="200" dur="2000" fill="hold"/>
                                        <p:tgtEl>
                                          <p:spTgt spid="215"/>
                                        </p:tgtEl>
                                        <p:attrNameLst>
                                          <p:attrName>ppt_x</p:attrName>
                                          <p:attrName>ppt_y</p:attrName>
                                        </p:attrNameLst>
                                      </p:cBhvr>
                                    </p:animMotion>
                                  </p:childTnLst>
                                </p:cTn>
                              </p:par>
                              <p:par>
                                <p:cTn id="201" presetID="63" presetClass="path" presetSubtype="0" accel="50000" decel="50000" fill="hold" nodeType="withEffect">
                                  <p:stCondLst>
                                    <p:cond delay="0"/>
                                  </p:stCondLst>
                                  <p:childTnLst>
                                    <p:animMotion origin="layout" path="M 0.199064 0.264056 L 0 0 E" pathEditMode="relative" ptsTypes="">
                                      <p:cBhvr>
                                        <p:cTn id="202" dur="2000" fill="hold"/>
                                        <p:tgtEl>
                                          <p:spTgt spid="265"/>
                                        </p:tgtEl>
                                        <p:attrNameLst>
                                          <p:attrName>ppt_x</p:attrName>
                                          <p:attrName>ppt_y</p:attrName>
                                        </p:attrNameLst>
                                      </p:cBhvr>
                                    </p:animMotion>
                                  </p:childTnLst>
                                </p:cTn>
                              </p:par>
                              <p:par>
                                <p:cTn id="203" presetID="6" presetClass="emph" presetSubtype="0" accel="50000" decel="50000" fill="hold" nodeType="withEffect">
                                  <p:stCondLst>
                                    <p:cond delay="0"/>
                                  </p:stCondLst>
                                  <p:childTnLst>
                                    <p:animScale>
                                      <p:cBhvr>
                                        <p:cTn id="204" dur="2000" fill="hold"/>
                                        <p:tgtEl>
                                          <p:spTgt spid="215"/>
                                        </p:tgtEl>
                                      </p:cBhvr>
                                      <p:by x="150000" y="150000"/>
                                      <p:from x="100000" y="100000"/>
                                      <p:to x="100000" y="100000"/>
                                    </p:animScale>
                                  </p:childTnLst>
                                </p:cTn>
                              </p:par>
                              <p:par>
                                <p:cTn id="205" presetID="6" presetClass="emph" presetSubtype="0" accel="50000" decel="50000" fill="hold" nodeType="withEffect">
                                  <p:stCondLst>
                                    <p:cond delay="0"/>
                                  </p:stCondLst>
                                  <p:childTnLst>
                                    <p:animScale>
                                      <p:cBhvr>
                                        <p:cTn id="206" dur="2000" fill="hold"/>
                                        <p:tgtEl>
                                          <p:spTgt spid="265"/>
                                        </p:tgtEl>
                                      </p:cBhvr>
                                      <p:by x="150000" y="150000"/>
                                      <p:from x="100000" y="100000"/>
                                      <p:to x="100000" y="100000"/>
                                    </p:animScale>
                                  </p:childTnLst>
                                </p:cTn>
                              </p:par>
                              <p:par>
                                <p:cTn id="207" presetID="10" presetClass="exit" presetSubtype="0" fill="hold" nodeType="withEffect">
                                  <p:stCondLst>
                                    <p:cond delay="0"/>
                                  </p:stCondLst>
                                  <p:childTnLst>
                                    <p:animEffect transition="out" filter="fade">
                                      <p:cBhvr>
                                        <p:cTn id="208" dur="2000"/>
                                        <p:tgtEl>
                                          <p:spTgt spid="230"/>
                                        </p:tgtEl>
                                      </p:cBhvr>
                                    </p:animEffect>
                                    <p:set>
                                      <p:cBhvr>
                                        <p:cTn id="209" dur="1" fill="hold">
                                          <p:stCondLst>
                                            <p:cond delay="1999"/>
                                          </p:stCondLst>
                                        </p:cTn>
                                        <p:tgtEl>
                                          <p:spTgt spid="230"/>
                                        </p:tgtEl>
                                        <p:attrNameLst>
                                          <p:attrName>style.visibility</p:attrName>
                                        </p:attrNameLst>
                                      </p:cBhvr>
                                      <p:to>
                                        <p:strVal val="hidden"/>
                                      </p:to>
                                    </p:set>
                                  </p:childTnLst>
                                </p:cTn>
                              </p:par>
                              <p:par>
                                <p:cTn id="210" presetID="10" presetClass="entr" presetSubtype="0" fill="hold" nodeType="withEffect">
                                  <p:stCondLst>
                                    <p:cond delay="0"/>
                                  </p:stCondLst>
                                  <p:childTnLst>
                                    <p:set>
                                      <p:cBhvr>
                                        <p:cTn id="211" dur="1" fill="hold">
                                          <p:stCondLst>
                                            <p:cond delay="0"/>
                                          </p:stCondLst>
                                        </p:cTn>
                                        <p:tgtEl>
                                          <p:spTgt spid="266"/>
                                        </p:tgtEl>
                                        <p:attrNameLst>
                                          <p:attrName>style.visibility</p:attrName>
                                        </p:attrNameLst>
                                      </p:cBhvr>
                                      <p:to>
                                        <p:strVal val="visible"/>
                                      </p:to>
                                    </p:set>
                                    <p:animEffect transition="in" filter="fade">
                                      <p:cBhvr>
                                        <p:cTn id="212" dur="2000"/>
                                        <p:tgtEl>
                                          <p:spTgt spid="266"/>
                                        </p:tgtEl>
                                      </p:cBhvr>
                                    </p:animEffect>
                                  </p:childTnLst>
                                </p:cTn>
                              </p:par>
                              <p:par>
                                <p:cTn id="213" presetID="63" presetClass="path" presetSubtype="0" accel="50000" decel="50000" fill="hold" nodeType="withEffect">
                                  <p:stCondLst>
                                    <p:cond delay="0"/>
                                  </p:stCondLst>
                                  <p:childTnLst>
                                    <p:animMotion origin="layout" path="M 0 0 L -0.20497 -0.197377 E" pathEditMode="relative" ptsTypes="">
                                      <p:cBhvr>
                                        <p:cTn id="214" dur="2000" fill="hold"/>
                                        <p:tgtEl>
                                          <p:spTgt spid="230"/>
                                        </p:tgtEl>
                                        <p:attrNameLst>
                                          <p:attrName>ppt_x</p:attrName>
                                          <p:attrName>ppt_y</p:attrName>
                                        </p:attrNameLst>
                                      </p:cBhvr>
                                    </p:animMotion>
                                  </p:childTnLst>
                                </p:cTn>
                              </p:par>
                              <p:par>
                                <p:cTn id="215" presetID="63" presetClass="path" presetSubtype="0" accel="50000" decel="50000" fill="hold" nodeType="withEffect">
                                  <p:stCondLst>
                                    <p:cond delay="0"/>
                                  </p:stCondLst>
                                  <p:childTnLst>
                                    <p:animMotion origin="layout" path="M 0.20497 0.197377 L 0 0 E" pathEditMode="relative" ptsTypes="">
                                      <p:cBhvr>
                                        <p:cTn id="216" dur="2000" fill="hold"/>
                                        <p:tgtEl>
                                          <p:spTgt spid="266"/>
                                        </p:tgtEl>
                                        <p:attrNameLst>
                                          <p:attrName>ppt_x</p:attrName>
                                          <p:attrName>ppt_y</p:attrName>
                                        </p:attrNameLst>
                                      </p:cBhvr>
                                    </p:animMotion>
                                  </p:childTnLst>
                                </p:cTn>
                              </p:par>
                              <p:par>
                                <p:cTn id="217" presetID="6" presetClass="emph" presetSubtype="0" accel="50000" decel="50000" fill="hold" nodeType="withEffect">
                                  <p:stCondLst>
                                    <p:cond delay="0"/>
                                  </p:stCondLst>
                                  <p:childTnLst>
                                    <p:animScale>
                                      <p:cBhvr>
                                        <p:cTn id="218" dur="2000" fill="hold"/>
                                        <p:tgtEl>
                                          <p:spTgt spid="230"/>
                                        </p:tgtEl>
                                      </p:cBhvr>
                                      <p:by x="150000" y="150000"/>
                                      <p:from x="100000" y="100000"/>
                                      <p:to x="100000" y="100000"/>
                                    </p:animScale>
                                  </p:childTnLst>
                                </p:cTn>
                              </p:par>
                              <p:par>
                                <p:cTn id="219" presetID="6" presetClass="emph" presetSubtype="0" accel="50000" decel="50000" fill="hold" nodeType="withEffect">
                                  <p:stCondLst>
                                    <p:cond delay="0"/>
                                  </p:stCondLst>
                                  <p:childTnLst>
                                    <p:animScale>
                                      <p:cBhvr>
                                        <p:cTn id="220" dur="2000" fill="hold"/>
                                        <p:tgtEl>
                                          <p:spTgt spid="266"/>
                                        </p:tgtEl>
                                      </p:cBhvr>
                                      <p:by x="150000" y="150000"/>
                                      <p:from x="100000" y="100000"/>
                                      <p:to x="100000" y="100000"/>
                                    </p:animScale>
                                  </p:childTnLst>
                                </p:cTn>
                              </p:par>
                              <p:par>
                                <p:cTn id="221" presetID="10" presetClass="exit" presetSubtype="0" fill="hold" nodeType="withEffect">
                                  <p:stCondLst>
                                    <p:cond delay="0"/>
                                  </p:stCondLst>
                                  <p:childTnLst>
                                    <p:animEffect transition="out" filter="fade">
                                      <p:cBhvr>
                                        <p:cTn id="222" dur="2000"/>
                                        <p:tgtEl>
                                          <p:spTgt spid="231"/>
                                        </p:tgtEl>
                                      </p:cBhvr>
                                    </p:animEffect>
                                    <p:set>
                                      <p:cBhvr>
                                        <p:cTn id="223" dur="1" fill="hold">
                                          <p:stCondLst>
                                            <p:cond delay="1999"/>
                                          </p:stCondLst>
                                        </p:cTn>
                                        <p:tgtEl>
                                          <p:spTgt spid="231"/>
                                        </p:tgtEl>
                                        <p:attrNameLst>
                                          <p:attrName>style.visibility</p:attrName>
                                        </p:attrNameLst>
                                      </p:cBhvr>
                                      <p:to>
                                        <p:strVal val="hidden"/>
                                      </p:to>
                                    </p:set>
                                  </p:childTnLst>
                                </p:cTn>
                              </p:par>
                              <p:par>
                                <p:cTn id="224" presetID="10" presetClass="entr" presetSubtype="0" fill="hold" nodeType="withEffect">
                                  <p:stCondLst>
                                    <p:cond delay="0"/>
                                  </p:stCondLst>
                                  <p:childTnLst>
                                    <p:set>
                                      <p:cBhvr>
                                        <p:cTn id="225" dur="1" fill="hold">
                                          <p:stCondLst>
                                            <p:cond delay="0"/>
                                          </p:stCondLst>
                                        </p:cTn>
                                        <p:tgtEl>
                                          <p:spTgt spid="267"/>
                                        </p:tgtEl>
                                        <p:attrNameLst>
                                          <p:attrName>style.visibility</p:attrName>
                                        </p:attrNameLst>
                                      </p:cBhvr>
                                      <p:to>
                                        <p:strVal val="visible"/>
                                      </p:to>
                                    </p:set>
                                    <p:animEffect transition="in" filter="fade">
                                      <p:cBhvr>
                                        <p:cTn id="226" dur="2000"/>
                                        <p:tgtEl>
                                          <p:spTgt spid="267"/>
                                        </p:tgtEl>
                                      </p:cBhvr>
                                    </p:animEffect>
                                  </p:childTnLst>
                                </p:cTn>
                              </p:par>
                              <p:par>
                                <p:cTn id="227" presetID="63" presetClass="path" presetSubtype="0" accel="50000" decel="50000" fill="hold" nodeType="withEffect">
                                  <p:stCondLst>
                                    <p:cond delay="0"/>
                                  </p:stCondLst>
                                  <p:childTnLst>
                                    <p:animMotion origin="layout" path="M 0 0 L -0.210876 -0.130698 E" pathEditMode="relative" ptsTypes="">
                                      <p:cBhvr>
                                        <p:cTn id="228" dur="2000" fill="hold"/>
                                        <p:tgtEl>
                                          <p:spTgt spid="231"/>
                                        </p:tgtEl>
                                        <p:attrNameLst>
                                          <p:attrName>ppt_x</p:attrName>
                                          <p:attrName>ppt_y</p:attrName>
                                        </p:attrNameLst>
                                      </p:cBhvr>
                                    </p:animMotion>
                                  </p:childTnLst>
                                </p:cTn>
                              </p:par>
                              <p:par>
                                <p:cTn id="229" presetID="63" presetClass="path" presetSubtype="0" accel="50000" decel="50000" fill="hold" nodeType="withEffect">
                                  <p:stCondLst>
                                    <p:cond delay="0"/>
                                  </p:stCondLst>
                                  <p:childTnLst>
                                    <p:animMotion origin="layout" path="M 0.210876 0.130698 L 0 0 E" pathEditMode="relative" ptsTypes="">
                                      <p:cBhvr>
                                        <p:cTn id="230" dur="2000" fill="hold"/>
                                        <p:tgtEl>
                                          <p:spTgt spid="267"/>
                                        </p:tgtEl>
                                        <p:attrNameLst>
                                          <p:attrName>ppt_x</p:attrName>
                                          <p:attrName>ppt_y</p:attrName>
                                        </p:attrNameLst>
                                      </p:cBhvr>
                                    </p:animMotion>
                                  </p:childTnLst>
                                </p:cTn>
                              </p:par>
                              <p:par>
                                <p:cTn id="231" presetID="6" presetClass="emph" presetSubtype="0" accel="50000" decel="50000" fill="hold" nodeType="withEffect">
                                  <p:stCondLst>
                                    <p:cond delay="0"/>
                                  </p:stCondLst>
                                  <p:childTnLst>
                                    <p:animScale>
                                      <p:cBhvr>
                                        <p:cTn id="232" dur="2000" fill="hold"/>
                                        <p:tgtEl>
                                          <p:spTgt spid="231"/>
                                        </p:tgtEl>
                                      </p:cBhvr>
                                      <p:by x="150000" y="150000"/>
                                      <p:from x="100000" y="100000"/>
                                      <p:to x="100000" y="100000"/>
                                    </p:animScale>
                                  </p:childTnLst>
                                </p:cTn>
                              </p:par>
                              <p:par>
                                <p:cTn id="233" presetID="6" presetClass="emph" presetSubtype="0" accel="50000" decel="50000" fill="hold" nodeType="withEffect">
                                  <p:stCondLst>
                                    <p:cond delay="0"/>
                                  </p:stCondLst>
                                  <p:childTnLst>
                                    <p:animScale>
                                      <p:cBhvr>
                                        <p:cTn id="234" dur="2000" fill="hold"/>
                                        <p:tgtEl>
                                          <p:spTgt spid="267"/>
                                        </p:tgtEl>
                                      </p:cBhvr>
                                      <p:by x="150000" y="150000"/>
                                      <p:from x="100000" y="100000"/>
                                      <p:to x="100000" y="100000"/>
                                    </p:animScale>
                                  </p:childTnLst>
                                </p:cTn>
                              </p:par>
                            </p:childTnLst>
                          </p:cTn>
                        </p:par>
                        <p:par>
                          <p:cTn id="235" fill="hold">
                            <p:stCondLst>
                              <p:cond delay="2000"/>
                            </p:stCondLst>
                            <p:childTnLst>
                              <p:par>
                                <p:cTn id="236" presetID="1" presetClass="entr" presetSubtype="0" fill="hold" nodeType="afterEffect">
                                  <p:stCondLst>
                                    <p:cond delay="0"/>
                                  </p:stCondLst>
                                  <p:childTnLst>
                                    <p:set>
                                      <p:cBhvr>
                                        <p:cTn id="237" dur="1" fill="hold">
                                          <p:stCondLst>
                                            <p:cond delay="0"/>
                                          </p:stCondLst>
                                        </p:cTn>
                                        <p:tgtEl>
                                          <p:spTgt spid="101"/>
                                        </p:tgtEl>
                                        <p:attrNameLst>
                                          <p:attrName>style.visibility</p:attrName>
                                        </p:attrNameLst>
                                      </p:cBhvr>
                                      <p:to>
                                        <p:strVal val="visible"/>
                                      </p:to>
                                    </p:set>
                                  </p:childTnLst>
                                </p:cTn>
                              </p:par>
                            </p:childTnLst>
                          </p:cTn>
                        </p:par>
                      </p:childTnLst>
                    </p:cTn>
                  </p:par>
                  <p:par>
                    <p:cTn id="238" fill="hold">
                      <p:stCondLst>
                        <p:cond delay="indefinite"/>
                      </p:stCondLst>
                      <p:childTnLst>
                        <p:par>
                          <p:cTn id="239" fill="hold">
                            <p:stCondLst>
                              <p:cond delay="0"/>
                            </p:stCondLst>
                            <p:childTnLst>
                              <p:par>
                                <p:cTn id="240" presetID="53" presetClass="entr" presetSubtype="16" repeatCount="2000" fill="hold" grpId="0" nodeType="clickEffect">
                                  <p:stCondLst>
                                    <p:cond delay="0"/>
                                  </p:stCondLst>
                                  <p:childTnLst>
                                    <p:set>
                                      <p:cBhvr>
                                        <p:cTn id="241" dur="1" fill="hold">
                                          <p:stCondLst>
                                            <p:cond delay="0"/>
                                          </p:stCondLst>
                                        </p:cTn>
                                        <p:tgtEl>
                                          <p:spTgt spid="238"/>
                                        </p:tgtEl>
                                        <p:attrNameLst>
                                          <p:attrName>style.visibility</p:attrName>
                                        </p:attrNameLst>
                                      </p:cBhvr>
                                      <p:to>
                                        <p:strVal val="visible"/>
                                      </p:to>
                                    </p:set>
                                    <p:anim calcmode="lin" valueType="num">
                                      <p:cBhvr>
                                        <p:cTn id="242" dur="1000" fill="hold"/>
                                        <p:tgtEl>
                                          <p:spTgt spid="238"/>
                                        </p:tgtEl>
                                        <p:attrNameLst>
                                          <p:attrName>ppt_w</p:attrName>
                                        </p:attrNameLst>
                                      </p:cBhvr>
                                      <p:tavLst>
                                        <p:tav tm="0">
                                          <p:val>
                                            <p:fltVal val="0"/>
                                          </p:val>
                                        </p:tav>
                                        <p:tav tm="100000">
                                          <p:val>
                                            <p:strVal val="#ppt_w"/>
                                          </p:val>
                                        </p:tav>
                                      </p:tavLst>
                                    </p:anim>
                                    <p:anim calcmode="lin" valueType="num">
                                      <p:cBhvr>
                                        <p:cTn id="243" dur="1000" fill="hold"/>
                                        <p:tgtEl>
                                          <p:spTgt spid="238"/>
                                        </p:tgtEl>
                                        <p:attrNameLst>
                                          <p:attrName>ppt_h</p:attrName>
                                        </p:attrNameLst>
                                      </p:cBhvr>
                                      <p:tavLst>
                                        <p:tav tm="0">
                                          <p:val>
                                            <p:fltVal val="0"/>
                                          </p:val>
                                        </p:tav>
                                        <p:tav tm="100000">
                                          <p:val>
                                            <p:strVal val="#ppt_h"/>
                                          </p:val>
                                        </p:tav>
                                      </p:tavLst>
                                    </p:anim>
                                    <p:animEffect transition="in" filter="fade">
                                      <p:cBhvr>
                                        <p:cTn id="244" dur="1000"/>
                                        <p:tgtEl>
                                          <p:spTgt spid="238"/>
                                        </p:tgtEl>
                                      </p:cBhvr>
                                    </p:animEffect>
                                  </p:childTnLst>
                                </p:cTn>
                              </p:par>
                            </p:childTnLst>
                          </p:cTn>
                        </p:par>
                        <p:par>
                          <p:cTn id="245" fill="hold">
                            <p:stCondLst>
                              <p:cond delay="2000"/>
                            </p:stCondLst>
                            <p:childTnLst>
                              <p:par>
                                <p:cTn id="246" presetID="10" presetClass="exit" presetSubtype="0" fill="hold" nodeType="afterEffect">
                                  <p:stCondLst>
                                    <p:cond delay="0"/>
                                  </p:stCondLst>
                                  <p:childTnLst>
                                    <p:animEffect transition="out" filter="fade">
                                      <p:cBhvr>
                                        <p:cTn id="247" dur="2000"/>
                                        <p:tgtEl>
                                          <p:spTgt spid="101"/>
                                        </p:tgtEl>
                                      </p:cBhvr>
                                    </p:animEffect>
                                    <p:set>
                                      <p:cBhvr>
                                        <p:cTn id="248" dur="1" fill="hold">
                                          <p:stCondLst>
                                            <p:cond delay="1999"/>
                                          </p:stCondLst>
                                        </p:cTn>
                                        <p:tgtEl>
                                          <p:spTgt spid="101"/>
                                        </p:tgtEl>
                                        <p:attrNameLst>
                                          <p:attrName>style.visibility</p:attrName>
                                        </p:attrNameLst>
                                      </p:cBhvr>
                                      <p:to>
                                        <p:strVal val="hidden"/>
                                      </p:to>
                                    </p:set>
                                  </p:childTnLst>
                                </p:cTn>
                              </p:par>
                              <p:par>
                                <p:cTn id="249" presetID="10" presetClass="entr" presetSubtype="0" fill="hold" nodeType="withEffect">
                                  <p:stCondLst>
                                    <p:cond delay="0"/>
                                  </p:stCondLst>
                                  <p:childTnLst>
                                    <p:set>
                                      <p:cBhvr>
                                        <p:cTn id="250" dur="1" fill="hold">
                                          <p:stCondLst>
                                            <p:cond delay="0"/>
                                          </p:stCondLst>
                                        </p:cTn>
                                        <p:tgtEl>
                                          <p:spTgt spid="91"/>
                                        </p:tgtEl>
                                        <p:attrNameLst>
                                          <p:attrName>style.visibility</p:attrName>
                                        </p:attrNameLst>
                                      </p:cBhvr>
                                      <p:to>
                                        <p:strVal val="visible"/>
                                      </p:to>
                                    </p:set>
                                    <p:animEffect transition="in" filter="fade">
                                      <p:cBhvr>
                                        <p:cTn id="251" dur="2000"/>
                                        <p:tgtEl>
                                          <p:spTgt spid="91"/>
                                        </p:tgtEl>
                                      </p:cBhvr>
                                    </p:animEffect>
                                  </p:childTnLst>
                                </p:cTn>
                              </p:par>
                              <p:par>
                                <p:cTn id="252" presetID="63" presetClass="path" presetSubtype="0" accel="50000" decel="50000" fill="hold" nodeType="withEffect">
                                  <p:stCondLst>
                                    <p:cond delay="0"/>
                                  </p:stCondLst>
                                  <p:childTnLst>
                                    <p:animMotion origin="layout" path="M 0 0 L -0.002276 -0.266434 E" pathEditMode="relative" ptsTypes="">
                                      <p:cBhvr>
                                        <p:cTn id="253" dur="2000" fill="hold"/>
                                        <p:tgtEl>
                                          <p:spTgt spid="101"/>
                                        </p:tgtEl>
                                        <p:attrNameLst>
                                          <p:attrName>ppt_x</p:attrName>
                                          <p:attrName>ppt_y</p:attrName>
                                        </p:attrNameLst>
                                      </p:cBhvr>
                                    </p:animMotion>
                                  </p:childTnLst>
                                </p:cTn>
                              </p:par>
                              <p:par>
                                <p:cTn id="254" presetID="63" presetClass="path" presetSubtype="0" accel="50000" decel="50000" fill="hold" nodeType="withEffect">
                                  <p:stCondLst>
                                    <p:cond delay="0"/>
                                  </p:stCondLst>
                                  <p:childTnLst>
                                    <p:animMotion origin="layout" path="M 0.00221 0.26643 L 1.66667E-6 7.40741E-7 " pathEditMode="relative" rAng="0" ptsTypes="AA">
                                      <p:cBhvr>
                                        <p:cTn id="255" dur="2000" fill="hold"/>
                                        <p:tgtEl>
                                          <p:spTgt spid="91"/>
                                        </p:tgtEl>
                                        <p:attrNameLst>
                                          <p:attrName>ppt_x</p:attrName>
                                          <p:attrName>ppt_y</p:attrName>
                                        </p:attrNameLst>
                                      </p:cBhvr>
                                      <p:rCtr x="-117" y="-13333"/>
                                    </p:animMotion>
                                  </p:childTnLst>
                                </p:cTn>
                              </p:par>
                              <p:par>
                                <p:cTn id="256" presetID="6" presetClass="emph" presetSubtype="0" accel="50000" decel="50000" fill="hold" nodeType="withEffect">
                                  <p:stCondLst>
                                    <p:cond delay="0"/>
                                  </p:stCondLst>
                                  <p:childTnLst>
                                    <p:animScale>
                                      <p:cBhvr>
                                        <p:cTn id="257" dur="2000" fill="hold"/>
                                        <p:tgtEl>
                                          <p:spTgt spid="101"/>
                                        </p:tgtEl>
                                      </p:cBhvr>
                                      <p:by x="150000" y="150000"/>
                                      <p:from x="100000" y="100000"/>
                                      <p:to x="167102" y="35494"/>
                                    </p:animScale>
                                  </p:childTnLst>
                                </p:cTn>
                              </p:par>
                              <p:par>
                                <p:cTn id="258" presetID="6" presetClass="emph" presetSubtype="0" accel="50000" decel="50000" fill="hold" nodeType="withEffect">
                                  <p:stCondLst>
                                    <p:cond delay="0"/>
                                  </p:stCondLst>
                                  <p:childTnLst>
                                    <p:animScale>
                                      <p:cBhvr>
                                        <p:cTn id="259" dur="2000" fill="hold"/>
                                        <p:tgtEl>
                                          <p:spTgt spid="91"/>
                                        </p:tgtEl>
                                      </p:cBhvr>
                                      <p:by x="150000" y="150000"/>
                                      <p:from x="59844" y="281735"/>
                                      <p:to x="100000" y="100000"/>
                                    </p:animScale>
                                  </p:childTnLst>
                                </p:cTn>
                              </p:par>
                            </p:childTnLst>
                          </p:cTn>
                        </p:par>
                      </p:childTnLst>
                    </p:cTn>
                  </p:par>
                  <p:par>
                    <p:cTn id="260" fill="hold">
                      <p:stCondLst>
                        <p:cond delay="indefinite"/>
                      </p:stCondLst>
                      <p:childTnLst>
                        <p:par>
                          <p:cTn id="261" fill="hold">
                            <p:stCondLst>
                              <p:cond delay="0"/>
                            </p:stCondLst>
                            <p:childTnLst>
                              <p:par>
                                <p:cTn id="262" presetID="22" presetClass="entr" presetSubtype="4" fill="hold" nodeType="clickEffect">
                                  <p:stCondLst>
                                    <p:cond delay="0"/>
                                  </p:stCondLst>
                                  <p:childTnLst>
                                    <p:set>
                                      <p:cBhvr>
                                        <p:cTn id="263" dur="1" fill="hold">
                                          <p:stCondLst>
                                            <p:cond delay="0"/>
                                          </p:stCondLst>
                                        </p:cTn>
                                        <p:tgtEl>
                                          <p:spTgt spid="287"/>
                                        </p:tgtEl>
                                        <p:attrNameLst>
                                          <p:attrName>style.visibility</p:attrName>
                                        </p:attrNameLst>
                                      </p:cBhvr>
                                      <p:to>
                                        <p:strVal val="visible"/>
                                      </p:to>
                                    </p:set>
                                    <p:animEffect transition="in" filter="wipe(down)">
                                      <p:cBhvr>
                                        <p:cTn id="264" dur="500"/>
                                        <p:tgtEl>
                                          <p:spTgt spid="287"/>
                                        </p:tgtEl>
                                      </p:cBhvr>
                                    </p:animEffect>
                                  </p:childTnLst>
                                </p:cTn>
                              </p:par>
                              <p:par>
                                <p:cTn id="265" presetID="22" presetClass="entr" presetSubtype="4" fill="hold" nodeType="withEffect">
                                  <p:stCondLst>
                                    <p:cond delay="0"/>
                                  </p:stCondLst>
                                  <p:childTnLst>
                                    <p:set>
                                      <p:cBhvr>
                                        <p:cTn id="266" dur="1" fill="hold">
                                          <p:stCondLst>
                                            <p:cond delay="0"/>
                                          </p:stCondLst>
                                        </p:cTn>
                                        <p:tgtEl>
                                          <p:spTgt spid="281"/>
                                        </p:tgtEl>
                                        <p:attrNameLst>
                                          <p:attrName>style.visibility</p:attrName>
                                        </p:attrNameLst>
                                      </p:cBhvr>
                                      <p:to>
                                        <p:strVal val="visible"/>
                                      </p:to>
                                    </p:set>
                                    <p:animEffect transition="in" filter="wipe(down)">
                                      <p:cBhvr>
                                        <p:cTn id="267" dur="500"/>
                                        <p:tgtEl>
                                          <p:spTgt spid="281"/>
                                        </p:tgtEl>
                                      </p:cBhvr>
                                    </p:animEffect>
                                  </p:childTnLst>
                                </p:cTn>
                              </p:par>
                              <p:par>
                                <p:cTn id="268" presetID="22" presetClass="entr" presetSubtype="4" fill="hold" nodeType="withEffect">
                                  <p:stCondLst>
                                    <p:cond delay="0"/>
                                  </p:stCondLst>
                                  <p:childTnLst>
                                    <p:set>
                                      <p:cBhvr>
                                        <p:cTn id="269" dur="1" fill="hold">
                                          <p:stCondLst>
                                            <p:cond delay="0"/>
                                          </p:stCondLst>
                                        </p:cTn>
                                        <p:tgtEl>
                                          <p:spTgt spid="289"/>
                                        </p:tgtEl>
                                        <p:attrNameLst>
                                          <p:attrName>style.visibility</p:attrName>
                                        </p:attrNameLst>
                                      </p:cBhvr>
                                      <p:to>
                                        <p:strVal val="visible"/>
                                      </p:to>
                                    </p:set>
                                    <p:animEffect transition="in" filter="wipe(down)">
                                      <p:cBhvr>
                                        <p:cTn id="270" dur="500"/>
                                        <p:tgtEl>
                                          <p:spTgt spid="289"/>
                                        </p:tgtEl>
                                      </p:cBhvr>
                                    </p:animEffect>
                                  </p:childTnLst>
                                </p:cTn>
                              </p:par>
                              <p:par>
                                <p:cTn id="271" presetID="22" presetClass="entr" presetSubtype="4" fill="hold" nodeType="withEffect">
                                  <p:stCondLst>
                                    <p:cond delay="0"/>
                                  </p:stCondLst>
                                  <p:childTnLst>
                                    <p:set>
                                      <p:cBhvr>
                                        <p:cTn id="272" dur="1" fill="hold">
                                          <p:stCondLst>
                                            <p:cond delay="0"/>
                                          </p:stCondLst>
                                        </p:cTn>
                                        <p:tgtEl>
                                          <p:spTgt spid="285"/>
                                        </p:tgtEl>
                                        <p:attrNameLst>
                                          <p:attrName>style.visibility</p:attrName>
                                        </p:attrNameLst>
                                      </p:cBhvr>
                                      <p:to>
                                        <p:strVal val="visible"/>
                                      </p:to>
                                    </p:set>
                                    <p:animEffect transition="in" filter="wipe(down)">
                                      <p:cBhvr>
                                        <p:cTn id="273" dur="500"/>
                                        <p:tgtEl>
                                          <p:spTgt spid="285"/>
                                        </p:tgtEl>
                                      </p:cBhvr>
                                    </p:animEffect>
                                  </p:childTnLst>
                                </p:cTn>
                              </p:par>
                              <p:par>
                                <p:cTn id="274" presetID="22" presetClass="entr" presetSubtype="4" fill="hold" grpId="0" nodeType="withEffect">
                                  <p:stCondLst>
                                    <p:cond delay="0"/>
                                  </p:stCondLst>
                                  <p:childTnLst>
                                    <p:set>
                                      <p:cBhvr>
                                        <p:cTn id="275" dur="1" fill="hold">
                                          <p:stCondLst>
                                            <p:cond delay="0"/>
                                          </p:stCondLst>
                                        </p:cTn>
                                        <p:tgtEl>
                                          <p:spTgt spid="290"/>
                                        </p:tgtEl>
                                        <p:attrNameLst>
                                          <p:attrName>style.visibility</p:attrName>
                                        </p:attrNameLst>
                                      </p:cBhvr>
                                      <p:to>
                                        <p:strVal val="visible"/>
                                      </p:to>
                                    </p:set>
                                    <p:animEffect transition="in" filter="wipe(down)">
                                      <p:cBhvr>
                                        <p:cTn id="276" dur="500"/>
                                        <p:tgtEl>
                                          <p:spTgt spid="290"/>
                                        </p:tgtEl>
                                      </p:cBhvr>
                                    </p:animEffect>
                                  </p:childTnLst>
                                </p:cTn>
                              </p:par>
                              <p:par>
                                <p:cTn id="277" presetID="22" presetClass="entr" presetSubtype="4" fill="hold" grpId="0" nodeType="withEffect">
                                  <p:stCondLst>
                                    <p:cond delay="0"/>
                                  </p:stCondLst>
                                  <p:childTnLst>
                                    <p:set>
                                      <p:cBhvr>
                                        <p:cTn id="278" dur="1" fill="hold">
                                          <p:stCondLst>
                                            <p:cond delay="0"/>
                                          </p:stCondLst>
                                        </p:cTn>
                                        <p:tgtEl>
                                          <p:spTgt spid="292"/>
                                        </p:tgtEl>
                                        <p:attrNameLst>
                                          <p:attrName>style.visibility</p:attrName>
                                        </p:attrNameLst>
                                      </p:cBhvr>
                                      <p:to>
                                        <p:strVal val="visible"/>
                                      </p:to>
                                    </p:set>
                                    <p:animEffect transition="in" filter="wipe(down)">
                                      <p:cBhvr>
                                        <p:cTn id="279" dur="500"/>
                                        <p:tgtEl>
                                          <p:spTgt spid="292"/>
                                        </p:tgtEl>
                                      </p:cBhvr>
                                    </p:animEffect>
                                  </p:childTnLst>
                                </p:cTn>
                              </p:par>
                              <p:par>
                                <p:cTn id="280" presetID="22" presetClass="entr" presetSubtype="4" fill="hold" grpId="0" nodeType="withEffect">
                                  <p:stCondLst>
                                    <p:cond delay="0"/>
                                  </p:stCondLst>
                                  <p:childTnLst>
                                    <p:set>
                                      <p:cBhvr>
                                        <p:cTn id="281" dur="1" fill="hold">
                                          <p:stCondLst>
                                            <p:cond delay="0"/>
                                          </p:stCondLst>
                                        </p:cTn>
                                        <p:tgtEl>
                                          <p:spTgt spid="293"/>
                                        </p:tgtEl>
                                        <p:attrNameLst>
                                          <p:attrName>style.visibility</p:attrName>
                                        </p:attrNameLst>
                                      </p:cBhvr>
                                      <p:to>
                                        <p:strVal val="visible"/>
                                      </p:to>
                                    </p:set>
                                    <p:animEffect transition="in" filter="wipe(down)">
                                      <p:cBhvr>
                                        <p:cTn id="282" dur="500"/>
                                        <p:tgtEl>
                                          <p:spTgt spid="293"/>
                                        </p:tgtEl>
                                      </p:cBhvr>
                                    </p:animEffect>
                                  </p:childTnLst>
                                </p:cTn>
                              </p:par>
                              <p:par>
                                <p:cTn id="283" presetID="22" presetClass="entr" presetSubtype="4" fill="hold" grpId="0" nodeType="withEffect">
                                  <p:stCondLst>
                                    <p:cond delay="0"/>
                                  </p:stCondLst>
                                  <p:childTnLst>
                                    <p:set>
                                      <p:cBhvr>
                                        <p:cTn id="284" dur="1" fill="hold">
                                          <p:stCondLst>
                                            <p:cond delay="0"/>
                                          </p:stCondLst>
                                        </p:cTn>
                                        <p:tgtEl>
                                          <p:spTgt spid="291"/>
                                        </p:tgtEl>
                                        <p:attrNameLst>
                                          <p:attrName>style.visibility</p:attrName>
                                        </p:attrNameLst>
                                      </p:cBhvr>
                                      <p:to>
                                        <p:strVal val="visible"/>
                                      </p:to>
                                    </p:set>
                                    <p:animEffect transition="in" filter="wipe(down)">
                                      <p:cBhvr>
                                        <p:cTn id="285" dur="500"/>
                                        <p:tgtEl>
                                          <p:spTgt spid="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 grpId="0"/>
      <p:bldP spid="290" grpId="0"/>
      <p:bldP spid="291" grpId="0"/>
      <p:bldP spid="292" grpId="0"/>
      <p:bldP spid="29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Replication</a:t>
            </a:r>
          </a:p>
        </p:txBody>
      </p:sp>
      <p:sp>
        <p:nvSpPr>
          <p:cNvPr id="5" name="hard-drive_77649"/>
          <p:cNvSpPr>
            <a:spLocks noChangeAspect="1"/>
          </p:cNvSpPr>
          <p:nvPr/>
        </p:nvSpPr>
        <p:spPr bwMode="auto">
          <a:xfrm>
            <a:off x="2633310" y="447395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 name="hard-drive_77649"/>
          <p:cNvSpPr>
            <a:spLocks noChangeAspect="1"/>
          </p:cNvSpPr>
          <p:nvPr/>
        </p:nvSpPr>
        <p:spPr bwMode="auto">
          <a:xfrm>
            <a:off x="2633310" y="5083644"/>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 name="hard-drive_77649"/>
          <p:cNvSpPr>
            <a:spLocks noChangeAspect="1"/>
          </p:cNvSpPr>
          <p:nvPr/>
        </p:nvSpPr>
        <p:spPr bwMode="auto">
          <a:xfrm>
            <a:off x="2633310" y="569332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8" name="hard-drive_77649"/>
          <p:cNvSpPr>
            <a:spLocks noChangeAspect="1"/>
          </p:cNvSpPr>
          <p:nvPr/>
        </p:nvSpPr>
        <p:spPr bwMode="auto">
          <a:xfrm>
            <a:off x="3034043"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 name="hard-drive_77649"/>
          <p:cNvSpPr>
            <a:spLocks noChangeAspect="1"/>
          </p:cNvSpPr>
          <p:nvPr/>
        </p:nvSpPr>
        <p:spPr bwMode="auto">
          <a:xfrm>
            <a:off x="3034043"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 name="hard-drive_77649"/>
          <p:cNvSpPr>
            <a:spLocks noChangeAspect="1"/>
          </p:cNvSpPr>
          <p:nvPr/>
        </p:nvSpPr>
        <p:spPr bwMode="auto">
          <a:xfrm>
            <a:off x="3034043"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1" name="hard-drive_77649"/>
          <p:cNvSpPr>
            <a:spLocks noChangeAspect="1"/>
          </p:cNvSpPr>
          <p:nvPr/>
        </p:nvSpPr>
        <p:spPr bwMode="auto">
          <a:xfrm>
            <a:off x="3430087"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2" name="hard-drive_77649"/>
          <p:cNvSpPr>
            <a:spLocks noChangeAspect="1"/>
          </p:cNvSpPr>
          <p:nvPr/>
        </p:nvSpPr>
        <p:spPr bwMode="auto">
          <a:xfrm>
            <a:off x="3430087"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3" name="hard-drive_77649"/>
          <p:cNvSpPr>
            <a:spLocks noChangeAspect="1"/>
          </p:cNvSpPr>
          <p:nvPr/>
        </p:nvSpPr>
        <p:spPr bwMode="auto">
          <a:xfrm>
            <a:off x="3430087"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4" name="hard-drive_77649"/>
          <p:cNvSpPr>
            <a:spLocks noChangeAspect="1"/>
          </p:cNvSpPr>
          <p:nvPr/>
        </p:nvSpPr>
        <p:spPr bwMode="auto">
          <a:xfrm>
            <a:off x="3821442"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5" name="hard-drive_77649"/>
          <p:cNvSpPr>
            <a:spLocks noChangeAspect="1"/>
          </p:cNvSpPr>
          <p:nvPr/>
        </p:nvSpPr>
        <p:spPr bwMode="auto">
          <a:xfrm>
            <a:off x="3821442"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6" name="hard-drive_77649"/>
          <p:cNvSpPr>
            <a:spLocks noChangeAspect="1"/>
          </p:cNvSpPr>
          <p:nvPr/>
        </p:nvSpPr>
        <p:spPr bwMode="auto">
          <a:xfrm>
            <a:off x="3821442"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7" name="组合 16"/>
          <p:cNvGrpSpPr/>
          <p:nvPr/>
        </p:nvGrpSpPr>
        <p:grpSpPr>
          <a:xfrm>
            <a:off x="1703512" y="2996952"/>
            <a:ext cx="3059557" cy="654286"/>
            <a:chOff x="4374114" y="4797152"/>
            <a:chExt cx="3059557" cy="654286"/>
          </a:xfrm>
        </p:grpSpPr>
        <p:grpSp>
          <p:nvGrpSpPr>
            <p:cNvPr id="18" name="组合 17"/>
            <p:cNvGrpSpPr/>
            <p:nvPr/>
          </p:nvGrpSpPr>
          <p:grpSpPr>
            <a:xfrm>
              <a:off x="6606362" y="4905164"/>
              <a:ext cx="430713" cy="546273"/>
              <a:chOff x="8407400" y="2055813"/>
              <a:chExt cx="360363" cy="458788"/>
            </a:xfrm>
            <a:solidFill>
              <a:srgbClr val="3ABABA"/>
            </a:solidFill>
          </p:grpSpPr>
          <p:sp>
            <p:nvSpPr>
              <p:cNvPr id="30"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1"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2"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3"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9" name="组合 18"/>
            <p:cNvGrpSpPr/>
            <p:nvPr/>
          </p:nvGrpSpPr>
          <p:grpSpPr>
            <a:xfrm>
              <a:off x="5976176" y="4905165"/>
              <a:ext cx="430713" cy="546273"/>
              <a:chOff x="8407400" y="2055813"/>
              <a:chExt cx="360363" cy="458788"/>
            </a:xfrm>
            <a:solidFill>
              <a:srgbClr val="3ABABA"/>
            </a:solidFill>
          </p:grpSpPr>
          <p:sp>
            <p:nvSpPr>
              <p:cNvPr id="26"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7"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8"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9"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20" name="组合 19"/>
            <p:cNvGrpSpPr/>
            <p:nvPr/>
          </p:nvGrpSpPr>
          <p:grpSpPr>
            <a:xfrm>
              <a:off x="5347557" y="4905165"/>
              <a:ext cx="430713" cy="546273"/>
              <a:chOff x="8407400" y="2055813"/>
              <a:chExt cx="360363" cy="458788"/>
            </a:xfrm>
            <a:solidFill>
              <a:srgbClr val="3ABABA"/>
            </a:solidFill>
          </p:grpSpPr>
          <p:sp>
            <p:nvSpPr>
              <p:cNvPr id="2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21" name="圆角矩形 20"/>
            <p:cNvSpPr/>
            <p:nvPr/>
          </p:nvSpPr>
          <p:spPr bwMode="auto">
            <a:xfrm>
              <a:off x="4374114" y="4797152"/>
              <a:ext cx="3059557"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Distributed</a:t>
              </a:r>
            </a:p>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Storage Pool</a:t>
              </a:r>
            </a:p>
          </p:txBody>
        </p:sp>
      </p:grpSp>
      <p:sp>
        <p:nvSpPr>
          <p:cNvPr id="34" name="files_221427"/>
          <p:cNvSpPr>
            <a:spLocks noChangeAspect="1"/>
          </p:cNvSpPr>
          <p:nvPr/>
        </p:nvSpPr>
        <p:spPr bwMode="auto">
          <a:xfrm>
            <a:off x="3215681" y="1484784"/>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39" name="files_221427"/>
          <p:cNvSpPr>
            <a:spLocks noChangeAspect="1"/>
          </p:cNvSpPr>
          <p:nvPr/>
        </p:nvSpPr>
        <p:spPr bwMode="auto">
          <a:xfrm>
            <a:off x="3215681" y="3080061"/>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grpSp>
        <p:nvGrpSpPr>
          <p:cNvPr id="48" name="组合 47"/>
          <p:cNvGrpSpPr/>
          <p:nvPr/>
        </p:nvGrpSpPr>
        <p:grpSpPr>
          <a:xfrm>
            <a:off x="2869792" y="3867513"/>
            <a:ext cx="1101972" cy="513275"/>
            <a:chOff x="2869792" y="3867513"/>
            <a:chExt cx="1101972" cy="513275"/>
          </a:xfrm>
        </p:grpSpPr>
        <p:sp>
          <p:nvSpPr>
            <p:cNvPr id="40" name="files_221427"/>
            <p:cNvSpPr>
              <a:spLocks noChangeAspect="1"/>
            </p:cNvSpPr>
            <p:nvPr/>
          </p:nvSpPr>
          <p:spPr bwMode="auto">
            <a:xfrm>
              <a:off x="2869792" y="3867513"/>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sp>
        <p:sp>
          <p:nvSpPr>
            <p:cNvPr id="41" name="files_221427"/>
            <p:cNvSpPr>
              <a:spLocks noChangeAspect="1"/>
            </p:cNvSpPr>
            <p:nvPr/>
          </p:nvSpPr>
          <p:spPr bwMode="auto">
            <a:xfrm>
              <a:off x="3233010" y="3867513"/>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sp>
        <p:sp>
          <p:nvSpPr>
            <p:cNvPr id="42" name="files_221427"/>
            <p:cNvSpPr>
              <a:spLocks noChangeAspect="1"/>
            </p:cNvSpPr>
            <p:nvPr/>
          </p:nvSpPr>
          <p:spPr bwMode="auto">
            <a:xfrm>
              <a:off x="3594767" y="3867513"/>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sp>
      </p:grpSp>
      <p:sp>
        <p:nvSpPr>
          <p:cNvPr id="45" name="files_221427"/>
          <p:cNvSpPr>
            <a:spLocks noChangeAspect="1"/>
          </p:cNvSpPr>
          <p:nvPr/>
        </p:nvSpPr>
        <p:spPr bwMode="auto">
          <a:xfrm>
            <a:off x="2868339" y="3869514"/>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46" name="files_221427"/>
          <p:cNvSpPr>
            <a:spLocks noChangeAspect="1"/>
          </p:cNvSpPr>
          <p:nvPr/>
        </p:nvSpPr>
        <p:spPr bwMode="auto">
          <a:xfrm>
            <a:off x="3233010" y="3869514"/>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47" name="files_221427"/>
          <p:cNvSpPr>
            <a:spLocks noChangeAspect="1"/>
          </p:cNvSpPr>
          <p:nvPr/>
        </p:nvSpPr>
        <p:spPr bwMode="auto">
          <a:xfrm>
            <a:off x="3594767" y="3869514"/>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cxnSp>
        <p:nvCxnSpPr>
          <p:cNvPr id="49" name="直接连接符 48"/>
          <p:cNvCxnSpPr/>
          <p:nvPr/>
        </p:nvCxnSpPr>
        <p:spPr bwMode="auto">
          <a:xfrm>
            <a:off x="6096000" y="1233488"/>
            <a:ext cx="0" cy="5148262"/>
          </a:xfrm>
          <a:prstGeom prst="line">
            <a:avLst/>
          </a:prstGeom>
          <a:solidFill>
            <a:srgbClr val="CCFF99"/>
          </a:solidFill>
          <a:ln w="9525" cap="flat" cmpd="sng" algn="ctr">
            <a:solidFill>
              <a:srgbClr val="000000"/>
            </a:solidFill>
            <a:prstDash val="solid"/>
            <a:round/>
            <a:headEnd type="none" w="med" len="med"/>
            <a:tailEnd type="none" w="med" len="med"/>
          </a:ln>
          <a:effectLst/>
        </p:spPr>
      </p:cxnSp>
      <p:sp>
        <p:nvSpPr>
          <p:cNvPr id="87" name="文本框 86"/>
          <p:cNvSpPr txBox="1"/>
          <p:nvPr/>
        </p:nvSpPr>
        <p:spPr bwMode="auto">
          <a:xfrm>
            <a:off x="4835695" y="1268760"/>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Data write</a:t>
            </a:r>
          </a:p>
        </p:txBody>
      </p:sp>
    </p:spTree>
    <p:extLst>
      <p:ext uri="{BB962C8B-B14F-4D97-AF65-F5344CB8AC3E}">
        <p14:creationId xmlns:p14="http://schemas.microsoft.com/office/powerpoint/2010/main" val="98077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33333E-6 4.81481E-6 L -0.00065 0.23032 " pathEditMode="relative" rAng="0" ptsTypes="AA">
                                      <p:cBhvr>
                                        <p:cTn id="6" dur="2000" fill="hold"/>
                                        <p:tgtEl>
                                          <p:spTgt spid="34"/>
                                        </p:tgtEl>
                                        <p:attrNameLst>
                                          <p:attrName>ppt_x</p:attrName>
                                          <p:attrName>ppt_y</p:attrName>
                                        </p:attrNameLst>
                                      </p:cBhvr>
                                      <p:rCtr x="-39" y="11505"/>
                                    </p:animMotion>
                                  </p:childTnLst>
                                </p:cTn>
                              </p:par>
                            </p:childTnLst>
                          </p:cTn>
                        </p:par>
                        <p:par>
                          <p:cTn id="7" fill="hold">
                            <p:stCondLst>
                              <p:cond delay="2000"/>
                            </p:stCondLst>
                            <p:childTnLst>
                              <p:par>
                                <p:cTn id="8" presetID="1" presetClass="exit" presetSubtype="0" fill="hold" nodeType="afterEffect">
                                  <p:stCondLst>
                                    <p:cond delay="0"/>
                                  </p:stCondLst>
                                  <p:childTnLst>
                                    <p:set>
                                      <p:cBhvr>
                                        <p:cTn id="9" dur="1" fill="hold">
                                          <p:stCondLst>
                                            <p:cond delay="0"/>
                                          </p:stCondLst>
                                        </p:cTn>
                                        <p:tgtEl>
                                          <p:spTgt spid="34"/>
                                        </p:tgtEl>
                                        <p:attrNameLst>
                                          <p:attrName>style.visibility</p:attrName>
                                        </p:attrNameLst>
                                      </p:cBhvr>
                                      <p:to>
                                        <p:strVal val="hidden"/>
                                      </p:to>
                                    </p:set>
                                  </p:childTnLst>
                                </p:cTn>
                              </p:par>
                              <p:par>
                                <p:cTn id="10" presetID="1" presetClass="entr" presetSubtype="0" fill="hold" nodeType="with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2000"/>
                                        <p:tgtEl>
                                          <p:spTgt spid="39"/>
                                        </p:tgtEl>
                                      </p:cBhvr>
                                    </p:animEffect>
                                    <p:set>
                                      <p:cBhvr>
                                        <p:cTn id="16" dur="1" fill="hold">
                                          <p:stCondLst>
                                            <p:cond delay="1999"/>
                                          </p:stCondLst>
                                        </p:cTn>
                                        <p:tgtEl>
                                          <p:spTgt spid="39"/>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2000"/>
                                        <p:tgtEl>
                                          <p:spTgt spid="48"/>
                                        </p:tgtEl>
                                      </p:cBhvr>
                                    </p:animEffect>
                                  </p:childTnLst>
                                </p:cTn>
                              </p:par>
                              <p:par>
                                <p:cTn id="20" presetID="63" presetClass="path" presetSubtype="0" accel="50000" decel="50000" fill="hold" nodeType="withEffect">
                                  <p:stCondLst>
                                    <p:cond delay="0"/>
                                  </p:stCondLst>
                                  <p:childTnLst>
                                    <p:animMotion origin="layout" path="M 0 0 L 0.001361 0.114822 E" pathEditMode="relative" ptsTypes="">
                                      <p:cBhvr>
                                        <p:cTn id="21" dur="2000" fill="hold"/>
                                        <p:tgtEl>
                                          <p:spTgt spid="39"/>
                                        </p:tgtEl>
                                        <p:attrNameLst>
                                          <p:attrName>ppt_x</p:attrName>
                                          <p:attrName>ppt_y</p:attrName>
                                        </p:attrNameLst>
                                      </p:cBhvr>
                                    </p:animMotion>
                                  </p:childTnLst>
                                </p:cTn>
                              </p:par>
                              <p:par>
                                <p:cTn id="22" presetID="63" presetClass="path" presetSubtype="0" accel="50000" decel="50000" fill="hold" nodeType="withEffect">
                                  <p:stCondLst>
                                    <p:cond delay="0"/>
                                  </p:stCondLst>
                                  <p:childTnLst>
                                    <p:animMotion origin="layout" path="M -0.001361 -0.114822 L 0 0 E" pathEditMode="relative" ptsTypes="">
                                      <p:cBhvr>
                                        <p:cTn id="23" dur="2000" fill="hold"/>
                                        <p:tgtEl>
                                          <p:spTgt spid="48"/>
                                        </p:tgtEl>
                                        <p:attrNameLst>
                                          <p:attrName>ppt_x</p:attrName>
                                          <p:attrName>ppt_y</p:attrName>
                                        </p:attrNameLst>
                                      </p:cBhvr>
                                    </p:animMotion>
                                  </p:childTnLst>
                                </p:cTn>
                              </p:par>
                              <p:par>
                                <p:cTn id="24" presetID="6" presetClass="emph" presetSubtype="0" accel="50000" decel="50000" fill="hold" nodeType="withEffect">
                                  <p:stCondLst>
                                    <p:cond delay="0"/>
                                  </p:stCondLst>
                                  <p:childTnLst>
                                    <p:animScale>
                                      <p:cBhvr>
                                        <p:cTn id="25" dur="2000" fill="hold"/>
                                        <p:tgtEl>
                                          <p:spTgt spid="39"/>
                                        </p:tgtEl>
                                      </p:cBhvr>
                                      <p:by x="150000" y="150000"/>
                                      <p:from x="100000" y="100000"/>
                                      <p:to x="292303" y="100000"/>
                                    </p:animScale>
                                  </p:childTnLst>
                                </p:cTn>
                              </p:par>
                              <p:par>
                                <p:cTn id="26" presetID="6" presetClass="emph" presetSubtype="0" accel="50000" decel="50000" fill="hold" nodeType="withEffect">
                                  <p:stCondLst>
                                    <p:cond delay="0"/>
                                  </p:stCondLst>
                                  <p:childTnLst>
                                    <p:animScale>
                                      <p:cBhvr>
                                        <p:cTn id="27" dur="2000" fill="hold"/>
                                        <p:tgtEl>
                                          <p:spTgt spid="48"/>
                                        </p:tgtEl>
                                      </p:cBhvr>
                                      <p:by x="150000" y="150000"/>
                                      <p:from x="34211" y="100000"/>
                                      <p:to x="100000" y="100000"/>
                                    </p:animScale>
                                  </p:childTnLst>
                                </p:cTn>
                              </p:par>
                            </p:childTnLst>
                          </p:cTn>
                        </p:par>
                        <p:par>
                          <p:cTn id="28" fill="hold">
                            <p:stCondLst>
                              <p:cond delay="2000"/>
                            </p:stCondLst>
                            <p:childTnLst>
                              <p:par>
                                <p:cTn id="29" presetID="1" presetClass="exit" presetSubtype="0" fill="hold" nodeType="afterEffect">
                                  <p:stCondLst>
                                    <p:cond delay="0"/>
                                  </p:stCondLst>
                                  <p:childTnLst>
                                    <p:set>
                                      <p:cBhvr>
                                        <p:cTn id="30" dur="1" fill="hold">
                                          <p:stCondLst>
                                            <p:cond delay="0"/>
                                          </p:stCondLst>
                                        </p:cTn>
                                        <p:tgtEl>
                                          <p:spTgt spid="48"/>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1.04167E-6 -3.7037E-7 L -0.01641 0.09792 " pathEditMode="relative" rAng="0" ptsTypes="AA">
                                      <p:cBhvr>
                                        <p:cTn id="40" dur="2000" fill="hold"/>
                                        <p:tgtEl>
                                          <p:spTgt spid="45"/>
                                        </p:tgtEl>
                                        <p:attrNameLst>
                                          <p:attrName>ppt_x</p:attrName>
                                          <p:attrName>ppt_y</p:attrName>
                                        </p:attrNameLst>
                                      </p:cBhvr>
                                      <p:rCtr x="-820" y="4884"/>
                                    </p:animMotion>
                                  </p:childTnLst>
                                </p:cTn>
                              </p:par>
                              <p:par>
                                <p:cTn id="41" presetID="42" presetClass="path" presetSubtype="0" accel="50000" decel="50000" fill="hold" nodeType="withEffect">
                                  <p:stCondLst>
                                    <p:cond delay="0"/>
                                  </p:stCondLst>
                                  <p:childTnLst>
                                    <p:animMotion origin="layout" path="M 1.04167E-6 -3.7037E-7 L -0.01393 0.18194 " pathEditMode="relative" rAng="0" ptsTypes="AA">
                                      <p:cBhvr>
                                        <p:cTn id="42" dur="2000" fill="hold"/>
                                        <p:tgtEl>
                                          <p:spTgt spid="46"/>
                                        </p:tgtEl>
                                        <p:attrNameLst>
                                          <p:attrName>ppt_x</p:attrName>
                                          <p:attrName>ppt_y</p:attrName>
                                        </p:attrNameLst>
                                      </p:cBhvr>
                                      <p:rCtr x="-703" y="9097"/>
                                    </p:animMotion>
                                  </p:childTnLst>
                                </p:cTn>
                              </p:par>
                              <p:par>
                                <p:cTn id="43" presetID="42" presetClass="path" presetSubtype="0" accel="50000" decel="50000" fill="hold" nodeType="withEffect">
                                  <p:stCondLst>
                                    <p:cond delay="0"/>
                                  </p:stCondLst>
                                  <p:childTnLst>
                                    <p:animMotion origin="layout" path="M 3.54167E-6 -3.7037E-7 L -0.01107 0.27107 " pathEditMode="relative" rAng="0" ptsTypes="AA">
                                      <p:cBhvr>
                                        <p:cTn id="44" dur="2000" fill="hold"/>
                                        <p:tgtEl>
                                          <p:spTgt spid="47"/>
                                        </p:tgtEl>
                                        <p:attrNameLst>
                                          <p:attrName>ppt_x</p:attrName>
                                          <p:attrName>ppt_y</p:attrName>
                                        </p:attrNameLst>
                                      </p:cBhvr>
                                      <p:rCtr x="-560" y="13542"/>
                                    </p:animMotion>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wipe(up)">
                                      <p:cBhvr>
                                        <p:cTn id="4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Replication</a:t>
            </a:r>
          </a:p>
        </p:txBody>
      </p:sp>
      <p:sp>
        <p:nvSpPr>
          <p:cNvPr id="5" name="hard-drive_77649"/>
          <p:cNvSpPr>
            <a:spLocks noChangeAspect="1"/>
          </p:cNvSpPr>
          <p:nvPr/>
        </p:nvSpPr>
        <p:spPr bwMode="auto">
          <a:xfrm>
            <a:off x="2633310" y="447395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 name="hard-drive_77649"/>
          <p:cNvSpPr>
            <a:spLocks noChangeAspect="1"/>
          </p:cNvSpPr>
          <p:nvPr/>
        </p:nvSpPr>
        <p:spPr bwMode="auto">
          <a:xfrm>
            <a:off x="2633310" y="5083644"/>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7" name="hard-drive_77649"/>
          <p:cNvSpPr>
            <a:spLocks noChangeAspect="1"/>
          </p:cNvSpPr>
          <p:nvPr/>
        </p:nvSpPr>
        <p:spPr bwMode="auto">
          <a:xfrm>
            <a:off x="2633310" y="569332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8" name="hard-drive_77649"/>
          <p:cNvSpPr>
            <a:spLocks noChangeAspect="1"/>
          </p:cNvSpPr>
          <p:nvPr/>
        </p:nvSpPr>
        <p:spPr bwMode="auto">
          <a:xfrm>
            <a:off x="3034043"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9" name="hard-drive_77649"/>
          <p:cNvSpPr>
            <a:spLocks noChangeAspect="1"/>
          </p:cNvSpPr>
          <p:nvPr/>
        </p:nvSpPr>
        <p:spPr bwMode="auto">
          <a:xfrm>
            <a:off x="3034043"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 name="hard-drive_77649"/>
          <p:cNvSpPr>
            <a:spLocks noChangeAspect="1"/>
          </p:cNvSpPr>
          <p:nvPr/>
        </p:nvSpPr>
        <p:spPr bwMode="auto">
          <a:xfrm>
            <a:off x="3034043"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1" name="hard-drive_77649"/>
          <p:cNvSpPr>
            <a:spLocks noChangeAspect="1"/>
          </p:cNvSpPr>
          <p:nvPr/>
        </p:nvSpPr>
        <p:spPr bwMode="auto">
          <a:xfrm>
            <a:off x="3430087"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2" name="hard-drive_77649"/>
          <p:cNvSpPr>
            <a:spLocks noChangeAspect="1"/>
          </p:cNvSpPr>
          <p:nvPr/>
        </p:nvSpPr>
        <p:spPr bwMode="auto">
          <a:xfrm>
            <a:off x="3430087"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3" name="hard-drive_77649"/>
          <p:cNvSpPr>
            <a:spLocks noChangeAspect="1"/>
          </p:cNvSpPr>
          <p:nvPr/>
        </p:nvSpPr>
        <p:spPr bwMode="auto">
          <a:xfrm>
            <a:off x="3430087"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4" name="hard-drive_77649"/>
          <p:cNvSpPr>
            <a:spLocks noChangeAspect="1"/>
          </p:cNvSpPr>
          <p:nvPr/>
        </p:nvSpPr>
        <p:spPr bwMode="auto">
          <a:xfrm>
            <a:off x="3821442" y="446596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5" name="hard-drive_77649"/>
          <p:cNvSpPr>
            <a:spLocks noChangeAspect="1"/>
          </p:cNvSpPr>
          <p:nvPr/>
        </p:nvSpPr>
        <p:spPr bwMode="auto">
          <a:xfrm>
            <a:off x="3821442" y="5075652"/>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6" name="hard-drive_77649"/>
          <p:cNvSpPr>
            <a:spLocks noChangeAspect="1"/>
          </p:cNvSpPr>
          <p:nvPr/>
        </p:nvSpPr>
        <p:spPr bwMode="auto">
          <a:xfrm>
            <a:off x="3821442" y="5685337"/>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7" name="组合 16"/>
          <p:cNvGrpSpPr/>
          <p:nvPr/>
        </p:nvGrpSpPr>
        <p:grpSpPr>
          <a:xfrm>
            <a:off x="1703512" y="2996952"/>
            <a:ext cx="3059557" cy="654286"/>
            <a:chOff x="4374114" y="4797152"/>
            <a:chExt cx="3059557" cy="654286"/>
          </a:xfrm>
        </p:grpSpPr>
        <p:grpSp>
          <p:nvGrpSpPr>
            <p:cNvPr id="18" name="组合 17"/>
            <p:cNvGrpSpPr/>
            <p:nvPr/>
          </p:nvGrpSpPr>
          <p:grpSpPr>
            <a:xfrm>
              <a:off x="6606362" y="4905164"/>
              <a:ext cx="430713" cy="546273"/>
              <a:chOff x="8407400" y="2055813"/>
              <a:chExt cx="360363" cy="458788"/>
            </a:xfrm>
            <a:solidFill>
              <a:srgbClr val="3ABABA"/>
            </a:solidFill>
          </p:grpSpPr>
          <p:sp>
            <p:nvSpPr>
              <p:cNvPr id="30"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1"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2"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3"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9" name="组合 18"/>
            <p:cNvGrpSpPr/>
            <p:nvPr/>
          </p:nvGrpSpPr>
          <p:grpSpPr>
            <a:xfrm>
              <a:off x="5976176" y="4905165"/>
              <a:ext cx="430713" cy="546273"/>
              <a:chOff x="8407400" y="2055813"/>
              <a:chExt cx="360363" cy="458788"/>
            </a:xfrm>
            <a:solidFill>
              <a:srgbClr val="3ABABA"/>
            </a:solidFill>
          </p:grpSpPr>
          <p:sp>
            <p:nvSpPr>
              <p:cNvPr id="26"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7"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8"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9"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20" name="组合 19"/>
            <p:cNvGrpSpPr/>
            <p:nvPr/>
          </p:nvGrpSpPr>
          <p:grpSpPr>
            <a:xfrm>
              <a:off x="5347557" y="4905165"/>
              <a:ext cx="430713" cy="546273"/>
              <a:chOff x="8407400" y="2055813"/>
              <a:chExt cx="360363" cy="458788"/>
            </a:xfrm>
            <a:solidFill>
              <a:srgbClr val="3ABABA"/>
            </a:solidFill>
          </p:grpSpPr>
          <p:sp>
            <p:nvSpPr>
              <p:cNvPr id="2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21" name="圆角矩形 20"/>
            <p:cNvSpPr/>
            <p:nvPr/>
          </p:nvSpPr>
          <p:spPr bwMode="auto">
            <a:xfrm>
              <a:off x="4374114" y="4797152"/>
              <a:ext cx="3059557"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Distributed</a:t>
              </a:r>
            </a:p>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Storage Pool</a:t>
              </a:r>
            </a:p>
          </p:txBody>
        </p:sp>
      </p:grpSp>
      <p:sp>
        <p:nvSpPr>
          <p:cNvPr id="34" name="files_221427"/>
          <p:cNvSpPr>
            <a:spLocks noChangeAspect="1"/>
          </p:cNvSpPr>
          <p:nvPr/>
        </p:nvSpPr>
        <p:spPr bwMode="auto">
          <a:xfrm>
            <a:off x="3215681" y="1484784"/>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39" name="files_221427"/>
          <p:cNvSpPr>
            <a:spLocks noChangeAspect="1"/>
          </p:cNvSpPr>
          <p:nvPr/>
        </p:nvSpPr>
        <p:spPr bwMode="auto">
          <a:xfrm>
            <a:off x="3215681" y="3080061"/>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45" name="files_221427"/>
          <p:cNvSpPr>
            <a:spLocks noChangeAspect="1"/>
          </p:cNvSpPr>
          <p:nvPr/>
        </p:nvSpPr>
        <p:spPr bwMode="auto">
          <a:xfrm>
            <a:off x="2675620" y="4554823"/>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46" name="files_221427"/>
          <p:cNvSpPr>
            <a:spLocks noChangeAspect="1"/>
          </p:cNvSpPr>
          <p:nvPr/>
        </p:nvSpPr>
        <p:spPr bwMode="auto">
          <a:xfrm>
            <a:off x="3071664" y="5154279"/>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47" name="files_221427"/>
          <p:cNvSpPr>
            <a:spLocks noChangeAspect="1"/>
          </p:cNvSpPr>
          <p:nvPr/>
        </p:nvSpPr>
        <p:spPr bwMode="auto">
          <a:xfrm>
            <a:off x="3467708" y="5749261"/>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cxnSp>
        <p:nvCxnSpPr>
          <p:cNvPr id="49" name="直接连接符 48"/>
          <p:cNvCxnSpPr/>
          <p:nvPr/>
        </p:nvCxnSpPr>
        <p:spPr bwMode="auto">
          <a:xfrm>
            <a:off x="6096000" y="1233488"/>
            <a:ext cx="0" cy="5148262"/>
          </a:xfrm>
          <a:prstGeom prst="line">
            <a:avLst/>
          </a:prstGeom>
          <a:solidFill>
            <a:srgbClr val="CCFF99"/>
          </a:solidFill>
          <a:ln w="9525" cap="flat" cmpd="sng" algn="ctr">
            <a:solidFill>
              <a:srgbClr val="000000"/>
            </a:solidFill>
            <a:prstDash val="solid"/>
            <a:round/>
            <a:headEnd type="none" w="med" len="med"/>
            <a:tailEnd type="none" w="med" len="med"/>
          </a:ln>
          <a:effectLst/>
        </p:spPr>
      </p:cxnSp>
      <p:sp>
        <p:nvSpPr>
          <p:cNvPr id="50" name="hard-drive_77649"/>
          <p:cNvSpPr>
            <a:spLocks noChangeAspect="1"/>
          </p:cNvSpPr>
          <p:nvPr/>
        </p:nvSpPr>
        <p:spPr bwMode="auto">
          <a:xfrm>
            <a:off x="8116913" y="4480265"/>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1" name="hard-drive_77649"/>
          <p:cNvSpPr>
            <a:spLocks noChangeAspect="1"/>
          </p:cNvSpPr>
          <p:nvPr/>
        </p:nvSpPr>
        <p:spPr bwMode="auto">
          <a:xfrm>
            <a:off x="8116913" y="5089950"/>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2" name="hard-drive_77649"/>
          <p:cNvSpPr>
            <a:spLocks noChangeAspect="1"/>
          </p:cNvSpPr>
          <p:nvPr/>
        </p:nvSpPr>
        <p:spPr bwMode="auto">
          <a:xfrm>
            <a:off x="8116913" y="5699635"/>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3" name="hard-drive_77649"/>
          <p:cNvSpPr>
            <a:spLocks noChangeAspect="1"/>
          </p:cNvSpPr>
          <p:nvPr/>
        </p:nvSpPr>
        <p:spPr bwMode="auto">
          <a:xfrm>
            <a:off x="8517646" y="447227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4" name="hard-drive_77649"/>
          <p:cNvSpPr>
            <a:spLocks noChangeAspect="1"/>
          </p:cNvSpPr>
          <p:nvPr/>
        </p:nvSpPr>
        <p:spPr bwMode="auto">
          <a:xfrm>
            <a:off x="8517646" y="508195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5" name="hard-drive_77649"/>
          <p:cNvSpPr>
            <a:spLocks noChangeAspect="1"/>
          </p:cNvSpPr>
          <p:nvPr/>
        </p:nvSpPr>
        <p:spPr bwMode="auto">
          <a:xfrm>
            <a:off x="8517646" y="569164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6" name="hard-drive_77649"/>
          <p:cNvSpPr>
            <a:spLocks noChangeAspect="1"/>
          </p:cNvSpPr>
          <p:nvPr/>
        </p:nvSpPr>
        <p:spPr bwMode="auto">
          <a:xfrm>
            <a:off x="8913690" y="447227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7" name="hard-drive_77649"/>
          <p:cNvSpPr>
            <a:spLocks noChangeAspect="1"/>
          </p:cNvSpPr>
          <p:nvPr/>
        </p:nvSpPr>
        <p:spPr bwMode="auto">
          <a:xfrm>
            <a:off x="8913690" y="508195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8" name="hard-drive_77649"/>
          <p:cNvSpPr>
            <a:spLocks noChangeAspect="1"/>
          </p:cNvSpPr>
          <p:nvPr/>
        </p:nvSpPr>
        <p:spPr bwMode="auto">
          <a:xfrm>
            <a:off x="8913690" y="569164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59" name="hard-drive_77649"/>
          <p:cNvSpPr>
            <a:spLocks noChangeAspect="1"/>
          </p:cNvSpPr>
          <p:nvPr/>
        </p:nvSpPr>
        <p:spPr bwMode="auto">
          <a:xfrm>
            <a:off x="9305045" y="447227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0" name="hard-drive_77649"/>
          <p:cNvSpPr>
            <a:spLocks noChangeAspect="1"/>
          </p:cNvSpPr>
          <p:nvPr/>
        </p:nvSpPr>
        <p:spPr bwMode="auto">
          <a:xfrm>
            <a:off x="9305045" y="5081958"/>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1" name="hard-drive_77649"/>
          <p:cNvSpPr>
            <a:spLocks noChangeAspect="1"/>
          </p:cNvSpPr>
          <p:nvPr/>
        </p:nvSpPr>
        <p:spPr bwMode="auto">
          <a:xfrm>
            <a:off x="9305045" y="5691643"/>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66" name="files_221427"/>
          <p:cNvSpPr>
            <a:spLocks noChangeAspect="1"/>
          </p:cNvSpPr>
          <p:nvPr/>
        </p:nvSpPr>
        <p:spPr bwMode="auto">
          <a:xfrm>
            <a:off x="8148228" y="4571909"/>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67" name="files_221427"/>
          <p:cNvSpPr>
            <a:spLocks noChangeAspect="1"/>
          </p:cNvSpPr>
          <p:nvPr/>
        </p:nvSpPr>
        <p:spPr bwMode="auto">
          <a:xfrm>
            <a:off x="8546233" y="5166891"/>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68" name="files_221427"/>
          <p:cNvSpPr>
            <a:spLocks noChangeAspect="1"/>
          </p:cNvSpPr>
          <p:nvPr/>
        </p:nvSpPr>
        <p:spPr bwMode="auto">
          <a:xfrm>
            <a:off x="8940316" y="5747429"/>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grpSp>
        <p:nvGrpSpPr>
          <p:cNvPr id="69" name="组合 68"/>
          <p:cNvGrpSpPr/>
          <p:nvPr/>
        </p:nvGrpSpPr>
        <p:grpSpPr>
          <a:xfrm>
            <a:off x="7266391" y="2996952"/>
            <a:ext cx="3114085" cy="654286"/>
            <a:chOff x="4319586" y="4797152"/>
            <a:chExt cx="3114085" cy="654286"/>
          </a:xfrm>
        </p:grpSpPr>
        <p:grpSp>
          <p:nvGrpSpPr>
            <p:cNvPr id="70" name="组合 69"/>
            <p:cNvGrpSpPr/>
            <p:nvPr/>
          </p:nvGrpSpPr>
          <p:grpSpPr>
            <a:xfrm>
              <a:off x="6606362" y="4905164"/>
              <a:ext cx="430713" cy="546273"/>
              <a:chOff x="8407400" y="2055813"/>
              <a:chExt cx="360363" cy="458788"/>
            </a:xfrm>
            <a:solidFill>
              <a:srgbClr val="3ABABA"/>
            </a:solidFill>
          </p:grpSpPr>
          <p:sp>
            <p:nvSpPr>
              <p:cNvPr id="8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71" name="组合 70"/>
            <p:cNvGrpSpPr/>
            <p:nvPr/>
          </p:nvGrpSpPr>
          <p:grpSpPr>
            <a:xfrm>
              <a:off x="5976176" y="4905165"/>
              <a:ext cx="430713" cy="546273"/>
              <a:chOff x="8407400" y="2055813"/>
              <a:chExt cx="360363" cy="458788"/>
            </a:xfrm>
            <a:solidFill>
              <a:srgbClr val="3ABABA"/>
            </a:solidFill>
          </p:grpSpPr>
          <p:sp>
            <p:nvSpPr>
              <p:cNvPr id="78"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9"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0"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1"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72" name="组合 71"/>
            <p:cNvGrpSpPr/>
            <p:nvPr/>
          </p:nvGrpSpPr>
          <p:grpSpPr>
            <a:xfrm>
              <a:off x="5347557" y="4905165"/>
              <a:ext cx="430713" cy="546273"/>
              <a:chOff x="8407400" y="2055813"/>
              <a:chExt cx="360363" cy="458788"/>
            </a:xfrm>
            <a:solidFill>
              <a:srgbClr val="3ABABA"/>
            </a:solidFill>
          </p:grpSpPr>
          <p:sp>
            <p:nvSpPr>
              <p:cNvPr id="74"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5"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6"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77"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73" name="圆角矩形 72"/>
            <p:cNvSpPr/>
            <p:nvPr/>
          </p:nvSpPr>
          <p:spPr bwMode="auto">
            <a:xfrm>
              <a:off x="4319586" y="4797152"/>
              <a:ext cx="3114085"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Distributed</a:t>
              </a:r>
            </a:p>
            <a:p>
              <a:pPr marL="0" marR="0" indent="0"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Storage Pool</a:t>
              </a:r>
            </a:p>
          </p:txBody>
        </p:sp>
      </p:grpSp>
      <p:sp>
        <p:nvSpPr>
          <p:cNvPr id="86" name="files_221427"/>
          <p:cNvSpPr>
            <a:spLocks noChangeAspect="1"/>
          </p:cNvSpPr>
          <p:nvPr/>
        </p:nvSpPr>
        <p:spPr bwMode="auto">
          <a:xfrm>
            <a:off x="8833088" y="3080061"/>
            <a:ext cx="376997" cy="513275"/>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chemeClr val="tx1"/>
          </a:solidFill>
          <a:ln>
            <a:noFill/>
          </a:ln>
        </p:spPr>
        <p:txBody>
          <a:bodyPr/>
          <a:lstStyle/>
          <a:p>
            <a:endParaRPr lang="zh-CN" altLang="en-US">
              <a:latin typeface="Arial" panose="020B0604020202020204" pitchFamily="34" charset="0"/>
            </a:endParaRPr>
          </a:p>
        </p:txBody>
      </p:sp>
      <p:sp>
        <p:nvSpPr>
          <p:cNvPr id="87" name="文本框 86"/>
          <p:cNvSpPr txBox="1"/>
          <p:nvPr/>
        </p:nvSpPr>
        <p:spPr bwMode="auto">
          <a:xfrm>
            <a:off x="4835695" y="1268760"/>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Data write</a:t>
            </a:r>
          </a:p>
        </p:txBody>
      </p:sp>
      <p:sp>
        <p:nvSpPr>
          <p:cNvPr id="88" name="文本框 87"/>
          <p:cNvSpPr txBox="1"/>
          <p:nvPr/>
        </p:nvSpPr>
        <p:spPr bwMode="auto">
          <a:xfrm>
            <a:off x="6096000" y="1268760"/>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Data read</a:t>
            </a:r>
          </a:p>
        </p:txBody>
      </p:sp>
    </p:spTree>
    <p:extLst>
      <p:ext uri="{BB962C8B-B14F-4D97-AF65-F5344CB8AC3E}">
        <p14:creationId xmlns:p14="http://schemas.microsoft.com/office/powerpoint/2010/main" val="2454981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95833E-6 4.81481E-6 L 0.05547 -0.21968 " pathEditMode="relative" rAng="0" ptsTypes="AA">
                                      <p:cBhvr>
                                        <p:cTn id="6" dur="2000" fill="hold"/>
                                        <p:tgtEl>
                                          <p:spTgt spid="66"/>
                                        </p:tgtEl>
                                        <p:attrNameLst>
                                          <p:attrName>ppt_x</p:attrName>
                                          <p:attrName>ppt_y</p:attrName>
                                        </p:attrNameLst>
                                      </p:cBhvr>
                                      <p:rCtr x="2773" y="-10995"/>
                                    </p:animMotion>
                                  </p:childTnLst>
                                  <p:subTnLst>
                                    <p:set>
                                      <p:cBhvr override="childStyle">
                                        <p:cTn dur="1" fill="hold" display="0" masterRel="sameClick" afterEffect="1">
                                          <p:stCondLst>
                                            <p:cond evt="end" delay="0">
                                              <p:tn val="5"/>
                                            </p:cond>
                                          </p:stCondLst>
                                        </p:cTn>
                                        <p:tgtEl>
                                          <p:spTgt spid="66"/>
                                        </p:tgtEl>
                                        <p:attrNameLst>
                                          <p:attrName>style.visibility</p:attrName>
                                        </p:attrNameLst>
                                      </p:cBhvr>
                                      <p:to>
                                        <p:strVal val="hidden"/>
                                      </p:to>
                                    </p:set>
                                  </p:subTnLst>
                                </p:cTn>
                              </p:par>
                            </p:childTnLst>
                          </p:cTn>
                        </p:par>
                        <p:par>
                          <p:cTn id="7" fill="hold">
                            <p:stCondLst>
                              <p:cond delay="2000"/>
                            </p:stCondLst>
                            <p:childTnLst>
                              <p:par>
                                <p:cTn id="8" presetID="1" presetClass="entr" presetSubtype="0" fill="hold" nodeType="afterEffect">
                                  <p:stCondLst>
                                    <p:cond delay="0"/>
                                  </p:stCondLst>
                                  <p:childTnLst>
                                    <p:set>
                                      <p:cBhvr>
                                        <p:cTn id="9" dur="1" fill="hold">
                                          <p:stCondLst>
                                            <p:cond delay="0"/>
                                          </p:stCondLst>
                                        </p:cTn>
                                        <p:tgtEl>
                                          <p:spTgt spid="8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nodeType="clickEffect">
                                  <p:stCondLst>
                                    <p:cond delay="0"/>
                                  </p:stCondLst>
                                  <p:childTnLst>
                                    <p:animMotion origin="layout" path="M -3.95833E-6 -4.07407E-6 L 0.00222 -0.23865 " pathEditMode="relative" rAng="0" ptsTypes="AA">
                                      <p:cBhvr>
                                        <p:cTn id="13" dur="2000" fill="hold"/>
                                        <p:tgtEl>
                                          <p:spTgt spid="86"/>
                                        </p:tgtEl>
                                        <p:attrNameLst>
                                          <p:attrName>ppt_x</p:attrName>
                                          <p:attrName>ppt_y</p:attrName>
                                        </p:attrNameLst>
                                      </p:cBhvr>
                                      <p:rCtr x="104" y="-1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latin typeface="Arial" panose="020B0604020202020204" pitchFamily="34" charset="0"/>
              </a:rPr>
              <a:t>Popular Distributed </a:t>
            </a:r>
            <a:r>
              <a:rPr lang="en-US" dirty="0">
                <a:latin typeface="Arial" panose="020B0604020202020204" pitchFamily="34" charset="0"/>
              </a:rPr>
              <a:t>Storage Products</a:t>
            </a:r>
          </a:p>
        </p:txBody>
      </p:sp>
      <p:pic>
        <p:nvPicPr>
          <p:cNvPr id="1026" name="Picture 2" descr="https://timgsa.baidu.com/timg?image&amp;quality=80&amp;size=b9999_10000&amp;sec=1553571569074&amp;di=3015f688a5542823e40862ce6daf3ea5&amp;imgtype=0&amp;src=http%3A%2F%2Fdn-linuxcn.qbox.me%2Fdata%2Fattachment%2Falbum%2F201508%2F01%2F133237fi1k0lhhlcmkkp1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620" y="1628800"/>
            <a:ext cx="1778000" cy="17780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3"/>
          <a:stretch>
            <a:fillRect/>
          </a:stretch>
        </p:blipFill>
        <p:spPr>
          <a:xfrm>
            <a:off x="7392144" y="1880828"/>
            <a:ext cx="2562225" cy="1162050"/>
          </a:xfrm>
          <a:prstGeom prst="rect">
            <a:avLst/>
          </a:prstGeom>
        </p:spPr>
      </p:pic>
      <p:pic>
        <p:nvPicPr>
          <p:cNvPr id="6" name="图片 5"/>
          <p:cNvPicPr>
            <a:picLocks noChangeAspect="1"/>
          </p:cNvPicPr>
          <p:nvPr/>
        </p:nvPicPr>
        <p:blipFill>
          <a:blip r:embed="rId4"/>
          <a:stretch>
            <a:fillRect/>
          </a:stretch>
        </p:blipFill>
        <p:spPr>
          <a:xfrm>
            <a:off x="2891644" y="4221088"/>
            <a:ext cx="1343025" cy="1937385"/>
          </a:xfrm>
          <a:prstGeom prst="rect">
            <a:avLst/>
          </a:prstGeom>
        </p:spPr>
      </p:pic>
      <p:pic>
        <p:nvPicPr>
          <p:cNvPr id="1032" name="Picture 8" descr="Miguel-Angel-Alonso-blog-virtualizacion-horizon-view Por fin!!! envio de mail desde vSphere con autenticaciÃ³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8168" y="404106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9999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latin typeface="Arial" panose="020B0604020202020204" pitchFamily="34" charset="0"/>
              </a:rPr>
              <a:t>Storage Architecture for Virtualization</a:t>
            </a:r>
          </a:p>
          <a:p>
            <a:r>
              <a:rPr lang="en-US" dirty="0">
                <a:solidFill>
                  <a:schemeClr val="bg1">
                    <a:lumMod val="50000"/>
                  </a:schemeClr>
                </a:solidFill>
                <a:latin typeface="Arial" panose="020B0604020202020204" pitchFamily="34" charset="0"/>
              </a:rPr>
              <a:t>Physical Disk Types and Related Techniques</a:t>
            </a:r>
          </a:p>
          <a:p>
            <a:r>
              <a:rPr lang="en-US" dirty="0">
                <a:solidFill>
                  <a:schemeClr val="bg1">
                    <a:lumMod val="50000"/>
                  </a:schemeClr>
                </a:solidFill>
                <a:latin typeface="Arial" panose="020B0604020202020204" pitchFamily="34" charset="0"/>
              </a:rPr>
              <a:t>Centralized Storage vs. Distributed Storage</a:t>
            </a:r>
          </a:p>
          <a:p>
            <a:r>
              <a:rPr lang="en-US" b="1" dirty="0">
                <a:latin typeface="Arial" panose="020B0604020202020204" pitchFamily="34" charset="0"/>
              </a:rPr>
              <a:t>Virtualized Storage vs. Non-Virtualized Storage</a:t>
            </a:r>
          </a:p>
          <a:p>
            <a:r>
              <a:rPr lang="en-US" dirty="0">
                <a:solidFill>
                  <a:schemeClr val="bg1">
                    <a:lumMod val="50000"/>
                  </a:schemeClr>
                </a:solidFill>
                <a:latin typeface="Arial" panose="020B0604020202020204" pitchFamily="34" charset="0"/>
              </a:rPr>
              <a:t>Introduction to VM Disks</a:t>
            </a:r>
          </a:p>
          <a:p>
            <a:r>
              <a:rPr lang="en-US" dirty="0">
                <a:solidFill>
                  <a:schemeClr val="bg1">
                    <a:lumMod val="50000"/>
                  </a:schemeClr>
                </a:solidFill>
                <a:latin typeface="Arial" panose="020B0604020202020204" pitchFamily="34" charset="0"/>
              </a:rPr>
              <a:t>Storage Features of Huawei’s Virtualization Product</a:t>
            </a:r>
          </a:p>
        </p:txBody>
      </p:sp>
    </p:spTree>
    <p:extLst>
      <p:ext uri="{BB962C8B-B14F-4D97-AF65-F5344CB8AC3E}">
        <p14:creationId xmlns:p14="http://schemas.microsoft.com/office/powerpoint/2010/main" val="13902393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4800" y="188640"/>
            <a:ext cx="9831600" cy="640800"/>
          </a:xfrm>
        </p:spPr>
        <p:txBody>
          <a:bodyPr/>
          <a:lstStyle/>
          <a:p>
            <a:r>
              <a:rPr lang="en-US" dirty="0">
                <a:latin typeface="Arial" panose="020B0604020202020204" pitchFamily="34" charset="0"/>
              </a:rPr>
              <a:t>Virtualized Storage Conversion Path in Cloud Computing</a:t>
            </a:r>
          </a:p>
        </p:txBody>
      </p:sp>
      <p:grpSp>
        <p:nvGrpSpPr>
          <p:cNvPr id="22" name="组合 21"/>
          <p:cNvGrpSpPr/>
          <p:nvPr/>
        </p:nvGrpSpPr>
        <p:grpSpPr>
          <a:xfrm>
            <a:off x="1741805" y="5735639"/>
            <a:ext cx="4097478" cy="609685"/>
            <a:chOff x="1741805" y="5735639"/>
            <a:chExt cx="4097478" cy="609685"/>
          </a:xfrm>
        </p:grpSpPr>
        <p:sp>
          <p:nvSpPr>
            <p:cNvPr id="3"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4"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grpSp>
        <p:nvGrpSpPr>
          <p:cNvPr id="23" name="组合 22"/>
          <p:cNvGrpSpPr/>
          <p:nvPr/>
        </p:nvGrpSpPr>
        <p:grpSpPr>
          <a:xfrm>
            <a:off x="2169164" y="4473116"/>
            <a:ext cx="2882720" cy="654286"/>
            <a:chOff x="2169164" y="4473116"/>
            <a:chExt cx="2882720" cy="654286"/>
          </a:xfrm>
        </p:grpSpPr>
        <p:grpSp>
          <p:nvGrpSpPr>
            <p:cNvPr id="6" name="组合 5"/>
            <p:cNvGrpSpPr/>
            <p:nvPr/>
          </p:nvGrpSpPr>
          <p:grpSpPr>
            <a:xfrm>
              <a:off x="4295800" y="4581128"/>
              <a:ext cx="430713" cy="546273"/>
              <a:chOff x="8407400" y="2055813"/>
              <a:chExt cx="360363" cy="458788"/>
            </a:xfrm>
            <a:solidFill>
              <a:srgbClr val="3ABABA"/>
            </a:solidFill>
          </p:grpSpPr>
          <p:sp>
            <p:nvSpPr>
              <p:cNvPr id="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1" name="组合 10"/>
            <p:cNvGrpSpPr/>
            <p:nvPr/>
          </p:nvGrpSpPr>
          <p:grpSpPr>
            <a:xfrm>
              <a:off x="3594389" y="4581129"/>
              <a:ext cx="430713" cy="546273"/>
              <a:chOff x="8407400" y="2055813"/>
              <a:chExt cx="360363" cy="458788"/>
            </a:xfrm>
            <a:solidFill>
              <a:srgbClr val="3ABABA"/>
            </a:solidFill>
          </p:grpSpPr>
          <p:sp>
            <p:nvSpPr>
              <p:cNvPr id="12"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6" name="组合 15"/>
            <p:cNvGrpSpPr/>
            <p:nvPr/>
          </p:nvGrpSpPr>
          <p:grpSpPr>
            <a:xfrm>
              <a:off x="2892979" y="4581129"/>
              <a:ext cx="430713" cy="546273"/>
              <a:chOff x="8407400" y="2055813"/>
              <a:chExt cx="360363" cy="458788"/>
            </a:xfrm>
            <a:solidFill>
              <a:srgbClr val="3ABABA"/>
            </a:solidFill>
          </p:grpSpPr>
          <p:sp>
            <p:nvSpPr>
              <p:cNvPr id="1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21" name="圆角矩形 20"/>
            <p:cNvSpPr/>
            <p:nvPr/>
          </p:nvSpPr>
          <p:spPr bwMode="auto">
            <a:xfrm>
              <a:off x="2169164"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latin typeface="Arial" panose="020B0604020202020204" pitchFamily="34" charset="0"/>
                  <a:ea typeface="+mn-ea"/>
                  <a:cs typeface="+mn-ea"/>
                  <a:sym typeface="+mn-lt"/>
                </a:rPr>
                <a:t>Physical</a:t>
              </a:r>
            </a:p>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volume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grpSp>
      <p:sp>
        <p:nvSpPr>
          <p:cNvPr id="24" name="文本框 23"/>
          <p:cNvSpPr txBox="1"/>
          <p:nvPr/>
        </p:nvSpPr>
        <p:spPr bwMode="auto">
          <a:xfrm>
            <a:off x="2603612" y="5877272"/>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RAID or </a:t>
            </a:r>
            <a:r>
              <a:rPr lang="en-US" sz="1400" dirty="0" smtClean="0">
                <a:latin typeface="Arial" panose="020B0604020202020204" pitchFamily="34" charset="0"/>
                <a:ea typeface="+mn-ea"/>
                <a:cs typeface="Arial" pitchFamily="34" charset="0"/>
              </a:rPr>
              <a:t>Replication</a:t>
            </a:r>
            <a:endParaRPr lang="en-US" sz="1400" dirty="0">
              <a:latin typeface="Arial" panose="020B0604020202020204" pitchFamily="34" charset="0"/>
              <a:ea typeface="+mn-ea"/>
              <a:cs typeface="Arial" pitchFamily="34" charset="0"/>
            </a:endParaRPr>
          </a:p>
        </p:txBody>
      </p:sp>
      <p:grpSp>
        <p:nvGrpSpPr>
          <p:cNvPr id="26" name="组合 25"/>
          <p:cNvGrpSpPr/>
          <p:nvPr/>
        </p:nvGrpSpPr>
        <p:grpSpPr>
          <a:xfrm>
            <a:off x="2169164" y="4473116"/>
            <a:ext cx="2882720" cy="654286"/>
            <a:chOff x="2169164" y="4473116"/>
            <a:chExt cx="2882720" cy="654286"/>
          </a:xfrm>
        </p:grpSpPr>
        <p:grpSp>
          <p:nvGrpSpPr>
            <p:cNvPr id="27" name="组合 26"/>
            <p:cNvGrpSpPr/>
            <p:nvPr/>
          </p:nvGrpSpPr>
          <p:grpSpPr>
            <a:xfrm>
              <a:off x="4295800" y="4581128"/>
              <a:ext cx="430713" cy="546273"/>
              <a:chOff x="8407400" y="2055813"/>
              <a:chExt cx="360363" cy="458788"/>
            </a:xfrm>
            <a:solidFill>
              <a:srgbClr val="3ABABA"/>
            </a:solidFill>
          </p:grpSpPr>
          <p:sp>
            <p:nvSpPr>
              <p:cNvPr id="39"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0"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1"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42"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28" name="组合 27"/>
            <p:cNvGrpSpPr/>
            <p:nvPr/>
          </p:nvGrpSpPr>
          <p:grpSpPr>
            <a:xfrm>
              <a:off x="3594389" y="4581129"/>
              <a:ext cx="430713" cy="546273"/>
              <a:chOff x="8407400" y="2055813"/>
              <a:chExt cx="360363" cy="458788"/>
            </a:xfrm>
            <a:solidFill>
              <a:srgbClr val="3ABABA"/>
            </a:solidFill>
          </p:grpSpPr>
          <p:sp>
            <p:nvSpPr>
              <p:cNvPr id="35"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29" name="组合 28"/>
            <p:cNvGrpSpPr/>
            <p:nvPr/>
          </p:nvGrpSpPr>
          <p:grpSpPr>
            <a:xfrm>
              <a:off x="2892979" y="4581129"/>
              <a:ext cx="430713" cy="546273"/>
              <a:chOff x="8407400" y="2055813"/>
              <a:chExt cx="360363" cy="458788"/>
            </a:xfrm>
            <a:solidFill>
              <a:srgbClr val="3ABABA"/>
            </a:solidFill>
          </p:grpSpPr>
          <p:sp>
            <p:nvSpPr>
              <p:cNvPr id="31"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2"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3"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34"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30" name="圆角矩形 29"/>
            <p:cNvSpPr/>
            <p:nvPr/>
          </p:nvSpPr>
          <p:spPr bwMode="auto">
            <a:xfrm>
              <a:off x="2169164"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Physical</a:t>
              </a:r>
            </a:p>
            <a:p>
              <a:pPr marL="0" marR="0" indent="0" algn="l"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volume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grpSp>
      <p:sp>
        <p:nvSpPr>
          <p:cNvPr id="25" name="文本框 24"/>
          <p:cNvSpPr txBox="1"/>
          <p:nvPr/>
        </p:nvSpPr>
        <p:spPr bwMode="auto">
          <a:xfrm>
            <a:off x="2603612" y="4732788"/>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Logical division</a:t>
            </a:r>
          </a:p>
        </p:txBody>
      </p:sp>
      <p:grpSp>
        <p:nvGrpSpPr>
          <p:cNvPr id="47" name="组合 46"/>
          <p:cNvGrpSpPr/>
          <p:nvPr/>
        </p:nvGrpSpPr>
        <p:grpSpPr>
          <a:xfrm>
            <a:off x="2169164" y="3392302"/>
            <a:ext cx="2882720" cy="648072"/>
            <a:chOff x="2169164" y="3392302"/>
            <a:chExt cx="2882720" cy="648072"/>
          </a:xfrm>
        </p:grpSpPr>
        <p:sp>
          <p:nvSpPr>
            <p:cNvPr id="43" name="圆角矩形 42"/>
            <p:cNvSpPr/>
            <p:nvPr/>
          </p:nvSpPr>
          <p:spPr bwMode="auto">
            <a:xfrm>
              <a:off x="2169164" y="3392302"/>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latin typeface="Arial" panose="020B0604020202020204" pitchFamily="34" charset="0"/>
                  <a:ea typeface="+mn-ea"/>
                  <a:cs typeface="+mn-ea"/>
                  <a:sym typeface="+mn-lt"/>
                </a:rPr>
                <a:t>Logical</a:t>
              </a:r>
            </a:p>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volume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sp>
          <p:nvSpPr>
            <p:cNvPr id="44" name="disc_30226"/>
            <p:cNvSpPr>
              <a:spLocks noChangeAspect="1"/>
            </p:cNvSpPr>
            <p:nvPr/>
          </p:nvSpPr>
          <p:spPr bwMode="auto">
            <a:xfrm>
              <a:off x="3006726"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5" name="disc_30226"/>
            <p:cNvSpPr>
              <a:spLocks noChangeAspect="1"/>
            </p:cNvSpPr>
            <p:nvPr/>
          </p:nvSpPr>
          <p:spPr bwMode="auto">
            <a:xfrm>
              <a:off x="3786715" y="3546365"/>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6" name="disc_30226"/>
            <p:cNvSpPr>
              <a:spLocks noChangeAspect="1"/>
            </p:cNvSpPr>
            <p:nvPr/>
          </p:nvSpPr>
          <p:spPr bwMode="auto">
            <a:xfrm>
              <a:off x="4566704"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grpSp>
      <p:sp>
        <p:nvSpPr>
          <p:cNvPr id="48" name="文本框 47"/>
          <p:cNvSpPr txBox="1"/>
          <p:nvPr/>
        </p:nvSpPr>
        <p:spPr bwMode="auto">
          <a:xfrm>
            <a:off x="2549605" y="4696784"/>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Format</a:t>
            </a:r>
          </a:p>
        </p:txBody>
      </p:sp>
      <p:grpSp>
        <p:nvGrpSpPr>
          <p:cNvPr id="53" name="组合 52"/>
          <p:cNvGrpSpPr/>
          <p:nvPr/>
        </p:nvGrpSpPr>
        <p:grpSpPr>
          <a:xfrm>
            <a:off x="6096000" y="4473116"/>
            <a:ext cx="2484276" cy="648072"/>
            <a:chOff x="6096000" y="4473116"/>
            <a:chExt cx="2484276" cy="648072"/>
          </a:xfrm>
        </p:grpSpPr>
        <p:sp>
          <p:nvSpPr>
            <p:cNvPr id="49" name="圆角矩形 48"/>
            <p:cNvSpPr/>
            <p:nvPr/>
          </p:nvSpPr>
          <p:spPr bwMode="auto">
            <a:xfrm>
              <a:off x="6096000" y="4473116"/>
              <a:ext cx="2484276"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36000" tIns="45720" rIns="91440" bIns="45720" numCol="1" rtlCol="0" anchor="ctr"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NFS file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a:p>
              <a:pPr marL="0" marR="0" indent="0" algn="l" defTabSz="914400" rtl="0" eaLnBrk="1" fontAlgn="t" latinLnBrk="0" hangingPunct="1">
                <a:lnSpc>
                  <a:spcPct val="100000"/>
                </a:lnSpc>
                <a:spcBef>
                  <a:spcPct val="0"/>
                </a:spcBef>
                <a:spcAft>
                  <a:spcPct val="0"/>
                </a:spcAft>
                <a:buClrTx/>
                <a:buSzTx/>
                <a:buFontTx/>
                <a:buNone/>
                <a:tabLst/>
              </a:pPr>
              <a:r>
                <a:rPr lang="en-US" sz="1100" dirty="0">
                  <a:latin typeface="Arial" panose="020B0604020202020204" pitchFamily="34" charset="0"/>
                  <a:ea typeface="+mn-ea"/>
                  <a:cs typeface="+mn-ea"/>
                  <a:sym typeface="+mn-lt"/>
                </a:rPr>
                <a:t>s</a:t>
              </a:r>
              <a:r>
                <a:rPr lang="en-US" sz="1100" dirty="0" smtClean="0">
                  <a:latin typeface="Arial" panose="020B0604020202020204" pitchFamily="34" charset="0"/>
                  <a:ea typeface="+mn-ea"/>
                  <a:cs typeface="+mn-ea"/>
                  <a:sym typeface="+mn-lt"/>
                </a:rPr>
                <a:t>ystem</a:t>
              </a:r>
              <a:endParaRPr lang="en-US" sz="1100" dirty="0">
                <a:latin typeface="Arial" panose="020B0604020202020204" pitchFamily="34" charset="0"/>
                <a:ea typeface="+mn-ea"/>
                <a:cs typeface="+mn-ea"/>
                <a:sym typeface="+mn-lt"/>
              </a:endParaRPr>
            </a:p>
          </p:txBody>
        </p:sp>
        <p:sp>
          <p:nvSpPr>
            <p:cNvPr id="50" name="folders_329399"/>
            <p:cNvSpPr>
              <a:spLocks noChangeAspect="1"/>
            </p:cNvSpPr>
            <p:nvPr/>
          </p:nvSpPr>
          <p:spPr bwMode="auto">
            <a:xfrm>
              <a:off x="6780076"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sp>
          <p:nvSpPr>
            <p:cNvPr id="52" name="folders_329399"/>
            <p:cNvSpPr>
              <a:spLocks noChangeAspect="1"/>
            </p:cNvSpPr>
            <p:nvPr/>
          </p:nvSpPr>
          <p:spPr bwMode="auto">
            <a:xfrm>
              <a:off x="7718563"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grpSp>
      <p:sp>
        <p:nvSpPr>
          <p:cNvPr id="60" name="文本框 59"/>
          <p:cNvSpPr txBox="1"/>
          <p:nvPr/>
        </p:nvSpPr>
        <p:spPr bwMode="auto">
          <a:xfrm>
            <a:off x="2639616" y="3465004"/>
            <a:ext cx="2412268"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Attach to compute cluster and format</a:t>
            </a:r>
          </a:p>
        </p:txBody>
      </p:sp>
      <p:grpSp>
        <p:nvGrpSpPr>
          <p:cNvPr id="61" name="组合 60"/>
          <p:cNvGrpSpPr/>
          <p:nvPr/>
        </p:nvGrpSpPr>
        <p:grpSpPr>
          <a:xfrm>
            <a:off x="2169164" y="2132856"/>
            <a:ext cx="2882720" cy="648072"/>
            <a:chOff x="5697556" y="4473116"/>
            <a:chExt cx="2882720" cy="648072"/>
          </a:xfrm>
        </p:grpSpPr>
        <p:sp>
          <p:nvSpPr>
            <p:cNvPr id="62" name="圆角矩形 61"/>
            <p:cNvSpPr/>
            <p:nvPr/>
          </p:nvSpPr>
          <p:spPr bwMode="auto">
            <a:xfrm>
              <a:off x="5697556" y="4473116"/>
              <a:ext cx="2882720"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Virtual file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a:p>
              <a:pPr marL="0" marR="0" indent="0" algn="l" defTabSz="914400" rtl="0" eaLnBrk="1" fontAlgn="t" latinLnBrk="0" hangingPunct="1">
                <a:lnSpc>
                  <a:spcPct val="100000"/>
                </a:lnSpc>
                <a:spcBef>
                  <a:spcPct val="0"/>
                </a:spcBef>
                <a:spcAft>
                  <a:spcPct val="0"/>
                </a:spcAft>
                <a:buClrTx/>
                <a:buSzTx/>
                <a:buFontTx/>
                <a:buNone/>
                <a:tabLst/>
              </a:pPr>
              <a:r>
                <a:rPr lang="en-US" sz="1100" dirty="0" smtClean="0">
                  <a:latin typeface="Arial" panose="020B0604020202020204" pitchFamily="34" charset="0"/>
                  <a:ea typeface="+mn-ea"/>
                  <a:cs typeface="+mn-ea"/>
                  <a:sym typeface="+mn-lt"/>
                </a:rPr>
                <a:t>system</a:t>
              </a:r>
              <a:endParaRPr lang="en-US" sz="1100" dirty="0">
                <a:latin typeface="Arial" panose="020B0604020202020204" pitchFamily="34" charset="0"/>
                <a:ea typeface="+mn-ea"/>
                <a:cs typeface="+mn-ea"/>
                <a:sym typeface="+mn-lt"/>
              </a:endParaRPr>
            </a:p>
          </p:txBody>
        </p:sp>
        <p:sp>
          <p:nvSpPr>
            <p:cNvPr id="63" name="folders_329399"/>
            <p:cNvSpPr>
              <a:spLocks noChangeAspect="1"/>
            </p:cNvSpPr>
            <p:nvPr/>
          </p:nvSpPr>
          <p:spPr bwMode="auto">
            <a:xfrm>
              <a:off x="6818463"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sp>
          <p:nvSpPr>
            <p:cNvPr id="64" name="folders_329399"/>
            <p:cNvSpPr>
              <a:spLocks noChangeAspect="1"/>
            </p:cNvSpPr>
            <p:nvPr/>
          </p:nvSpPr>
          <p:spPr bwMode="auto">
            <a:xfrm>
              <a:off x="7754567" y="4545124"/>
              <a:ext cx="609685" cy="521039"/>
            </a:xfrm>
            <a:custGeom>
              <a:avLst/>
              <a:gdLst>
                <a:gd name="T0" fmla="*/ 6613 w 6827"/>
                <a:gd name="T1" fmla="*/ 950 h 5843"/>
                <a:gd name="T2" fmla="*/ 3646 w 6827"/>
                <a:gd name="T3" fmla="*/ 950 h 5843"/>
                <a:gd name="T4" fmla="*/ 2678 w 6827"/>
                <a:gd name="T5" fmla="*/ 0 h 5843"/>
                <a:gd name="T6" fmla="*/ 0 w 6827"/>
                <a:gd name="T7" fmla="*/ 0 h 5843"/>
                <a:gd name="T8" fmla="*/ 0 w 6827"/>
                <a:gd name="T9" fmla="*/ 1163 h 5843"/>
                <a:gd name="T10" fmla="*/ 0 w 6827"/>
                <a:gd name="T11" fmla="*/ 1636 h 5843"/>
                <a:gd name="T12" fmla="*/ 0 w 6827"/>
                <a:gd name="T13" fmla="*/ 5630 h 5843"/>
                <a:gd name="T14" fmla="*/ 213 w 6827"/>
                <a:gd name="T15" fmla="*/ 5843 h 5843"/>
                <a:gd name="T16" fmla="*/ 6613 w 6827"/>
                <a:gd name="T17" fmla="*/ 5843 h 5843"/>
                <a:gd name="T18" fmla="*/ 6827 w 6827"/>
                <a:gd name="T19" fmla="*/ 5630 h 5843"/>
                <a:gd name="T20" fmla="*/ 6827 w 6827"/>
                <a:gd name="T21" fmla="*/ 1163 h 5843"/>
                <a:gd name="T22" fmla="*/ 6613 w 6827"/>
                <a:gd name="T23" fmla="*/ 950 h 5843"/>
                <a:gd name="T24" fmla="*/ 427 w 6827"/>
                <a:gd name="T25" fmla="*/ 426 h 5843"/>
                <a:gd name="T26" fmla="*/ 2504 w 6827"/>
                <a:gd name="T27" fmla="*/ 426 h 5843"/>
                <a:gd name="T28" fmla="*/ 3037 w 6827"/>
                <a:gd name="T29" fmla="*/ 950 h 5843"/>
                <a:gd name="T30" fmla="*/ 427 w 6827"/>
                <a:gd name="T31" fmla="*/ 950 h 5843"/>
                <a:gd name="T32" fmla="*/ 427 w 6827"/>
                <a:gd name="T33" fmla="*/ 426 h 5843"/>
                <a:gd name="T34" fmla="*/ 6400 w 6827"/>
                <a:gd name="T35" fmla="*/ 5416 h 5843"/>
                <a:gd name="T36" fmla="*/ 427 w 6827"/>
                <a:gd name="T37" fmla="*/ 5416 h 5843"/>
                <a:gd name="T38" fmla="*/ 427 w 6827"/>
                <a:gd name="T39" fmla="*/ 1636 h 5843"/>
                <a:gd name="T40" fmla="*/ 427 w 6827"/>
                <a:gd name="T41" fmla="*/ 1376 h 5843"/>
                <a:gd name="T42" fmla="*/ 6400 w 6827"/>
                <a:gd name="T43" fmla="*/ 1376 h 5843"/>
                <a:gd name="T44" fmla="*/ 6400 w 6827"/>
                <a:gd name="T45" fmla="*/ 5416 h 5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827" h="5843">
                  <a:moveTo>
                    <a:pt x="6613" y="950"/>
                  </a:moveTo>
                  <a:lnTo>
                    <a:pt x="3646" y="950"/>
                  </a:lnTo>
                  <a:lnTo>
                    <a:pt x="2678" y="0"/>
                  </a:lnTo>
                  <a:lnTo>
                    <a:pt x="0" y="0"/>
                  </a:lnTo>
                  <a:lnTo>
                    <a:pt x="0" y="1163"/>
                  </a:lnTo>
                  <a:lnTo>
                    <a:pt x="0" y="1636"/>
                  </a:lnTo>
                  <a:lnTo>
                    <a:pt x="0" y="5630"/>
                  </a:lnTo>
                  <a:cubicBezTo>
                    <a:pt x="0" y="5747"/>
                    <a:pt x="96" y="5843"/>
                    <a:pt x="213" y="5843"/>
                  </a:cubicBezTo>
                  <a:lnTo>
                    <a:pt x="6613" y="5843"/>
                  </a:lnTo>
                  <a:cubicBezTo>
                    <a:pt x="6731" y="5843"/>
                    <a:pt x="6827" y="5747"/>
                    <a:pt x="6827" y="5630"/>
                  </a:cubicBezTo>
                  <a:lnTo>
                    <a:pt x="6827" y="1163"/>
                  </a:lnTo>
                  <a:cubicBezTo>
                    <a:pt x="6827" y="1046"/>
                    <a:pt x="6731" y="950"/>
                    <a:pt x="6613" y="950"/>
                  </a:cubicBezTo>
                  <a:close/>
                  <a:moveTo>
                    <a:pt x="427" y="426"/>
                  </a:moveTo>
                  <a:lnTo>
                    <a:pt x="2504" y="426"/>
                  </a:lnTo>
                  <a:lnTo>
                    <a:pt x="3037" y="950"/>
                  </a:lnTo>
                  <a:lnTo>
                    <a:pt x="427" y="950"/>
                  </a:lnTo>
                  <a:lnTo>
                    <a:pt x="427" y="426"/>
                  </a:lnTo>
                  <a:close/>
                  <a:moveTo>
                    <a:pt x="6400" y="5416"/>
                  </a:moveTo>
                  <a:lnTo>
                    <a:pt x="427" y="5416"/>
                  </a:lnTo>
                  <a:lnTo>
                    <a:pt x="427" y="1636"/>
                  </a:lnTo>
                  <a:lnTo>
                    <a:pt x="427" y="1376"/>
                  </a:lnTo>
                  <a:lnTo>
                    <a:pt x="6400" y="1376"/>
                  </a:lnTo>
                  <a:lnTo>
                    <a:pt x="6400" y="5416"/>
                  </a:lnTo>
                  <a:close/>
                </a:path>
              </a:pathLst>
            </a:custGeom>
            <a:solidFill>
              <a:srgbClr val="FFE598"/>
            </a:solidFill>
            <a:ln>
              <a:solidFill>
                <a:srgbClr val="FFE598"/>
              </a:solidFill>
            </a:ln>
          </p:spPr>
        </p:sp>
      </p:grpSp>
      <p:sp>
        <p:nvSpPr>
          <p:cNvPr id="65" name="流程图: 数据 64"/>
          <p:cNvSpPr/>
          <p:nvPr/>
        </p:nvSpPr>
        <p:spPr bwMode="auto">
          <a:xfrm>
            <a:off x="1163452" y="1448780"/>
            <a:ext cx="9901100" cy="418360"/>
          </a:xfrm>
          <a:prstGeom prst="flowChartInputOutpu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latin typeface="Arial" panose="020B0604020202020204" pitchFamily="34" charset="0"/>
                <a:ea typeface="+mn-ea"/>
              </a:rPr>
              <a:t>Shared Catalog</a:t>
            </a:r>
          </a:p>
        </p:txBody>
      </p:sp>
      <p:sp>
        <p:nvSpPr>
          <p:cNvPr id="66" name="流程图: 数据 65"/>
          <p:cNvSpPr/>
          <p:nvPr/>
        </p:nvSpPr>
        <p:spPr bwMode="auto">
          <a:xfrm>
            <a:off x="1163452" y="1426464"/>
            <a:ext cx="9901100" cy="418360"/>
          </a:xfrm>
          <a:prstGeom prst="flowChartInputOutput">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latin typeface="Arial" panose="020B0604020202020204" pitchFamily="34" charset="0"/>
                <a:ea typeface="+mn-ea"/>
              </a:rPr>
              <a:t>Shared Catalog</a:t>
            </a:r>
          </a:p>
        </p:txBody>
      </p:sp>
    </p:spTree>
    <p:extLst>
      <p:ext uri="{BB962C8B-B14F-4D97-AF65-F5344CB8AC3E}">
        <p14:creationId xmlns:p14="http://schemas.microsoft.com/office/powerpoint/2010/main" val="1069949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repeatCount="30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Effect transition="in" filter="fade">
                                      <p:cBhvr>
                                        <p:cTn id="9" dur="1000"/>
                                        <p:tgtEl>
                                          <p:spTgt spid="24"/>
                                        </p:tgtEl>
                                      </p:cBhvr>
                                    </p:animEffect>
                                  </p:childTnLst>
                                  <p:subTnLst>
                                    <p:set>
                                      <p:cBhvr override="childStyle">
                                        <p:cTn dur="1" fill="hold" display="0" masterRel="sameClick" afterEffect="1">
                                          <p:stCondLst>
                                            <p:cond evt="end" delay="0">
                                              <p:tn val="5"/>
                                            </p:cond>
                                          </p:stCondLst>
                                        </p:cTn>
                                        <p:tgtEl>
                                          <p:spTgt spid="24"/>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2000"/>
                                        <p:tgtEl>
                                          <p:spTgt spid="22"/>
                                        </p:tgtEl>
                                      </p:cBhvr>
                                    </p:animEffect>
                                    <p:set>
                                      <p:cBhvr>
                                        <p:cTn id="14" dur="1" fill="hold">
                                          <p:stCondLst>
                                            <p:cond delay="1999"/>
                                          </p:stCondLst>
                                        </p:cTn>
                                        <p:tgtEl>
                                          <p:spTgt spid="22"/>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000"/>
                                        <p:tgtEl>
                                          <p:spTgt spid="23"/>
                                        </p:tgtEl>
                                      </p:cBhvr>
                                    </p:animEffect>
                                  </p:childTnLst>
                                </p:cTn>
                              </p:par>
                              <p:par>
                                <p:cTn id="18" presetID="63" presetClass="path" presetSubtype="0" accel="50000" decel="50000" fill="hold" nodeType="withEffect">
                                  <p:stCondLst>
                                    <p:cond delay="0"/>
                                  </p:stCondLst>
                                  <p:childTnLst>
                                    <p:animMotion origin="layout" path="M 0 0 L 0.001575 -0.180843 E" pathEditMode="relative" ptsTypes="">
                                      <p:cBhvr>
                                        <p:cTn id="19" dur="2000" fill="hold"/>
                                        <p:tgtEl>
                                          <p:spTgt spid="22"/>
                                        </p:tgtEl>
                                        <p:attrNameLst>
                                          <p:attrName>ppt_x</p:attrName>
                                          <p:attrName>ppt_y</p:attrName>
                                        </p:attrNameLst>
                                      </p:cBhvr>
                                    </p:animMotion>
                                  </p:childTnLst>
                                </p:cTn>
                              </p:par>
                              <p:par>
                                <p:cTn id="20" presetID="63" presetClass="path" presetSubtype="0" accel="50000" decel="50000" fill="hold" nodeType="withEffect">
                                  <p:stCondLst>
                                    <p:cond delay="0"/>
                                  </p:stCondLst>
                                  <p:childTnLst>
                                    <p:animMotion origin="layout" path="M -0.00156 0.18079 L -3.75E-6 0 " pathEditMode="relative" rAng="0" ptsTypes="AA">
                                      <p:cBhvr>
                                        <p:cTn id="21" dur="2000" fill="hold"/>
                                        <p:tgtEl>
                                          <p:spTgt spid="23"/>
                                        </p:tgtEl>
                                        <p:attrNameLst>
                                          <p:attrName>ppt_x</p:attrName>
                                          <p:attrName>ppt_y</p:attrName>
                                        </p:attrNameLst>
                                      </p:cBhvr>
                                      <p:rCtr x="78" y="-9051"/>
                                    </p:animMotion>
                                  </p:childTnLst>
                                </p:cTn>
                              </p:par>
                              <p:par>
                                <p:cTn id="22" presetID="6" presetClass="emph" presetSubtype="0" accel="50000" decel="50000" fill="hold" nodeType="withEffect">
                                  <p:stCondLst>
                                    <p:cond delay="0"/>
                                  </p:stCondLst>
                                  <p:childTnLst>
                                    <p:animScale>
                                      <p:cBhvr>
                                        <p:cTn id="23" dur="2000" fill="hold"/>
                                        <p:tgtEl>
                                          <p:spTgt spid="22"/>
                                        </p:tgtEl>
                                      </p:cBhvr>
                                      <p:by x="150000" y="150000"/>
                                      <p:from x="100000" y="100000"/>
                                      <p:to x="60629" y="107315"/>
                                    </p:animScale>
                                  </p:childTnLst>
                                </p:cTn>
                              </p:par>
                              <p:par>
                                <p:cTn id="24" presetID="6" presetClass="emph" presetSubtype="0" accel="50000" decel="50000" fill="hold" nodeType="withEffect">
                                  <p:stCondLst>
                                    <p:cond delay="0"/>
                                  </p:stCondLst>
                                  <p:childTnLst>
                                    <p:animScale>
                                      <p:cBhvr>
                                        <p:cTn id="25" dur="2000" fill="hold"/>
                                        <p:tgtEl>
                                          <p:spTgt spid="23"/>
                                        </p:tgtEl>
                                      </p:cBhvr>
                                      <p:by x="150000" y="150000"/>
                                      <p:from x="164937" y="93183"/>
                                      <p:to x="100000" y="100000"/>
                                    </p:animScale>
                                  </p:childTnLst>
                                </p:cTn>
                              </p:par>
                            </p:childTnLst>
                          </p:cTn>
                        </p:par>
                        <p:par>
                          <p:cTn id="26" fill="hold">
                            <p:stCondLst>
                              <p:cond delay="2000"/>
                            </p:stCondLst>
                            <p:childTnLst>
                              <p:par>
                                <p:cTn id="27" presetID="1" presetClass="entr" presetSubtype="0"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repeatCount="300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p:cTn id="33" dur="1000" fill="hold"/>
                                        <p:tgtEl>
                                          <p:spTgt spid="25"/>
                                        </p:tgtEl>
                                        <p:attrNameLst>
                                          <p:attrName>ppt_w</p:attrName>
                                        </p:attrNameLst>
                                      </p:cBhvr>
                                      <p:tavLst>
                                        <p:tav tm="0">
                                          <p:val>
                                            <p:fltVal val="0"/>
                                          </p:val>
                                        </p:tav>
                                        <p:tav tm="100000">
                                          <p:val>
                                            <p:strVal val="#ppt_w"/>
                                          </p:val>
                                        </p:tav>
                                      </p:tavLst>
                                    </p:anim>
                                    <p:anim calcmode="lin" valueType="num">
                                      <p:cBhvr>
                                        <p:cTn id="34" dur="1000" fill="hold"/>
                                        <p:tgtEl>
                                          <p:spTgt spid="25"/>
                                        </p:tgtEl>
                                        <p:attrNameLst>
                                          <p:attrName>ppt_h</p:attrName>
                                        </p:attrNameLst>
                                      </p:cBhvr>
                                      <p:tavLst>
                                        <p:tav tm="0">
                                          <p:val>
                                            <p:fltVal val="0"/>
                                          </p:val>
                                        </p:tav>
                                        <p:tav tm="100000">
                                          <p:val>
                                            <p:strVal val="#ppt_h"/>
                                          </p:val>
                                        </p:tav>
                                      </p:tavLst>
                                    </p:anim>
                                    <p:animEffect transition="in" filter="fade">
                                      <p:cBhvr>
                                        <p:cTn id="35" dur="1000"/>
                                        <p:tgtEl>
                                          <p:spTgt spid="25"/>
                                        </p:tgtEl>
                                      </p:cBhvr>
                                    </p:animEffect>
                                  </p:childTnLst>
                                  <p:subTnLst>
                                    <p:set>
                                      <p:cBhvr override="childStyle">
                                        <p:cTn dur="1" fill="hold" display="0" masterRel="sameClick" afterEffect="1">
                                          <p:stCondLst>
                                            <p:cond evt="end" delay="0">
                                              <p:tn val="31"/>
                                            </p:cond>
                                          </p:stCondLst>
                                        </p:cTn>
                                        <p:tgtEl>
                                          <p:spTgt spid="25"/>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2000"/>
                                        <p:tgtEl>
                                          <p:spTgt spid="23"/>
                                        </p:tgtEl>
                                      </p:cBhvr>
                                    </p:animEffect>
                                    <p:set>
                                      <p:cBhvr>
                                        <p:cTn id="40" dur="1" fill="hold">
                                          <p:stCondLst>
                                            <p:cond delay="1999"/>
                                          </p:stCondLst>
                                        </p:cTn>
                                        <p:tgtEl>
                                          <p:spTgt spid="23"/>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000"/>
                                        <p:tgtEl>
                                          <p:spTgt spid="47"/>
                                        </p:tgtEl>
                                      </p:cBhvr>
                                    </p:animEffect>
                                  </p:childTnLst>
                                </p:cTn>
                              </p:par>
                              <p:par>
                                <p:cTn id="44" presetID="63" presetClass="path" presetSubtype="0" accel="50000" decel="50000" fill="hold" nodeType="withEffect">
                                  <p:stCondLst>
                                    <p:cond delay="0"/>
                                  </p:stCondLst>
                                  <p:childTnLst>
                                    <p:animMotion origin="layout" path="M -3.75E-6 0 L -3.75E-6 -0.1581 " pathEditMode="relative" rAng="0" ptsTypes="AA">
                                      <p:cBhvr>
                                        <p:cTn id="45" dur="2000" fill="hold"/>
                                        <p:tgtEl>
                                          <p:spTgt spid="23"/>
                                        </p:tgtEl>
                                        <p:attrNameLst>
                                          <p:attrName>ppt_x</p:attrName>
                                          <p:attrName>ppt_y</p:attrName>
                                        </p:attrNameLst>
                                      </p:cBhvr>
                                      <p:rCtr x="0" y="-7917"/>
                                    </p:animMotion>
                                  </p:childTnLst>
                                </p:cTn>
                              </p:par>
                              <p:par>
                                <p:cTn id="46" presetID="63" presetClass="path" presetSubtype="0" accel="50000" decel="50000" fill="hold" nodeType="withEffect">
                                  <p:stCondLst>
                                    <p:cond delay="0"/>
                                  </p:stCondLst>
                                  <p:childTnLst>
                                    <p:animMotion origin="layout" path="M -3.75E-6 0.1581 L -3.75E-6 1.85185E-6 " pathEditMode="relative" rAng="0" ptsTypes="AA">
                                      <p:cBhvr>
                                        <p:cTn id="47" dur="2000" fill="hold"/>
                                        <p:tgtEl>
                                          <p:spTgt spid="47"/>
                                        </p:tgtEl>
                                        <p:attrNameLst>
                                          <p:attrName>ppt_x</p:attrName>
                                          <p:attrName>ppt_y</p:attrName>
                                        </p:attrNameLst>
                                      </p:cBhvr>
                                      <p:rCtr x="0" y="-7917"/>
                                    </p:animMotion>
                                  </p:childTnLst>
                                </p:cTn>
                              </p:par>
                              <p:par>
                                <p:cTn id="48" presetID="6" presetClass="emph" presetSubtype="0" accel="50000" decel="50000" fill="hold" nodeType="withEffect">
                                  <p:stCondLst>
                                    <p:cond delay="0"/>
                                  </p:stCondLst>
                                  <p:childTnLst>
                                    <p:animScale>
                                      <p:cBhvr>
                                        <p:cTn id="49" dur="2000" fill="hold"/>
                                        <p:tgtEl>
                                          <p:spTgt spid="23"/>
                                        </p:tgtEl>
                                      </p:cBhvr>
                                      <p:by x="150000" y="150000"/>
                                      <p:from x="100000" y="100000"/>
                                      <p:to x="100000" y="99050"/>
                                    </p:animScale>
                                  </p:childTnLst>
                                </p:cTn>
                              </p:par>
                              <p:par>
                                <p:cTn id="50" presetID="6" presetClass="emph" presetSubtype="0" accel="50000" decel="50000" fill="hold" nodeType="withEffect">
                                  <p:stCondLst>
                                    <p:cond delay="0"/>
                                  </p:stCondLst>
                                  <p:childTnLst>
                                    <p:animScale>
                                      <p:cBhvr>
                                        <p:cTn id="51" dur="2000" fill="hold"/>
                                        <p:tgtEl>
                                          <p:spTgt spid="47"/>
                                        </p:tgtEl>
                                      </p:cBhvr>
                                      <p:by x="150000" y="150000"/>
                                      <p:from x="100000" y="100959"/>
                                      <p:to x="100000" y="100000"/>
                                    </p:animScale>
                                  </p:childTnLst>
                                </p:cTn>
                              </p:par>
                            </p:childTnLst>
                          </p:cTn>
                        </p:par>
                      </p:childTnLst>
                    </p:cTn>
                  </p:par>
                  <p:par>
                    <p:cTn id="52" fill="hold">
                      <p:stCondLst>
                        <p:cond delay="indefinite"/>
                      </p:stCondLst>
                      <p:childTnLst>
                        <p:par>
                          <p:cTn id="53" fill="hold">
                            <p:stCondLst>
                              <p:cond delay="0"/>
                            </p:stCondLst>
                            <p:childTnLst>
                              <p:par>
                                <p:cTn id="54" presetID="53" presetClass="entr" presetSubtype="16" repeatCount="3000" fill="hold" grpId="0" nodeType="click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p:cTn id="56" dur="1000" fill="hold"/>
                                        <p:tgtEl>
                                          <p:spTgt spid="48"/>
                                        </p:tgtEl>
                                        <p:attrNameLst>
                                          <p:attrName>ppt_w</p:attrName>
                                        </p:attrNameLst>
                                      </p:cBhvr>
                                      <p:tavLst>
                                        <p:tav tm="0">
                                          <p:val>
                                            <p:fltVal val="0"/>
                                          </p:val>
                                        </p:tav>
                                        <p:tav tm="100000">
                                          <p:val>
                                            <p:strVal val="#ppt_w"/>
                                          </p:val>
                                        </p:tav>
                                      </p:tavLst>
                                    </p:anim>
                                    <p:anim calcmode="lin" valueType="num">
                                      <p:cBhvr>
                                        <p:cTn id="57" dur="1000" fill="hold"/>
                                        <p:tgtEl>
                                          <p:spTgt spid="48"/>
                                        </p:tgtEl>
                                        <p:attrNameLst>
                                          <p:attrName>ppt_h</p:attrName>
                                        </p:attrNameLst>
                                      </p:cBhvr>
                                      <p:tavLst>
                                        <p:tav tm="0">
                                          <p:val>
                                            <p:fltVal val="0"/>
                                          </p:val>
                                        </p:tav>
                                        <p:tav tm="100000">
                                          <p:val>
                                            <p:strVal val="#ppt_h"/>
                                          </p:val>
                                        </p:tav>
                                      </p:tavLst>
                                    </p:anim>
                                    <p:animEffect transition="in" filter="fade">
                                      <p:cBhvr>
                                        <p:cTn id="58" dur="1000"/>
                                        <p:tgtEl>
                                          <p:spTgt spid="48"/>
                                        </p:tgtEl>
                                      </p:cBhvr>
                                    </p:animEffect>
                                  </p:childTnLst>
                                  <p:subTnLst>
                                    <p:set>
                                      <p:cBhvr override="childStyle">
                                        <p:cTn dur="1" fill="hold" display="0" masterRel="sameClick" afterEffect="1">
                                          <p:stCondLst>
                                            <p:cond evt="end" delay="0">
                                              <p:tn val="54"/>
                                            </p:cond>
                                          </p:stCondLst>
                                        </p:cTn>
                                        <p:tgtEl>
                                          <p:spTgt spid="48"/>
                                        </p:tgtEl>
                                        <p:attrNameLst>
                                          <p:attrName>style.visibility</p:attrName>
                                        </p:attrNameLst>
                                      </p:cBhvr>
                                      <p:to>
                                        <p:strVal val="hidden"/>
                                      </p:to>
                                    </p:set>
                                  </p:sub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2000"/>
                                        <p:tgtEl>
                                          <p:spTgt spid="26"/>
                                        </p:tgtEl>
                                      </p:cBhvr>
                                    </p:animEffect>
                                    <p:set>
                                      <p:cBhvr>
                                        <p:cTn id="63" dur="1" fill="hold">
                                          <p:stCondLst>
                                            <p:cond delay="1999"/>
                                          </p:stCondLst>
                                        </p:cTn>
                                        <p:tgtEl>
                                          <p:spTgt spid="26"/>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2000"/>
                                        <p:tgtEl>
                                          <p:spTgt spid="53"/>
                                        </p:tgtEl>
                                      </p:cBhvr>
                                    </p:animEffect>
                                  </p:childTnLst>
                                </p:cTn>
                              </p:par>
                              <p:par>
                                <p:cTn id="67" presetID="63" presetClass="path" presetSubtype="0" accel="50000" decel="50000" fill="hold" nodeType="withEffect">
                                  <p:stCondLst>
                                    <p:cond delay="0"/>
                                  </p:stCondLst>
                                  <p:childTnLst>
                                    <p:animMotion origin="layout" path="M -3.75E-6 0 L 0.28946 -0.00046 " pathEditMode="relative" rAng="0" ptsTypes="AA">
                                      <p:cBhvr>
                                        <p:cTn id="68" dur="2000" fill="hold"/>
                                        <p:tgtEl>
                                          <p:spTgt spid="26"/>
                                        </p:tgtEl>
                                        <p:attrNameLst>
                                          <p:attrName>ppt_x</p:attrName>
                                          <p:attrName>ppt_y</p:attrName>
                                        </p:attrNameLst>
                                      </p:cBhvr>
                                      <p:rCtr x="14466" y="-23"/>
                                    </p:animMotion>
                                  </p:childTnLst>
                                </p:cTn>
                              </p:par>
                              <p:par>
                                <p:cTn id="69" presetID="63" presetClass="path" presetSubtype="0" accel="50000" decel="50000" fill="hold" nodeType="withEffect">
                                  <p:stCondLst>
                                    <p:cond delay="0"/>
                                  </p:stCondLst>
                                  <p:childTnLst>
                                    <p:animMotion origin="layout" path="M -0.289402 0.000453 L 0 0 E" pathEditMode="relative" ptsTypes="">
                                      <p:cBhvr>
                                        <p:cTn id="70" dur="2000" fill="hold"/>
                                        <p:tgtEl>
                                          <p:spTgt spid="53"/>
                                        </p:tgtEl>
                                        <p:attrNameLst>
                                          <p:attrName>ppt_x</p:attrName>
                                          <p:attrName>ppt_y</p:attrName>
                                        </p:attrNameLst>
                                      </p:cBhvr>
                                    </p:animMotion>
                                  </p:childTnLst>
                                </p:cTn>
                              </p:par>
                              <p:par>
                                <p:cTn id="71" presetID="6" presetClass="emph" presetSubtype="0" accel="50000" decel="50000" fill="hold" nodeType="withEffect">
                                  <p:stCondLst>
                                    <p:cond delay="0"/>
                                  </p:stCondLst>
                                  <p:childTnLst>
                                    <p:animScale>
                                      <p:cBhvr>
                                        <p:cTn id="72" dur="2000" fill="hold"/>
                                        <p:tgtEl>
                                          <p:spTgt spid="26"/>
                                        </p:tgtEl>
                                      </p:cBhvr>
                                      <p:by x="150000" y="150000"/>
                                      <p:from x="100000" y="100000"/>
                                      <p:to x="100000" y="99050"/>
                                    </p:animScale>
                                  </p:childTnLst>
                                </p:cTn>
                              </p:par>
                              <p:par>
                                <p:cTn id="73" presetID="6" presetClass="emph" presetSubtype="0" accel="50000" decel="50000" fill="hold" nodeType="withEffect">
                                  <p:stCondLst>
                                    <p:cond delay="0"/>
                                  </p:stCondLst>
                                  <p:childTnLst>
                                    <p:animScale>
                                      <p:cBhvr>
                                        <p:cTn id="74" dur="2000" fill="hold"/>
                                        <p:tgtEl>
                                          <p:spTgt spid="53"/>
                                        </p:tgtEl>
                                      </p:cBhvr>
                                      <p:by x="150000" y="150000"/>
                                      <p:from x="100000" y="100959"/>
                                      <p:to x="100000" y="100000"/>
                                    </p:animScale>
                                  </p:childTnLst>
                                </p:cTn>
                              </p:par>
                            </p:childTnLst>
                          </p:cTn>
                        </p:par>
                      </p:childTnLst>
                    </p:cTn>
                  </p:par>
                  <p:par>
                    <p:cTn id="75" fill="hold">
                      <p:stCondLst>
                        <p:cond delay="indefinite"/>
                      </p:stCondLst>
                      <p:childTnLst>
                        <p:par>
                          <p:cTn id="76" fill="hold">
                            <p:stCondLst>
                              <p:cond delay="0"/>
                            </p:stCondLst>
                            <p:childTnLst>
                              <p:par>
                                <p:cTn id="77" presetID="53" presetClass="entr" presetSubtype="16" repeatCount="3000" fill="hold" grpId="0" nodeType="clickEffect">
                                  <p:stCondLst>
                                    <p:cond delay="0"/>
                                  </p:stCondLst>
                                  <p:childTnLst>
                                    <p:set>
                                      <p:cBhvr>
                                        <p:cTn id="78" dur="1" fill="hold">
                                          <p:stCondLst>
                                            <p:cond delay="0"/>
                                          </p:stCondLst>
                                        </p:cTn>
                                        <p:tgtEl>
                                          <p:spTgt spid="60"/>
                                        </p:tgtEl>
                                        <p:attrNameLst>
                                          <p:attrName>style.visibility</p:attrName>
                                        </p:attrNameLst>
                                      </p:cBhvr>
                                      <p:to>
                                        <p:strVal val="visible"/>
                                      </p:to>
                                    </p:set>
                                    <p:anim calcmode="lin" valueType="num">
                                      <p:cBhvr>
                                        <p:cTn id="79" dur="1000" fill="hold"/>
                                        <p:tgtEl>
                                          <p:spTgt spid="60"/>
                                        </p:tgtEl>
                                        <p:attrNameLst>
                                          <p:attrName>ppt_w</p:attrName>
                                        </p:attrNameLst>
                                      </p:cBhvr>
                                      <p:tavLst>
                                        <p:tav tm="0">
                                          <p:val>
                                            <p:fltVal val="0"/>
                                          </p:val>
                                        </p:tav>
                                        <p:tav tm="100000">
                                          <p:val>
                                            <p:strVal val="#ppt_w"/>
                                          </p:val>
                                        </p:tav>
                                      </p:tavLst>
                                    </p:anim>
                                    <p:anim calcmode="lin" valueType="num">
                                      <p:cBhvr>
                                        <p:cTn id="80" dur="1000" fill="hold"/>
                                        <p:tgtEl>
                                          <p:spTgt spid="60"/>
                                        </p:tgtEl>
                                        <p:attrNameLst>
                                          <p:attrName>ppt_h</p:attrName>
                                        </p:attrNameLst>
                                      </p:cBhvr>
                                      <p:tavLst>
                                        <p:tav tm="0">
                                          <p:val>
                                            <p:fltVal val="0"/>
                                          </p:val>
                                        </p:tav>
                                        <p:tav tm="100000">
                                          <p:val>
                                            <p:strVal val="#ppt_h"/>
                                          </p:val>
                                        </p:tav>
                                      </p:tavLst>
                                    </p:anim>
                                    <p:animEffect transition="in" filter="fade">
                                      <p:cBhvr>
                                        <p:cTn id="81" dur="1000"/>
                                        <p:tgtEl>
                                          <p:spTgt spid="60"/>
                                        </p:tgtEl>
                                      </p:cBhvr>
                                    </p:animEffect>
                                  </p:childTnLst>
                                  <p:subTnLst>
                                    <p:set>
                                      <p:cBhvr override="childStyle">
                                        <p:cTn dur="1" fill="hold" display="0" masterRel="sameClick" afterEffect="1">
                                          <p:stCondLst>
                                            <p:cond evt="end" delay="0">
                                              <p:tn val="77"/>
                                            </p:cond>
                                          </p:stCondLst>
                                        </p:cTn>
                                        <p:tgtEl>
                                          <p:spTgt spid="60"/>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10" presetClass="exit" presetSubtype="0" fill="hold" nodeType="clickEffect">
                                  <p:stCondLst>
                                    <p:cond delay="0"/>
                                  </p:stCondLst>
                                  <p:childTnLst>
                                    <p:animEffect transition="out" filter="fade">
                                      <p:cBhvr>
                                        <p:cTn id="85" dur="2000"/>
                                        <p:tgtEl>
                                          <p:spTgt spid="47"/>
                                        </p:tgtEl>
                                      </p:cBhvr>
                                    </p:animEffect>
                                    <p:set>
                                      <p:cBhvr>
                                        <p:cTn id="86" dur="1" fill="hold">
                                          <p:stCondLst>
                                            <p:cond delay="1999"/>
                                          </p:stCondLst>
                                        </p:cTn>
                                        <p:tgtEl>
                                          <p:spTgt spid="47"/>
                                        </p:tgtEl>
                                        <p:attrNameLst>
                                          <p:attrName>style.visibility</p:attrName>
                                        </p:attrNameLst>
                                      </p:cBhvr>
                                      <p:to>
                                        <p:strVal val="hidden"/>
                                      </p:to>
                                    </p:set>
                                  </p:childTnLst>
                                </p:cTn>
                              </p:par>
                              <p:par>
                                <p:cTn id="87" presetID="10" presetClass="entr" presetSubtype="0" fill="hold" nodeType="with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fade">
                                      <p:cBhvr>
                                        <p:cTn id="89" dur="2000"/>
                                        <p:tgtEl>
                                          <p:spTgt spid="61"/>
                                        </p:tgtEl>
                                      </p:cBhvr>
                                    </p:animEffect>
                                  </p:childTnLst>
                                </p:cTn>
                              </p:par>
                              <p:par>
                                <p:cTn id="90" presetID="63" presetClass="path" presetSubtype="0" accel="50000" decel="50000" fill="hold" nodeType="withEffect">
                                  <p:stCondLst>
                                    <p:cond delay="0"/>
                                  </p:stCondLst>
                                  <p:childTnLst>
                                    <p:animMotion origin="layout" path="M -3.75E-6 1.85185E-6 L -3.75E-6 -0.18357 " pathEditMode="relative" rAng="0" ptsTypes="AA">
                                      <p:cBhvr>
                                        <p:cTn id="91" dur="2000" fill="hold"/>
                                        <p:tgtEl>
                                          <p:spTgt spid="47"/>
                                        </p:tgtEl>
                                        <p:attrNameLst>
                                          <p:attrName>ppt_x</p:attrName>
                                          <p:attrName>ppt_y</p:attrName>
                                        </p:attrNameLst>
                                      </p:cBhvr>
                                      <p:rCtr x="0" y="-9190"/>
                                    </p:animMotion>
                                  </p:childTnLst>
                                </p:cTn>
                              </p:par>
                              <p:par>
                                <p:cTn id="92" presetID="63" presetClass="path" presetSubtype="0" accel="50000" decel="50000" fill="hold" nodeType="withEffect">
                                  <p:stCondLst>
                                    <p:cond delay="0"/>
                                  </p:stCondLst>
                                  <p:childTnLst>
                                    <p:animMotion origin="layout" path="M -3.75E-6 0.18357 L -3.75E-6 -3.33333E-6 " pathEditMode="relative" rAng="0" ptsTypes="AA">
                                      <p:cBhvr>
                                        <p:cTn id="93" dur="2000" fill="hold"/>
                                        <p:tgtEl>
                                          <p:spTgt spid="61"/>
                                        </p:tgtEl>
                                        <p:attrNameLst>
                                          <p:attrName>ppt_x</p:attrName>
                                          <p:attrName>ppt_y</p:attrName>
                                        </p:attrNameLst>
                                      </p:cBhvr>
                                      <p:rCtr x="0" y="-9190"/>
                                    </p:animMotion>
                                  </p:childTnLst>
                                </p:cTn>
                              </p:par>
                              <p:par>
                                <p:cTn id="94" presetID="6" presetClass="emph" presetSubtype="0" accel="50000" decel="50000" fill="hold" nodeType="withEffect">
                                  <p:stCondLst>
                                    <p:cond delay="0"/>
                                  </p:stCondLst>
                                  <p:childTnLst>
                                    <p:animScale>
                                      <p:cBhvr>
                                        <p:cTn id="95" dur="2000" fill="hold"/>
                                        <p:tgtEl>
                                          <p:spTgt spid="47"/>
                                        </p:tgtEl>
                                      </p:cBhvr>
                                      <p:by x="150000" y="150000"/>
                                      <p:from x="100000" y="100000"/>
                                      <p:to x="100000" y="100000"/>
                                    </p:animScale>
                                  </p:childTnLst>
                                </p:cTn>
                              </p:par>
                              <p:par>
                                <p:cTn id="96" presetID="6" presetClass="emph" presetSubtype="0" accel="50000" decel="50000" fill="hold" nodeType="withEffect">
                                  <p:stCondLst>
                                    <p:cond delay="0"/>
                                  </p:stCondLst>
                                  <p:childTnLst>
                                    <p:animScale>
                                      <p:cBhvr>
                                        <p:cTn id="97" dur="2000" fill="hold"/>
                                        <p:tgtEl>
                                          <p:spTgt spid="61"/>
                                        </p:tgtEl>
                                      </p:cBhvr>
                                      <p:by x="150000" y="150000"/>
                                      <p:from x="100000" y="100000"/>
                                      <p:to x="100000" y="100000"/>
                                    </p:animScale>
                                  </p:childTnLst>
                                </p:cTn>
                              </p:par>
                            </p:childTnLst>
                          </p:cTn>
                        </p:par>
                      </p:childTnLst>
                    </p:cTn>
                  </p:par>
                  <p:par>
                    <p:cTn id="98" fill="hold">
                      <p:stCondLst>
                        <p:cond delay="indefinite"/>
                      </p:stCondLst>
                      <p:childTnLst>
                        <p:par>
                          <p:cTn id="99" fill="hold">
                            <p:stCondLst>
                              <p:cond delay="0"/>
                            </p:stCondLst>
                            <p:childTnLst>
                              <p:par>
                                <p:cTn id="100" presetID="10" presetClass="exit" presetSubtype="0" fill="hold" nodeType="clickEffect">
                                  <p:stCondLst>
                                    <p:cond delay="0"/>
                                  </p:stCondLst>
                                  <p:childTnLst>
                                    <p:animEffect transition="out" filter="fade">
                                      <p:cBhvr>
                                        <p:cTn id="101" dur="2000"/>
                                        <p:tgtEl>
                                          <p:spTgt spid="61"/>
                                        </p:tgtEl>
                                      </p:cBhvr>
                                    </p:animEffect>
                                    <p:set>
                                      <p:cBhvr>
                                        <p:cTn id="102" dur="1" fill="hold">
                                          <p:stCondLst>
                                            <p:cond delay="1999"/>
                                          </p:stCondLst>
                                        </p:cTn>
                                        <p:tgtEl>
                                          <p:spTgt spid="61"/>
                                        </p:tgtEl>
                                        <p:attrNameLst>
                                          <p:attrName>style.visibility</p:attrName>
                                        </p:attrNameLst>
                                      </p:cBhvr>
                                      <p:to>
                                        <p:strVal val="hidden"/>
                                      </p:to>
                                    </p:set>
                                  </p:childTnLst>
                                </p:cTn>
                              </p:par>
                              <p:par>
                                <p:cTn id="103" presetID="10" presetClass="entr" presetSubtype="0" fill="hold" grpId="0" nodeType="withEffect">
                                  <p:stCondLst>
                                    <p:cond delay="0"/>
                                  </p:stCondLst>
                                  <p:childTnLst>
                                    <p:set>
                                      <p:cBhvr>
                                        <p:cTn id="104" dur="1" fill="hold">
                                          <p:stCondLst>
                                            <p:cond delay="0"/>
                                          </p:stCondLst>
                                        </p:cTn>
                                        <p:tgtEl>
                                          <p:spTgt spid="66"/>
                                        </p:tgtEl>
                                        <p:attrNameLst>
                                          <p:attrName>style.visibility</p:attrName>
                                        </p:attrNameLst>
                                      </p:cBhvr>
                                      <p:to>
                                        <p:strVal val="visible"/>
                                      </p:to>
                                    </p:set>
                                    <p:animEffect transition="in" filter="fade">
                                      <p:cBhvr>
                                        <p:cTn id="105" dur="2000"/>
                                        <p:tgtEl>
                                          <p:spTgt spid="66"/>
                                        </p:tgtEl>
                                      </p:cBhvr>
                                    </p:animEffect>
                                  </p:childTnLst>
                                </p:cTn>
                              </p:par>
                              <p:par>
                                <p:cTn id="106" presetID="63" presetClass="path" presetSubtype="0" accel="50000" decel="50000" fill="hold" nodeType="withEffect">
                                  <p:stCondLst>
                                    <p:cond delay="0"/>
                                  </p:stCondLst>
                                  <p:childTnLst>
                                    <p:animMotion origin="layout" path="M -3.75E-6 -3.33333E-6 L 0.18894 -0.11967 " pathEditMode="relative" rAng="0" ptsTypes="AA">
                                      <p:cBhvr>
                                        <p:cTn id="107" dur="2000" fill="hold"/>
                                        <p:tgtEl>
                                          <p:spTgt spid="61"/>
                                        </p:tgtEl>
                                        <p:attrNameLst>
                                          <p:attrName>ppt_x</p:attrName>
                                          <p:attrName>ppt_y</p:attrName>
                                        </p:attrNameLst>
                                      </p:cBhvr>
                                      <p:rCtr x="9440" y="-5995"/>
                                    </p:animMotion>
                                  </p:childTnLst>
                                </p:cTn>
                              </p:par>
                              <p:par>
                                <p:cTn id="108" presetID="63" presetClass="path" presetSubtype="0" accel="50000" decel="50000" fill="hold" grpId="1" nodeType="withEffect">
                                  <p:stCondLst>
                                    <p:cond delay="0"/>
                                  </p:stCondLst>
                                  <p:childTnLst>
                                    <p:animMotion origin="layout" path="M -0.188997 0.11975 L 0 0 E" pathEditMode="relative" ptsTypes="">
                                      <p:cBhvr>
                                        <p:cTn id="109" dur="2000" fill="hold"/>
                                        <p:tgtEl>
                                          <p:spTgt spid="66"/>
                                        </p:tgtEl>
                                        <p:attrNameLst>
                                          <p:attrName>ppt_x</p:attrName>
                                          <p:attrName>ppt_y</p:attrName>
                                        </p:attrNameLst>
                                      </p:cBhvr>
                                    </p:animMotion>
                                  </p:childTnLst>
                                </p:cTn>
                              </p:par>
                              <p:par>
                                <p:cTn id="110" presetID="6" presetClass="emph" presetSubtype="0" accel="50000" decel="50000" fill="hold" nodeType="withEffect">
                                  <p:stCondLst>
                                    <p:cond delay="0"/>
                                  </p:stCondLst>
                                  <p:childTnLst>
                                    <p:animScale>
                                      <p:cBhvr>
                                        <p:cTn id="111" dur="2000" fill="hold"/>
                                        <p:tgtEl>
                                          <p:spTgt spid="61"/>
                                        </p:tgtEl>
                                      </p:cBhvr>
                                      <p:by x="150000" y="150000"/>
                                      <p:from x="100000" y="100000"/>
                                      <p:to x="398551" y="64555"/>
                                    </p:animScale>
                                  </p:childTnLst>
                                </p:cTn>
                              </p:par>
                              <p:par>
                                <p:cTn id="112" presetID="6" presetClass="emph" presetSubtype="0" accel="50000" decel="50000" fill="hold" grpId="2" nodeType="withEffect">
                                  <p:stCondLst>
                                    <p:cond delay="0"/>
                                  </p:stCondLst>
                                  <p:childTnLst>
                                    <p:animScale>
                                      <p:cBhvr>
                                        <p:cTn id="113" dur="2000" fill="hold"/>
                                        <p:tgtEl>
                                          <p:spTgt spid="66"/>
                                        </p:tgtEl>
                                      </p:cBhvr>
                                      <p:by x="150000" y="150000"/>
                                      <p:from x="25091" y="154908"/>
                                      <p:to x="100000" y="100000"/>
                                    </p:animScale>
                                  </p:childTnLst>
                                </p:cTn>
                              </p:par>
                              <p:par>
                                <p:cTn id="114" presetID="10" presetClass="exit" presetSubtype="0" fill="hold" nodeType="withEffect">
                                  <p:stCondLst>
                                    <p:cond delay="0"/>
                                  </p:stCondLst>
                                  <p:childTnLst>
                                    <p:animEffect transition="out" filter="fade">
                                      <p:cBhvr>
                                        <p:cTn id="115" dur="2000"/>
                                        <p:tgtEl>
                                          <p:spTgt spid="53"/>
                                        </p:tgtEl>
                                      </p:cBhvr>
                                    </p:animEffect>
                                    <p:set>
                                      <p:cBhvr>
                                        <p:cTn id="116" dur="1" fill="hold">
                                          <p:stCondLst>
                                            <p:cond delay="1999"/>
                                          </p:stCondLst>
                                        </p:cTn>
                                        <p:tgtEl>
                                          <p:spTgt spid="53"/>
                                        </p:tgtEl>
                                        <p:attrNameLst>
                                          <p:attrName>style.visibility</p:attrName>
                                        </p:attrNameLst>
                                      </p:cBhvr>
                                      <p:to>
                                        <p:strVal val="hidden"/>
                                      </p:to>
                                    </p:set>
                                  </p:childTnLst>
                                </p:cTn>
                              </p:par>
                              <p:par>
                                <p:cTn id="117" presetID="10" presetClass="entr" presetSubtype="0" fill="hold" grpId="0" nodeType="withEffect">
                                  <p:stCondLst>
                                    <p:cond delay="0"/>
                                  </p:stCondLst>
                                  <p:childTnLst>
                                    <p:set>
                                      <p:cBhvr>
                                        <p:cTn id="118" dur="1" fill="hold">
                                          <p:stCondLst>
                                            <p:cond delay="0"/>
                                          </p:stCondLst>
                                        </p:cTn>
                                        <p:tgtEl>
                                          <p:spTgt spid="65"/>
                                        </p:tgtEl>
                                        <p:attrNameLst>
                                          <p:attrName>style.visibility</p:attrName>
                                        </p:attrNameLst>
                                      </p:cBhvr>
                                      <p:to>
                                        <p:strVal val="visible"/>
                                      </p:to>
                                    </p:set>
                                    <p:animEffect transition="in" filter="fade">
                                      <p:cBhvr>
                                        <p:cTn id="119" dur="2000"/>
                                        <p:tgtEl>
                                          <p:spTgt spid="65"/>
                                        </p:tgtEl>
                                      </p:cBhvr>
                                    </p:animEffect>
                                  </p:childTnLst>
                                </p:cTn>
                              </p:par>
                              <p:par>
                                <p:cTn id="120" presetID="63" presetClass="path" presetSubtype="0" accel="50000" decel="50000" fill="hold" nodeType="withEffect">
                                  <p:stCondLst>
                                    <p:cond delay="0"/>
                                  </p:stCondLst>
                                  <p:childTnLst>
                                    <p:animMotion origin="layout" path="M 0 0 L -0.100405 -0.457742 E" pathEditMode="relative" ptsTypes="">
                                      <p:cBhvr>
                                        <p:cTn id="121" dur="2000" fill="hold"/>
                                        <p:tgtEl>
                                          <p:spTgt spid="53"/>
                                        </p:tgtEl>
                                        <p:attrNameLst>
                                          <p:attrName>ppt_x</p:attrName>
                                          <p:attrName>ppt_y</p:attrName>
                                        </p:attrNameLst>
                                      </p:cBhvr>
                                    </p:animMotion>
                                  </p:childTnLst>
                                </p:cTn>
                              </p:par>
                              <p:par>
                                <p:cTn id="122" presetID="63" presetClass="path" presetSubtype="0" accel="50000" decel="50000" fill="hold" grpId="1" nodeType="withEffect">
                                  <p:stCondLst>
                                    <p:cond delay="0"/>
                                  </p:stCondLst>
                                  <p:childTnLst>
                                    <p:animMotion origin="layout" path="M 0.100405 0.457742 L 0 0 E" pathEditMode="relative" ptsTypes="">
                                      <p:cBhvr>
                                        <p:cTn id="123" dur="2000" fill="hold"/>
                                        <p:tgtEl>
                                          <p:spTgt spid="65"/>
                                        </p:tgtEl>
                                        <p:attrNameLst>
                                          <p:attrName>ppt_x</p:attrName>
                                          <p:attrName>ppt_y</p:attrName>
                                        </p:attrNameLst>
                                      </p:cBhvr>
                                    </p:animMotion>
                                  </p:childTnLst>
                                </p:cTn>
                              </p:par>
                              <p:par>
                                <p:cTn id="124" presetID="6" presetClass="emph" presetSubtype="0" accel="50000" decel="50000" fill="hold" nodeType="withEffect">
                                  <p:stCondLst>
                                    <p:cond delay="0"/>
                                  </p:stCondLst>
                                  <p:childTnLst>
                                    <p:animScale>
                                      <p:cBhvr>
                                        <p:cTn id="125" dur="2000" fill="hold"/>
                                        <p:tgtEl>
                                          <p:spTgt spid="53"/>
                                        </p:tgtEl>
                                      </p:cBhvr>
                                      <p:by x="150000" y="150000"/>
                                      <p:from x="100000" y="100000"/>
                                      <p:to x="398551" y="64555"/>
                                    </p:animScale>
                                  </p:childTnLst>
                                </p:cTn>
                              </p:par>
                              <p:par>
                                <p:cTn id="126" presetID="6" presetClass="emph" presetSubtype="0" accel="50000" decel="50000" fill="hold" grpId="2" nodeType="withEffect">
                                  <p:stCondLst>
                                    <p:cond delay="0"/>
                                  </p:stCondLst>
                                  <p:childTnLst>
                                    <p:animScale>
                                      <p:cBhvr>
                                        <p:cTn id="127" dur="2000" fill="hold"/>
                                        <p:tgtEl>
                                          <p:spTgt spid="65"/>
                                        </p:tgtEl>
                                      </p:cBhvr>
                                      <p:by x="150000" y="150000"/>
                                      <p:from x="25091" y="154908"/>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48" grpId="0"/>
      <p:bldP spid="60" grpId="0"/>
      <p:bldP spid="65" grpId="0" animBg="1"/>
      <p:bldP spid="65" grpId="1" animBg="1"/>
      <p:bldP spid="65" grpId="2" animBg="1"/>
      <p:bldP spid="66" grpId="0" animBg="1"/>
      <p:bldP spid="66" grpId="1" animBg="1"/>
      <p:bldP spid="66" grpId="2"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4800" y="152636"/>
            <a:ext cx="9831600" cy="640800"/>
          </a:xfrm>
        </p:spPr>
        <p:txBody>
          <a:bodyPr/>
          <a:lstStyle/>
          <a:p>
            <a:r>
              <a:rPr lang="en-US" dirty="0">
                <a:latin typeface="Arial" panose="020B0604020202020204" pitchFamily="34" charset="0"/>
              </a:rPr>
              <a:t>Non-Virtualized Storage Conversion Path in Cloud Computing</a:t>
            </a:r>
          </a:p>
        </p:txBody>
      </p:sp>
      <p:grpSp>
        <p:nvGrpSpPr>
          <p:cNvPr id="22" name="组合 21"/>
          <p:cNvGrpSpPr/>
          <p:nvPr/>
        </p:nvGrpSpPr>
        <p:grpSpPr>
          <a:xfrm>
            <a:off x="4014746" y="5304285"/>
            <a:ext cx="4097478" cy="609685"/>
            <a:chOff x="1741805" y="5735639"/>
            <a:chExt cx="4097478" cy="609685"/>
          </a:xfrm>
        </p:grpSpPr>
        <p:sp>
          <p:nvSpPr>
            <p:cNvPr id="3"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4"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grpSp>
        <p:nvGrpSpPr>
          <p:cNvPr id="23" name="组合 22"/>
          <p:cNvGrpSpPr/>
          <p:nvPr/>
        </p:nvGrpSpPr>
        <p:grpSpPr>
          <a:xfrm>
            <a:off x="4655840" y="4041762"/>
            <a:ext cx="2668985" cy="654286"/>
            <a:chOff x="2382899" y="4473116"/>
            <a:chExt cx="2668985" cy="654286"/>
          </a:xfrm>
        </p:grpSpPr>
        <p:grpSp>
          <p:nvGrpSpPr>
            <p:cNvPr id="6" name="组合 5"/>
            <p:cNvGrpSpPr/>
            <p:nvPr/>
          </p:nvGrpSpPr>
          <p:grpSpPr>
            <a:xfrm>
              <a:off x="4295800" y="4581128"/>
              <a:ext cx="430713" cy="546273"/>
              <a:chOff x="8407400" y="2055813"/>
              <a:chExt cx="360363" cy="458788"/>
            </a:xfrm>
            <a:solidFill>
              <a:srgbClr val="3ABABA"/>
            </a:solidFill>
          </p:grpSpPr>
          <p:sp>
            <p:nvSpPr>
              <p:cNvPr id="7"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1" name="组合 10"/>
            <p:cNvGrpSpPr/>
            <p:nvPr/>
          </p:nvGrpSpPr>
          <p:grpSpPr>
            <a:xfrm>
              <a:off x="3628545" y="4581129"/>
              <a:ext cx="446545" cy="546273"/>
              <a:chOff x="8435975" y="2055813"/>
              <a:chExt cx="373609" cy="458788"/>
            </a:xfrm>
            <a:solidFill>
              <a:srgbClr val="3ABABA"/>
            </a:solidFill>
          </p:grpSpPr>
          <p:sp>
            <p:nvSpPr>
              <p:cNvPr id="12" name="Freeform 219"/>
              <p:cNvSpPr>
                <a:spLocks noEditPoints="1"/>
              </p:cNvSpPr>
              <p:nvPr/>
            </p:nvSpPr>
            <p:spPr bwMode="auto">
              <a:xfrm>
                <a:off x="8449221"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3"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4"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5"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grpSp>
          <p:nvGrpSpPr>
            <p:cNvPr id="16" name="组合 15"/>
            <p:cNvGrpSpPr/>
            <p:nvPr/>
          </p:nvGrpSpPr>
          <p:grpSpPr>
            <a:xfrm>
              <a:off x="2927134" y="4581129"/>
              <a:ext cx="463878" cy="546273"/>
              <a:chOff x="8435975" y="2055813"/>
              <a:chExt cx="388111" cy="458788"/>
            </a:xfrm>
            <a:solidFill>
              <a:srgbClr val="3ABABA"/>
            </a:solidFill>
          </p:grpSpPr>
          <p:sp>
            <p:nvSpPr>
              <p:cNvPr id="17" name="Freeform 219"/>
              <p:cNvSpPr>
                <a:spLocks noEditPoints="1"/>
              </p:cNvSpPr>
              <p:nvPr/>
            </p:nvSpPr>
            <p:spPr bwMode="auto">
              <a:xfrm>
                <a:off x="8463723"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8"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19"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sp>
            <p:nvSpPr>
              <p:cNvPr id="20"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3201">
                  <a:latin typeface="Arial" panose="020B0604020202020204" pitchFamily="34" charset="0"/>
                  <a:ea typeface="+mn-ea"/>
                  <a:cs typeface="+mn-ea"/>
                  <a:sym typeface="+mn-lt"/>
                </a:endParaRPr>
              </a:p>
            </p:txBody>
          </p:sp>
        </p:grpSp>
        <p:sp>
          <p:nvSpPr>
            <p:cNvPr id="21" name="圆角矩形 20"/>
            <p:cNvSpPr/>
            <p:nvPr/>
          </p:nvSpPr>
          <p:spPr bwMode="auto">
            <a:xfrm>
              <a:off x="2382899" y="4473116"/>
              <a:ext cx="2668985"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0" rIns="91440" bIns="0" numCol="1" rtlCol="0" anchor="ctr" anchorCtr="0" compatLnSpc="1">
              <a:prstTxWarp prst="textNoShape">
                <a:avLst/>
              </a:prstTxWarp>
            </a:bodyPr>
            <a:lstStyle/>
            <a:p>
              <a:pPr marL="0" marR="0" indent="0"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Physical</a:t>
              </a:r>
            </a:p>
            <a:p>
              <a:pPr marL="0" marR="0" indent="0"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volume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grpSp>
      <p:sp>
        <p:nvSpPr>
          <p:cNvPr id="24" name="文本框 23"/>
          <p:cNvSpPr txBox="1"/>
          <p:nvPr/>
        </p:nvSpPr>
        <p:spPr bwMode="auto">
          <a:xfrm>
            <a:off x="4876553" y="5445918"/>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RAID or </a:t>
            </a:r>
            <a:r>
              <a:rPr lang="en-US" sz="1400" dirty="0" smtClean="0">
                <a:latin typeface="Arial" panose="020B0604020202020204" pitchFamily="34" charset="0"/>
                <a:ea typeface="+mn-ea"/>
                <a:cs typeface="Arial" pitchFamily="34" charset="0"/>
              </a:rPr>
              <a:t>Replication</a:t>
            </a:r>
            <a:endParaRPr lang="en-US" sz="1400" dirty="0">
              <a:latin typeface="Arial" panose="020B0604020202020204" pitchFamily="34" charset="0"/>
              <a:ea typeface="+mn-ea"/>
              <a:cs typeface="Arial" pitchFamily="34" charset="0"/>
            </a:endParaRPr>
          </a:p>
        </p:txBody>
      </p:sp>
      <p:sp>
        <p:nvSpPr>
          <p:cNvPr id="25" name="文本框 24"/>
          <p:cNvSpPr txBox="1"/>
          <p:nvPr/>
        </p:nvSpPr>
        <p:spPr bwMode="auto">
          <a:xfrm>
            <a:off x="4876553" y="4257786"/>
            <a:ext cx="252028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Logical division</a:t>
            </a:r>
          </a:p>
        </p:txBody>
      </p:sp>
      <p:grpSp>
        <p:nvGrpSpPr>
          <p:cNvPr id="47" name="组合 46"/>
          <p:cNvGrpSpPr/>
          <p:nvPr/>
        </p:nvGrpSpPr>
        <p:grpSpPr>
          <a:xfrm>
            <a:off x="4655840" y="2960948"/>
            <a:ext cx="2632981" cy="648072"/>
            <a:chOff x="2418903" y="3392302"/>
            <a:chExt cx="2632981" cy="648072"/>
          </a:xfrm>
        </p:grpSpPr>
        <p:sp>
          <p:nvSpPr>
            <p:cNvPr id="43" name="圆角矩形 42"/>
            <p:cNvSpPr/>
            <p:nvPr/>
          </p:nvSpPr>
          <p:spPr bwMode="auto">
            <a:xfrm>
              <a:off x="2418903" y="3392302"/>
              <a:ext cx="2632981" cy="648072"/>
            </a:xfrm>
            <a:prstGeom prst="roundRect">
              <a:avLst/>
            </a:prstGeom>
            <a:noFill/>
            <a:ln w="9525" cap="flat" cmpd="sng" algn="ctr">
              <a:solidFill>
                <a:schemeClr val="bg1">
                  <a:lumMod val="85000"/>
                </a:schemeClr>
              </a:solidFill>
              <a:prstDash val="solid"/>
              <a:round/>
              <a:headEnd type="none" w="med" len="med"/>
              <a:tailEnd type="none" w="med" len="med"/>
            </a:ln>
            <a:effectLst/>
          </p:spPr>
          <p:txBody>
            <a:bodyPr vert="horz" wrap="square" lIns="0" tIns="45720" rIns="91440" bIns="45720" numCol="1" rtlCol="0" anchor="ctr"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1"/>
                  </a:solidFill>
                  <a:latin typeface="Arial" panose="020B0604020202020204" pitchFamily="34" charset="0"/>
                  <a:ea typeface="+mn-ea"/>
                  <a:cs typeface="+mn-ea"/>
                  <a:sym typeface="+mn-lt"/>
                </a:rPr>
                <a:t>Logical</a:t>
              </a:r>
            </a:p>
            <a:p>
              <a:pPr marL="0" marR="0" indent="0" algn="l" defTabSz="914400" rtl="0" eaLnBrk="1" fontAlgn="t"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latin typeface="Arial" panose="020B0604020202020204" pitchFamily="34" charset="0"/>
                  <a:ea typeface="+mn-ea"/>
                  <a:cs typeface="+mn-ea"/>
                  <a:sym typeface="+mn-lt"/>
                </a:rPr>
                <a:t>volume</a:t>
              </a:r>
              <a:endParaRPr kumimoji="0" lang="en-US" sz="1100" b="0" i="0" u="none" strike="noStrike" cap="none" normalizeH="0" baseline="0" dirty="0">
                <a:ln>
                  <a:noFill/>
                </a:ln>
                <a:solidFill>
                  <a:schemeClr val="tx1"/>
                </a:solidFill>
                <a:latin typeface="Arial" panose="020B0604020202020204" pitchFamily="34" charset="0"/>
                <a:ea typeface="+mn-ea"/>
                <a:cs typeface="+mn-ea"/>
                <a:sym typeface="+mn-lt"/>
              </a:endParaRPr>
            </a:p>
          </p:txBody>
        </p:sp>
        <p:sp>
          <p:nvSpPr>
            <p:cNvPr id="44" name="disc_30226"/>
            <p:cNvSpPr>
              <a:spLocks noChangeAspect="1"/>
            </p:cNvSpPr>
            <p:nvPr/>
          </p:nvSpPr>
          <p:spPr bwMode="auto">
            <a:xfrm>
              <a:off x="3030971"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5" name="disc_30226"/>
            <p:cNvSpPr>
              <a:spLocks noChangeAspect="1"/>
            </p:cNvSpPr>
            <p:nvPr/>
          </p:nvSpPr>
          <p:spPr bwMode="auto">
            <a:xfrm>
              <a:off x="3810960" y="3546365"/>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sp>
          <p:nvSpPr>
            <p:cNvPr id="46" name="disc_30226"/>
            <p:cNvSpPr>
              <a:spLocks noChangeAspect="1"/>
            </p:cNvSpPr>
            <p:nvPr/>
          </p:nvSpPr>
          <p:spPr bwMode="auto">
            <a:xfrm>
              <a:off x="4590949" y="3547892"/>
              <a:ext cx="304986" cy="360040"/>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sp>
      </p:grpSp>
      <p:sp>
        <p:nvSpPr>
          <p:cNvPr id="60" name="文本框 59"/>
          <p:cNvSpPr txBox="1"/>
          <p:nvPr/>
        </p:nvSpPr>
        <p:spPr bwMode="auto">
          <a:xfrm>
            <a:off x="5015880" y="3140968"/>
            <a:ext cx="2412268"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latin typeface="Arial" panose="020B0604020202020204" pitchFamily="34" charset="0"/>
                <a:ea typeface="+mn-ea"/>
                <a:cs typeface="Arial" pitchFamily="34" charset="0"/>
              </a:rPr>
              <a:t>Attach to compute cluster</a:t>
            </a:r>
          </a:p>
        </p:txBody>
      </p:sp>
      <p:sp>
        <p:nvSpPr>
          <p:cNvPr id="67" name="database-settings-button-for-interface_30615"/>
          <p:cNvSpPr>
            <a:spLocks noChangeAspect="1"/>
          </p:cNvSpPr>
          <p:nvPr/>
        </p:nvSpPr>
        <p:spPr bwMode="auto">
          <a:xfrm>
            <a:off x="5771964" y="1556792"/>
            <a:ext cx="609685" cy="602951"/>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noFill/>
          <a:ln>
            <a:solidFill>
              <a:srgbClr val="00B0F0"/>
            </a:solidFill>
          </a:ln>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1919351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repeatCount="300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fltVal val="0"/>
                                          </p:val>
                                        </p:tav>
                                        <p:tav tm="100000">
                                          <p:val>
                                            <p:strVal val="#ppt_w"/>
                                          </p:val>
                                        </p:tav>
                                      </p:tavLst>
                                    </p:anim>
                                    <p:anim calcmode="lin" valueType="num">
                                      <p:cBhvr>
                                        <p:cTn id="8" dur="1000" fill="hold"/>
                                        <p:tgtEl>
                                          <p:spTgt spid="24"/>
                                        </p:tgtEl>
                                        <p:attrNameLst>
                                          <p:attrName>ppt_h</p:attrName>
                                        </p:attrNameLst>
                                      </p:cBhvr>
                                      <p:tavLst>
                                        <p:tav tm="0">
                                          <p:val>
                                            <p:fltVal val="0"/>
                                          </p:val>
                                        </p:tav>
                                        <p:tav tm="100000">
                                          <p:val>
                                            <p:strVal val="#ppt_h"/>
                                          </p:val>
                                        </p:tav>
                                      </p:tavLst>
                                    </p:anim>
                                    <p:animEffect transition="in" filter="fade">
                                      <p:cBhvr>
                                        <p:cTn id="9" dur="1000"/>
                                        <p:tgtEl>
                                          <p:spTgt spid="24"/>
                                        </p:tgtEl>
                                      </p:cBhvr>
                                    </p:animEffect>
                                  </p:childTnLst>
                                  <p:subTnLst>
                                    <p:set>
                                      <p:cBhvr override="childStyle">
                                        <p:cTn dur="1" fill="hold" display="0" masterRel="sameClick" afterEffect="1">
                                          <p:stCondLst>
                                            <p:cond evt="end" delay="0">
                                              <p:tn val="5"/>
                                            </p:cond>
                                          </p:stCondLst>
                                        </p:cTn>
                                        <p:tgtEl>
                                          <p:spTgt spid="24"/>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10" presetClass="exit" presetSubtype="0" fill="hold" nodeType="clickEffect">
                                  <p:stCondLst>
                                    <p:cond delay="0"/>
                                  </p:stCondLst>
                                  <p:childTnLst>
                                    <p:animEffect transition="out" filter="fade">
                                      <p:cBhvr>
                                        <p:cTn id="13" dur="2000"/>
                                        <p:tgtEl>
                                          <p:spTgt spid="22"/>
                                        </p:tgtEl>
                                      </p:cBhvr>
                                    </p:animEffect>
                                    <p:set>
                                      <p:cBhvr>
                                        <p:cTn id="14" dur="1" fill="hold">
                                          <p:stCondLst>
                                            <p:cond delay="1999"/>
                                          </p:stCondLst>
                                        </p:cTn>
                                        <p:tgtEl>
                                          <p:spTgt spid="22"/>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2000"/>
                                        <p:tgtEl>
                                          <p:spTgt spid="23"/>
                                        </p:tgtEl>
                                      </p:cBhvr>
                                    </p:animEffect>
                                  </p:childTnLst>
                                </p:cTn>
                              </p:par>
                              <p:par>
                                <p:cTn id="18" presetID="63" presetClass="path" presetSubtype="0" accel="50000" decel="50000" fill="hold" nodeType="withEffect">
                                  <p:stCondLst>
                                    <p:cond delay="0"/>
                                  </p:stCondLst>
                                  <p:childTnLst>
                                    <p:animMotion origin="layout" path="M 4.375E-6 -4.07407E-6 L 0.00156 -0.18078 " pathEditMode="relative" rAng="0" ptsTypes="AA">
                                      <p:cBhvr>
                                        <p:cTn id="19" dur="2000" fill="hold"/>
                                        <p:tgtEl>
                                          <p:spTgt spid="22"/>
                                        </p:tgtEl>
                                        <p:attrNameLst>
                                          <p:attrName>ppt_x</p:attrName>
                                          <p:attrName>ppt_y</p:attrName>
                                        </p:attrNameLst>
                                      </p:cBhvr>
                                      <p:rCtr x="78" y="-9051"/>
                                    </p:animMotion>
                                  </p:childTnLst>
                                </p:cTn>
                              </p:par>
                              <p:par>
                                <p:cTn id="20" presetID="63" presetClass="path" presetSubtype="0" accel="50000" decel="50000" fill="hold" nodeType="withEffect">
                                  <p:stCondLst>
                                    <p:cond delay="0"/>
                                  </p:stCondLst>
                                  <p:childTnLst>
                                    <p:animMotion origin="layout" path="M -0.00157 0.18078 L 3.95833E-6 2.96296E-6 " pathEditMode="relative" rAng="0" ptsTypes="AA">
                                      <p:cBhvr>
                                        <p:cTn id="21" dur="2000" fill="hold"/>
                                        <p:tgtEl>
                                          <p:spTgt spid="23"/>
                                        </p:tgtEl>
                                        <p:attrNameLst>
                                          <p:attrName>ppt_x</p:attrName>
                                          <p:attrName>ppt_y</p:attrName>
                                        </p:attrNameLst>
                                      </p:cBhvr>
                                      <p:rCtr x="78" y="-9051"/>
                                    </p:animMotion>
                                  </p:childTnLst>
                                </p:cTn>
                              </p:par>
                              <p:par>
                                <p:cTn id="22" presetID="6" presetClass="emph" presetSubtype="0" accel="50000" decel="50000" fill="hold" nodeType="withEffect">
                                  <p:stCondLst>
                                    <p:cond delay="0"/>
                                  </p:stCondLst>
                                  <p:childTnLst>
                                    <p:animScale>
                                      <p:cBhvr>
                                        <p:cTn id="23" dur="2000" fill="hold"/>
                                        <p:tgtEl>
                                          <p:spTgt spid="22"/>
                                        </p:tgtEl>
                                      </p:cBhvr>
                                      <p:by x="150000" y="150000"/>
                                      <p:from x="100000" y="100000"/>
                                      <p:to x="60629" y="107315"/>
                                    </p:animScale>
                                  </p:childTnLst>
                                </p:cTn>
                              </p:par>
                              <p:par>
                                <p:cTn id="24" presetID="6" presetClass="emph" presetSubtype="0" accel="50000" decel="50000" fill="hold" nodeType="withEffect">
                                  <p:stCondLst>
                                    <p:cond delay="0"/>
                                  </p:stCondLst>
                                  <p:childTnLst>
                                    <p:animScale>
                                      <p:cBhvr>
                                        <p:cTn id="25" dur="2000" fill="hold"/>
                                        <p:tgtEl>
                                          <p:spTgt spid="23"/>
                                        </p:tgtEl>
                                      </p:cBhvr>
                                      <p:by x="150000" y="150000"/>
                                      <p:from x="164937" y="93183"/>
                                      <p:to x="100000" y="100000"/>
                                    </p:animScale>
                                  </p:childTnLst>
                                </p:cTn>
                              </p:par>
                            </p:childTnLst>
                          </p:cTn>
                        </p:par>
                      </p:childTnLst>
                    </p:cTn>
                  </p:par>
                  <p:par>
                    <p:cTn id="26" fill="hold">
                      <p:stCondLst>
                        <p:cond delay="indefinite"/>
                      </p:stCondLst>
                      <p:childTnLst>
                        <p:par>
                          <p:cTn id="27" fill="hold">
                            <p:stCondLst>
                              <p:cond delay="0"/>
                            </p:stCondLst>
                            <p:childTnLst>
                              <p:par>
                                <p:cTn id="28" presetID="53" presetClass="entr" presetSubtype="16" repeatCount="3000"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1000" fill="hold"/>
                                        <p:tgtEl>
                                          <p:spTgt spid="25"/>
                                        </p:tgtEl>
                                        <p:attrNameLst>
                                          <p:attrName>ppt_w</p:attrName>
                                        </p:attrNameLst>
                                      </p:cBhvr>
                                      <p:tavLst>
                                        <p:tav tm="0">
                                          <p:val>
                                            <p:fltVal val="0"/>
                                          </p:val>
                                        </p:tav>
                                        <p:tav tm="100000">
                                          <p:val>
                                            <p:strVal val="#ppt_w"/>
                                          </p:val>
                                        </p:tav>
                                      </p:tavLst>
                                    </p:anim>
                                    <p:anim calcmode="lin" valueType="num">
                                      <p:cBhvr>
                                        <p:cTn id="31" dur="1000" fill="hold"/>
                                        <p:tgtEl>
                                          <p:spTgt spid="25"/>
                                        </p:tgtEl>
                                        <p:attrNameLst>
                                          <p:attrName>ppt_h</p:attrName>
                                        </p:attrNameLst>
                                      </p:cBhvr>
                                      <p:tavLst>
                                        <p:tav tm="0">
                                          <p:val>
                                            <p:fltVal val="0"/>
                                          </p:val>
                                        </p:tav>
                                        <p:tav tm="100000">
                                          <p:val>
                                            <p:strVal val="#ppt_h"/>
                                          </p:val>
                                        </p:tav>
                                      </p:tavLst>
                                    </p:anim>
                                    <p:animEffect transition="in" filter="fade">
                                      <p:cBhvr>
                                        <p:cTn id="32" dur="1000"/>
                                        <p:tgtEl>
                                          <p:spTgt spid="25"/>
                                        </p:tgtEl>
                                      </p:cBhvr>
                                    </p:animEffect>
                                  </p:childTnLst>
                                  <p:subTnLst>
                                    <p:set>
                                      <p:cBhvr override="childStyle">
                                        <p:cTn dur="1" fill="hold" display="0" masterRel="sameClick" afterEffect="1">
                                          <p:stCondLst>
                                            <p:cond evt="end" delay="0">
                                              <p:tn val="28"/>
                                            </p:cond>
                                          </p:stCondLst>
                                        </p:cTn>
                                        <p:tgtEl>
                                          <p:spTgt spid="2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2000"/>
                                        <p:tgtEl>
                                          <p:spTgt spid="23"/>
                                        </p:tgtEl>
                                      </p:cBhvr>
                                    </p:animEffect>
                                    <p:set>
                                      <p:cBhvr>
                                        <p:cTn id="37" dur="1" fill="hold">
                                          <p:stCondLst>
                                            <p:cond delay="1999"/>
                                          </p:stCondLst>
                                        </p:cTn>
                                        <p:tgtEl>
                                          <p:spTgt spid="23"/>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2000"/>
                                        <p:tgtEl>
                                          <p:spTgt spid="47"/>
                                        </p:tgtEl>
                                      </p:cBhvr>
                                    </p:animEffect>
                                  </p:childTnLst>
                                </p:cTn>
                              </p:par>
                              <p:par>
                                <p:cTn id="41" presetID="63" presetClass="path" presetSubtype="0" accel="50000" decel="50000" fill="hold" nodeType="withEffect">
                                  <p:stCondLst>
                                    <p:cond delay="0"/>
                                  </p:stCondLst>
                                  <p:childTnLst>
                                    <p:animMotion origin="layout" path="M 3.95833E-6 2.96296E-6 L -0.003 -0.1581 " pathEditMode="relative" rAng="0" ptsTypes="AA">
                                      <p:cBhvr>
                                        <p:cTn id="42" dur="2000" fill="hold"/>
                                        <p:tgtEl>
                                          <p:spTgt spid="23"/>
                                        </p:tgtEl>
                                        <p:attrNameLst>
                                          <p:attrName>ppt_x</p:attrName>
                                          <p:attrName>ppt_y</p:attrName>
                                        </p:attrNameLst>
                                      </p:cBhvr>
                                      <p:rCtr x="-156" y="-7917"/>
                                    </p:animMotion>
                                  </p:childTnLst>
                                </p:cTn>
                              </p:par>
                              <p:par>
                                <p:cTn id="43" presetID="63" presetClass="path" presetSubtype="0" accel="50000" decel="50000" fill="hold" nodeType="withEffect">
                                  <p:stCondLst>
                                    <p:cond delay="0"/>
                                  </p:stCondLst>
                                  <p:childTnLst>
                                    <p:animMotion origin="layout" path="M 0.003 0.1581 L -3.75E-6 4.81481E-6 " pathEditMode="relative" rAng="0" ptsTypes="AA">
                                      <p:cBhvr>
                                        <p:cTn id="44" dur="2000" fill="hold"/>
                                        <p:tgtEl>
                                          <p:spTgt spid="47"/>
                                        </p:tgtEl>
                                        <p:attrNameLst>
                                          <p:attrName>ppt_x</p:attrName>
                                          <p:attrName>ppt_y</p:attrName>
                                        </p:attrNameLst>
                                      </p:cBhvr>
                                      <p:rCtr x="-156" y="-7917"/>
                                    </p:animMotion>
                                  </p:childTnLst>
                                </p:cTn>
                              </p:par>
                              <p:par>
                                <p:cTn id="45" presetID="6" presetClass="emph" presetSubtype="0" accel="50000" decel="50000" fill="hold" nodeType="withEffect">
                                  <p:stCondLst>
                                    <p:cond delay="0"/>
                                  </p:stCondLst>
                                  <p:childTnLst>
                                    <p:animScale>
                                      <p:cBhvr>
                                        <p:cTn id="46" dur="2000" fill="hold"/>
                                        <p:tgtEl>
                                          <p:spTgt spid="23"/>
                                        </p:tgtEl>
                                      </p:cBhvr>
                                      <p:by x="150000" y="150000"/>
                                      <p:from x="100000" y="100000"/>
                                      <p:to x="100000" y="99050"/>
                                    </p:animScale>
                                  </p:childTnLst>
                                </p:cTn>
                              </p:par>
                              <p:par>
                                <p:cTn id="47" presetID="6" presetClass="emph" presetSubtype="0" accel="50000" decel="50000" fill="hold" nodeType="withEffect">
                                  <p:stCondLst>
                                    <p:cond delay="0"/>
                                  </p:stCondLst>
                                  <p:childTnLst>
                                    <p:animScale>
                                      <p:cBhvr>
                                        <p:cTn id="48" dur="2000" fill="hold"/>
                                        <p:tgtEl>
                                          <p:spTgt spid="47"/>
                                        </p:tgtEl>
                                      </p:cBhvr>
                                      <p:by x="150000" y="150000"/>
                                      <p:from x="100000" y="100959"/>
                                      <p:to x="100000" y="100000"/>
                                    </p:animScale>
                                  </p:childTnLst>
                                </p:cTn>
                              </p:par>
                            </p:childTnLst>
                          </p:cTn>
                        </p:par>
                      </p:childTnLst>
                    </p:cTn>
                  </p:par>
                  <p:par>
                    <p:cTn id="49" fill="hold">
                      <p:stCondLst>
                        <p:cond delay="indefinite"/>
                      </p:stCondLst>
                      <p:childTnLst>
                        <p:par>
                          <p:cTn id="50" fill="hold">
                            <p:stCondLst>
                              <p:cond delay="0"/>
                            </p:stCondLst>
                            <p:childTnLst>
                              <p:par>
                                <p:cTn id="51" presetID="53" presetClass="entr" presetSubtype="16" repeatCount="3000" fill="hold" grpId="0" nodeType="clickEffect">
                                  <p:stCondLst>
                                    <p:cond delay="0"/>
                                  </p:stCondLst>
                                  <p:childTnLst>
                                    <p:set>
                                      <p:cBhvr>
                                        <p:cTn id="52" dur="1" fill="hold">
                                          <p:stCondLst>
                                            <p:cond delay="0"/>
                                          </p:stCondLst>
                                        </p:cTn>
                                        <p:tgtEl>
                                          <p:spTgt spid="60"/>
                                        </p:tgtEl>
                                        <p:attrNameLst>
                                          <p:attrName>style.visibility</p:attrName>
                                        </p:attrNameLst>
                                      </p:cBhvr>
                                      <p:to>
                                        <p:strVal val="visible"/>
                                      </p:to>
                                    </p:set>
                                    <p:anim calcmode="lin" valueType="num">
                                      <p:cBhvr>
                                        <p:cTn id="53" dur="1000" fill="hold"/>
                                        <p:tgtEl>
                                          <p:spTgt spid="60"/>
                                        </p:tgtEl>
                                        <p:attrNameLst>
                                          <p:attrName>ppt_w</p:attrName>
                                        </p:attrNameLst>
                                      </p:cBhvr>
                                      <p:tavLst>
                                        <p:tav tm="0">
                                          <p:val>
                                            <p:fltVal val="0"/>
                                          </p:val>
                                        </p:tav>
                                        <p:tav tm="100000">
                                          <p:val>
                                            <p:strVal val="#ppt_w"/>
                                          </p:val>
                                        </p:tav>
                                      </p:tavLst>
                                    </p:anim>
                                    <p:anim calcmode="lin" valueType="num">
                                      <p:cBhvr>
                                        <p:cTn id="54" dur="1000" fill="hold"/>
                                        <p:tgtEl>
                                          <p:spTgt spid="60"/>
                                        </p:tgtEl>
                                        <p:attrNameLst>
                                          <p:attrName>ppt_h</p:attrName>
                                        </p:attrNameLst>
                                      </p:cBhvr>
                                      <p:tavLst>
                                        <p:tav tm="0">
                                          <p:val>
                                            <p:fltVal val="0"/>
                                          </p:val>
                                        </p:tav>
                                        <p:tav tm="100000">
                                          <p:val>
                                            <p:strVal val="#ppt_h"/>
                                          </p:val>
                                        </p:tav>
                                      </p:tavLst>
                                    </p:anim>
                                    <p:animEffect transition="in" filter="fade">
                                      <p:cBhvr>
                                        <p:cTn id="55" dur="1000"/>
                                        <p:tgtEl>
                                          <p:spTgt spid="60"/>
                                        </p:tgtEl>
                                      </p:cBhvr>
                                    </p:animEffect>
                                  </p:childTnLst>
                                  <p:subTnLst>
                                    <p:set>
                                      <p:cBhvr override="childStyle">
                                        <p:cTn dur="1" fill="hold" display="0" masterRel="sameClick" afterEffect="1">
                                          <p:stCondLst>
                                            <p:cond evt="end" delay="0">
                                              <p:tn val="51"/>
                                            </p:cond>
                                          </p:stCondLst>
                                        </p:cTn>
                                        <p:tgtEl>
                                          <p:spTgt spid="60"/>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10" presetClass="exit" presetSubtype="0" fill="hold" nodeType="clickEffect">
                                  <p:stCondLst>
                                    <p:cond delay="0"/>
                                  </p:stCondLst>
                                  <p:childTnLst>
                                    <p:animEffect transition="out" filter="fade">
                                      <p:cBhvr>
                                        <p:cTn id="59" dur="2000"/>
                                        <p:tgtEl>
                                          <p:spTgt spid="47"/>
                                        </p:tgtEl>
                                      </p:cBhvr>
                                    </p:animEffect>
                                    <p:set>
                                      <p:cBhvr>
                                        <p:cTn id="60" dur="1" fill="hold">
                                          <p:stCondLst>
                                            <p:cond delay="1999"/>
                                          </p:stCondLst>
                                        </p:cTn>
                                        <p:tgtEl>
                                          <p:spTgt spid="47"/>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fade">
                                      <p:cBhvr>
                                        <p:cTn id="63" dur="2000"/>
                                        <p:tgtEl>
                                          <p:spTgt spid="67"/>
                                        </p:tgtEl>
                                      </p:cBhvr>
                                    </p:animEffect>
                                  </p:childTnLst>
                                </p:cTn>
                              </p:par>
                              <p:par>
                                <p:cTn id="64" presetID="63" presetClass="path" presetSubtype="0" accel="50000" decel="50000" fill="hold" nodeType="withEffect">
                                  <p:stCondLst>
                                    <p:cond delay="0"/>
                                  </p:stCondLst>
                                  <p:childTnLst>
                                    <p:animMotion origin="layout" path="M -3.75E-6 4.81481E-6 L 0.00248 -0.20811 " pathEditMode="relative" rAng="0" ptsTypes="AA">
                                      <p:cBhvr>
                                        <p:cTn id="65" dur="2000" fill="hold"/>
                                        <p:tgtEl>
                                          <p:spTgt spid="47"/>
                                        </p:tgtEl>
                                        <p:attrNameLst>
                                          <p:attrName>ppt_x</p:attrName>
                                          <p:attrName>ppt_y</p:attrName>
                                        </p:attrNameLst>
                                      </p:cBhvr>
                                      <p:rCtr x="117" y="-10417"/>
                                    </p:animMotion>
                                  </p:childTnLst>
                                </p:cTn>
                              </p:par>
                              <p:par>
                                <p:cTn id="66" presetID="63" presetClass="path" presetSubtype="0" accel="50000" decel="50000" fill="hold" nodeType="withEffect">
                                  <p:stCondLst>
                                    <p:cond delay="0"/>
                                  </p:stCondLst>
                                  <p:childTnLst>
                                    <p:animMotion origin="layout" path="M -0.002471 0.208037 L 0 0 E" pathEditMode="relative" ptsTypes="">
                                      <p:cBhvr>
                                        <p:cTn id="67" dur="2000" fill="hold"/>
                                        <p:tgtEl>
                                          <p:spTgt spid="67"/>
                                        </p:tgtEl>
                                        <p:attrNameLst>
                                          <p:attrName>ppt_x</p:attrName>
                                          <p:attrName>ppt_y</p:attrName>
                                        </p:attrNameLst>
                                      </p:cBhvr>
                                    </p:animMotion>
                                  </p:childTnLst>
                                </p:cTn>
                              </p:par>
                              <p:par>
                                <p:cTn id="68" presetID="6" presetClass="emph" presetSubtype="0" accel="50000" decel="50000" fill="hold" nodeType="withEffect">
                                  <p:stCondLst>
                                    <p:cond delay="0"/>
                                  </p:stCondLst>
                                  <p:childTnLst>
                                    <p:animScale>
                                      <p:cBhvr>
                                        <p:cTn id="69" dur="2000" fill="hold"/>
                                        <p:tgtEl>
                                          <p:spTgt spid="47"/>
                                        </p:tgtEl>
                                      </p:cBhvr>
                                      <p:by x="150000" y="150000"/>
                                      <p:from x="100000" y="100000"/>
                                      <p:to x="24542" y="93038"/>
                                    </p:animScale>
                                  </p:childTnLst>
                                </p:cTn>
                              </p:par>
                              <p:par>
                                <p:cTn id="70" presetID="6" presetClass="emph" presetSubtype="0" accel="50000" decel="50000" fill="hold" nodeType="withEffect">
                                  <p:stCondLst>
                                    <p:cond delay="0"/>
                                  </p:stCondLst>
                                  <p:childTnLst>
                                    <p:animScale>
                                      <p:cBhvr>
                                        <p:cTn id="71" dur="2000" fill="hold"/>
                                        <p:tgtEl>
                                          <p:spTgt spid="67"/>
                                        </p:tgtEl>
                                      </p:cBhvr>
                                      <p:by x="150000" y="150000"/>
                                      <p:from x="407469" y="107483"/>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6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Relationship Between RAIDs and LUNs</a:t>
            </a:r>
          </a:p>
        </p:txBody>
      </p:sp>
      <p:sp>
        <p:nvSpPr>
          <p:cNvPr id="4" name="文本占位符 3"/>
          <p:cNvSpPr>
            <a:spLocks noGrp="1"/>
          </p:cNvSpPr>
          <p:nvPr>
            <p:ph type="body" sz="quarter" idx="10"/>
          </p:nvPr>
        </p:nvSpPr>
        <p:spPr>
          <a:xfrm>
            <a:off x="1235460" y="1233488"/>
            <a:ext cx="9793088" cy="4680000"/>
          </a:xfrm>
        </p:spPr>
        <p:txBody>
          <a:bodyPr/>
          <a:lstStyle/>
          <a:p>
            <a:pPr algn="l"/>
            <a:r>
              <a:rPr lang="en-US" sz="1800" dirty="0">
                <a:latin typeface="Arial" panose="020B0604020202020204" pitchFamily="34" charset="0"/>
              </a:rPr>
              <a:t>A RAID array can be seen as a large physical volume made up of a number of hard disks.</a:t>
            </a:r>
          </a:p>
          <a:p>
            <a:pPr algn="l"/>
            <a:r>
              <a:rPr lang="en-US" sz="1800" dirty="0">
                <a:latin typeface="Arial" panose="020B0604020202020204" pitchFamily="34" charset="0"/>
              </a:rPr>
              <a:t>On top of a physical volume, you can create one or more logical units of specified capacities. These logical units are called Logical Unit Numbers (LUNs) and can be mapped to hosts as basic block devices.</a:t>
            </a:r>
          </a:p>
          <a:p>
            <a:endParaRPr lang="zh-CN" altLang="en-US" sz="1800" dirty="0">
              <a:latin typeface="Arial" panose="020B0604020202020204" pitchFamily="34" charset="0"/>
            </a:endParaRPr>
          </a:p>
        </p:txBody>
      </p:sp>
      <p:sp>
        <p:nvSpPr>
          <p:cNvPr id="7" name="017f3900-3ac1-4cb6-a5e3-7d94e5e71f0d"/>
          <p:cNvSpPr>
            <a:spLocks/>
          </p:cNvSpPr>
          <p:nvPr/>
        </p:nvSpPr>
        <p:spPr bwMode="auto">
          <a:xfrm rot="466023">
            <a:off x="9171386" y="4052939"/>
            <a:ext cx="545540" cy="1344285"/>
          </a:xfrm>
          <a:custGeom>
            <a:avLst/>
            <a:gdLst>
              <a:gd name="connsiteX0" fmla="*/ 5384 w 9341"/>
              <a:gd name="connsiteY0" fmla="*/ 9898 h 9898"/>
              <a:gd name="connsiteX1" fmla="*/ 8571 w 9341"/>
              <a:gd name="connsiteY1" fmla="*/ 9078 h 9898"/>
              <a:gd name="connsiteX2" fmla="*/ 8571 w 9341"/>
              <a:gd name="connsiteY2" fmla="*/ 4529 h 9898"/>
              <a:gd name="connsiteX3" fmla="*/ 0 w 9341"/>
              <a:gd name="connsiteY3" fmla="*/ 0 h 9898"/>
              <a:gd name="connsiteX0" fmla="*/ 5764 w 10393"/>
              <a:gd name="connsiteY0" fmla="*/ 10000 h 10000"/>
              <a:gd name="connsiteX1" fmla="*/ 9996 w 10393"/>
              <a:gd name="connsiteY1" fmla="*/ 8349 h 10000"/>
              <a:gd name="connsiteX2" fmla="*/ 9176 w 10393"/>
              <a:gd name="connsiteY2" fmla="*/ 4576 h 10000"/>
              <a:gd name="connsiteX3" fmla="*/ 0 w 10393"/>
              <a:gd name="connsiteY3" fmla="*/ 0 h 10000"/>
            </a:gdLst>
            <a:ahLst/>
            <a:cxnLst>
              <a:cxn ang="0">
                <a:pos x="connsiteX0" y="connsiteY0"/>
              </a:cxn>
              <a:cxn ang="0">
                <a:pos x="connsiteX1" y="connsiteY1"/>
              </a:cxn>
              <a:cxn ang="0">
                <a:pos x="connsiteX2" y="connsiteY2"/>
              </a:cxn>
              <a:cxn ang="0">
                <a:pos x="connsiteX3" y="connsiteY3"/>
              </a:cxn>
            </a:cxnLst>
            <a:rect l="l" t="t" r="r" b="b"/>
            <a:pathLst>
              <a:path w="10393" h="10000">
                <a:moveTo>
                  <a:pt x="5764" y="10000"/>
                </a:moveTo>
                <a:cubicBezTo>
                  <a:pt x="6618" y="9980"/>
                  <a:pt x="9427" y="9253"/>
                  <a:pt x="9996" y="8349"/>
                </a:cubicBezTo>
                <a:cubicBezTo>
                  <a:pt x="10564" y="7444"/>
                  <a:pt x="10705" y="6094"/>
                  <a:pt x="9176" y="4576"/>
                </a:cubicBezTo>
                <a:cubicBezTo>
                  <a:pt x="7647" y="3057"/>
                  <a:pt x="3823" y="1518"/>
                  <a:pt x="0" y="0"/>
                </a:cubicBezTo>
              </a:path>
            </a:pathLst>
          </a:custGeom>
          <a:noFill/>
          <a:ln w="34925" algn="ctr">
            <a:solidFill>
              <a:schemeClr val="tx1"/>
            </a:solidFill>
            <a:prstDash val="dash"/>
            <a:miter lim="800000"/>
            <a:headEnd type="stealth"/>
            <a:tailEnd type="stealth"/>
          </a:ln>
          <a:effectLst/>
        </p:spPr>
        <p:txBody>
          <a:bodyPr wrap="none" anchor="ctr"/>
          <a:lstStyle/>
          <a:p>
            <a:pPr fontAlgn="auto">
              <a:spcBef>
                <a:spcPts val="0"/>
              </a:spcBef>
              <a:spcAft>
                <a:spcPts val="0"/>
              </a:spcAft>
              <a:defRPr/>
            </a:pPr>
            <a:endParaRPr lang="en-US" altLang="zh-CN" sz="1400" kern="0" dirty="0">
              <a:solidFill>
                <a:sysClr val="windowText" lastClr="000000"/>
              </a:solidFill>
              <a:latin typeface="Arial" panose="020B0604020202020204" pitchFamily="34" charset="0"/>
              <a:ea typeface="+mn-ea"/>
              <a:cs typeface="Arial" panose="020B0604020202020204" pitchFamily="34" charset="0"/>
            </a:endParaRPr>
          </a:p>
        </p:txBody>
      </p:sp>
      <p:sp>
        <p:nvSpPr>
          <p:cNvPr id="8" name="328cd360-51ef-4f14-8807-79ca7222431b"/>
          <p:cNvSpPr>
            <a:spLocks noChangeArrowheads="1"/>
          </p:cNvSpPr>
          <p:nvPr/>
        </p:nvSpPr>
        <p:spPr bwMode="auto">
          <a:xfrm>
            <a:off x="4439816" y="4381363"/>
            <a:ext cx="1479892" cy="307777"/>
          </a:xfrm>
          <a:prstGeom prst="rect">
            <a:avLst/>
          </a:prstGeom>
          <a:noFill/>
          <a:ln w="9525" algn="ctr">
            <a:noFill/>
            <a:miter lim="800000"/>
            <a:headEnd/>
            <a:tailEnd/>
          </a:ln>
          <a:effectLst/>
        </p:spPr>
        <p:txBody>
          <a:bodyPr wrap="non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Physical volume</a:t>
            </a:r>
          </a:p>
        </p:txBody>
      </p:sp>
      <p:sp>
        <p:nvSpPr>
          <p:cNvPr id="9" name="36523939-4325-4e2f-80ba-90c4a3a7f9b3"/>
          <p:cNvSpPr>
            <a:spLocks noChangeArrowheads="1"/>
          </p:cNvSpPr>
          <p:nvPr/>
        </p:nvSpPr>
        <p:spPr bwMode="auto">
          <a:xfrm>
            <a:off x="6416308" y="4365104"/>
            <a:ext cx="1479892" cy="307777"/>
          </a:xfrm>
          <a:prstGeom prst="rect">
            <a:avLst/>
          </a:prstGeom>
          <a:noFill/>
          <a:ln w="9525" algn="ctr">
            <a:noFill/>
            <a:miter lim="800000"/>
            <a:headEnd/>
            <a:tailEnd/>
          </a:ln>
          <a:effectLst/>
        </p:spPr>
        <p:txBody>
          <a:bodyPr wrap="non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Physical volume</a:t>
            </a:r>
          </a:p>
        </p:txBody>
      </p:sp>
      <p:sp>
        <p:nvSpPr>
          <p:cNvPr id="10" name="40c308d8-de91-4b30-93d8-2fc5ce85d504"/>
          <p:cNvSpPr>
            <a:spLocks noChangeArrowheads="1"/>
          </p:cNvSpPr>
          <p:nvPr/>
        </p:nvSpPr>
        <p:spPr bwMode="auto">
          <a:xfrm>
            <a:off x="2351584" y="3473424"/>
            <a:ext cx="1378904" cy="307777"/>
          </a:xfrm>
          <a:prstGeom prst="rect">
            <a:avLst/>
          </a:prstGeom>
          <a:noFill/>
          <a:ln w="9525" algn="ctr">
            <a:noFill/>
            <a:miter lim="800000"/>
            <a:headEnd/>
            <a:tailEnd/>
          </a:ln>
          <a:effectLst/>
        </p:spPr>
        <p:txBody>
          <a:bodyPr wrap="non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Logical volume</a:t>
            </a:r>
          </a:p>
        </p:txBody>
      </p:sp>
      <p:sp>
        <p:nvSpPr>
          <p:cNvPr id="11" name="f05abeda-72c4-4fc2-b47d-7eb1dc99b196"/>
          <p:cNvSpPr>
            <a:spLocks noChangeArrowheads="1"/>
          </p:cNvSpPr>
          <p:nvPr/>
        </p:nvSpPr>
        <p:spPr bwMode="auto">
          <a:xfrm>
            <a:off x="6384032" y="3473423"/>
            <a:ext cx="1378904" cy="307777"/>
          </a:xfrm>
          <a:prstGeom prst="rect">
            <a:avLst/>
          </a:prstGeom>
          <a:noFill/>
          <a:ln w="9525" algn="ctr">
            <a:noFill/>
            <a:miter lim="800000"/>
            <a:headEnd/>
            <a:tailEnd/>
          </a:ln>
          <a:effectLst/>
        </p:spPr>
        <p:txBody>
          <a:bodyPr wrap="non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Logical volume</a:t>
            </a:r>
          </a:p>
        </p:txBody>
      </p:sp>
      <p:sp>
        <p:nvSpPr>
          <p:cNvPr id="12" name="35634475-df41-4c5e-9a26-78529c85fc9e"/>
          <p:cNvSpPr>
            <a:spLocks noChangeArrowheads="1"/>
          </p:cNvSpPr>
          <p:nvPr/>
        </p:nvSpPr>
        <p:spPr bwMode="auto">
          <a:xfrm>
            <a:off x="2495600" y="5749442"/>
            <a:ext cx="3230570" cy="523220"/>
          </a:xfrm>
          <a:prstGeom prst="rect">
            <a:avLst/>
          </a:prstGeom>
          <a:noFill/>
          <a:ln w="9525" algn="ctr">
            <a:noFill/>
            <a:miter lim="800000"/>
            <a:headEnd/>
            <a:tailEnd/>
          </a:ln>
          <a:effectLst/>
        </p:spPr>
        <p:txBody>
          <a:bodyPr wrap="squar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Create one logical volume on a </a:t>
            </a:r>
            <a:r>
              <a:rPr lang="en-US" sz="1400" dirty="0" smtClean="0">
                <a:solidFill>
                  <a:srgbClr val="000000"/>
                </a:solidFill>
                <a:latin typeface="Arial" panose="020B0604020202020204" pitchFamily="34" charset="0"/>
                <a:ea typeface="+mn-ea"/>
                <a:cs typeface="Arial" panose="020B0604020202020204" pitchFamily="34" charset="0"/>
              </a:rPr>
              <a:t>single physical </a:t>
            </a:r>
            <a:r>
              <a:rPr lang="en-US" sz="1400" dirty="0">
                <a:solidFill>
                  <a:srgbClr val="000000"/>
                </a:solidFill>
                <a:latin typeface="Arial" panose="020B0604020202020204" pitchFamily="34" charset="0"/>
                <a:ea typeface="+mn-ea"/>
                <a:cs typeface="Arial" panose="020B0604020202020204" pitchFamily="34" charset="0"/>
              </a:rPr>
              <a:t>volume</a:t>
            </a:r>
          </a:p>
        </p:txBody>
      </p:sp>
      <p:sp>
        <p:nvSpPr>
          <p:cNvPr id="13" name="c041d501-1538-47bc-98f7-cea9049b41ab"/>
          <p:cNvSpPr>
            <a:spLocks noChangeArrowheads="1"/>
          </p:cNvSpPr>
          <p:nvPr/>
        </p:nvSpPr>
        <p:spPr bwMode="auto">
          <a:xfrm>
            <a:off x="6702155" y="5749442"/>
            <a:ext cx="2944396" cy="523220"/>
          </a:xfrm>
          <a:prstGeom prst="rect">
            <a:avLst/>
          </a:prstGeom>
          <a:noFill/>
          <a:ln w="9525" algn="ctr">
            <a:noFill/>
            <a:miter lim="800000"/>
            <a:headEnd/>
            <a:tailEnd/>
          </a:ln>
          <a:effectLst/>
        </p:spPr>
        <p:txBody>
          <a:bodyPr wrap="square">
            <a:spAutoFit/>
          </a:bodyPr>
          <a:lstStyle/>
          <a:p>
            <a:pPr algn="ctr" fontAlgn="auto">
              <a:spcBef>
                <a:spcPts val="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Create multiple logical volumes on a </a:t>
            </a:r>
            <a:r>
              <a:rPr lang="en-US" sz="1400" dirty="0" smtClean="0">
                <a:solidFill>
                  <a:srgbClr val="000000"/>
                </a:solidFill>
                <a:latin typeface="Arial" panose="020B0604020202020204" pitchFamily="34" charset="0"/>
                <a:ea typeface="+mn-ea"/>
                <a:cs typeface="Arial" panose="020B0604020202020204" pitchFamily="34" charset="0"/>
              </a:rPr>
              <a:t>single physical </a:t>
            </a:r>
            <a:r>
              <a:rPr lang="en-US" sz="1400" dirty="0">
                <a:solidFill>
                  <a:srgbClr val="000000"/>
                </a:solidFill>
                <a:latin typeface="Arial" panose="020B0604020202020204" pitchFamily="34" charset="0"/>
                <a:ea typeface="+mn-ea"/>
                <a:cs typeface="Arial" panose="020B0604020202020204" pitchFamily="34" charset="0"/>
              </a:rPr>
              <a:t>volume</a:t>
            </a:r>
          </a:p>
        </p:txBody>
      </p:sp>
      <p:sp>
        <p:nvSpPr>
          <p:cNvPr id="14" name="AutoShape 23"/>
          <p:cNvSpPr>
            <a:spLocks noChangeArrowheads="1"/>
          </p:cNvSpPr>
          <p:nvPr/>
        </p:nvSpPr>
        <p:spPr bwMode="auto">
          <a:xfrm>
            <a:off x="2716269" y="4850917"/>
            <a:ext cx="539750" cy="6127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15" name="3076cca7-289d-4718-8090-a84390382251"/>
          <p:cNvSpPr>
            <a:spLocks noChangeArrowheads="1"/>
          </p:cNvSpPr>
          <p:nvPr/>
        </p:nvSpPr>
        <p:spPr bwMode="gray">
          <a:xfrm>
            <a:off x="2895656" y="5077929"/>
            <a:ext cx="184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16" name="2a38cc19-c17b-4416-9d85-7c3c4e00fd88"/>
          <p:cNvSpPr>
            <a:spLocks noChangeArrowheads="1"/>
          </p:cNvSpPr>
          <p:nvPr/>
        </p:nvSpPr>
        <p:spPr bwMode="auto">
          <a:xfrm>
            <a:off x="3467708" y="4850917"/>
            <a:ext cx="539750" cy="6127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17" name="eaae8854-2e57-4214-a378-3a11bee9565f"/>
          <p:cNvSpPr>
            <a:spLocks noChangeArrowheads="1"/>
          </p:cNvSpPr>
          <p:nvPr/>
        </p:nvSpPr>
        <p:spPr bwMode="auto">
          <a:xfrm>
            <a:off x="4223792" y="4850917"/>
            <a:ext cx="539750" cy="6127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18" name="83a9615d-76c6-4bef-acc0-e0a5a13e0857"/>
          <p:cNvSpPr>
            <a:spLocks noChangeArrowheads="1"/>
          </p:cNvSpPr>
          <p:nvPr/>
        </p:nvSpPr>
        <p:spPr bwMode="auto">
          <a:xfrm>
            <a:off x="4984806" y="4850917"/>
            <a:ext cx="539750" cy="6127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19" name="AutoShape 35"/>
          <p:cNvSpPr>
            <a:spLocks noChangeArrowheads="1"/>
          </p:cNvSpPr>
          <p:nvPr/>
        </p:nvSpPr>
        <p:spPr bwMode="auto">
          <a:xfrm>
            <a:off x="3742285" y="3212976"/>
            <a:ext cx="828675" cy="8286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0" name="27084632-e3ae-4cd2-8436-61c6adf1c801"/>
          <p:cNvSpPr>
            <a:spLocks noChangeArrowheads="1"/>
          </p:cNvSpPr>
          <p:nvPr/>
        </p:nvSpPr>
        <p:spPr bwMode="gray">
          <a:xfrm>
            <a:off x="3815309" y="3529831"/>
            <a:ext cx="768350" cy="366713"/>
          </a:xfrm>
          <a:prstGeom prst="rect">
            <a:avLst/>
          </a:prstGeom>
          <a:noFill/>
          <a:ln w="9525">
            <a:noFill/>
            <a:round/>
            <a:headEnd/>
            <a:tailEnd/>
          </a:ln>
          <a:effectLst/>
        </p:spPr>
        <p:txBody>
          <a:bodyPr wrap="none" anchor="ctr"/>
          <a:lstStyle/>
          <a:p>
            <a:pPr fontAlgn="auto">
              <a:spcBef>
                <a:spcPts val="0"/>
              </a:spcBef>
              <a:spcAft>
                <a:spcPts val="0"/>
              </a:spcAft>
              <a:defRPr/>
            </a:pPr>
            <a:r>
              <a:rPr lang="en-US" sz="1400" dirty="0">
                <a:solidFill>
                  <a:sysClr val="windowText" lastClr="000000"/>
                </a:solidFill>
                <a:latin typeface="Arial" panose="020B0604020202020204" pitchFamily="34" charset="0"/>
                <a:ea typeface="+mn-ea"/>
                <a:cs typeface="Arial" panose="020B0604020202020204" pitchFamily="34" charset="0"/>
              </a:rPr>
              <a:t>LUN 1</a:t>
            </a:r>
          </a:p>
        </p:txBody>
      </p:sp>
      <p:sp>
        <p:nvSpPr>
          <p:cNvPr id="21" name="f895fc6e-ad51-4cd9-8e98-87098e3c6362"/>
          <p:cNvSpPr>
            <a:spLocks noChangeArrowheads="1"/>
          </p:cNvSpPr>
          <p:nvPr/>
        </p:nvSpPr>
        <p:spPr bwMode="auto">
          <a:xfrm>
            <a:off x="7751601" y="3193567"/>
            <a:ext cx="828675" cy="828675"/>
          </a:xfrm>
          <a:prstGeom prst="can">
            <a:avLst>
              <a:gd name="adj" fmla="val 32843"/>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2" name="2bd0c10a-fa92-461b-a5f4-7417195a2c57"/>
          <p:cNvSpPr>
            <a:spLocks noChangeArrowheads="1"/>
          </p:cNvSpPr>
          <p:nvPr/>
        </p:nvSpPr>
        <p:spPr bwMode="gray">
          <a:xfrm>
            <a:off x="7848974" y="3533862"/>
            <a:ext cx="715260" cy="307777"/>
          </a:xfrm>
          <a:prstGeom prst="rect">
            <a:avLst/>
          </a:prstGeom>
          <a:noFill/>
          <a:ln w="9525" algn="ctr">
            <a:noFill/>
            <a:miter lim="800000"/>
            <a:headEnd/>
            <a:tailEnd/>
          </a:ln>
          <a:effectLst/>
        </p:spPr>
        <p:txBody>
          <a:bodyPr wrap="none">
            <a:spAutoFit/>
          </a:bodyPr>
          <a:lstStyle/>
          <a:p>
            <a:pPr algn="ctr" fontAlgn="auto">
              <a:spcBef>
                <a:spcPct val="5000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LUN 2</a:t>
            </a:r>
          </a:p>
        </p:txBody>
      </p:sp>
      <p:sp>
        <p:nvSpPr>
          <p:cNvPr id="23" name="0e1165e7-6f48-4927-a9cd-e29624fe1a5d"/>
          <p:cNvSpPr>
            <a:spLocks noChangeArrowheads="1"/>
          </p:cNvSpPr>
          <p:nvPr/>
        </p:nvSpPr>
        <p:spPr bwMode="auto">
          <a:xfrm>
            <a:off x="8831721" y="3193567"/>
            <a:ext cx="828675" cy="828675"/>
          </a:xfrm>
          <a:prstGeom prst="can">
            <a:avLst>
              <a:gd name="adj" fmla="val 32843"/>
            </a:avLst>
          </a:prstGeom>
          <a:solidFill>
            <a:schemeClr val="accent2">
              <a:lumMod val="75000"/>
            </a:schemeClr>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4" name="24097c36-8104-47a4-a650-405b82c6bc0a"/>
          <p:cNvSpPr>
            <a:spLocks noChangeArrowheads="1"/>
          </p:cNvSpPr>
          <p:nvPr/>
        </p:nvSpPr>
        <p:spPr bwMode="gray">
          <a:xfrm>
            <a:off x="8931290" y="3553271"/>
            <a:ext cx="715260" cy="307777"/>
          </a:xfrm>
          <a:prstGeom prst="rect">
            <a:avLst/>
          </a:prstGeom>
          <a:noFill/>
          <a:ln w="9525" algn="ctr">
            <a:noFill/>
            <a:miter lim="800000"/>
            <a:headEnd/>
            <a:tailEnd/>
          </a:ln>
          <a:effectLst/>
        </p:spPr>
        <p:txBody>
          <a:bodyPr wrap="none">
            <a:spAutoFit/>
          </a:bodyPr>
          <a:lstStyle/>
          <a:p>
            <a:pPr algn="ctr" fontAlgn="auto">
              <a:spcBef>
                <a:spcPct val="50000"/>
              </a:spcBef>
              <a:spcAft>
                <a:spcPts val="0"/>
              </a:spcAft>
              <a:defRPr/>
            </a:pPr>
            <a:r>
              <a:rPr lang="en-US" sz="1400" dirty="0">
                <a:solidFill>
                  <a:srgbClr val="000000"/>
                </a:solidFill>
                <a:latin typeface="Arial" panose="020B0604020202020204" pitchFamily="34" charset="0"/>
                <a:ea typeface="+mn-ea"/>
                <a:cs typeface="Arial" panose="020B0604020202020204" pitchFamily="34" charset="0"/>
              </a:rPr>
              <a:t>LUN 3</a:t>
            </a:r>
          </a:p>
        </p:txBody>
      </p:sp>
      <p:sp>
        <p:nvSpPr>
          <p:cNvPr id="25" name="92c23047-4e96-4f42-bc22-b8e7cd38d7cf"/>
          <p:cNvSpPr>
            <a:spLocks noChangeArrowheads="1"/>
          </p:cNvSpPr>
          <p:nvPr/>
        </p:nvSpPr>
        <p:spPr bwMode="auto">
          <a:xfrm>
            <a:off x="7069212" y="5069992"/>
            <a:ext cx="576263" cy="465137"/>
          </a:xfrm>
          <a:prstGeom prst="can">
            <a:avLst>
              <a:gd name="adj" fmla="val 50000"/>
            </a:avLst>
          </a:prstGeom>
          <a:solidFill>
            <a:schemeClr val="accent2">
              <a:lumMod val="75000"/>
            </a:schemeClr>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6" name="fe69f458-ee74-4b07-8a82-2d9a550dc791"/>
          <p:cNvSpPr>
            <a:spLocks noChangeArrowheads="1"/>
          </p:cNvSpPr>
          <p:nvPr/>
        </p:nvSpPr>
        <p:spPr bwMode="auto">
          <a:xfrm>
            <a:off x="7069212" y="4814403"/>
            <a:ext cx="576263" cy="431800"/>
          </a:xfrm>
          <a:prstGeom prst="can">
            <a:avLst>
              <a:gd name="adj" fmla="val 50000"/>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7" name="5475611f-d57e-4314-8132-812b78598c5d"/>
          <p:cNvSpPr>
            <a:spLocks noChangeArrowheads="1"/>
          </p:cNvSpPr>
          <p:nvPr/>
        </p:nvSpPr>
        <p:spPr bwMode="auto">
          <a:xfrm>
            <a:off x="7896200" y="5069992"/>
            <a:ext cx="576263" cy="465137"/>
          </a:xfrm>
          <a:prstGeom prst="can">
            <a:avLst>
              <a:gd name="adj" fmla="val 50000"/>
            </a:avLst>
          </a:prstGeom>
          <a:solidFill>
            <a:schemeClr val="accent2">
              <a:lumMod val="75000"/>
            </a:schemeClr>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8" name="f1eb442f-493f-4cfe-bec5-b6e00b29a11e"/>
          <p:cNvSpPr>
            <a:spLocks noChangeArrowheads="1"/>
          </p:cNvSpPr>
          <p:nvPr/>
        </p:nvSpPr>
        <p:spPr bwMode="auto">
          <a:xfrm>
            <a:off x="7896200" y="4814403"/>
            <a:ext cx="576263" cy="431800"/>
          </a:xfrm>
          <a:prstGeom prst="can">
            <a:avLst>
              <a:gd name="adj" fmla="val 50000"/>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29" name="920ba182-a197-4a28-92c9-0b34ff9ab385"/>
          <p:cNvSpPr>
            <a:spLocks noChangeArrowheads="1"/>
          </p:cNvSpPr>
          <p:nvPr/>
        </p:nvSpPr>
        <p:spPr bwMode="auto">
          <a:xfrm>
            <a:off x="8688462" y="5069992"/>
            <a:ext cx="576263" cy="465137"/>
          </a:xfrm>
          <a:prstGeom prst="can">
            <a:avLst>
              <a:gd name="adj" fmla="val 50000"/>
            </a:avLst>
          </a:prstGeom>
          <a:solidFill>
            <a:schemeClr val="accent2">
              <a:lumMod val="75000"/>
            </a:schemeClr>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30" name="520e6c3f-96a1-4b87-af05-dc39fb4d6251"/>
          <p:cNvSpPr>
            <a:spLocks noChangeArrowheads="1"/>
          </p:cNvSpPr>
          <p:nvPr/>
        </p:nvSpPr>
        <p:spPr bwMode="auto">
          <a:xfrm>
            <a:off x="8688462" y="4814403"/>
            <a:ext cx="576263" cy="431800"/>
          </a:xfrm>
          <a:prstGeom prst="can">
            <a:avLst>
              <a:gd name="adj" fmla="val 50000"/>
            </a:avLst>
          </a:prstGeom>
          <a:solidFill>
            <a:srgbClr val="94DADA"/>
          </a:solidFill>
          <a:ln w="9525">
            <a:solidFill>
              <a:srgbClr val="000000"/>
            </a:solidFill>
            <a:round/>
            <a:headEnd/>
            <a:tailEnd/>
          </a:ln>
          <a:effec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31" name="1a55b3c2-c2e3-4b70-97e7-9ffff9fde4d3"/>
          <p:cNvSpPr>
            <a:spLocks noChangeArrowheads="1"/>
          </p:cNvSpPr>
          <p:nvPr/>
        </p:nvSpPr>
        <p:spPr bwMode="auto">
          <a:xfrm>
            <a:off x="6959364" y="4777742"/>
            <a:ext cx="2413000" cy="395288"/>
          </a:xfrm>
          <a:prstGeom prst="rect">
            <a:avLst/>
          </a:prstGeom>
          <a:noFill/>
          <a:ln w="1905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32" name="45a72f77-1e65-4d03-a67a-09664158b5ba"/>
          <p:cNvSpPr>
            <a:spLocks noChangeArrowheads="1"/>
          </p:cNvSpPr>
          <p:nvPr/>
        </p:nvSpPr>
        <p:spPr bwMode="auto">
          <a:xfrm>
            <a:off x="6959364" y="5246203"/>
            <a:ext cx="2413000" cy="323850"/>
          </a:xfrm>
          <a:prstGeom prst="rect">
            <a:avLst/>
          </a:prstGeom>
          <a:noFill/>
          <a:ln w="19050" algn="ctr">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en-US" altLang="zh-CN" sz="1400" dirty="0">
              <a:solidFill>
                <a:srgbClr val="000000"/>
              </a:solidFill>
              <a:latin typeface="Arial" panose="020B0604020202020204" pitchFamily="34" charset="0"/>
              <a:ea typeface="+mn-ea"/>
              <a:cs typeface="Arial" panose="020B0604020202020204" pitchFamily="34" charset="0"/>
            </a:endParaRPr>
          </a:p>
        </p:txBody>
      </p:sp>
      <p:sp>
        <p:nvSpPr>
          <p:cNvPr id="33" name="Rectangle 1"/>
          <p:cNvSpPr/>
          <p:nvPr/>
        </p:nvSpPr>
        <p:spPr bwMode="auto">
          <a:xfrm>
            <a:off x="2608890" y="4777743"/>
            <a:ext cx="3055063" cy="792311"/>
          </a:xfrm>
          <a:prstGeom prst="rect">
            <a:avLst/>
          </a:prstGeom>
          <a:noFill/>
          <a:ln w="19050">
            <a:solidFill>
              <a:schemeClr val="tx1"/>
            </a:solidFill>
            <a:prstDash val="dash"/>
            <a:round/>
            <a:headEnd/>
            <a:tailEnd/>
          </a:ln>
          <a:effectLst/>
          <a:extLst/>
        </p:spPr>
        <p:txBody>
          <a:bodyPr wrap="none" rtlCol="0" anchor="ctr"/>
          <a:lstStyle/>
          <a:p>
            <a:pPr algn="ctr"/>
            <a:endParaRPr lang="nl-NL" sz="1400">
              <a:solidFill>
                <a:srgbClr val="000000"/>
              </a:solidFill>
              <a:latin typeface="Arial" panose="020B0604020202020204" pitchFamily="34" charset="0"/>
              <a:ea typeface="+mn-ea"/>
            </a:endParaRPr>
          </a:p>
        </p:txBody>
      </p:sp>
      <p:sp>
        <p:nvSpPr>
          <p:cNvPr id="34" name="3bdc521d-8478-474d-b350-aa3a0d40ea2c"/>
          <p:cNvSpPr>
            <a:spLocks noChangeShapeType="1"/>
          </p:cNvSpPr>
          <p:nvPr/>
        </p:nvSpPr>
        <p:spPr bwMode="auto">
          <a:xfrm>
            <a:off x="8148227" y="4005064"/>
            <a:ext cx="0" cy="741698"/>
          </a:xfrm>
          <a:prstGeom prst="line">
            <a:avLst/>
          </a:prstGeom>
          <a:noFill/>
          <a:ln w="34925" algn="ctr">
            <a:solidFill>
              <a:schemeClr val="tx1"/>
            </a:solidFill>
            <a:prstDash val="dash"/>
            <a:miter lim="800000"/>
            <a:headEnd type="stealth"/>
            <a:tailEnd type="stealth"/>
          </a:ln>
          <a:effectLst/>
        </p:spPr>
        <p:txBody>
          <a:bodyPr wrap="none" anchor="ctr"/>
          <a:lstStyle/>
          <a:p>
            <a:pPr fontAlgn="auto">
              <a:spcBef>
                <a:spcPts val="0"/>
              </a:spcBef>
              <a:spcAft>
                <a:spcPts val="0"/>
              </a:spcAft>
              <a:defRPr/>
            </a:pPr>
            <a:endParaRPr lang="en-US" altLang="zh-CN" sz="1400" kern="0" dirty="0">
              <a:solidFill>
                <a:sysClr val="windowText" lastClr="000000"/>
              </a:solidFill>
              <a:latin typeface="Arial" panose="020B0604020202020204" pitchFamily="34" charset="0"/>
              <a:ea typeface="+mn-ea"/>
              <a:cs typeface="Arial" panose="020B0604020202020204" pitchFamily="34" charset="0"/>
            </a:endParaRPr>
          </a:p>
        </p:txBody>
      </p:sp>
      <p:sp>
        <p:nvSpPr>
          <p:cNvPr id="35" name="3bdc521d-8478-474d-b350-aa3a0d40ea2c"/>
          <p:cNvSpPr>
            <a:spLocks noChangeShapeType="1"/>
          </p:cNvSpPr>
          <p:nvPr/>
        </p:nvSpPr>
        <p:spPr bwMode="auto">
          <a:xfrm>
            <a:off x="4133361" y="4041068"/>
            <a:ext cx="0" cy="741698"/>
          </a:xfrm>
          <a:prstGeom prst="line">
            <a:avLst/>
          </a:prstGeom>
          <a:noFill/>
          <a:ln w="34925" algn="ctr">
            <a:solidFill>
              <a:schemeClr val="tx1"/>
            </a:solidFill>
            <a:prstDash val="dash"/>
            <a:miter lim="800000"/>
            <a:headEnd type="stealth"/>
            <a:tailEnd type="stealth"/>
          </a:ln>
          <a:effectLst/>
        </p:spPr>
        <p:txBody>
          <a:bodyPr wrap="none" anchor="ctr"/>
          <a:lstStyle/>
          <a:p>
            <a:pPr fontAlgn="auto">
              <a:spcBef>
                <a:spcPts val="0"/>
              </a:spcBef>
              <a:spcAft>
                <a:spcPts val="0"/>
              </a:spcAft>
              <a:defRPr/>
            </a:pPr>
            <a:endParaRPr lang="en-US" altLang="zh-CN" sz="1400" kern="0" dirty="0">
              <a:solidFill>
                <a:sysClr val="windowText" lastClr="000000"/>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798596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Process of Creating a LUN</a:t>
            </a:r>
          </a:p>
        </p:txBody>
      </p:sp>
      <p:sp>
        <p:nvSpPr>
          <p:cNvPr id="4" name="Text Box 25"/>
          <p:cNvSpPr txBox="1">
            <a:spLocks noChangeArrowheads="1"/>
          </p:cNvSpPr>
          <p:nvPr/>
        </p:nvSpPr>
        <p:spPr bwMode="auto">
          <a:xfrm>
            <a:off x="4655840" y="1796916"/>
            <a:ext cx="8858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LUN 1</a:t>
            </a:r>
          </a:p>
        </p:txBody>
      </p:sp>
      <p:sp>
        <p:nvSpPr>
          <p:cNvPr id="5" name="Text Box 26"/>
          <p:cNvSpPr txBox="1">
            <a:spLocks noChangeArrowheads="1"/>
          </p:cNvSpPr>
          <p:nvPr/>
        </p:nvSpPr>
        <p:spPr bwMode="auto">
          <a:xfrm>
            <a:off x="6406852" y="1784216"/>
            <a:ext cx="8985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LUN 2</a:t>
            </a:r>
          </a:p>
        </p:txBody>
      </p:sp>
      <p:sp>
        <p:nvSpPr>
          <p:cNvPr id="6" name="Text Box 27"/>
          <p:cNvSpPr txBox="1">
            <a:spLocks noChangeArrowheads="1"/>
          </p:cNvSpPr>
          <p:nvPr/>
        </p:nvSpPr>
        <p:spPr bwMode="auto">
          <a:xfrm>
            <a:off x="8243590" y="1784216"/>
            <a:ext cx="8270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LUN 3</a:t>
            </a:r>
          </a:p>
        </p:txBody>
      </p:sp>
      <p:sp>
        <p:nvSpPr>
          <p:cNvPr id="27" name="Rectangle 40"/>
          <p:cNvSpPr>
            <a:spLocks noChangeArrowheads="1"/>
          </p:cNvSpPr>
          <p:nvPr/>
        </p:nvSpPr>
        <p:spPr bwMode="gray">
          <a:xfrm>
            <a:off x="7248128" y="3492080"/>
            <a:ext cx="18732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Segmentation</a:t>
            </a:r>
          </a:p>
        </p:txBody>
      </p:sp>
      <p:cxnSp>
        <p:nvCxnSpPr>
          <p:cNvPr id="28" name="直接连接符 27"/>
          <p:cNvCxnSpPr/>
          <p:nvPr/>
        </p:nvCxnSpPr>
        <p:spPr bwMode="auto">
          <a:xfrm>
            <a:off x="1811524" y="2672766"/>
            <a:ext cx="8149086" cy="23538"/>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cxnSp>
        <p:nvCxnSpPr>
          <p:cNvPr id="29" name="直接连接符 28"/>
          <p:cNvCxnSpPr/>
          <p:nvPr/>
        </p:nvCxnSpPr>
        <p:spPr bwMode="auto">
          <a:xfrm>
            <a:off x="1811524" y="4615362"/>
            <a:ext cx="8149086" cy="1182"/>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cxnSp>
        <p:nvCxnSpPr>
          <p:cNvPr id="30" name="直接连接符 29"/>
          <p:cNvCxnSpPr/>
          <p:nvPr/>
        </p:nvCxnSpPr>
        <p:spPr bwMode="auto">
          <a:xfrm>
            <a:off x="1811524" y="5805264"/>
            <a:ext cx="8149086" cy="0"/>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grpSp>
        <p:nvGrpSpPr>
          <p:cNvPr id="31" name="组合 30"/>
          <p:cNvGrpSpPr/>
          <p:nvPr/>
        </p:nvGrpSpPr>
        <p:grpSpPr>
          <a:xfrm>
            <a:off x="1811524" y="2000241"/>
            <a:ext cx="2412268" cy="672525"/>
            <a:chOff x="1811524" y="1772817"/>
            <a:chExt cx="2412268" cy="672525"/>
          </a:xfrm>
        </p:grpSpPr>
        <p:sp>
          <p:nvSpPr>
            <p:cNvPr id="32" name="Text Box 9"/>
            <p:cNvSpPr txBox="1">
              <a:spLocks noChangeArrowheads="1"/>
            </p:cNvSpPr>
            <p:nvPr/>
          </p:nvSpPr>
          <p:spPr bwMode="auto">
            <a:xfrm>
              <a:off x="1811524" y="1939802"/>
              <a:ext cx="1614941"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p>
              <a:pPr algn="ctr">
                <a:spcBef>
                  <a:spcPct val="50000"/>
                </a:spcBef>
                <a:defRPr/>
              </a:pPr>
              <a:r>
                <a:rPr lang="en-US" sz="1600" dirty="0">
                  <a:solidFill>
                    <a:srgbClr val="000000"/>
                  </a:solidFill>
                  <a:latin typeface="Arial" panose="020B0604020202020204" pitchFamily="34" charset="0"/>
                  <a:ea typeface="+mn-ea"/>
                  <a:cs typeface="Arial" panose="020B0604020202020204" pitchFamily="34" charset="0"/>
                </a:rPr>
                <a:t>Logical volume</a:t>
              </a:r>
            </a:p>
          </p:txBody>
        </p:sp>
        <p:sp>
          <p:nvSpPr>
            <p:cNvPr id="33" name="右箭头 32"/>
            <p:cNvSpPr/>
            <p:nvPr/>
          </p:nvSpPr>
          <p:spPr>
            <a:xfrm>
              <a:off x="3467708" y="1772817"/>
              <a:ext cx="756084"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grpSp>
        <p:nvGrpSpPr>
          <p:cNvPr id="34" name="组合 33"/>
          <p:cNvGrpSpPr/>
          <p:nvPr/>
        </p:nvGrpSpPr>
        <p:grpSpPr>
          <a:xfrm>
            <a:off x="1728924" y="3440401"/>
            <a:ext cx="2494868" cy="672525"/>
            <a:chOff x="1728924" y="3212977"/>
            <a:chExt cx="2494868" cy="672525"/>
          </a:xfrm>
        </p:grpSpPr>
        <p:sp>
          <p:nvSpPr>
            <p:cNvPr id="35" name="Text Box 10"/>
            <p:cNvSpPr txBox="1">
              <a:spLocks noChangeArrowheads="1"/>
            </p:cNvSpPr>
            <p:nvPr/>
          </p:nvSpPr>
          <p:spPr bwMode="auto">
            <a:xfrm>
              <a:off x="1728924" y="3378478"/>
              <a:ext cx="1649035"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defPPr>
                <a:defRPr lang="zh-CN"/>
              </a:defPPr>
              <a:lvl1pPr algn="ctr">
                <a:spcBef>
                  <a:spcPct val="50000"/>
                </a:spcBef>
                <a:defRPr sz="1600">
                  <a:solidFill>
                    <a:srgbClr val="000000"/>
                  </a:solidFill>
                  <a:latin typeface="+mn-lt"/>
                  <a:ea typeface="+mn-ea"/>
                  <a:cs typeface="Arial" panose="020B0604020202020204" pitchFamily="34" charset="0"/>
                </a:defRPr>
              </a:lvl1pPr>
            </a:lstStyle>
            <a:p>
              <a:r>
                <a:rPr lang="en-US" dirty="0">
                  <a:latin typeface="Arial" panose="020B0604020202020204" pitchFamily="34" charset="0"/>
                </a:rPr>
                <a:t>Physical volume</a:t>
              </a:r>
            </a:p>
          </p:txBody>
        </p:sp>
        <p:sp>
          <p:nvSpPr>
            <p:cNvPr id="36" name="右箭头 35"/>
            <p:cNvSpPr/>
            <p:nvPr/>
          </p:nvSpPr>
          <p:spPr>
            <a:xfrm>
              <a:off x="3426465" y="3212977"/>
              <a:ext cx="797327"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grpSp>
        <p:nvGrpSpPr>
          <p:cNvPr id="37" name="组合 36"/>
          <p:cNvGrpSpPr/>
          <p:nvPr/>
        </p:nvGrpSpPr>
        <p:grpSpPr>
          <a:xfrm>
            <a:off x="1811524" y="4953226"/>
            <a:ext cx="2412268" cy="672525"/>
            <a:chOff x="1811524" y="4725802"/>
            <a:chExt cx="2412268" cy="672525"/>
          </a:xfrm>
        </p:grpSpPr>
        <p:sp>
          <p:nvSpPr>
            <p:cNvPr id="38" name="Text Box 8"/>
            <p:cNvSpPr txBox="1">
              <a:spLocks noChangeArrowheads="1"/>
            </p:cNvSpPr>
            <p:nvPr/>
          </p:nvSpPr>
          <p:spPr bwMode="auto">
            <a:xfrm>
              <a:off x="1811524" y="4890646"/>
              <a:ext cx="1614941"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p>
              <a:pPr algn="ctr">
                <a:spcBef>
                  <a:spcPct val="50000"/>
                </a:spcBef>
                <a:defRPr/>
              </a:pPr>
              <a:r>
                <a:rPr lang="en-US" sz="1600" dirty="0">
                  <a:solidFill>
                    <a:srgbClr val="000000"/>
                  </a:solidFill>
                  <a:latin typeface="Arial" panose="020B0604020202020204" pitchFamily="34" charset="0"/>
                  <a:ea typeface="+mn-ea"/>
                  <a:cs typeface="Arial" panose="020B0604020202020204" pitchFamily="34" charset="0"/>
                </a:rPr>
                <a:t>Hard disk</a:t>
              </a:r>
            </a:p>
          </p:txBody>
        </p:sp>
        <p:sp>
          <p:nvSpPr>
            <p:cNvPr id="39" name="右箭头 38"/>
            <p:cNvSpPr/>
            <p:nvPr/>
          </p:nvSpPr>
          <p:spPr>
            <a:xfrm>
              <a:off x="3467708" y="4725802"/>
              <a:ext cx="756084"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sp>
        <p:nvSpPr>
          <p:cNvPr id="42" name="AutoShape 23"/>
          <p:cNvSpPr>
            <a:spLocks noChangeArrowheads="1"/>
          </p:cNvSpPr>
          <p:nvPr/>
        </p:nvSpPr>
        <p:spPr bwMode="auto">
          <a:xfrm>
            <a:off x="6425855" y="3250345"/>
            <a:ext cx="936625" cy="863600"/>
          </a:xfrm>
          <a:prstGeom prst="can">
            <a:avLst>
              <a:gd name="adj" fmla="val 16727"/>
            </a:avLst>
          </a:prstGeom>
          <a:solidFill>
            <a:srgbClr val="3ABABA"/>
          </a:soli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grpSp>
        <p:nvGrpSpPr>
          <p:cNvPr id="58" name="组合 57"/>
          <p:cNvGrpSpPr/>
          <p:nvPr/>
        </p:nvGrpSpPr>
        <p:grpSpPr>
          <a:xfrm>
            <a:off x="6159828" y="4278995"/>
            <a:ext cx="1519930" cy="338137"/>
            <a:chOff x="6159828" y="4278995"/>
            <a:chExt cx="1519930" cy="338137"/>
          </a:xfrm>
        </p:grpSpPr>
        <p:grpSp>
          <p:nvGrpSpPr>
            <p:cNvPr id="41" name="Group 3"/>
            <p:cNvGrpSpPr>
              <a:grpSpLocks/>
            </p:cNvGrpSpPr>
            <p:nvPr/>
          </p:nvGrpSpPr>
          <p:grpSpPr bwMode="auto">
            <a:xfrm rot="16200000">
              <a:off x="6756280" y="3691884"/>
              <a:ext cx="327025" cy="1519930"/>
              <a:chOff x="1438" y="1007"/>
              <a:chExt cx="2280" cy="2928"/>
            </a:xfrm>
          </p:grpSpPr>
          <p:sp>
            <p:nvSpPr>
              <p:cNvPr id="44" name="Freeform 4"/>
              <p:cNvSpPr>
                <a:spLocks/>
              </p:cNvSpPr>
              <p:nvPr/>
            </p:nvSpPr>
            <p:spPr bwMode="auto">
              <a:xfrm rot="5400000">
                <a:off x="1387" y="2239"/>
                <a:ext cx="1747" cy="1645"/>
              </a:xfrm>
              <a:custGeom>
                <a:avLst/>
                <a:gdLst>
                  <a:gd name="T0" fmla="*/ 1 w 2750"/>
                  <a:gd name="T1" fmla="*/ 18 h 1733"/>
                  <a:gd name="T2" fmla="*/ 1 w 2750"/>
                  <a:gd name="T3" fmla="*/ 50 h 1733"/>
                  <a:gd name="T4" fmla="*/ 1 w 2750"/>
                  <a:gd name="T5" fmla="*/ 85 h 1733"/>
                  <a:gd name="T6" fmla="*/ 1 w 2750"/>
                  <a:gd name="T7" fmla="*/ 122 h 1733"/>
                  <a:gd name="T8" fmla="*/ 1 w 2750"/>
                  <a:gd name="T9" fmla="*/ 158 h 1733"/>
                  <a:gd name="T10" fmla="*/ 1 w 2750"/>
                  <a:gd name="T11" fmla="*/ 194 h 1733"/>
                  <a:gd name="T12" fmla="*/ 1 w 2750"/>
                  <a:gd name="T13" fmla="*/ 227 h 1733"/>
                  <a:gd name="T14" fmla="*/ 1 w 2750"/>
                  <a:gd name="T15" fmla="*/ 264 h 1733"/>
                  <a:gd name="T16" fmla="*/ 1 w 2750"/>
                  <a:gd name="T17" fmla="*/ 296 h 1733"/>
                  <a:gd name="T18" fmla="*/ 1 w 2750"/>
                  <a:gd name="T19" fmla="*/ 331 h 1733"/>
                  <a:gd name="T20" fmla="*/ 1 w 2750"/>
                  <a:gd name="T21" fmla="*/ 365 h 1733"/>
                  <a:gd name="T22" fmla="*/ 1 w 2750"/>
                  <a:gd name="T23" fmla="*/ 397 h 1733"/>
                  <a:gd name="T24" fmla="*/ 1 w 2750"/>
                  <a:gd name="T25" fmla="*/ 427 h 1733"/>
                  <a:gd name="T26" fmla="*/ 1 w 2750"/>
                  <a:gd name="T27" fmla="*/ 458 h 1733"/>
                  <a:gd name="T28" fmla="*/ 1 w 2750"/>
                  <a:gd name="T29" fmla="*/ 486 h 1733"/>
                  <a:gd name="T30" fmla="*/ 1 w 2750"/>
                  <a:gd name="T31" fmla="*/ 511 h 1733"/>
                  <a:gd name="T32" fmla="*/ 1 w 2750"/>
                  <a:gd name="T33" fmla="*/ 523 h 1733"/>
                  <a:gd name="T34" fmla="*/ 1 w 2750"/>
                  <a:gd name="T35" fmla="*/ 495 h 1733"/>
                  <a:gd name="T36" fmla="*/ 1 w 2750"/>
                  <a:gd name="T37" fmla="*/ 464 h 1733"/>
                  <a:gd name="T38" fmla="*/ 1 w 2750"/>
                  <a:gd name="T39" fmla="*/ 435 h 1733"/>
                  <a:gd name="T40" fmla="*/ 1 w 2750"/>
                  <a:gd name="T41" fmla="*/ 402 h 1733"/>
                  <a:gd name="T42" fmla="*/ 1 w 2750"/>
                  <a:gd name="T43" fmla="*/ 370 h 1733"/>
                  <a:gd name="T44" fmla="*/ 1 w 2750"/>
                  <a:gd name="T45" fmla="*/ 338 h 1733"/>
                  <a:gd name="T46" fmla="*/ 1 w 2750"/>
                  <a:gd name="T47" fmla="*/ 304 h 1733"/>
                  <a:gd name="T48" fmla="*/ 1 w 2750"/>
                  <a:gd name="T49" fmla="*/ 267 h 1733"/>
                  <a:gd name="T50" fmla="*/ 1 w 2750"/>
                  <a:gd name="T51" fmla="*/ 235 h 1733"/>
                  <a:gd name="T52" fmla="*/ 1 w 2750"/>
                  <a:gd name="T53" fmla="*/ 199 h 1733"/>
                  <a:gd name="T54" fmla="*/ 1 w 2750"/>
                  <a:gd name="T55" fmla="*/ 166 h 1733"/>
                  <a:gd name="T56" fmla="*/ 1 w 2750"/>
                  <a:gd name="T57" fmla="*/ 132 h 1733"/>
                  <a:gd name="T58" fmla="*/ 1 w 2750"/>
                  <a:gd name="T59" fmla="*/ 97 h 1733"/>
                  <a:gd name="T60" fmla="*/ 1 w 2750"/>
                  <a:gd name="T61" fmla="*/ 64 h 1733"/>
                  <a:gd name="T62" fmla="*/ 1 w 2750"/>
                  <a:gd name="T63" fmla="*/ 32 h 1733"/>
                  <a:gd name="T64" fmla="*/ 0 w 2750"/>
                  <a:gd name="T65" fmla="*/ 0 h 17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750"/>
                  <a:gd name="T100" fmla="*/ 0 h 1733"/>
                  <a:gd name="T101" fmla="*/ 2750 w 2750"/>
                  <a:gd name="T102" fmla="*/ 1733 h 17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750" h="1733">
                    <a:moveTo>
                      <a:pt x="892" y="0"/>
                    </a:moveTo>
                    <a:lnTo>
                      <a:pt x="923" y="56"/>
                    </a:lnTo>
                    <a:lnTo>
                      <a:pt x="956" y="112"/>
                    </a:lnTo>
                    <a:lnTo>
                      <a:pt x="992" y="169"/>
                    </a:lnTo>
                    <a:lnTo>
                      <a:pt x="1030" y="226"/>
                    </a:lnTo>
                    <a:lnTo>
                      <a:pt x="1070" y="284"/>
                    </a:lnTo>
                    <a:lnTo>
                      <a:pt x="1113" y="343"/>
                    </a:lnTo>
                    <a:lnTo>
                      <a:pt x="1158" y="401"/>
                    </a:lnTo>
                    <a:lnTo>
                      <a:pt x="1206" y="461"/>
                    </a:lnTo>
                    <a:lnTo>
                      <a:pt x="1255" y="520"/>
                    </a:lnTo>
                    <a:lnTo>
                      <a:pt x="1306" y="579"/>
                    </a:lnTo>
                    <a:lnTo>
                      <a:pt x="1359" y="638"/>
                    </a:lnTo>
                    <a:lnTo>
                      <a:pt x="1414" y="697"/>
                    </a:lnTo>
                    <a:lnTo>
                      <a:pt x="1471" y="756"/>
                    </a:lnTo>
                    <a:lnTo>
                      <a:pt x="1529" y="815"/>
                    </a:lnTo>
                    <a:lnTo>
                      <a:pt x="1588" y="873"/>
                    </a:lnTo>
                    <a:lnTo>
                      <a:pt x="1650" y="931"/>
                    </a:lnTo>
                    <a:lnTo>
                      <a:pt x="1712" y="988"/>
                    </a:lnTo>
                    <a:lnTo>
                      <a:pt x="1776" y="1045"/>
                    </a:lnTo>
                    <a:lnTo>
                      <a:pt x="1841" y="1101"/>
                    </a:lnTo>
                    <a:lnTo>
                      <a:pt x="1907" y="1157"/>
                    </a:lnTo>
                    <a:lnTo>
                      <a:pt x="1974" y="1211"/>
                    </a:lnTo>
                    <a:lnTo>
                      <a:pt x="2041" y="1265"/>
                    </a:lnTo>
                    <a:lnTo>
                      <a:pt x="2110" y="1317"/>
                    </a:lnTo>
                    <a:lnTo>
                      <a:pt x="2180" y="1369"/>
                    </a:lnTo>
                    <a:lnTo>
                      <a:pt x="2250" y="1419"/>
                    </a:lnTo>
                    <a:lnTo>
                      <a:pt x="2320" y="1469"/>
                    </a:lnTo>
                    <a:lnTo>
                      <a:pt x="2391" y="1516"/>
                    </a:lnTo>
                    <a:lnTo>
                      <a:pt x="2462" y="1563"/>
                    </a:lnTo>
                    <a:lnTo>
                      <a:pt x="2534" y="1608"/>
                    </a:lnTo>
                    <a:lnTo>
                      <a:pt x="2606" y="1651"/>
                    </a:lnTo>
                    <a:lnTo>
                      <a:pt x="2678" y="1693"/>
                    </a:lnTo>
                    <a:lnTo>
                      <a:pt x="2750" y="1733"/>
                    </a:lnTo>
                    <a:lnTo>
                      <a:pt x="838" y="1733"/>
                    </a:lnTo>
                    <a:lnTo>
                      <a:pt x="805" y="1687"/>
                    </a:lnTo>
                    <a:lnTo>
                      <a:pt x="771" y="1640"/>
                    </a:lnTo>
                    <a:lnTo>
                      <a:pt x="738" y="1592"/>
                    </a:lnTo>
                    <a:lnTo>
                      <a:pt x="705" y="1542"/>
                    </a:lnTo>
                    <a:lnTo>
                      <a:pt x="672" y="1492"/>
                    </a:lnTo>
                    <a:lnTo>
                      <a:pt x="640" y="1441"/>
                    </a:lnTo>
                    <a:lnTo>
                      <a:pt x="608" y="1389"/>
                    </a:lnTo>
                    <a:lnTo>
                      <a:pt x="576" y="1336"/>
                    </a:lnTo>
                    <a:lnTo>
                      <a:pt x="545" y="1282"/>
                    </a:lnTo>
                    <a:lnTo>
                      <a:pt x="514" y="1227"/>
                    </a:lnTo>
                    <a:lnTo>
                      <a:pt x="483" y="1172"/>
                    </a:lnTo>
                    <a:lnTo>
                      <a:pt x="453" y="1117"/>
                    </a:lnTo>
                    <a:lnTo>
                      <a:pt x="427" y="1057"/>
                    </a:lnTo>
                    <a:lnTo>
                      <a:pt x="421" y="1004"/>
                    </a:lnTo>
                    <a:lnTo>
                      <a:pt x="386" y="947"/>
                    </a:lnTo>
                    <a:lnTo>
                      <a:pt x="355" y="890"/>
                    </a:lnTo>
                    <a:lnTo>
                      <a:pt x="329" y="832"/>
                    </a:lnTo>
                    <a:lnTo>
                      <a:pt x="301" y="779"/>
                    </a:lnTo>
                    <a:lnTo>
                      <a:pt x="277" y="719"/>
                    </a:lnTo>
                    <a:lnTo>
                      <a:pt x="254" y="661"/>
                    </a:lnTo>
                    <a:lnTo>
                      <a:pt x="227" y="607"/>
                    </a:lnTo>
                    <a:lnTo>
                      <a:pt x="205" y="551"/>
                    </a:lnTo>
                    <a:lnTo>
                      <a:pt x="182" y="491"/>
                    </a:lnTo>
                    <a:lnTo>
                      <a:pt x="163" y="437"/>
                    </a:lnTo>
                    <a:lnTo>
                      <a:pt x="140" y="380"/>
                    </a:lnTo>
                    <a:lnTo>
                      <a:pt x="116" y="320"/>
                    </a:lnTo>
                    <a:lnTo>
                      <a:pt x="94" y="268"/>
                    </a:lnTo>
                    <a:lnTo>
                      <a:pt x="76" y="211"/>
                    </a:lnTo>
                    <a:lnTo>
                      <a:pt x="55" y="158"/>
                    </a:lnTo>
                    <a:lnTo>
                      <a:pt x="40" y="106"/>
                    </a:lnTo>
                    <a:lnTo>
                      <a:pt x="25" y="50"/>
                    </a:lnTo>
                    <a:lnTo>
                      <a:pt x="0" y="0"/>
                    </a:lnTo>
                    <a:lnTo>
                      <a:pt x="892" y="0"/>
                    </a:lnTo>
                    <a:close/>
                  </a:path>
                </a:pathLst>
              </a:custGeom>
              <a:solidFill>
                <a:srgbClr val="94DADA"/>
              </a:solidFill>
              <a:ln>
                <a:noFill/>
              </a:ln>
              <a:extLst>
                <a:ext uri="{91240B29-F687-4F45-9708-019B960494DF}">
                  <a14:hiddenLine xmlns:a14="http://schemas.microsoft.com/office/drawing/2010/main" w="38100" cap="flat" cmpd="sng">
                    <a:solidFill>
                      <a:srgbClr val="000000"/>
                    </a:solidFill>
                    <a:prstDash val="solid"/>
                    <a:round/>
                    <a:headEnd type="none" w="med" len="med"/>
                    <a:tailEnd type="none" w="med" len="med"/>
                  </a14:hiddenLine>
                </a:ext>
              </a:extLst>
            </p:spPr>
            <p:txBody>
              <a:bodyPr wrap="none" anchor="ctr"/>
              <a:lstStyle/>
              <a:p>
                <a:endParaRPr lang="nl-NL" sz="1600">
                  <a:latin typeface="Arial" panose="020B0604020202020204" pitchFamily="34" charset="0"/>
                  <a:ea typeface="+mn-ea"/>
                  <a:cs typeface="Arial" panose="020B0604020202020204" pitchFamily="34" charset="0"/>
                </a:endParaRPr>
              </a:p>
            </p:txBody>
          </p:sp>
          <p:sp>
            <p:nvSpPr>
              <p:cNvPr id="45" name="Freeform 5"/>
              <p:cNvSpPr>
                <a:spLocks/>
              </p:cNvSpPr>
              <p:nvPr/>
            </p:nvSpPr>
            <p:spPr bwMode="auto">
              <a:xfrm rot="5400000">
                <a:off x="2887" y="2153"/>
                <a:ext cx="1028" cy="635"/>
              </a:xfrm>
              <a:custGeom>
                <a:avLst/>
                <a:gdLst>
                  <a:gd name="T0" fmla="*/ 0 w 6472"/>
                  <a:gd name="T1" fmla="*/ 0 h 2485"/>
                  <a:gd name="T2" fmla="*/ 0 w 6472"/>
                  <a:gd name="T3" fmla="*/ 0 h 2485"/>
                  <a:gd name="T4" fmla="*/ 0 w 6472"/>
                  <a:gd name="T5" fmla="*/ 0 h 2485"/>
                  <a:gd name="T6" fmla="*/ 0 w 6472"/>
                  <a:gd name="T7" fmla="*/ 0 h 2485"/>
                  <a:gd name="T8" fmla="*/ 0 60000 65536"/>
                  <a:gd name="T9" fmla="*/ 0 60000 65536"/>
                  <a:gd name="T10" fmla="*/ 0 60000 65536"/>
                  <a:gd name="T11" fmla="*/ 0 60000 65536"/>
                  <a:gd name="T12" fmla="*/ 0 w 6472"/>
                  <a:gd name="T13" fmla="*/ 0 h 2485"/>
                  <a:gd name="T14" fmla="*/ 6472 w 6472"/>
                  <a:gd name="T15" fmla="*/ 2485 h 2485"/>
                </a:gdLst>
                <a:ahLst/>
                <a:cxnLst>
                  <a:cxn ang="T8">
                    <a:pos x="T0" y="T1"/>
                  </a:cxn>
                  <a:cxn ang="T9">
                    <a:pos x="T2" y="T3"/>
                  </a:cxn>
                  <a:cxn ang="T10">
                    <a:pos x="T4" y="T5"/>
                  </a:cxn>
                  <a:cxn ang="T11">
                    <a:pos x="T6" y="T7"/>
                  </a:cxn>
                </a:cxnLst>
                <a:rect l="T12" t="T13" r="T14" b="T15"/>
                <a:pathLst>
                  <a:path w="6472" h="2485">
                    <a:moveTo>
                      <a:pt x="0" y="2485"/>
                    </a:moveTo>
                    <a:lnTo>
                      <a:pt x="6472" y="2485"/>
                    </a:lnTo>
                    <a:lnTo>
                      <a:pt x="3236" y="0"/>
                    </a:lnTo>
                    <a:lnTo>
                      <a:pt x="0" y="2485"/>
                    </a:lnTo>
                    <a:close/>
                  </a:path>
                </a:pathLst>
              </a:custGeom>
              <a:solidFill>
                <a:srgbClr val="94DADA"/>
              </a:solidFill>
              <a:ln>
                <a:noFill/>
              </a:ln>
              <a:extLst>
                <a:ext uri="{91240B29-F687-4F45-9708-019B960494DF}">
                  <a14:hiddenLine xmlns:a14="http://schemas.microsoft.com/office/drawing/2010/main" w="38100" cap="flat" cmpd="sng">
                    <a:solidFill>
                      <a:srgbClr val="000000"/>
                    </a:solidFill>
                    <a:prstDash val="solid"/>
                    <a:round/>
                    <a:headEnd type="none" w="med" len="med"/>
                    <a:tailEnd type="none" w="med" len="med"/>
                  </a14:hiddenLine>
                </a:ext>
              </a:extLst>
            </p:spPr>
            <p:txBody>
              <a:bodyPr wrap="none" anchor="ctr"/>
              <a:lstStyle/>
              <a:p>
                <a:endParaRPr lang="nl-NL" sz="1600">
                  <a:latin typeface="Arial" panose="020B0604020202020204" pitchFamily="34" charset="0"/>
                  <a:ea typeface="+mn-ea"/>
                  <a:cs typeface="Arial" panose="020B0604020202020204" pitchFamily="34" charset="0"/>
                </a:endParaRPr>
              </a:p>
            </p:txBody>
          </p:sp>
          <p:sp>
            <p:nvSpPr>
              <p:cNvPr id="46" name="Freeform 6"/>
              <p:cNvSpPr>
                <a:spLocks/>
              </p:cNvSpPr>
              <p:nvPr/>
            </p:nvSpPr>
            <p:spPr bwMode="auto">
              <a:xfrm rot="5400000">
                <a:off x="1387" y="1058"/>
                <a:ext cx="1747" cy="1645"/>
              </a:xfrm>
              <a:custGeom>
                <a:avLst/>
                <a:gdLst>
                  <a:gd name="T0" fmla="*/ 0 w 11000"/>
                  <a:gd name="T1" fmla="*/ 0 h 6931"/>
                  <a:gd name="T2" fmla="*/ 0 w 11000"/>
                  <a:gd name="T3" fmla="*/ 0 h 6931"/>
                  <a:gd name="T4" fmla="*/ 0 w 11000"/>
                  <a:gd name="T5" fmla="*/ 0 h 6931"/>
                  <a:gd name="T6" fmla="*/ 0 w 11000"/>
                  <a:gd name="T7" fmla="*/ 0 h 6931"/>
                  <a:gd name="T8" fmla="*/ 0 w 11000"/>
                  <a:gd name="T9" fmla="*/ 0 h 6931"/>
                  <a:gd name="T10" fmla="*/ 0 w 11000"/>
                  <a:gd name="T11" fmla="*/ 0 h 6931"/>
                  <a:gd name="T12" fmla="*/ 0 w 11000"/>
                  <a:gd name="T13" fmla="*/ 0 h 6931"/>
                  <a:gd name="T14" fmla="*/ 0 w 11000"/>
                  <a:gd name="T15" fmla="*/ 0 h 6931"/>
                  <a:gd name="T16" fmla="*/ 0 w 11000"/>
                  <a:gd name="T17" fmla="*/ 0 h 6931"/>
                  <a:gd name="T18" fmla="*/ 0 w 11000"/>
                  <a:gd name="T19" fmla="*/ 0 h 6931"/>
                  <a:gd name="T20" fmla="*/ 0 w 11000"/>
                  <a:gd name="T21" fmla="*/ 0 h 6931"/>
                  <a:gd name="T22" fmla="*/ 0 w 11000"/>
                  <a:gd name="T23" fmla="*/ 0 h 6931"/>
                  <a:gd name="T24" fmla="*/ 0 w 11000"/>
                  <a:gd name="T25" fmla="*/ 0 h 6931"/>
                  <a:gd name="T26" fmla="*/ 0 w 11000"/>
                  <a:gd name="T27" fmla="*/ 0 h 6931"/>
                  <a:gd name="T28" fmla="*/ 0 w 11000"/>
                  <a:gd name="T29" fmla="*/ 0 h 6931"/>
                  <a:gd name="T30" fmla="*/ 0 w 11000"/>
                  <a:gd name="T31" fmla="*/ 0 h 6931"/>
                  <a:gd name="T32" fmla="*/ 0 w 11000"/>
                  <a:gd name="T33" fmla="*/ 0 h 6931"/>
                  <a:gd name="T34" fmla="*/ 0 w 11000"/>
                  <a:gd name="T35" fmla="*/ 0 h 6931"/>
                  <a:gd name="T36" fmla="*/ 0 w 11000"/>
                  <a:gd name="T37" fmla="*/ 0 h 6931"/>
                  <a:gd name="T38" fmla="*/ 0 w 11000"/>
                  <a:gd name="T39" fmla="*/ 0 h 6931"/>
                  <a:gd name="T40" fmla="*/ 0 w 11000"/>
                  <a:gd name="T41" fmla="*/ 0 h 6931"/>
                  <a:gd name="T42" fmla="*/ 0 w 11000"/>
                  <a:gd name="T43" fmla="*/ 0 h 6931"/>
                  <a:gd name="T44" fmla="*/ 0 w 11000"/>
                  <a:gd name="T45" fmla="*/ 0 h 6931"/>
                  <a:gd name="T46" fmla="*/ 0 w 11000"/>
                  <a:gd name="T47" fmla="*/ 0 h 6931"/>
                  <a:gd name="T48" fmla="*/ 0 w 11000"/>
                  <a:gd name="T49" fmla="*/ 0 h 6931"/>
                  <a:gd name="T50" fmla="*/ 0 w 11000"/>
                  <a:gd name="T51" fmla="*/ 0 h 6931"/>
                  <a:gd name="T52" fmla="*/ 0 w 11000"/>
                  <a:gd name="T53" fmla="*/ 0 h 6931"/>
                  <a:gd name="T54" fmla="*/ 0 w 11000"/>
                  <a:gd name="T55" fmla="*/ 0 h 6931"/>
                  <a:gd name="T56" fmla="*/ 0 w 11000"/>
                  <a:gd name="T57" fmla="*/ 0 h 6931"/>
                  <a:gd name="T58" fmla="*/ 0 w 11000"/>
                  <a:gd name="T59" fmla="*/ 0 h 6931"/>
                  <a:gd name="T60" fmla="*/ 0 w 11000"/>
                  <a:gd name="T61" fmla="*/ 0 h 6931"/>
                  <a:gd name="T62" fmla="*/ 0 w 11000"/>
                  <a:gd name="T63" fmla="*/ 0 h 6931"/>
                  <a:gd name="T64" fmla="*/ 0 w 11000"/>
                  <a:gd name="T65" fmla="*/ 0 h 69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00"/>
                  <a:gd name="T100" fmla="*/ 0 h 6931"/>
                  <a:gd name="T101" fmla="*/ 11000 w 11000"/>
                  <a:gd name="T102" fmla="*/ 6931 h 69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00" h="6931">
                    <a:moveTo>
                      <a:pt x="7432" y="0"/>
                    </a:moveTo>
                    <a:lnTo>
                      <a:pt x="7309" y="222"/>
                    </a:lnTo>
                    <a:lnTo>
                      <a:pt x="7177" y="447"/>
                    </a:lnTo>
                    <a:lnTo>
                      <a:pt x="7034" y="675"/>
                    </a:lnTo>
                    <a:lnTo>
                      <a:pt x="6882" y="905"/>
                    </a:lnTo>
                    <a:lnTo>
                      <a:pt x="6720" y="1137"/>
                    </a:lnTo>
                    <a:lnTo>
                      <a:pt x="6548" y="1370"/>
                    </a:lnTo>
                    <a:lnTo>
                      <a:pt x="6367" y="1605"/>
                    </a:lnTo>
                    <a:lnTo>
                      <a:pt x="6178" y="1842"/>
                    </a:lnTo>
                    <a:lnTo>
                      <a:pt x="5981" y="2078"/>
                    </a:lnTo>
                    <a:lnTo>
                      <a:pt x="5776" y="2315"/>
                    </a:lnTo>
                    <a:lnTo>
                      <a:pt x="5564" y="2551"/>
                    </a:lnTo>
                    <a:lnTo>
                      <a:pt x="5344" y="2788"/>
                    </a:lnTo>
                    <a:lnTo>
                      <a:pt x="5118" y="3023"/>
                    </a:lnTo>
                    <a:lnTo>
                      <a:pt x="4886" y="3258"/>
                    </a:lnTo>
                    <a:lnTo>
                      <a:pt x="4647" y="3491"/>
                    </a:lnTo>
                    <a:lnTo>
                      <a:pt x="4402" y="3722"/>
                    </a:lnTo>
                    <a:lnTo>
                      <a:pt x="4152" y="3953"/>
                    </a:lnTo>
                    <a:lnTo>
                      <a:pt x="3897" y="4180"/>
                    </a:lnTo>
                    <a:lnTo>
                      <a:pt x="3638" y="4405"/>
                    </a:lnTo>
                    <a:lnTo>
                      <a:pt x="3374" y="4626"/>
                    </a:lnTo>
                    <a:lnTo>
                      <a:pt x="3106" y="4844"/>
                    </a:lnTo>
                    <a:lnTo>
                      <a:pt x="2835" y="5058"/>
                    </a:lnTo>
                    <a:lnTo>
                      <a:pt x="2560" y="5269"/>
                    </a:lnTo>
                    <a:lnTo>
                      <a:pt x="2282" y="5475"/>
                    </a:lnTo>
                    <a:lnTo>
                      <a:pt x="2002" y="5677"/>
                    </a:lnTo>
                    <a:lnTo>
                      <a:pt x="1720" y="5874"/>
                    </a:lnTo>
                    <a:lnTo>
                      <a:pt x="1437" y="6065"/>
                    </a:lnTo>
                    <a:lnTo>
                      <a:pt x="1151" y="6251"/>
                    </a:lnTo>
                    <a:lnTo>
                      <a:pt x="864" y="6431"/>
                    </a:lnTo>
                    <a:lnTo>
                      <a:pt x="576" y="6604"/>
                    </a:lnTo>
                    <a:lnTo>
                      <a:pt x="288" y="6771"/>
                    </a:lnTo>
                    <a:lnTo>
                      <a:pt x="0" y="6931"/>
                    </a:lnTo>
                    <a:lnTo>
                      <a:pt x="7647" y="6931"/>
                    </a:lnTo>
                    <a:lnTo>
                      <a:pt x="7782" y="6748"/>
                    </a:lnTo>
                    <a:lnTo>
                      <a:pt x="7915" y="6560"/>
                    </a:lnTo>
                    <a:lnTo>
                      <a:pt x="8049" y="6366"/>
                    </a:lnTo>
                    <a:lnTo>
                      <a:pt x="8180" y="6169"/>
                    </a:lnTo>
                    <a:lnTo>
                      <a:pt x="8312" y="5968"/>
                    </a:lnTo>
                    <a:lnTo>
                      <a:pt x="8442" y="5762"/>
                    </a:lnTo>
                    <a:lnTo>
                      <a:pt x="8570" y="5554"/>
                    </a:lnTo>
                    <a:lnTo>
                      <a:pt x="8696" y="5342"/>
                    </a:lnTo>
                    <a:lnTo>
                      <a:pt x="8822" y="5127"/>
                    </a:lnTo>
                    <a:lnTo>
                      <a:pt x="8946" y="4909"/>
                    </a:lnTo>
                    <a:lnTo>
                      <a:pt x="9069" y="4689"/>
                    </a:lnTo>
                    <a:lnTo>
                      <a:pt x="9188" y="4468"/>
                    </a:lnTo>
                    <a:lnTo>
                      <a:pt x="9307" y="4243"/>
                    </a:lnTo>
                    <a:lnTo>
                      <a:pt x="9422" y="4019"/>
                    </a:lnTo>
                    <a:lnTo>
                      <a:pt x="9536" y="3792"/>
                    </a:lnTo>
                    <a:lnTo>
                      <a:pt x="9647" y="3563"/>
                    </a:lnTo>
                    <a:lnTo>
                      <a:pt x="9756" y="3335"/>
                    </a:lnTo>
                    <a:lnTo>
                      <a:pt x="9862" y="3106"/>
                    </a:lnTo>
                    <a:lnTo>
                      <a:pt x="9966" y="2876"/>
                    </a:lnTo>
                    <a:lnTo>
                      <a:pt x="10066" y="2647"/>
                    </a:lnTo>
                    <a:lnTo>
                      <a:pt x="10163" y="2418"/>
                    </a:lnTo>
                    <a:lnTo>
                      <a:pt x="10257" y="2190"/>
                    </a:lnTo>
                    <a:lnTo>
                      <a:pt x="10348" y="1963"/>
                    </a:lnTo>
                    <a:lnTo>
                      <a:pt x="10436" y="1735"/>
                    </a:lnTo>
                    <a:lnTo>
                      <a:pt x="10520" y="1511"/>
                    </a:lnTo>
                    <a:lnTo>
                      <a:pt x="10601" y="1287"/>
                    </a:lnTo>
                    <a:lnTo>
                      <a:pt x="10677" y="1066"/>
                    </a:lnTo>
                    <a:lnTo>
                      <a:pt x="10750" y="847"/>
                    </a:lnTo>
                    <a:lnTo>
                      <a:pt x="10818" y="631"/>
                    </a:lnTo>
                    <a:lnTo>
                      <a:pt x="10884" y="417"/>
                    </a:lnTo>
                    <a:lnTo>
                      <a:pt x="10944" y="207"/>
                    </a:lnTo>
                    <a:lnTo>
                      <a:pt x="11000" y="0"/>
                    </a:lnTo>
                    <a:lnTo>
                      <a:pt x="7432" y="0"/>
                    </a:lnTo>
                    <a:close/>
                  </a:path>
                </a:pathLst>
              </a:custGeom>
              <a:solidFill>
                <a:srgbClr val="94DADA"/>
              </a:solidFill>
              <a:ln>
                <a:noFill/>
              </a:ln>
              <a:extLst>
                <a:ext uri="{91240B29-F687-4F45-9708-019B960494DF}">
                  <a14:hiddenLine xmlns:a14="http://schemas.microsoft.com/office/drawing/2010/main" w="38100" cap="flat" cmpd="sng">
                    <a:solidFill>
                      <a:srgbClr val="000000"/>
                    </a:solidFill>
                    <a:prstDash val="solid"/>
                    <a:round/>
                    <a:headEnd type="none" w="med" len="med"/>
                    <a:tailEnd type="none" w="med" len="med"/>
                  </a14:hiddenLine>
                </a:ext>
              </a:extLst>
            </p:spPr>
            <p:txBody>
              <a:bodyPr wrap="none" anchor="ctr"/>
              <a:lstStyle/>
              <a:p>
                <a:endParaRPr lang="nl-NL" sz="1600">
                  <a:latin typeface="Arial" panose="020B0604020202020204" pitchFamily="34" charset="0"/>
                  <a:ea typeface="+mn-ea"/>
                  <a:cs typeface="Arial" panose="020B0604020202020204" pitchFamily="34" charset="0"/>
                </a:endParaRPr>
              </a:p>
            </p:txBody>
          </p:sp>
          <p:sp>
            <p:nvSpPr>
              <p:cNvPr id="47" name="Freeform 7"/>
              <p:cNvSpPr>
                <a:spLocks/>
              </p:cNvSpPr>
              <p:nvPr/>
            </p:nvSpPr>
            <p:spPr bwMode="auto">
              <a:xfrm rot="5400000">
                <a:off x="2277" y="1947"/>
                <a:ext cx="566" cy="1048"/>
              </a:xfrm>
              <a:custGeom>
                <a:avLst/>
                <a:gdLst>
                  <a:gd name="T0" fmla="*/ 0 w 3568"/>
                  <a:gd name="T1" fmla="*/ 0 h 4416"/>
                  <a:gd name="T2" fmla="*/ 0 w 3568"/>
                  <a:gd name="T3" fmla="*/ 0 h 4416"/>
                  <a:gd name="T4" fmla="*/ 0 w 3568"/>
                  <a:gd name="T5" fmla="*/ 0 h 4416"/>
                  <a:gd name="T6" fmla="*/ 0 w 3568"/>
                  <a:gd name="T7" fmla="*/ 0 h 4416"/>
                  <a:gd name="T8" fmla="*/ 0 w 3568"/>
                  <a:gd name="T9" fmla="*/ 0 h 4416"/>
                  <a:gd name="T10" fmla="*/ 0 w 3568"/>
                  <a:gd name="T11" fmla="*/ 0 h 4416"/>
                  <a:gd name="T12" fmla="*/ 0 w 3568"/>
                  <a:gd name="T13" fmla="*/ 0 h 4416"/>
                  <a:gd name="T14" fmla="*/ 0 w 3568"/>
                  <a:gd name="T15" fmla="*/ 0 h 4416"/>
                  <a:gd name="T16" fmla="*/ 0 w 3568"/>
                  <a:gd name="T17" fmla="*/ 0 h 4416"/>
                  <a:gd name="T18" fmla="*/ 0 w 3568"/>
                  <a:gd name="T19" fmla="*/ 0 h 4416"/>
                  <a:gd name="T20" fmla="*/ 0 w 3568"/>
                  <a:gd name="T21" fmla="*/ 0 h 4416"/>
                  <a:gd name="T22" fmla="*/ 0 w 3568"/>
                  <a:gd name="T23" fmla="*/ 0 h 4416"/>
                  <a:gd name="T24" fmla="*/ 0 w 3568"/>
                  <a:gd name="T25" fmla="*/ 0 h 4416"/>
                  <a:gd name="T26" fmla="*/ 0 w 3568"/>
                  <a:gd name="T27" fmla="*/ 0 h 4416"/>
                  <a:gd name="T28" fmla="*/ 0 w 3568"/>
                  <a:gd name="T29" fmla="*/ 0 h 4416"/>
                  <a:gd name="T30" fmla="*/ 0 w 3568"/>
                  <a:gd name="T31" fmla="*/ 0 h 4416"/>
                  <a:gd name="T32" fmla="*/ 0 w 3568"/>
                  <a:gd name="T33" fmla="*/ 0 h 4416"/>
                  <a:gd name="T34" fmla="*/ 0 w 3568"/>
                  <a:gd name="T35" fmla="*/ 0 h 4416"/>
                  <a:gd name="T36" fmla="*/ 0 w 3568"/>
                  <a:gd name="T37" fmla="*/ 0 h 4416"/>
                  <a:gd name="T38" fmla="*/ 0 w 3568"/>
                  <a:gd name="T39" fmla="*/ 0 h 4416"/>
                  <a:gd name="T40" fmla="*/ 0 w 3568"/>
                  <a:gd name="T41" fmla="*/ 0 h 4416"/>
                  <a:gd name="T42" fmla="*/ 0 w 3568"/>
                  <a:gd name="T43" fmla="*/ 0 h 4416"/>
                  <a:gd name="T44" fmla="*/ 0 w 3568"/>
                  <a:gd name="T45" fmla="*/ 0 h 4416"/>
                  <a:gd name="T46" fmla="*/ 0 w 3568"/>
                  <a:gd name="T47" fmla="*/ 0 h 4416"/>
                  <a:gd name="T48" fmla="*/ 0 w 3568"/>
                  <a:gd name="T49" fmla="*/ 0 h 4416"/>
                  <a:gd name="T50" fmla="*/ 0 w 3568"/>
                  <a:gd name="T51" fmla="*/ 0 h 4416"/>
                  <a:gd name="T52" fmla="*/ 0 w 3568"/>
                  <a:gd name="T53" fmla="*/ 0 h 4416"/>
                  <a:gd name="T54" fmla="*/ 0 w 3568"/>
                  <a:gd name="T55" fmla="*/ 0 h 4416"/>
                  <a:gd name="T56" fmla="*/ 0 w 3568"/>
                  <a:gd name="T57" fmla="*/ 0 h 4416"/>
                  <a:gd name="T58" fmla="*/ 0 w 3568"/>
                  <a:gd name="T59" fmla="*/ 0 h 4416"/>
                  <a:gd name="T60" fmla="*/ 0 w 3568"/>
                  <a:gd name="T61" fmla="*/ 0 h 4416"/>
                  <a:gd name="T62" fmla="*/ 0 w 3568"/>
                  <a:gd name="T63" fmla="*/ 0 h 4416"/>
                  <a:gd name="T64" fmla="*/ 0 w 3568"/>
                  <a:gd name="T65" fmla="*/ 0 h 44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68"/>
                  <a:gd name="T100" fmla="*/ 0 h 4416"/>
                  <a:gd name="T101" fmla="*/ 3568 w 3568"/>
                  <a:gd name="T102" fmla="*/ 4416 h 44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68" h="4416">
                    <a:moveTo>
                      <a:pt x="0" y="0"/>
                    </a:moveTo>
                    <a:lnTo>
                      <a:pt x="34" y="128"/>
                    </a:lnTo>
                    <a:lnTo>
                      <a:pt x="70" y="256"/>
                    </a:lnTo>
                    <a:lnTo>
                      <a:pt x="107" y="386"/>
                    </a:lnTo>
                    <a:lnTo>
                      <a:pt x="146" y="517"/>
                    </a:lnTo>
                    <a:lnTo>
                      <a:pt x="187" y="650"/>
                    </a:lnTo>
                    <a:lnTo>
                      <a:pt x="229" y="784"/>
                    </a:lnTo>
                    <a:lnTo>
                      <a:pt x="273" y="918"/>
                    </a:lnTo>
                    <a:lnTo>
                      <a:pt x="319" y="1053"/>
                    </a:lnTo>
                    <a:lnTo>
                      <a:pt x="365" y="1190"/>
                    </a:lnTo>
                    <a:lnTo>
                      <a:pt x="413" y="1328"/>
                    </a:lnTo>
                    <a:lnTo>
                      <a:pt x="463" y="1465"/>
                    </a:lnTo>
                    <a:lnTo>
                      <a:pt x="514" y="1603"/>
                    </a:lnTo>
                    <a:lnTo>
                      <a:pt x="566" y="1742"/>
                    </a:lnTo>
                    <a:lnTo>
                      <a:pt x="620" y="1882"/>
                    </a:lnTo>
                    <a:lnTo>
                      <a:pt x="676" y="2022"/>
                    </a:lnTo>
                    <a:lnTo>
                      <a:pt x="732" y="2163"/>
                    </a:lnTo>
                    <a:lnTo>
                      <a:pt x="790" y="2304"/>
                    </a:lnTo>
                    <a:lnTo>
                      <a:pt x="849" y="2445"/>
                    </a:lnTo>
                    <a:lnTo>
                      <a:pt x="908" y="2586"/>
                    </a:lnTo>
                    <a:lnTo>
                      <a:pt x="970" y="2728"/>
                    </a:lnTo>
                    <a:lnTo>
                      <a:pt x="1032" y="2870"/>
                    </a:lnTo>
                    <a:lnTo>
                      <a:pt x="1095" y="3011"/>
                    </a:lnTo>
                    <a:lnTo>
                      <a:pt x="1160" y="3153"/>
                    </a:lnTo>
                    <a:lnTo>
                      <a:pt x="1225" y="3295"/>
                    </a:lnTo>
                    <a:lnTo>
                      <a:pt x="1292" y="3437"/>
                    </a:lnTo>
                    <a:lnTo>
                      <a:pt x="1359" y="3577"/>
                    </a:lnTo>
                    <a:lnTo>
                      <a:pt x="1428" y="3718"/>
                    </a:lnTo>
                    <a:lnTo>
                      <a:pt x="1497" y="3858"/>
                    </a:lnTo>
                    <a:lnTo>
                      <a:pt x="1567" y="3999"/>
                    </a:lnTo>
                    <a:lnTo>
                      <a:pt x="1639" y="4138"/>
                    </a:lnTo>
                    <a:lnTo>
                      <a:pt x="1711" y="4277"/>
                    </a:lnTo>
                    <a:lnTo>
                      <a:pt x="1784" y="4416"/>
                    </a:lnTo>
                    <a:lnTo>
                      <a:pt x="1857" y="4277"/>
                    </a:lnTo>
                    <a:lnTo>
                      <a:pt x="1929" y="4138"/>
                    </a:lnTo>
                    <a:lnTo>
                      <a:pt x="2001" y="3999"/>
                    </a:lnTo>
                    <a:lnTo>
                      <a:pt x="2071" y="3858"/>
                    </a:lnTo>
                    <a:lnTo>
                      <a:pt x="2140" y="3718"/>
                    </a:lnTo>
                    <a:lnTo>
                      <a:pt x="2208" y="3577"/>
                    </a:lnTo>
                    <a:lnTo>
                      <a:pt x="2276" y="3437"/>
                    </a:lnTo>
                    <a:lnTo>
                      <a:pt x="2343" y="3295"/>
                    </a:lnTo>
                    <a:lnTo>
                      <a:pt x="2408" y="3153"/>
                    </a:lnTo>
                    <a:lnTo>
                      <a:pt x="2473" y="3011"/>
                    </a:lnTo>
                    <a:lnTo>
                      <a:pt x="2536" y="2870"/>
                    </a:lnTo>
                    <a:lnTo>
                      <a:pt x="2598" y="2728"/>
                    </a:lnTo>
                    <a:lnTo>
                      <a:pt x="2660" y="2586"/>
                    </a:lnTo>
                    <a:lnTo>
                      <a:pt x="2719" y="2445"/>
                    </a:lnTo>
                    <a:lnTo>
                      <a:pt x="2778" y="2304"/>
                    </a:lnTo>
                    <a:lnTo>
                      <a:pt x="2836" y="2163"/>
                    </a:lnTo>
                    <a:lnTo>
                      <a:pt x="2892" y="2022"/>
                    </a:lnTo>
                    <a:lnTo>
                      <a:pt x="2948" y="1882"/>
                    </a:lnTo>
                    <a:lnTo>
                      <a:pt x="3002" y="1742"/>
                    </a:lnTo>
                    <a:lnTo>
                      <a:pt x="3054" y="1603"/>
                    </a:lnTo>
                    <a:lnTo>
                      <a:pt x="3105" y="1465"/>
                    </a:lnTo>
                    <a:lnTo>
                      <a:pt x="3155" y="1328"/>
                    </a:lnTo>
                    <a:lnTo>
                      <a:pt x="3203" y="1190"/>
                    </a:lnTo>
                    <a:lnTo>
                      <a:pt x="3249" y="1053"/>
                    </a:lnTo>
                    <a:lnTo>
                      <a:pt x="3295" y="918"/>
                    </a:lnTo>
                    <a:lnTo>
                      <a:pt x="3339" y="784"/>
                    </a:lnTo>
                    <a:lnTo>
                      <a:pt x="3381" y="650"/>
                    </a:lnTo>
                    <a:lnTo>
                      <a:pt x="3422" y="517"/>
                    </a:lnTo>
                    <a:lnTo>
                      <a:pt x="3461" y="386"/>
                    </a:lnTo>
                    <a:lnTo>
                      <a:pt x="3498" y="256"/>
                    </a:lnTo>
                    <a:lnTo>
                      <a:pt x="3534" y="128"/>
                    </a:lnTo>
                    <a:lnTo>
                      <a:pt x="3568" y="0"/>
                    </a:lnTo>
                    <a:lnTo>
                      <a:pt x="0" y="0"/>
                    </a:lnTo>
                    <a:close/>
                  </a:path>
                </a:pathLst>
              </a:custGeom>
              <a:solidFill>
                <a:srgbClr val="94DADA"/>
              </a:solidFill>
              <a:ln>
                <a:noFill/>
              </a:ln>
              <a:extLst>
                <a:ext uri="{91240B29-F687-4F45-9708-019B960494DF}">
                  <a14:hiddenLine xmlns:a14="http://schemas.microsoft.com/office/drawing/2010/main" w="38100" cap="flat" cmpd="sng">
                    <a:solidFill>
                      <a:srgbClr val="000000"/>
                    </a:solidFill>
                    <a:prstDash val="solid"/>
                    <a:round/>
                    <a:headEnd type="none" w="med" len="med"/>
                    <a:tailEnd type="none" w="med" len="med"/>
                  </a14:hiddenLine>
                </a:ext>
              </a:extLst>
            </p:spPr>
            <p:txBody>
              <a:bodyPr wrap="none" anchor="ctr"/>
              <a:lstStyle/>
              <a:p>
                <a:endParaRPr lang="nl-NL" sz="1600">
                  <a:latin typeface="Arial" panose="020B0604020202020204" pitchFamily="34" charset="0"/>
                  <a:ea typeface="+mn-ea"/>
                  <a:cs typeface="Arial" panose="020B0604020202020204" pitchFamily="34" charset="0"/>
                </a:endParaRPr>
              </a:p>
            </p:txBody>
          </p:sp>
        </p:grpSp>
        <p:sp>
          <p:nvSpPr>
            <p:cNvPr id="43" name="Text Box 26"/>
            <p:cNvSpPr txBox="1">
              <a:spLocks noChangeArrowheads="1"/>
            </p:cNvSpPr>
            <p:nvPr/>
          </p:nvSpPr>
          <p:spPr bwMode="auto">
            <a:xfrm>
              <a:off x="6514235" y="4278995"/>
              <a:ext cx="877909"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RAID</a:t>
              </a:r>
            </a:p>
          </p:txBody>
        </p:sp>
      </p:grpSp>
      <p:sp>
        <p:nvSpPr>
          <p:cNvPr id="48" name="AutoShape 31"/>
          <p:cNvSpPr>
            <a:spLocks noChangeArrowheads="1"/>
          </p:cNvSpPr>
          <p:nvPr/>
        </p:nvSpPr>
        <p:spPr bwMode="auto">
          <a:xfrm>
            <a:off x="6419688" y="3821525"/>
            <a:ext cx="936625" cy="323850"/>
          </a:xfrm>
          <a:prstGeom prst="can">
            <a:avLst>
              <a:gd name="adj" fmla="val 32843"/>
            </a:avLst>
          </a:prstGeom>
          <a:solidFill>
            <a:srgbClr val="C3EAEA"/>
          </a:soli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49" name="AutoShape 32"/>
          <p:cNvSpPr>
            <a:spLocks noChangeArrowheads="1"/>
          </p:cNvSpPr>
          <p:nvPr/>
        </p:nvSpPr>
        <p:spPr bwMode="auto">
          <a:xfrm>
            <a:off x="6419687" y="3530595"/>
            <a:ext cx="936625" cy="323850"/>
          </a:xfrm>
          <a:prstGeom prst="can">
            <a:avLst>
              <a:gd name="adj" fmla="val 32843"/>
            </a:avLst>
          </a:prstGeom>
          <a:solidFill>
            <a:schemeClr val="accent6">
              <a:lumMod val="60000"/>
              <a:lumOff val="40000"/>
            </a:schemeClr>
          </a:soli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50" name="AutoShape 33"/>
          <p:cNvSpPr>
            <a:spLocks noChangeArrowheads="1"/>
          </p:cNvSpPr>
          <p:nvPr/>
        </p:nvSpPr>
        <p:spPr bwMode="auto">
          <a:xfrm>
            <a:off x="6419688" y="3205834"/>
            <a:ext cx="936625" cy="323850"/>
          </a:xfrm>
          <a:prstGeom prst="can">
            <a:avLst>
              <a:gd name="adj" fmla="val 32843"/>
            </a:avLst>
          </a:prstGeom>
          <a:solidFill>
            <a:schemeClr val="accent2">
              <a:lumMod val="75000"/>
            </a:schemeClr>
          </a:solidFill>
          <a:ln w="9525">
            <a:solidFill>
              <a:schemeClr val="tx1"/>
            </a:solidFill>
            <a:round/>
            <a:headEnd/>
            <a:tailEnd/>
          </a:ln>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51" name="Rectangle 38"/>
          <p:cNvSpPr>
            <a:spLocks noChangeArrowheads="1"/>
          </p:cNvSpPr>
          <p:nvPr/>
        </p:nvSpPr>
        <p:spPr bwMode="auto">
          <a:xfrm>
            <a:off x="6276020" y="3156161"/>
            <a:ext cx="1223963" cy="323850"/>
          </a:xfrm>
          <a:prstGeom prst="rect">
            <a:avLst/>
          </a:prstGeom>
          <a:noFill/>
          <a:ln w="28575">
            <a:solidFill>
              <a:srgbClr val="FF66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52" name="Rectangle 39"/>
          <p:cNvSpPr>
            <a:spLocks noChangeArrowheads="1"/>
          </p:cNvSpPr>
          <p:nvPr/>
        </p:nvSpPr>
        <p:spPr bwMode="auto">
          <a:xfrm>
            <a:off x="6276020" y="3562834"/>
            <a:ext cx="1223963" cy="241300"/>
          </a:xfrm>
          <a:prstGeom prst="rect">
            <a:avLst/>
          </a:prstGeom>
          <a:noFill/>
          <a:ln w="28575">
            <a:solidFill>
              <a:srgbClr val="FFCC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53" name="Rectangle 16"/>
          <p:cNvSpPr>
            <a:spLocks noChangeArrowheads="1"/>
          </p:cNvSpPr>
          <p:nvPr/>
        </p:nvSpPr>
        <p:spPr bwMode="auto">
          <a:xfrm>
            <a:off x="6276020" y="3875349"/>
            <a:ext cx="1223963" cy="288925"/>
          </a:xfrm>
          <a:prstGeom prst="rect">
            <a:avLst/>
          </a:prstGeom>
          <a:noFill/>
          <a:ln w="2857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sz="1600">
              <a:solidFill>
                <a:srgbClr val="000000"/>
              </a:solidFill>
              <a:latin typeface="Arial" panose="020B0604020202020204" pitchFamily="34" charset="0"/>
              <a:ea typeface="+mn-ea"/>
              <a:cs typeface="Arial" panose="020B0604020202020204" pitchFamily="34" charset="0"/>
            </a:endParaRPr>
          </a:p>
        </p:txBody>
      </p:sp>
      <p:grpSp>
        <p:nvGrpSpPr>
          <p:cNvPr id="54" name="组合 53"/>
          <p:cNvGrpSpPr/>
          <p:nvPr/>
        </p:nvGrpSpPr>
        <p:grpSpPr>
          <a:xfrm>
            <a:off x="4871864" y="4905164"/>
            <a:ext cx="4097478" cy="609685"/>
            <a:chOff x="1741805" y="5735639"/>
            <a:chExt cx="4097478" cy="609685"/>
          </a:xfrm>
        </p:grpSpPr>
        <p:sp>
          <p:nvSpPr>
            <p:cNvPr id="55" name="hard-drive_77649"/>
            <p:cNvSpPr>
              <a:spLocks noChangeAspect="1"/>
            </p:cNvSpPr>
            <p:nvPr/>
          </p:nvSpPr>
          <p:spPr bwMode="auto">
            <a:xfrm>
              <a:off x="174180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6" name="hard-drive_77649"/>
            <p:cNvSpPr>
              <a:spLocks noChangeAspect="1"/>
            </p:cNvSpPr>
            <p:nvPr/>
          </p:nvSpPr>
          <p:spPr bwMode="auto">
            <a:xfrm>
              <a:off x="3633215"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sp>
          <p:nvSpPr>
            <p:cNvPr id="57" name="hard-drive_77649"/>
            <p:cNvSpPr>
              <a:spLocks noChangeAspect="1"/>
            </p:cNvSpPr>
            <p:nvPr/>
          </p:nvSpPr>
          <p:spPr bwMode="auto">
            <a:xfrm>
              <a:off x="5411924" y="5735639"/>
              <a:ext cx="427359" cy="609685"/>
            </a:xfrm>
            <a:custGeom>
              <a:avLst/>
              <a:gdLst>
                <a:gd name="connsiteX0" fmla="*/ 375373 w 426074"/>
                <a:gd name="connsiteY0" fmla="*/ 545965 h 607851"/>
                <a:gd name="connsiteX1" fmla="*/ 386558 w 426074"/>
                <a:gd name="connsiteY1" fmla="*/ 557150 h 607851"/>
                <a:gd name="connsiteX2" fmla="*/ 375373 w 426074"/>
                <a:gd name="connsiteY2" fmla="*/ 568335 h 607851"/>
                <a:gd name="connsiteX3" fmla="*/ 364188 w 426074"/>
                <a:gd name="connsiteY3" fmla="*/ 557150 h 607851"/>
                <a:gd name="connsiteX4" fmla="*/ 375373 w 426074"/>
                <a:gd name="connsiteY4" fmla="*/ 545965 h 607851"/>
                <a:gd name="connsiteX5" fmla="*/ 50702 w 426074"/>
                <a:gd name="connsiteY5" fmla="*/ 545965 h 607851"/>
                <a:gd name="connsiteX6" fmla="*/ 61887 w 426074"/>
                <a:gd name="connsiteY6" fmla="*/ 557150 h 607851"/>
                <a:gd name="connsiteX7" fmla="*/ 50702 w 426074"/>
                <a:gd name="connsiteY7" fmla="*/ 568335 h 607851"/>
                <a:gd name="connsiteX8" fmla="*/ 39517 w 426074"/>
                <a:gd name="connsiteY8" fmla="*/ 557150 h 607851"/>
                <a:gd name="connsiteX9" fmla="*/ 50702 w 426074"/>
                <a:gd name="connsiteY9" fmla="*/ 545965 h 607851"/>
                <a:gd name="connsiteX10" fmla="*/ 134219 w 426074"/>
                <a:gd name="connsiteY10" fmla="*/ 441560 h 607851"/>
                <a:gd name="connsiteX11" fmla="*/ 114898 w 426074"/>
                <a:gd name="connsiteY11" fmla="*/ 460853 h 607851"/>
                <a:gd name="connsiteX12" fmla="*/ 134219 w 426074"/>
                <a:gd name="connsiteY12" fmla="*/ 480071 h 607851"/>
                <a:gd name="connsiteX13" fmla="*/ 153465 w 426074"/>
                <a:gd name="connsiteY13" fmla="*/ 460853 h 607851"/>
                <a:gd name="connsiteX14" fmla="*/ 134219 w 426074"/>
                <a:gd name="connsiteY14" fmla="*/ 441560 h 607851"/>
                <a:gd name="connsiteX15" fmla="*/ 264464 w 426074"/>
                <a:gd name="connsiteY15" fmla="*/ 313365 h 607851"/>
                <a:gd name="connsiteX16" fmla="*/ 280726 w 426074"/>
                <a:gd name="connsiteY16" fmla="*/ 314483 h 607851"/>
                <a:gd name="connsiteX17" fmla="*/ 281845 w 426074"/>
                <a:gd name="connsiteY17" fmla="*/ 330721 h 607851"/>
                <a:gd name="connsiteX18" fmla="*/ 165400 w 426074"/>
                <a:gd name="connsiteY18" fmla="*/ 484391 h 607851"/>
                <a:gd name="connsiteX19" fmla="*/ 106543 w 426074"/>
                <a:gd name="connsiteY19" fmla="*/ 488488 h 607851"/>
                <a:gd name="connsiteX20" fmla="*/ 110572 w 426074"/>
                <a:gd name="connsiteY20" fmla="*/ 429642 h 607851"/>
                <a:gd name="connsiteX21" fmla="*/ 264464 w 426074"/>
                <a:gd name="connsiteY21" fmla="*/ 313365 h 607851"/>
                <a:gd name="connsiteX22" fmla="*/ 213042 w 426074"/>
                <a:gd name="connsiteY22" fmla="*/ 161293 h 607851"/>
                <a:gd name="connsiteX23" fmla="*/ 159621 w 426074"/>
                <a:gd name="connsiteY23" fmla="*/ 214623 h 607851"/>
                <a:gd name="connsiteX24" fmla="*/ 213042 w 426074"/>
                <a:gd name="connsiteY24" fmla="*/ 267953 h 607851"/>
                <a:gd name="connsiteX25" fmla="*/ 266464 w 426074"/>
                <a:gd name="connsiteY25" fmla="*/ 214623 h 607851"/>
                <a:gd name="connsiteX26" fmla="*/ 213042 w 426074"/>
                <a:gd name="connsiteY26" fmla="*/ 161293 h 607851"/>
                <a:gd name="connsiteX27" fmla="*/ 200955 w 426074"/>
                <a:gd name="connsiteY27" fmla="*/ 57538 h 607851"/>
                <a:gd name="connsiteX28" fmla="*/ 366219 w 426074"/>
                <a:gd name="connsiteY28" fmla="*/ 176636 h 607851"/>
                <a:gd name="connsiteX29" fmla="*/ 275939 w 426074"/>
                <a:gd name="connsiteY29" fmla="*/ 359120 h 607851"/>
                <a:gd name="connsiteX30" fmla="*/ 291757 w 426074"/>
                <a:gd name="connsiteY30" fmla="*/ 338265 h 607851"/>
                <a:gd name="connsiteX31" fmla="*/ 289518 w 426074"/>
                <a:gd name="connsiteY31" fmla="*/ 305716 h 607851"/>
                <a:gd name="connsiteX32" fmla="*/ 256988 w 426074"/>
                <a:gd name="connsiteY32" fmla="*/ 303481 h 607851"/>
                <a:gd name="connsiteX33" fmla="*/ 172901 w 426074"/>
                <a:gd name="connsiteY33" fmla="*/ 366941 h 607851"/>
                <a:gd name="connsiteX34" fmla="*/ 55911 w 426074"/>
                <a:gd name="connsiteY34" fmla="*/ 200397 h 607851"/>
                <a:gd name="connsiteX35" fmla="*/ 200955 w 426074"/>
                <a:gd name="connsiteY35" fmla="*/ 57538 h 607851"/>
                <a:gd name="connsiteX36" fmla="*/ 375373 w 426074"/>
                <a:gd name="connsiteY36" fmla="*/ 39446 h 607851"/>
                <a:gd name="connsiteX37" fmla="*/ 386558 w 426074"/>
                <a:gd name="connsiteY37" fmla="*/ 50631 h 607851"/>
                <a:gd name="connsiteX38" fmla="*/ 375373 w 426074"/>
                <a:gd name="connsiteY38" fmla="*/ 61816 h 607851"/>
                <a:gd name="connsiteX39" fmla="*/ 364188 w 426074"/>
                <a:gd name="connsiteY39" fmla="*/ 50631 h 607851"/>
                <a:gd name="connsiteX40" fmla="*/ 375373 w 426074"/>
                <a:gd name="connsiteY40" fmla="*/ 39446 h 607851"/>
                <a:gd name="connsiteX41" fmla="*/ 50702 w 426074"/>
                <a:gd name="connsiteY41" fmla="*/ 39446 h 607851"/>
                <a:gd name="connsiteX42" fmla="*/ 61887 w 426074"/>
                <a:gd name="connsiteY42" fmla="*/ 50631 h 607851"/>
                <a:gd name="connsiteX43" fmla="*/ 50702 w 426074"/>
                <a:gd name="connsiteY43" fmla="*/ 61816 h 607851"/>
                <a:gd name="connsiteX44" fmla="*/ 39517 w 426074"/>
                <a:gd name="connsiteY44" fmla="*/ 50631 h 607851"/>
                <a:gd name="connsiteX45" fmla="*/ 50702 w 426074"/>
                <a:gd name="connsiteY45" fmla="*/ 39446 h 607851"/>
                <a:gd name="connsiteX46" fmla="*/ 50723 w 426074"/>
                <a:gd name="connsiteY46" fmla="*/ 24805 h 607851"/>
                <a:gd name="connsiteX47" fmla="*/ 24839 w 426074"/>
                <a:gd name="connsiteY47" fmla="*/ 50654 h 607851"/>
                <a:gd name="connsiteX48" fmla="*/ 24839 w 426074"/>
                <a:gd name="connsiteY48" fmla="*/ 557197 h 607851"/>
                <a:gd name="connsiteX49" fmla="*/ 50723 w 426074"/>
                <a:gd name="connsiteY49" fmla="*/ 583046 h 607851"/>
                <a:gd name="connsiteX50" fmla="*/ 375351 w 426074"/>
                <a:gd name="connsiteY50" fmla="*/ 583046 h 607851"/>
                <a:gd name="connsiteX51" fmla="*/ 401235 w 426074"/>
                <a:gd name="connsiteY51" fmla="*/ 557197 h 607851"/>
                <a:gd name="connsiteX52" fmla="*/ 401235 w 426074"/>
                <a:gd name="connsiteY52" fmla="*/ 50654 h 607851"/>
                <a:gd name="connsiteX53" fmla="*/ 375351 w 426074"/>
                <a:gd name="connsiteY53" fmla="*/ 24805 h 607851"/>
                <a:gd name="connsiteX54" fmla="*/ 50723 w 426074"/>
                <a:gd name="connsiteY54" fmla="*/ 0 h 607851"/>
                <a:gd name="connsiteX55" fmla="*/ 375351 w 426074"/>
                <a:gd name="connsiteY55" fmla="*/ 0 h 607851"/>
                <a:gd name="connsiteX56" fmla="*/ 426074 w 426074"/>
                <a:gd name="connsiteY56" fmla="*/ 50654 h 607851"/>
                <a:gd name="connsiteX57" fmla="*/ 426074 w 426074"/>
                <a:gd name="connsiteY57" fmla="*/ 557197 h 607851"/>
                <a:gd name="connsiteX58" fmla="*/ 375351 w 426074"/>
                <a:gd name="connsiteY58" fmla="*/ 607851 h 607851"/>
                <a:gd name="connsiteX59" fmla="*/ 50723 w 426074"/>
                <a:gd name="connsiteY59" fmla="*/ 607851 h 607851"/>
                <a:gd name="connsiteX60" fmla="*/ 0 w 426074"/>
                <a:gd name="connsiteY60" fmla="*/ 557197 h 607851"/>
                <a:gd name="connsiteX61" fmla="*/ 0 w 426074"/>
                <a:gd name="connsiteY61" fmla="*/ 50654 h 607851"/>
                <a:gd name="connsiteX62" fmla="*/ 50723 w 426074"/>
                <a:gd name="connsiteY62"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6074" h="607851">
                  <a:moveTo>
                    <a:pt x="375373" y="545965"/>
                  </a:moveTo>
                  <a:cubicBezTo>
                    <a:pt x="381550" y="545965"/>
                    <a:pt x="386558" y="550973"/>
                    <a:pt x="386558" y="557150"/>
                  </a:cubicBezTo>
                  <a:cubicBezTo>
                    <a:pt x="386558" y="563327"/>
                    <a:pt x="381550" y="568335"/>
                    <a:pt x="375373" y="568335"/>
                  </a:cubicBezTo>
                  <a:cubicBezTo>
                    <a:pt x="369196" y="568335"/>
                    <a:pt x="364188" y="563327"/>
                    <a:pt x="364188" y="557150"/>
                  </a:cubicBezTo>
                  <a:cubicBezTo>
                    <a:pt x="364188" y="550973"/>
                    <a:pt x="369196" y="545965"/>
                    <a:pt x="375373" y="545965"/>
                  </a:cubicBezTo>
                  <a:close/>
                  <a:moveTo>
                    <a:pt x="50702" y="545965"/>
                  </a:moveTo>
                  <a:cubicBezTo>
                    <a:pt x="56879" y="545965"/>
                    <a:pt x="61887" y="550973"/>
                    <a:pt x="61887" y="557150"/>
                  </a:cubicBezTo>
                  <a:cubicBezTo>
                    <a:pt x="61887" y="563327"/>
                    <a:pt x="56879" y="568335"/>
                    <a:pt x="50702" y="568335"/>
                  </a:cubicBezTo>
                  <a:cubicBezTo>
                    <a:pt x="44525" y="568335"/>
                    <a:pt x="39517" y="563327"/>
                    <a:pt x="39517" y="557150"/>
                  </a:cubicBezTo>
                  <a:cubicBezTo>
                    <a:pt x="39517" y="550973"/>
                    <a:pt x="44525" y="545965"/>
                    <a:pt x="50702" y="545965"/>
                  </a:cubicBezTo>
                  <a:close/>
                  <a:moveTo>
                    <a:pt x="134219" y="441560"/>
                  </a:moveTo>
                  <a:cubicBezTo>
                    <a:pt x="123551" y="441560"/>
                    <a:pt x="114898" y="450201"/>
                    <a:pt x="114898" y="460853"/>
                  </a:cubicBezTo>
                  <a:cubicBezTo>
                    <a:pt x="114898" y="471430"/>
                    <a:pt x="123551" y="480071"/>
                    <a:pt x="134219" y="480071"/>
                  </a:cubicBezTo>
                  <a:cubicBezTo>
                    <a:pt x="144811" y="480071"/>
                    <a:pt x="153465" y="471430"/>
                    <a:pt x="153465" y="460853"/>
                  </a:cubicBezTo>
                  <a:cubicBezTo>
                    <a:pt x="153465" y="450201"/>
                    <a:pt x="144811" y="441560"/>
                    <a:pt x="134219" y="441560"/>
                  </a:cubicBezTo>
                  <a:close/>
                  <a:moveTo>
                    <a:pt x="264464" y="313365"/>
                  </a:moveTo>
                  <a:cubicBezTo>
                    <a:pt x="269387" y="309641"/>
                    <a:pt x="276399" y="310088"/>
                    <a:pt x="280726" y="314483"/>
                  </a:cubicBezTo>
                  <a:cubicBezTo>
                    <a:pt x="285127" y="318877"/>
                    <a:pt x="285649" y="325805"/>
                    <a:pt x="281845" y="330721"/>
                  </a:cubicBezTo>
                  <a:cubicBezTo>
                    <a:pt x="243055" y="381969"/>
                    <a:pt x="204190" y="433217"/>
                    <a:pt x="165400" y="484391"/>
                  </a:cubicBezTo>
                  <a:cubicBezTo>
                    <a:pt x="151077" y="503311"/>
                    <a:pt x="123328" y="505248"/>
                    <a:pt x="106543" y="488488"/>
                  </a:cubicBezTo>
                  <a:cubicBezTo>
                    <a:pt x="89759" y="471653"/>
                    <a:pt x="91624" y="443944"/>
                    <a:pt x="110572" y="429642"/>
                  </a:cubicBezTo>
                  <a:cubicBezTo>
                    <a:pt x="161894" y="390908"/>
                    <a:pt x="213142" y="352099"/>
                    <a:pt x="264464" y="313365"/>
                  </a:cubicBezTo>
                  <a:close/>
                  <a:moveTo>
                    <a:pt x="213042" y="161293"/>
                  </a:moveTo>
                  <a:cubicBezTo>
                    <a:pt x="183571" y="161293"/>
                    <a:pt x="159621" y="185202"/>
                    <a:pt x="159621" y="214623"/>
                  </a:cubicBezTo>
                  <a:cubicBezTo>
                    <a:pt x="159621" y="244044"/>
                    <a:pt x="183571" y="267953"/>
                    <a:pt x="213042" y="267953"/>
                  </a:cubicBezTo>
                  <a:cubicBezTo>
                    <a:pt x="242513" y="267953"/>
                    <a:pt x="266464" y="244044"/>
                    <a:pt x="266464" y="214623"/>
                  </a:cubicBezTo>
                  <a:cubicBezTo>
                    <a:pt x="266464" y="185202"/>
                    <a:pt x="242513" y="161293"/>
                    <a:pt x="213042" y="161293"/>
                  </a:cubicBezTo>
                  <a:close/>
                  <a:moveTo>
                    <a:pt x="200955" y="57538"/>
                  </a:moveTo>
                  <a:cubicBezTo>
                    <a:pt x="277805" y="51654"/>
                    <a:pt x="347641" y="102004"/>
                    <a:pt x="366219" y="176636"/>
                  </a:cubicBezTo>
                  <a:cubicBezTo>
                    <a:pt x="384722" y="251343"/>
                    <a:pt x="346596" y="328433"/>
                    <a:pt x="275939" y="359120"/>
                  </a:cubicBezTo>
                  <a:cubicBezTo>
                    <a:pt x="281237" y="352119"/>
                    <a:pt x="286459" y="345192"/>
                    <a:pt x="291757" y="338265"/>
                  </a:cubicBezTo>
                  <a:cubicBezTo>
                    <a:pt x="299293" y="328359"/>
                    <a:pt x="298323" y="314505"/>
                    <a:pt x="289518" y="305716"/>
                  </a:cubicBezTo>
                  <a:cubicBezTo>
                    <a:pt x="280714" y="296927"/>
                    <a:pt x="266837" y="296033"/>
                    <a:pt x="256988" y="303481"/>
                  </a:cubicBezTo>
                  <a:cubicBezTo>
                    <a:pt x="228934" y="324634"/>
                    <a:pt x="200955" y="345788"/>
                    <a:pt x="172901" y="366941"/>
                  </a:cubicBezTo>
                  <a:cubicBezTo>
                    <a:pt x="98439" y="347426"/>
                    <a:pt x="48972" y="277040"/>
                    <a:pt x="55911" y="200397"/>
                  </a:cubicBezTo>
                  <a:cubicBezTo>
                    <a:pt x="62850" y="123828"/>
                    <a:pt x="124180" y="63422"/>
                    <a:pt x="200955" y="57538"/>
                  </a:cubicBezTo>
                  <a:close/>
                  <a:moveTo>
                    <a:pt x="375373" y="39446"/>
                  </a:moveTo>
                  <a:cubicBezTo>
                    <a:pt x="381550" y="39446"/>
                    <a:pt x="386558" y="44454"/>
                    <a:pt x="386558" y="50631"/>
                  </a:cubicBezTo>
                  <a:cubicBezTo>
                    <a:pt x="386558" y="56808"/>
                    <a:pt x="381550" y="61816"/>
                    <a:pt x="375373" y="61816"/>
                  </a:cubicBezTo>
                  <a:cubicBezTo>
                    <a:pt x="369196" y="61816"/>
                    <a:pt x="364188" y="56808"/>
                    <a:pt x="364188" y="50631"/>
                  </a:cubicBezTo>
                  <a:cubicBezTo>
                    <a:pt x="364188" y="44454"/>
                    <a:pt x="369196" y="39446"/>
                    <a:pt x="375373" y="39446"/>
                  </a:cubicBezTo>
                  <a:close/>
                  <a:moveTo>
                    <a:pt x="50702" y="39446"/>
                  </a:moveTo>
                  <a:cubicBezTo>
                    <a:pt x="56879" y="39446"/>
                    <a:pt x="61887" y="44454"/>
                    <a:pt x="61887" y="50631"/>
                  </a:cubicBezTo>
                  <a:cubicBezTo>
                    <a:pt x="61887" y="56808"/>
                    <a:pt x="56879" y="61816"/>
                    <a:pt x="50702" y="61816"/>
                  </a:cubicBezTo>
                  <a:cubicBezTo>
                    <a:pt x="44525" y="61816"/>
                    <a:pt x="39517" y="56808"/>
                    <a:pt x="39517" y="50631"/>
                  </a:cubicBezTo>
                  <a:cubicBezTo>
                    <a:pt x="39517" y="44454"/>
                    <a:pt x="44525" y="39446"/>
                    <a:pt x="50702" y="39446"/>
                  </a:cubicBezTo>
                  <a:close/>
                  <a:moveTo>
                    <a:pt x="50723" y="24805"/>
                  </a:moveTo>
                  <a:cubicBezTo>
                    <a:pt x="36401" y="24805"/>
                    <a:pt x="24839" y="36352"/>
                    <a:pt x="24839" y="50654"/>
                  </a:cubicBezTo>
                  <a:lnTo>
                    <a:pt x="24839" y="557197"/>
                  </a:lnTo>
                  <a:cubicBezTo>
                    <a:pt x="24839" y="571499"/>
                    <a:pt x="36401" y="583046"/>
                    <a:pt x="50723" y="583046"/>
                  </a:cubicBezTo>
                  <a:lnTo>
                    <a:pt x="375351" y="583046"/>
                  </a:lnTo>
                  <a:cubicBezTo>
                    <a:pt x="389673" y="583046"/>
                    <a:pt x="401235" y="571499"/>
                    <a:pt x="401235" y="557197"/>
                  </a:cubicBezTo>
                  <a:cubicBezTo>
                    <a:pt x="401235" y="388324"/>
                    <a:pt x="401235" y="219526"/>
                    <a:pt x="401235" y="50654"/>
                  </a:cubicBezTo>
                  <a:cubicBezTo>
                    <a:pt x="401235" y="36352"/>
                    <a:pt x="389673" y="24805"/>
                    <a:pt x="375351" y="24805"/>
                  </a:cubicBezTo>
                  <a:close/>
                  <a:moveTo>
                    <a:pt x="50723" y="0"/>
                  </a:moveTo>
                  <a:lnTo>
                    <a:pt x="375351" y="0"/>
                  </a:lnTo>
                  <a:cubicBezTo>
                    <a:pt x="403398" y="0"/>
                    <a:pt x="426074" y="22645"/>
                    <a:pt x="426074" y="50654"/>
                  </a:cubicBezTo>
                  <a:lnTo>
                    <a:pt x="426074" y="557197"/>
                  </a:lnTo>
                  <a:cubicBezTo>
                    <a:pt x="426074" y="585206"/>
                    <a:pt x="403398" y="607851"/>
                    <a:pt x="375351" y="607851"/>
                  </a:cubicBezTo>
                  <a:lnTo>
                    <a:pt x="50723" y="607851"/>
                  </a:lnTo>
                  <a:cubicBezTo>
                    <a:pt x="22676" y="607851"/>
                    <a:pt x="0" y="585206"/>
                    <a:pt x="0" y="557197"/>
                  </a:cubicBezTo>
                  <a:lnTo>
                    <a:pt x="0" y="50654"/>
                  </a:lnTo>
                  <a:cubicBezTo>
                    <a:pt x="0" y="22645"/>
                    <a:pt x="22676" y="0"/>
                    <a:pt x="50723" y="0"/>
                  </a:cubicBezTo>
                  <a:close/>
                </a:path>
              </a:pathLst>
            </a:custGeom>
            <a:solidFill>
              <a:srgbClr val="3ABABA"/>
            </a:solidFill>
            <a:ln>
              <a:noFill/>
            </a:ln>
          </p:spPr>
        </p:sp>
      </p:grpSp>
      <p:grpSp>
        <p:nvGrpSpPr>
          <p:cNvPr id="60" name="组合 59"/>
          <p:cNvGrpSpPr/>
          <p:nvPr/>
        </p:nvGrpSpPr>
        <p:grpSpPr>
          <a:xfrm>
            <a:off x="5865701" y="2504296"/>
            <a:ext cx="1850479" cy="363158"/>
            <a:chOff x="5865701" y="2504296"/>
            <a:chExt cx="1850479" cy="363158"/>
          </a:xfrm>
        </p:grpSpPr>
        <p:grpSp>
          <p:nvGrpSpPr>
            <p:cNvPr id="8" name="Group 11"/>
            <p:cNvGrpSpPr>
              <a:grpSpLocks/>
            </p:cNvGrpSpPr>
            <p:nvPr/>
          </p:nvGrpSpPr>
          <p:grpSpPr bwMode="auto">
            <a:xfrm rot="16200000">
              <a:off x="6696025" y="2133615"/>
              <a:ext cx="325438" cy="1066800"/>
              <a:chOff x="1438" y="1007"/>
              <a:chExt cx="2280" cy="2928"/>
            </a:xfrm>
            <a:solidFill>
              <a:srgbClr val="94DADA"/>
            </a:solidFill>
          </p:grpSpPr>
          <p:sp>
            <p:nvSpPr>
              <p:cNvPr id="12" name="Freeform 12"/>
              <p:cNvSpPr>
                <a:spLocks/>
              </p:cNvSpPr>
              <p:nvPr/>
            </p:nvSpPr>
            <p:spPr bwMode="auto">
              <a:xfrm rot="5400000">
                <a:off x="1120" y="2238"/>
                <a:ext cx="1748" cy="1646"/>
              </a:xfrm>
              <a:custGeom>
                <a:avLst/>
                <a:gdLst/>
                <a:ahLst/>
                <a:cxnLst>
                  <a:cxn ang="0">
                    <a:pos x="923" y="56"/>
                  </a:cxn>
                  <a:cxn ang="0">
                    <a:pos x="992" y="169"/>
                  </a:cxn>
                  <a:cxn ang="0">
                    <a:pos x="1070" y="284"/>
                  </a:cxn>
                  <a:cxn ang="0">
                    <a:pos x="1158" y="401"/>
                  </a:cxn>
                  <a:cxn ang="0">
                    <a:pos x="1255" y="520"/>
                  </a:cxn>
                  <a:cxn ang="0">
                    <a:pos x="1359" y="638"/>
                  </a:cxn>
                  <a:cxn ang="0">
                    <a:pos x="1471" y="756"/>
                  </a:cxn>
                  <a:cxn ang="0">
                    <a:pos x="1588" y="873"/>
                  </a:cxn>
                  <a:cxn ang="0">
                    <a:pos x="1712" y="988"/>
                  </a:cxn>
                  <a:cxn ang="0">
                    <a:pos x="1841" y="1101"/>
                  </a:cxn>
                  <a:cxn ang="0">
                    <a:pos x="1974" y="1211"/>
                  </a:cxn>
                  <a:cxn ang="0">
                    <a:pos x="2110" y="1317"/>
                  </a:cxn>
                  <a:cxn ang="0">
                    <a:pos x="2250" y="1419"/>
                  </a:cxn>
                  <a:cxn ang="0">
                    <a:pos x="2391" y="1516"/>
                  </a:cxn>
                  <a:cxn ang="0">
                    <a:pos x="2534" y="1608"/>
                  </a:cxn>
                  <a:cxn ang="0">
                    <a:pos x="2678" y="1693"/>
                  </a:cxn>
                  <a:cxn ang="0">
                    <a:pos x="838" y="1733"/>
                  </a:cxn>
                  <a:cxn ang="0">
                    <a:pos x="771" y="1640"/>
                  </a:cxn>
                  <a:cxn ang="0">
                    <a:pos x="705" y="1542"/>
                  </a:cxn>
                  <a:cxn ang="0">
                    <a:pos x="640" y="1441"/>
                  </a:cxn>
                  <a:cxn ang="0">
                    <a:pos x="576" y="1336"/>
                  </a:cxn>
                  <a:cxn ang="0">
                    <a:pos x="514" y="1227"/>
                  </a:cxn>
                  <a:cxn ang="0">
                    <a:pos x="453" y="1117"/>
                  </a:cxn>
                  <a:cxn ang="0">
                    <a:pos x="421" y="1004"/>
                  </a:cxn>
                  <a:cxn ang="0">
                    <a:pos x="355" y="890"/>
                  </a:cxn>
                  <a:cxn ang="0">
                    <a:pos x="301" y="779"/>
                  </a:cxn>
                  <a:cxn ang="0">
                    <a:pos x="254" y="661"/>
                  </a:cxn>
                  <a:cxn ang="0">
                    <a:pos x="205" y="551"/>
                  </a:cxn>
                  <a:cxn ang="0">
                    <a:pos x="163" y="437"/>
                  </a:cxn>
                  <a:cxn ang="0">
                    <a:pos x="116" y="320"/>
                  </a:cxn>
                  <a:cxn ang="0">
                    <a:pos x="76" y="211"/>
                  </a:cxn>
                  <a:cxn ang="0">
                    <a:pos x="40" y="106"/>
                  </a:cxn>
                  <a:cxn ang="0">
                    <a:pos x="0" y="0"/>
                  </a:cxn>
                </a:cxnLst>
                <a:rect l="0" t="0" r="r" b="b"/>
                <a:pathLst>
                  <a:path w="2750" h="1733">
                    <a:moveTo>
                      <a:pt x="892" y="0"/>
                    </a:moveTo>
                    <a:lnTo>
                      <a:pt x="923" y="56"/>
                    </a:lnTo>
                    <a:lnTo>
                      <a:pt x="956" y="112"/>
                    </a:lnTo>
                    <a:lnTo>
                      <a:pt x="992" y="169"/>
                    </a:lnTo>
                    <a:lnTo>
                      <a:pt x="1030" y="226"/>
                    </a:lnTo>
                    <a:lnTo>
                      <a:pt x="1070" y="284"/>
                    </a:lnTo>
                    <a:lnTo>
                      <a:pt x="1113" y="343"/>
                    </a:lnTo>
                    <a:lnTo>
                      <a:pt x="1158" y="401"/>
                    </a:lnTo>
                    <a:lnTo>
                      <a:pt x="1206" y="461"/>
                    </a:lnTo>
                    <a:lnTo>
                      <a:pt x="1255" y="520"/>
                    </a:lnTo>
                    <a:lnTo>
                      <a:pt x="1306" y="579"/>
                    </a:lnTo>
                    <a:lnTo>
                      <a:pt x="1359" y="638"/>
                    </a:lnTo>
                    <a:lnTo>
                      <a:pt x="1414" y="697"/>
                    </a:lnTo>
                    <a:lnTo>
                      <a:pt x="1471" y="756"/>
                    </a:lnTo>
                    <a:lnTo>
                      <a:pt x="1529" y="815"/>
                    </a:lnTo>
                    <a:lnTo>
                      <a:pt x="1588" y="873"/>
                    </a:lnTo>
                    <a:lnTo>
                      <a:pt x="1650" y="931"/>
                    </a:lnTo>
                    <a:lnTo>
                      <a:pt x="1712" y="988"/>
                    </a:lnTo>
                    <a:lnTo>
                      <a:pt x="1776" y="1045"/>
                    </a:lnTo>
                    <a:lnTo>
                      <a:pt x="1841" y="1101"/>
                    </a:lnTo>
                    <a:lnTo>
                      <a:pt x="1907" y="1157"/>
                    </a:lnTo>
                    <a:lnTo>
                      <a:pt x="1974" y="1211"/>
                    </a:lnTo>
                    <a:lnTo>
                      <a:pt x="2041" y="1265"/>
                    </a:lnTo>
                    <a:lnTo>
                      <a:pt x="2110" y="1317"/>
                    </a:lnTo>
                    <a:lnTo>
                      <a:pt x="2180" y="1369"/>
                    </a:lnTo>
                    <a:lnTo>
                      <a:pt x="2250" y="1419"/>
                    </a:lnTo>
                    <a:lnTo>
                      <a:pt x="2320" y="1469"/>
                    </a:lnTo>
                    <a:lnTo>
                      <a:pt x="2391" y="1516"/>
                    </a:lnTo>
                    <a:lnTo>
                      <a:pt x="2462" y="1563"/>
                    </a:lnTo>
                    <a:lnTo>
                      <a:pt x="2534" y="1608"/>
                    </a:lnTo>
                    <a:lnTo>
                      <a:pt x="2606" y="1651"/>
                    </a:lnTo>
                    <a:lnTo>
                      <a:pt x="2678" y="1693"/>
                    </a:lnTo>
                    <a:lnTo>
                      <a:pt x="2750" y="1733"/>
                    </a:lnTo>
                    <a:lnTo>
                      <a:pt x="838" y="1733"/>
                    </a:lnTo>
                    <a:lnTo>
                      <a:pt x="805" y="1687"/>
                    </a:lnTo>
                    <a:lnTo>
                      <a:pt x="771" y="1640"/>
                    </a:lnTo>
                    <a:lnTo>
                      <a:pt x="738" y="1592"/>
                    </a:lnTo>
                    <a:lnTo>
                      <a:pt x="705" y="1542"/>
                    </a:lnTo>
                    <a:lnTo>
                      <a:pt x="672" y="1492"/>
                    </a:lnTo>
                    <a:lnTo>
                      <a:pt x="640" y="1441"/>
                    </a:lnTo>
                    <a:lnTo>
                      <a:pt x="608" y="1389"/>
                    </a:lnTo>
                    <a:lnTo>
                      <a:pt x="576" y="1336"/>
                    </a:lnTo>
                    <a:lnTo>
                      <a:pt x="545" y="1282"/>
                    </a:lnTo>
                    <a:lnTo>
                      <a:pt x="514" y="1227"/>
                    </a:lnTo>
                    <a:lnTo>
                      <a:pt x="483" y="1172"/>
                    </a:lnTo>
                    <a:lnTo>
                      <a:pt x="453" y="1117"/>
                    </a:lnTo>
                    <a:lnTo>
                      <a:pt x="427" y="1057"/>
                    </a:lnTo>
                    <a:lnTo>
                      <a:pt x="421" y="1004"/>
                    </a:lnTo>
                    <a:lnTo>
                      <a:pt x="386" y="947"/>
                    </a:lnTo>
                    <a:lnTo>
                      <a:pt x="355" y="890"/>
                    </a:lnTo>
                    <a:lnTo>
                      <a:pt x="329" y="832"/>
                    </a:lnTo>
                    <a:lnTo>
                      <a:pt x="301" y="779"/>
                    </a:lnTo>
                    <a:lnTo>
                      <a:pt x="277" y="719"/>
                    </a:lnTo>
                    <a:lnTo>
                      <a:pt x="254" y="661"/>
                    </a:lnTo>
                    <a:lnTo>
                      <a:pt x="227" y="607"/>
                    </a:lnTo>
                    <a:lnTo>
                      <a:pt x="205" y="551"/>
                    </a:lnTo>
                    <a:lnTo>
                      <a:pt x="182" y="491"/>
                    </a:lnTo>
                    <a:lnTo>
                      <a:pt x="163" y="437"/>
                    </a:lnTo>
                    <a:lnTo>
                      <a:pt x="140" y="380"/>
                    </a:lnTo>
                    <a:lnTo>
                      <a:pt x="116" y="320"/>
                    </a:lnTo>
                    <a:lnTo>
                      <a:pt x="94" y="268"/>
                    </a:lnTo>
                    <a:lnTo>
                      <a:pt x="76" y="211"/>
                    </a:lnTo>
                    <a:lnTo>
                      <a:pt x="55" y="158"/>
                    </a:lnTo>
                    <a:lnTo>
                      <a:pt x="40" y="106"/>
                    </a:lnTo>
                    <a:lnTo>
                      <a:pt x="25" y="50"/>
                    </a:lnTo>
                    <a:lnTo>
                      <a:pt x="0" y="0"/>
                    </a:lnTo>
                    <a:lnTo>
                      <a:pt x="892" y="0"/>
                    </a:lnTo>
                    <a:close/>
                  </a:path>
                </a:pathLst>
              </a:custGeom>
              <a:grpFill/>
              <a:ln w="9525" cap="flat" cmpd="sng">
                <a:noFill/>
                <a:prstDash val="solid"/>
                <a:round/>
                <a:headEnd type="none" w="med" len="med"/>
                <a:tailEnd type="none" w="med" len="med"/>
              </a:ln>
              <a:effectLst/>
            </p:spPr>
            <p:txBody>
              <a:bodyPr/>
              <a:lstStyle/>
              <a:p>
                <a:pPr>
                  <a:defRPr/>
                </a:pPr>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13" name="Freeform 13"/>
              <p:cNvSpPr>
                <a:spLocks/>
              </p:cNvSpPr>
              <p:nvPr/>
            </p:nvSpPr>
            <p:spPr bwMode="auto">
              <a:xfrm rot="5400000">
                <a:off x="2886" y="2154"/>
                <a:ext cx="1031" cy="634"/>
              </a:xfrm>
              <a:custGeom>
                <a:avLst/>
                <a:gdLst/>
                <a:ahLst/>
                <a:cxnLst>
                  <a:cxn ang="0">
                    <a:pos x="0" y="2485"/>
                  </a:cxn>
                  <a:cxn ang="0">
                    <a:pos x="6472" y="2485"/>
                  </a:cxn>
                  <a:cxn ang="0">
                    <a:pos x="3236" y="0"/>
                  </a:cxn>
                  <a:cxn ang="0">
                    <a:pos x="0" y="2485"/>
                  </a:cxn>
                </a:cxnLst>
                <a:rect l="0" t="0" r="r" b="b"/>
                <a:pathLst>
                  <a:path w="6472" h="2485">
                    <a:moveTo>
                      <a:pt x="0" y="2485"/>
                    </a:moveTo>
                    <a:lnTo>
                      <a:pt x="6472" y="2485"/>
                    </a:lnTo>
                    <a:lnTo>
                      <a:pt x="3236" y="0"/>
                    </a:lnTo>
                    <a:lnTo>
                      <a:pt x="0" y="2485"/>
                    </a:lnTo>
                    <a:close/>
                  </a:path>
                </a:pathLst>
              </a:custGeom>
              <a:grpFill/>
              <a:ln w="9525" cap="flat" cmpd="sng">
                <a:noFill/>
                <a:prstDash val="solid"/>
                <a:round/>
                <a:headEnd type="none" w="med" len="med"/>
                <a:tailEnd type="none" w="med" len="med"/>
              </a:ln>
              <a:effectLst/>
            </p:spPr>
            <p:txBody>
              <a:bodyPr/>
              <a:lstStyle/>
              <a:p>
                <a:pPr>
                  <a:defRPr/>
                </a:pPr>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14" name="Freeform 14"/>
              <p:cNvSpPr>
                <a:spLocks/>
              </p:cNvSpPr>
              <p:nvPr/>
            </p:nvSpPr>
            <p:spPr bwMode="auto">
              <a:xfrm rot="5400000">
                <a:off x="1120" y="1058"/>
                <a:ext cx="1748" cy="1646"/>
              </a:xfrm>
              <a:custGeom>
                <a:avLst/>
                <a:gdLst/>
                <a:ahLst/>
                <a:cxnLst>
                  <a:cxn ang="0">
                    <a:pos x="7309" y="222"/>
                  </a:cxn>
                  <a:cxn ang="0">
                    <a:pos x="7034" y="675"/>
                  </a:cxn>
                  <a:cxn ang="0">
                    <a:pos x="6720" y="1137"/>
                  </a:cxn>
                  <a:cxn ang="0">
                    <a:pos x="6367" y="1605"/>
                  </a:cxn>
                  <a:cxn ang="0">
                    <a:pos x="5981" y="2078"/>
                  </a:cxn>
                  <a:cxn ang="0">
                    <a:pos x="5564" y="2551"/>
                  </a:cxn>
                  <a:cxn ang="0">
                    <a:pos x="5118" y="3023"/>
                  </a:cxn>
                  <a:cxn ang="0">
                    <a:pos x="4647" y="3491"/>
                  </a:cxn>
                  <a:cxn ang="0">
                    <a:pos x="4152" y="3953"/>
                  </a:cxn>
                  <a:cxn ang="0">
                    <a:pos x="3638" y="4405"/>
                  </a:cxn>
                  <a:cxn ang="0">
                    <a:pos x="3106" y="4844"/>
                  </a:cxn>
                  <a:cxn ang="0">
                    <a:pos x="2560" y="5269"/>
                  </a:cxn>
                  <a:cxn ang="0">
                    <a:pos x="2002" y="5677"/>
                  </a:cxn>
                  <a:cxn ang="0">
                    <a:pos x="1437" y="6065"/>
                  </a:cxn>
                  <a:cxn ang="0">
                    <a:pos x="864" y="6431"/>
                  </a:cxn>
                  <a:cxn ang="0">
                    <a:pos x="288" y="6771"/>
                  </a:cxn>
                  <a:cxn ang="0">
                    <a:pos x="7647" y="6931"/>
                  </a:cxn>
                  <a:cxn ang="0">
                    <a:pos x="7915" y="6560"/>
                  </a:cxn>
                  <a:cxn ang="0">
                    <a:pos x="8180" y="6169"/>
                  </a:cxn>
                  <a:cxn ang="0">
                    <a:pos x="8442" y="5762"/>
                  </a:cxn>
                  <a:cxn ang="0">
                    <a:pos x="8696" y="5342"/>
                  </a:cxn>
                  <a:cxn ang="0">
                    <a:pos x="8946" y="4909"/>
                  </a:cxn>
                  <a:cxn ang="0">
                    <a:pos x="9188" y="4468"/>
                  </a:cxn>
                  <a:cxn ang="0">
                    <a:pos x="9422" y="4019"/>
                  </a:cxn>
                  <a:cxn ang="0">
                    <a:pos x="9647" y="3563"/>
                  </a:cxn>
                  <a:cxn ang="0">
                    <a:pos x="9862" y="3106"/>
                  </a:cxn>
                  <a:cxn ang="0">
                    <a:pos x="10066" y="2647"/>
                  </a:cxn>
                  <a:cxn ang="0">
                    <a:pos x="10257" y="2190"/>
                  </a:cxn>
                  <a:cxn ang="0">
                    <a:pos x="10436" y="1735"/>
                  </a:cxn>
                  <a:cxn ang="0">
                    <a:pos x="10601" y="1287"/>
                  </a:cxn>
                  <a:cxn ang="0">
                    <a:pos x="10750" y="847"/>
                  </a:cxn>
                  <a:cxn ang="0">
                    <a:pos x="10884" y="417"/>
                  </a:cxn>
                  <a:cxn ang="0">
                    <a:pos x="11000" y="0"/>
                  </a:cxn>
                </a:cxnLst>
                <a:rect l="0" t="0" r="r" b="b"/>
                <a:pathLst>
                  <a:path w="11000" h="6931">
                    <a:moveTo>
                      <a:pt x="7432" y="0"/>
                    </a:moveTo>
                    <a:lnTo>
                      <a:pt x="7309" y="222"/>
                    </a:lnTo>
                    <a:lnTo>
                      <a:pt x="7177" y="447"/>
                    </a:lnTo>
                    <a:lnTo>
                      <a:pt x="7034" y="675"/>
                    </a:lnTo>
                    <a:lnTo>
                      <a:pt x="6882" y="905"/>
                    </a:lnTo>
                    <a:lnTo>
                      <a:pt x="6720" y="1137"/>
                    </a:lnTo>
                    <a:lnTo>
                      <a:pt x="6548" y="1370"/>
                    </a:lnTo>
                    <a:lnTo>
                      <a:pt x="6367" y="1605"/>
                    </a:lnTo>
                    <a:lnTo>
                      <a:pt x="6178" y="1842"/>
                    </a:lnTo>
                    <a:lnTo>
                      <a:pt x="5981" y="2078"/>
                    </a:lnTo>
                    <a:lnTo>
                      <a:pt x="5776" y="2315"/>
                    </a:lnTo>
                    <a:lnTo>
                      <a:pt x="5564" y="2551"/>
                    </a:lnTo>
                    <a:lnTo>
                      <a:pt x="5344" y="2788"/>
                    </a:lnTo>
                    <a:lnTo>
                      <a:pt x="5118" y="3023"/>
                    </a:lnTo>
                    <a:lnTo>
                      <a:pt x="4886" y="3258"/>
                    </a:lnTo>
                    <a:lnTo>
                      <a:pt x="4647" y="3491"/>
                    </a:lnTo>
                    <a:lnTo>
                      <a:pt x="4402" y="3722"/>
                    </a:lnTo>
                    <a:lnTo>
                      <a:pt x="4152" y="3953"/>
                    </a:lnTo>
                    <a:lnTo>
                      <a:pt x="3897" y="4180"/>
                    </a:lnTo>
                    <a:lnTo>
                      <a:pt x="3638" y="4405"/>
                    </a:lnTo>
                    <a:lnTo>
                      <a:pt x="3374" y="4626"/>
                    </a:lnTo>
                    <a:lnTo>
                      <a:pt x="3106" y="4844"/>
                    </a:lnTo>
                    <a:lnTo>
                      <a:pt x="2835" y="5058"/>
                    </a:lnTo>
                    <a:lnTo>
                      <a:pt x="2560" y="5269"/>
                    </a:lnTo>
                    <a:lnTo>
                      <a:pt x="2282" y="5475"/>
                    </a:lnTo>
                    <a:lnTo>
                      <a:pt x="2002" y="5677"/>
                    </a:lnTo>
                    <a:lnTo>
                      <a:pt x="1720" y="5874"/>
                    </a:lnTo>
                    <a:lnTo>
                      <a:pt x="1437" y="6065"/>
                    </a:lnTo>
                    <a:lnTo>
                      <a:pt x="1151" y="6251"/>
                    </a:lnTo>
                    <a:lnTo>
                      <a:pt x="864" y="6431"/>
                    </a:lnTo>
                    <a:lnTo>
                      <a:pt x="576" y="6604"/>
                    </a:lnTo>
                    <a:lnTo>
                      <a:pt x="288" y="6771"/>
                    </a:lnTo>
                    <a:lnTo>
                      <a:pt x="0" y="6931"/>
                    </a:lnTo>
                    <a:lnTo>
                      <a:pt x="7647" y="6931"/>
                    </a:lnTo>
                    <a:lnTo>
                      <a:pt x="7782" y="6748"/>
                    </a:lnTo>
                    <a:lnTo>
                      <a:pt x="7915" y="6560"/>
                    </a:lnTo>
                    <a:lnTo>
                      <a:pt x="8049" y="6366"/>
                    </a:lnTo>
                    <a:lnTo>
                      <a:pt x="8180" y="6169"/>
                    </a:lnTo>
                    <a:lnTo>
                      <a:pt x="8312" y="5968"/>
                    </a:lnTo>
                    <a:lnTo>
                      <a:pt x="8442" y="5762"/>
                    </a:lnTo>
                    <a:lnTo>
                      <a:pt x="8570" y="5554"/>
                    </a:lnTo>
                    <a:lnTo>
                      <a:pt x="8696" y="5342"/>
                    </a:lnTo>
                    <a:lnTo>
                      <a:pt x="8822" y="5127"/>
                    </a:lnTo>
                    <a:lnTo>
                      <a:pt x="8946" y="4909"/>
                    </a:lnTo>
                    <a:lnTo>
                      <a:pt x="9069" y="4689"/>
                    </a:lnTo>
                    <a:lnTo>
                      <a:pt x="9188" y="4468"/>
                    </a:lnTo>
                    <a:lnTo>
                      <a:pt x="9307" y="4243"/>
                    </a:lnTo>
                    <a:lnTo>
                      <a:pt x="9422" y="4019"/>
                    </a:lnTo>
                    <a:lnTo>
                      <a:pt x="9536" y="3792"/>
                    </a:lnTo>
                    <a:lnTo>
                      <a:pt x="9647" y="3563"/>
                    </a:lnTo>
                    <a:lnTo>
                      <a:pt x="9756" y="3335"/>
                    </a:lnTo>
                    <a:lnTo>
                      <a:pt x="9862" y="3106"/>
                    </a:lnTo>
                    <a:lnTo>
                      <a:pt x="9966" y="2876"/>
                    </a:lnTo>
                    <a:lnTo>
                      <a:pt x="10066" y="2647"/>
                    </a:lnTo>
                    <a:lnTo>
                      <a:pt x="10163" y="2418"/>
                    </a:lnTo>
                    <a:lnTo>
                      <a:pt x="10257" y="2190"/>
                    </a:lnTo>
                    <a:lnTo>
                      <a:pt x="10348" y="1963"/>
                    </a:lnTo>
                    <a:lnTo>
                      <a:pt x="10436" y="1735"/>
                    </a:lnTo>
                    <a:lnTo>
                      <a:pt x="10520" y="1511"/>
                    </a:lnTo>
                    <a:lnTo>
                      <a:pt x="10601" y="1287"/>
                    </a:lnTo>
                    <a:lnTo>
                      <a:pt x="10677" y="1066"/>
                    </a:lnTo>
                    <a:lnTo>
                      <a:pt x="10750" y="847"/>
                    </a:lnTo>
                    <a:lnTo>
                      <a:pt x="10818" y="631"/>
                    </a:lnTo>
                    <a:lnTo>
                      <a:pt x="10884" y="417"/>
                    </a:lnTo>
                    <a:lnTo>
                      <a:pt x="10944" y="207"/>
                    </a:lnTo>
                    <a:lnTo>
                      <a:pt x="11000" y="0"/>
                    </a:lnTo>
                    <a:lnTo>
                      <a:pt x="7432" y="0"/>
                    </a:lnTo>
                    <a:close/>
                  </a:path>
                </a:pathLst>
              </a:custGeom>
              <a:grpFill/>
              <a:ln w="9525" cap="flat" cmpd="sng">
                <a:noFill/>
                <a:prstDash val="solid"/>
                <a:round/>
                <a:headEnd type="none" w="med" len="med"/>
                <a:tailEnd type="none" w="med" len="med"/>
              </a:ln>
              <a:effectLst/>
            </p:spPr>
            <p:txBody>
              <a:bodyPr/>
              <a:lstStyle/>
              <a:p>
                <a:pPr>
                  <a:defRPr/>
                </a:pPr>
                <a:endParaRPr lang="zh-CN" altLang="en-US" sz="1600">
                  <a:solidFill>
                    <a:srgbClr val="000000"/>
                  </a:solidFill>
                  <a:latin typeface="Arial" panose="020B0604020202020204" pitchFamily="34" charset="0"/>
                  <a:ea typeface="+mn-ea"/>
                  <a:cs typeface="Arial" panose="020B0604020202020204" pitchFamily="34" charset="0"/>
                </a:endParaRPr>
              </a:p>
            </p:txBody>
          </p:sp>
          <p:sp>
            <p:nvSpPr>
              <p:cNvPr id="15" name="Freeform 15"/>
              <p:cNvSpPr>
                <a:spLocks/>
              </p:cNvSpPr>
              <p:nvPr/>
            </p:nvSpPr>
            <p:spPr bwMode="auto">
              <a:xfrm rot="5400000">
                <a:off x="2011" y="1948"/>
                <a:ext cx="567" cy="1045"/>
              </a:xfrm>
              <a:custGeom>
                <a:avLst/>
                <a:gdLst/>
                <a:ahLst/>
                <a:cxnLst>
                  <a:cxn ang="0">
                    <a:pos x="34" y="128"/>
                  </a:cxn>
                  <a:cxn ang="0">
                    <a:pos x="107" y="386"/>
                  </a:cxn>
                  <a:cxn ang="0">
                    <a:pos x="187" y="650"/>
                  </a:cxn>
                  <a:cxn ang="0">
                    <a:pos x="273" y="918"/>
                  </a:cxn>
                  <a:cxn ang="0">
                    <a:pos x="365" y="1190"/>
                  </a:cxn>
                  <a:cxn ang="0">
                    <a:pos x="463" y="1465"/>
                  </a:cxn>
                  <a:cxn ang="0">
                    <a:pos x="566" y="1742"/>
                  </a:cxn>
                  <a:cxn ang="0">
                    <a:pos x="676" y="2022"/>
                  </a:cxn>
                  <a:cxn ang="0">
                    <a:pos x="790" y="2304"/>
                  </a:cxn>
                  <a:cxn ang="0">
                    <a:pos x="908" y="2586"/>
                  </a:cxn>
                  <a:cxn ang="0">
                    <a:pos x="1032" y="2870"/>
                  </a:cxn>
                  <a:cxn ang="0">
                    <a:pos x="1160" y="3153"/>
                  </a:cxn>
                  <a:cxn ang="0">
                    <a:pos x="1292" y="3437"/>
                  </a:cxn>
                  <a:cxn ang="0">
                    <a:pos x="1428" y="3718"/>
                  </a:cxn>
                  <a:cxn ang="0">
                    <a:pos x="1567" y="3999"/>
                  </a:cxn>
                  <a:cxn ang="0">
                    <a:pos x="1711" y="4277"/>
                  </a:cxn>
                  <a:cxn ang="0">
                    <a:pos x="1857" y="4277"/>
                  </a:cxn>
                  <a:cxn ang="0">
                    <a:pos x="2001" y="3999"/>
                  </a:cxn>
                  <a:cxn ang="0">
                    <a:pos x="2140" y="3718"/>
                  </a:cxn>
                  <a:cxn ang="0">
                    <a:pos x="2276" y="3437"/>
                  </a:cxn>
                  <a:cxn ang="0">
                    <a:pos x="2408" y="3153"/>
                  </a:cxn>
                  <a:cxn ang="0">
                    <a:pos x="2536" y="2870"/>
                  </a:cxn>
                  <a:cxn ang="0">
                    <a:pos x="2660" y="2586"/>
                  </a:cxn>
                  <a:cxn ang="0">
                    <a:pos x="2778" y="2304"/>
                  </a:cxn>
                  <a:cxn ang="0">
                    <a:pos x="2892" y="2022"/>
                  </a:cxn>
                  <a:cxn ang="0">
                    <a:pos x="3002" y="1742"/>
                  </a:cxn>
                  <a:cxn ang="0">
                    <a:pos x="3105" y="1465"/>
                  </a:cxn>
                  <a:cxn ang="0">
                    <a:pos x="3203" y="1190"/>
                  </a:cxn>
                  <a:cxn ang="0">
                    <a:pos x="3295" y="918"/>
                  </a:cxn>
                  <a:cxn ang="0">
                    <a:pos x="3381" y="650"/>
                  </a:cxn>
                  <a:cxn ang="0">
                    <a:pos x="3461" y="386"/>
                  </a:cxn>
                  <a:cxn ang="0">
                    <a:pos x="3534" y="128"/>
                  </a:cxn>
                  <a:cxn ang="0">
                    <a:pos x="0" y="0"/>
                  </a:cxn>
                </a:cxnLst>
                <a:rect l="0" t="0" r="r" b="b"/>
                <a:pathLst>
                  <a:path w="3568" h="4416">
                    <a:moveTo>
                      <a:pt x="0" y="0"/>
                    </a:moveTo>
                    <a:lnTo>
                      <a:pt x="34" y="128"/>
                    </a:lnTo>
                    <a:lnTo>
                      <a:pt x="70" y="256"/>
                    </a:lnTo>
                    <a:lnTo>
                      <a:pt x="107" y="386"/>
                    </a:lnTo>
                    <a:lnTo>
                      <a:pt x="146" y="517"/>
                    </a:lnTo>
                    <a:lnTo>
                      <a:pt x="187" y="650"/>
                    </a:lnTo>
                    <a:lnTo>
                      <a:pt x="229" y="784"/>
                    </a:lnTo>
                    <a:lnTo>
                      <a:pt x="273" y="918"/>
                    </a:lnTo>
                    <a:lnTo>
                      <a:pt x="319" y="1053"/>
                    </a:lnTo>
                    <a:lnTo>
                      <a:pt x="365" y="1190"/>
                    </a:lnTo>
                    <a:lnTo>
                      <a:pt x="413" y="1328"/>
                    </a:lnTo>
                    <a:lnTo>
                      <a:pt x="463" y="1465"/>
                    </a:lnTo>
                    <a:lnTo>
                      <a:pt x="514" y="1603"/>
                    </a:lnTo>
                    <a:lnTo>
                      <a:pt x="566" y="1742"/>
                    </a:lnTo>
                    <a:lnTo>
                      <a:pt x="620" y="1882"/>
                    </a:lnTo>
                    <a:lnTo>
                      <a:pt x="676" y="2022"/>
                    </a:lnTo>
                    <a:lnTo>
                      <a:pt x="732" y="2163"/>
                    </a:lnTo>
                    <a:lnTo>
                      <a:pt x="790" y="2304"/>
                    </a:lnTo>
                    <a:lnTo>
                      <a:pt x="849" y="2445"/>
                    </a:lnTo>
                    <a:lnTo>
                      <a:pt x="908" y="2586"/>
                    </a:lnTo>
                    <a:lnTo>
                      <a:pt x="970" y="2728"/>
                    </a:lnTo>
                    <a:lnTo>
                      <a:pt x="1032" y="2870"/>
                    </a:lnTo>
                    <a:lnTo>
                      <a:pt x="1095" y="3011"/>
                    </a:lnTo>
                    <a:lnTo>
                      <a:pt x="1160" y="3153"/>
                    </a:lnTo>
                    <a:lnTo>
                      <a:pt x="1225" y="3295"/>
                    </a:lnTo>
                    <a:lnTo>
                      <a:pt x="1292" y="3437"/>
                    </a:lnTo>
                    <a:lnTo>
                      <a:pt x="1359" y="3577"/>
                    </a:lnTo>
                    <a:lnTo>
                      <a:pt x="1428" y="3718"/>
                    </a:lnTo>
                    <a:lnTo>
                      <a:pt x="1497" y="3858"/>
                    </a:lnTo>
                    <a:lnTo>
                      <a:pt x="1567" y="3999"/>
                    </a:lnTo>
                    <a:lnTo>
                      <a:pt x="1639" y="4138"/>
                    </a:lnTo>
                    <a:lnTo>
                      <a:pt x="1711" y="4277"/>
                    </a:lnTo>
                    <a:lnTo>
                      <a:pt x="1784" y="4416"/>
                    </a:lnTo>
                    <a:lnTo>
                      <a:pt x="1857" y="4277"/>
                    </a:lnTo>
                    <a:lnTo>
                      <a:pt x="1929" y="4138"/>
                    </a:lnTo>
                    <a:lnTo>
                      <a:pt x="2001" y="3999"/>
                    </a:lnTo>
                    <a:lnTo>
                      <a:pt x="2071" y="3858"/>
                    </a:lnTo>
                    <a:lnTo>
                      <a:pt x="2140" y="3718"/>
                    </a:lnTo>
                    <a:lnTo>
                      <a:pt x="2208" y="3577"/>
                    </a:lnTo>
                    <a:lnTo>
                      <a:pt x="2276" y="3437"/>
                    </a:lnTo>
                    <a:lnTo>
                      <a:pt x="2343" y="3295"/>
                    </a:lnTo>
                    <a:lnTo>
                      <a:pt x="2408" y="3153"/>
                    </a:lnTo>
                    <a:lnTo>
                      <a:pt x="2473" y="3011"/>
                    </a:lnTo>
                    <a:lnTo>
                      <a:pt x="2536" y="2870"/>
                    </a:lnTo>
                    <a:lnTo>
                      <a:pt x="2598" y="2728"/>
                    </a:lnTo>
                    <a:lnTo>
                      <a:pt x="2660" y="2586"/>
                    </a:lnTo>
                    <a:lnTo>
                      <a:pt x="2719" y="2445"/>
                    </a:lnTo>
                    <a:lnTo>
                      <a:pt x="2778" y="2304"/>
                    </a:lnTo>
                    <a:lnTo>
                      <a:pt x="2836" y="2163"/>
                    </a:lnTo>
                    <a:lnTo>
                      <a:pt x="2892" y="2022"/>
                    </a:lnTo>
                    <a:lnTo>
                      <a:pt x="2948" y="1882"/>
                    </a:lnTo>
                    <a:lnTo>
                      <a:pt x="3002" y="1742"/>
                    </a:lnTo>
                    <a:lnTo>
                      <a:pt x="3054" y="1603"/>
                    </a:lnTo>
                    <a:lnTo>
                      <a:pt x="3105" y="1465"/>
                    </a:lnTo>
                    <a:lnTo>
                      <a:pt x="3155" y="1328"/>
                    </a:lnTo>
                    <a:lnTo>
                      <a:pt x="3203" y="1190"/>
                    </a:lnTo>
                    <a:lnTo>
                      <a:pt x="3249" y="1053"/>
                    </a:lnTo>
                    <a:lnTo>
                      <a:pt x="3295" y="918"/>
                    </a:lnTo>
                    <a:lnTo>
                      <a:pt x="3339" y="784"/>
                    </a:lnTo>
                    <a:lnTo>
                      <a:pt x="3381" y="650"/>
                    </a:lnTo>
                    <a:lnTo>
                      <a:pt x="3422" y="517"/>
                    </a:lnTo>
                    <a:lnTo>
                      <a:pt x="3461" y="386"/>
                    </a:lnTo>
                    <a:lnTo>
                      <a:pt x="3498" y="256"/>
                    </a:lnTo>
                    <a:lnTo>
                      <a:pt x="3534" y="128"/>
                    </a:lnTo>
                    <a:lnTo>
                      <a:pt x="3568" y="0"/>
                    </a:lnTo>
                    <a:lnTo>
                      <a:pt x="0" y="0"/>
                    </a:lnTo>
                    <a:close/>
                  </a:path>
                </a:pathLst>
              </a:custGeom>
              <a:grpFill/>
              <a:ln w="9525" cap="flat" cmpd="sng">
                <a:noFill/>
                <a:prstDash val="solid"/>
                <a:round/>
                <a:headEnd type="none" w="med" len="med"/>
                <a:tailEnd type="none" w="med" len="med"/>
              </a:ln>
              <a:effectLst/>
            </p:spPr>
            <p:txBody>
              <a:bodyPr/>
              <a:lstStyle/>
              <a:p>
                <a:pPr>
                  <a:defRPr/>
                </a:pPr>
                <a:endParaRPr lang="zh-CN" altLang="en-US" sz="1600">
                  <a:solidFill>
                    <a:srgbClr val="000000"/>
                  </a:solidFill>
                  <a:latin typeface="Arial" panose="020B0604020202020204" pitchFamily="34" charset="0"/>
                  <a:ea typeface="+mn-ea"/>
                  <a:cs typeface="Arial" panose="020B0604020202020204" pitchFamily="34" charset="0"/>
                </a:endParaRPr>
              </a:p>
            </p:txBody>
          </p:sp>
        </p:grpSp>
        <p:sp>
          <p:nvSpPr>
            <p:cNvPr id="59" name="Text Box 26"/>
            <p:cNvSpPr txBox="1">
              <a:spLocks noChangeArrowheads="1"/>
            </p:cNvSpPr>
            <p:nvPr/>
          </p:nvSpPr>
          <p:spPr bwMode="auto">
            <a:xfrm>
              <a:off x="5865701" y="2528900"/>
              <a:ext cx="18504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eaLnBrk="1" hangingPunct="1">
                <a:spcBef>
                  <a:spcPct val="50000"/>
                </a:spcBef>
              </a:pPr>
              <a:r>
                <a:rPr lang="en-US" sz="1600" dirty="0">
                  <a:solidFill>
                    <a:srgbClr val="000000"/>
                  </a:solidFill>
                  <a:latin typeface="Arial" panose="020B0604020202020204" pitchFamily="34" charset="0"/>
                  <a:ea typeface="+mn-ea"/>
                  <a:cs typeface="Arial" panose="020B0604020202020204" pitchFamily="34" charset="0"/>
                </a:rPr>
                <a:t>Logical division</a:t>
              </a:r>
            </a:p>
          </p:txBody>
        </p:sp>
      </p:grpSp>
    </p:spTree>
    <p:extLst>
      <p:ext uri="{BB962C8B-B14F-4D97-AF65-F5344CB8AC3E}">
        <p14:creationId xmlns:p14="http://schemas.microsoft.com/office/powerpoint/2010/main" val="255841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2000"/>
                                        <p:tgtEl>
                                          <p:spTgt spid="54"/>
                                        </p:tgtEl>
                                      </p:cBhvr>
                                    </p:animEffect>
                                    <p:set>
                                      <p:cBhvr>
                                        <p:cTn id="11" dur="1" fill="hold">
                                          <p:stCondLst>
                                            <p:cond delay="1999"/>
                                          </p:stCondLst>
                                        </p:cTn>
                                        <p:tgtEl>
                                          <p:spTgt spid="54"/>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fade">
                                      <p:cBhvr>
                                        <p:cTn id="14" dur="2000"/>
                                        <p:tgtEl>
                                          <p:spTgt spid="42"/>
                                        </p:tgtEl>
                                      </p:cBhvr>
                                    </p:animEffect>
                                  </p:childTnLst>
                                </p:cTn>
                              </p:par>
                              <p:par>
                                <p:cTn id="15" presetID="63" presetClass="path" presetSubtype="0" accel="50000" decel="50000" fill="hold" nodeType="withEffect">
                                  <p:stCondLst>
                                    <p:cond delay="0"/>
                                  </p:stCondLst>
                                  <p:childTnLst>
                                    <p:animMotion origin="layout" path="M 0 0 L -0.002168 -0.222785 E" pathEditMode="relative" ptsTypes="">
                                      <p:cBhvr>
                                        <p:cTn id="16" dur="2000" fill="hold"/>
                                        <p:tgtEl>
                                          <p:spTgt spid="54"/>
                                        </p:tgtEl>
                                        <p:attrNameLst>
                                          <p:attrName>ppt_x</p:attrName>
                                          <p:attrName>ppt_y</p:attrName>
                                        </p:attrNameLst>
                                      </p:cBhvr>
                                    </p:animMotion>
                                  </p:childTnLst>
                                </p:cTn>
                              </p:par>
                              <p:par>
                                <p:cTn id="17" presetID="63" presetClass="path" presetSubtype="0" accel="50000" decel="50000" fill="hold" grpId="1" nodeType="withEffect">
                                  <p:stCondLst>
                                    <p:cond delay="0"/>
                                  </p:stCondLst>
                                  <p:childTnLst>
                                    <p:animMotion origin="layout" path="M 0.002168 0.222785 L 0 0 E" pathEditMode="relative" ptsTypes="">
                                      <p:cBhvr>
                                        <p:cTn id="18" dur="2000" fill="hold"/>
                                        <p:tgtEl>
                                          <p:spTgt spid="42"/>
                                        </p:tgtEl>
                                        <p:attrNameLst>
                                          <p:attrName>ppt_x</p:attrName>
                                          <p:attrName>ppt_y</p:attrName>
                                        </p:attrNameLst>
                                      </p:cBhvr>
                                    </p:animMotion>
                                  </p:childTnLst>
                                </p:cTn>
                              </p:par>
                              <p:par>
                                <p:cTn id="19" presetID="6" presetClass="emph" presetSubtype="0" accel="50000" decel="50000" fill="hold" nodeType="withEffect">
                                  <p:stCondLst>
                                    <p:cond delay="0"/>
                                  </p:stCondLst>
                                  <p:childTnLst>
                                    <p:animScale>
                                      <p:cBhvr>
                                        <p:cTn id="20" dur="2000" fill="hold"/>
                                        <p:tgtEl>
                                          <p:spTgt spid="54"/>
                                        </p:tgtEl>
                                      </p:cBhvr>
                                      <p:by x="150000" y="150000"/>
                                      <p:from x="100000" y="100000"/>
                                      <p:to x="22859" y="141647"/>
                                    </p:animScale>
                                  </p:childTnLst>
                                </p:cTn>
                              </p:par>
                              <p:par>
                                <p:cTn id="21" presetID="6" presetClass="emph" presetSubtype="0" accel="50000" decel="50000" fill="hold" grpId="2" nodeType="withEffect">
                                  <p:stCondLst>
                                    <p:cond delay="0"/>
                                  </p:stCondLst>
                                  <p:childTnLst>
                                    <p:animScale>
                                      <p:cBhvr>
                                        <p:cTn id="22" dur="2000" fill="hold"/>
                                        <p:tgtEl>
                                          <p:spTgt spid="42"/>
                                        </p:tgtEl>
                                      </p:cBhvr>
                                      <p:by x="150000" y="150000"/>
                                      <p:from x="437473" y="70598"/>
                                      <p:to x="100000" y="100000"/>
                                    </p:animScale>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 calcmode="lin" valueType="num">
                                      <p:cBhvr>
                                        <p:cTn id="30" dur="500" fill="hold"/>
                                        <p:tgtEl>
                                          <p:spTgt spid="27"/>
                                        </p:tgtEl>
                                        <p:attrNameLst>
                                          <p:attrName>ppt_w</p:attrName>
                                        </p:attrNameLst>
                                      </p:cBhvr>
                                      <p:tavLst>
                                        <p:tav tm="0">
                                          <p:val>
                                            <p:fltVal val="0"/>
                                          </p:val>
                                        </p:tav>
                                        <p:tav tm="100000">
                                          <p:val>
                                            <p:strVal val="#ppt_w"/>
                                          </p:val>
                                        </p:tav>
                                      </p:tavLst>
                                    </p:anim>
                                    <p:anim calcmode="lin" valueType="num">
                                      <p:cBhvr>
                                        <p:cTn id="31" dur="500" fill="hold"/>
                                        <p:tgtEl>
                                          <p:spTgt spid="27"/>
                                        </p:tgtEl>
                                        <p:attrNameLst>
                                          <p:attrName>ppt_h</p:attrName>
                                        </p:attrNameLst>
                                      </p:cBhvr>
                                      <p:tavLst>
                                        <p:tav tm="0">
                                          <p:val>
                                            <p:fltVal val="0"/>
                                          </p:val>
                                        </p:tav>
                                        <p:tav tm="100000">
                                          <p:val>
                                            <p:strVal val="#ppt_h"/>
                                          </p:val>
                                        </p:tav>
                                      </p:tavLst>
                                    </p:anim>
                                    <p:animEffect transition="in" filter="fade">
                                      <p:cBhvr>
                                        <p:cTn id="32" dur="500"/>
                                        <p:tgtEl>
                                          <p:spTgt spid="27"/>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left)">
                                      <p:cBhvr>
                                        <p:cTn id="35" dur="500"/>
                                        <p:tgtEl>
                                          <p:spTgt spid="51"/>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wipe(left)">
                                      <p:cBhvr>
                                        <p:cTn id="38" dur="500"/>
                                        <p:tgtEl>
                                          <p:spTgt spid="52"/>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left)">
                                      <p:cBhvr>
                                        <p:cTn id="41" dur="500"/>
                                        <p:tgtEl>
                                          <p:spTgt spid="53"/>
                                        </p:tgtEl>
                                      </p:cBhvr>
                                    </p:animEffect>
                                  </p:childTnLst>
                                </p:cTn>
                              </p:par>
                            </p:childTnLst>
                          </p:cTn>
                        </p:par>
                        <p:par>
                          <p:cTn id="42" fill="hold">
                            <p:stCondLst>
                              <p:cond delay="500"/>
                            </p:stCondLst>
                            <p:childTnLst>
                              <p:par>
                                <p:cTn id="43" presetID="3" presetClass="entr" presetSubtype="10" fill="hold" grpId="0"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blinds(horizontal)">
                                      <p:cBhvr>
                                        <p:cTn id="45" dur="500"/>
                                        <p:tgtEl>
                                          <p:spTgt spid="50"/>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blinds(horizontal)">
                                      <p:cBhvr>
                                        <p:cTn id="48" dur="500"/>
                                        <p:tgtEl>
                                          <p:spTgt spid="4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blinds(horizontal)">
                                      <p:cBhvr>
                                        <p:cTn id="51" dur="500"/>
                                        <p:tgtEl>
                                          <p:spTgt spid="48"/>
                                        </p:tgtEl>
                                      </p:cBhvr>
                                    </p:animEffect>
                                  </p:childTnLst>
                                </p:cTn>
                              </p:par>
                            </p:childTnLst>
                          </p:cTn>
                        </p:par>
                        <p:par>
                          <p:cTn id="52" fill="hold">
                            <p:stCondLst>
                              <p:cond delay="1000"/>
                            </p:stCondLst>
                            <p:childTnLst>
                              <p:par>
                                <p:cTn id="53" presetID="1" presetClass="exit" presetSubtype="0" fill="hold" grpId="3" nodeType="afterEffect">
                                  <p:stCondLst>
                                    <p:cond delay="0"/>
                                  </p:stCondLst>
                                  <p:childTnLst>
                                    <p:set>
                                      <p:cBhvr>
                                        <p:cTn id="54" dur="1" fill="hold">
                                          <p:stCondLst>
                                            <p:cond delay="0"/>
                                          </p:stCondLst>
                                        </p:cTn>
                                        <p:tgtEl>
                                          <p:spTgt spid="4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wipe(down)">
                                      <p:cBhvr>
                                        <p:cTn id="59" dur="500"/>
                                        <p:tgtEl>
                                          <p:spTgt spid="60"/>
                                        </p:tgtEl>
                                      </p:cBhvr>
                                    </p:animEffect>
                                  </p:childTnLst>
                                </p:cTn>
                              </p:par>
                            </p:childTnLst>
                          </p:cTn>
                        </p:par>
                        <p:par>
                          <p:cTn id="60" fill="hold">
                            <p:stCondLst>
                              <p:cond delay="500"/>
                            </p:stCondLst>
                            <p:childTnLst>
                              <p:par>
                                <p:cTn id="61" presetID="42" presetClass="path" presetSubtype="0" accel="50000" decel="50000" fill="hold" grpId="1" nodeType="afterEffect">
                                  <p:stCondLst>
                                    <p:cond delay="0"/>
                                  </p:stCondLst>
                                  <p:childTnLst>
                                    <p:animMotion origin="layout" path="M -3.95833E-6 -2.22222E-6 L -0.14466 -0.1537 " pathEditMode="relative" rAng="0" ptsTypes="AA">
                                      <p:cBhvr>
                                        <p:cTn id="62" dur="2000" fill="hold"/>
                                        <p:tgtEl>
                                          <p:spTgt spid="50"/>
                                        </p:tgtEl>
                                        <p:attrNameLst>
                                          <p:attrName>ppt_x</p:attrName>
                                          <p:attrName>ppt_y</p:attrName>
                                        </p:attrNameLst>
                                      </p:cBhvr>
                                      <p:rCtr x="-7240" y="-7685"/>
                                    </p:animMotion>
                                  </p:childTnLst>
                                </p:cTn>
                              </p:par>
                              <p:par>
                                <p:cTn id="63" presetID="42" presetClass="path" presetSubtype="0" accel="50000" decel="50000" fill="hold" grpId="1" nodeType="withEffect">
                                  <p:stCondLst>
                                    <p:cond delay="0"/>
                                  </p:stCondLst>
                                  <p:childTnLst>
                                    <p:animMotion origin="layout" path="M -3.95833E-6 4.07407E-6 L -0.00299 -0.20649 " pathEditMode="relative" rAng="0" ptsTypes="AA">
                                      <p:cBhvr>
                                        <p:cTn id="64" dur="2000" fill="hold"/>
                                        <p:tgtEl>
                                          <p:spTgt spid="49"/>
                                        </p:tgtEl>
                                        <p:attrNameLst>
                                          <p:attrName>ppt_x</p:attrName>
                                          <p:attrName>ppt_y</p:attrName>
                                        </p:attrNameLst>
                                      </p:cBhvr>
                                      <p:rCtr x="-156" y="-10324"/>
                                    </p:animMotion>
                                  </p:childTnLst>
                                </p:cTn>
                              </p:par>
                              <p:par>
                                <p:cTn id="65" presetID="42" presetClass="path" presetSubtype="0" accel="50000" decel="50000" fill="hold" grpId="1" nodeType="withEffect">
                                  <p:stCondLst>
                                    <p:cond delay="0"/>
                                  </p:stCondLst>
                                  <p:childTnLst>
                                    <p:animMotion origin="layout" path="M -3.95833E-6 2.96296E-6 L 0.15066 -0.24885 " pathEditMode="relative" rAng="0" ptsTypes="AA">
                                      <p:cBhvr>
                                        <p:cTn id="66" dur="2000" fill="hold"/>
                                        <p:tgtEl>
                                          <p:spTgt spid="48"/>
                                        </p:tgtEl>
                                        <p:attrNameLst>
                                          <p:attrName>ppt_x</p:attrName>
                                          <p:attrName>ppt_y</p:attrName>
                                        </p:attrNameLst>
                                      </p:cBhvr>
                                      <p:rCtr x="7526" y="-12454"/>
                                    </p:animMotion>
                                  </p:childTnLst>
                                </p:cTn>
                              </p:par>
                            </p:childTnLst>
                          </p:cTn>
                        </p:par>
                        <p:par>
                          <p:cTn id="67" fill="hold">
                            <p:stCondLst>
                              <p:cond delay="2500"/>
                            </p:stCondLst>
                            <p:childTnLst>
                              <p:par>
                                <p:cTn id="68" presetID="22" presetClass="entr" presetSubtype="8" fill="hold" grpId="0" nodeType="after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wipe(left)">
                                      <p:cBhvr>
                                        <p:cTn id="70" dur="500"/>
                                        <p:tgtEl>
                                          <p:spTgt spid="4"/>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wipe(left)">
                                      <p:cBhvr>
                                        <p:cTn id="73" dur="500"/>
                                        <p:tgtEl>
                                          <p:spTgt spid="5"/>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wipe(left)">
                                      <p:cBhvr>
                                        <p:cTn id="76" dur="500"/>
                                        <p:tgtEl>
                                          <p:spTgt spid="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left)">
                                      <p:cBhvr>
                                        <p:cTn id="8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27" grpId="0"/>
      <p:bldP spid="42" grpId="0" animBg="1"/>
      <p:bldP spid="42" grpId="1" animBg="1"/>
      <p:bldP spid="42" grpId="2" animBg="1"/>
      <p:bldP spid="42" grpId="3" animBg="1"/>
      <p:bldP spid="48" grpId="0" animBg="1"/>
      <p:bldP spid="48" grpId="1" animBg="1"/>
      <p:bldP spid="49" grpId="0" animBg="1"/>
      <p:bldP spid="49" grpId="1" animBg="1"/>
      <p:bldP spid="50" grpId="0" animBg="1"/>
      <p:bldP spid="50" grpId="1" animBg="1"/>
      <p:bldP spid="51" grpId="0" animBg="1"/>
      <p:bldP spid="52" grpId="0" animBg="1"/>
      <p:bldP spid="53"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Pool &amp; Volume &amp; LUN</a:t>
            </a:r>
          </a:p>
        </p:txBody>
      </p:sp>
      <p:sp>
        <p:nvSpPr>
          <p:cNvPr id="3" name="文本占位符 2"/>
          <p:cNvSpPr>
            <a:spLocks noGrp="1"/>
          </p:cNvSpPr>
          <p:nvPr>
            <p:ph type="body" sz="quarter" idx="10"/>
          </p:nvPr>
        </p:nvSpPr>
        <p:spPr>
          <a:xfrm>
            <a:off x="912285" y="1161268"/>
            <a:ext cx="10560048" cy="4680000"/>
          </a:xfrm>
        </p:spPr>
        <p:txBody>
          <a:bodyPr/>
          <a:lstStyle/>
          <a:p>
            <a:r>
              <a:rPr lang="en-US" sz="2000" dirty="0">
                <a:latin typeface="Arial" panose="020B0604020202020204" pitchFamily="34" charset="0"/>
              </a:rPr>
              <a:t>A storage pool is a container of storage resources. The storage resources used by application servers all come from storage pools. </a:t>
            </a:r>
          </a:p>
          <a:p>
            <a:r>
              <a:rPr lang="en-US" sz="2000" dirty="0">
                <a:latin typeface="Arial" panose="020B0604020202020204" pitchFamily="34" charset="0"/>
              </a:rPr>
              <a:t>A volume is an internal object managed inside a storage system.</a:t>
            </a:r>
          </a:p>
          <a:p>
            <a:r>
              <a:rPr lang="en-US" sz="2000" dirty="0">
                <a:latin typeface="Arial" panose="020B0604020202020204" pitchFamily="34" charset="0"/>
              </a:rPr>
              <a:t>A LUN is a storage unit that can be directly mapped to a host for data read and write. It is how volumes are </a:t>
            </a:r>
            <a:r>
              <a:rPr lang="en-US" sz="2000" dirty="0" smtClean="0">
                <a:latin typeface="Arial" panose="020B0604020202020204" pitchFamily="34" charset="0"/>
              </a:rPr>
              <a:t>provisioned to application servers.</a:t>
            </a:r>
            <a:endParaRPr lang="en-US" sz="2000" dirty="0">
              <a:latin typeface="Arial" panose="020B0604020202020204" pitchFamily="34" charset="0"/>
            </a:endParaRPr>
          </a:p>
          <a:p>
            <a:endParaRPr lang="zh-CN" altLang="en-US" sz="2000" dirty="0">
              <a:latin typeface="Arial" panose="020B0604020202020204" pitchFamily="34" charset="0"/>
            </a:endParaRPr>
          </a:p>
        </p:txBody>
      </p:sp>
      <p:grpSp>
        <p:nvGrpSpPr>
          <p:cNvPr id="13" name="组合 12"/>
          <p:cNvGrpSpPr/>
          <p:nvPr/>
        </p:nvGrpSpPr>
        <p:grpSpPr>
          <a:xfrm>
            <a:off x="4259796" y="3505057"/>
            <a:ext cx="4140460" cy="2984283"/>
            <a:chOff x="4187788" y="3389401"/>
            <a:chExt cx="4140460" cy="2984283"/>
          </a:xfrm>
        </p:grpSpPr>
        <p:sp>
          <p:nvSpPr>
            <p:cNvPr id="4" name="椭圆 3"/>
            <p:cNvSpPr/>
            <p:nvPr/>
          </p:nvSpPr>
          <p:spPr>
            <a:xfrm>
              <a:off x="4187788" y="5368536"/>
              <a:ext cx="1961164" cy="1005148"/>
            </a:xfrm>
            <a:prstGeom prst="ellipse">
              <a:avLst/>
            </a:prstGeom>
            <a:solidFill>
              <a:srgbClr val="60C7C7"/>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dirty="0">
                <a:solidFill>
                  <a:srgbClr val="FFFFFF"/>
                </a:solidFill>
                <a:latin typeface="Arial" panose="020B0604020202020204" pitchFamily="34" charset="0"/>
              </a:endParaRPr>
            </a:p>
          </p:txBody>
        </p:sp>
        <p:sp>
          <p:nvSpPr>
            <p:cNvPr id="5" name="矩形 4"/>
            <p:cNvSpPr/>
            <p:nvPr/>
          </p:nvSpPr>
          <p:spPr>
            <a:xfrm>
              <a:off x="4399868" y="5797659"/>
              <a:ext cx="929294" cy="348759"/>
            </a:xfrm>
            <a:prstGeom prst="rect">
              <a:avLst/>
            </a:prstGeom>
            <a:solidFill>
              <a:srgbClr val="C3EAEA"/>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rgbClr val="000000"/>
                  </a:solidFill>
                  <a:latin typeface="Arial" panose="020B0604020202020204" pitchFamily="34" charset="0"/>
                </a:rPr>
                <a:t>Volume</a:t>
              </a:r>
            </a:p>
          </p:txBody>
        </p:sp>
        <p:sp>
          <p:nvSpPr>
            <p:cNvPr id="6" name="矩形 5"/>
            <p:cNvSpPr/>
            <p:nvPr/>
          </p:nvSpPr>
          <p:spPr>
            <a:xfrm>
              <a:off x="4547828" y="3392996"/>
              <a:ext cx="924401" cy="1685785"/>
            </a:xfrm>
            <a:prstGeom prst="rect">
              <a:avLst/>
            </a:prstGeom>
            <a:solidFill>
              <a:srgbClr val="60C7C7"/>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dirty="0">
                <a:solidFill>
                  <a:srgbClr val="FFFFFF"/>
                </a:solidFill>
                <a:latin typeface="Arial" panose="020B0604020202020204" pitchFamily="34" charset="0"/>
              </a:endParaRPr>
            </a:p>
          </p:txBody>
        </p:sp>
        <p:sp>
          <p:nvSpPr>
            <p:cNvPr id="7" name="矩形 6"/>
            <p:cNvSpPr/>
            <p:nvPr/>
          </p:nvSpPr>
          <p:spPr>
            <a:xfrm>
              <a:off x="4691844" y="4539030"/>
              <a:ext cx="636156" cy="325643"/>
            </a:xfrm>
            <a:prstGeom prst="rect">
              <a:avLst/>
            </a:prstGeom>
            <a:solidFill>
              <a:srgbClr val="C3EAEA"/>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rgbClr val="000000"/>
                  </a:solidFill>
                  <a:latin typeface="Arial" panose="020B0604020202020204" pitchFamily="34" charset="0"/>
                </a:rPr>
                <a:t>LUN</a:t>
              </a:r>
            </a:p>
          </p:txBody>
        </p:sp>
        <p:sp>
          <p:nvSpPr>
            <p:cNvPr id="8" name="TextBox 11"/>
            <p:cNvSpPr txBox="1">
              <a:spLocks noChangeArrowheads="1"/>
            </p:cNvSpPr>
            <p:nvPr/>
          </p:nvSpPr>
          <p:spPr bwMode="auto">
            <a:xfrm>
              <a:off x="4605196" y="3389401"/>
              <a:ext cx="809452" cy="338554"/>
            </a:xfrm>
            <a:prstGeom prst="rect">
              <a:avLst/>
            </a:prstGeom>
            <a:noFill/>
            <a:ln w="9525">
              <a:noFill/>
              <a:miter lim="800000"/>
              <a:headEnd/>
              <a:tailEnd/>
            </a:ln>
          </p:spPr>
          <p:txBody>
            <a:bodyPr wrap="none">
              <a:spAutoFit/>
            </a:bodyPr>
            <a:lstStyle/>
            <a:p>
              <a:r>
                <a:rPr lang="en-US" sz="1600" dirty="0">
                  <a:solidFill>
                    <a:srgbClr val="000000"/>
                  </a:solidFill>
                  <a:latin typeface="Arial" panose="020B0604020202020204" pitchFamily="34" charset="0"/>
                  <a:ea typeface="微软雅黑"/>
                </a:rPr>
                <a:t>Server</a:t>
              </a:r>
            </a:p>
          </p:txBody>
        </p:sp>
        <p:sp>
          <p:nvSpPr>
            <p:cNvPr id="9" name="TextBox 13"/>
            <p:cNvSpPr txBox="1">
              <a:spLocks noChangeArrowheads="1"/>
            </p:cNvSpPr>
            <p:nvPr/>
          </p:nvSpPr>
          <p:spPr bwMode="auto">
            <a:xfrm>
              <a:off x="5331704" y="5442755"/>
              <a:ext cx="615681" cy="338554"/>
            </a:xfrm>
            <a:prstGeom prst="rect">
              <a:avLst/>
            </a:prstGeom>
            <a:noFill/>
            <a:ln w="9525">
              <a:noFill/>
              <a:miter lim="800000"/>
              <a:headEnd/>
              <a:tailEnd/>
            </a:ln>
          </p:spPr>
          <p:txBody>
            <a:bodyPr wrap="none">
              <a:spAutoFit/>
            </a:bodyPr>
            <a:lstStyle/>
            <a:p>
              <a:r>
                <a:rPr lang="en-US" sz="1600" dirty="0">
                  <a:solidFill>
                    <a:srgbClr val="000000"/>
                  </a:solidFill>
                  <a:latin typeface="Arial" panose="020B0604020202020204" pitchFamily="34" charset="0"/>
                  <a:ea typeface="微软雅黑"/>
                </a:rPr>
                <a:t>Pool</a:t>
              </a:r>
            </a:p>
          </p:txBody>
        </p:sp>
        <p:pic>
          <p:nvPicPr>
            <p:cNvPr id="10" name="Picture 79" descr="电脑前两男"/>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173786" y="3897052"/>
              <a:ext cx="1154462" cy="993551"/>
            </a:xfrm>
            <a:prstGeom prst="rect">
              <a:avLst/>
            </a:prstGeom>
            <a:noFill/>
            <a:ln w="9525">
              <a:noFill/>
              <a:miter lim="800000"/>
              <a:headEnd/>
              <a:tailEnd/>
            </a:ln>
          </p:spPr>
        </p:pic>
        <p:cxnSp>
          <p:nvCxnSpPr>
            <p:cNvPr id="11" name="直接箭头连接符 10"/>
            <p:cNvCxnSpPr>
              <a:stCxn id="10" idx="1"/>
            </p:cNvCxnSpPr>
            <p:nvPr/>
          </p:nvCxnSpPr>
          <p:spPr bwMode="auto">
            <a:xfrm flipH="1">
              <a:off x="5362116" y="4393828"/>
              <a:ext cx="1811670" cy="288684"/>
            </a:xfrm>
            <a:prstGeom prst="straightConnector1">
              <a:avLst/>
            </a:prstGeom>
            <a:solidFill>
              <a:schemeClr val="accent1"/>
            </a:solidFill>
            <a:ln w="12700" cap="flat" cmpd="sng" algn="ctr">
              <a:solidFill>
                <a:schemeClr val="tx1"/>
              </a:solidFill>
              <a:prstDash val="solid"/>
              <a:round/>
              <a:headEnd type="triangle" w="med" len="med"/>
              <a:tailEnd type="none"/>
            </a:ln>
            <a:effectLst/>
          </p:spPr>
        </p:cxnSp>
        <p:cxnSp>
          <p:nvCxnSpPr>
            <p:cNvPr id="12" name="直接箭头连接符 11"/>
            <p:cNvCxnSpPr>
              <a:stCxn id="7" idx="2"/>
              <a:endCxn id="5" idx="0"/>
            </p:cNvCxnSpPr>
            <p:nvPr/>
          </p:nvCxnSpPr>
          <p:spPr bwMode="auto">
            <a:xfrm flipH="1">
              <a:off x="4864515" y="4864673"/>
              <a:ext cx="145407" cy="932986"/>
            </a:xfrm>
            <a:prstGeom prst="straightConnector1">
              <a:avLst/>
            </a:prstGeom>
            <a:solidFill>
              <a:schemeClr val="accent1"/>
            </a:solidFill>
            <a:ln w="12700" cap="flat" cmpd="sng" algn="ctr">
              <a:solidFill>
                <a:schemeClr val="tx1"/>
              </a:solidFill>
              <a:prstDash val="dash"/>
              <a:round/>
              <a:headEnd type="triangle" w="med" len="med"/>
              <a:tailEnd type="none"/>
            </a:ln>
            <a:effectLst/>
          </p:spPr>
        </p:cxnSp>
      </p:grpSp>
    </p:spTree>
    <p:extLst>
      <p:ext uri="{BB962C8B-B14F-4D97-AF65-F5344CB8AC3E}">
        <p14:creationId xmlns:p14="http://schemas.microsoft.com/office/powerpoint/2010/main" val="2967053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Common File Systems</a:t>
            </a:r>
          </a:p>
        </p:txBody>
      </p:sp>
      <p:sp>
        <p:nvSpPr>
          <p:cNvPr id="5" name="iṥľíḑe">
            <a:extLst>
              <a:ext uri="{FF2B5EF4-FFF2-40B4-BE49-F238E27FC236}">
                <a16:creationId xmlns:p14="http://schemas.microsoft.com/office/powerpoint/2010/main" xmlns:a16="http://schemas.microsoft.com/office/drawing/2014/main" xmlns:lc="http://schemas.openxmlformats.org/drawingml/2006/lockedCanvas" xmlns="" id="{41AE4411-1F17-4989-B49E-EC7A63C7FCC1}"/>
              </a:ext>
            </a:extLst>
          </p:cNvPr>
          <p:cNvSpPr/>
          <p:nvPr/>
        </p:nvSpPr>
        <p:spPr>
          <a:xfrm>
            <a:off x="4789758" y="2754113"/>
            <a:ext cx="2576168" cy="2576168"/>
          </a:xfrm>
          <a:prstGeom prst="ellipse">
            <a:avLst/>
          </a:prstGeom>
          <a:solidFill>
            <a:schemeClr val="bg1">
              <a:lumMod val="95000"/>
            </a:schemeClr>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latin typeface="Arial" panose="020B0604020202020204" pitchFamily="34" charset="0"/>
            </a:endParaRPr>
          </a:p>
        </p:txBody>
      </p:sp>
      <p:sp>
        <p:nvSpPr>
          <p:cNvPr id="6" name="îšļîḑé">
            <a:extLst>
              <a:ext uri="{FF2B5EF4-FFF2-40B4-BE49-F238E27FC236}">
                <a16:creationId xmlns:p14="http://schemas.microsoft.com/office/powerpoint/2010/main" xmlns:a16="http://schemas.microsoft.com/office/drawing/2014/main" xmlns:lc="http://schemas.openxmlformats.org/drawingml/2006/lockedCanvas" xmlns="" id="{5ED5FFF9-5DFB-40ED-B7C3-23E326099B5F}"/>
              </a:ext>
            </a:extLst>
          </p:cNvPr>
          <p:cNvSpPr/>
          <p:nvPr/>
        </p:nvSpPr>
        <p:spPr>
          <a:xfrm>
            <a:off x="5998101" y="3881357"/>
            <a:ext cx="201724" cy="201724"/>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40000" lnSpcReduction="20000"/>
          </a:bodyPr>
          <a:lstStyle/>
          <a:p>
            <a:pPr algn="ctr"/>
            <a:endParaRPr dirty="0">
              <a:latin typeface="Arial" panose="020B0604020202020204" pitchFamily="34" charset="0"/>
            </a:endParaRPr>
          </a:p>
        </p:txBody>
      </p:sp>
      <p:sp>
        <p:nvSpPr>
          <p:cNvPr id="7" name="iṡľíďe">
            <a:extLst>
              <a:ext uri="{FF2B5EF4-FFF2-40B4-BE49-F238E27FC236}">
                <a16:creationId xmlns:p14="http://schemas.microsoft.com/office/powerpoint/2010/main" xmlns:a16="http://schemas.microsoft.com/office/drawing/2014/main" xmlns:lc="http://schemas.openxmlformats.org/drawingml/2006/lockedCanvas" xmlns="" id="{A9084A9E-B804-4D29-9896-3DED7EEA377F}"/>
              </a:ext>
            </a:extLst>
          </p:cNvPr>
          <p:cNvSpPr/>
          <p:nvPr/>
        </p:nvSpPr>
        <p:spPr>
          <a:xfrm>
            <a:off x="6366141" y="4173703"/>
            <a:ext cx="1604377" cy="1604373"/>
          </a:xfrm>
          <a:prstGeom prst="ellipse">
            <a:avLst/>
          </a:prstGeom>
          <a:noFill/>
          <a:ln w="57150">
            <a:solidFill>
              <a:srgbClr val="00B0F0"/>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latin typeface="Arial" panose="020B0604020202020204" pitchFamily="34" charset="0"/>
            </a:endParaRPr>
          </a:p>
        </p:txBody>
      </p:sp>
      <p:sp>
        <p:nvSpPr>
          <p:cNvPr id="8" name="ïṩḻiḓê">
            <a:extLst>
              <a:ext uri="{FF2B5EF4-FFF2-40B4-BE49-F238E27FC236}">
                <a16:creationId xmlns:p14="http://schemas.microsoft.com/office/powerpoint/2010/main" xmlns:a16="http://schemas.microsoft.com/office/drawing/2014/main" xmlns:lc="http://schemas.openxmlformats.org/drawingml/2006/lockedCanvas" xmlns="" id="{18A17FDA-04B3-4E2D-AA6B-1C97941C045C}"/>
              </a:ext>
            </a:extLst>
          </p:cNvPr>
          <p:cNvSpPr/>
          <p:nvPr/>
        </p:nvSpPr>
        <p:spPr>
          <a:xfrm>
            <a:off x="4227740" y="4173703"/>
            <a:ext cx="1604377" cy="1604373"/>
          </a:xfrm>
          <a:prstGeom prst="ellipse">
            <a:avLst/>
          </a:prstGeom>
          <a:noFill/>
          <a:ln w="57150">
            <a:solidFill>
              <a:srgbClr val="00B050"/>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latin typeface="Arial" panose="020B0604020202020204" pitchFamily="34" charset="0"/>
            </a:endParaRPr>
          </a:p>
        </p:txBody>
      </p:sp>
      <p:sp>
        <p:nvSpPr>
          <p:cNvPr id="9" name="íšḻïḓè">
            <a:extLst>
              <a:ext uri="{FF2B5EF4-FFF2-40B4-BE49-F238E27FC236}">
                <a16:creationId xmlns:p14="http://schemas.microsoft.com/office/powerpoint/2010/main" xmlns:a16="http://schemas.microsoft.com/office/drawing/2014/main" xmlns:lc="http://schemas.openxmlformats.org/drawingml/2006/lockedCanvas" xmlns="" id="{9D7747FB-2A41-47A2-8A7E-791C95BE6DAC}"/>
              </a:ext>
            </a:extLst>
          </p:cNvPr>
          <p:cNvSpPr/>
          <p:nvPr/>
        </p:nvSpPr>
        <p:spPr>
          <a:xfrm>
            <a:off x="5296722" y="1889076"/>
            <a:ext cx="1604377" cy="1604373"/>
          </a:xfrm>
          <a:prstGeom prst="ellipse">
            <a:avLst/>
          </a:prstGeom>
          <a:noFill/>
          <a:ln w="57150">
            <a:solidFill>
              <a:srgbClr val="3ABABA"/>
            </a:solidFill>
            <a:prstDash val="solid"/>
            <a:miter lim="800000"/>
            <a:headEnd/>
            <a:tailE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latin typeface="Arial" panose="020B0604020202020204" pitchFamily="34" charset="0"/>
            </a:endParaRPr>
          </a:p>
        </p:txBody>
      </p:sp>
      <p:cxnSp>
        <p:nvCxnSpPr>
          <p:cNvPr id="10" name="直接连接符 9">
            <a:extLst>
              <a:ext uri="{FF2B5EF4-FFF2-40B4-BE49-F238E27FC236}">
                <a16:creationId xmlns:p14="http://schemas.microsoft.com/office/powerpoint/2010/main" xmlns:a16="http://schemas.microsoft.com/office/drawing/2014/main" xmlns:lc="http://schemas.openxmlformats.org/drawingml/2006/lockedCanvas" xmlns="" id="{690AAFD3-E8C9-48A0-832C-345E7F7B7F97}"/>
              </a:ext>
            </a:extLst>
          </p:cNvPr>
          <p:cNvCxnSpPr>
            <a:stCxn id="9" idx="4"/>
            <a:endCxn id="6" idx="0"/>
          </p:cNvCxnSpPr>
          <p:nvPr/>
        </p:nvCxnSpPr>
        <p:spPr>
          <a:xfrm>
            <a:off x="6098911" y="3493449"/>
            <a:ext cx="52" cy="387908"/>
          </a:xfrm>
          <a:prstGeom prst="line">
            <a:avLst/>
          </a:prstGeom>
          <a:ln w="285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p14="http://schemas.microsoft.com/office/powerpoint/2010/main" xmlns:a16="http://schemas.microsoft.com/office/drawing/2014/main" xmlns:lc="http://schemas.openxmlformats.org/drawingml/2006/lockedCanvas" xmlns="" id="{4EC8DE00-0B72-4FBE-A98C-082E1DD2F7B8}"/>
              </a:ext>
            </a:extLst>
          </p:cNvPr>
          <p:cNvCxnSpPr>
            <a:stCxn id="8" idx="7"/>
            <a:endCxn id="6" idx="3"/>
          </p:cNvCxnSpPr>
          <p:nvPr/>
        </p:nvCxnSpPr>
        <p:spPr>
          <a:xfrm flipV="1">
            <a:off x="5597161" y="4053539"/>
            <a:ext cx="430482" cy="355119"/>
          </a:xfrm>
          <a:prstGeom prst="line">
            <a:avLst/>
          </a:prstGeom>
          <a:ln w="285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p14="http://schemas.microsoft.com/office/powerpoint/2010/main" xmlns:a16="http://schemas.microsoft.com/office/drawing/2014/main" xmlns:lc="http://schemas.openxmlformats.org/drawingml/2006/lockedCanvas" xmlns="" id="{3A3E6E1A-FA3E-4BE8-9FD1-FC7C038045C2}"/>
              </a:ext>
            </a:extLst>
          </p:cNvPr>
          <p:cNvCxnSpPr>
            <a:stCxn id="7" idx="1"/>
            <a:endCxn id="6" idx="5"/>
          </p:cNvCxnSpPr>
          <p:nvPr/>
        </p:nvCxnSpPr>
        <p:spPr>
          <a:xfrm flipH="1" flipV="1">
            <a:off x="6170283" y="4053539"/>
            <a:ext cx="430814" cy="355119"/>
          </a:xfrm>
          <a:prstGeom prst="line">
            <a:avLst/>
          </a:prstGeom>
          <a:ln w="28575">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íşļiḑè">
            <a:extLst>
              <a:ext uri="{FF2B5EF4-FFF2-40B4-BE49-F238E27FC236}">
                <a16:creationId xmlns:p14="http://schemas.microsoft.com/office/powerpoint/2010/main" xmlns:a16="http://schemas.microsoft.com/office/drawing/2014/main" xmlns:lc="http://schemas.openxmlformats.org/drawingml/2006/lockedCanvas" xmlns="" id="{B740E961-5D58-4D15-9560-026571C1D019}"/>
              </a:ext>
            </a:extLst>
          </p:cNvPr>
          <p:cNvSpPr/>
          <p:nvPr/>
        </p:nvSpPr>
        <p:spPr>
          <a:xfrm>
            <a:off x="4727848" y="1376772"/>
            <a:ext cx="2736304" cy="401349"/>
          </a:xfrm>
          <a:prstGeom prst="roundRect">
            <a:avLst/>
          </a:prstGeom>
          <a:ln>
            <a:solidFill>
              <a:schemeClr val="bg1">
                <a:lumMod val="75000"/>
              </a:schemeClr>
            </a:solidFill>
          </a:ln>
        </p:spPr>
        <p:txBody>
          <a:bodyPr wrap="square" lIns="91440" tIns="45720" rIns="91440" bIns="45720" anchor="ctr">
            <a:noAutofit/>
          </a:bodyPr>
          <a:lstStyle/>
          <a:p>
            <a:pPr algn="ctr">
              <a:spcBef>
                <a:spcPct val="0"/>
              </a:spcBef>
            </a:pPr>
            <a:r>
              <a:rPr lang="en-US" sz="1600" dirty="0">
                <a:latin typeface="Arial" panose="020B0604020202020204" pitchFamily="34" charset="0"/>
                <a:ea typeface="+mn-ea"/>
              </a:rPr>
              <a:t>Virtual clustered file system</a:t>
            </a:r>
          </a:p>
        </p:txBody>
      </p:sp>
      <p:sp>
        <p:nvSpPr>
          <p:cNvPr id="16" name="ïṣļîďê">
            <a:extLst>
              <a:ext uri="{FF2B5EF4-FFF2-40B4-BE49-F238E27FC236}">
                <a16:creationId xmlns:p14="http://schemas.microsoft.com/office/powerpoint/2010/main" xmlns:a16="http://schemas.microsoft.com/office/drawing/2014/main" xmlns:lc="http://schemas.openxmlformats.org/drawingml/2006/lockedCanvas" xmlns="" id="{2408FD0A-8AD2-4B48-8CD2-F1C826C6C94B}"/>
              </a:ext>
            </a:extLst>
          </p:cNvPr>
          <p:cNvSpPr/>
          <p:nvPr/>
        </p:nvSpPr>
        <p:spPr>
          <a:xfrm>
            <a:off x="2999656" y="5841268"/>
            <a:ext cx="1944216" cy="401349"/>
          </a:xfrm>
          <a:prstGeom prst="roundRect">
            <a:avLst/>
          </a:prstGeom>
          <a:ln>
            <a:solidFill>
              <a:schemeClr val="bg1">
                <a:lumMod val="75000"/>
              </a:schemeClr>
            </a:solidFill>
          </a:ln>
        </p:spPr>
        <p:txBody>
          <a:bodyPr wrap="square" lIns="91440" tIns="45720" rIns="91440" bIns="45720" anchor="ctr">
            <a:normAutofit/>
          </a:bodyPr>
          <a:lstStyle/>
          <a:p>
            <a:pPr algn="ctr">
              <a:spcBef>
                <a:spcPct val="0"/>
              </a:spcBef>
            </a:pPr>
            <a:r>
              <a:rPr lang="en-US" sz="1600" dirty="0">
                <a:latin typeface="Arial" panose="020B0604020202020204" pitchFamily="34" charset="0"/>
                <a:ea typeface="+mn-ea"/>
              </a:rPr>
              <a:t>NAS file system</a:t>
            </a:r>
          </a:p>
        </p:txBody>
      </p:sp>
      <p:grpSp>
        <p:nvGrpSpPr>
          <p:cNvPr id="20" name="组合 19"/>
          <p:cNvGrpSpPr>
            <a:grpSpLocks noChangeAspect="1"/>
          </p:cNvGrpSpPr>
          <p:nvPr/>
        </p:nvGrpSpPr>
        <p:grpSpPr>
          <a:xfrm>
            <a:off x="6708068" y="4617132"/>
            <a:ext cx="915704" cy="746003"/>
            <a:chOff x="6564052" y="3320988"/>
            <a:chExt cx="609685" cy="496698"/>
          </a:xfrm>
        </p:grpSpPr>
        <p:sp>
          <p:nvSpPr>
            <p:cNvPr id="21" name="monitor_155593"/>
            <p:cNvSpPr>
              <a:spLocks noChangeAspect="1"/>
            </p:cNvSpPr>
            <p:nvPr/>
          </p:nvSpPr>
          <p:spPr bwMode="auto">
            <a:xfrm>
              <a:off x="6564052" y="3320988"/>
              <a:ext cx="609685" cy="496698"/>
            </a:xfrm>
            <a:custGeom>
              <a:avLst/>
              <a:gdLst>
                <a:gd name="connsiteX0" fmla="*/ 55676 w 606580"/>
                <a:gd name="connsiteY0" fmla="*/ 456346 h 494169"/>
                <a:gd name="connsiteX1" fmla="*/ 548505 w 606580"/>
                <a:gd name="connsiteY1" fmla="*/ 456346 h 494169"/>
                <a:gd name="connsiteX2" fmla="*/ 548505 w 606580"/>
                <a:gd name="connsiteY2" fmla="*/ 494169 h 494169"/>
                <a:gd name="connsiteX3" fmla="*/ 55676 w 606580"/>
                <a:gd name="connsiteY3" fmla="*/ 494169 h 494169"/>
                <a:gd name="connsiteX4" fmla="*/ 37882 w 606580"/>
                <a:gd name="connsiteY4" fmla="*/ 37913 h 494169"/>
                <a:gd name="connsiteX5" fmla="*/ 37882 w 606580"/>
                <a:gd name="connsiteY5" fmla="*/ 390441 h 494169"/>
                <a:gd name="connsiteX6" fmla="*/ 568698 w 606580"/>
                <a:gd name="connsiteY6" fmla="*/ 390441 h 494169"/>
                <a:gd name="connsiteX7" fmla="*/ 568698 w 606580"/>
                <a:gd name="connsiteY7" fmla="*/ 37913 h 494169"/>
                <a:gd name="connsiteX8" fmla="*/ 0 w 606580"/>
                <a:gd name="connsiteY8" fmla="*/ 0 h 494169"/>
                <a:gd name="connsiteX9" fmla="*/ 606580 w 606580"/>
                <a:gd name="connsiteY9" fmla="*/ 0 h 494169"/>
                <a:gd name="connsiteX10" fmla="*/ 606580 w 606580"/>
                <a:gd name="connsiteY10" fmla="*/ 428261 h 494169"/>
                <a:gd name="connsiteX11" fmla="*/ 0 w 606580"/>
                <a:gd name="connsiteY11" fmla="*/ 428261 h 494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6580" h="494169">
                  <a:moveTo>
                    <a:pt x="55676" y="456346"/>
                  </a:moveTo>
                  <a:lnTo>
                    <a:pt x="548505" y="456346"/>
                  </a:lnTo>
                  <a:lnTo>
                    <a:pt x="548505" y="494169"/>
                  </a:lnTo>
                  <a:lnTo>
                    <a:pt x="55676" y="494169"/>
                  </a:lnTo>
                  <a:close/>
                  <a:moveTo>
                    <a:pt x="37882" y="37913"/>
                  </a:moveTo>
                  <a:lnTo>
                    <a:pt x="37882" y="390441"/>
                  </a:lnTo>
                  <a:lnTo>
                    <a:pt x="568698" y="390441"/>
                  </a:lnTo>
                  <a:lnTo>
                    <a:pt x="568698" y="37913"/>
                  </a:lnTo>
                  <a:close/>
                  <a:moveTo>
                    <a:pt x="0" y="0"/>
                  </a:moveTo>
                  <a:lnTo>
                    <a:pt x="606580" y="0"/>
                  </a:lnTo>
                  <a:lnTo>
                    <a:pt x="606580" y="428261"/>
                  </a:lnTo>
                  <a:lnTo>
                    <a:pt x="0" y="428261"/>
                  </a:lnTo>
                  <a:close/>
                </a:path>
              </a:pathLst>
            </a:custGeom>
            <a:noFill/>
            <a:ln>
              <a:solidFill>
                <a:schemeClr val="tx1">
                  <a:lumMod val="50000"/>
                  <a:lumOff val="50000"/>
                </a:schemeClr>
              </a:solidFill>
            </a:ln>
          </p:spPr>
        </p:sp>
        <p:pic>
          <p:nvPicPr>
            <p:cNvPr id="22" name="图片 21"/>
            <p:cNvPicPr>
              <a:picLocks noChangeAspect="1"/>
            </p:cNvPicPr>
            <p:nvPr/>
          </p:nvPicPr>
          <p:blipFill>
            <a:blip r:embed="rId2"/>
            <a:stretch>
              <a:fillRect/>
            </a:stretch>
          </p:blipFill>
          <p:spPr>
            <a:xfrm>
              <a:off x="6593617" y="3349559"/>
              <a:ext cx="548640" cy="363744"/>
            </a:xfrm>
            <a:prstGeom prst="rect">
              <a:avLst/>
            </a:prstGeom>
          </p:spPr>
        </p:pic>
      </p:grpSp>
      <p:grpSp>
        <p:nvGrpSpPr>
          <p:cNvPr id="23" name="组合 16582"/>
          <p:cNvGrpSpPr>
            <a:grpSpLocks noChangeAspect="1"/>
          </p:cNvGrpSpPr>
          <p:nvPr/>
        </p:nvGrpSpPr>
        <p:grpSpPr>
          <a:xfrm>
            <a:off x="4691844" y="4617132"/>
            <a:ext cx="584922" cy="746003"/>
            <a:chOff x="8407400" y="2055813"/>
            <a:chExt cx="360363" cy="458788"/>
          </a:xfrm>
          <a:noFill/>
        </p:grpSpPr>
        <p:sp>
          <p:nvSpPr>
            <p:cNvPr id="24"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5"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6"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27"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chemeClr val="tx1"/>
              </a:solidFill>
              <a:prstDash val="solid"/>
              <a:round/>
              <a:headEnd/>
              <a:tailEnd/>
            </a:ln>
          </p:spPr>
          <p:txBody>
            <a:bodyPr/>
            <a:lstStyle/>
            <a:p>
              <a:pPr defTabSz="543689">
                <a:defRPr/>
              </a:pPr>
              <a:endParaRPr lang="zh-CN" altLang="en-US" sz="3201">
                <a:latin typeface="Arial" panose="020B0604020202020204" pitchFamily="34" charset="0"/>
              </a:endParaRPr>
            </a:p>
          </p:txBody>
        </p:sp>
      </p:grpSp>
      <p:grpSp>
        <p:nvGrpSpPr>
          <p:cNvPr id="42" name="组合 18416"/>
          <p:cNvGrpSpPr>
            <a:grpSpLocks noChangeAspect="1"/>
          </p:cNvGrpSpPr>
          <p:nvPr/>
        </p:nvGrpSpPr>
        <p:grpSpPr>
          <a:xfrm>
            <a:off x="5591944" y="2276872"/>
            <a:ext cx="1107926" cy="697230"/>
            <a:chOff x="2470151" y="4192589"/>
            <a:chExt cx="552450" cy="347663"/>
          </a:xfrm>
          <a:solidFill>
            <a:srgbClr val="3C3C3B"/>
          </a:solidFill>
        </p:grpSpPr>
        <p:sp>
          <p:nvSpPr>
            <p:cNvPr id="43" name="Freeform 656"/>
            <p:cNvSpPr>
              <a:spLocks/>
            </p:cNvSpPr>
            <p:nvPr/>
          </p:nvSpPr>
          <p:spPr bwMode="auto">
            <a:xfrm>
              <a:off x="2470151" y="4192589"/>
              <a:ext cx="552450" cy="336550"/>
            </a:xfrm>
            <a:custGeom>
              <a:avLst/>
              <a:gdLst>
                <a:gd name="T0" fmla="*/ 555 w 651"/>
                <a:gd name="T1" fmla="*/ 396 h 396"/>
                <a:gd name="T2" fmla="*/ 555 w 651"/>
                <a:gd name="T3" fmla="*/ 396 h 396"/>
                <a:gd name="T4" fmla="*/ 516 w 651"/>
                <a:gd name="T5" fmla="*/ 396 h 396"/>
                <a:gd name="T6" fmla="*/ 516 w 651"/>
                <a:gd name="T7" fmla="*/ 371 h 396"/>
                <a:gd name="T8" fmla="*/ 555 w 651"/>
                <a:gd name="T9" fmla="*/ 371 h 396"/>
                <a:gd name="T10" fmla="*/ 577 w 651"/>
                <a:gd name="T11" fmla="*/ 364 h 396"/>
                <a:gd name="T12" fmla="*/ 627 w 651"/>
                <a:gd name="T13" fmla="*/ 264 h 396"/>
                <a:gd name="T14" fmla="*/ 500 w 651"/>
                <a:gd name="T15" fmla="*/ 136 h 396"/>
                <a:gd name="T16" fmla="*/ 490 w 651"/>
                <a:gd name="T17" fmla="*/ 129 h 396"/>
                <a:gd name="T18" fmla="*/ 311 w 651"/>
                <a:gd name="T19" fmla="*/ 24 h 396"/>
                <a:gd name="T20" fmla="*/ 114 w 651"/>
                <a:gd name="T21" fmla="*/ 177 h 396"/>
                <a:gd name="T22" fmla="*/ 104 w 651"/>
                <a:gd name="T23" fmla="*/ 186 h 396"/>
                <a:gd name="T24" fmla="*/ 24 w 651"/>
                <a:gd name="T25" fmla="*/ 278 h 396"/>
                <a:gd name="T26" fmla="*/ 117 w 651"/>
                <a:gd name="T27" fmla="*/ 371 h 396"/>
                <a:gd name="T28" fmla="*/ 439 w 651"/>
                <a:gd name="T29" fmla="*/ 371 h 396"/>
                <a:gd name="T30" fmla="*/ 439 w 651"/>
                <a:gd name="T31" fmla="*/ 396 h 396"/>
                <a:gd name="T32" fmla="*/ 117 w 651"/>
                <a:gd name="T33" fmla="*/ 396 h 396"/>
                <a:gd name="T34" fmla="*/ 0 w 651"/>
                <a:gd name="T35" fmla="*/ 278 h 396"/>
                <a:gd name="T36" fmla="*/ 92 w 651"/>
                <a:gd name="T37" fmla="*/ 163 h 396"/>
                <a:gd name="T38" fmla="*/ 311 w 651"/>
                <a:gd name="T39" fmla="*/ 0 h 396"/>
                <a:gd name="T40" fmla="*/ 508 w 651"/>
                <a:gd name="T41" fmla="*/ 111 h 396"/>
                <a:gd name="T42" fmla="*/ 651 w 651"/>
                <a:gd name="T43" fmla="*/ 264 h 396"/>
                <a:gd name="T44" fmla="*/ 593 w 651"/>
                <a:gd name="T45" fmla="*/ 384 h 396"/>
                <a:gd name="T46" fmla="*/ 555 w 651"/>
                <a:gd name="T47" fmla="*/ 3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1" h="396">
                  <a:moveTo>
                    <a:pt x="555" y="396"/>
                  </a:moveTo>
                  <a:lnTo>
                    <a:pt x="555" y="396"/>
                  </a:lnTo>
                  <a:lnTo>
                    <a:pt x="516" y="396"/>
                  </a:lnTo>
                  <a:lnTo>
                    <a:pt x="516" y="371"/>
                  </a:lnTo>
                  <a:lnTo>
                    <a:pt x="555" y="371"/>
                  </a:lnTo>
                  <a:cubicBezTo>
                    <a:pt x="564" y="371"/>
                    <a:pt x="572" y="369"/>
                    <a:pt x="577" y="364"/>
                  </a:cubicBezTo>
                  <a:cubicBezTo>
                    <a:pt x="609" y="339"/>
                    <a:pt x="627" y="302"/>
                    <a:pt x="627" y="264"/>
                  </a:cubicBezTo>
                  <a:cubicBezTo>
                    <a:pt x="627" y="194"/>
                    <a:pt x="570" y="137"/>
                    <a:pt x="500" y="136"/>
                  </a:cubicBezTo>
                  <a:cubicBezTo>
                    <a:pt x="496" y="136"/>
                    <a:pt x="492" y="133"/>
                    <a:pt x="490" y="129"/>
                  </a:cubicBezTo>
                  <a:cubicBezTo>
                    <a:pt x="454" y="65"/>
                    <a:pt x="385" y="24"/>
                    <a:pt x="311" y="24"/>
                  </a:cubicBezTo>
                  <a:cubicBezTo>
                    <a:pt x="218" y="24"/>
                    <a:pt x="137" y="87"/>
                    <a:pt x="114" y="177"/>
                  </a:cubicBezTo>
                  <a:cubicBezTo>
                    <a:pt x="112" y="182"/>
                    <a:pt x="108" y="186"/>
                    <a:pt x="104" y="186"/>
                  </a:cubicBezTo>
                  <a:cubicBezTo>
                    <a:pt x="58" y="193"/>
                    <a:pt x="24" y="232"/>
                    <a:pt x="24" y="278"/>
                  </a:cubicBezTo>
                  <a:cubicBezTo>
                    <a:pt x="24" y="329"/>
                    <a:pt x="66" y="371"/>
                    <a:pt x="117" y="371"/>
                  </a:cubicBezTo>
                  <a:lnTo>
                    <a:pt x="439" y="371"/>
                  </a:lnTo>
                  <a:lnTo>
                    <a:pt x="439" y="396"/>
                  </a:lnTo>
                  <a:lnTo>
                    <a:pt x="117" y="396"/>
                  </a:lnTo>
                  <a:cubicBezTo>
                    <a:pt x="52" y="396"/>
                    <a:pt x="0" y="343"/>
                    <a:pt x="0" y="278"/>
                  </a:cubicBezTo>
                  <a:cubicBezTo>
                    <a:pt x="0" y="223"/>
                    <a:pt x="39" y="175"/>
                    <a:pt x="92" y="163"/>
                  </a:cubicBezTo>
                  <a:cubicBezTo>
                    <a:pt x="121" y="67"/>
                    <a:pt x="210" y="0"/>
                    <a:pt x="311" y="0"/>
                  </a:cubicBezTo>
                  <a:cubicBezTo>
                    <a:pt x="392" y="0"/>
                    <a:pt x="466" y="42"/>
                    <a:pt x="508" y="111"/>
                  </a:cubicBezTo>
                  <a:cubicBezTo>
                    <a:pt x="588" y="116"/>
                    <a:pt x="651" y="183"/>
                    <a:pt x="651" y="264"/>
                  </a:cubicBezTo>
                  <a:cubicBezTo>
                    <a:pt x="651" y="310"/>
                    <a:pt x="630" y="353"/>
                    <a:pt x="593" y="384"/>
                  </a:cubicBezTo>
                  <a:cubicBezTo>
                    <a:pt x="583" y="391"/>
                    <a:pt x="570" y="396"/>
                    <a:pt x="555" y="396"/>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4" name="Freeform 657"/>
            <p:cNvSpPr>
              <a:spLocks/>
            </p:cNvSpPr>
            <p:nvPr/>
          </p:nvSpPr>
          <p:spPr bwMode="auto">
            <a:xfrm>
              <a:off x="2824164" y="4497389"/>
              <a:ext cx="42863" cy="42863"/>
            </a:xfrm>
            <a:custGeom>
              <a:avLst/>
              <a:gdLst>
                <a:gd name="T0" fmla="*/ 25 w 51"/>
                <a:gd name="T1" fmla="*/ 51 h 51"/>
                <a:gd name="T2" fmla="*/ 25 w 51"/>
                <a:gd name="T3" fmla="*/ 51 h 51"/>
                <a:gd name="T4" fmla="*/ 0 w 51"/>
                <a:gd name="T5" fmla="*/ 25 h 51"/>
                <a:gd name="T6" fmla="*/ 25 w 51"/>
                <a:gd name="T7" fmla="*/ 0 h 51"/>
                <a:gd name="T8" fmla="*/ 51 w 51"/>
                <a:gd name="T9" fmla="*/ 25 h 51"/>
                <a:gd name="T10" fmla="*/ 25 w 51"/>
                <a:gd name="T11" fmla="*/ 51 h 51"/>
              </a:gdLst>
              <a:ahLst/>
              <a:cxnLst>
                <a:cxn ang="0">
                  <a:pos x="T0" y="T1"/>
                </a:cxn>
                <a:cxn ang="0">
                  <a:pos x="T2" y="T3"/>
                </a:cxn>
                <a:cxn ang="0">
                  <a:pos x="T4" y="T5"/>
                </a:cxn>
                <a:cxn ang="0">
                  <a:pos x="T6" y="T7"/>
                </a:cxn>
                <a:cxn ang="0">
                  <a:pos x="T8" y="T9"/>
                </a:cxn>
                <a:cxn ang="0">
                  <a:pos x="T10" y="T11"/>
                </a:cxn>
              </a:cxnLst>
              <a:rect l="0" t="0" r="r" b="b"/>
              <a:pathLst>
                <a:path w="51" h="51">
                  <a:moveTo>
                    <a:pt x="25" y="51"/>
                  </a:moveTo>
                  <a:lnTo>
                    <a:pt x="25" y="51"/>
                  </a:lnTo>
                  <a:cubicBezTo>
                    <a:pt x="11" y="51"/>
                    <a:pt x="0" y="40"/>
                    <a:pt x="0" y="25"/>
                  </a:cubicBezTo>
                  <a:cubicBezTo>
                    <a:pt x="0" y="11"/>
                    <a:pt x="11" y="0"/>
                    <a:pt x="25" y="0"/>
                  </a:cubicBezTo>
                  <a:cubicBezTo>
                    <a:pt x="40" y="0"/>
                    <a:pt x="51" y="11"/>
                    <a:pt x="51" y="25"/>
                  </a:cubicBezTo>
                  <a:cubicBezTo>
                    <a:pt x="51" y="40"/>
                    <a:pt x="40" y="51"/>
                    <a:pt x="25" y="51"/>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5" name="Freeform 658"/>
            <p:cNvSpPr>
              <a:spLocks/>
            </p:cNvSpPr>
            <p:nvPr/>
          </p:nvSpPr>
          <p:spPr bwMode="auto">
            <a:xfrm>
              <a:off x="2890839" y="4495801"/>
              <a:ext cx="44450" cy="44450"/>
            </a:xfrm>
            <a:custGeom>
              <a:avLst/>
              <a:gdLst>
                <a:gd name="T0" fmla="*/ 26 w 52"/>
                <a:gd name="T1" fmla="*/ 52 h 52"/>
                <a:gd name="T2" fmla="*/ 26 w 52"/>
                <a:gd name="T3" fmla="*/ 52 h 52"/>
                <a:gd name="T4" fmla="*/ 0 w 52"/>
                <a:gd name="T5" fmla="*/ 26 h 52"/>
                <a:gd name="T6" fmla="*/ 26 w 52"/>
                <a:gd name="T7" fmla="*/ 0 h 52"/>
                <a:gd name="T8" fmla="*/ 52 w 52"/>
                <a:gd name="T9" fmla="*/ 26 h 52"/>
                <a:gd name="T10" fmla="*/ 26 w 52"/>
                <a:gd name="T11" fmla="*/ 52 h 52"/>
              </a:gdLst>
              <a:ahLst/>
              <a:cxnLst>
                <a:cxn ang="0">
                  <a:pos x="T0" y="T1"/>
                </a:cxn>
                <a:cxn ang="0">
                  <a:pos x="T2" y="T3"/>
                </a:cxn>
                <a:cxn ang="0">
                  <a:pos x="T4" y="T5"/>
                </a:cxn>
                <a:cxn ang="0">
                  <a:pos x="T6" y="T7"/>
                </a:cxn>
                <a:cxn ang="0">
                  <a:pos x="T8" y="T9"/>
                </a:cxn>
                <a:cxn ang="0">
                  <a:pos x="T10" y="T11"/>
                </a:cxn>
              </a:cxnLst>
              <a:rect l="0" t="0" r="r" b="b"/>
              <a:pathLst>
                <a:path w="52" h="52">
                  <a:moveTo>
                    <a:pt x="26" y="52"/>
                  </a:moveTo>
                  <a:lnTo>
                    <a:pt x="26" y="52"/>
                  </a:lnTo>
                  <a:cubicBezTo>
                    <a:pt x="12" y="52"/>
                    <a:pt x="0" y="40"/>
                    <a:pt x="0" y="26"/>
                  </a:cubicBezTo>
                  <a:cubicBezTo>
                    <a:pt x="0" y="12"/>
                    <a:pt x="12" y="0"/>
                    <a:pt x="26" y="0"/>
                  </a:cubicBezTo>
                  <a:cubicBezTo>
                    <a:pt x="40" y="0"/>
                    <a:pt x="52" y="12"/>
                    <a:pt x="52" y="26"/>
                  </a:cubicBezTo>
                  <a:cubicBezTo>
                    <a:pt x="52" y="40"/>
                    <a:pt x="40" y="52"/>
                    <a:pt x="26" y="52"/>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6" name="Freeform 659"/>
            <p:cNvSpPr>
              <a:spLocks noEditPoints="1"/>
            </p:cNvSpPr>
            <p:nvPr/>
          </p:nvSpPr>
          <p:spPr bwMode="auto">
            <a:xfrm>
              <a:off x="2625726" y="4337051"/>
              <a:ext cx="152400" cy="149225"/>
            </a:xfrm>
            <a:custGeom>
              <a:avLst/>
              <a:gdLst>
                <a:gd name="T0" fmla="*/ 20 w 178"/>
                <a:gd name="T1" fmla="*/ 140 h 174"/>
                <a:gd name="T2" fmla="*/ 20 w 178"/>
                <a:gd name="T3" fmla="*/ 140 h 174"/>
                <a:gd name="T4" fmla="*/ 158 w 178"/>
                <a:gd name="T5" fmla="*/ 153 h 174"/>
                <a:gd name="T6" fmla="*/ 158 w 178"/>
                <a:gd name="T7" fmla="*/ 33 h 174"/>
                <a:gd name="T8" fmla="*/ 20 w 178"/>
                <a:gd name="T9" fmla="*/ 20 h 174"/>
                <a:gd name="T10" fmla="*/ 20 w 178"/>
                <a:gd name="T11" fmla="*/ 140 h 174"/>
                <a:gd name="T12" fmla="*/ 162 w 178"/>
                <a:gd name="T13" fmla="*/ 174 h 174"/>
                <a:gd name="T14" fmla="*/ 162 w 178"/>
                <a:gd name="T15" fmla="*/ 174 h 174"/>
                <a:gd name="T16" fmla="*/ 160 w 178"/>
                <a:gd name="T17" fmla="*/ 174 h 174"/>
                <a:gd name="T18" fmla="*/ 15 w 178"/>
                <a:gd name="T19" fmla="*/ 159 h 174"/>
                <a:gd name="T20" fmla="*/ 0 w 178"/>
                <a:gd name="T21" fmla="*/ 142 h 174"/>
                <a:gd name="T22" fmla="*/ 0 w 178"/>
                <a:gd name="T23" fmla="*/ 16 h 174"/>
                <a:gd name="T24" fmla="*/ 16 w 178"/>
                <a:gd name="T25" fmla="*/ 0 h 174"/>
                <a:gd name="T26" fmla="*/ 17 w 178"/>
                <a:gd name="T27" fmla="*/ 0 h 174"/>
                <a:gd name="T28" fmla="*/ 162 w 178"/>
                <a:gd name="T29" fmla="*/ 14 h 174"/>
                <a:gd name="T30" fmla="*/ 178 w 178"/>
                <a:gd name="T31" fmla="*/ 31 h 174"/>
                <a:gd name="T32" fmla="*/ 178 w 178"/>
                <a:gd name="T33" fmla="*/ 158 h 174"/>
                <a:gd name="T34" fmla="*/ 162 w 178"/>
                <a:gd name="T35"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8" h="174">
                  <a:moveTo>
                    <a:pt x="20" y="140"/>
                  </a:moveTo>
                  <a:lnTo>
                    <a:pt x="20" y="140"/>
                  </a:lnTo>
                  <a:lnTo>
                    <a:pt x="158" y="153"/>
                  </a:lnTo>
                  <a:lnTo>
                    <a:pt x="158" y="33"/>
                  </a:lnTo>
                  <a:lnTo>
                    <a:pt x="20" y="20"/>
                  </a:lnTo>
                  <a:lnTo>
                    <a:pt x="20" y="140"/>
                  </a:lnTo>
                  <a:close/>
                  <a:moveTo>
                    <a:pt x="162" y="174"/>
                  </a:moveTo>
                  <a:lnTo>
                    <a:pt x="162" y="174"/>
                  </a:lnTo>
                  <a:cubicBezTo>
                    <a:pt x="161" y="174"/>
                    <a:pt x="160" y="174"/>
                    <a:pt x="160" y="174"/>
                  </a:cubicBezTo>
                  <a:lnTo>
                    <a:pt x="15" y="159"/>
                  </a:lnTo>
                  <a:cubicBezTo>
                    <a:pt x="7" y="158"/>
                    <a:pt x="0" y="151"/>
                    <a:pt x="0" y="142"/>
                  </a:cubicBezTo>
                  <a:lnTo>
                    <a:pt x="0" y="16"/>
                  </a:lnTo>
                  <a:cubicBezTo>
                    <a:pt x="0" y="7"/>
                    <a:pt x="7" y="0"/>
                    <a:pt x="16" y="0"/>
                  </a:cubicBezTo>
                  <a:cubicBezTo>
                    <a:pt x="16" y="0"/>
                    <a:pt x="17" y="0"/>
                    <a:pt x="17" y="0"/>
                  </a:cubicBezTo>
                  <a:lnTo>
                    <a:pt x="162" y="14"/>
                  </a:lnTo>
                  <a:cubicBezTo>
                    <a:pt x="171" y="15"/>
                    <a:pt x="178" y="22"/>
                    <a:pt x="178" y="31"/>
                  </a:cubicBezTo>
                  <a:lnTo>
                    <a:pt x="178" y="158"/>
                  </a:lnTo>
                  <a:cubicBezTo>
                    <a:pt x="178" y="167"/>
                    <a:pt x="171" y="174"/>
                    <a:pt x="162" y="17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7" name="Freeform 660"/>
            <p:cNvSpPr>
              <a:spLocks/>
            </p:cNvSpPr>
            <p:nvPr/>
          </p:nvSpPr>
          <p:spPr bwMode="auto">
            <a:xfrm>
              <a:off x="2660651" y="4310064"/>
              <a:ext cx="152400" cy="149225"/>
            </a:xfrm>
            <a:custGeom>
              <a:avLst/>
              <a:gdLst>
                <a:gd name="T0" fmla="*/ 162 w 178"/>
                <a:gd name="T1" fmla="*/ 174 h 174"/>
                <a:gd name="T2" fmla="*/ 162 w 178"/>
                <a:gd name="T3" fmla="*/ 174 h 174"/>
                <a:gd name="T4" fmla="*/ 160 w 178"/>
                <a:gd name="T5" fmla="*/ 174 h 174"/>
                <a:gd name="T6" fmla="*/ 126 w 178"/>
                <a:gd name="T7" fmla="*/ 170 h 174"/>
                <a:gd name="T8" fmla="*/ 117 w 178"/>
                <a:gd name="T9" fmla="*/ 160 h 174"/>
                <a:gd name="T10" fmla="*/ 128 w 178"/>
                <a:gd name="T11" fmla="*/ 151 h 174"/>
                <a:gd name="T12" fmla="*/ 158 w 178"/>
                <a:gd name="T13" fmla="*/ 154 h 174"/>
                <a:gd name="T14" fmla="*/ 158 w 178"/>
                <a:gd name="T15" fmla="*/ 34 h 174"/>
                <a:gd name="T16" fmla="*/ 20 w 178"/>
                <a:gd name="T17" fmla="*/ 20 h 174"/>
                <a:gd name="T18" fmla="*/ 20 w 178"/>
                <a:gd name="T19" fmla="*/ 45 h 174"/>
                <a:gd name="T20" fmla="*/ 10 w 178"/>
                <a:gd name="T21" fmla="*/ 55 h 174"/>
                <a:gd name="T22" fmla="*/ 0 w 178"/>
                <a:gd name="T23" fmla="*/ 45 h 174"/>
                <a:gd name="T24" fmla="*/ 0 w 178"/>
                <a:gd name="T25" fmla="*/ 16 h 174"/>
                <a:gd name="T26" fmla="*/ 6 w 178"/>
                <a:gd name="T27" fmla="*/ 4 h 174"/>
                <a:gd name="T28" fmla="*/ 18 w 178"/>
                <a:gd name="T29" fmla="*/ 0 h 174"/>
                <a:gd name="T30" fmla="*/ 162 w 178"/>
                <a:gd name="T31" fmla="*/ 14 h 174"/>
                <a:gd name="T32" fmla="*/ 178 w 178"/>
                <a:gd name="T33" fmla="*/ 32 h 174"/>
                <a:gd name="T34" fmla="*/ 178 w 178"/>
                <a:gd name="T35" fmla="*/ 158 h 174"/>
                <a:gd name="T36" fmla="*/ 173 w 178"/>
                <a:gd name="T37" fmla="*/ 170 h 174"/>
                <a:gd name="T38" fmla="*/ 162 w 178"/>
                <a:gd name="T39"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8" h="174">
                  <a:moveTo>
                    <a:pt x="162" y="174"/>
                  </a:moveTo>
                  <a:lnTo>
                    <a:pt x="162" y="174"/>
                  </a:lnTo>
                  <a:cubicBezTo>
                    <a:pt x="162" y="174"/>
                    <a:pt x="161" y="174"/>
                    <a:pt x="160" y="174"/>
                  </a:cubicBezTo>
                  <a:lnTo>
                    <a:pt x="126" y="170"/>
                  </a:lnTo>
                  <a:cubicBezTo>
                    <a:pt x="120" y="170"/>
                    <a:pt x="116" y="165"/>
                    <a:pt x="117" y="160"/>
                  </a:cubicBezTo>
                  <a:cubicBezTo>
                    <a:pt x="117" y="154"/>
                    <a:pt x="122" y="150"/>
                    <a:pt x="128" y="151"/>
                  </a:cubicBezTo>
                  <a:lnTo>
                    <a:pt x="158" y="154"/>
                  </a:lnTo>
                  <a:lnTo>
                    <a:pt x="158" y="34"/>
                  </a:lnTo>
                  <a:lnTo>
                    <a:pt x="20" y="20"/>
                  </a:lnTo>
                  <a:lnTo>
                    <a:pt x="20" y="45"/>
                  </a:lnTo>
                  <a:cubicBezTo>
                    <a:pt x="20" y="50"/>
                    <a:pt x="16" y="55"/>
                    <a:pt x="10" y="55"/>
                  </a:cubicBezTo>
                  <a:cubicBezTo>
                    <a:pt x="5" y="55"/>
                    <a:pt x="0" y="50"/>
                    <a:pt x="0" y="45"/>
                  </a:cubicBezTo>
                  <a:lnTo>
                    <a:pt x="0" y="16"/>
                  </a:lnTo>
                  <a:cubicBezTo>
                    <a:pt x="0" y="11"/>
                    <a:pt x="2" y="7"/>
                    <a:pt x="6" y="4"/>
                  </a:cubicBezTo>
                  <a:cubicBezTo>
                    <a:pt x="9" y="1"/>
                    <a:pt x="13" y="0"/>
                    <a:pt x="18" y="0"/>
                  </a:cubicBezTo>
                  <a:lnTo>
                    <a:pt x="162" y="14"/>
                  </a:lnTo>
                  <a:cubicBezTo>
                    <a:pt x="171" y="15"/>
                    <a:pt x="178" y="23"/>
                    <a:pt x="178" y="32"/>
                  </a:cubicBezTo>
                  <a:lnTo>
                    <a:pt x="178" y="158"/>
                  </a:lnTo>
                  <a:cubicBezTo>
                    <a:pt x="178" y="163"/>
                    <a:pt x="176" y="167"/>
                    <a:pt x="173" y="170"/>
                  </a:cubicBezTo>
                  <a:cubicBezTo>
                    <a:pt x="170" y="173"/>
                    <a:pt x="166" y="174"/>
                    <a:pt x="162" y="174"/>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8" name="Freeform 661"/>
            <p:cNvSpPr>
              <a:spLocks/>
            </p:cNvSpPr>
            <p:nvPr/>
          </p:nvSpPr>
          <p:spPr bwMode="auto">
            <a:xfrm>
              <a:off x="2697164" y="4279901"/>
              <a:ext cx="150813" cy="149225"/>
            </a:xfrm>
            <a:custGeom>
              <a:avLst/>
              <a:gdLst>
                <a:gd name="T0" fmla="*/ 162 w 178"/>
                <a:gd name="T1" fmla="*/ 175 h 175"/>
                <a:gd name="T2" fmla="*/ 162 w 178"/>
                <a:gd name="T3" fmla="*/ 175 h 175"/>
                <a:gd name="T4" fmla="*/ 160 w 178"/>
                <a:gd name="T5" fmla="*/ 175 h 175"/>
                <a:gd name="T6" fmla="*/ 125 w 178"/>
                <a:gd name="T7" fmla="*/ 171 h 175"/>
                <a:gd name="T8" fmla="*/ 116 w 178"/>
                <a:gd name="T9" fmla="*/ 160 h 175"/>
                <a:gd name="T10" fmla="*/ 127 w 178"/>
                <a:gd name="T11" fmla="*/ 151 h 175"/>
                <a:gd name="T12" fmla="*/ 158 w 178"/>
                <a:gd name="T13" fmla="*/ 154 h 175"/>
                <a:gd name="T14" fmla="*/ 158 w 178"/>
                <a:gd name="T15" fmla="*/ 34 h 175"/>
                <a:gd name="T16" fmla="*/ 20 w 178"/>
                <a:gd name="T17" fmla="*/ 21 h 175"/>
                <a:gd name="T18" fmla="*/ 20 w 178"/>
                <a:gd name="T19" fmla="*/ 49 h 175"/>
                <a:gd name="T20" fmla="*/ 10 w 178"/>
                <a:gd name="T21" fmla="*/ 59 h 175"/>
                <a:gd name="T22" fmla="*/ 0 w 178"/>
                <a:gd name="T23" fmla="*/ 49 h 175"/>
                <a:gd name="T24" fmla="*/ 0 w 178"/>
                <a:gd name="T25" fmla="*/ 17 h 175"/>
                <a:gd name="T26" fmla="*/ 5 w 178"/>
                <a:gd name="T27" fmla="*/ 5 h 175"/>
                <a:gd name="T28" fmla="*/ 17 w 178"/>
                <a:gd name="T29" fmla="*/ 1 h 175"/>
                <a:gd name="T30" fmla="*/ 162 w 178"/>
                <a:gd name="T31" fmla="*/ 15 h 175"/>
                <a:gd name="T32" fmla="*/ 178 w 178"/>
                <a:gd name="T33" fmla="*/ 32 h 175"/>
                <a:gd name="T34" fmla="*/ 178 w 178"/>
                <a:gd name="T35" fmla="*/ 159 h 175"/>
                <a:gd name="T36" fmla="*/ 172 w 178"/>
                <a:gd name="T37" fmla="*/ 171 h 175"/>
                <a:gd name="T38" fmla="*/ 162 w 178"/>
                <a:gd name="T3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8" h="175">
                  <a:moveTo>
                    <a:pt x="162" y="175"/>
                  </a:moveTo>
                  <a:lnTo>
                    <a:pt x="162" y="175"/>
                  </a:lnTo>
                  <a:cubicBezTo>
                    <a:pt x="161" y="175"/>
                    <a:pt x="160" y="175"/>
                    <a:pt x="160" y="175"/>
                  </a:cubicBezTo>
                  <a:lnTo>
                    <a:pt x="125" y="171"/>
                  </a:lnTo>
                  <a:cubicBezTo>
                    <a:pt x="120" y="171"/>
                    <a:pt x="116" y="166"/>
                    <a:pt x="116" y="160"/>
                  </a:cubicBezTo>
                  <a:cubicBezTo>
                    <a:pt x="117" y="155"/>
                    <a:pt x="122" y="151"/>
                    <a:pt x="127" y="151"/>
                  </a:cubicBezTo>
                  <a:lnTo>
                    <a:pt x="158" y="154"/>
                  </a:lnTo>
                  <a:lnTo>
                    <a:pt x="158" y="34"/>
                  </a:lnTo>
                  <a:lnTo>
                    <a:pt x="20" y="21"/>
                  </a:lnTo>
                  <a:lnTo>
                    <a:pt x="20" y="49"/>
                  </a:lnTo>
                  <a:cubicBezTo>
                    <a:pt x="20" y="55"/>
                    <a:pt x="15" y="59"/>
                    <a:pt x="10" y="59"/>
                  </a:cubicBezTo>
                  <a:cubicBezTo>
                    <a:pt x="4" y="59"/>
                    <a:pt x="0" y="55"/>
                    <a:pt x="0" y="49"/>
                  </a:cubicBezTo>
                  <a:lnTo>
                    <a:pt x="0" y="17"/>
                  </a:lnTo>
                  <a:cubicBezTo>
                    <a:pt x="0" y="12"/>
                    <a:pt x="2" y="8"/>
                    <a:pt x="5" y="5"/>
                  </a:cubicBezTo>
                  <a:cubicBezTo>
                    <a:pt x="8" y="2"/>
                    <a:pt x="13" y="0"/>
                    <a:pt x="17" y="1"/>
                  </a:cubicBezTo>
                  <a:lnTo>
                    <a:pt x="162" y="15"/>
                  </a:lnTo>
                  <a:cubicBezTo>
                    <a:pt x="171" y="16"/>
                    <a:pt x="178" y="23"/>
                    <a:pt x="178" y="32"/>
                  </a:cubicBezTo>
                  <a:lnTo>
                    <a:pt x="178" y="159"/>
                  </a:lnTo>
                  <a:cubicBezTo>
                    <a:pt x="178" y="163"/>
                    <a:pt x="176" y="168"/>
                    <a:pt x="172" y="171"/>
                  </a:cubicBezTo>
                  <a:cubicBezTo>
                    <a:pt x="169" y="173"/>
                    <a:pt x="166" y="175"/>
                    <a:pt x="162" y="175"/>
                  </a:cubicBez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49" name="Freeform 662"/>
            <p:cNvSpPr>
              <a:spLocks/>
            </p:cNvSpPr>
            <p:nvPr/>
          </p:nvSpPr>
          <p:spPr bwMode="auto">
            <a:xfrm>
              <a:off x="2662239" y="4392614"/>
              <a:ext cx="31750" cy="36513"/>
            </a:xfrm>
            <a:custGeom>
              <a:avLst/>
              <a:gdLst>
                <a:gd name="T0" fmla="*/ 38 w 38"/>
                <a:gd name="T1" fmla="*/ 4 h 42"/>
                <a:gd name="T2" fmla="*/ 38 w 38"/>
                <a:gd name="T3" fmla="*/ 4 h 42"/>
                <a:gd name="T4" fmla="*/ 24 w 38"/>
                <a:gd name="T5" fmla="*/ 42 h 42"/>
                <a:gd name="T6" fmla="*/ 14 w 38"/>
                <a:gd name="T7" fmla="*/ 41 h 42"/>
                <a:gd name="T8" fmla="*/ 0 w 38"/>
                <a:gd name="T9" fmla="*/ 0 h 42"/>
                <a:gd name="T10" fmla="*/ 9 w 38"/>
                <a:gd name="T11" fmla="*/ 1 h 42"/>
                <a:gd name="T12" fmla="*/ 18 w 38"/>
                <a:gd name="T13" fmla="*/ 30 h 42"/>
                <a:gd name="T14" fmla="*/ 19 w 38"/>
                <a:gd name="T15" fmla="*/ 34 h 42"/>
                <a:gd name="T16" fmla="*/ 19 w 38"/>
                <a:gd name="T17" fmla="*/ 34 h 42"/>
                <a:gd name="T18" fmla="*/ 20 w 38"/>
                <a:gd name="T19" fmla="*/ 30 h 42"/>
                <a:gd name="T20" fmla="*/ 29 w 38"/>
                <a:gd name="T21" fmla="*/ 3 h 42"/>
                <a:gd name="T22" fmla="*/ 38 w 38"/>
                <a:gd name="T23"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 h="42">
                  <a:moveTo>
                    <a:pt x="38" y="4"/>
                  </a:moveTo>
                  <a:lnTo>
                    <a:pt x="38" y="4"/>
                  </a:lnTo>
                  <a:lnTo>
                    <a:pt x="24" y="42"/>
                  </a:lnTo>
                  <a:lnTo>
                    <a:pt x="14" y="41"/>
                  </a:lnTo>
                  <a:lnTo>
                    <a:pt x="0" y="0"/>
                  </a:lnTo>
                  <a:lnTo>
                    <a:pt x="9" y="1"/>
                  </a:lnTo>
                  <a:lnTo>
                    <a:pt x="18" y="30"/>
                  </a:lnTo>
                  <a:cubicBezTo>
                    <a:pt x="19" y="31"/>
                    <a:pt x="19" y="33"/>
                    <a:pt x="19" y="34"/>
                  </a:cubicBezTo>
                  <a:lnTo>
                    <a:pt x="19" y="34"/>
                  </a:lnTo>
                  <a:cubicBezTo>
                    <a:pt x="19" y="33"/>
                    <a:pt x="20" y="31"/>
                    <a:pt x="20" y="30"/>
                  </a:cubicBezTo>
                  <a:lnTo>
                    <a:pt x="29" y="3"/>
                  </a:lnTo>
                  <a:lnTo>
                    <a:pt x="38" y="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sp>
          <p:nvSpPr>
            <p:cNvPr id="50" name="Freeform 663"/>
            <p:cNvSpPr>
              <a:spLocks/>
            </p:cNvSpPr>
            <p:nvPr/>
          </p:nvSpPr>
          <p:spPr bwMode="auto">
            <a:xfrm>
              <a:off x="2698751" y="4395789"/>
              <a:ext cx="39688" cy="39688"/>
            </a:xfrm>
            <a:custGeom>
              <a:avLst/>
              <a:gdLst>
                <a:gd name="T0" fmla="*/ 37 w 46"/>
                <a:gd name="T1" fmla="*/ 44 h 45"/>
                <a:gd name="T2" fmla="*/ 37 w 46"/>
                <a:gd name="T3" fmla="*/ 44 h 45"/>
                <a:gd name="T4" fmla="*/ 37 w 46"/>
                <a:gd name="T5" fmla="*/ 20 h 45"/>
                <a:gd name="T6" fmla="*/ 38 w 46"/>
                <a:gd name="T7" fmla="*/ 11 h 45"/>
                <a:gd name="T8" fmla="*/ 37 w 46"/>
                <a:gd name="T9" fmla="*/ 11 h 45"/>
                <a:gd name="T10" fmla="*/ 36 w 46"/>
                <a:gd name="T11" fmla="*/ 16 h 45"/>
                <a:gd name="T12" fmla="*/ 26 w 46"/>
                <a:gd name="T13" fmla="*/ 43 h 45"/>
                <a:gd name="T14" fmla="*/ 19 w 46"/>
                <a:gd name="T15" fmla="*/ 42 h 45"/>
                <a:gd name="T16" fmla="*/ 9 w 46"/>
                <a:gd name="T17" fmla="*/ 14 h 45"/>
                <a:gd name="T18" fmla="*/ 8 w 46"/>
                <a:gd name="T19" fmla="*/ 8 h 45"/>
                <a:gd name="T20" fmla="*/ 7 w 46"/>
                <a:gd name="T21" fmla="*/ 8 h 45"/>
                <a:gd name="T22" fmla="*/ 8 w 46"/>
                <a:gd name="T23" fmla="*/ 18 h 45"/>
                <a:gd name="T24" fmla="*/ 8 w 46"/>
                <a:gd name="T25" fmla="*/ 41 h 45"/>
                <a:gd name="T26" fmla="*/ 0 w 46"/>
                <a:gd name="T27" fmla="*/ 40 h 45"/>
                <a:gd name="T28" fmla="*/ 0 w 46"/>
                <a:gd name="T29" fmla="*/ 0 h 45"/>
                <a:gd name="T30" fmla="*/ 13 w 46"/>
                <a:gd name="T31" fmla="*/ 1 h 45"/>
                <a:gd name="T32" fmla="*/ 21 w 46"/>
                <a:gd name="T33" fmla="*/ 27 h 45"/>
                <a:gd name="T34" fmla="*/ 23 w 46"/>
                <a:gd name="T35" fmla="*/ 33 h 45"/>
                <a:gd name="T36" fmla="*/ 23 w 46"/>
                <a:gd name="T37" fmla="*/ 33 h 45"/>
                <a:gd name="T38" fmla="*/ 25 w 46"/>
                <a:gd name="T39" fmla="*/ 27 h 45"/>
                <a:gd name="T40" fmla="*/ 34 w 46"/>
                <a:gd name="T41" fmla="*/ 3 h 45"/>
                <a:gd name="T42" fmla="*/ 46 w 46"/>
                <a:gd name="T43" fmla="*/ 5 h 45"/>
                <a:gd name="T44" fmla="*/ 46 w 46"/>
                <a:gd name="T45" fmla="*/ 45 h 45"/>
                <a:gd name="T46" fmla="*/ 37 w 46"/>
                <a:gd name="T4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5">
                  <a:moveTo>
                    <a:pt x="37" y="44"/>
                  </a:moveTo>
                  <a:lnTo>
                    <a:pt x="37" y="44"/>
                  </a:lnTo>
                  <a:lnTo>
                    <a:pt x="37" y="20"/>
                  </a:lnTo>
                  <a:cubicBezTo>
                    <a:pt x="37" y="17"/>
                    <a:pt x="37" y="15"/>
                    <a:pt x="38" y="11"/>
                  </a:cubicBezTo>
                  <a:lnTo>
                    <a:pt x="37" y="11"/>
                  </a:lnTo>
                  <a:cubicBezTo>
                    <a:pt x="37" y="14"/>
                    <a:pt x="36" y="15"/>
                    <a:pt x="36" y="16"/>
                  </a:cubicBezTo>
                  <a:lnTo>
                    <a:pt x="26" y="43"/>
                  </a:lnTo>
                  <a:lnTo>
                    <a:pt x="19" y="42"/>
                  </a:lnTo>
                  <a:lnTo>
                    <a:pt x="9" y="14"/>
                  </a:lnTo>
                  <a:cubicBezTo>
                    <a:pt x="9" y="13"/>
                    <a:pt x="8" y="11"/>
                    <a:pt x="8" y="8"/>
                  </a:cubicBezTo>
                  <a:lnTo>
                    <a:pt x="7" y="8"/>
                  </a:lnTo>
                  <a:cubicBezTo>
                    <a:pt x="8" y="12"/>
                    <a:pt x="8" y="15"/>
                    <a:pt x="8" y="18"/>
                  </a:cubicBezTo>
                  <a:lnTo>
                    <a:pt x="8" y="41"/>
                  </a:lnTo>
                  <a:lnTo>
                    <a:pt x="0" y="40"/>
                  </a:lnTo>
                  <a:lnTo>
                    <a:pt x="0" y="0"/>
                  </a:lnTo>
                  <a:lnTo>
                    <a:pt x="13" y="1"/>
                  </a:lnTo>
                  <a:lnTo>
                    <a:pt x="21" y="27"/>
                  </a:lnTo>
                  <a:cubicBezTo>
                    <a:pt x="22" y="29"/>
                    <a:pt x="23" y="31"/>
                    <a:pt x="23" y="33"/>
                  </a:cubicBezTo>
                  <a:lnTo>
                    <a:pt x="23" y="33"/>
                  </a:lnTo>
                  <a:cubicBezTo>
                    <a:pt x="24" y="30"/>
                    <a:pt x="24" y="29"/>
                    <a:pt x="25" y="27"/>
                  </a:cubicBezTo>
                  <a:lnTo>
                    <a:pt x="34" y="3"/>
                  </a:lnTo>
                  <a:lnTo>
                    <a:pt x="46" y="5"/>
                  </a:lnTo>
                  <a:lnTo>
                    <a:pt x="46" y="45"/>
                  </a:lnTo>
                  <a:lnTo>
                    <a:pt x="37" y="44"/>
                  </a:lnTo>
                  <a:close/>
                </a:path>
              </a:pathLst>
            </a:custGeom>
            <a:grpFill/>
            <a:ln w="0">
              <a:noFill/>
              <a:prstDash val="solid"/>
              <a:round/>
              <a:headEnd/>
              <a:tailEnd/>
            </a:ln>
          </p:spPr>
          <p:txBody>
            <a:bodyPr/>
            <a:lstStyle/>
            <a:p>
              <a:pPr defTabSz="543689">
                <a:defRPr/>
              </a:pPr>
              <a:endParaRPr lang="zh-CN" altLang="en-US" sz="3201">
                <a:latin typeface="Arial" panose="020B0604020202020204" pitchFamily="34" charset="0"/>
              </a:endParaRPr>
            </a:p>
          </p:txBody>
        </p:sp>
      </p:grpSp>
      <p:sp>
        <p:nvSpPr>
          <p:cNvPr id="52" name="ïṣļîďê">
            <a:extLst>
              <a:ext uri="{FF2B5EF4-FFF2-40B4-BE49-F238E27FC236}">
                <a16:creationId xmlns:p14="http://schemas.microsoft.com/office/powerpoint/2010/main" xmlns:a16="http://schemas.microsoft.com/office/drawing/2014/main" xmlns:lc="http://schemas.openxmlformats.org/drawingml/2006/lockedCanvas" xmlns="" id="{2408FD0A-8AD2-4B48-8CD2-F1C826C6C94B}"/>
              </a:ext>
            </a:extLst>
          </p:cNvPr>
          <p:cNvSpPr/>
          <p:nvPr/>
        </p:nvSpPr>
        <p:spPr>
          <a:xfrm>
            <a:off x="6780076" y="5841268"/>
            <a:ext cx="2196244" cy="401349"/>
          </a:xfrm>
          <a:prstGeom prst="roundRect">
            <a:avLst/>
          </a:prstGeom>
          <a:ln>
            <a:solidFill>
              <a:schemeClr val="bg1">
                <a:lumMod val="75000"/>
              </a:schemeClr>
            </a:solidFill>
          </a:ln>
        </p:spPr>
        <p:txBody>
          <a:bodyPr wrap="square" lIns="91440" tIns="45720" rIns="91440" bIns="45720" anchor="ctr">
            <a:noAutofit/>
          </a:bodyPr>
          <a:lstStyle/>
          <a:p>
            <a:pPr algn="ctr">
              <a:spcBef>
                <a:spcPct val="0"/>
              </a:spcBef>
            </a:pPr>
            <a:r>
              <a:rPr lang="en-US" sz="1600" dirty="0">
                <a:latin typeface="Arial" panose="020B0604020202020204" pitchFamily="34" charset="0"/>
                <a:ea typeface="+mn-ea"/>
              </a:rPr>
              <a:t>File system in an OS</a:t>
            </a:r>
          </a:p>
        </p:txBody>
      </p:sp>
    </p:spTree>
    <p:extLst>
      <p:ext uri="{BB962C8B-B14F-4D97-AF65-F5344CB8AC3E}">
        <p14:creationId xmlns:p14="http://schemas.microsoft.com/office/powerpoint/2010/main" val="12783850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smtClean="0">
                <a:latin typeface="Arial" panose="020B0604020202020204" pitchFamily="34" charset="0"/>
                <a:cs typeface="Arial" panose="020B0604020202020204" pitchFamily="34" charset="0"/>
              </a:rPr>
              <a:t>Mapping </a:t>
            </a:r>
            <a:r>
              <a:rPr dirty="0">
                <a:latin typeface="Arial" panose="020B0604020202020204" pitchFamily="34" charset="0"/>
                <a:cs typeface="Arial" panose="020B0604020202020204" pitchFamily="34" charset="0"/>
              </a:rPr>
              <a:t>a File to a Disk</a:t>
            </a:r>
          </a:p>
        </p:txBody>
      </p:sp>
      <p:sp>
        <p:nvSpPr>
          <p:cNvPr id="4" name="user-group_74577"/>
          <p:cNvSpPr>
            <a:spLocks noChangeAspect="1"/>
          </p:cNvSpPr>
          <p:nvPr/>
        </p:nvSpPr>
        <p:spPr bwMode="auto">
          <a:xfrm>
            <a:off x="1595500" y="1676903"/>
            <a:ext cx="1209539" cy="1026549"/>
          </a:xfrm>
          <a:custGeom>
            <a:avLst/>
            <a:gdLst>
              <a:gd name="connsiteX0" fmla="*/ 246732 w 607286"/>
              <a:gd name="connsiteY0" fmla="*/ 261798 h 515410"/>
              <a:gd name="connsiteX1" fmla="*/ 303643 w 607286"/>
              <a:gd name="connsiteY1" fmla="*/ 283469 h 515410"/>
              <a:gd name="connsiteX2" fmla="*/ 360554 w 607286"/>
              <a:gd name="connsiteY2" fmla="*/ 261798 h 515410"/>
              <a:gd name="connsiteX3" fmla="*/ 499721 w 607286"/>
              <a:gd name="connsiteY3" fmla="*/ 439385 h 515410"/>
              <a:gd name="connsiteX4" fmla="*/ 499956 w 607286"/>
              <a:gd name="connsiteY4" fmla="*/ 447819 h 515410"/>
              <a:gd name="connsiteX5" fmla="*/ 499956 w 607286"/>
              <a:gd name="connsiteY5" fmla="*/ 457308 h 515410"/>
              <a:gd name="connsiteX6" fmla="*/ 303643 w 607286"/>
              <a:gd name="connsiteY6" fmla="*/ 515410 h 515410"/>
              <a:gd name="connsiteX7" fmla="*/ 107330 w 607286"/>
              <a:gd name="connsiteY7" fmla="*/ 457308 h 515410"/>
              <a:gd name="connsiteX8" fmla="*/ 107330 w 607286"/>
              <a:gd name="connsiteY8" fmla="*/ 444539 h 515410"/>
              <a:gd name="connsiteX9" fmla="*/ 107682 w 607286"/>
              <a:gd name="connsiteY9" fmla="*/ 435519 h 515410"/>
              <a:gd name="connsiteX10" fmla="*/ 246732 w 607286"/>
              <a:gd name="connsiteY10" fmla="*/ 261798 h 515410"/>
              <a:gd name="connsiteX11" fmla="*/ 494038 w 607286"/>
              <a:gd name="connsiteY11" fmla="*/ 237453 h 515410"/>
              <a:gd name="connsiteX12" fmla="*/ 607169 w 607286"/>
              <a:gd name="connsiteY12" fmla="*/ 381785 h 515410"/>
              <a:gd name="connsiteX13" fmla="*/ 607286 w 607286"/>
              <a:gd name="connsiteY13" fmla="*/ 388580 h 515410"/>
              <a:gd name="connsiteX14" fmla="*/ 607286 w 607286"/>
              <a:gd name="connsiteY14" fmla="*/ 396312 h 515410"/>
              <a:gd name="connsiteX15" fmla="*/ 527367 w 607286"/>
              <a:gd name="connsiteY15" fmla="*/ 436730 h 515410"/>
              <a:gd name="connsiteX16" fmla="*/ 496972 w 607286"/>
              <a:gd name="connsiteY16" fmla="*/ 296029 h 515410"/>
              <a:gd name="connsiteX17" fmla="*/ 443927 w 607286"/>
              <a:gd name="connsiteY17" fmla="*/ 255026 h 515410"/>
              <a:gd name="connsiteX18" fmla="*/ 447800 w 607286"/>
              <a:gd name="connsiteY18" fmla="*/ 255143 h 515410"/>
              <a:gd name="connsiteX19" fmla="*/ 494038 w 607286"/>
              <a:gd name="connsiteY19" fmla="*/ 237453 h 515410"/>
              <a:gd name="connsiteX20" fmla="*/ 113199 w 607286"/>
              <a:gd name="connsiteY20" fmla="*/ 237453 h 515410"/>
              <a:gd name="connsiteX21" fmla="*/ 159417 w 607286"/>
              <a:gd name="connsiteY21" fmla="*/ 255143 h 515410"/>
              <a:gd name="connsiteX22" fmla="*/ 163288 w 607286"/>
              <a:gd name="connsiteY22" fmla="*/ 255026 h 515410"/>
              <a:gd name="connsiteX23" fmla="*/ 110266 w 607286"/>
              <a:gd name="connsiteY23" fmla="*/ 296029 h 515410"/>
              <a:gd name="connsiteX24" fmla="*/ 79884 w 607286"/>
              <a:gd name="connsiteY24" fmla="*/ 436730 h 515410"/>
              <a:gd name="connsiteX25" fmla="*/ 0 w 607286"/>
              <a:gd name="connsiteY25" fmla="*/ 396312 h 515410"/>
              <a:gd name="connsiteX26" fmla="*/ 0 w 607286"/>
              <a:gd name="connsiteY26" fmla="*/ 388580 h 515410"/>
              <a:gd name="connsiteX27" fmla="*/ 235 w 607286"/>
              <a:gd name="connsiteY27" fmla="*/ 381785 h 515410"/>
              <a:gd name="connsiteX28" fmla="*/ 113199 w 607286"/>
              <a:gd name="connsiteY28" fmla="*/ 237453 h 515410"/>
              <a:gd name="connsiteX29" fmla="*/ 447940 w 607286"/>
              <a:gd name="connsiteY29" fmla="*/ 24839 h 515410"/>
              <a:gd name="connsiteX30" fmla="*/ 532275 w 607286"/>
              <a:gd name="connsiteY30" fmla="*/ 127229 h 515410"/>
              <a:gd name="connsiteX31" fmla="*/ 447940 w 607286"/>
              <a:gd name="connsiteY31" fmla="*/ 229620 h 515410"/>
              <a:gd name="connsiteX32" fmla="*/ 409350 w 607286"/>
              <a:gd name="connsiteY32" fmla="*/ 218373 h 515410"/>
              <a:gd name="connsiteX33" fmla="*/ 435272 w 607286"/>
              <a:gd name="connsiteY33" fmla="*/ 126058 h 515410"/>
              <a:gd name="connsiteX34" fmla="*/ 416388 w 607286"/>
              <a:gd name="connsiteY34" fmla="*/ 28588 h 515410"/>
              <a:gd name="connsiteX35" fmla="*/ 447940 w 607286"/>
              <a:gd name="connsiteY35" fmla="*/ 24839 h 515410"/>
              <a:gd name="connsiteX36" fmla="*/ 159441 w 607286"/>
              <a:gd name="connsiteY36" fmla="*/ 24839 h 515410"/>
              <a:gd name="connsiteX37" fmla="*/ 190894 w 607286"/>
              <a:gd name="connsiteY37" fmla="*/ 28588 h 515410"/>
              <a:gd name="connsiteX38" fmla="*/ 171999 w 607286"/>
              <a:gd name="connsiteY38" fmla="*/ 126058 h 515410"/>
              <a:gd name="connsiteX39" fmla="*/ 197936 w 607286"/>
              <a:gd name="connsiteY39" fmla="*/ 218373 h 515410"/>
              <a:gd name="connsiteX40" fmla="*/ 159441 w 607286"/>
              <a:gd name="connsiteY40" fmla="*/ 229620 h 515410"/>
              <a:gd name="connsiteX41" fmla="*/ 74940 w 607286"/>
              <a:gd name="connsiteY41" fmla="*/ 127229 h 515410"/>
              <a:gd name="connsiteX42" fmla="*/ 159441 w 607286"/>
              <a:gd name="connsiteY42" fmla="*/ 24839 h 515410"/>
              <a:gd name="connsiteX43" fmla="*/ 303643 w 607286"/>
              <a:gd name="connsiteY43" fmla="*/ 0 h 515410"/>
              <a:gd name="connsiteX44" fmla="*/ 407586 w 607286"/>
              <a:gd name="connsiteY44" fmla="*/ 126030 h 515410"/>
              <a:gd name="connsiteX45" fmla="*/ 303643 w 607286"/>
              <a:gd name="connsiteY45" fmla="*/ 252060 h 515410"/>
              <a:gd name="connsiteX46" fmla="*/ 199700 w 607286"/>
              <a:gd name="connsiteY46" fmla="*/ 126030 h 515410"/>
              <a:gd name="connsiteX47" fmla="*/ 303643 w 607286"/>
              <a:gd name="connsiteY47" fmla="*/ 0 h 515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286" h="515410">
                <a:moveTo>
                  <a:pt x="246732" y="261798"/>
                </a:moveTo>
                <a:cubicBezTo>
                  <a:pt x="246732" y="261798"/>
                  <a:pt x="263864" y="283469"/>
                  <a:pt x="303643" y="283469"/>
                </a:cubicBezTo>
                <a:cubicBezTo>
                  <a:pt x="343539" y="283469"/>
                  <a:pt x="360554" y="261798"/>
                  <a:pt x="360554" y="261798"/>
                </a:cubicBezTo>
                <a:cubicBezTo>
                  <a:pt x="482003" y="283586"/>
                  <a:pt x="497844" y="318143"/>
                  <a:pt x="499721" y="439385"/>
                </a:cubicBezTo>
                <a:cubicBezTo>
                  <a:pt x="499839" y="447233"/>
                  <a:pt x="499956" y="448522"/>
                  <a:pt x="499956" y="447819"/>
                </a:cubicBezTo>
                <a:cubicBezTo>
                  <a:pt x="499956" y="449928"/>
                  <a:pt x="499956" y="452973"/>
                  <a:pt x="499956" y="457308"/>
                </a:cubicBezTo>
                <a:cubicBezTo>
                  <a:pt x="499956" y="457308"/>
                  <a:pt x="471090" y="515410"/>
                  <a:pt x="303643" y="515410"/>
                </a:cubicBezTo>
                <a:cubicBezTo>
                  <a:pt x="136313" y="515410"/>
                  <a:pt x="107330" y="457308"/>
                  <a:pt x="107330" y="457308"/>
                </a:cubicBezTo>
                <a:cubicBezTo>
                  <a:pt x="107330" y="450513"/>
                  <a:pt x="107330" y="446648"/>
                  <a:pt x="107330" y="444539"/>
                </a:cubicBezTo>
                <a:cubicBezTo>
                  <a:pt x="107330" y="445593"/>
                  <a:pt x="107447" y="445125"/>
                  <a:pt x="107682" y="435519"/>
                </a:cubicBezTo>
                <a:cubicBezTo>
                  <a:pt x="109794" y="317440"/>
                  <a:pt x="126691" y="283352"/>
                  <a:pt x="246732" y="261798"/>
                </a:cubicBezTo>
                <a:close/>
                <a:moveTo>
                  <a:pt x="494038" y="237453"/>
                </a:moveTo>
                <a:cubicBezTo>
                  <a:pt x="592734" y="255260"/>
                  <a:pt x="605526" y="283260"/>
                  <a:pt x="607169" y="381785"/>
                </a:cubicBezTo>
                <a:cubicBezTo>
                  <a:pt x="607286" y="388112"/>
                  <a:pt x="607286" y="389166"/>
                  <a:pt x="607286" y="388580"/>
                </a:cubicBezTo>
                <a:cubicBezTo>
                  <a:pt x="607286" y="390220"/>
                  <a:pt x="607286" y="392681"/>
                  <a:pt x="607286" y="396312"/>
                </a:cubicBezTo>
                <a:cubicBezTo>
                  <a:pt x="607286" y="396312"/>
                  <a:pt x="593673" y="423609"/>
                  <a:pt x="527367" y="436730"/>
                </a:cubicBezTo>
                <a:cubicBezTo>
                  <a:pt x="526311" y="372413"/>
                  <a:pt x="520795" y="328598"/>
                  <a:pt x="496972" y="296029"/>
                </a:cubicBezTo>
                <a:cubicBezTo>
                  <a:pt x="483241" y="277168"/>
                  <a:pt x="464464" y="264281"/>
                  <a:pt x="443927" y="255026"/>
                </a:cubicBezTo>
                <a:cubicBezTo>
                  <a:pt x="445218" y="255026"/>
                  <a:pt x="446509" y="255143"/>
                  <a:pt x="447800" y="255143"/>
                </a:cubicBezTo>
                <a:cubicBezTo>
                  <a:pt x="480190" y="255143"/>
                  <a:pt x="494038" y="237453"/>
                  <a:pt x="494038" y="237453"/>
                </a:cubicBezTo>
                <a:close/>
                <a:moveTo>
                  <a:pt x="113199" y="237453"/>
                </a:moveTo>
                <a:cubicBezTo>
                  <a:pt x="113199" y="237453"/>
                  <a:pt x="127041" y="255143"/>
                  <a:pt x="159417" y="255143"/>
                </a:cubicBezTo>
                <a:cubicBezTo>
                  <a:pt x="160707" y="255143"/>
                  <a:pt x="161998" y="255026"/>
                  <a:pt x="163288" y="255026"/>
                </a:cubicBezTo>
                <a:cubicBezTo>
                  <a:pt x="142760" y="264281"/>
                  <a:pt x="124108" y="277168"/>
                  <a:pt x="110266" y="296029"/>
                </a:cubicBezTo>
                <a:cubicBezTo>
                  <a:pt x="86453" y="328598"/>
                  <a:pt x="81057" y="372413"/>
                  <a:pt x="79884" y="436730"/>
                </a:cubicBezTo>
                <a:cubicBezTo>
                  <a:pt x="13607" y="423609"/>
                  <a:pt x="0" y="396312"/>
                  <a:pt x="0" y="396312"/>
                </a:cubicBezTo>
                <a:cubicBezTo>
                  <a:pt x="0" y="392681"/>
                  <a:pt x="0" y="390220"/>
                  <a:pt x="0" y="388580"/>
                </a:cubicBezTo>
                <a:cubicBezTo>
                  <a:pt x="0" y="389166"/>
                  <a:pt x="117" y="388112"/>
                  <a:pt x="235" y="381785"/>
                </a:cubicBezTo>
                <a:cubicBezTo>
                  <a:pt x="1760" y="283260"/>
                  <a:pt x="14663" y="255260"/>
                  <a:pt x="113199" y="237453"/>
                </a:cubicBezTo>
                <a:close/>
                <a:moveTo>
                  <a:pt x="447940" y="24839"/>
                </a:moveTo>
                <a:cubicBezTo>
                  <a:pt x="519842" y="24839"/>
                  <a:pt x="532275" y="70645"/>
                  <a:pt x="532275" y="127229"/>
                </a:cubicBezTo>
                <a:cubicBezTo>
                  <a:pt x="532275" y="183814"/>
                  <a:pt x="494506" y="229620"/>
                  <a:pt x="447940" y="229620"/>
                </a:cubicBezTo>
                <a:cubicBezTo>
                  <a:pt x="433982" y="229620"/>
                  <a:pt x="420962" y="225520"/>
                  <a:pt x="409350" y="218373"/>
                </a:cubicBezTo>
                <a:cubicBezTo>
                  <a:pt x="426123" y="191780"/>
                  <a:pt x="435272" y="159681"/>
                  <a:pt x="435272" y="126058"/>
                </a:cubicBezTo>
                <a:cubicBezTo>
                  <a:pt x="435272" y="96419"/>
                  <a:pt x="433044" y="59164"/>
                  <a:pt x="416388" y="28588"/>
                </a:cubicBezTo>
                <a:cubicBezTo>
                  <a:pt x="425302" y="26128"/>
                  <a:pt x="435741" y="24839"/>
                  <a:pt x="447940" y="24839"/>
                </a:cubicBezTo>
                <a:close/>
                <a:moveTo>
                  <a:pt x="159441" y="24839"/>
                </a:moveTo>
                <a:cubicBezTo>
                  <a:pt x="171529" y="24839"/>
                  <a:pt x="181975" y="26128"/>
                  <a:pt x="190894" y="28588"/>
                </a:cubicBezTo>
                <a:cubicBezTo>
                  <a:pt x="174346" y="59164"/>
                  <a:pt x="171999" y="96419"/>
                  <a:pt x="171999" y="126058"/>
                </a:cubicBezTo>
                <a:cubicBezTo>
                  <a:pt x="171999" y="159681"/>
                  <a:pt x="181153" y="191780"/>
                  <a:pt x="197936" y="218373"/>
                </a:cubicBezTo>
                <a:cubicBezTo>
                  <a:pt x="186434" y="225520"/>
                  <a:pt x="173290" y="229620"/>
                  <a:pt x="159441" y="229620"/>
                </a:cubicBezTo>
                <a:cubicBezTo>
                  <a:pt x="112848" y="229620"/>
                  <a:pt x="74940" y="183814"/>
                  <a:pt x="74940" y="127229"/>
                </a:cubicBezTo>
                <a:cubicBezTo>
                  <a:pt x="74940" y="70645"/>
                  <a:pt x="87380" y="24839"/>
                  <a:pt x="159441" y="24839"/>
                </a:cubicBezTo>
                <a:close/>
                <a:moveTo>
                  <a:pt x="303643" y="0"/>
                </a:moveTo>
                <a:cubicBezTo>
                  <a:pt x="392335" y="0"/>
                  <a:pt x="407586" y="56456"/>
                  <a:pt x="407586" y="126030"/>
                </a:cubicBezTo>
                <a:cubicBezTo>
                  <a:pt x="407586" y="195604"/>
                  <a:pt x="361011" y="252060"/>
                  <a:pt x="303643" y="252060"/>
                </a:cubicBezTo>
                <a:cubicBezTo>
                  <a:pt x="246275" y="252060"/>
                  <a:pt x="199700" y="195604"/>
                  <a:pt x="199700" y="126030"/>
                </a:cubicBezTo>
                <a:cubicBezTo>
                  <a:pt x="199700" y="56456"/>
                  <a:pt x="215069" y="0"/>
                  <a:pt x="303643" y="0"/>
                </a:cubicBezTo>
                <a:close/>
              </a:path>
            </a:pathLst>
          </a:custGeom>
          <a:solidFill>
            <a:srgbClr val="94DADA"/>
          </a:solidFill>
          <a:ln>
            <a:noFill/>
          </a:ln>
        </p:spPr>
      </p:sp>
      <p:sp>
        <p:nvSpPr>
          <p:cNvPr id="5" name="files_221427"/>
          <p:cNvSpPr>
            <a:spLocks noChangeAspect="1"/>
          </p:cNvSpPr>
          <p:nvPr/>
        </p:nvSpPr>
        <p:spPr bwMode="auto">
          <a:xfrm>
            <a:off x="4223792" y="1676902"/>
            <a:ext cx="753994" cy="1026549"/>
          </a:xfrm>
          <a:custGeom>
            <a:avLst/>
            <a:gdLst>
              <a:gd name="connsiteX0" fmla="*/ 70724 w 444390"/>
              <a:gd name="connsiteY0" fmla="*/ 484079 h 605028"/>
              <a:gd name="connsiteX1" fmla="*/ 373698 w 444390"/>
              <a:gd name="connsiteY1" fmla="*/ 484079 h 605028"/>
              <a:gd name="connsiteX2" fmla="*/ 383806 w 444390"/>
              <a:gd name="connsiteY2" fmla="*/ 494170 h 605028"/>
              <a:gd name="connsiteX3" fmla="*/ 373698 w 444390"/>
              <a:gd name="connsiteY3" fmla="*/ 504261 h 605028"/>
              <a:gd name="connsiteX4" fmla="*/ 70724 w 444390"/>
              <a:gd name="connsiteY4" fmla="*/ 504261 h 605028"/>
              <a:gd name="connsiteX5" fmla="*/ 60616 w 444390"/>
              <a:gd name="connsiteY5" fmla="*/ 494170 h 605028"/>
              <a:gd name="connsiteX6" fmla="*/ 70724 w 444390"/>
              <a:gd name="connsiteY6" fmla="*/ 484079 h 605028"/>
              <a:gd name="connsiteX7" fmla="*/ 70724 w 444390"/>
              <a:gd name="connsiteY7" fmla="*/ 423604 h 605028"/>
              <a:gd name="connsiteX8" fmla="*/ 373698 w 444390"/>
              <a:gd name="connsiteY8" fmla="*/ 423604 h 605028"/>
              <a:gd name="connsiteX9" fmla="*/ 383806 w 444390"/>
              <a:gd name="connsiteY9" fmla="*/ 433695 h 605028"/>
              <a:gd name="connsiteX10" fmla="*/ 373698 w 444390"/>
              <a:gd name="connsiteY10" fmla="*/ 443786 h 605028"/>
              <a:gd name="connsiteX11" fmla="*/ 70724 w 444390"/>
              <a:gd name="connsiteY11" fmla="*/ 443786 h 605028"/>
              <a:gd name="connsiteX12" fmla="*/ 60616 w 444390"/>
              <a:gd name="connsiteY12" fmla="*/ 433695 h 605028"/>
              <a:gd name="connsiteX13" fmla="*/ 70724 w 444390"/>
              <a:gd name="connsiteY13" fmla="*/ 423604 h 605028"/>
              <a:gd name="connsiteX14" fmla="*/ 70724 w 444390"/>
              <a:gd name="connsiteY14" fmla="*/ 363059 h 605028"/>
              <a:gd name="connsiteX15" fmla="*/ 373698 w 444390"/>
              <a:gd name="connsiteY15" fmla="*/ 363059 h 605028"/>
              <a:gd name="connsiteX16" fmla="*/ 383806 w 444390"/>
              <a:gd name="connsiteY16" fmla="*/ 373150 h 605028"/>
              <a:gd name="connsiteX17" fmla="*/ 373698 w 444390"/>
              <a:gd name="connsiteY17" fmla="*/ 383241 h 605028"/>
              <a:gd name="connsiteX18" fmla="*/ 70724 w 444390"/>
              <a:gd name="connsiteY18" fmla="*/ 383241 h 605028"/>
              <a:gd name="connsiteX19" fmla="*/ 60616 w 444390"/>
              <a:gd name="connsiteY19" fmla="*/ 373150 h 605028"/>
              <a:gd name="connsiteX20" fmla="*/ 70724 w 444390"/>
              <a:gd name="connsiteY20" fmla="*/ 363059 h 605028"/>
              <a:gd name="connsiteX21" fmla="*/ 70724 w 444390"/>
              <a:gd name="connsiteY21" fmla="*/ 302585 h 605028"/>
              <a:gd name="connsiteX22" fmla="*/ 373698 w 444390"/>
              <a:gd name="connsiteY22" fmla="*/ 302585 h 605028"/>
              <a:gd name="connsiteX23" fmla="*/ 383806 w 444390"/>
              <a:gd name="connsiteY23" fmla="*/ 312676 h 605028"/>
              <a:gd name="connsiteX24" fmla="*/ 373698 w 444390"/>
              <a:gd name="connsiteY24" fmla="*/ 322767 h 605028"/>
              <a:gd name="connsiteX25" fmla="*/ 70724 w 444390"/>
              <a:gd name="connsiteY25" fmla="*/ 322767 h 605028"/>
              <a:gd name="connsiteX26" fmla="*/ 60616 w 444390"/>
              <a:gd name="connsiteY26" fmla="*/ 312676 h 605028"/>
              <a:gd name="connsiteX27" fmla="*/ 70724 w 444390"/>
              <a:gd name="connsiteY27" fmla="*/ 302585 h 605028"/>
              <a:gd name="connsiteX28" fmla="*/ 70724 w 444390"/>
              <a:gd name="connsiteY28" fmla="*/ 242039 h 605028"/>
              <a:gd name="connsiteX29" fmla="*/ 373698 w 444390"/>
              <a:gd name="connsiteY29" fmla="*/ 242039 h 605028"/>
              <a:gd name="connsiteX30" fmla="*/ 383806 w 444390"/>
              <a:gd name="connsiteY30" fmla="*/ 252130 h 605028"/>
              <a:gd name="connsiteX31" fmla="*/ 373698 w 444390"/>
              <a:gd name="connsiteY31" fmla="*/ 262221 h 605028"/>
              <a:gd name="connsiteX32" fmla="*/ 70724 w 444390"/>
              <a:gd name="connsiteY32" fmla="*/ 262221 h 605028"/>
              <a:gd name="connsiteX33" fmla="*/ 60616 w 444390"/>
              <a:gd name="connsiteY33" fmla="*/ 252130 h 605028"/>
              <a:gd name="connsiteX34" fmla="*/ 70724 w 444390"/>
              <a:gd name="connsiteY34" fmla="*/ 242039 h 605028"/>
              <a:gd name="connsiteX35" fmla="*/ 70724 w 444390"/>
              <a:gd name="connsiteY35" fmla="*/ 181565 h 605028"/>
              <a:gd name="connsiteX36" fmla="*/ 373698 w 444390"/>
              <a:gd name="connsiteY36" fmla="*/ 181565 h 605028"/>
              <a:gd name="connsiteX37" fmla="*/ 383806 w 444390"/>
              <a:gd name="connsiteY37" fmla="*/ 191656 h 605028"/>
              <a:gd name="connsiteX38" fmla="*/ 373698 w 444390"/>
              <a:gd name="connsiteY38" fmla="*/ 201747 h 605028"/>
              <a:gd name="connsiteX39" fmla="*/ 70724 w 444390"/>
              <a:gd name="connsiteY39" fmla="*/ 201747 h 605028"/>
              <a:gd name="connsiteX40" fmla="*/ 60616 w 444390"/>
              <a:gd name="connsiteY40" fmla="*/ 191656 h 605028"/>
              <a:gd name="connsiteX41" fmla="*/ 70724 w 444390"/>
              <a:gd name="connsiteY41" fmla="*/ 181565 h 605028"/>
              <a:gd name="connsiteX42" fmla="*/ 70723 w 444390"/>
              <a:gd name="connsiteY42" fmla="*/ 121020 h 605028"/>
              <a:gd name="connsiteX43" fmla="*/ 252467 w 444390"/>
              <a:gd name="connsiteY43" fmla="*/ 121020 h 605028"/>
              <a:gd name="connsiteX44" fmla="*/ 262574 w 444390"/>
              <a:gd name="connsiteY44" fmla="*/ 131111 h 605028"/>
              <a:gd name="connsiteX45" fmla="*/ 252467 w 444390"/>
              <a:gd name="connsiteY45" fmla="*/ 141202 h 605028"/>
              <a:gd name="connsiteX46" fmla="*/ 70723 w 444390"/>
              <a:gd name="connsiteY46" fmla="*/ 141202 h 605028"/>
              <a:gd name="connsiteX47" fmla="*/ 60616 w 444390"/>
              <a:gd name="connsiteY47" fmla="*/ 131111 h 605028"/>
              <a:gd name="connsiteX48" fmla="*/ 70723 w 444390"/>
              <a:gd name="connsiteY48" fmla="*/ 121020 h 605028"/>
              <a:gd name="connsiteX49" fmla="*/ 323232 w 444390"/>
              <a:gd name="connsiteY49" fmla="*/ 34328 h 605028"/>
              <a:gd name="connsiteX50" fmla="*/ 323232 w 444390"/>
              <a:gd name="connsiteY50" fmla="*/ 110914 h 605028"/>
              <a:gd name="connsiteX51" fmla="*/ 333248 w 444390"/>
              <a:gd name="connsiteY51" fmla="*/ 121006 h 605028"/>
              <a:gd name="connsiteX52" fmla="*/ 410040 w 444390"/>
              <a:gd name="connsiteY52" fmla="*/ 121006 h 605028"/>
              <a:gd name="connsiteX53" fmla="*/ 30320 w 444390"/>
              <a:gd name="connsiteY53" fmla="*/ 20183 h 605028"/>
              <a:gd name="connsiteX54" fmla="*/ 20213 w 444390"/>
              <a:gd name="connsiteY54" fmla="*/ 30274 h 605028"/>
              <a:gd name="connsiteX55" fmla="*/ 20213 w 444390"/>
              <a:gd name="connsiteY55" fmla="*/ 574754 h 605028"/>
              <a:gd name="connsiteX56" fmla="*/ 30320 w 444390"/>
              <a:gd name="connsiteY56" fmla="*/ 584845 h 605028"/>
              <a:gd name="connsiteX57" fmla="*/ 414101 w 444390"/>
              <a:gd name="connsiteY57" fmla="*/ 584845 h 605028"/>
              <a:gd name="connsiteX58" fmla="*/ 424208 w 444390"/>
              <a:gd name="connsiteY58" fmla="*/ 574754 h 605028"/>
              <a:gd name="connsiteX59" fmla="*/ 424208 w 444390"/>
              <a:gd name="connsiteY59" fmla="*/ 141188 h 605028"/>
              <a:gd name="connsiteX60" fmla="*/ 333248 w 444390"/>
              <a:gd name="connsiteY60" fmla="*/ 141188 h 605028"/>
              <a:gd name="connsiteX61" fmla="*/ 303018 w 444390"/>
              <a:gd name="connsiteY61" fmla="*/ 110914 h 605028"/>
              <a:gd name="connsiteX62" fmla="*/ 303018 w 444390"/>
              <a:gd name="connsiteY62" fmla="*/ 20183 h 605028"/>
              <a:gd name="connsiteX63" fmla="*/ 30320 w 444390"/>
              <a:gd name="connsiteY63" fmla="*/ 0 h 605028"/>
              <a:gd name="connsiteX64" fmla="*/ 312493 w 444390"/>
              <a:gd name="connsiteY64" fmla="*/ 0 h 605028"/>
              <a:gd name="connsiteX65" fmla="*/ 315201 w 444390"/>
              <a:gd name="connsiteY65" fmla="*/ 180 h 605028"/>
              <a:gd name="connsiteX66" fmla="*/ 321878 w 444390"/>
              <a:gd name="connsiteY66" fmla="*/ 4775 h 605028"/>
              <a:gd name="connsiteX67" fmla="*/ 439638 w 444390"/>
              <a:gd name="connsiteY67" fmla="*/ 122357 h 605028"/>
              <a:gd name="connsiteX68" fmla="*/ 444241 w 444390"/>
              <a:gd name="connsiteY68" fmla="*/ 129025 h 605028"/>
              <a:gd name="connsiteX69" fmla="*/ 444331 w 444390"/>
              <a:gd name="connsiteY69" fmla="*/ 131638 h 605028"/>
              <a:gd name="connsiteX70" fmla="*/ 444331 w 444390"/>
              <a:gd name="connsiteY70" fmla="*/ 574754 h 605028"/>
              <a:gd name="connsiteX71" fmla="*/ 414101 w 444390"/>
              <a:gd name="connsiteY71" fmla="*/ 605028 h 605028"/>
              <a:gd name="connsiteX72" fmla="*/ 30320 w 444390"/>
              <a:gd name="connsiteY72" fmla="*/ 605028 h 605028"/>
              <a:gd name="connsiteX73" fmla="*/ 0 w 444390"/>
              <a:gd name="connsiteY73" fmla="*/ 574754 h 605028"/>
              <a:gd name="connsiteX74" fmla="*/ 0 w 444390"/>
              <a:gd name="connsiteY74" fmla="*/ 30274 h 605028"/>
              <a:gd name="connsiteX75" fmla="*/ 30320 w 444390"/>
              <a:gd name="connsiteY7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44390" h="605028">
                <a:moveTo>
                  <a:pt x="70724" y="484079"/>
                </a:moveTo>
                <a:lnTo>
                  <a:pt x="373698" y="484079"/>
                </a:lnTo>
                <a:cubicBezTo>
                  <a:pt x="379745" y="484079"/>
                  <a:pt x="383806" y="488133"/>
                  <a:pt x="383806" y="494170"/>
                </a:cubicBezTo>
                <a:cubicBezTo>
                  <a:pt x="383806" y="500207"/>
                  <a:pt x="379745" y="504261"/>
                  <a:pt x="373698" y="504261"/>
                </a:cubicBezTo>
                <a:lnTo>
                  <a:pt x="70724" y="504261"/>
                </a:lnTo>
                <a:cubicBezTo>
                  <a:pt x="64677" y="504261"/>
                  <a:pt x="60616" y="500207"/>
                  <a:pt x="60616" y="494170"/>
                </a:cubicBezTo>
                <a:cubicBezTo>
                  <a:pt x="60616" y="488133"/>
                  <a:pt x="64677" y="484079"/>
                  <a:pt x="70724" y="484079"/>
                </a:cubicBezTo>
                <a:close/>
                <a:moveTo>
                  <a:pt x="70724" y="423604"/>
                </a:moveTo>
                <a:lnTo>
                  <a:pt x="373698" y="423604"/>
                </a:lnTo>
                <a:cubicBezTo>
                  <a:pt x="379745" y="423604"/>
                  <a:pt x="383806" y="427658"/>
                  <a:pt x="383806" y="433695"/>
                </a:cubicBezTo>
                <a:cubicBezTo>
                  <a:pt x="383806" y="439732"/>
                  <a:pt x="379745" y="443786"/>
                  <a:pt x="373698" y="443786"/>
                </a:cubicBezTo>
                <a:lnTo>
                  <a:pt x="70724" y="443786"/>
                </a:lnTo>
                <a:cubicBezTo>
                  <a:pt x="64677" y="443786"/>
                  <a:pt x="60616" y="439732"/>
                  <a:pt x="60616" y="433695"/>
                </a:cubicBezTo>
                <a:cubicBezTo>
                  <a:pt x="60616" y="427658"/>
                  <a:pt x="64677" y="423604"/>
                  <a:pt x="70724" y="423604"/>
                </a:cubicBezTo>
                <a:close/>
                <a:moveTo>
                  <a:pt x="70724" y="363059"/>
                </a:moveTo>
                <a:lnTo>
                  <a:pt x="373698" y="363059"/>
                </a:lnTo>
                <a:cubicBezTo>
                  <a:pt x="379745" y="363059"/>
                  <a:pt x="383806" y="367113"/>
                  <a:pt x="383806" y="373150"/>
                </a:cubicBezTo>
                <a:cubicBezTo>
                  <a:pt x="383806" y="379187"/>
                  <a:pt x="379745" y="383241"/>
                  <a:pt x="373698" y="383241"/>
                </a:cubicBezTo>
                <a:lnTo>
                  <a:pt x="70724" y="383241"/>
                </a:lnTo>
                <a:cubicBezTo>
                  <a:pt x="64677" y="383241"/>
                  <a:pt x="60616" y="379187"/>
                  <a:pt x="60616" y="373150"/>
                </a:cubicBezTo>
                <a:cubicBezTo>
                  <a:pt x="60616" y="367113"/>
                  <a:pt x="64677" y="363059"/>
                  <a:pt x="70724" y="363059"/>
                </a:cubicBezTo>
                <a:close/>
                <a:moveTo>
                  <a:pt x="70724" y="302585"/>
                </a:moveTo>
                <a:lnTo>
                  <a:pt x="373698" y="302585"/>
                </a:lnTo>
                <a:cubicBezTo>
                  <a:pt x="379745" y="302585"/>
                  <a:pt x="383806" y="306639"/>
                  <a:pt x="383806" y="312676"/>
                </a:cubicBezTo>
                <a:cubicBezTo>
                  <a:pt x="383806" y="318713"/>
                  <a:pt x="379745" y="322767"/>
                  <a:pt x="373698" y="322767"/>
                </a:cubicBezTo>
                <a:lnTo>
                  <a:pt x="70724" y="322767"/>
                </a:lnTo>
                <a:cubicBezTo>
                  <a:pt x="64677" y="322767"/>
                  <a:pt x="60616" y="318713"/>
                  <a:pt x="60616" y="312676"/>
                </a:cubicBezTo>
                <a:cubicBezTo>
                  <a:pt x="60616" y="306639"/>
                  <a:pt x="64677" y="302585"/>
                  <a:pt x="70724" y="302585"/>
                </a:cubicBezTo>
                <a:close/>
                <a:moveTo>
                  <a:pt x="70724" y="242039"/>
                </a:moveTo>
                <a:lnTo>
                  <a:pt x="373698" y="242039"/>
                </a:lnTo>
                <a:cubicBezTo>
                  <a:pt x="379745" y="242039"/>
                  <a:pt x="383806" y="246093"/>
                  <a:pt x="383806" y="252130"/>
                </a:cubicBezTo>
                <a:cubicBezTo>
                  <a:pt x="383806" y="258167"/>
                  <a:pt x="379745" y="262221"/>
                  <a:pt x="373698" y="262221"/>
                </a:cubicBezTo>
                <a:lnTo>
                  <a:pt x="70724" y="262221"/>
                </a:lnTo>
                <a:cubicBezTo>
                  <a:pt x="64677" y="262221"/>
                  <a:pt x="60616" y="258167"/>
                  <a:pt x="60616" y="252130"/>
                </a:cubicBezTo>
                <a:cubicBezTo>
                  <a:pt x="60616" y="246093"/>
                  <a:pt x="64677" y="242039"/>
                  <a:pt x="70724" y="242039"/>
                </a:cubicBezTo>
                <a:close/>
                <a:moveTo>
                  <a:pt x="70724" y="181565"/>
                </a:moveTo>
                <a:lnTo>
                  <a:pt x="373698" y="181565"/>
                </a:lnTo>
                <a:cubicBezTo>
                  <a:pt x="379745" y="181565"/>
                  <a:pt x="383806" y="185619"/>
                  <a:pt x="383806" y="191656"/>
                </a:cubicBezTo>
                <a:cubicBezTo>
                  <a:pt x="383806" y="197693"/>
                  <a:pt x="379745" y="201747"/>
                  <a:pt x="373698" y="201747"/>
                </a:cubicBezTo>
                <a:lnTo>
                  <a:pt x="70724" y="201747"/>
                </a:lnTo>
                <a:cubicBezTo>
                  <a:pt x="64677" y="201747"/>
                  <a:pt x="60616" y="197693"/>
                  <a:pt x="60616" y="191656"/>
                </a:cubicBezTo>
                <a:cubicBezTo>
                  <a:pt x="60616" y="185619"/>
                  <a:pt x="64677" y="181565"/>
                  <a:pt x="70724" y="181565"/>
                </a:cubicBezTo>
                <a:close/>
                <a:moveTo>
                  <a:pt x="70723" y="121020"/>
                </a:moveTo>
                <a:lnTo>
                  <a:pt x="252467" y="121020"/>
                </a:lnTo>
                <a:cubicBezTo>
                  <a:pt x="258513" y="121020"/>
                  <a:pt x="262574" y="125074"/>
                  <a:pt x="262574" y="131111"/>
                </a:cubicBezTo>
                <a:cubicBezTo>
                  <a:pt x="262574" y="137148"/>
                  <a:pt x="258513" y="141202"/>
                  <a:pt x="252467" y="141202"/>
                </a:cubicBezTo>
                <a:lnTo>
                  <a:pt x="70723" y="141202"/>
                </a:lnTo>
                <a:cubicBezTo>
                  <a:pt x="64677" y="141202"/>
                  <a:pt x="60616" y="137148"/>
                  <a:pt x="60616" y="131111"/>
                </a:cubicBezTo>
                <a:cubicBezTo>
                  <a:pt x="60616" y="125074"/>
                  <a:pt x="64677" y="121020"/>
                  <a:pt x="70723" y="121020"/>
                </a:cubicBezTo>
                <a:close/>
                <a:moveTo>
                  <a:pt x="323232" y="34328"/>
                </a:moveTo>
                <a:lnTo>
                  <a:pt x="323232" y="110914"/>
                </a:lnTo>
                <a:cubicBezTo>
                  <a:pt x="323232" y="117041"/>
                  <a:pt x="327202" y="121006"/>
                  <a:pt x="333248" y="121006"/>
                </a:cubicBezTo>
                <a:lnTo>
                  <a:pt x="410040" y="121006"/>
                </a:lnTo>
                <a:close/>
                <a:moveTo>
                  <a:pt x="30320" y="20183"/>
                </a:moveTo>
                <a:cubicBezTo>
                  <a:pt x="24274" y="20183"/>
                  <a:pt x="20213" y="25228"/>
                  <a:pt x="20213" y="30274"/>
                </a:cubicBezTo>
                <a:lnTo>
                  <a:pt x="20213" y="574754"/>
                </a:lnTo>
                <a:cubicBezTo>
                  <a:pt x="20213" y="580881"/>
                  <a:pt x="24274" y="584845"/>
                  <a:pt x="30320" y="584845"/>
                </a:cubicBezTo>
                <a:lnTo>
                  <a:pt x="414101" y="584845"/>
                </a:lnTo>
                <a:cubicBezTo>
                  <a:pt x="420147" y="584845"/>
                  <a:pt x="424208" y="580881"/>
                  <a:pt x="424208" y="574754"/>
                </a:cubicBezTo>
                <a:lnTo>
                  <a:pt x="424208" y="141188"/>
                </a:lnTo>
                <a:lnTo>
                  <a:pt x="333248" y="141188"/>
                </a:lnTo>
                <a:cubicBezTo>
                  <a:pt x="316103" y="141188"/>
                  <a:pt x="303018" y="128124"/>
                  <a:pt x="303018" y="110914"/>
                </a:cubicBezTo>
                <a:lnTo>
                  <a:pt x="303018" y="20183"/>
                </a:lnTo>
                <a:close/>
                <a:moveTo>
                  <a:pt x="30320" y="0"/>
                </a:moveTo>
                <a:lnTo>
                  <a:pt x="312493" y="0"/>
                </a:lnTo>
                <a:cubicBezTo>
                  <a:pt x="313396" y="0"/>
                  <a:pt x="314298" y="0"/>
                  <a:pt x="315201" y="180"/>
                </a:cubicBezTo>
                <a:cubicBezTo>
                  <a:pt x="318178" y="721"/>
                  <a:pt x="320525" y="2343"/>
                  <a:pt x="321878" y="4775"/>
                </a:cubicBezTo>
                <a:lnTo>
                  <a:pt x="439638" y="122357"/>
                </a:lnTo>
                <a:cubicBezTo>
                  <a:pt x="442075" y="123709"/>
                  <a:pt x="443699" y="126051"/>
                  <a:pt x="444241" y="129025"/>
                </a:cubicBezTo>
                <a:cubicBezTo>
                  <a:pt x="444421" y="129926"/>
                  <a:pt x="444421" y="130737"/>
                  <a:pt x="444331" y="131638"/>
                </a:cubicBezTo>
                <a:lnTo>
                  <a:pt x="444331" y="574754"/>
                </a:lnTo>
                <a:cubicBezTo>
                  <a:pt x="444331" y="591963"/>
                  <a:pt x="431246" y="605028"/>
                  <a:pt x="414101" y="605028"/>
                </a:cubicBezTo>
                <a:lnTo>
                  <a:pt x="30320" y="605028"/>
                </a:lnTo>
                <a:cubicBezTo>
                  <a:pt x="13175" y="605028"/>
                  <a:pt x="0" y="591963"/>
                  <a:pt x="0" y="574754"/>
                </a:cubicBezTo>
                <a:lnTo>
                  <a:pt x="0" y="30274"/>
                </a:lnTo>
                <a:cubicBezTo>
                  <a:pt x="0" y="13155"/>
                  <a:pt x="13175" y="0"/>
                  <a:pt x="30320" y="0"/>
                </a:cubicBezTo>
                <a:close/>
              </a:path>
            </a:pathLst>
          </a:custGeom>
          <a:solidFill>
            <a:srgbClr val="C3EAEA"/>
          </a:solidFill>
          <a:ln>
            <a:noFill/>
          </a:ln>
        </p:spPr>
      </p:sp>
      <p:sp>
        <p:nvSpPr>
          <p:cNvPr id="6" name="open-folder-with-document_32743"/>
          <p:cNvSpPr>
            <a:spLocks noChangeAspect="1"/>
          </p:cNvSpPr>
          <p:nvPr/>
        </p:nvSpPr>
        <p:spPr bwMode="auto">
          <a:xfrm>
            <a:off x="6525525" y="1681877"/>
            <a:ext cx="1100053" cy="1021574"/>
          </a:xfrm>
          <a:custGeom>
            <a:avLst/>
            <a:gdLst>
              <a:gd name="T0" fmla="*/ 6459 w 7984"/>
              <a:gd name="T1" fmla="*/ 7154 h 7426"/>
              <a:gd name="T2" fmla="*/ 446 w 7984"/>
              <a:gd name="T3" fmla="*/ 7426 h 7426"/>
              <a:gd name="T4" fmla="*/ 0 w 7984"/>
              <a:gd name="T5" fmla="*/ 6980 h 7426"/>
              <a:gd name="T6" fmla="*/ 446 w 7984"/>
              <a:gd name="T7" fmla="*/ 2184 h 7426"/>
              <a:gd name="T8" fmla="*/ 856 w 7984"/>
              <a:gd name="T9" fmla="*/ 2564 h 7426"/>
              <a:gd name="T10" fmla="*/ 439 w 7984"/>
              <a:gd name="T11" fmla="*/ 2623 h 7426"/>
              <a:gd name="T12" fmla="*/ 380 w 7984"/>
              <a:gd name="T13" fmla="*/ 6844 h 7426"/>
              <a:gd name="T14" fmla="*/ 863 w 7984"/>
              <a:gd name="T15" fmla="*/ 7046 h 7426"/>
              <a:gd name="T16" fmla="*/ 2552 w 7984"/>
              <a:gd name="T17" fmla="*/ 4098 h 7426"/>
              <a:gd name="T18" fmla="*/ 5795 w 7984"/>
              <a:gd name="T19" fmla="*/ 3020 h 7426"/>
              <a:gd name="T20" fmla="*/ 6174 w 7984"/>
              <a:gd name="T21" fmla="*/ 4098 h 7426"/>
              <a:gd name="T22" fmla="*/ 7856 w 7984"/>
              <a:gd name="T23" fmla="*/ 4511 h 7426"/>
              <a:gd name="T24" fmla="*/ 1114 w 7984"/>
              <a:gd name="T25" fmla="*/ 366 h 7426"/>
              <a:gd name="T26" fmla="*/ 4408 w 7984"/>
              <a:gd name="T27" fmla="*/ 0 h 7426"/>
              <a:gd name="T28" fmla="*/ 5478 w 7984"/>
              <a:gd name="T29" fmla="*/ 1083 h 7426"/>
              <a:gd name="T30" fmla="*/ 5522 w 7984"/>
              <a:gd name="T31" fmla="*/ 3861 h 7426"/>
              <a:gd name="T32" fmla="*/ 5215 w 7984"/>
              <a:gd name="T33" fmla="*/ 1427 h 7426"/>
              <a:gd name="T34" fmla="*/ 4414 w 7984"/>
              <a:gd name="T35" fmla="*/ 1350 h 7426"/>
              <a:gd name="T36" fmla="*/ 4260 w 7984"/>
              <a:gd name="T37" fmla="*/ 384 h 7426"/>
              <a:gd name="T38" fmla="*/ 1480 w 7984"/>
              <a:gd name="T39" fmla="*/ 308 h 7426"/>
              <a:gd name="T40" fmla="*/ 1421 w 7984"/>
              <a:gd name="T41" fmla="*/ 5363 h 7426"/>
              <a:gd name="T42" fmla="*/ 1114 w 7984"/>
              <a:gd name="T43" fmla="*/ 5698 h 7426"/>
              <a:gd name="T44" fmla="*/ 5024 w 7984"/>
              <a:gd name="T45" fmla="*/ 1043 h 7426"/>
              <a:gd name="T46" fmla="*/ 4568 w 7984"/>
              <a:gd name="T47" fmla="*/ 1043 h 7426"/>
              <a:gd name="T48" fmla="*/ 1904 w 7984"/>
              <a:gd name="T49" fmla="*/ 1663 h 7426"/>
              <a:gd name="T50" fmla="*/ 1904 w 7984"/>
              <a:gd name="T51" fmla="*/ 2041 h 7426"/>
              <a:gd name="T52" fmla="*/ 4923 w 7984"/>
              <a:gd name="T53" fmla="*/ 1852 h 7426"/>
              <a:gd name="T54" fmla="*/ 4923 w 7984"/>
              <a:gd name="T55" fmla="*/ 2953 h 7426"/>
              <a:gd name="T56" fmla="*/ 1904 w 7984"/>
              <a:gd name="T57" fmla="*/ 2764 h 7426"/>
              <a:gd name="T58" fmla="*/ 1904 w 7984"/>
              <a:gd name="T59" fmla="*/ 3142 h 7426"/>
              <a:gd name="T60" fmla="*/ 4923 w 7984"/>
              <a:gd name="T61" fmla="*/ 2953 h 7426"/>
              <a:gd name="T62" fmla="*/ 1904 w 7984"/>
              <a:gd name="T63" fmla="*/ 4249 h 7426"/>
              <a:gd name="T64" fmla="*/ 2387 w 7984"/>
              <a:gd name="T65" fmla="*/ 3872 h 7426"/>
              <a:gd name="T66" fmla="*/ 1715 w 7984"/>
              <a:gd name="T67" fmla="*/ 4061 h 7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84" h="7426">
                <a:moveTo>
                  <a:pt x="7856" y="4511"/>
                </a:moveTo>
                <a:lnTo>
                  <a:pt x="6459" y="7154"/>
                </a:lnTo>
                <a:cubicBezTo>
                  <a:pt x="6391" y="7286"/>
                  <a:pt x="6197" y="7425"/>
                  <a:pt x="6047" y="7425"/>
                </a:cubicBezTo>
                <a:lnTo>
                  <a:pt x="446" y="7426"/>
                </a:lnTo>
                <a:cubicBezTo>
                  <a:pt x="328" y="7426"/>
                  <a:pt x="214" y="7379"/>
                  <a:pt x="131" y="7295"/>
                </a:cubicBezTo>
                <a:cubicBezTo>
                  <a:pt x="47" y="7211"/>
                  <a:pt x="0" y="7098"/>
                  <a:pt x="0" y="6980"/>
                </a:cubicBezTo>
                <a:lnTo>
                  <a:pt x="1" y="2630"/>
                </a:lnTo>
                <a:cubicBezTo>
                  <a:pt x="1" y="2384"/>
                  <a:pt x="200" y="2185"/>
                  <a:pt x="446" y="2184"/>
                </a:cubicBezTo>
                <a:lnTo>
                  <a:pt x="856" y="2184"/>
                </a:lnTo>
                <a:lnTo>
                  <a:pt x="856" y="2564"/>
                </a:lnTo>
                <a:lnTo>
                  <a:pt x="582" y="2564"/>
                </a:lnTo>
                <a:cubicBezTo>
                  <a:pt x="528" y="2564"/>
                  <a:pt x="477" y="2585"/>
                  <a:pt x="439" y="2623"/>
                </a:cubicBezTo>
                <a:cubicBezTo>
                  <a:pt x="401" y="2661"/>
                  <a:pt x="380" y="2713"/>
                  <a:pt x="380" y="2766"/>
                </a:cubicBezTo>
                <a:lnTo>
                  <a:pt x="380" y="6844"/>
                </a:lnTo>
                <a:cubicBezTo>
                  <a:pt x="380" y="6955"/>
                  <a:pt x="471" y="7046"/>
                  <a:pt x="582" y="7046"/>
                </a:cubicBezTo>
                <a:lnTo>
                  <a:pt x="863" y="7046"/>
                </a:lnTo>
                <a:lnTo>
                  <a:pt x="2187" y="4368"/>
                </a:lnTo>
                <a:cubicBezTo>
                  <a:pt x="2261" y="4219"/>
                  <a:pt x="2403" y="4098"/>
                  <a:pt x="2552" y="4098"/>
                </a:cubicBezTo>
                <a:lnTo>
                  <a:pt x="5794" y="4098"/>
                </a:lnTo>
                <a:lnTo>
                  <a:pt x="5795" y="3020"/>
                </a:lnTo>
                <a:cubicBezTo>
                  <a:pt x="6007" y="3040"/>
                  <a:pt x="6174" y="3215"/>
                  <a:pt x="6174" y="3432"/>
                </a:cubicBezTo>
                <a:lnTo>
                  <a:pt x="6174" y="4098"/>
                </a:lnTo>
                <a:lnTo>
                  <a:pt x="7661" y="4098"/>
                </a:lnTo>
                <a:cubicBezTo>
                  <a:pt x="7836" y="4099"/>
                  <a:pt x="7984" y="4273"/>
                  <a:pt x="7856" y="4511"/>
                </a:cubicBezTo>
                <a:close/>
                <a:moveTo>
                  <a:pt x="1114" y="5698"/>
                </a:moveTo>
                <a:cubicBezTo>
                  <a:pt x="1102" y="4365"/>
                  <a:pt x="1114" y="366"/>
                  <a:pt x="1114" y="366"/>
                </a:cubicBezTo>
                <a:cubicBezTo>
                  <a:pt x="1114" y="164"/>
                  <a:pt x="1278" y="0"/>
                  <a:pt x="1480" y="0"/>
                </a:cubicBezTo>
                <a:lnTo>
                  <a:pt x="4408" y="0"/>
                </a:lnTo>
                <a:cubicBezTo>
                  <a:pt x="4455" y="0"/>
                  <a:pt x="4500" y="20"/>
                  <a:pt x="4531" y="55"/>
                </a:cubicBezTo>
                <a:lnTo>
                  <a:pt x="5478" y="1083"/>
                </a:lnTo>
                <a:cubicBezTo>
                  <a:pt x="5506" y="1114"/>
                  <a:pt x="5522" y="1155"/>
                  <a:pt x="5522" y="1197"/>
                </a:cubicBezTo>
                <a:lnTo>
                  <a:pt x="5522" y="3861"/>
                </a:lnTo>
                <a:lnTo>
                  <a:pt x="5215" y="3861"/>
                </a:lnTo>
                <a:lnTo>
                  <a:pt x="5215" y="1427"/>
                </a:lnTo>
                <a:cubicBezTo>
                  <a:pt x="5215" y="1385"/>
                  <a:pt x="5181" y="1350"/>
                  <a:pt x="5139" y="1350"/>
                </a:cubicBezTo>
                <a:lnTo>
                  <a:pt x="4414" y="1350"/>
                </a:lnTo>
                <a:cubicBezTo>
                  <a:pt x="4329" y="1350"/>
                  <a:pt x="4260" y="1282"/>
                  <a:pt x="4260" y="1197"/>
                </a:cubicBezTo>
                <a:lnTo>
                  <a:pt x="4260" y="384"/>
                </a:lnTo>
                <a:cubicBezTo>
                  <a:pt x="4260" y="342"/>
                  <a:pt x="4226" y="308"/>
                  <a:pt x="4184" y="308"/>
                </a:cubicBezTo>
                <a:lnTo>
                  <a:pt x="1480" y="308"/>
                </a:lnTo>
                <a:cubicBezTo>
                  <a:pt x="1448" y="308"/>
                  <a:pt x="1421" y="334"/>
                  <a:pt x="1421" y="366"/>
                </a:cubicBezTo>
                <a:lnTo>
                  <a:pt x="1421" y="5363"/>
                </a:lnTo>
                <a:lnTo>
                  <a:pt x="1186" y="5838"/>
                </a:lnTo>
                <a:cubicBezTo>
                  <a:pt x="1186" y="5838"/>
                  <a:pt x="1115" y="5833"/>
                  <a:pt x="1114" y="5698"/>
                </a:cubicBezTo>
                <a:close/>
                <a:moveTo>
                  <a:pt x="4568" y="1043"/>
                </a:moveTo>
                <a:lnTo>
                  <a:pt x="5024" y="1043"/>
                </a:lnTo>
                <a:lnTo>
                  <a:pt x="4568" y="548"/>
                </a:lnTo>
                <a:lnTo>
                  <a:pt x="4568" y="1043"/>
                </a:lnTo>
                <a:close/>
                <a:moveTo>
                  <a:pt x="4734" y="1663"/>
                </a:moveTo>
                <a:lnTo>
                  <a:pt x="1904" y="1663"/>
                </a:lnTo>
                <a:cubicBezTo>
                  <a:pt x="1800" y="1663"/>
                  <a:pt x="1715" y="1748"/>
                  <a:pt x="1715" y="1852"/>
                </a:cubicBezTo>
                <a:cubicBezTo>
                  <a:pt x="1715" y="1956"/>
                  <a:pt x="1800" y="2041"/>
                  <a:pt x="1904" y="2041"/>
                </a:cubicBezTo>
                <a:lnTo>
                  <a:pt x="4734" y="2041"/>
                </a:lnTo>
                <a:cubicBezTo>
                  <a:pt x="4839" y="2041"/>
                  <a:pt x="4923" y="1956"/>
                  <a:pt x="4923" y="1852"/>
                </a:cubicBezTo>
                <a:cubicBezTo>
                  <a:pt x="4923" y="1748"/>
                  <a:pt x="4838" y="1663"/>
                  <a:pt x="4734" y="1663"/>
                </a:cubicBezTo>
                <a:close/>
                <a:moveTo>
                  <a:pt x="4923" y="2953"/>
                </a:moveTo>
                <a:cubicBezTo>
                  <a:pt x="4923" y="2848"/>
                  <a:pt x="4838" y="2764"/>
                  <a:pt x="4734" y="2764"/>
                </a:cubicBezTo>
                <a:lnTo>
                  <a:pt x="1904" y="2764"/>
                </a:lnTo>
                <a:cubicBezTo>
                  <a:pt x="1800" y="2764"/>
                  <a:pt x="1715" y="2849"/>
                  <a:pt x="1715" y="2953"/>
                </a:cubicBezTo>
                <a:cubicBezTo>
                  <a:pt x="1715" y="3057"/>
                  <a:pt x="1800" y="3142"/>
                  <a:pt x="1904" y="3142"/>
                </a:cubicBezTo>
                <a:lnTo>
                  <a:pt x="4734" y="3142"/>
                </a:lnTo>
                <a:cubicBezTo>
                  <a:pt x="4838" y="3142"/>
                  <a:pt x="4923" y="3057"/>
                  <a:pt x="4923" y="2953"/>
                </a:cubicBezTo>
                <a:close/>
                <a:moveTo>
                  <a:pt x="1715" y="4061"/>
                </a:moveTo>
                <a:cubicBezTo>
                  <a:pt x="1715" y="4165"/>
                  <a:pt x="1800" y="4249"/>
                  <a:pt x="1904" y="4249"/>
                </a:cubicBezTo>
                <a:lnTo>
                  <a:pt x="1972" y="4249"/>
                </a:lnTo>
                <a:cubicBezTo>
                  <a:pt x="2091" y="3917"/>
                  <a:pt x="2387" y="3872"/>
                  <a:pt x="2387" y="3872"/>
                </a:cubicBezTo>
                <a:lnTo>
                  <a:pt x="1904" y="3872"/>
                </a:lnTo>
                <a:cubicBezTo>
                  <a:pt x="1800" y="3872"/>
                  <a:pt x="1715" y="3956"/>
                  <a:pt x="1715" y="4061"/>
                </a:cubicBezTo>
                <a:close/>
              </a:path>
            </a:pathLst>
          </a:custGeom>
          <a:solidFill>
            <a:srgbClr val="94DADA"/>
          </a:solidFill>
          <a:ln>
            <a:noFill/>
          </a:ln>
        </p:spPr>
      </p:sp>
      <p:graphicFrame>
        <p:nvGraphicFramePr>
          <p:cNvPr id="7" name="表格 6"/>
          <p:cNvGraphicFramePr>
            <a:graphicFrameLocks noGrp="1"/>
          </p:cNvGraphicFramePr>
          <p:nvPr>
            <p:extLst/>
          </p:nvPr>
        </p:nvGraphicFramePr>
        <p:xfrm>
          <a:off x="9091208" y="1376772"/>
          <a:ext cx="1041400" cy="1557716"/>
        </p:xfrm>
        <a:graphic>
          <a:graphicData uri="http://schemas.openxmlformats.org/drawingml/2006/table">
            <a:tbl>
              <a:tblPr firstRow="1" bandRow="1"/>
              <a:tblGrid>
                <a:gridCol w="208280"/>
                <a:gridCol w="208280"/>
                <a:gridCol w="208280"/>
                <a:gridCol w="208280"/>
                <a:gridCol w="208280"/>
              </a:tblGrid>
              <a:tr h="151126">
                <a:tc>
                  <a:txBody>
                    <a:bodyPr/>
                    <a:lstStyle/>
                    <a:p>
                      <a:endParaRPr lang="zh-CN" altLang="en-US" sz="100" dirty="0">
                        <a:solidFill>
                          <a:schemeClr val="tx1"/>
                        </a:solidFill>
                      </a:endParaRPr>
                    </a:p>
                  </a:txBody>
                  <a:tcPr>
                    <a:solidFill>
                      <a:srgbClr val="94DADA"/>
                    </a:solidFill>
                  </a:tcPr>
                </a:tc>
                <a:tc>
                  <a:txBody>
                    <a:bodyPr/>
                    <a:lstStyle/>
                    <a:p>
                      <a:endParaRPr lang="zh-CN" altLang="en-US" sz="100" dirty="0">
                        <a:solidFill>
                          <a:schemeClr val="tx1"/>
                        </a:solidFill>
                      </a:endParaRPr>
                    </a:p>
                  </a:txBody>
                  <a:tcPr>
                    <a:solidFill>
                      <a:srgbClr val="94DADA"/>
                    </a:solidFill>
                  </a:tcPr>
                </a:tc>
                <a:tc>
                  <a:txBody>
                    <a:bodyPr/>
                    <a:lstStyle/>
                    <a:p>
                      <a:endParaRPr lang="zh-CN" altLang="en-US" sz="100" dirty="0">
                        <a:solidFill>
                          <a:schemeClr val="tx1"/>
                        </a:solidFill>
                      </a:endParaRPr>
                    </a:p>
                  </a:txBody>
                  <a:tcPr>
                    <a:solidFill>
                      <a:srgbClr val="94DADA"/>
                    </a:solidFill>
                  </a:tcPr>
                </a:tc>
                <a:tc>
                  <a:txBody>
                    <a:bodyPr/>
                    <a:lstStyle/>
                    <a:p>
                      <a:endParaRPr lang="zh-CN" altLang="en-US" sz="100" dirty="0">
                        <a:solidFill>
                          <a:schemeClr val="tx1"/>
                        </a:solidFill>
                      </a:endParaRPr>
                    </a:p>
                  </a:txBody>
                  <a:tcPr>
                    <a:solidFill>
                      <a:srgbClr val="94DADA"/>
                    </a:solidFill>
                  </a:tcPr>
                </a:tc>
                <a:tc>
                  <a:txBody>
                    <a:bodyPr/>
                    <a:lstStyle/>
                    <a:p>
                      <a:endParaRPr lang="zh-CN" altLang="en-US" sz="100" dirty="0">
                        <a:solidFill>
                          <a:schemeClr val="tx1"/>
                        </a:solidFill>
                      </a:endParaRPr>
                    </a:p>
                  </a:txBody>
                  <a:tcPr>
                    <a:solidFill>
                      <a:srgbClr val="94DADA"/>
                    </a:solidFill>
                  </a:tcPr>
                </a:tc>
              </a:tr>
              <a:tr h="140659">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c>
                  <a:txBody>
                    <a:bodyPr/>
                    <a:lstStyle/>
                    <a:p>
                      <a:endParaRPr lang="zh-CN" altLang="en-US" sz="100" dirty="0"/>
                    </a:p>
                  </a:txBody>
                  <a:tcPr/>
                </a:tc>
                <a:tc>
                  <a:txBody>
                    <a:bodyPr/>
                    <a:lstStyle/>
                    <a:p>
                      <a:endParaRPr lang="zh-CN" altLang="en-US" sz="100" dirty="0"/>
                    </a:p>
                  </a:txBody>
                  <a:tcPr/>
                </a:tc>
              </a:tr>
              <a:tr h="140659">
                <a:tc>
                  <a:txBody>
                    <a:bodyPr/>
                    <a:lstStyle/>
                    <a:p>
                      <a:endParaRPr lang="zh-CN" altLang="en-US" sz="100"/>
                    </a:p>
                  </a:txBody>
                  <a:tcPr/>
                </a:tc>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c>
                  <a:txBody>
                    <a:bodyPr/>
                    <a:lstStyle/>
                    <a:p>
                      <a:endParaRPr lang="zh-CN" altLang="en-US" sz="100" dirty="0"/>
                    </a:p>
                  </a:txBody>
                  <a:tcPr/>
                </a:tc>
              </a:tr>
              <a:tr h="140659">
                <a:tc>
                  <a:txBody>
                    <a:bodyPr/>
                    <a:lstStyle/>
                    <a:p>
                      <a:endParaRPr lang="zh-CN" altLang="en-US" sz="100" dirty="0"/>
                    </a:p>
                  </a:txBody>
                  <a:tcPr>
                    <a:solidFill>
                      <a:srgbClr val="94DADA"/>
                    </a:solidFill>
                  </a:tcPr>
                </a:tc>
                <a:tc>
                  <a:txBody>
                    <a:bodyPr/>
                    <a:lstStyle/>
                    <a:p>
                      <a:endParaRPr lang="zh-CN" altLang="en-US" sz="10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0659">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0659">
                <a:tc>
                  <a:txBody>
                    <a:bodyPr/>
                    <a:lstStyle/>
                    <a:p>
                      <a:endParaRPr lang="zh-CN" altLang="en-US" sz="100"/>
                    </a:p>
                  </a:txBody>
                  <a:tcPr/>
                </a:tc>
                <a:tc>
                  <a:txBody>
                    <a:bodyPr/>
                    <a:lstStyle/>
                    <a:p>
                      <a:endParaRPr lang="zh-CN" altLang="en-US" sz="100"/>
                    </a:p>
                  </a:txBody>
                  <a:tcPr/>
                </a:tc>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0659">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0659">
                <a:tc>
                  <a:txBody>
                    <a:bodyPr/>
                    <a:lstStyle/>
                    <a:p>
                      <a:endParaRPr lang="zh-CN" altLang="en-US" sz="100" dirty="0"/>
                    </a:p>
                  </a:txBody>
                  <a:tcPr/>
                </a:tc>
                <a:tc>
                  <a:txBody>
                    <a:bodyPr/>
                    <a:lstStyle/>
                    <a:p>
                      <a:endParaRPr lang="zh-CN" altLang="en-US" sz="100" dirty="0"/>
                    </a:p>
                  </a:txBody>
                  <a:tcPr/>
                </a:tc>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0659">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0659">
                <a:tc>
                  <a:txBody>
                    <a:bodyPr/>
                    <a:lstStyle/>
                    <a:p>
                      <a:endParaRPr lang="zh-CN" altLang="en-US" sz="10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0659">
                <a:tc>
                  <a:txBody>
                    <a:bodyPr/>
                    <a:lstStyle/>
                    <a:p>
                      <a:endParaRPr lang="zh-CN" altLang="en-US" sz="100" dirty="0"/>
                    </a:p>
                  </a:txBody>
                  <a:tcPr/>
                </a:tc>
                <a:tc>
                  <a:txBody>
                    <a:bodyPr/>
                    <a:lstStyle/>
                    <a:p>
                      <a:endParaRPr lang="zh-CN" altLang="en-US" sz="100" dirty="0"/>
                    </a:p>
                  </a:txBody>
                  <a:tcPr/>
                </a:tc>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bl>
          </a:graphicData>
        </a:graphic>
      </p:graphicFrame>
      <p:graphicFrame>
        <p:nvGraphicFramePr>
          <p:cNvPr id="8" name="表格 7"/>
          <p:cNvGraphicFramePr>
            <a:graphicFrameLocks noGrp="1"/>
          </p:cNvGraphicFramePr>
          <p:nvPr>
            <p:extLst/>
          </p:nvPr>
        </p:nvGraphicFramePr>
        <p:xfrm>
          <a:off x="9101076" y="4293457"/>
          <a:ext cx="1041400" cy="1557716"/>
        </p:xfrm>
        <a:graphic>
          <a:graphicData uri="http://schemas.openxmlformats.org/drawingml/2006/table">
            <a:tbl>
              <a:tblPr firstRow="1" bandRow="1"/>
              <a:tblGrid>
                <a:gridCol w="208280"/>
                <a:gridCol w="208280"/>
                <a:gridCol w="208280"/>
                <a:gridCol w="208280"/>
                <a:gridCol w="208280"/>
              </a:tblGrid>
              <a:tr h="151126">
                <a:tc>
                  <a:txBody>
                    <a:bodyPr/>
                    <a:lstStyle/>
                    <a:p>
                      <a:endParaRPr lang="zh-CN" altLang="en-US" sz="1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0659">
                <a:tc>
                  <a:txBody>
                    <a:bodyPr/>
                    <a:lstStyle/>
                    <a:p>
                      <a:endParaRPr lang="zh-CN" altLang="en-US" sz="1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0659">
                <a:tc>
                  <a:txBody>
                    <a:bodyPr/>
                    <a:lstStyle/>
                    <a:p>
                      <a:endParaRPr lang="zh-CN" altLang="en-US" sz="1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0659">
                <a:tc>
                  <a:txBody>
                    <a:bodyPr/>
                    <a:lstStyle/>
                    <a:p>
                      <a:endParaRPr lang="zh-CN" altLang="en-US" sz="1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0659">
                <a:tc>
                  <a:txBody>
                    <a:bodyPr/>
                    <a:lstStyle/>
                    <a:p>
                      <a:endParaRPr lang="zh-CN" altLang="en-US" sz="1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0659">
                <a:tc>
                  <a:txBody>
                    <a:bodyPr/>
                    <a:lstStyle/>
                    <a:p>
                      <a:endParaRPr lang="zh-CN" altLang="en-US" sz="1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9" name="表格 8"/>
          <p:cNvGraphicFramePr>
            <a:graphicFrameLocks noGrp="1"/>
          </p:cNvGraphicFramePr>
          <p:nvPr>
            <p:extLst/>
          </p:nvPr>
        </p:nvGraphicFramePr>
        <p:xfrm>
          <a:off x="6251017" y="4286134"/>
          <a:ext cx="624840" cy="1627142"/>
        </p:xfrm>
        <a:graphic>
          <a:graphicData uri="http://schemas.openxmlformats.org/drawingml/2006/table">
            <a:tbl>
              <a:tblPr firstRow="1" bandRow="1"/>
              <a:tblGrid>
                <a:gridCol w="208280"/>
                <a:gridCol w="208280"/>
                <a:gridCol w="208280"/>
              </a:tblGrid>
              <a:tr h="147922">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7922">
                <a:tc>
                  <a:txBody>
                    <a:bodyPr/>
                    <a:lstStyle/>
                    <a:p>
                      <a:endParaRPr lang="zh-CN" altLang="en-US" sz="100" dirty="0"/>
                    </a:p>
                  </a:txBody>
                  <a:tcPr>
                    <a:solidFill>
                      <a:srgbClr val="94DADA"/>
                    </a:solidFill>
                  </a:tcPr>
                </a:tc>
                <a:tc>
                  <a:txBody>
                    <a:bodyPr/>
                    <a:lstStyle/>
                    <a:p>
                      <a:endParaRPr lang="zh-CN" altLang="en-US" sz="100"/>
                    </a:p>
                  </a:txBody>
                  <a:tcPr/>
                </a:tc>
                <a:tc>
                  <a:txBody>
                    <a:bodyPr/>
                    <a:lstStyle/>
                    <a:p>
                      <a:endParaRPr lang="zh-CN" altLang="en-US" sz="100" dirty="0"/>
                    </a:p>
                  </a:txBody>
                  <a:tcPr/>
                </a:tc>
              </a:tr>
              <a:tr h="147922">
                <a:tc>
                  <a:txBody>
                    <a:bodyPr/>
                    <a:lstStyle/>
                    <a:p>
                      <a:endParaRPr lang="zh-CN" altLang="en-US" sz="100" dirty="0"/>
                    </a:p>
                  </a:txBody>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7922">
                <a:tc>
                  <a:txBody>
                    <a:bodyPr/>
                    <a:lstStyle/>
                    <a:p>
                      <a:endParaRPr lang="zh-CN" altLang="en-US" sz="100"/>
                    </a:p>
                  </a:txBody>
                  <a:tcPr/>
                </a:tc>
                <a:tc>
                  <a:txBody>
                    <a:bodyPr/>
                    <a:lstStyle/>
                    <a:p>
                      <a:endParaRPr lang="zh-CN" altLang="en-US" sz="100"/>
                    </a:p>
                  </a:txBody>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a:p>
                  </a:txBody>
                  <a:tcPr/>
                </a:tc>
                <a:tc>
                  <a:txBody>
                    <a:bodyPr/>
                    <a:lstStyle/>
                    <a:p>
                      <a:pPr marL="0" algn="l" defTabSz="914400" rtl="0" eaLnBrk="1" latinLnBrk="0" hangingPunct="1"/>
                      <a:endParaRPr lang="zh-CN" altLang="en-US" sz="100" kern="1200" dirty="0">
                        <a:solidFill>
                          <a:schemeClr val="tx1"/>
                        </a:solidFill>
                        <a:latin typeface="+mn-lt"/>
                        <a:ea typeface="+mn-ea"/>
                        <a:cs typeface="+mn-cs"/>
                      </a:endParaRPr>
                    </a:p>
                  </a:txBody>
                  <a:tcPr/>
                </a:tc>
              </a:tr>
              <a:tr h="147922">
                <a:tc>
                  <a:txBody>
                    <a:bodyPr/>
                    <a:lstStyle/>
                    <a:p>
                      <a:endParaRPr lang="zh-CN" altLang="en-US" sz="10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dirty="0"/>
                    </a:p>
                  </a:txBody>
                  <a:tcPr>
                    <a:solidFill>
                      <a:srgbClr val="94DADA"/>
                    </a:solidFill>
                  </a:tcPr>
                </a:tc>
                <a:tc>
                  <a:txBody>
                    <a:bodyPr/>
                    <a:lstStyle/>
                    <a:p>
                      <a:endParaRPr lang="zh-CN" altLang="en-US" sz="100" dirty="0"/>
                    </a:p>
                  </a:txBody>
                  <a:tcPr/>
                </a:tc>
                <a:tc>
                  <a:txBody>
                    <a:bodyPr/>
                    <a:lstStyle/>
                    <a:p>
                      <a:endParaRPr lang="zh-CN" altLang="en-US" sz="100" dirty="0"/>
                    </a:p>
                  </a:txBody>
                  <a:tcPr/>
                </a:tc>
              </a:tr>
            </a:tbl>
          </a:graphicData>
        </a:graphic>
      </p:graphicFrame>
      <p:graphicFrame>
        <p:nvGraphicFramePr>
          <p:cNvPr id="10" name="表格 9"/>
          <p:cNvGraphicFramePr>
            <a:graphicFrameLocks noGrp="1"/>
          </p:cNvGraphicFramePr>
          <p:nvPr>
            <p:extLst/>
          </p:nvPr>
        </p:nvGraphicFramePr>
        <p:xfrm>
          <a:off x="6987178" y="4286132"/>
          <a:ext cx="624840" cy="1627142"/>
        </p:xfrm>
        <a:graphic>
          <a:graphicData uri="http://schemas.openxmlformats.org/drawingml/2006/table">
            <a:tbl>
              <a:tblPr firstRow="1" bandRow="1"/>
              <a:tblGrid>
                <a:gridCol w="208280"/>
                <a:gridCol w="208280"/>
                <a:gridCol w="208280"/>
              </a:tblGrid>
              <a:tr h="147922">
                <a:tc>
                  <a:txBody>
                    <a:bodyPr/>
                    <a:lstStyle/>
                    <a:p>
                      <a:endParaRPr lang="zh-CN" altLang="en-US" sz="100" dirty="0"/>
                    </a:p>
                  </a:txBody>
                  <a:tcPr>
                    <a:noFill/>
                  </a:tcPr>
                </a:tc>
                <a:tc>
                  <a:txBody>
                    <a:bodyPr/>
                    <a:lstStyle/>
                    <a:p>
                      <a:endParaRPr lang="zh-CN" altLang="en-US" sz="100" dirty="0"/>
                    </a:p>
                  </a:txBody>
                  <a:tcPr>
                    <a:noFill/>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solidFill>
                      <a:srgbClr val="94DADA"/>
                    </a:solidFill>
                  </a:tcPr>
                </a:tc>
                <a:tc>
                  <a:txBody>
                    <a:bodyPr/>
                    <a:lstStyle/>
                    <a:p>
                      <a:endParaRPr lang="zh-CN" altLang="en-US" sz="100" dirty="0"/>
                    </a:p>
                  </a:txBody>
                  <a:tcPr>
                    <a:solidFill>
                      <a:srgbClr val="94DADA"/>
                    </a:solidFill>
                  </a:tcPr>
                </a:tc>
              </a:tr>
              <a:tr h="147922">
                <a:tc>
                  <a:txBody>
                    <a:bodyPr/>
                    <a:lstStyle/>
                    <a:p>
                      <a:endParaRPr lang="zh-CN" altLang="en-US" sz="100" dirty="0"/>
                    </a:p>
                  </a:txBody>
                  <a:tcPr>
                    <a:noFill/>
                  </a:tcPr>
                </a:tc>
                <a:tc>
                  <a:txBody>
                    <a:bodyPr/>
                    <a:lstStyle/>
                    <a:p>
                      <a:endParaRPr lang="zh-CN" altLang="en-US" sz="100"/>
                    </a:p>
                  </a:txBody>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solidFill>
                      <a:srgbClr val="94DADA"/>
                    </a:solidFill>
                  </a:tcPr>
                </a:tc>
                <a:tc>
                  <a:txBody>
                    <a:bodyPr/>
                    <a:lstStyle/>
                    <a:p>
                      <a:endParaRPr lang="zh-CN" altLang="en-US" sz="100" dirty="0"/>
                    </a:p>
                  </a:txBody>
                  <a:tcPr>
                    <a:noFill/>
                  </a:tcPr>
                </a:tc>
              </a:tr>
              <a:tr h="147922">
                <a:tc>
                  <a:txBody>
                    <a:bodyPr/>
                    <a:lstStyle/>
                    <a:p>
                      <a:endParaRPr lang="zh-CN" altLang="en-US" sz="100"/>
                    </a:p>
                  </a:txBody>
                  <a:tcPr>
                    <a:solidFill>
                      <a:srgbClr val="94DADA"/>
                    </a:solidFill>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a:p>
                  </a:txBody>
                  <a:tcPr>
                    <a:solidFill>
                      <a:srgbClr val="94DADA"/>
                    </a:solidFill>
                  </a:tcPr>
                </a:tc>
                <a:tc>
                  <a:txBody>
                    <a:bodyPr/>
                    <a:lstStyle/>
                    <a:p>
                      <a:endParaRPr lang="zh-CN" altLang="en-US" sz="100" dirty="0"/>
                    </a:p>
                  </a:txBody>
                  <a:tcPr>
                    <a:solidFill>
                      <a:srgbClr val="94DADA"/>
                    </a:solidFill>
                  </a:tcPr>
                </a:tc>
                <a:tc>
                  <a:txBody>
                    <a:bodyPr/>
                    <a:lstStyle/>
                    <a:p>
                      <a:pPr marL="0" algn="l" defTabSz="914400" rtl="0" eaLnBrk="1" latinLnBrk="0" hangingPunct="1"/>
                      <a:endParaRPr lang="zh-CN" altLang="en-US" sz="100" kern="1200" dirty="0">
                        <a:solidFill>
                          <a:schemeClr val="tx1"/>
                        </a:solidFill>
                        <a:latin typeface="+mn-lt"/>
                        <a:ea typeface="+mn-ea"/>
                        <a:cs typeface="+mn-cs"/>
                      </a:endParaRPr>
                    </a:p>
                  </a:txBody>
                  <a:tcPr/>
                </a:tc>
              </a:tr>
              <a:tr h="147922">
                <a:tc>
                  <a:txBody>
                    <a:bodyPr/>
                    <a:lstStyle/>
                    <a:p>
                      <a:endParaRPr lang="zh-CN" altLang="en-US" sz="100"/>
                    </a:p>
                  </a:txBody>
                  <a:tcPr>
                    <a:noFill/>
                  </a:tcPr>
                </a:tc>
                <a:tc>
                  <a:txBody>
                    <a:bodyPr/>
                    <a:lstStyle/>
                    <a:p>
                      <a:endParaRPr lang="zh-CN" altLang="en-US" sz="100" dirty="0"/>
                    </a:p>
                  </a:txBody>
                  <a:tcPr>
                    <a:noFill/>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a:p>
                  </a:txBody>
                  <a:tcPr/>
                </a:tc>
                <a:tc>
                  <a:txBody>
                    <a:bodyPr/>
                    <a:lstStyle/>
                    <a:p>
                      <a:endParaRPr lang="zh-CN" altLang="en-US" sz="100" dirty="0"/>
                    </a:p>
                  </a:txBody>
                  <a:tcPr>
                    <a:solidFill>
                      <a:srgbClr val="94DADA"/>
                    </a:solidFill>
                  </a:tcPr>
                </a:tc>
                <a:tc>
                  <a:txBody>
                    <a:bodyPr/>
                    <a:lstStyle/>
                    <a:p>
                      <a:endParaRPr lang="zh-CN" altLang="en-US" sz="100" dirty="0"/>
                    </a:p>
                  </a:txBody>
                  <a:tcPr/>
                </a:tc>
              </a:tr>
              <a:tr h="147922">
                <a:tc>
                  <a:txBody>
                    <a:bodyPr/>
                    <a:lstStyle/>
                    <a:p>
                      <a:endParaRPr lang="zh-CN" altLang="en-US" sz="100" dirty="0"/>
                    </a:p>
                  </a:txBody>
                  <a:tcPr>
                    <a:noFill/>
                  </a:tcPr>
                </a:tc>
                <a:tc>
                  <a:txBody>
                    <a:bodyPr/>
                    <a:lstStyle/>
                    <a:p>
                      <a:endParaRPr lang="zh-CN" altLang="en-US" sz="100" dirty="0"/>
                    </a:p>
                  </a:txBody>
                  <a:tcPr/>
                </a:tc>
                <a:tc>
                  <a:txBody>
                    <a:bodyPr/>
                    <a:lstStyle/>
                    <a:p>
                      <a:endParaRPr lang="zh-CN" altLang="en-US" sz="100" dirty="0"/>
                    </a:p>
                  </a:txBody>
                  <a:tcPr>
                    <a:solidFill>
                      <a:srgbClr val="94DADA"/>
                    </a:solidFill>
                  </a:tcPr>
                </a:tc>
              </a:tr>
            </a:tbl>
          </a:graphicData>
        </a:graphic>
      </p:graphicFrame>
      <p:graphicFrame>
        <p:nvGraphicFramePr>
          <p:cNvPr id="11" name="表格 10"/>
          <p:cNvGraphicFramePr>
            <a:graphicFrameLocks noGrp="1"/>
          </p:cNvGraphicFramePr>
          <p:nvPr>
            <p:extLst/>
          </p:nvPr>
        </p:nvGraphicFramePr>
        <p:xfrm>
          <a:off x="3385026" y="4293096"/>
          <a:ext cx="624840" cy="1627142"/>
        </p:xfrm>
        <a:graphic>
          <a:graphicData uri="http://schemas.openxmlformats.org/drawingml/2006/table">
            <a:tbl>
              <a:tblPr firstRow="1" bandRow="1"/>
              <a:tblGrid>
                <a:gridCol w="208280"/>
                <a:gridCol w="208280"/>
                <a:gridCol w="208280"/>
              </a:tblGrid>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endParaRPr lang="zh-CN" altLang="en-US" sz="100" kern="1200" dirty="0">
                        <a:solidFill>
                          <a:schemeClr val="tx1"/>
                        </a:solidFill>
                        <a:latin typeface="+mn-lt"/>
                        <a:ea typeface="+mn-ea"/>
                        <a:cs typeface="+mn-cs"/>
                      </a:endParaRPr>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bl>
          </a:graphicData>
        </a:graphic>
      </p:graphicFrame>
      <p:graphicFrame>
        <p:nvGraphicFramePr>
          <p:cNvPr id="12" name="表格 11"/>
          <p:cNvGraphicFramePr>
            <a:graphicFrameLocks noGrp="1"/>
          </p:cNvGraphicFramePr>
          <p:nvPr>
            <p:extLst/>
          </p:nvPr>
        </p:nvGraphicFramePr>
        <p:xfrm>
          <a:off x="4128431" y="4293095"/>
          <a:ext cx="624840" cy="1627142"/>
        </p:xfrm>
        <a:graphic>
          <a:graphicData uri="http://schemas.openxmlformats.org/drawingml/2006/table">
            <a:tbl>
              <a:tblPr firstRow="1" bandRow="1"/>
              <a:tblGrid>
                <a:gridCol w="208280"/>
                <a:gridCol w="208280"/>
                <a:gridCol w="208280"/>
              </a:tblGrid>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0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pPr marL="0" algn="l" defTabSz="914400" rtl="0" eaLnBrk="1" latinLnBrk="0" hangingPunct="1"/>
                      <a:endParaRPr lang="zh-CN" altLang="en-US" sz="100" kern="1200" dirty="0">
                        <a:solidFill>
                          <a:schemeClr val="tx1"/>
                        </a:solidFill>
                        <a:latin typeface="+mn-lt"/>
                        <a:ea typeface="+mn-ea"/>
                        <a:cs typeface="+mn-cs"/>
                      </a:endParaRPr>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r h="147922">
                <a:tc>
                  <a:txBody>
                    <a:bodyPr/>
                    <a:lstStyle/>
                    <a:p>
                      <a:endParaRPr lang="zh-CN" altLang="en-US" sz="100" dirty="0"/>
                    </a:p>
                  </a:txBody>
                  <a:tcP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c>
                  <a:txBody>
                    <a:bodyPr/>
                    <a:lstStyle/>
                    <a:p>
                      <a:endParaRPr lang="zh-CN" altLang="en-US" sz="100" dirty="0"/>
                    </a:p>
                  </a:txBody>
                  <a:tcP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4DADA"/>
                    </a:solidFill>
                  </a:tcPr>
                </a:tc>
              </a:tr>
            </a:tbl>
          </a:graphicData>
        </a:graphic>
      </p:graphicFrame>
      <p:sp>
        <p:nvSpPr>
          <p:cNvPr id="13" name="文本框 12"/>
          <p:cNvSpPr txBox="1"/>
          <p:nvPr/>
        </p:nvSpPr>
        <p:spPr bwMode="auto">
          <a:xfrm>
            <a:off x="1804225" y="2726865"/>
            <a:ext cx="792088"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User </a:t>
            </a:r>
          </a:p>
        </p:txBody>
      </p:sp>
      <p:sp>
        <p:nvSpPr>
          <p:cNvPr id="14" name="文本框 13"/>
          <p:cNvSpPr txBox="1"/>
          <p:nvPr/>
        </p:nvSpPr>
        <p:spPr bwMode="auto">
          <a:xfrm>
            <a:off x="4248151" y="2710935"/>
            <a:ext cx="648072"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File</a:t>
            </a:r>
          </a:p>
        </p:txBody>
      </p:sp>
      <p:sp>
        <p:nvSpPr>
          <p:cNvPr id="15" name="文本框 14"/>
          <p:cNvSpPr txBox="1"/>
          <p:nvPr/>
        </p:nvSpPr>
        <p:spPr bwMode="auto">
          <a:xfrm>
            <a:off x="6472686" y="2726865"/>
            <a:ext cx="947730"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File system</a:t>
            </a:r>
          </a:p>
        </p:txBody>
      </p:sp>
      <p:sp>
        <p:nvSpPr>
          <p:cNvPr id="16" name="文本框 15"/>
          <p:cNvSpPr txBox="1"/>
          <p:nvPr/>
        </p:nvSpPr>
        <p:spPr bwMode="auto">
          <a:xfrm>
            <a:off x="9059364" y="2941685"/>
            <a:ext cx="1105088"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File system </a:t>
            </a:r>
            <a:r>
              <a:rPr sz="1400" dirty="0" smtClean="0">
                <a:solidFill>
                  <a:srgbClr val="000000"/>
                </a:solidFill>
                <a:latin typeface="Arial" panose="020B0604020202020204" pitchFamily="34" charset="0"/>
                <a:cs typeface="Arial" panose="020B0604020202020204" pitchFamily="34" charset="0"/>
              </a:rPr>
              <a:t>block</a:t>
            </a:r>
            <a:r>
              <a:rPr lang="en-US" sz="1400" dirty="0" smtClean="0">
                <a:solidFill>
                  <a:srgbClr val="000000"/>
                </a:solidFill>
                <a:latin typeface="Arial" panose="020B0604020202020204" pitchFamily="34" charset="0"/>
                <a:cs typeface="Arial" panose="020B0604020202020204" pitchFamily="34" charset="0"/>
              </a:rPr>
              <a:t>s</a:t>
            </a:r>
            <a:endParaRPr sz="1400" dirty="0">
              <a:solidFill>
                <a:srgbClr val="000000"/>
              </a:solidFill>
              <a:latin typeface="Arial" panose="020B0604020202020204" pitchFamily="34" charset="0"/>
              <a:cs typeface="Arial" panose="020B0604020202020204" pitchFamily="34" charset="0"/>
            </a:endParaRPr>
          </a:p>
        </p:txBody>
      </p:sp>
      <p:sp>
        <p:nvSpPr>
          <p:cNvPr id="17" name="文本框 16"/>
          <p:cNvSpPr txBox="1"/>
          <p:nvPr/>
        </p:nvSpPr>
        <p:spPr bwMode="auto">
          <a:xfrm>
            <a:off x="8796300" y="5885497"/>
            <a:ext cx="1548172"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Logical </a:t>
            </a:r>
            <a:r>
              <a:rPr lang="en-US" sz="1400" dirty="0" smtClean="0">
                <a:solidFill>
                  <a:srgbClr val="000000"/>
                </a:solidFill>
                <a:latin typeface="Arial" panose="020B0604020202020204" pitchFamily="34" charset="0"/>
                <a:cs typeface="Arial" panose="020B0604020202020204" pitchFamily="34" charset="0"/>
              </a:rPr>
              <a:t>locations </a:t>
            </a:r>
            <a:r>
              <a:rPr sz="1400" dirty="0" smtClean="0">
                <a:solidFill>
                  <a:srgbClr val="000000"/>
                </a:solidFill>
                <a:latin typeface="Arial" panose="020B0604020202020204" pitchFamily="34" charset="0"/>
                <a:cs typeface="Arial" panose="020B0604020202020204" pitchFamily="34" charset="0"/>
              </a:rPr>
              <a:t>of LVM</a:t>
            </a:r>
            <a:endParaRPr sz="1400" dirty="0">
              <a:solidFill>
                <a:srgbClr val="000000"/>
              </a:solidFill>
              <a:latin typeface="Arial" panose="020B0604020202020204" pitchFamily="34" charset="0"/>
              <a:cs typeface="Arial" panose="020B0604020202020204" pitchFamily="34" charset="0"/>
            </a:endParaRPr>
          </a:p>
        </p:txBody>
      </p:sp>
      <p:sp>
        <p:nvSpPr>
          <p:cNvPr id="18" name="文本框 17"/>
          <p:cNvSpPr txBox="1"/>
          <p:nvPr/>
        </p:nvSpPr>
        <p:spPr bwMode="auto">
          <a:xfrm>
            <a:off x="6132004" y="5920920"/>
            <a:ext cx="1611221"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Physical </a:t>
            </a:r>
            <a:r>
              <a:rPr lang="en-US" sz="1400" dirty="0" smtClean="0">
                <a:solidFill>
                  <a:srgbClr val="000000"/>
                </a:solidFill>
                <a:latin typeface="Arial" panose="020B0604020202020204" pitchFamily="34" charset="0"/>
                <a:cs typeface="Arial" panose="020B0604020202020204" pitchFamily="34" charset="0"/>
              </a:rPr>
              <a:t>locations on </a:t>
            </a:r>
            <a:r>
              <a:rPr sz="1400" dirty="0" smtClean="0">
                <a:solidFill>
                  <a:srgbClr val="000000"/>
                </a:solidFill>
                <a:latin typeface="Arial" panose="020B0604020202020204" pitchFamily="34" charset="0"/>
                <a:cs typeface="Arial" panose="020B0604020202020204" pitchFamily="34" charset="0"/>
              </a:rPr>
              <a:t>disk</a:t>
            </a:r>
            <a:r>
              <a:rPr lang="en-US" sz="1400" dirty="0" smtClean="0">
                <a:solidFill>
                  <a:srgbClr val="000000"/>
                </a:solidFill>
                <a:latin typeface="Arial" panose="020B0604020202020204" pitchFamily="34" charset="0"/>
                <a:cs typeface="Arial" panose="020B0604020202020204" pitchFamily="34" charset="0"/>
              </a:rPr>
              <a:t>s</a:t>
            </a:r>
            <a:endParaRPr sz="1400" dirty="0">
              <a:solidFill>
                <a:srgbClr val="000000"/>
              </a:solidFill>
              <a:latin typeface="Arial" panose="020B0604020202020204" pitchFamily="34" charset="0"/>
              <a:cs typeface="Arial" panose="020B0604020202020204" pitchFamily="34" charset="0"/>
            </a:endParaRPr>
          </a:p>
        </p:txBody>
      </p:sp>
      <p:sp>
        <p:nvSpPr>
          <p:cNvPr id="19" name="文本框 18"/>
          <p:cNvSpPr txBox="1"/>
          <p:nvPr/>
        </p:nvSpPr>
        <p:spPr bwMode="auto">
          <a:xfrm>
            <a:off x="3251684" y="5920920"/>
            <a:ext cx="1611221"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smtClean="0">
                <a:solidFill>
                  <a:srgbClr val="000000"/>
                </a:solidFill>
                <a:latin typeface="Arial" panose="020B0604020202020204" pitchFamily="34" charset="0"/>
                <a:cs typeface="Arial" panose="020B0604020202020204" pitchFamily="34" charset="0"/>
              </a:rPr>
              <a:t>Disk s</a:t>
            </a:r>
            <a:r>
              <a:rPr sz="1400" dirty="0" smtClean="0">
                <a:solidFill>
                  <a:srgbClr val="000000"/>
                </a:solidFill>
                <a:latin typeface="Arial" panose="020B0604020202020204" pitchFamily="34" charset="0"/>
                <a:cs typeface="Arial" panose="020B0604020202020204" pitchFamily="34" charset="0"/>
              </a:rPr>
              <a:t>ector</a:t>
            </a:r>
            <a:r>
              <a:rPr lang="en-US" sz="1400" dirty="0" smtClean="0">
                <a:solidFill>
                  <a:srgbClr val="000000"/>
                </a:solidFill>
                <a:latin typeface="Arial" panose="020B0604020202020204" pitchFamily="34" charset="0"/>
                <a:cs typeface="Arial" panose="020B0604020202020204" pitchFamily="34" charset="0"/>
              </a:rPr>
              <a:t>s</a:t>
            </a:r>
            <a:endParaRPr sz="1400" dirty="0">
              <a:solidFill>
                <a:srgbClr val="000000"/>
              </a:solidFill>
              <a:latin typeface="Arial" panose="020B0604020202020204" pitchFamily="34" charset="0"/>
              <a:cs typeface="Arial" panose="020B0604020202020204" pitchFamily="34" charset="0"/>
            </a:endParaRPr>
          </a:p>
        </p:txBody>
      </p:sp>
      <p:cxnSp>
        <p:nvCxnSpPr>
          <p:cNvPr id="20" name="直接箭头连接符 19"/>
          <p:cNvCxnSpPr/>
          <p:nvPr/>
        </p:nvCxnSpPr>
        <p:spPr bwMode="auto">
          <a:xfrm>
            <a:off x="2927648" y="2132856"/>
            <a:ext cx="1200783" cy="0"/>
          </a:xfrm>
          <a:prstGeom prst="straightConnector1">
            <a:avLst/>
          </a:prstGeom>
          <a:solidFill>
            <a:schemeClr val="accent1"/>
          </a:solidFill>
          <a:ln w="28575" cap="flat" cmpd="sng" algn="ctr">
            <a:solidFill>
              <a:srgbClr val="94DADA"/>
            </a:solidFill>
            <a:prstDash val="solid"/>
            <a:round/>
            <a:headEnd type="none" w="med" len="med"/>
            <a:tailEnd type="triangle"/>
          </a:ln>
          <a:effectLst/>
        </p:spPr>
      </p:cxnSp>
      <p:cxnSp>
        <p:nvCxnSpPr>
          <p:cNvPr id="21" name="直接箭头连接符 20"/>
          <p:cNvCxnSpPr/>
          <p:nvPr/>
        </p:nvCxnSpPr>
        <p:spPr bwMode="auto">
          <a:xfrm>
            <a:off x="5159896" y="2132856"/>
            <a:ext cx="1200783" cy="0"/>
          </a:xfrm>
          <a:prstGeom prst="straightConnector1">
            <a:avLst/>
          </a:prstGeom>
          <a:solidFill>
            <a:schemeClr val="accent1"/>
          </a:solidFill>
          <a:ln w="28575" cap="flat" cmpd="sng" algn="ctr">
            <a:solidFill>
              <a:srgbClr val="94DADA"/>
            </a:solidFill>
            <a:prstDash val="solid"/>
            <a:round/>
            <a:headEnd type="none" w="med" len="med"/>
            <a:tailEnd type="triangle"/>
          </a:ln>
          <a:effectLst/>
        </p:spPr>
      </p:cxnSp>
      <p:cxnSp>
        <p:nvCxnSpPr>
          <p:cNvPr id="22" name="直接箭头连接符 21"/>
          <p:cNvCxnSpPr/>
          <p:nvPr/>
        </p:nvCxnSpPr>
        <p:spPr bwMode="auto">
          <a:xfrm>
            <a:off x="7703529" y="2142745"/>
            <a:ext cx="1200783" cy="0"/>
          </a:xfrm>
          <a:prstGeom prst="straightConnector1">
            <a:avLst/>
          </a:prstGeom>
          <a:solidFill>
            <a:schemeClr val="accent1"/>
          </a:solidFill>
          <a:ln w="28575" cap="flat" cmpd="sng" algn="ctr">
            <a:solidFill>
              <a:srgbClr val="94DADA"/>
            </a:solidFill>
            <a:prstDash val="solid"/>
            <a:round/>
            <a:headEnd type="none" w="med" len="med"/>
            <a:tailEnd type="triangle"/>
          </a:ln>
          <a:effectLst/>
        </p:spPr>
      </p:cxnSp>
      <p:cxnSp>
        <p:nvCxnSpPr>
          <p:cNvPr id="23" name="肘形连接符 22"/>
          <p:cNvCxnSpPr/>
          <p:nvPr/>
        </p:nvCxnSpPr>
        <p:spPr bwMode="auto">
          <a:xfrm rot="5400000">
            <a:off x="9067274" y="3435525"/>
            <a:ext cx="2939461" cy="334123"/>
          </a:xfrm>
          <a:prstGeom prst="bentConnector3">
            <a:avLst>
              <a:gd name="adj1" fmla="val 100158"/>
            </a:avLst>
          </a:prstGeom>
          <a:solidFill>
            <a:schemeClr val="accent1"/>
          </a:solidFill>
          <a:ln w="28575" cap="flat" cmpd="sng" algn="ctr">
            <a:solidFill>
              <a:srgbClr val="94DADA"/>
            </a:solidFill>
            <a:prstDash val="solid"/>
            <a:round/>
            <a:headEnd type="none" w="med" len="med"/>
            <a:tailEnd type="triangle"/>
          </a:ln>
          <a:effectLst/>
        </p:spPr>
      </p:cxnSp>
      <p:cxnSp>
        <p:nvCxnSpPr>
          <p:cNvPr id="24" name="直接连接符 23"/>
          <p:cNvCxnSpPr/>
          <p:nvPr/>
        </p:nvCxnSpPr>
        <p:spPr bwMode="auto">
          <a:xfrm>
            <a:off x="10319504" y="2132856"/>
            <a:ext cx="384956" cy="3"/>
          </a:xfrm>
          <a:prstGeom prst="line">
            <a:avLst/>
          </a:prstGeom>
          <a:solidFill>
            <a:schemeClr val="accent1"/>
          </a:solidFill>
          <a:ln w="28575" cap="flat" cmpd="sng" algn="ctr">
            <a:solidFill>
              <a:srgbClr val="94DADA"/>
            </a:solidFill>
            <a:prstDash val="solid"/>
            <a:round/>
            <a:headEnd type="none" w="med" len="med"/>
            <a:tailEnd type="none" w="med" len="med"/>
          </a:ln>
          <a:effectLst/>
        </p:spPr>
      </p:cxnSp>
      <p:cxnSp>
        <p:nvCxnSpPr>
          <p:cNvPr id="25" name="直接箭头连接符 24"/>
          <p:cNvCxnSpPr/>
          <p:nvPr/>
        </p:nvCxnSpPr>
        <p:spPr bwMode="auto">
          <a:xfrm flipH="1">
            <a:off x="7742420" y="5074262"/>
            <a:ext cx="1197896" cy="6731"/>
          </a:xfrm>
          <a:prstGeom prst="straightConnector1">
            <a:avLst/>
          </a:prstGeom>
          <a:solidFill>
            <a:schemeClr val="accent1"/>
          </a:solidFill>
          <a:ln w="28575" cap="flat" cmpd="sng" algn="ctr">
            <a:solidFill>
              <a:srgbClr val="94DADA"/>
            </a:solidFill>
            <a:prstDash val="solid"/>
            <a:round/>
            <a:headEnd type="none" w="med" len="med"/>
            <a:tailEnd type="triangle"/>
          </a:ln>
          <a:effectLst/>
        </p:spPr>
      </p:cxnSp>
      <p:cxnSp>
        <p:nvCxnSpPr>
          <p:cNvPr id="26" name="直接箭头连接符 25"/>
          <p:cNvCxnSpPr/>
          <p:nvPr/>
        </p:nvCxnSpPr>
        <p:spPr bwMode="auto">
          <a:xfrm flipH="1">
            <a:off x="4896223" y="5057601"/>
            <a:ext cx="1197896" cy="6731"/>
          </a:xfrm>
          <a:prstGeom prst="straightConnector1">
            <a:avLst/>
          </a:prstGeom>
          <a:solidFill>
            <a:schemeClr val="accent1"/>
          </a:solidFill>
          <a:ln w="28575" cap="flat" cmpd="sng" algn="ctr">
            <a:solidFill>
              <a:srgbClr val="94DADA"/>
            </a:solidFill>
            <a:prstDash val="solid"/>
            <a:round/>
            <a:headEnd type="none" w="med" len="med"/>
            <a:tailEnd type="triangle"/>
          </a:ln>
          <a:effectLst/>
        </p:spPr>
      </p:cxnSp>
      <p:sp>
        <p:nvSpPr>
          <p:cNvPr id="27" name="文本框 26"/>
          <p:cNvSpPr txBox="1"/>
          <p:nvPr/>
        </p:nvSpPr>
        <p:spPr bwMode="auto">
          <a:xfrm>
            <a:off x="2971030" y="2176504"/>
            <a:ext cx="1020763"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Create</a:t>
            </a:r>
          </a:p>
        </p:txBody>
      </p:sp>
      <p:sp>
        <p:nvSpPr>
          <p:cNvPr id="28" name="文本框 27"/>
          <p:cNvSpPr txBox="1"/>
          <p:nvPr/>
        </p:nvSpPr>
        <p:spPr bwMode="auto">
          <a:xfrm>
            <a:off x="5233375" y="2176504"/>
            <a:ext cx="1020763"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smtClean="0">
                <a:solidFill>
                  <a:srgbClr val="000000"/>
                </a:solidFill>
                <a:latin typeface="Arial" panose="020B0604020202020204" pitchFamily="34" charset="0"/>
                <a:cs typeface="Arial" panose="020B0604020202020204" pitchFamily="34" charset="0"/>
              </a:rPr>
              <a:t>Stor</a:t>
            </a:r>
            <a:r>
              <a:rPr lang="en-US" sz="1400" dirty="0" smtClean="0">
                <a:solidFill>
                  <a:srgbClr val="000000"/>
                </a:solidFill>
                <a:latin typeface="Arial" panose="020B0604020202020204" pitchFamily="34" charset="0"/>
                <a:cs typeface="Arial" panose="020B0604020202020204" pitchFamily="34" charset="0"/>
              </a:rPr>
              <a:t>e</a:t>
            </a:r>
            <a:r>
              <a:rPr sz="1400" dirty="0" smtClean="0">
                <a:solidFill>
                  <a:srgbClr val="000000"/>
                </a:solidFill>
                <a:latin typeface="Arial" panose="020B0604020202020204" pitchFamily="34" charset="0"/>
                <a:cs typeface="Arial" panose="020B0604020202020204" pitchFamily="34" charset="0"/>
              </a:rPr>
              <a:t> </a:t>
            </a:r>
            <a:endParaRPr sz="1400" dirty="0">
              <a:solidFill>
                <a:srgbClr val="000000"/>
              </a:solidFill>
              <a:latin typeface="Arial" panose="020B0604020202020204" pitchFamily="34" charset="0"/>
              <a:cs typeface="Arial" panose="020B0604020202020204" pitchFamily="34" charset="0"/>
            </a:endParaRPr>
          </a:p>
        </p:txBody>
      </p:sp>
      <p:sp>
        <p:nvSpPr>
          <p:cNvPr id="29" name="文本框 28"/>
          <p:cNvSpPr txBox="1"/>
          <p:nvPr/>
        </p:nvSpPr>
        <p:spPr bwMode="auto">
          <a:xfrm>
            <a:off x="7485879" y="2176504"/>
            <a:ext cx="1742856" cy="531835"/>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Mapping via file system</a:t>
            </a:r>
          </a:p>
        </p:txBody>
      </p:sp>
      <p:sp>
        <p:nvSpPr>
          <p:cNvPr id="30" name="文本框 29"/>
          <p:cNvSpPr txBox="1"/>
          <p:nvPr/>
        </p:nvSpPr>
        <p:spPr bwMode="auto">
          <a:xfrm>
            <a:off x="10524492" y="3473520"/>
            <a:ext cx="174285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smtClean="0">
                <a:solidFill>
                  <a:srgbClr val="000000"/>
                </a:solidFill>
                <a:latin typeface="Arial" panose="020B0604020202020204" pitchFamily="34" charset="0"/>
                <a:cs typeface="Arial" panose="020B0604020202020204" pitchFamily="34" charset="0"/>
              </a:rPr>
              <a:t>Mapping</a:t>
            </a:r>
            <a:endParaRPr sz="1400" dirty="0">
              <a:solidFill>
                <a:srgbClr val="000000"/>
              </a:solidFill>
              <a:latin typeface="Arial" panose="020B0604020202020204" pitchFamily="34" charset="0"/>
              <a:cs typeface="Arial" panose="020B0604020202020204" pitchFamily="34" charset="0"/>
            </a:endParaRPr>
          </a:p>
        </p:txBody>
      </p:sp>
      <p:sp>
        <p:nvSpPr>
          <p:cNvPr id="31" name="文本框 30"/>
          <p:cNvSpPr txBox="1"/>
          <p:nvPr/>
        </p:nvSpPr>
        <p:spPr bwMode="auto">
          <a:xfrm>
            <a:off x="7475974" y="5106666"/>
            <a:ext cx="174285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sz="1400" dirty="0">
                <a:solidFill>
                  <a:srgbClr val="000000"/>
                </a:solidFill>
                <a:latin typeface="Arial" panose="020B0604020202020204" pitchFamily="34" charset="0"/>
                <a:cs typeface="Arial" panose="020B0604020202020204" pitchFamily="34" charset="0"/>
              </a:rPr>
              <a:t>Mapping via </a:t>
            </a:r>
            <a:r>
              <a:rPr sz="1400" dirty="0" smtClean="0">
                <a:solidFill>
                  <a:srgbClr val="000000"/>
                </a:solidFill>
                <a:latin typeface="Arial" panose="020B0604020202020204" pitchFamily="34" charset="0"/>
                <a:cs typeface="Arial" panose="020B0604020202020204" pitchFamily="34" charset="0"/>
              </a:rPr>
              <a:t>LVM</a:t>
            </a:r>
            <a:endParaRPr sz="1400" dirty="0">
              <a:solidFill>
                <a:srgbClr val="000000"/>
              </a:solidFill>
              <a:latin typeface="Arial" panose="020B0604020202020204" pitchFamily="34" charset="0"/>
              <a:cs typeface="Arial" panose="020B0604020202020204" pitchFamily="34" charset="0"/>
            </a:endParaRPr>
          </a:p>
        </p:txBody>
      </p:sp>
      <p:sp>
        <p:nvSpPr>
          <p:cNvPr id="32" name="文本框 31"/>
          <p:cNvSpPr txBox="1"/>
          <p:nvPr/>
        </p:nvSpPr>
        <p:spPr bwMode="auto">
          <a:xfrm>
            <a:off x="4636184" y="5106972"/>
            <a:ext cx="174285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smtClean="0">
                <a:solidFill>
                  <a:srgbClr val="000000"/>
                </a:solidFill>
                <a:latin typeface="Arial" panose="020B0604020202020204" pitchFamily="34" charset="0"/>
                <a:cs typeface="Arial" panose="020B0604020202020204" pitchFamily="34" charset="0"/>
              </a:rPr>
              <a:t>Mapping</a:t>
            </a:r>
            <a:endParaRPr lang="zh-CN" altLang="en-US" sz="1400" dirty="0" smtClean="0">
              <a:solidFill>
                <a:srgbClr val="000000"/>
              </a:solidFill>
              <a:latin typeface="Arial" panose="020B0604020202020204" pitchFamily="34" charset="0"/>
              <a:ea typeface="微软雅黑"/>
              <a:cs typeface="Arial" panose="020B0604020202020204" pitchFamily="34" charset="0"/>
            </a:endParaRPr>
          </a:p>
        </p:txBody>
      </p:sp>
    </p:spTree>
    <p:extLst>
      <p:ext uri="{BB962C8B-B14F-4D97-AF65-F5344CB8AC3E}">
        <p14:creationId xmlns:p14="http://schemas.microsoft.com/office/powerpoint/2010/main" val="8716077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latin typeface="Arial" panose="020B0604020202020204" pitchFamily="34" charset="0"/>
              </a:rPr>
              <a:t>Storage Architecture for Virtualization</a:t>
            </a:r>
          </a:p>
          <a:p>
            <a:r>
              <a:rPr lang="en-US" dirty="0">
                <a:solidFill>
                  <a:schemeClr val="bg1">
                    <a:lumMod val="50000"/>
                  </a:schemeClr>
                </a:solidFill>
                <a:latin typeface="Arial" panose="020B0604020202020204" pitchFamily="34" charset="0"/>
              </a:rPr>
              <a:t>Physical Disk Types and Related Techniques</a:t>
            </a:r>
          </a:p>
          <a:p>
            <a:r>
              <a:rPr lang="en-US" dirty="0">
                <a:solidFill>
                  <a:schemeClr val="bg1">
                    <a:lumMod val="50000"/>
                  </a:schemeClr>
                </a:solidFill>
                <a:latin typeface="Arial" panose="020B0604020202020204" pitchFamily="34" charset="0"/>
              </a:rPr>
              <a:t>Centralized Storage vs. Distributed Storage</a:t>
            </a:r>
          </a:p>
          <a:p>
            <a:r>
              <a:rPr lang="en-US" dirty="0">
                <a:solidFill>
                  <a:schemeClr val="bg1">
                    <a:lumMod val="50000"/>
                  </a:schemeClr>
                </a:solidFill>
                <a:latin typeface="Arial" panose="020B0604020202020204" pitchFamily="34" charset="0"/>
              </a:rPr>
              <a:t>Virtualized Storage vs. Non-Virtualized Storage</a:t>
            </a:r>
          </a:p>
          <a:p>
            <a:r>
              <a:rPr lang="en-US" b="1" dirty="0">
                <a:latin typeface="Arial" panose="020B0604020202020204" pitchFamily="34" charset="0"/>
              </a:rPr>
              <a:t>Introduction to VM Disks</a:t>
            </a:r>
          </a:p>
          <a:p>
            <a:r>
              <a:rPr lang="en-US" dirty="0">
                <a:solidFill>
                  <a:schemeClr val="bg1">
                    <a:lumMod val="50000"/>
                  </a:schemeClr>
                </a:solidFill>
                <a:latin typeface="Arial" panose="020B0604020202020204" pitchFamily="34" charset="0"/>
              </a:rPr>
              <a:t>Storage Features of Huawei’s Virtualization Product</a:t>
            </a:r>
          </a:p>
        </p:txBody>
      </p:sp>
    </p:spTree>
    <p:extLst>
      <p:ext uri="{BB962C8B-B14F-4D97-AF65-F5344CB8AC3E}">
        <p14:creationId xmlns:p14="http://schemas.microsoft.com/office/powerpoint/2010/main" val="26148343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latin typeface="Arial" panose="020B0604020202020204" pitchFamily="34" charset="0"/>
              </a:rPr>
              <a:t>VM Disks</a:t>
            </a:r>
          </a:p>
        </p:txBody>
      </p:sp>
      <p:cxnSp>
        <p:nvCxnSpPr>
          <p:cNvPr id="5" name="直接连接符 4"/>
          <p:cNvCxnSpPr/>
          <p:nvPr/>
        </p:nvCxnSpPr>
        <p:spPr bwMode="auto">
          <a:xfrm>
            <a:off x="1008063" y="3969059"/>
            <a:ext cx="10464800" cy="1"/>
          </a:xfrm>
          <a:prstGeom prst="line">
            <a:avLst/>
          </a:prstGeom>
          <a:solidFill>
            <a:srgbClr val="CCFF99"/>
          </a:solidFill>
          <a:ln w="9525" cap="flat" cmpd="sng" algn="ctr">
            <a:solidFill>
              <a:srgbClr val="000000"/>
            </a:solidFill>
            <a:prstDash val="solid"/>
            <a:round/>
            <a:headEnd type="none" w="med" len="med"/>
            <a:tailEnd type="none" w="med" len="med"/>
          </a:ln>
          <a:effectLst/>
        </p:spPr>
      </p:cxnSp>
      <p:sp>
        <p:nvSpPr>
          <p:cNvPr id="6" name="文本框 5"/>
          <p:cNvSpPr txBox="1"/>
          <p:nvPr/>
        </p:nvSpPr>
        <p:spPr bwMode="auto">
          <a:xfrm>
            <a:off x="1019436" y="3652668"/>
            <a:ext cx="1260140"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User view</a:t>
            </a:r>
          </a:p>
        </p:txBody>
      </p:sp>
      <p:sp>
        <p:nvSpPr>
          <p:cNvPr id="7" name="文本框 6"/>
          <p:cNvSpPr txBox="1"/>
          <p:nvPr/>
        </p:nvSpPr>
        <p:spPr bwMode="auto">
          <a:xfrm>
            <a:off x="1019436" y="3969060"/>
            <a:ext cx="194421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sz="1400" dirty="0">
                <a:solidFill>
                  <a:srgbClr val="000000"/>
                </a:solidFill>
                <a:latin typeface="Arial" panose="020B0604020202020204" pitchFamily="34" charset="0"/>
                <a:ea typeface="+mn-ea"/>
                <a:cs typeface="Arial" pitchFamily="34" charset="0"/>
              </a:rPr>
              <a:t>Administrator view</a:t>
            </a:r>
          </a:p>
        </p:txBody>
      </p:sp>
      <p:pic>
        <p:nvPicPr>
          <p:cNvPr id="11" name="图片 10"/>
          <p:cNvPicPr>
            <a:picLocks noChangeAspect="1"/>
          </p:cNvPicPr>
          <p:nvPr/>
        </p:nvPicPr>
        <p:blipFill>
          <a:blip r:embed="rId3"/>
          <a:stretch>
            <a:fillRect/>
          </a:stretch>
        </p:blipFill>
        <p:spPr>
          <a:xfrm>
            <a:off x="1678434" y="4545124"/>
            <a:ext cx="8846058" cy="1010412"/>
          </a:xfrm>
          <a:prstGeom prst="rect">
            <a:avLst/>
          </a:prstGeom>
        </p:spPr>
      </p:pic>
      <p:pic>
        <p:nvPicPr>
          <p:cNvPr id="9" name="图片 8"/>
          <p:cNvPicPr>
            <a:picLocks noChangeAspect="1"/>
          </p:cNvPicPr>
          <p:nvPr/>
        </p:nvPicPr>
        <p:blipFill>
          <a:blip r:embed="rId4"/>
          <a:stretch>
            <a:fillRect/>
          </a:stretch>
        </p:blipFill>
        <p:spPr>
          <a:xfrm>
            <a:off x="3576228" y="1233488"/>
            <a:ext cx="5039544" cy="2663654"/>
          </a:xfrm>
          <a:prstGeom prst="rect">
            <a:avLst/>
          </a:prstGeom>
          <a:ln>
            <a:solidFill>
              <a:schemeClr val="bg1">
                <a:lumMod val="85000"/>
              </a:schemeClr>
            </a:solidFill>
          </a:ln>
        </p:spPr>
      </p:pic>
    </p:spTree>
    <p:extLst>
      <p:ext uri="{BB962C8B-B14F-4D97-AF65-F5344CB8AC3E}">
        <p14:creationId xmlns:p14="http://schemas.microsoft.com/office/powerpoint/2010/main" val="27784396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Common VM Disk Formats</a:t>
            </a:r>
          </a:p>
        </p:txBody>
      </p:sp>
      <p:graphicFrame>
        <p:nvGraphicFramePr>
          <p:cNvPr id="4" name="表格 3"/>
          <p:cNvGraphicFramePr>
            <a:graphicFrameLocks noGrp="1"/>
          </p:cNvGraphicFramePr>
          <p:nvPr>
            <p:extLst>
              <p:ext uri="{D42A27DB-BD31-4B8C-83A1-F6EECF244321}">
                <p14:modId xmlns:p14="http://schemas.microsoft.com/office/powerpoint/2010/main" val="223439035"/>
              </p:ext>
            </p:extLst>
          </p:nvPr>
        </p:nvGraphicFramePr>
        <p:xfrm>
          <a:off x="2027548" y="1844824"/>
          <a:ext cx="8128000" cy="3132000"/>
        </p:xfrm>
        <a:graphic>
          <a:graphicData uri="http://schemas.openxmlformats.org/drawingml/2006/table">
            <a:tbl>
              <a:tblPr firstRow="1" bandRow="1"/>
              <a:tblGrid>
                <a:gridCol w="2484276"/>
                <a:gridCol w="5643724"/>
              </a:tblGrid>
              <a:tr h="540000">
                <a:tc>
                  <a:txBody>
                    <a:bodyPr/>
                    <a:lstStyle/>
                    <a:p>
                      <a:pPr algn="ctr"/>
                      <a:r>
                        <a:rPr lang="en-US" b="1" dirty="0">
                          <a:latin typeface="Arial" panose="020B0604020202020204" pitchFamily="34" charset="0"/>
                        </a:rPr>
                        <a:t>VM Disk File Format</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b="1" dirty="0">
                          <a:latin typeface="Arial" panose="020B0604020202020204" pitchFamily="34" charset="0"/>
                        </a:rPr>
                        <a:t>Vendor</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432000">
                <a:tc>
                  <a:txBody>
                    <a:bodyPr/>
                    <a:lstStyle/>
                    <a:p>
                      <a:pPr algn="l"/>
                      <a:r>
                        <a:rPr lang="en-US" dirty="0">
                          <a:latin typeface="Arial" panose="020B0604020202020204" pitchFamily="34" charset="0"/>
                        </a:rPr>
                        <a:t>RAW</a:t>
                      </a:r>
                    </a:p>
                  </a:txBody>
                  <a:tcPr anchor="ctr">
                    <a:lnL w="28575" cap="flat" cmpd="sng" algn="ctr">
                      <a:solidFill>
                        <a:schemeClr val="tx1"/>
                      </a:solidFill>
                      <a:prstDash val="solid"/>
                      <a:round/>
                      <a:headEnd type="none" w="med" len="med"/>
                      <a:tailEnd type="none" w="med" len="med"/>
                    </a:lnL>
                  </a:tcPr>
                </a:tc>
                <a:tc>
                  <a:txBody>
                    <a:bodyPr/>
                    <a:lstStyle/>
                    <a:p>
                      <a:pPr algn="l"/>
                      <a:r>
                        <a:rPr lang="en-US" dirty="0">
                          <a:latin typeface="Arial" panose="020B0604020202020204" pitchFamily="34" charset="0"/>
                        </a:rPr>
                        <a:t>All</a:t>
                      </a:r>
                    </a:p>
                  </a:txBody>
                  <a:tcPr anchor="ctr">
                    <a:lnR w="28575" cap="flat" cmpd="sng" algn="ctr">
                      <a:solidFill>
                        <a:schemeClr val="tx1"/>
                      </a:solidFill>
                      <a:prstDash val="solid"/>
                      <a:round/>
                      <a:headEnd type="none" w="med" len="med"/>
                      <a:tailEnd type="none" w="med" len="med"/>
                    </a:lnR>
                  </a:tcPr>
                </a:tc>
              </a:tr>
              <a:tr h="432000">
                <a:tc>
                  <a:txBody>
                    <a:bodyPr/>
                    <a:lstStyle/>
                    <a:p>
                      <a:pPr algn="l"/>
                      <a:r>
                        <a:rPr lang="en-US" dirty="0">
                          <a:latin typeface="Arial" panose="020B0604020202020204" pitchFamily="34" charset="0"/>
                        </a:rPr>
                        <a:t>VMDK</a:t>
                      </a:r>
                    </a:p>
                  </a:txBody>
                  <a:tcPr anchor="ctr">
                    <a:lnL w="28575" cap="flat" cmpd="sng" algn="ctr">
                      <a:solidFill>
                        <a:schemeClr val="tx1"/>
                      </a:solidFill>
                      <a:prstDash val="solid"/>
                      <a:round/>
                      <a:headEnd type="none" w="med" len="med"/>
                      <a:tailEnd type="none" w="med" len="med"/>
                    </a:lnL>
                  </a:tcPr>
                </a:tc>
                <a:tc>
                  <a:txBody>
                    <a:bodyPr/>
                    <a:lstStyle/>
                    <a:p>
                      <a:pPr algn="l"/>
                      <a:r>
                        <a:rPr lang="en-US" dirty="0">
                          <a:latin typeface="Arial" panose="020B0604020202020204" pitchFamily="34" charset="0"/>
                        </a:rPr>
                        <a:t>VMware</a:t>
                      </a:r>
                    </a:p>
                  </a:txBody>
                  <a:tcPr anchor="ctr">
                    <a:lnR w="28575" cap="flat" cmpd="sng" algn="ctr">
                      <a:solidFill>
                        <a:schemeClr val="tx1"/>
                      </a:solidFill>
                      <a:prstDash val="solid"/>
                      <a:round/>
                      <a:headEnd type="none" w="med" len="med"/>
                      <a:tailEnd type="none" w="med" len="med"/>
                    </a:lnR>
                  </a:tcPr>
                </a:tc>
              </a:tr>
              <a:tr h="432000">
                <a:tc>
                  <a:txBody>
                    <a:bodyPr/>
                    <a:lstStyle/>
                    <a:p>
                      <a:pPr algn="l"/>
                      <a:r>
                        <a:rPr lang="en-US" dirty="0">
                          <a:latin typeface="Arial" panose="020B0604020202020204" pitchFamily="34" charset="0"/>
                        </a:rPr>
                        <a:t>VHD</a:t>
                      </a:r>
                    </a:p>
                  </a:txBody>
                  <a:tcPr anchor="ctr">
                    <a:lnL w="28575" cap="flat" cmpd="sng" algn="ctr">
                      <a:solidFill>
                        <a:schemeClr val="tx1"/>
                      </a:solidFill>
                      <a:prstDash val="solid"/>
                      <a:round/>
                      <a:headEnd type="none" w="med" len="med"/>
                      <a:tailEnd type="none" w="med" len="med"/>
                    </a:lnL>
                  </a:tcPr>
                </a:tc>
                <a:tc>
                  <a:txBody>
                    <a:bodyPr/>
                    <a:lstStyle/>
                    <a:p>
                      <a:pPr algn="l"/>
                      <a:r>
                        <a:rPr lang="en-US" dirty="0">
                          <a:latin typeface="Arial" panose="020B0604020202020204" pitchFamily="34" charset="0"/>
                        </a:rPr>
                        <a:t>Microsoft Hyper-V, Huawei FusionCompute</a:t>
                      </a:r>
                    </a:p>
                  </a:txBody>
                  <a:tcPr anchor="ctr">
                    <a:lnR w="28575" cap="flat" cmpd="sng" algn="ctr">
                      <a:solidFill>
                        <a:schemeClr val="tx1"/>
                      </a:solidFill>
                      <a:prstDash val="solid"/>
                      <a:round/>
                      <a:headEnd type="none" w="med" len="med"/>
                      <a:tailEnd type="none" w="med" len="med"/>
                    </a:lnR>
                  </a:tcPr>
                </a:tc>
              </a:tr>
              <a:tr h="432000">
                <a:tc>
                  <a:txBody>
                    <a:bodyPr/>
                    <a:lstStyle/>
                    <a:p>
                      <a:pPr algn="l"/>
                      <a:r>
                        <a:rPr lang="en-US" dirty="0">
                          <a:latin typeface="Arial" panose="020B0604020202020204" pitchFamily="34" charset="0"/>
                        </a:rPr>
                        <a:t>QCOW</a:t>
                      </a:r>
                    </a:p>
                  </a:txBody>
                  <a:tcPr anchor="ctr">
                    <a:lnL w="28575" cap="flat" cmpd="sng" algn="ctr">
                      <a:solidFill>
                        <a:schemeClr val="tx1"/>
                      </a:solidFill>
                      <a:prstDash val="solid"/>
                      <a:round/>
                      <a:headEnd type="none" w="med" len="med"/>
                      <a:tailEnd type="none" w="med" len="med"/>
                    </a:lnL>
                  </a:tcPr>
                </a:tc>
                <a:tc rowSpan="2">
                  <a:txBody>
                    <a:bodyPr/>
                    <a:lstStyle/>
                    <a:p>
                      <a:pPr algn="l"/>
                      <a:r>
                        <a:rPr lang="en-US" dirty="0">
                          <a:latin typeface="Arial" panose="020B0604020202020204" pitchFamily="34" charset="0"/>
                        </a:rPr>
                        <a:t>QEMU or KVM virtualization platforms only</a:t>
                      </a:r>
                    </a:p>
                  </a:txBody>
                  <a:tcPr anchor="ctr">
                    <a:lnR w="28575" cap="flat" cmpd="sng" algn="ctr">
                      <a:solidFill>
                        <a:schemeClr val="tx1"/>
                      </a:solidFill>
                      <a:prstDash val="solid"/>
                      <a:round/>
                      <a:headEnd type="none" w="med" len="med"/>
                      <a:tailEnd type="none" w="med" len="med"/>
                    </a:lnR>
                  </a:tcPr>
                </a:tc>
              </a:tr>
              <a:tr h="432000">
                <a:tc>
                  <a:txBody>
                    <a:bodyPr/>
                    <a:lstStyle/>
                    <a:p>
                      <a:pPr algn="l"/>
                      <a:r>
                        <a:rPr lang="en-US" dirty="0">
                          <a:latin typeface="Arial" panose="020B0604020202020204" pitchFamily="34" charset="0"/>
                        </a:rPr>
                        <a:t>QED</a:t>
                      </a:r>
                    </a:p>
                  </a:txBody>
                  <a:tcPr anchor="ctr">
                    <a:lnL w="28575" cap="flat" cmpd="sng" algn="ctr">
                      <a:solidFill>
                        <a:schemeClr val="tx1"/>
                      </a:solidFill>
                      <a:prstDash val="solid"/>
                      <a:round/>
                      <a:headEnd type="none" w="med" len="med"/>
                      <a:tailEnd type="none" w="med" len="med"/>
                    </a:lnL>
                  </a:tcPr>
                </a:tc>
                <a:tc vMerge="1">
                  <a:txBody>
                    <a:bodyPr/>
                    <a:lstStyle/>
                    <a:p>
                      <a:pPr algn="l" rtl="0"/>
                      <a:endParaRPr lang="zh-CN" altLang="en-US" dirty="0"/>
                    </a:p>
                  </a:txBody>
                  <a:tcPr/>
                </a:tc>
              </a:tr>
              <a:tr h="432000">
                <a:tc>
                  <a:txBody>
                    <a:bodyPr/>
                    <a:lstStyle/>
                    <a:p>
                      <a:pPr algn="l"/>
                      <a:r>
                        <a:rPr lang="en-US" dirty="0">
                          <a:latin typeface="Arial" panose="020B0604020202020204" pitchFamily="34" charset="0"/>
                        </a:rPr>
                        <a:t>VDI</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l"/>
                      <a:r>
                        <a:rPr lang="en-US" dirty="0">
                          <a:latin typeface="Arial" panose="020B0604020202020204" pitchFamily="34" charset="0"/>
                        </a:rPr>
                        <a:t>Oracle</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28367417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latin typeface="Arial" panose="020B0604020202020204" pitchFamily="34" charset="0"/>
              </a:rPr>
              <a:t>Storage Architecture for Virtualization</a:t>
            </a:r>
          </a:p>
          <a:p>
            <a:r>
              <a:rPr lang="en-US" dirty="0">
                <a:solidFill>
                  <a:schemeClr val="bg1">
                    <a:lumMod val="50000"/>
                  </a:schemeClr>
                </a:solidFill>
                <a:latin typeface="Arial" panose="020B0604020202020204" pitchFamily="34" charset="0"/>
              </a:rPr>
              <a:t>Physical Disk Types and Related Techniques</a:t>
            </a:r>
          </a:p>
          <a:p>
            <a:r>
              <a:rPr lang="en-US" dirty="0">
                <a:solidFill>
                  <a:schemeClr val="bg1">
                    <a:lumMod val="50000"/>
                  </a:schemeClr>
                </a:solidFill>
                <a:latin typeface="Arial" panose="020B0604020202020204" pitchFamily="34" charset="0"/>
              </a:rPr>
              <a:t>Centralized Storage vs. Distributed Storage</a:t>
            </a:r>
          </a:p>
          <a:p>
            <a:r>
              <a:rPr lang="en-US" dirty="0">
                <a:solidFill>
                  <a:schemeClr val="bg1">
                    <a:lumMod val="50000"/>
                  </a:schemeClr>
                </a:solidFill>
                <a:latin typeface="Arial" panose="020B0604020202020204" pitchFamily="34" charset="0"/>
              </a:rPr>
              <a:t>Virtualized Storage vs. Non-Virtualized Storage</a:t>
            </a:r>
          </a:p>
          <a:p>
            <a:r>
              <a:rPr lang="en-US" dirty="0">
                <a:solidFill>
                  <a:schemeClr val="bg1">
                    <a:lumMod val="50000"/>
                  </a:schemeClr>
                </a:solidFill>
                <a:latin typeface="Arial" panose="020B0604020202020204" pitchFamily="34" charset="0"/>
              </a:rPr>
              <a:t>Introduction to VM Disks</a:t>
            </a:r>
          </a:p>
          <a:p>
            <a:r>
              <a:rPr lang="en-US" b="1" dirty="0">
                <a:latin typeface="Arial" panose="020B0604020202020204" pitchFamily="34" charset="0"/>
              </a:rPr>
              <a:t>Storage Features of </a:t>
            </a:r>
            <a:r>
              <a:rPr lang="en-US" b="1" dirty="0" smtClean="0">
                <a:latin typeface="Arial" panose="020B0604020202020204" pitchFamily="34" charset="0"/>
              </a:rPr>
              <a:t>Huawei’s </a:t>
            </a:r>
            <a:r>
              <a:rPr lang="en-US" b="1" dirty="0">
                <a:latin typeface="Arial" panose="020B0604020202020204" pitchFamily="34" charset="0"/>
              </a:rPr>
              <a:t>Virtualization Product</a:t>
            </a:r>
          </a:p>
        </p:txBody>
      </p:sp>
    </p:spTree>
    <p:extLst>
      <p:ext uri="{BB962C8B-B14F-4D97-AF65-F5344CB8AC3E}">
        <p14:creationId xmlns:p14="http://schemas.microsoft.com/office/powerpoint/2010/main" val="141903695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4800" y="116632"/>
            <a:ext cx="9831600" cy="640800"/>
          </a:xfrm>
        </p:spPr>
        <p:txBody>
          <a:bodyPr/>
          <a:lstStyle/>
          <a:p>
            <a:r>
              <a:rPr lang="en-US" dirty="0">
                <a:latin typeface="Arial" panose="020B0604020202020204" pitchFamily="34" charset="0"/>
              </a:rPr>
              <a:t>Storage Architecture for Huawei Virtualization Product</a:t>
            </a:r>
          </a:p>
        </p:txBody>
      </p:sp>
      <p:cxnSp>
        <p:nvCxnSpPr>
          <p:cNvPr id="8" name="直接连接符 7"/>
          <p:cNvCxnSpPr/>
          <p:nvPr/>
        </p:nvCxnSpPr>
        <p:spPr bwMode="auto">
          <a:xfrm>
            <a:off x="1594799" y="2721386"/>
            <a:ext cx="8365811" cy="23538"/>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cxnSp>
        <p:nvCxnSpPr>
          <p:cNvPr id="9" name="直接连接符 8"/>
          <p:cNvCxnSpPr/>
          <p:nvPr/>
        </p:nvCxnSpPr>
        <p:spPr bwMode="auto">
          <a:xfrm flipV="1">
            <a:off x="1594799" y="4616544"/>
            <a:ext cx="8365811" cy="588"/>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cxnSp>
        <p:nvCxnSpPr>
          <p:cNvPr id="10" name="直接连接符 9"/>
          <p:cNvCxnSpPr/>
          <p:nvPr/>
        </p:nvCxnSpPr>
        <p:spPr bwMode="auto">
          <a:xfrm flipV="1">
            <a:off x="1594799" y="5805264"/>
            <a:ext cx="8365811" cy="36004"/>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p:spPr>
      </p:cxnSp>
      <p:grpSp>
        <p:nvGrpSpPr>
          <p:cNvPr id="11" name="组合 10"/>
          <p:cNvGrpSpPr/>
          <p:nvPr/>
        </p:nvGrpSpPr>
        <p:grpSpPr>
          <a:xfrm>
            <a:off x="1594800" y="2000241"/>
            <a:ext cx="2531984" cy="672525"/>
            <a:chOff x="1691808" y="1772817"/>
            <a:chExt cx="2531984" cy="672525"/>
          </a:xfrm>
        </p:grpSpPr>
        <p:sp>
          <p:nvSpPr>
            <p:cNvPr id="12" name="Text Box 9"/>
            <p:cNvSpPr txBox="1">
              <a:spLocks noChangeArrowheads="1"/>
            </p:cNvSpPr>
            <p:nvPr/>
          </p:nvSpPr>
          <p:spPr bwMode="auto">
            <a:xfrm>
              <a:off x="1691808" y="1939802"/>
              <a:ext cx="1734658"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p>
              <a:pPr algn="ctr">
                <a:spcBef>
                  <a:spcPct val="50000"/>
                </a:spcBef>
                <a:defRPr/>
              </a:pPr>
              <a:r>
                <a:rPr lang="en-US" sz="1600" dirty="0">
                  <a:solidFill>
                    <a:srgbClr val="000000"/>
                  </a:solidFill>
                  <a:latin typeface="Arial" panose="020B0604020202020204" pitchFamily="34" charset="0"/>
                  <a:ea typeface="+mn-ea"/>
                  <a:cs typeface="Arial" panose="020B0604020202020204" pitchFamily="34" charset="0"/>
                </a:rPr>
                <a:t>Data </a:t>
              </a:r>
              <a:r>
                <a:rPr lang="en-US" sz="1600" dirty="0" smtClean="0">
                  <a:solidFill>
                    <a:srgbClr val="000000"/>
                  </a:solidFill>
                  <a:latin typeface="Arial" panose="020B0604020202020204" pitchFamily="34" charset="0"/>
                  <a:ea typeface="+mn-ea"/>
                  <a:cs typeface="Arial" panose="020B0604020202020204" pitchFamily="34" charset="0"/>
                </a:rPr>
                <a:t>store</a:t>
              </a:r>
              <a:endParaRPr lang="en-US" sz="1600" dirty="0">
                <a:solidFill>
                  <a:srgbClr val="000000"/>
                </a:solidFill>
                <a:latin typeface="Arial" panose="020B0604020202020204" pitchFamily="34" charset="0"/>
                <a:ea typeface="+mn-ea"/>
                <a:cs typeface="Arial" panose="020B0604020202020204" pitchFamily="34" charset="0"/>
              </a:endParaRPr>
            </a:p>
          </p:txBody>
        </p:sp>
        <p:sp>
          <p:nvSpPr>
            <p:cNvPr id="13" name="右箭头 12"/>
            <p:cNvSpPr/>
            <p:nvPr/>
          </p:nvSpPr>
          <p:spPr>
            <a:xfrm>
              <a:off x="3467708" y="1772817"/>
              <a:ext cx="756084"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grpSp>
        <p:nvGrpSpPr>
          <p:cNvPr id="14" name="组合 13"/>
          <p:cNvGrpSpPr/>
          <p:nvPr/>
        </p:nvGrpSpPr>
        <p:grpSpPr>
          <a:xfrm>
            <a:off x="1594799" y="3440401"/>
            <a:ext cx="2531985" cy="672525"/>
            <a:chOff x="1691807" y="3212977"/>
            <a:chExt cx="2531985" cy="672525"/>
          </a:xfrm>
        </p:grpSpPr>
        <p:sp>
          <p:nvSpPr>
            <p:cNvPr id="15" name="Text Box 10"/>
            <p:cNvSpPr txBox="1">
              <a:spLocks noChangeArrowheads="1"/>
            </p:cNvSpPr>
            <p:nvPr/>
          </p:nvSpPr>
          <p:spPr bwMode="auto">
            <a:xfrm>
              <a:off x="1691807" y="3378478"/>
              <a:ext cx="1686151"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defPPr>
                <a:defRPr lang="zh-CN"/>
              </a:defPPr>
              <a:lvl1pPr algn="ctr">
                <a:spcBef>
                  <a:spcPct val="50000"/>
                </a:spcBef>
                <a:defRPr sz="1600">
                  <a:solidFill>
                    <a:srgbClr val="000000"/>
                  </a:solidFill>
                  <a:latin typeface="+mn-lt"/>
                  <a:ea typeface="+mn-ea"/>
                  <a:cs typeface="Arial" panose="020B0604020202020204" pitchFamily="34" charset="0"/>
                </a:defRPr>
              </a:lvl1pPr>
            </a:lstStyle>
            <a:p>
              <a:r>
                <a:rPr lang="en-US" dirty="0">
                  <a:latin typeface="Arial" panose="020B0604020202020204" pitchFamily="34" charset="0"/>
                </a:rPr>
                <a:t>Storage device</a:t>
              </a:r>
            </a:p>
          </p:txBody>
        </p:sp>
        <p:sp>
          <p:nvSpPr>
            <p:cNvPr id="16" name="右箭头 15"/>
            <p:cNvSpPr/>
            <p:nvPr/>
          </p:nvSpPr>
          <p:spPr>
            <a:xfrm>
              <a:off x="3426465" y="3212977"/>
              <a:ext cx="797327"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grpSp>
        <p:nvGrpSpPr>
          <p:cNvPr id="17" name="组合 16"/>
          <p:cNvGrpSpPr/>
          <p:nvPr/>
        </p:nvGrpSpPr>
        <p:grpSpPr>
          <a:xfrm>
            <a:off x="1594801" y="4953226"/>
            <a:ext cx="2531983" cy="672525"/>
            <a:chOff x="1558454" y="4725802"/>
            <a:chExt cx="2665338" cy="672525"/>
          </a:xfrm>
        </p:grpSpPr>
        <p:sp>
          <p:nvSpPr>
            <p:cNvPr id="18" name="Text Box 8"/>
            <p:cNvSpPr txBox="1">
              <a:spLocks noChangeArrowheads="1"/>
            </p:cNvSpPr>
            <p:nvPr/>
          </p:nvSpPr>
          <p:spPr bwMode="auto">
            <a:xfrm>
              <a:off x="1558454" y="4890646"/>
              <a:ext cx="1868012" cy="338554"/>
            </a:xfrm>
            <a:prstGeom prst="rect">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wrap="square">
              <a:spAutoFit/>
            </a:bodyPr>
            <a:lstStyle/>
            <a:p>
              <a:pPr algn="ctr">
                <a:spcBef>
                  <a:spcPct val="50000"/>
                </a:spcBef>
                <a:defRPr/>
              </a:pPr>
              <a:r>
                <a:rPr lang="en-US" sz="1600" dirty="0">
                  <a:solidFill>
                    <a:srgbClr val="000000"/>
                  </a:solidFill>
                  <a:latin typeface="Arial" panose="020B0604020202020204" pitchFamily="34" charset="0"/>
                  <a:ea typeface="+mn-ea"/>
                  <a:cs typeface="Arial" panose="020B0604020202020204" pitchFamily="34" charset="0"/>
                </a:rPr>
                <a:t>Storage resource</a:t>
              </a:r>
            </a:p>
          </p:txBody>
        </p:sp>
        <p:sp>
          <p:nvSpPr>
            <p:cNvPr id="19" name="右箭头 18"/>
            <p:cNvSpPr/>
            <p:nvPr/>
          </p:nvSpPr>
          <p:spPr>
            <a:xfrm>
              <a:off x="3467708" y="4725802"/>
              <a:ext cx="756084" cy="672525"/>
            </a:xfrm>
            <a:prstGeom prst="rightArrow">
              <a:avLst/>
            </a:prstGeom>
            <a:solidFill>
              <a:schemeClr val="bg1"/>
            </a:solidFill>
            <a:ln w="9525">
              <a:noFill/>
              <a:miter lim="800000"/>
              <a:headEnd/>
              <a:tailEnd/>
            </a:ln>
            <a:effectLst>
              <a:outerShdw blurRad="50800" dist="38100" dir="2700000" algn="tl" rotWithShape="0">
                <a:prstClr val="black">
                  <a:alpha val="40000"/>
                </a:prstClr>
              </a:outerShdw>
            </a:effectLst>
            <a:scene3d>
              <a:camera prst="orthographicFront"/>
              <a:lightRig rig="threePt" dir="t"/>
            </a:scene3d>
            <a:sp3d>
              <a:bevelT w="44450"/>
            </a:sp3d>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spcBef>
                  <a:spcPct val="50000"/>
                </a:spcBef>
              </a:pPr>
              <a:endParaRPr lang="zh-CN" altLang="en-US" sz="1600">
                <a:solidFill>
                  <a:srgbClr val="000000"/>
                </a:solidFill>
                <a:latin typeface="Arial" panose="020B0604020202020204" pitchFamily="34" charset="0"/>
                <a:ea typeface="+mn-ea"/>
                <a:cs typeface="Arial" panose="020B0604020202020204" pitchFamily="34" charset="0"/>
              </a:endParaRPr>
            </a:p>
          </p:txBody>
        </p:sp>
      </p:grpSp>
      <p:sp>
        <p:nvSpPr>
          <p:cNvPr id="46" name="open-folder-with-document_32743"/>
          <p:cNvSpPr>
            <a:spLocks noChangeAspect="1"/>
          </p:cNvSpPr>
          <p:nvPr/>
        </p:nvSpPr>
        <p:spPr bwMode="auto">
          <a:xfrm>
            <a:off x="7860196" y="3465004"/>
            <a:ext cx="659088" cy="612068"/>
          </a:xfrm>
          <a:custGeom>
            <a:avLst/>
            <a:gdLst>
              <a:gd name="T0" fmla="*/ 6459 w 7984"/>
              <a:gd name="T1" fmla="*/ 7154 h 7426"/>
              <a:gd name="T2" fmla="*/ 446 w 7984"/>
              <a:gd name="T3" fmla="*/ 7426 h 7426"/>
              <a:gd name="T4" fmla="*/ 0 w 7984"/>
              <a:gd name="T5" fmla="*/ 6980 h 7426"/>
              <a:gd name="T6" fmla="*/ 446 w 7984"/>
              <a:gd name="T7" fmla="*/ 2184 h 7426"/>
              <a:gd name="T8" fmla="*/ 856 w 7984"/>
              <a:gd name="T9" fmla="*/ 2564 h 7426"/>
              <a:gd name="T10" fmla="*/ 439 w 7984"/>
              <a:gd name="T11" fmla="*/ 2623 h 7426"/>
              <a:gd name="T12" fmla="*/ 380 w 7984"/>
              <a:gd name="T13" fmla="*/ 6844 h 7426"/>
              <a:gd name="T14" fmla="*/ 863 w 7984"/>
              <a:gd name="T15" fmla="*/ 7046 h 7426"/>
              <a:gd name="T16" fmla="*/ 2552 w 7984"/>
              <a:gd name="T17" fmla="*/ 4098 h 7426"/>
              <a:gd name="T18" fmla="*/ 5795 w 7984"/>
              <a:gd name="T19" fmla="*/ 3020 h 7426"/>
              <a:gd name="T20" fmla="*/ 6174 w 7984"/>
              <a:gd name="T21" fmla="*/ 4098 h 7426"/>
              <a:gd name="T22" fmla="*/ 7856 w 7984"/>
              <a:gd name="T23" fmla="*/ 4511 h 7426"/>
              <a:gd name="T24" fmla="*/ 1114 w 7984"/>
              <a:gd name="T25" fmla="*/ 366 h 7426"/>
              <a:gd name="T26" fmla="*/ 4408 w 7984"/>
              <a:gd name="T27" fmla="*/ 0 h 7426"/>
              <a:gd name="T28" fmla="*/ 5478 w 7984"/>
              <a:gd name="T29" fmla="*/ 1083 h 7426"/>
              <a:gd name="T30" fmla="*/ 5522 w 7984"/>
              <a:gd name="T31" fmla="*/ 3861 h 7426"/>
              <a:gd name="T32" fmla="*/ 5215 w 7984"/>
              <a:gd name="T33" fmla="*/ 1427 h 7426"/>
              <a:gd name="T34" fmla="*/ 4414 w 7984"/>
              <a:gd name="T35" fmla="*/ 1350 h 7426"/>
              <a:gd name="T36" fmla="*/ 4260 w 7984"/>
              <a:gd name="T37" fmla="*/ 384 h 7426"/>
              <a:gd name="T38" fmla="*/ 1480 w 7984"/>
              <a:gd name="T39" fmla="*/ 308 h 7426"/>
              <a:gd name="T40" fmla="*/ 1421 w 7984"/>
              <a:gd name="T41" fmla="*/ 5363 h 7426"/>
              <a:gd name="T42" fmla="*/ 1114 w 7984"/>
              <a:gd name="T43" fmla="*/ 5698 h 7426"/>
              <a:gd name="T44" fmla="*/ 5024 w 7984"/>
              <a:gd name="T45" fmla="*/ 1043 h 7426"/>
              <a:gd name="T46" fmla="*/ 4568 w 7984"/>
              <a:gd name="T47" fmla="*/ 1043 h 7426"/>
              <a:gd name="T48" fmla="*/ 1904 w 7984"/>
              <a:gd name="T49" fmla="*/ 1663 h 7426"/>
              <a:gd name="T50" fmla="*/ 1904 w 7984"/>
              <a:gd name="T51" fmla="*/ 2041 h 7426"/>
              <a:gd name="T52" fmla="*/ 4923 w 7984"/>
              <a:gd name="T53" fmla="*/ 1852 h 7426"/>
              <a:gd name="T54" fmla="*/ 4923 w 7984"/>
              <a:gd name="T55" fmla="*/ 2953 h 7426"/>
              <a:gd name="T56" fmla="*/ 1904 w 7984"/>
              <a:gd name="T57" fmla="*/ 2764 h 7426"/>
              <a:gd name="T58" fmla="*/ 1904 w 7984"/>
              <a:gd name="T59" fmla="*/ 3142 h 7426"/>
              <a:gd name="T60" fmla="*/ 4923 w 7984"/>
              <a:gd name="T61" fmla="*/ 2953 h 7426"/>
              <a:gd name="T62" fmla="*/ 1904 w 7984"/>
              <a:gd name="T63" fmla="*/ 4249 h 7426"/>
              <a:gd name="T64" fmla="*/ 2387 w 7984"/>
              <a:gd name="T65" fmla="*/ 3872 h 7426"/>
              <a:gd name="T66" fmla="*/ 1715 w 7984"/>
              <a:gd name="T67" fmla="*/ 4061 h 7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84" h="7426">
                <a:moveTo>
                  <a:pt x="7856" y="4511"/>
                </a:moveTo>
                <a:lnTo>
                  <a:pt x="6459" y="7154"/>
                </a:lnTo>
                <a:cubicBezTo>
                  <a:pt x="6391" y="7286"/>
                  <a:pt x="6197" y="7425"/>
                  <a:pt x="6047" y="7425"/>
                </a:cubicBezTo>
                <a:lnTo>
                  <a:pt x="446" y="7426"/>
                </a:lnTo>
                <a:cubicBezTo>
                  <a:pt x="328" y="7426"/>
                  <a:pt x="214" y="7379"/>
                  <a:pt x="131" y="7295"/>
                </a:cubicBezTo>
                <a:cubicBezTo>
                  <a:pt x="47" y="7211"/>
                  <a:pt x="0" y="7098"/>
                  <a:pt x="0" y="6980"/>
                </a:cubicBezTo>
                <a:lnTo>
                  <a:pt x="1" y="2630"/>
                </a:lnTo>
                <a:cubicBezTo>
                  <a:pt x="1" y="2384"/>
                  <a:pt x="200" y="2185"/>
                  <a:pt x="446" y="2184"/>
                </a:cubicBezTo>
                <a:lnTo>
                  <a:pt x="856" y="2184"/>
                </a:lnTo>
                <a:lnTo>
                  <a:pt x="856" y="2564"/>
                </a:lnTo>
                <a:lnTo>
                  <a:pt x="582" y="2564"/>
                </a:lnTo>
                <a:cubicBezTo>
                  <a:pt x="528" y="2564"/>
                  <a:pt x="477" y="2585"/>
                  <a:pt x="439" y="2623"/>
                </a:cubicBezTo>
                <a:cubicBezTo>
                  <a:pt x="401" y="2661"/>
                  <a:pt x="380" y="2713"/>
                  <a:pt x="380" y="2766"/>
                </a:cubicBezTo>
                <a:lnTo>
                  <a:pt x="380" y="6844"/>
                </a:lnTo>
                <a:cubicBezTo>
                  <a:pt x="380" y="6955"/>
                  <a:pt x="471" y="7046"/>
                  <a:pt x="582" y="7046"/>
                </a:cubicBezTo>
                <a:lnTo>
                  <a:pt x="863" y="7046"/>
                </a:lnTo>
                <a:lnTo>
                  <a:pt x="2187" y="4368"/>
                </a:lnTo>
                <a:cubicBezTo>
                  <a:pt x="2261" y="4219"/>
                  <a:pt x="2403" y="4098"/>
                  <a:pt x="2552" y="4098"/>
                </a:cubicBezTo>
                <a:lnTo>
                  <a:pt x="5794" y="4098"/>
                </a:lnTo>
                <a:lnTo>
                  <a:pt x="5795" y="3020"/>
                </a:lnTo>
                <a:cubicBezTo>
                  <a:pt x="6007" y="3040"/>
                  <a:pt x="6174" y="3215"/>
                  <a:pt x="6174" y="3432"/>
                </a:cubicBezTo>
                <a:lnTo>
                  <a:pt x="6174" y="4098"/>
                </a:lnTo>
                <a:lnTo>
                  <a:pt x="7661" y="4098"/>
                </a:lnTo>
                <a:cubicBezTo>
                  <a:pt x="7836" y="4099"/>
                  <a:pt x="7984" y="4273"/>
                  <a:pt x="7856" y="4511"/>
                </a:cubicBezTo>
                <a:close/>
                <a:moveTo>
                  <a:pt x="1114" y="5698"/>
                </a:moveTo>
                <a:cubicBezTo>
                  <a:pt x="1102" y="4365"/>
                  <a:pt x="1114" y="366"/>
                  <a:pt x="1114" y="366"/>
                </a:cubicBezTo>
                <a:cubicBezTo>
                  <a:pt x="1114" y="164"/>
                  <a:pt x="1278" y="0"/>
                  <a:pt x="1480" y="0"/>
                </a:cubicBezTo>
                <a:lnTo>
                  <a:pt x="4408" y="0"/>
                </a:lnTo>
                <a:cubicBezTo>
                  <a:pt x="4455" y="0"/>
                  <a:pt x="4500" y="20"/>
                  <a:pt x="4531" y="55"/>
                </a:cubicBezTo>
                <a:lnTo>
                  <a:pt x="5478" y="1083"/>
                </a:lnTo>
                <a:cubicBezTo>
                  <a:pt x="5506" y="1114"/>
                  <a:pt x="5522" y="1155"/>
                  <a:pt x="5522" y="1197"/>
                </a:cubicBezTo>
                <a:lnTo>
                  <a:pt x="5522" y="3861"/>
                </a:lnTo>
                <a:lnTo>
                  <a:pt x="5215" y="3861"/>
                </a:lnTo>
                <a:lnTo>
                  <a:pt x="5215" y="1427"/>
                </a:lnTo>
                <a:cubicBezTo>
                  <a:pt x="5215" y="1385"/>
                  <a:pt x="5181" y="1350"/>
                  <a:pt x="5139" y="1350"/>
                </a:cubicBezTo>
                <a:lnTo>
                  <a:pt x="4414" y="1350"/>
                </a:lnTo>
                <a:cubicBezTo>
                  <a:pt x="4329" y="1350"/>
                  <a:pt x="4260" y="1282"/>
                  <a:pt x="4260" y="1197"/>
                </a:cubicBezTo>
                <a:lnTo>
                  <a:pt x="4260" y="384"/>
                </a:lnTo>
                <a:cubicBezTo>
                  <a:pt x="4260" y="342"/>
                  <a:pt x="4226" y="308"/>
                  <a:pt x="4184" y="308"/>
                </a:cubicBezTo>
                <a:lnTo>
                  <a:pt x="1480" y="308"/>
                </a:lnTo>
                <a:cubicBezTo>
                  <a:pt x="1448" y="308"/>
                  <a:pt x="1421" y="334"/>
                  <a:pt x="1421" y="366"/>
                </a:cubicBezTo>
                <a:lnTo>
                  <a:pt x="1421" y="5363"/>
                </a:lnTo>
                <a:lnTo>
                  <a:pt x="1186" y="5838"/>
                </a:lnTo>
                <a:cubicBezTo>
                  <a:pt x="1186" y="5838"/>
                  <a:pt x="1115" y="5833"/>
                  <a:pt x="1114" y="5698"/>
                </a:cubicBezTo>
                <a:close/>
                <a:moveTo>
                  <a:pt x="4568" y="1043"/>
                </a:moveTo>
                <a:lnTo>
                  <a:pt x="5024" y="1043"/>
                </a:lnTo>
                <a:lnTo>
                  <a:pt x="4568" y="548"/>
                </a:lnTo>
                <a:lnTo>
                  <a:pt x="4568" y="1043"/>
                </a:lnTo>
                <a:close/>
                <a:moveTo>
                  <a:pt x="4734" y="1663"/>
                </a:moveTo>
                <a:lnTo>
                  <a:pt x="1904" y="1663"/>
                </a:lnTo>
                <a:cubicBezTo>
                  <a:pt x="1800" y="1663"/>
                  <a:pt x="1715" y="1748"/>
                  <a:pt x="1715" y="1852"/>
                </a:cubicBezTo>
                <a:cubicBezTo>
                  <a:pt x="1715" y="1956"/>
                  <a:pt x="1800" y="2041"/>
                  <a:pt x="1904" y="2041"/>
                </a:cubicBezTo>
                <a:lnTo>
                  <a:pt x="4734" y="2041"/>
                </a:lnTo>
                <a:cubicBezTo>
                  <a:pt x="4839" y="2041"/>
                  <a:pt x="4923" y="1956"/>
                  <a:pt x="4923" y="1852"/>
                </a:cubicBezTo>
                <a:cubicBezTo>
                  <a:pt x="4923" y="1748"/>
                  <a:pt x="4838" y="1663"/>
                  <a:pt x="4734" y="1663"/>
                </a:cubicBezTo>
                <a:close/>
                <a:moveTo>
                  <a:pt x="4923" y="2953"/>
                </a:moveTo>
                <a:cubicBezTo>
                  <a:pt x="4923" y="2848"/>
                  <a:pt x="4838" y="2764"/>
                  <a:pt x="4734" y="2764"/>
                </a:cubicBezTo>
                <a:lnTo>
                  <a:pt x="1904" y="2764"/>
                </a:lnTo>
                <a:cubicBezTo>
                  <a:pt x="1800" y="2764"/>
                  <a:pt x="1715" y="2849"/>
                  <a:pt x="1715" y="2953"/>
                </a:cubicBezTo>
                <a:cubicBezTo>
                  <a:pt x="1715" y="3057"/>
                  <a:pt x="1800" y="3142"/>
                  <a:pt x="1904" y="3142"/>
                </a:cubicBezTo>
                <a:lnTo>
                  <a:pt x="4734" y="3142"/>
                </a:lnTo>
                <a:cubicBezTo>
                  <a:pt x="4838" y="3142"/>
                  <a:pt x="4923" y="3057"/>
                  <a:pt x="4923" y="2953"/>
                </a:cubicBezTo>
                <a:close/>
                <a:moveTo>
                  <a:pt x="1715" y="4061"/>
                </a:moveTo>
                <a:cubicBezTo>
                  <a:pt x="1715" y="4165"/>
                  <a:pt x="1800" y="4249"/>
                  <a:pt x="1904" y="4249"/>
                </a:cubicBezTo>
                <a:lnTo>
                  <a:pt x="1972" y="4249"/>
                </a:lnTo>
                <a:cubicBezTo>
                  <a:pt x="2091" y="3917"/>
                  <a:pt x="2387" y="3872"/>
                  <a:pt x="2387" y="3872"/>
                </a:cubicBezTo>
                <a:lnTo>
                  <a:pt x="1904" y="3872"/>
                </a:lnTo>
                <a:cubicBezTo>
                  <a:pt x="1800" y="3872"/>
                  <a:pt x="1715" y="3956"/>
                  <a:pt x="1715" y="4061"/>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47" name="组合 15821"/>
          <p:cNvGrpSpPr/>
          <p:nvPr/>
        </p:nvGrpSpPr>
        <p:grpSpPr>
          <a:xfrm>
            <a:off x="5813913" y="5013176"/>
            <a:ext cx="564173" cy="604868"/>
            <a:chOff x="7294563" y="2438400"/>
            <a:chExt cx="474663" cy="508000"/>
          </a:xfrm>
          <a:solidFill>
            <a:srgbClr val="3C3C3B"/>
          </a:solidFill>
        </p:grpSpPr>
        <p:sp>
          <p:nvSpPr>
            <p:cNvPr id="48" name="Freeform 457"/>
            <p:cNvSpPr>
              <a:spLocks noEditPoints="1"/>
            </p:cNvSpPr>
            <p:nvPr/>
          </p:nvSpPr>
          <p:spPr bwMode="auto">
            <a:xfrm>
              <a:off x="7294563" y="2438400"/>
              <a:ext cx="474663" cy="508000"/>
            </a:xfrm>
            <a:custGeom>
              <a:avLst/>
              <a:gdLst>
                <a:gd name="T0" fmla="*/ 63 w 498"/>
                <a:gd name="T1" fmla="*/ 15 h 532"/>
                <a:gd name="T2" fmla="*/ 63 w 498"/>
                <a:gd name="T3" fmla="*/ 15 h 532"/>
                <a:gd name="T4" fmla="*/ 438 w 498"/>
                <a:gd name="T5" fmla="*/ 15 h 532"/>
                <a:gd name="T6" fmla="*/ 461 w 498"/>
                <a:gd name="T7" fmla="*/ 24 h 532"/>
                <a:gd name="T8" fmla="*/ 463 w 498"/>
                <a:gd name="T9" fmla="*/ 27 h 532"/>
                <a:gd name="T10" fmla="*/ 35 w 498"/>
                <a:gd name="T11" fmla="*/ 27 h 532"/>
                <a:gd name="T12" fmla="*/ 39 w 498"/>
                <a:gd name="T13" fmla="*/ 24 h 532"/>
                <a:gd name="T14" fmla="*/ 63 w 498"/>
                <a:gd name="T15" fmla="*/ 15 h 532"/>
                <a:gd name="T16" fmla="*/ 492 w 498"/>
                <a:gd name="T17" fmla="*/ 35 h 532"/>
                <a:gd name="T18" fmla="*/ 492 w 498"/>
                <a:gd name="T19" fmla="*/ 35 h 532"/>
                <a:gd name="T20" fmla="*/ 471 w 498"/>
                <a:gd name="T21" fmla="*/ 14 h 532"/>
                <a:gd name="T22" fmla="*/ 438 w 498"/>
                <a:gd name="T23" fmla="*/ 0 h 532"/>
                <a:gd name="T24" fmla="*/ 63 w 498"/>
                <a:gd name="T25" fmla="*/ 0 h 532"/>
                <a:gd name="T26" fmla="*/ 29 w 498"/>
                <a:gd name="T27" fmla="*/ 13 h 532"/>
                <a:gd name="T28" fmla="*/ 8 w 498"/>
                <a:gd name="T29" fmla="*/ 32 h 532"/>
                <a:gd name="T30" fmla="*/ 7 w 498"/>
                <a:gd name="T31" fmla="*/ 40 h 532"/>
                <a:gd name="T32" fmla="*/ 0 w 498"/>
                <a:gd name="T33" fmla="*/ 60 h 532"/>
                <a:gd name="T34" fmla="*/ 0 w 498"/>
                <a:gd name="T35" fmla="*/ 488 h 532"/>
                <a:gd name="T36" fmla="*/ 33 w 498"/>
                <a:gd name="T37" fmla="*/ 521 h 532"/>
                <a:gd name="T38" fmla="*/ 264 w 498"/>
                <a:gd name="T39" fmla="*/ 521 h 532"/>
                <a:gd name="T40" fmla="*/ 285 w 498"/>
                <a:gd name="T41" fmla="*/ 532 h 532"/>
                <a:gd name="T42" fmla="*/ 311 w 498"/>
                <a:gd name="T43" fmla="*/ 507 h 532"/>
                <a:gd name="T44" fmla="*/ 285 w 498"/>
                <a:gd name="T45" fmla="*/ 481 h 532"/>
                <a:gd name="T46" fmla="*/ 262 w 498"/>
                <a:gd name="T47" fmla="*/ 496 h 532"/>
                <a:gd name="T48" fmla="*/ 33 w 498"/>
                <a:gd name="T49" fmla="*/ 496 h 532"/>
                <a:gd name="T50" fmla="*/ 24 w 498"/>
                <a:gd name="T51" fmla="*/ 488 h 532"/>
                <a:gd name="T52" fmla="*/ 24 w 498"/>
                <a:gd name="T53" fmla="*/ 60 h 532"/>
                <a:gd name="T54" fmla="*/ 33 w 498"/>
                <a:gd name="T55" fmla="*/ 52 h 532"/>
                <a:gd name="T56" fmla="*/ 464 w 498"/>
                <a:gd name="T57" fmla="*/ 52 h 532"/>
                <a:gd name="T58" fmla="*/ 473 w 498"/>
                <a:gd name="T59" fmla="*/ 60 h 532"/>
                <a:gd name="T60" fmla="*/ 473 w 498"/>
                <a:gd name="T61" fmla="*/ 488 h 532"/>
                <a:gd name="T62" fmla="*/ 464 w 498"/>
                <a:gd name="T63" fmla="*/ 496 h 532"/>
                <a:gd name="T64" fmla="*/ 388 w 498"/>
                <a:gd name="T65" fmla="*/ 496 h 532"/>
                <a:gd name="T66" fmla="*/ 364 w 498"/>
                <a:gd name="T67" fmla="*/ 481 h 532"/>
                <a:gd name="T68" fmla="*/ 338 w 498"/>
                <a:gd name="T69" fmla="*/ 506 h 532"/>
                <a:gd name="T70" fmla="*/ 364 w 498"/>
                <a:gd name="T71" fmla="*/ 532 h 532"/>
                <a:gd name="T72" fmla="*/ 385 w 498"/>
                <a:gd name="T73" fmla="*/ 521 h 532"/>
                <a:gd name="T74" fmla="*/ 464 w 498"/>
                <a:gd name="T75" fmla="*/ 521 h 532"/>
                <a:gd name="T76" fmla="*/ 498 w 498"/>
                <a:gd name="T77" fmla="*/ 488 h 532"/>
                <a:gd name="T78" fmla="*/ 498 w 498"/>
                <a:gd name="T79" fmla="*/ 60 h 532"/>
                <a:gd name="T80" fmla="*/ 493 w 498"/>
                <a:gd name="T81" fmla="*/ 43 h 532"/>
                <a:gd name="T82" fmla="*/ 492 w 498"/>
                <a:gd name="T83" fmla="*/ 35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8" h="532">
                  <a:moveTo>
                    <a:pt x="63" y="15"/>
                  </a:moveTo>
                  <a:lnTo>
                    <a:pt x="63" y="15"/>
                  </a:lnTo>
                  <a:lnTo>
                    <a:pt x="438" y="15"/>
                  </a:lnTo>
                  <a:cubicBezTo>
                    <a:pt x="445" y="15"/>
                    <a:pt x="456" y="19"/>
                    <a:pt x="461" y="24"/>
                  </a:cubicBezTo>
                  <a:lnTo>
                    <a:pt x="463" y="27"/>
                  </a:lnTo>
                  <a:lnTo>
                    <a:pt x="35" y="27"/>
                  </a:lnTo>
                  <a:lnTo>
                    <a:pt x="39" y="24"/>
                  </a:lnTo>
                  <a:cubicBezTo>
                    <a:pt x="44" y="19"/>
                    <a:pt x="55" y="15"/>
                    <a:pt x="63" y="15"/>
                  </a:cubicBezTo>
                  <a:close/>
                  <a:moveTo>
                    <a:pt x="492" y="35"/>
                  </a:moveTo>
                  <a:lnTo>
                    <a:pt x="492" y="35"/>
                  </a:lnTo>
                  <a:lnTo>
                    <a:pt x="471" y="14"/>
                  </a:lnTo>
                  <a:cubicBezTo>
                    <a:pt x="464" y="6"/>
                    <a:pt x="449" y="0"/>
                    <a:pt x="438" y="0"/>
                  </a:cubicBezTo>
                  <a:lnTo>
                    <a:pt x="63" y="0"/>
                  </a:lnTo>
                  <a:cubicBezTo>
                    <a:pt x="52" y="0"/>
                    <a:pt x="37" y="6"/>
                    <a:pt x="29" y="13"/>
                  </a:cubicBezTo>
                  <a:lnTo>
                    <a:pt x="8" y="32"/>
                  </a:lnTo>
                  <a:cubicBezTo>
                    <a:pt x="6" y="34"/>
                    <a:pt x="6" y="37"/>
                    <a:pt x="7" y="40"/>
                  </a:cubicBezTo>
                  <a:cubicBezTo>
                    <a:pt x="2" y="46"/>
                    <a:pt x="0" y="53"/>
                    <a:pt x="0" y="60"/>
                  </a:cubicBezTo>
                  <a:lnTo>
                    <a:pt x="0" y="488"/>
                  </a:lnTo>
                  <a:cubicBezTo>
                    <a:pt x="0" y="506"/>
                    <a:pt x="15" y="521"/>
                    <a:pt x="33" y="521"/>
                  </a:cubicBezTo>
                  <a:lnTo>
                    <a:pt x="264" y="521"/>
                  </a:lnTo>
                  <a:cubicBezTo>
                    <a:pt x="268" y="528"/>
                    <a:pt x="276" y="532"/>
                    <a:pt x="285" y="532"/>
                  </a:cubicBezTo>
                  <a:cubicBezTo>
                    <a:pt x="299" y="532"/>
                    <a:pt x="311" y="521"/>
                    <a:pt x="311" y="507"/>
                  </a:cubicBezTo>
                  <a:cubicBezTo>
                    <a:pt x="311" y="493"/>
                    <a:pt x="299" y="481"/>
                    <a:pt x="285" y="481"/>
                  </a:cubicBezTo>
                  <a:cubicBezTo>
                    <a:pt x="274" y="481"/>
                    <a:pt x="266" y="487"/>
                    <a:pt x="262" y="496"/>
                  </a:cubicBezTo>
                  <a:lnTo>
                    <a:pt x="33" y="496"/>
                  </a:lnTo>
                  <a:cubicBezTo>
                    <a:pt x="28" y="496"/>
                    <a:pt x="24" y="493"/>
                    <a:pt x="24" y="488"/>
                  </a:cubicBezTo>
                  <a:lnTo>
                    <a:pt x="24" y="60"/>
                  </a:lnTo>
                  <a:cubicBezTo>
                    <a:pt x="24" y="55"/>
                    <a:pt x="28" y="52"/>
                    <a:pt x="33" y="52"/>
                  </a:cubicBezTo>
                  <a:lnTo>
                    <a:pt x="464" y="52"/>
                  </a:lnTo>
                  <a:cubicBezTo>
                    <a:pt x="469" y="52"/>
                    <a:pt x="473" y="56"/>
                    <a:pt x="473" y="60"/>
                  </a:cubicBezTo>
                  <a:lnTo>
                    <a:pt x="473" y="488"/>
                  </a:lnTo>
                  <a:cubicBezTo>
                    <a:pt x="473" y="493"/>
                    <a:pt x="469" y="496"/>
                    <a:pt x="464" y="496"/>
                  </a:cubicBezTo>
                  <a:lnTo>
                    <a:pt x="388" y="496"/>
                  </a:lnTo>
                  <a:cubicBezTo>
                    <a:pt x="384" y="487"/>
                    <a:pt x="375" y="481"/>
                    <a:pt x="364" y="481"/>
                  </a:cubicBezTo>
                  <a:cubicBezTo>
                    <a:pt x="350" y="481"/>
                    <a:pt x="338" y="492"/>
                    <a:pt x="338" y="506"/>
                  </a:cubicBezTo>
                  <a:cubicBezTo>
                    <a:pt x="338" y="521"/>
                    <a:pt x="350" y="532"/>
                    <a:pt x="364" y="532"/>
                  </a:cubicBezTo>
                  <a:cubicBezTo>
                    <a:pt x="373" y="532"/>
                    <a:pt x="381" y="528"/>
                    <a:pt x="385" y="521"/>
                  </a:cubicBezTo>
                  <a:lnTo>
                    <a:pt x="464" y="521"/>
                  </a:lnTo>
                  <a:cubicBezTo>
                    <a:pt x="483" y="521"/>
                    <a:pt x="498" y="506"/>
                    <a:pt x="498" y="488"/>
                  </a:cubicBezTo>
                  <a:lnTo>
                    <a:pt x="498" y="60"/>
                  </a:lnTo>
                  <a:cubicBezTo>
                    <a:pt x="498" y="54"/>
                    <a:pt x="496" y="48"/>
                    <a:pt x="493" y="43"/>
                  </a:cubicBezTo>
                  <a:cubicBezTo>
                    <a:pt x="494" y="40"/>
                    <a:pt x="494" y="37"/>
                    <a:pt x="492" y="35"/>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49" name="Freeform 458"/>
            <p:cNvSpPr>
              <a:spLocks noEditPoints="1"/>
            </p:cNvSpPr>
            <p:nvPr/>
          </p:nvSpPr>
          <p:spPr bwMode="auto">
            <a:xfrm>
              <a:off x="7356475" y="2520950"/>
              <a:ext cx="361950" cy="298450"/>
            </a:xfrm>
            <a:custGeom>
              <a:avLst/>
              <a:gdLst>
                <a:gd name="T0" fmla="*/ 163 w 379"/>
                <a:gd name="T1" fmla="*/ 225 h 312"/>
                <a:gd name="T2" fmla="*/ 175 w 379"/>
                <a:gd name="T3" fmla="*/ 225 h 312"/>
                <a:gd name="T4" fmla="*/ 236 w 379"/>
                <a:gd name="T5" fmla="*/ 241 h 312"/>
                <a:gd name="T6" fmla="*/ 151 w 379"/>
                <a:gd name="T7" fmla="*/ 261 h 312"/>
                <a:gd name="T8" fmla="*/ 237 w 379"/>
                <a:gd name="T9" fmla="*/ 286 h 312"/>
                <a:gd name="T10" fmla="*/ 165 w 379"/>
                <a:gd name="T11" fmla="*/ 250 h 312"/>
                <a:gd name="T12" fmla="*/ 89 w 379"/>
                <a:gd name="T13" fmla="*/ 99 h 312"/>
                <a:gd name="T14" fmla="*/ 129 w 379"/>
                <a:gd name="T15" fmla="*/ 62 h 312"/>
                <a:gd name="T16" fmla="*/ 178 w 379"/>
                <a:gd name="T17" fmla="*/ 15 h 312"/>
                <a:gd name="T18" fmla="*/ 228 w 379"/>
                <a:gd name="T19" fmla="*/ 60 h 312"/>
                <a:gd name="T20" fmla="*/ 126 w 379"/>
                <a:gd name="T21" fmla="*/ 135 h 312"/>
                <a:gd name="T22" fmla="*/ 89 w 379"/>
                <a:gd name="T23" fmla="*/ 230 h 312"/>
                <a:gd name="T24" fmla="*/ 50 w 379"/>
                <a:gd name="T25" fmla="*/ 214 h 312"/>
                <a:gd name="T26" fmla="*/ 89 w 379"/>
                <a:gd name="T27" fmla="*/ 282 h 312"/>
                <a:gd name="T28" fmla="*/ 10 w 379"/>
                <a:gd name="T29" fmla="*/ 272 h 312"/>
                <a:gd name="T30" fmla="*/ 89 w 379"/>
                <a:gd name="T31" fmla="*/ 273 h 312"/>
                <a:gd name="T32" fmla="*/ 89 w 379"/>
                <a:gd name="T33" fmla="*/ 253 h 312"/>
                <a:gd name="T34" fmla="*/ 10 w 379"/>
                <a:gd name="T35" fmla="*/ 245 h 312"/>
                <a:gd name="T36" fmla="*/ 89 w 379"/>
                <a:gd name="T37" fmla="*/ 253 h 312"/>
                <a:gd name="T38" fmla="*/ 337 w 379"/>
                <a:gd name="T39" fmla="*/ 231 h 312"/>
                <a:gd name="T40" fmla="*/ 369 w 379"/>
                <a:gd name="T41" fmla="*/ 223 h 312"/>
                <a:gd name="T42" fmla="*/ 337 w 379"/>
                <a:gd name="T43" fmla="*/ 292 h 312"/>
                <a:gd name="T44" fmla="*/ 337 w 379"/>
                <a:gd name="T45" fmla="*/ 263 h 312"/>
                <a:gd name="T46" fmla="*/ 337 w 379"/>
                <a:gd name="T47" fmla="*/ 253 h 312"/>
                <a:gd name="T48" fmla="*/ 304 w 379"/>
                <a:gd name="T49" fmla="*/ 235 h 312"/>
                <a:gd name="T50" fmla="*/ 369 w 379"/>
                <a:gd name="T51" fmla="*/ 242 h 312"/>
                <a:gd name="T52" fmla="*/ 241 w 379"/>
                <a:gd name="T53" fmla="*/ 296 h 312"/>
                <a:gd name="T54" fmla="*/ 245 w 379"/>
                <a:gd name="T55" fmla="*/ 293 h 312"/>
                <a:gd name="T56" fmla="*/ 259 w 379"/>
                <a:gd name="T57" fmla="*/ 241 h 312"/>
                <a:gd name="T58" fmla="*/ 241 w 379"/>
                <a:gd name="T59" fmla="*/ 219 h 312"/>
                <a:gd name="T60" fmla="*/ 226 w 379"/>
                <a:gd name="T61" fmla="*/ 150 h 312"/>
                <a:gd name="T62" fmla="*/ 335 w 379"/>
                <a:gd name="T63" fmla="*/ 204 h 312"/>
                <a:gd name="T64" fmla="*/ 294 w 379"/>
                <a:gd name="T65" fmla="*/ 226 h 312"/>
                <a:gd name="T66" fmla="*/ 303 w 379"/>
                <a:gd name="T67" fmla="*/ 253 h 312"/>
                <a:gd name="T68" fmla="*/ 304 w 379"/>
                <a:gd name="T69" fmla="*/ 289 h 312"/>
                <a:gd name="T70" fmla="*/ 371 w 379"/>
                <a:gd name="T71" fmla="*/ 286 h 312"/>
                <a:gd name="T72" fmla="*/ 379 w 379"/>
                <a:gd name="T73" fmla="*/ 244 h 312"/>
                <a:gd name="T74" fmla="*/ 379 w 379"/>
                <a:gd name="T75" fmla="*/ 223 h 312"/>
                <a:gd name="T76" fmla="*/ 231 w 379"/>
                <a:gd name="T77" fmla="*/ 169 h 312"/>
                <a:gd name="T78" fmla="*/ 291 w 379"/>
                <a:gd name="T79" fmla="*/ 97 h 312"/>
                <a:gd name="T80" fmla="*/ 123 w 379"/>
                <a:gd name="T81" fmla="*/ 47 h 312"/>
                <a:gd name="T82" fmla="*/ 135 w 379"/>
                <a:gd name="T83" fmla="*/ 150 h 312"/>
                <a:gd name="T84" fmla="*/ 47 w 379"/>
                <a:gd name="T85" fmla="*/ 204 h 312"/>
                <a:gd name="T86" fmla="*/ 0 w 379"/>
                <a:gd name="T87" fmla="*/ 282 h 312"/>
                <a:gd name="T88" fmla="*/ 99 w 379"/>
                <a:gd name="T89" fmla="*/ 273 h 312"/>
                <a:gd name="T90" fmla="*/ 99 w 379"/>
                <a:gd name="T91" fmla="*/ 228 h 312"/>
                <a:gd name="T92" fmla="*/ 139 w 379"/>
                <a:gd name="T93" fmla="*/ 174 h 312"/>
                <a:gd name="T94" fmla="*/ 179 w 379"/>
                <a:gd name="T95" fmla="*/ 210 h 312"/>
                <a:gd name="T96" fmla="*/ 158 w 379"/>
                <a:gd name="T97" fmla="*/ 211 h 312"/>
                <a:gd name="T98" fmla="*/ 141 w 379"/>
                <a:gd name="T99" fmla="*/ 224 h 312"/>
                <a:gd name="T100" fmla="*/ 141 w 379"/>
                <a:gd name="T101" fmla="*/ 292 h 312"/>
                <a:gd name="T102" fmla="*/ 143 w 379"/>
                <a:gd name="T103" fmla="*/ 294 h 312"/>
                <a:gd name="T104" fmla="*/ 144 w 379"/>
                <a:gd name="T105" fmla="*/ 295 h 312"/>
                <a:gd name="T106" fmla="*/ 241 w 379"/>
                <a:gd name="T107" fmla="*/ 29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9" h="312">
                  <a:moveTo>
                    <a:pt x="159" y="229"/>
                  </a:moveTo>
                  <a:lnTo>
                    <a:pt x="159" y="229"/>
                  </a:lnTo>
                  <a:cubicBezTo>
                    <a:pt x="161" y="229"/>
                    <a:pt x="163" y="227"/>
                    <a:pt x="163" y="225"/>
                  </a:cubicBezTo>
                  <a:lnTo>
                    <a:pt x="166" y="217"/>
                  </a:lnTo>
                  <a:lnTo>
                    <a:pt x="172" y="217"/>
                  </a:lnTo>
                  <a:lnTo>
                    <a:pt x="175" y="225"/>
                  </a:lnTo>
                  <a:cubicBezTo>
                    <a:pt x="176" y="227"/>
                    <a:pt x="177" y="229"/>
                    <a:pt x="179" y="229"/>
                  </a:cubicBezTo>
                  <a:lnTo>
                    <a:pt x="236" y="229"/>
                  </a:lnTo>
                  <a:lnTo>
                    <a:pt x="236" y="241"/>
                  </a:lnTo>
                  <a:lnTo>
                    <a:pt x="162" y="241"/>
                  </a:lnTo>
                  <a:cubicBezTo>
                    <a:pt x="159" y="241"/>
                    <a:pt x="158" y="242"/>
                    <a:pt x="157" y="244"/>
                  </a:cubicBezTo>
                  <a:lnTo>
                    <a:pt x="151" y="261"/>
                  </a:lnTo>
                  <a:lnTo>
                    <a:pt x="151" y="229"/>
                  </a:lnTo>
                  <a:lnTo>
                    <a:pt x="159" y="229"/>
                  </a:lnTo>
                  <a:close/>
                  <a:moveTo>
                    <a:pt x="237" y="286"/>
                  </a:moveTo>
                  <a:lnTo>
                    <a:pt x="237" y="286"/>
                  </a:lnTo>
                  <a:lnTo>
                    <a:pt x="153" y="286"/>
                  </a:lnTo>
                  <a:lnTo>
                    <a:pt x="165" y="250"/>
                  </a:lnTo>
                  <a:lnTo>
                    <a:pt x="252" y="250"/>
                  </a:lnTo>
                  <a:lnTo>
                    <a:pt x="237" y="286"/>
                  </a:lnTo>
                  <a:close/>
                  <a:moveTo>
                    <a:pt x="89" y="99"/>
                  </a:moveTo>
                  <a:lnTo>
                    <a:pt x="89" y="99"/>
                  </a:lnTo>
                  <a:cubicBezTo>
                    <a:pt x="89" y="78"/>
                    <a:pt x="106" y="62"/>
                    <a:pt x="126" y="62"/>
                  </a:cubicBezTo>
                  <a:cubicBezTo>
                    <a:pt x="127" y="62"/>
                    <a:pt x="128" y="62"/>
                    <a:pt x="129" y="62"/>
                  </a:cubicBezTo>
                  <a:lnTo>
                    <a:pt x="137" y="62"/>
                  </a:lnTo>
                  <a:lnTo>
                    <a:pt x="137" y="55"/>
                  </a:lnTo>
                  <a:cubicBezTo>
                    <a:pt x="138" y="33"/>
                    <a:pt x="155" y="15"/>
                    <a:pt x="178" y="15"/>
                  </a:cubicBezTo>
                  <a:cubicBezTo>
                    <a:pt x="199" y="15"/>
                    <a:pt x="217" y="32"/>
                    <a:pt x="218" y="53"/>
                  </a:cubicBezTo>
                  <a:lnTo>
                    <a:pt x="219" y="62"/>
                  </a:lnTo>
                  <a:lnTo>
                    <a:pt x="228" y="60"/>
                  </a:lnTo>
                  <a:cubicBezTo>
                    <a:pt x="253" y="53"/>
                    <a:pt x="276" y="72"/>
                    <a:pt x="276" y="97"/>
                  </a:cubicBezTo>
                  <a:cubicBezTo>
                    <a:pt x="276" y="118"/>
                    <a:pt x="259" y="135"/>
                    <a:pt x="238" y="135"/>
                  </a:cubicBezTo>
                  <a:lnTo>
                    <a:pt x="126" y="135"/>
                  </a:lnTo>
                  <a:cubicBezTo>
                    <a:pt x="106" y="135"/>
                    <a:pt x="89" y="119"/>
                    <a:pt x="89" y="99"/>
                  </a:cubicBezTo>
                  <a:close/>
                  <a:moveTo>
                    <a:pt x="89" y="230"/>
                  </a:moveTo>
                  <a:lnTo>
                    <a:pt x="89" y="230"/>
                  </a:lnTo>
                  <a:cubicBezTo>
                    <a:pt x="89" y="237"/>
                    <a:pt x="72" y="246"/>
                    <a:pt x="50" y="246"/>
                  </a:cubicBezTo>
                  <a:cubicBezTo>
                    <a:pt x="27" y="246"/>
                    <a:pt x="10" y="237"/>
                    <a:pt x="10" y="230"/>
                  </a:cubicBezTo>
                  <a:cubicBezTo>
                    <a:pt x="10" y="222"/>
                    <a:pt x="27" y="214"/>
                    <a:pt x="50" y="214"/>
                  </a:cubicBezTo>
                  <a:cubicBezTo>
                    <a:pt x="72" y="214"/>
                    <a:pt x="89" y="222"/>
                    <a:pt x="89" y="230"/>
                  </a:cubicBezTo>
                  <a:close/>
                  <a:moveTo>
                    <a:pt x="89" y="282"/>
                  </a:moveTo>
                  <a:lnTo>
                    <a:pt x="89" y="282"/>
                  </a:lnTo>
                  <a:cubicBezTo>
                    <a:pt x="89" y="292"/>
                    <a:pt x="73" y="302"/>
                    <a:pt x="50" y="302"/>
                  </a:cubicBezTo>
                  <a:cubicBezTo>
                    <a:pt x="26" y="302"/>
                    <a:pt x="10" y="292"/>
                    <a:pt x="10" y="282"/>
                  </a:cubicBezTo>
                  <a:lnTo>
                    <a:pt x="10" y="272"/>
                  </a:lnTo>
                  <a:cubicBezTo>
                    <a:pt x="19" y="279"/>
                    <a:pt x="33" y="283"/>
                    <a:pt x="50" y="283"/>
                  </a:cubicBezTo>
                  <a:cubicBezTo>
                    <a:pt x="66" y="283"/>
                    <a:pt x="80" y="279"/>
                    <a:pt x="89" y="272"/>
                  </a:cubicBezTo>
                  <a:lnTo>
                    <a:pt x="89" y="273"/>
                  </a:lnTo>
                  <a:lnTo>
                    <a:pt x="89" y="282"/>
                  </a:lnTo>
                  <a:close/>
                  <a:moveTo>
                    <a:pt x="89" y="253"/>
                  </a:moveTo>
                  <a:lnTo>
                    <a:pt x="89" y="253"/>
                  </a:lnTo>
                  <a:cubicBezTo>
                    <a:pt x="89" y="263"/>
                    <a:pt x="73" y="273"/>
                    <a:pt x="50" y="273"/>
                  </a:cubicBezTo>
                  <a:cubicBezTo>
                    <a:pt x="26" y="273"/>
                    <a:pt x="10" y="263"/>
                    <a:pt x="10" y="253"/>
                  </a:cubicBezTo>
                  <a:lnTo>
                    <a:pt x="10" y="245"/>
                  </a:lnTo>
                  <a:cubicBezTo>
                    <a:pt x="19" y="252"/>
                    <a:pt x="33" y="256"/>
                    <a:pt x="50" y="256"/>
                  </a:cubicBezTo>
                  <a:cubicBezTo>
                    <a:pt x="66" y="256"/>
                    <a:pt x="80" y="252"/>
                    <a:pt x="89" y="245"/>
                  </a:cubicBezTo>
                  <a:lnTo>
                    <a:pt x="89" y="253"/>
                  </a:lnTo>
                  <a:close/>
                  <a:moveTo>
                    <a:pt x="369" y="223"/>
                  </a:moveTo>
                  <a:lnTo>
                    <a:pt x="369" y="223"/>
                  </a:lnTo>
                  <a:cubicBezTo>
                    <a:pt x="369" y="225"/>
                    <a:pt x="358" y="231"/>
                    <a:pt x="337" y="231"/>
                  </a:cubicBezTo>
                  <a:cubicBezTo>
                    <a:pt x="315" y="231"/>
                    <a:pt x="304" y="225"/>
                    <a:pt x="304" y="223"/>
                  </a:cubicBezTo>
                  <a:cubicBezTo>
                    <a:pt x="304" y="221"/>
                    <a:pt x="315" y="214"/>
                    <a:pt x="337" y="214"/>
                  </a:cubicBezTo>
                  <a:cubicBezTo>
                    <a:pt x="358" y="214"/>
                    <a:pt x="369" y="221"/>
                    <a:pt x="369" y="223"/>
                  </a:cubicBezTo>
                  <a:close/>
                  <a:moveTo>
                    <a:pt x="361" y="283"/>
                  </a:moveTo>
                  <a:lnTo>
                    <a:pt x="361" y="283"/>
                  </a:lnTo>
                  <a:cubicBezTo>
                    <a:pt x="357" y="286"/>
                    <a:pt x="349" y="292"/>
                    <a:pt x="337" y="292"/>
                  </a:cubicBezTo>
                  <a:cubicBezTo>
                    <a:pt x="325" y="292"/>
                    <a:pt x="316" y="286"/>
                    <a:pt x="312" y="283"/>
                  </a:cubicBezTo>
                  <a:lnTo>
                    <a:pt x="312" y="259"/>
                  </a:lnTo>
                  <a:cubicBezTo>
                    <a:pt x="318" y="261"/>
                    <a:pt x="326" y="263"/>
                    <a:pt x="337" y="263"/>
                  </a:cubicBezTo>
                  <a:cubicBezTo>
                    <a:pt x="347" y="263"/>
                    <a:pt x="355" y="261"/>
                    <a:pt x="361" y="259"/>
                  </a:cubicBezTo>
                  <a:lnTo>
                    <a:pt x="361" y="283"/>
                  </a:lnTo>
                  <a:close/>
                  <a:moveTo>
                    <a:pt x="337" y="253"/>
                  </a:moveTo>
                  <a:lnTo>
                    <a:pt x="337" y="253"/>
                  </a:lnTo>
                  <a:cubicBezTo>
                    <a:pt x="313" y="253"/>
                    <a:pt x="306" y="243"/>
                    <a:pt x="304" y="241"/>
                  </a:cubicBezTo>
                  <a:lnTo>
                    <a:pt x="304" y="235"/>
                  </a:lnTo>
                  <a:cubicBezTo>
                    <a:pt x="312" y="239"/>
                    <a:pt x="325" y="241"/>
                    <a:pt x="337" y="241"/>
                  </a:cubicBezTo>
                  <a:cubicBezTo>
                    <a:pt x="349" y="241"/>
                    <a:pt x="361" y="239"/>
                    <a:pt x="369" y="235"/>
                  </a:cubicBezTo>
                  <a:lnTo>
                    <a:pt x="369" y="242"/>
                  </a:lnTo>
                  <a:cubicBezTo>
                    <a:pt x="367" y="245"/>
                    <a:pt x="360" y="253"/>
                    <a:pt x="337" y="253"/>
                  </a:cubicBezTo>
                  <a:close/>
                  <a:moveTo>
                    <a:pt x="241" y="296"/>
                  </a:moveTo>
                  <a:lnTo>
                    <a:pt x="241" y="296"/>
                  </a:lnTo>
                  <a:cubicBezTo>
                    <a:pt x="241" y="296"/>
                    <a:pt x="242" y="296"/>
                    <a:pt x="242" y="295"/>
                  </a:cubicBezTo>
                  <a:cubicBezTo>
                    <a:pt x="243" y="295"/>
                    <a:pt x="245" y="294"/>
                    <a:pt x="245" y="293"/>
                  </a:cubicBezTo>
                  <a:lnTo>
                    <a:pt x="245" y="293"/>
                  </a:lnTo>
                  <a:lnTo>
                    <a:pt x="264" y="247"/>
                  </a:lnTo>
                  <a:cubicBezTo>
                    <a:pt x="264" y="246"/>
                    <a:pt x="264" y="244"/>
                    <a:pt x="263" y="243"/>
                  </a:cubicBezTo>
                  <a:cubicBezTo>
                    <a:pt x="262" y="241"/>
                    <a:pt x="261" y="241"/>
                    <a:pt x="259" y="241"/>
                  </a:cubicBezTo>
                  <a:lnTo>
                    <a:pt x="246" y="241"/>
                  </a:lnTo>
                  <a:lnTo>
                    <a:pt x="246" y="224"/>
                  </a:lnTo>
                  <a:cubicBezTo>
                    <a:pt x="246" y="221"/>
                    <a:pt x="244" y="219"/>
                    <a:pt x="241" y="219"/>
                  </a:cubicBezTo>
                  <a:lnTo>
                    <a:pt x="184" y="219"/>
                  </a:lnTo>
                  <a:lnTo>
                    <a:pt x="184" y="150"/>
                  </a:lnTo>
                  <a:lnTo>
                    <a:pt x="226" y="150"/>
                  </a:lnTo>
                  <a:lnTo>
                    <a:pt x="226" y="174"/>
                  </a:lnTo>
                  <a:lnTo>
                    <a:pt x="335" y="174"/>
                  </a:lnTo>
                  <a:lnTo>
                    <a:pt x="335" y="204"/>
                  </a:lnTo>
                  <a:cubicBezTo>
                    <a:pt x="315" y="205"/>
                    <a:pt x="294" y="210"/>
                    <a:pt x="294" y="223"/>
                  </a:cubicBezTo>
                  <a:cubicBezTo>
                    <a:pt x="294" y="223"/>
                    <a:pt x="294" y="224"/>
                    <a:pt x="295" y="224"/>
                  </a:cubicBezTo>
                  <a:cubicBezTo>
                    <a:pt x="294" y="225"/>
                    <a:pt x="294" y="225"/>
                    <a:pt x="294" y="226"/>
                  </a:cubicBezTo>
                  <a:lnTo>
                    <a:pt x="294" y="242"/>
                  </a:lnTo>
                  <a:cubicBezTo>
                    <a:pt x="294" y="243"/>
                    <a:pt x="294" y="243"/>
                    <a:pt x="295" y="244"/>
                  </a:cubicBezTo>
                  <a:cubicBezTo>
                    <a:pt x="295" y="244"/>
                    <a:pt x="297" y="249"/>
                    <a:pt x="303" y="253"/>
                  </a:cubicBezTo>
                  <a:cubicBezTo>
                    <a:pt x="303" y="254"/>
                    <a:pt x="302" y="254"/>
                    <a:pt x="302" y="254"/>
                  </a:cubicBezTo>
                  <a:lnTo>
                    <a:pt x="302" y="286"/>
                  </a:lnTo>
                  <a:cubicBezTo>
                    <a:pt x="302" y="287"/>
                    <a:pt x="303" y="288"/>
                    <a:pt x="304" y="289"/>
                  </a:cubicBezTo>
                  <a:cubicBezTo>
                    <a:pt x="304" y="290"/>
                    <a:pt x="317" y="302"/>
                    <a:pt x="337" y="302"/>
                  </a:cubicBezTo>
                  <a:cubicBezTo>
                    <a:pt x="356" y="302"/>
                    <a:pt x="369" y="290"/>
                    <a:pt x="369" y="289"/>
                  </a:cubicBezTo>
                  <a:cubicBezTo>
                    <a:pt x="370" y="288"/>
                    <a:pt x="371" y="287"/>
                    <a:pt x="371" y="286"/>
                  </a:cubicBezTo>
                  <a:lnTo>
                    <a:pt x="371" y="255"/>
                  </a:lnTo>
                  <a:cubicBezTo>
                    <a:pt x="376" y="251"/>
                    <a:pt x="378" y="247"/>
                    <a:pt x="379" y="246"/>
                  </a:cubicBezTo>
                  <a:cubicBezTo>
                    <a:pt x="379" y="245"/>
                    <a:pt x="379" y="244"/>
                    <a:pt x="379" y="244"/>
                  </a:cubicBezTo>
                  <a:lnTo>
                    <a:pt x="379" y="226"/>
                  </a:lnTo>
                  <a:cubicBezTo>
                    <a:pt x="379" y="225"/>
                    <a:pt x="379" y="225"/>
                    <a:pt x="379" y="224"/>
                  </a:cubicBezTo>
                  <a:cubicBezTo>
                    <a:pt x="379" y="224"/>
                    <a:pt x="379" y="223"/>
                    <a:pt x="379" y="223"/>
                  </a:cubicBezTo>
                  <a:cubicBezTo>
                    <a:pt x="379" y="211"/>
                    <a:pt x="359" y="205"/>
                    <a:pt x="340" y="204"/>
                  </a:cubicBezTo>
                  <a:lnTo>
                    <a:pt x="340" y="169"/>
                  </a:lnTo>
                  <a:lnTo>
                    <a:pt x="231" y="169"/>
                  </a:lnTo>
                  <a:lnTo>
                    <a:pt x="231" y="150"/>
                  </a:lnTo>
                  <a:lnTo>
                    <a:pt x="238" y="150"/>
                  </a:lnTo>
                  <a:cubicBezTo>
                    <a:pt x="267" y="150"/>
                    <a:pt x="291" y="126"/>
                    <a:pt x="291" y="97"/>
                  </a:cubicBezTo>
                  <a:cubicBezTo>
                    <a:pt x="291" y="66"/>
                    <a:pt x="263" y="40"/>
                    <a:pt x="232" y="44"/>
                  </a:cubicBezTo>
                  <a:cubicBezTo>
                    <a:pt x="226" y="19"/>
                    <a:pt x="204" y="0"/>
                    <a:pt x="178" y="0"/>
                  </a:cubicBezTo>
                  <a:cubicBezTo>
                    <a:pt x="150" y="0"/>
                    <a:pt x="127" y="20"/>
                    <a:pt x="123" y="47"/>
                  </a:cubicBezTo>
                  <a:cubicBezTo>
                    <a:pt x="96" y="49"/>
                    <a:pt x="75" y="71"/>
                    <a:pt x="75" y="99"/>
                  </a:cubicBezTo>
                  <a:cubicBezTo>
                    <a:pt x="75" y="127"/>
                    <a:pt x="98" y="150"/>
                    <a:pt x="126" y="150"/>
                  </a:cubicBezTo>
                  <a:lnTo>
                    <a:pt x="135" y="150"/>
                  </a:lnTo>
                  <a:lnTo>
                    <a:pt x="135" y="169"/>
                  </a:lnTo>
                  <a:lnTo>
                    <a:pt x="47" y="169"/>
                  </a:lnTo>
                  <a:lnTo>
                    <a:pt x="47" y="204"/>
                  </a:lnTo>
                  <a:cubicBezTo>
                    <a:pt x="22" y="204"/>
                    <a:pt x="4" y="214"/>
                    <a:pt x="1" y="226"/>
                  </a:cubicBezTo>
                  <a:cubicBezTo>
                    <a:pt x="0" y="227"/>
                    <a:pt x="0" y="228"/>
                    <a:pt x="0" y="228"/>
                  </a:cubicBezTo>
                  <a:lnTo>
                    <a:pt x="0" y="282"/>
                  </a:lnTo>
                  <a:cubicBezTo>
                    <a:pt x="0" y="299"/>
                    <a:pt x="22" y="312"/>
                    <a:pt x="50" y="312"/>
                  </a:cubicBezTo>
                  <a:cubicBezTo>
                    <a:pt x="77" y="312"/>
                    <a:pt x="99" y="299"/>
                    <a:pt x="99" y="282"/>
                  </a:cubicBezTo>
                  <a:lnTo>
                    <a:pt x="99" y="273"/>
                  </a:lnTo>
                  <a:lnTo>
                    <a:pt x="99" y="262"/>
                  </a:lnTo>
                  <a:lnTo>
                    <a:pt x="99" y="228"/>
                  </a:lnTo>
                  <a:lnTo>
                    <a:pt x="99" y="228"/>
                  </a:lnTo>
                  <a:cubicBezTo>
                    <a:pt x="98" y="215"/>
                    <a:pt x="78" y="204"/>
                    <a:pt x="52" y="204"/>
                  </a:cubicBezTo>
                  <a:lnTo>
                    <a:pt x="52" y="174"/>
                  </a:lnTo>
                  <a:lnTo>
                    <a:pt x="139" y="174"/>
                  </a:lnTo>
                  <a:lnTo>
                    <a:pt x="139" y="150"/>
                  </a:lnTo>
                  <a:lnTo>
                    <a:pt x="179" y="150"/>
                  </a:lnTo>
                  <a:lnTo>
                    <a:pt x="179" y="210"/>
                  </a:lnTo>
                  <a:cubicBezTo>
                    <a:pt x="178" y="208"/>
                    <a:pt x="177" y="207"/>
                    <a:pt x="175" y="207"/>
                  </a:cubicBezTo>
                  <a:lnTo>
                    <a:pt x="163" y="207"/>
                  </a:lnTo>
                  <a:cubicBezTo>
                    <a:pt x="160" y="207"/>
                    <a:pt x="159" y="209"/>
                    <a:pt x="158" y="211"/>
                  </a:cubicBezTo>
                  <a:lnTo>
                    <a:pt x="155" y="219"/>
                  </a:lnTo>
                  <a:lnTo>
                    <a:pt x="146" y="219"/>
                  </a:lnTo>
                  <a:cubicBezTo>
                    <a:pt x="143" y="219"/>
                    <a:pt x="141" y="221"/>
                    <a:pt x="141" y="224"/>
                  </a:cubicBezTo>
                  <a:lnTo>
                    <a:pt x="141" y="291"/>
                  </a:lnTo>
                  <a:cubicBezTo>
                    <a:pt x="141" y="291"/>
                    <a:pt x="141" y="291"/>
                    <a:pt x="141" y="291"/>
                  </a:cubicBezTo>
                  <a:cubicBezTo>
                    <a:pt x="141" y="291"/>
                    <a:pt x="141" y="292"/>
                    <a:pt x="141" y="292"/>
                  </a:cubicBezTo>
                  <a:cubicBezTo>
                    <a:pt x="141" y="292"/>
                    <a:pt x="141" y="293"/>
                    <a:pt x="142" y="293"/>
                  </a:cubicBezTo>
                  <a:cubicBezTo>
                    <a:pt x="142" y="293"/>
                    <a:pt x="142" y="293"/>
                    <a:pt x="142" y="294"/>
                  </a:cubicBezTo>
                  <a:cubicBezTo>
                    <a:pt x="142" y="294"/>
                    <a:pt x="142" y="294"/>
                    <a:pt x="143" y="294"/>
                  </a:cubicBezTo>
                  <a:cubicBezTo>
                    <a:pt x="143" y="294"/>
                    <a:pt x="143" y="295"/>
                    <a:pt x="143" y="295"/>
                  </a:cubicBezTo>
                  <a:cubicBezTo>
                    <a:pt x="144" y="295"/>
                    <a:pt x="144" y="295"/>
                    <a:pt x="144" y="295"/>
                  </a:cubicBezTo>
                  <a:cubicBezTo>
                    <a:pt x="144" y="295"/>
                    <a:pt x="144" y="295"/>
                    <a:pt x="144" y="295"/>
                  </a:cubicBezTo>
                  <a:cubicBezTo>
                    <a:pt x="145" y="296"/>
                    <a:pt x="146" y="296"/>
                    <a:pt x="146" y="296"/>
                  </a:cubicBezTo>
                  <a:lnTo>
                    <a:pt x="241" y="296"/>
                  </a:lnTo>
                  <a:cubicBezTo>
                    <a:pt x="241" y="296"/>
                    <a:pt x="241" y="296"/>
                    <a:pt x="241" y="296"/>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0" name="Freeform 459"/>
            <p:cNvSpPr>
              <a:spLocks/>
            </p:cNvSpPr>
            <p:nvPr/>
          </p:nvSpPr>
          <p:spPr bwMode="auto">
            <a:xfrm>
              <a:off x="7402513" y="2843213"/>
              <a:ext cx="12700" cy="22225"/>
            </a:xfrm>
            <a:custGeom>
              <a:avLst/>
              <a:gdLst>
                <a:gd name="T0" fmla="*/ 14 w 14"/>
                <a:gd name="T1" fmla="*/ 4 h 24"/>
                <a:gd name="T2" fmla="*/ 14 w 14"/>
                <a:gd name="T3" fmla="*/ 4 h 24"/>
                <a:gd name="T4" fmla="*/ 14 w 14"/>
                <a:gd name="T5" fmla="*/ 0 h 24"/>
                <a:gd name="T6" fmla="*/ 0 w 14"/>
                <a:gd name="T7" fmla="*/ 0 h 24"/>
                <a:gd name="T8" fmla="*/ 0 w 14"/>
                <a:gd name="T9" fmla="*/ 24 h 24"/>
                <a:gd name="T10" fmla="*/ 5 w 14"/>
                <a:gd name="T11" fmla="*/ 24 h 24"/>
                <a:gd name="T12" fmla="*/ 5 w 14"/>
                <a:gd name="T13" fmla="*/ 15 h 24"/>
                <a:gd name="T14" fmla="*/ 13 w 14"/>
                <a:gd name="T15" fmla="*/ 15 h 24"/>
                <a:gd name="T16" fmla="*/ 13 w 14"/>
                <a:gd name="T17" fmla="*/ 10 h 24"/>
                <a:gd name="T18" fmla="*/ 5 w 14"/>
                <a:gd name="T19" fmla="*/ 10 h 24"/>
                <a:gd name="T20" fmla="*/ 5 w 14"/>
                <a:gd name="T21" fmla="*/ 4 h 24"/>
                <a:gd name="T22" fmla="*/ 14 w 14"/>
                <a:gd name="T23"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24">
                  <a:moveTo>
                    <a:pt x="14" y="4"/>
                  </a:moveTo>
                  <a:lnTo>
                    <a:pt x="14" y="4"/>
                  </a:lnTo>
                  <a:lnTo>
                    <a:pt x="14" y="0"/>
                  </a:lnTo>
                  <a:lnTo>
                    <a:pt x="0" y="0"/>
                  </a:lnTo>
                  <a:lnTo>
                    <a:pt x="0" y="24"/>
                  </a:lnTo>
                  <a:lnTo>
                    <a:pt x="5" y="24"/>
                  </a:lnTo>
                  <a:lnTo>
                    <a:pt x="5" y="15"/>
                  </a:lnTo>
                  <a:lnTo>
                    <a:pt x="13" y="15"/>
                  </a:lnTo>
                  <a:lnTo>
                    <a:pt x="13" y="10"/>
                  </a:lnTo>
                  <a:lnTo>
                    <a:pt x="5" y="10"/>
                  </a:lnTo>
                  <a:lnTo>
                    <a:pt x="5" y="4"/>
                  </a:lnTo>
                  <a:lnTo>
                    <a:pt x="14" y="4"/>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1" name="Freeform 460"/>
            <p:cNvSpPr>
              <a:spLocks/>
            </p:cNvSpPr>
            <p:nvPr/>
          </p:nvSpPr>
          <p:spPr bwMode="auto">
            <a:xfrm>
              <a:off x="7418388" y="2849563"/>
              <a:ext cx="15875" cy="17463"/>
            </a:xfrm>
            <a:custGeom>
              <a:avLst/>
              <a:gdLst>
                <a:gd name="T0" fmla="*/ 17 w 17"/>
                <a:gd name="T1" fmla="*/ 17 h 18"/>
                <a:gd name="T2" fmla="*/ 17 w 17"/>
                <a:gd name="T3" fmla="*/ 17 h 18"/>
                <a:gd name="T4" fmla="*/ 17 w 17"/>
                <a:gd name="T5" fmla="*/ 0 h 18"/>
                <a:gd name="T6" fmla="*/ 12 w 17"/>
                <a:gd name="T7" fmla="*/ 0 h 18"/>
                <a:gd name="T8" fmla="*/ 12 w 17"/>
                <a:gd name="T9" fmla="*/ 10 h 18"/>
                <a:gd name="T10" fmla="*/ 11 w 17"/>
                <a:gd name="T11" fmla="*/ 13 h 18"/>
                <a:gd name="T12" fmla="*/ 8 w 17"/>
                <a:gd name="T13" fmla="*/ 14 h 18"/>
                <a:gd name="T14" fmla="*/ 5 w 17"/>
                <a:gd name="T15" fmla="*/ 10 h 18"/>
                <a:gd name="T16" fmla="*/ 5 w 17"/>
                <a:gd name="T17" fmla="*/ 0 h 18"/>
                <a:gd name="T18" fmla="*/ 0 w 17"/>
                <a:gd name="T19" fmla="*/ 0 h 18"/>
                <a:gd name="T20" fmla="*/ 0 w 17"/>
                <a:gd name="T21" fmla="*/ 10 h 18"/>
                <a:gd name="T22" fmla="*/ 6 w 17"/>
                <a:gd name="T23" fmla="*/ 18 h 18"/>
                <a:gd name="T24" fmla="*/ 12 w 17"/>
                <a:gd name="T25" fmla="*/ 15 h 18"/>
                <a:gd name="T26" fmla="*/ 12 w 17"/>
                <a:gd name="T27" fmla="*/ 15 h 18"/>
                <a:gd name="T28" fmla="*/ 12 w 17"/>
                <a:gd name="T29" fmla="*/ 17 h 18"/>
                <a:gd name="T30" fmla="*/ 17 w 17"/>
                <a:gd name="T31" fmla="*/ 1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17" y="17"/>
                  </a:moveTo>
                  <a:lnTo>
                    <a:pt x="17" y="17"/>
                  </a:lnTo>
                  <a:lnTo>
                    <a:pt x="17" y="0"/>
                  </a:lnTo>
                  <a:lnTo>
                    <a:pt x="12" y="0"/>
                  </a:lnTo>
                  <a:lnTo>
                    <a:pt x="12" y="10"/>
                  </a:lnTo>
                  <a:cubicBezTo>
                    <a:pt x="12" y="11"/>
                    <a:pt x="12" y="12"/>
                    <a:pt x="11" y="13"/>
                  </a:cubicBezTo>
                  <a:cubicBezTo>
                    <a:pt x="10" y="14"/>
                    <a:pt x="10" y="14"/>
                    <a:pt x="8" y="14"/>
                  </a:cubicBezTo>
                  <a:cubicBezTo>
                    <a:pt x="6" y="14"/>
                    <a:pt x="5" y="13"/>
                    <a:pt x="5" y="10"/>
                  </a:cubicBezTo>
                  <a:lnTo>
                    <a:pt x="5" y="0"/>
                  </a:lnTo>
                  <a:lnTo>
                    <a:pt x="0" y="0"/>
                  </a:lnTo>
                  <a:lnTo>
                    <a:pt x="0" y="10"/>
                  </a:lnTo>
                  <a:cubicBezTo>
                    <a:pt x="0" y="15"/>
                    <a:pt x="2" y="18"/>
                    <a:pt x="6" y="18"/>
                  </a:cubicBezTo>
                  <a:cubicBezTo>
                    <a:pt x="9" y="18"/>
                    <a:pt x="10" y="17"/>
                    <a:pt x="12" y="15"/>
                  </a:cubicBezTo>
                  <a:lnTo>
                    <a:pt x="12" y="15"/>
                  </a:lnTo>
                  <a:lnTo>
                    <a:pt x="12" y="17"/>
                  </a:lnTo>
                  <a:lnTo>
                    <a:pt x="17" y="17"/>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2" name="Freeform 461"/>
            <p:cNvSpPr>
              <a:spLocks/>
            </p:cNvSpPr>
            <p:nvPr/>
          </p:nvSpPr>
          <p:spPr bwMode="auto">
            <a:xfrm>
              <a:off x="7439025" y="2847975"/>
              <a:ext cx="11113" cy="19050"/>
            </a:xfrm>
            <a:custGeom>
              <a:avLst/>
              <a:gdLst>
                <a:gd name="T0" fmla="*/ 5 w 13"/>
                <a:gd name="T1" fmla="*/ 15 h 19"/>
                <a:gd name="T2" fmla="*/ 5 w 13"/>
                <a:gd name="T3" fmla="*/ 15 h 19"/>
                <a:gd name="T4" fmla="*/ 0 w 13"/>
                <a:gd name="T5" fmla="*/ 14 h 19"/>
                <a:gd name="T6" fmla="*/ 0 w 13"/>
                <a:gd name="T7" fmla="*/ 18 h 19"/>
                <a:gd name="T8" fmla="*/ 5 w 13"/>
                <a:gd name="T9" fmla="*/ 19 h 19"/>
                <a:gd name="T10" fmla="*/ 11 w 13"/>
                <a:gd name="T11" fmla="*/ 17 h 19"/>
                <a:gd name="T12" fmla="*/ 13 w 13"/>
                <a:gd name="T13" fmla="*/ 13 h 19"/>
                <a:gd name="T14" fmla="*/ 13 w 13"/>
                <a:gd name="T15" fmla="*/ 11 h 19"/>
                <a:gd name="T16" fmla="*/ 11 w 13"/>
                <a:gd name="T17" fmla="*/ 9 h 19"/>
                <a:gd name="T18" fmla="*/ 7 w 13"/>
                <a:gd name="T19" fmla="*/ 8 h 19"/>
                <a:gd name="T20" fmla="*/ 5 w 13"/>
                <a:gd name="T21" fmla="*/ 6 h 19"/>
                <a:gd name="T22" fmla="*/ 6 w 13"/>
                <a:gd name="T23" fmla="*/ 4 h 19"/>
                <a:gd name="T24" fmla="*/ 8 w 13"/>
                <a:gd name="T25" fmla="*/ 4 h 19"/>
                <a:gd name="T26" fmla="*/ 12 w 13"/>
                <a:gd name="T27" fmla="*/ 5 h 19"/>
                <a:gd name="T28" fmla="*/ 12 w 13"/>
                <a:gd name="T29" fmla="*/ 1 h 19"/>
                <a:gd name="T30" fmla="*/ 8 w 13"/>
                <a:gd name="T31" fmla="*/ 0 h 19"/>
                <a:gd name="T32" fmla="*/ 2 w 13"/>
                <a:gd name="T33" fmla="*/ 2 h 19"/>
                <a:gd name="T34" fmla="*/ 0 w 13"/>
                <a:gd name="T35" fmla="*/ 6 h 19"/>
                <a:gd name="T36" fmla="*/ 1 w 13"/>
                <a:gd name="T37" fmla="*/ 9 h 19"/>
                <a:gd name="T38" fmla="*/ 6 w 13"/>
                <a:gd name="T39" fmla="*/ 12 h 19"/>
                <a:gd name="T40" fmla="*/ 8 w 13"/>
                <a:gd name="T41" fmla="*/ 14 h 19"/>
                <a:gd name="T42" fmla="*/ 5 w 13"/>
                <a:gd name="T43" fmla="*/ 1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 h="19">
                  <a:moveTo>
                    <a:pt x="5" y="15"/>
                  </a:moveTo>
                  <a:lnTo>
                    <a:pt x="5" y="15"/>
                  </a:lnTo>
                  <a:cubicBezTo>
                    <a:pt x="4" y="15"/>
                    <a:pt x="2" y="15"/>
                    <a:pt x="0" y="14"/>
                  </a:cubicBezTo>
                  <a:lnTo>
                    <a:pt x="0" y="18"/>
                  </a:lnTo>
                  <a:cubicBezTo>
                    <a:pt x="2" y="19"/>
                    <a:pt x="3" y="19"/>
                    <a:pt x="5" y="19"/>
                  </a:cubicBezTo>
                  <a:cubicBezTo>
                    <a:pt x="8" y="19"/>
                    <a:pt x="10" y="18"/>
                    <a:pt x="11" y="17"/>
                  </a:cubicBezTo>
                  <a:cubicBezTo>
                    <a:pt x="13" y="16"/>
                    <a:pt x="13" y="15"/>
                    <a:pt x="13" y="13"/>
                  </a:cubicBezTo>
                  <a:cubicBezTo>
                    <a:pt x="13" y="12"/>
                    <a:pt x="13" y="11"/>
                    <a:pt x="13" y="11"/>
                  </a:cubicBezTo>
                  <a:cubicBezTo>
                    <a:pt x="12" y="10"/>
                    <a:pt x="12" y="9"/>
                    <a:pt x="11" y="9"/>
                  </a:cubicBezTo>
                  <a:cubicBezTo>
                    <a:pt x="10" y="9"/>
                    <a:pt x="9" y="8"/>
                    <a:pt x="7" y="8"/>
                  </a:cubicBezTo>
                  <a:cubicBezTo>
                    <a:pt x="6" y="7"/>
                    <a:pt x="5" y="6"/>
                    <a:pt x="5" y="6"/>
                  </a:cubicBezTo>
                  <a:cubicBezTo>
                    <a:pt x="5" y="5"/>
                    <a:pt x="5" y="5"/>
                    <a:pt x="6" y="4"/>
                  </a:cubicBezTo>
                  <a:cubicBezTo>
                    <a:pt x="6" y="4"/>
                    <a:pt x="7" y="4"/>
                    <a:pt x="8" y="4"/>
                  </a:cubicBezTo>
                  <a:cubicBezTo>
                    <a:pt x="9" y="4"/>
                    <a:pt x="11" y="4"/>
                    <a:pt x="12" y="5"/>
                  </a:cubicBezTo>
                  <a:lnTo>
                    <a:pt x="12" y="1"/>
                  </a:lnTo>
                  <a:cubicBezTo>
                    <a:pt x="11" y="1"/>
                    <a:pt x="9" y="0"/>
                    <a:pt x="8" y="0"/>
                  </a:cubicBezTo>
                  <a:cubicBezTo>
                    <a:pt x="5" y="0"/>
                    <a:pt x="4" y="1"/>
                    <a:pt x="2" y="2"/>
                  </a:cubicBezTo>
                  <a:cubicBezTo>
                    <a:pt x="1" y="3"/>
                    <a:pt x="0" y="4"/>
                    <a:pt x="0" y="6"/>
                  </a:cubicBezTo>
                  <a:cubicBezTo>
                    <a:pt x="0" y="7"/>
                    <a:pt x="1" y="9"/>
                    <a:pt x="1" y="9"/>
                  </a:cubicBezTo>
                  <a:cubicBezTo>
                    <a:pt x="2" y="10"/>
                    <a:pt x="4" y="11"/>
                    <a:pt x="6" y="12"/>
                  </a:cubicBezTo>
                  <a:cubicBezTo>
                    <a:pt x="8" y="12"/>
                    <a:pt x="8" y="13"/>
                    <a:pt x="8" y="14"/>
                  </a:cubicBezTo>
                  <a:cubicBezTo>
                    <a:pt x="8" y="15"/>
                    <a:pt x="7" y="15"/>
                    <a:pt x="5" y="15"/>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3" name="Freeform 462"/>
            <p:cNvSpPr>
              <a:spLocks/>
            </p:cNvSpPr>
            <p:nvPr/>
          </p:nvSpPr>
          <p:spPr bwMode="auto">
            <a:xfrm>
              <a:off x="7454900" y="2849563"/>
              <a:ext cx="4763" cy="15875"/>
            </a:xfrm>
            <a:custGeom>
              <a:avLst/>
              <a:gdLst>
                <a:gd name="T0" fmla="*/ 0 w 5"/>
                <a:gd name="T1" fmla="*/ 17 h 17"/>
                <a:gd name="T2" fmla="*/ 0 w 5"/>
                <a:gd name="T3" fmla="*/ 17 h 17"/>
                <a:gd name="T4" fmla="*/ 5 w 5"/>
                <a:gd name="T5" fmla="*/ 17 h 17"/>
                <a:gd name="T6" fmla="*/ 5 w 5"/>
                <a:gd name="T7" fmla="*/ 0 h 17"/>
                <a:gd name="T8" fmla="*/ 0 w 5"/>
                <a:gd name="T9" fmla="*/ 0 h 17"/>
                <a:gd name="T10" fmla="*/ 0 w 5"/>
                <a:gd name="T11" fmla="*/ 17 h 17"/>
              </a:gdLst>
              <a:ahLst/>
              <a:cxnLst>
                <a:cxn ang="0">
                  <a:pos x="T0" y="T1"/>
                </a:cxn>
                <a:cxn ang="0">
                  <a:pos x="T2" y="T3"/>
                </a:cxn>
                <a:cxn ang="0">
                  <a:pos x="T4" y="T5"/>
                </a:cxn>
                <a:cxn ang="0">
                  <a:pos x="T6" y="T7"/>
                </a:cxn>
                <a:cxn ang="0">
                  <a:pos x="T8" y="T9"/>
                </a:cxn>
                <a:cxn ang="0">
                  <a:pos x="T10" y="T11"/>
                </a:cxn>
              </a:cxnLst>
              <a:rect l="0" t="0" r="r" b="b"/>
              <a:pathLst>
                <a:path w="5" h="17">
                  <a:moveTo>
                    <a:pt x="0" y="17"/>
                  </a:moveTo>
                  <a:lnTo>
                    <a:pt x="0" y="17"/>
                  </a:lnTo>
                  <a:lnTo>
                    <a:pt x="5" y="17"/>
                  </a:lnTo>
                  <a:lnTo>
                    <a:pt x="5" y="0"/>
                  </a:lnTo>
                  <a:lnTo>
                    <a:pt x="0" y="0"/>
                  </a:lnTo>
                  <a:lnTo>
                    <a:pt x="0" y="17"/>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4" name="Freeform 463"/>
            <p:cNvSpPr>
              <a:spLocks/>
            </p:cNvSpPr>
            <p:nvPr/>
          </p:nvSpPr>
          <p:spPr bwMode="auto">
            <a:xfrm>
              <a:off x="7453313" y="2841625"/>
              <a:ext cx="6350" cy="4763"/>
            </a:xfrm>
            <a:custGeom>
              <a:avLst/>
              <a:gdLst>
                <a:gd name="T0" fmla="*/ 5 w 6"/>
                <a:gd name="T1" fmla="*/ 0 h 5"/>
                <a:gd name="T2" fmla="*/ 5 w 6"/>
                <a:gd name="T3" fmla="*/ 0 h 5"/>
                <a:gd name="T4" fmla="*/ 3 w 6"/>
                <a:gd name="T5" fmla="*/ 0 h 5"/>
                <a:gd name="T6" fmla="*/ 1 w 6"/>
                <a:gd name="T7" fmla="*/ 0 h 5"/>
                <a:gd name="T8" fmla="*/ 0 w 6"/>
                <a:gd name="T9" fmla="*/ 2 h 5"/>
                <a:gd name="T10" fmla="*/ 1 w 6"/>
                <a:gd name="T11" fmla="*/ 4 h 5"/>
                <a:gd name="T12" fmla="*/ 3 w 6"/>
                <a:gd name="T13" fmla="*/ 5 h 5"/>
                <a:gd name="T14" fmla="*/ 5 w 6"/>
                <a:gd name="T15" fmla="*/ 4 h 5"/>
                <a:gd name="T16" fmla="*/ 6 w 6"/>
                <a:gd name="T17" fmla="*/ 2 h 5"/>
                <a:gd name="T18" fmla="*/ 5 w 6"/>
                <a:gd name="T19"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 h="5">
                  <a:moveTo>
                    <a:pt x="5" y="0"/>
                  </a:moveTo>
                  <a:lnTo>
                    <a:pt x="5" y="0"/>
                  </a:lnTo>
                  <a:cubicBezTo>
                    <a:pt x="5" y="0"/>
                    <a:pt x="4" y="0"/>
                    <a:pt x="3" y="0"/>
                  </a:cubicBezTo>
                  <a:cubicBezTo>
                    <a:pt x="2" y="0"/>
                    <a:pt x="2" y="0"/>
                    <a:pt x="1" y="0"/>
                  </a:cubicBezTo>
                  <a:cubicBezTo>
                    <a:pt x="0" y="1"/>
                    <a:pt x="0" y="1"/>
                    <a:pt x="0" y="2"/>
                  </a:cubicBezTo>
                  <a:cubicBezTo>
                    <a:pt x="0" y="3"/>
                    <a:pt x="0" y="4"/>
                    <a:pt x="1" y="4"/>
                  </a:cubicBezTo>
                  <a:cubicBezTo>
                    <a:pt x="2" y="5"/>
                    <a:pt x="2" y="5"/>
                    <a:pt x="3" y="5"/>
                  </a:cubicBezTo>
                  <a:cubicBezTo>
                    <a:pt x="4" y="5"/>
                    <a:pt x="5" y="5"/>
                    <a:pt x="5" y="4"/>
                  </a:cubicBezTo>
                  <a:cubicBezTo>
                    <a:pt x="6" y="4"/>
                    <a:pt x="6" y="3"/>
                    <a:pt x="6" y="2"/>
                  </a:cubicBezTo>
                  <a:cubicBezTo>
                    <a:pt x="6" y="1"/>
                    <a:pt x="6" y="1"/>
                    <a:pt x="5"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5" name="Freeform 464"/>
            <p:cNvSpPr>
              <a:spLocks noEditPoints="1"/>
            </p:cNvSpPr>
            <p:nvPr/>
          </p:nvSpPr>
          <p:spPr bwMode="auto">
            <a:xfrm>
              <a:off x="7462838" y="2847975"/>
              <a:ext cx="17463" cy="19050"/>
            </a:xfrm>
            <a:custGeom>
              <a:avLst/>
              <a:gdLst>
                <a:gd name="T0" fmla="*/ 14 w 19"/>
                <a:gd name="T1" fmla="*/ 10 h 19"/>
                <a:gd name="T2" fmla="*/ 14 w 19"/>
                <a:gd name="T3" fmla="*/ 10 h 19"/>
                <a:gd name="T4" fmla="*/ 10 w 19"/>
                <a:gd name="T5" fmla="*/ 15 h 19"/>
                <a:gd name="T6" fmla="*/ 5 w 19"/>
                <a:gd name="T7" fmla="*/ 10 h 19"/>
                <a:gd name="T8" fmla="*/ 6 w 19"/>
                <a:gd name="T9" fmla="*/ 6 h 19"/>
                <a:gd name="T10" fmla="*/ 10 w 19"/>
                <a:gd name="T11" fmla="*/ 4 h 19"/>
                <a:gd name="T12" fmla="*/ 14 w 19"/>
                <a:gd name="T13" fmla="*/ 10 h 19"/>
                <a:gd name="T14" fmla="*/ 3 w 19"/>
                <a:gd name="T15" fmla="*/ 3 h 19"/>
                <a:gd name="T16" fmla="*/ 3 w 19"/>
                <a:gd name="T17" fmla="*/ 3 h 19"/>
                <a:gd name="T18" fmla="*/ 0 w 19"/>
                <a:gd name="T19" fmla="*/ 10 h 19"/>
                <a:gd name="T20" fmla="*/ 3 w 19"/>
                <a:gd name="T21" fmla="*/ 16 h 19"/>
                <a:gd name="T22" fmla="*/ 9 w 19"/>
                <a:gd name="T23" fmla="*/ 19 h 19"/>
                <a:gd name="T24" fmla="*/ 16 w 19"/>
                <a:gd name="T25" fmla="*/ 16 h 19"/>
                <a:gd name="T26" fmla="*/ 19 w 19"/>
                <a:gd name="T27" fmla="*/ 9 h 19"/>
                <a:gd name="T28" fmla="*/ 16 w 19"/>
                <a:gd name="T29" fmla="*/ 3 h 19"/>
                <a:gd name="T30" fmla="*/ 10 w 19"/>
                <a:gd name="T31" fmla="*/ 0 h 19"/>
                <a:gd name="T32" fmla="*/ 3 w 19"/>
                <a:gd name="T33"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9">
                  <a:moveTo>
                    <a:pt x="14" y="10"/>
                  </a:moveTo>
                  <a:lnTo>
                    <a:pt x="14" y="10"/>
                  </a:lnTo>
                  <a:cubicBezTo>
                    <a:pt x="14" y="13"/>
                    <a:pt x="12" y="15"/>
                    <a:pt x="10" y="15"/>
                  </a:cubicBezTo>
                  <a:cubicBezTo>
                    <a:pt x="7" y="15"/>
                    <a:pt x="5" y="13"/>
                    <a:pt x="5" y="10"/>
                  </a:cubicBezTo>
                  <a:cubicBezTo>
                    <a:pt x="5" y="8"/>
                    <a:pt x="6" y="7"/>
                    <a:pt x="6" y="6"/>
                  </a:cubicBezTo>
                  <a:cubicBezTo>
                    <a:pt x="7" y="5"/>
                    <a:pt x="8" y="4"/>
                    <a:pt x="10" y="4"/>
                  </a:cubicBezTo>
                  <a:cubicBezTo>
                    <a:pt x="12" y="4"/>
                    <a:pt x="14" y="6"/>
                    <a:pt x="14" y="10"/>
                  </a:cubicBezTo>
                  <a:close/>
                  <a:moveTo>
                    <a:pt x="3" y="3"/>
                  </a:moveTo>
                  <a:lnTo>
                    <a:pt x="3" y="3"/>
                  </a:lnTo>
                  <a:cubicBezTo>
                    <a:pt x="1" y="5"/>
                    <a:pt x="0" y="7"/>
                    <a:pt x="0" y="10"/>
                  </a:cubicBezTo>
                  <a:cubicBezTo>
                    <a:pt x="0" y="13"/>
                    <a:pt x="1" y="15"/>
                    <a:pt x="3" y="16"/>
                  </a:cubicBezTo>
                  <a:cubicBezTo>
                    <a:pt x="4" y="18"/>
                    <a:pt x="7" y="19"/>
                    <a:pt x="9" y="19"/>
                  </a:cubicBezTo>
                  <a:cubicBezTo>
                    <a:pt x="12" y="19"/>
                    <a:pt x="15" y="18"/>
                    <a:pt x="16" y="16"/>
                  </a:cubicBezTo>
                  <a:cubicBezTo>
                    <a:pt x="18" y="15"/>
                    <a:pt x="19" y="12"/>
                    <a:pt x="19" y="9"/>
                  </a:cubicBezTo>
                  <a:cubicBezTo>
                    <a:pt x="19" y="7"/>
                    <a:pt x="18" y="5"/>
                    <a:pt x="16" y="3"/>
                  </a:cubicBezTo>
                  <a:cubicBezTo>
                    <a:pt x="15" y="1"/>
                    <a:pt x="12" y="0"/>
                    <a:pt x="10" y="0"/>
                  </a:cubicBezTo>
                  <a:cubicBezTo>
                    <a:pt x="7" y="0"/>
                    <a:pt x="4" y="1"/>
                    <a:pt x="3" y="3"/>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6" name="Freeform 465"/>
            <p:cNvSpPr>
              <a:spLocks/>
            </p:cNvSpPr>
            <p:nvPr/>
          </p:nvSpPr>
          <p:spPr bwMode="auto">
            <a:xfrm>
              <a:off x="7483475" y="2847975"/>
              <a:ext cx="15875" cy="17463"/>
            </a:xfrm>
            <a:custGeom>
              <a:avLst/>
              <a:gdLst>
                <a:gd name="T0" fmla="*/ 17 w 17"/>
                <a:gd name="T1" fmla="*/ 18 h 18"/>
                <a:gd name="T2" fmla="*/ 17 w 17"/>
                <a:gd name="T3" fmla="*/ 18 h 18"/>
                <a:gd name="T4" fmla="*/ 17 w 17"/>
                <a:gd name="T5" fmla="*/ 8 h 18"/>
                <a:gd name="T6" fmla="*/ 11 w 17"/>
                <a:gd name="T7" fmla="*/ 0 h 18"/>
                <a:gd name="T8" fmla="*/ 6 w 17"/>
                <a:gd name="T9" fmla="*/ 4 h 18"/>
                <a:gd name="T10" fmla="*/ 6 w 17"/>
                <a:gd name="T11" fmla="*/ 4 h 18"/>
                <a:gd name="T12" fmla="*/ 6 w 17"/>
                <a:gd name="T13" fmla="*/ 1 h 18"/>
                <a:gd name="T14" fmla="*/ 0 w 17"/>
                <a:gd name="T15" fmla="*/ 1 h 18"/>
                <a:gd name="T16" fmla="*/ 0 w 17"/>
                <a:gd name="T17" fmla="*/ 18 h 18"/>
                <a:gd name="T18" fmla="*/ 6 w 17"/>
                <a:gd name="T19" fmla="*/ 18 h 18"/>
                <a:gd name="T20" fmla="*/ 6 w 17"/>
                <a:gd name="T21" fmla="*/ 8 h 18"/>
                <a:gd name="T22" fmla="*/ 7 w 17"/>
                <a:gd name="T23" fmla="*/ 6 h 18"/>
                <a:gd name="T24" fmla="*/ 9 w 17"/>
                <a:gd name="T25" fmla="*/ 4 h 18"/>
                <a:gd name="T26" fmla="*/ 12 w 17"/>
                <a:gd name="T27" fmla="*/ 9 h 18"/>
                <a:gd name="T28" fmla="*/ 12 w 17"/>
                <a:gd name="T29" fmla="*/ 18 h 18"/>
                <a:gd name="T30" fmla="*/ 17 w 17"/>
                <a:gd name="T3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17" y="18"/>
                  </a:moveTo>
                  <a:lnTo>
                    <a:pt x="17" y="18"/>
                  </a:lnTo>
                  <a:lnTo>
                    <a:pt x="17" y="8"/>
                  </a:lnTo>
                  <a:cubicBezTo>
                    <a:pt x="17" y="3"/>
                    <a:pt x="15" y="0"/>
                    <a:pt x="11" y="0"/>
                  </a:cubicBezTo>
                  <a:cubicBezTo>
                    <a:pt x="9" y="0"/>
                    <a:pt x="7" y="2"/>
                    <a:pt x="6" y="4"/>
                  </a:cubicBezTo>
                  <a:lnTo>
                    <a:pt x="6" y="4"/>
                  </a:lnTo>
                  <a:lnTo>
                    <a:pt x="6" y="1"/>
                  </a:lnTo>
                  <a:lnTo>
                    <a:pt x="0" y="1"/>
                  </a:lnTo>
                  <a:lnTo>
                    <a:pt x="0" y="18"/>
                  </a:lnTo>
                  <a:lnTo>
                    <a:pt x="6" y="18"/>
                  </a:lnTo>
                  <a:lnTo>
                    <a:pt x="6" y="8"/>
                  </a:lnTo>
                  <a:cubicBezTo>
                    <a:pt x="6" y="7"/>
                    <a:pt x="6" y="6"/>
                    <a:pt x="7" y="6"/>
                  </a:cubicBezTo>
                  <a:cubicBezTo>
                    <a:pt x="7" y="5"/>
                    <a:pt x="8" y="4"/>
                    <a:pt x="9" y="4"/>
                  </a:cubicBezTo>
                  <a:cubicBezTo>
                    <a:pt x="11" y="4"/>
                    <a:pt x="12" y="6"/>
                    <a:pt x="12" y="9"/>
                  </a:cubicBezTo>
                  <a:lnTo>
                    <a:pt x="12" y="18"/>
                  </a:lnTo>
                  <a:lnTo>
                    <a:pt x="17" y="18"/>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7" name="Freeform 466"/>
            <p:cNvSpPr>
              <a:spLocks/>
            </p:cNvSpPr>
            <p:nvPr/>
          </p:nvSpPr>
          <p:spPr bwMode="auto">
            <a:xfrm>
              <a:off x="7504113" y="2841625"/>
              <a:ext cx="14288" cy="25400"/>
            </a:xfrm>
            <a:custGeom>
              <a:avLst/>
              <a:gdLst>
                <a:gd name="T0" fmla="*/ 7 w 16"/>
                <a:gd name="T1" fmla="*/ 22 h 26"/>
                <a:gd name="T2" fmla="*/ 7 w 16"/>
                <a:gd name="T3" fmla="*/ 22 h 26"/>
                <a:gd name="T4" fmla="*/ 0 w 16"/>
                <a:gd name="T5" fmla="*/ 19 h 26"/>
                <a:gd name="T6" fmla="*/ 0 w 16"/>
                <a:gd name="T7" fmla="*/ 24 h 26"/>
                <a:gd name="T8" fmla="*/ 7 w 16"/>
                <a:gd name="T9" fmla="*/ 26 h 26"/>
                <a:gd name="T10" fmla="*/ 14 w 16"/>
                <a:gd name="T11" fmla="*/ 24 h 26"/>
                <a:gd name="T12" fmla="*/ 16 w 16"/>
                <a:gd name="T13" fmla="*/ 19 h 26"/>
                <a:gd name="T14" fmla="*/ 15 w 16"/>
                <a:gd name="T15" fmla="*/ 14 h 26"/>
                <a:gd name="T16" fmla="*/ 10 w 16"/>
                <a:gd name="T17" fmla="*/ 11 h 26"/>
                <a:gd name="T18" fmla="*/ 6 w 16"/>
                <a:gd name="T19" fmla="*/ 9 h 26"/>
                <a:gd name="T20" fmla="*/ 5 w 16"/>
                <a:gd name="T21" fmla="*/ 7 h 26"/>
                <a:gd name="T22" fmla="*/ 6 w 16"/>
                <a:gd name="T23" fmla="*/ 5 h 26"/>
                <a:gd name="T24" fmla="*/ 10 w 16"/>
                <a:gd name="T25" fmla="*/ 5 h 26"/>
                <a:gd name="T26" fmla="*/ 15 w 16"/>
                <a:gd name="T27" fmla="*/ 6 h 26"/>
                <a:gd name="T28" fmla="*/ 15 w 16"/>
                <a:gd name="T29" fmla="*/ 1 h 26"/>
                <a:gd name="T30" fmla="*/ 9 w 16"/>
                <a:gd name="T31" fmla="*/ 0 h 26"/>
                <a:gd name="T32" fmla="*/ 2 w 16"/>
                <a:gd name="T33" fmla="*/ 2 h 26"/>
                <a:gd name="T34" fmla="*/ 0 w 16"/>
                <a:gd name="T35" fmla="*/ 8 h 26"/>
                <a:gd name="T36" fmla="*/ 6 w 16"/>
                <a:gd name="T37" fmla="*/ 15 h 26"/>
                <a:gd name="T38" fmla="*/ 10 w 16"/>
                <a:gd name="T39" fmla="*/ 17 h 26"/>
                <a:gd name="T40" fmla="*/ 11 w 16"/>
                <a:gd name="T41" fmla="*/ 19 h 26"/>
                <a:gd name="T42" fmla="*/ 10 w 16"/>
                <a:gd name="T43" fmla="*/ 21 h 26"/>
                <a:gd name="T44" fmla="*/ 7 w 16"/>
                <a:gd name="T45" fmla="*/ 2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26">
                  <a:moveTo>
                    <a:pt x="7" y="22"/>
                  </a:moveTo>
                  <a:lnTo>
                    <a:pt x="7" y="22"/>
                  </a:lnTo>
                  <a:cubicBezTo>
                    <a:pt x="4" y="22"/>
                    <a:pt x="2" y="21"/>
                    <a:pt x="0" y="19"/>
                  </a:cubicBezTo>
                  <a:lnTo>
                    <a:pt x="0" y="24"/>
                  </a:lnTo>
                  <a:cubicBezTo>
                    <a:pt x="2" y="25"/>
                    <a:pt x="4" y="26"/>
                    <a:pt x="7" y="26"/>
                  </a:cubicBezTo>
                  <a:cubicBezTo>
                    <a:pt x="10" y="26"/>
                    <a:pt x="12" y="25"/>
                    <a:pt x="14" y="24"/>
                  </a:cubicBezTo>
                  <a:cubicBezTo>
                    <a:pt x="16" y="23"/>
                    <a:pt x="16" y="21"/>
                    <a:pt x="16" y="19"/>
                  </a:cubicBezTo>
                  <a:cubicBezTo>
                    <a:pt x="16" y="17"/>
                    <a:pt x="16" y="16"/>
                    <a:pt x="15" y="14"/>
                  </a:cubicBezTo>
                  <a:cubicBezTo>
                    <a:pt x="14" y="13"/>
                    <a:pt x="12" y="12"/>
                    <a:pt x="10" y="11"/>
                  </a:cubicBezTo>
                  <a:cubicBezTo>
                    <a:pt x="8" y="10"/>
                    <a:pt x="7" y="10"/>
                    <a:pt x="6" y="9"/>
                  </a:cubicBezTo>
                  <a:cubicBezTo>
                    <a:pt x="6" y="8"/>
                    <a:pt x="5" y="8"/>
                    <a:pt x="5" y="7"/>
                  </a:cubicBezTo>
                  <a:cubicBezTo>
                    <a:pt x="5" y="6"/>
                    <a:pt x="6" y="6"/>
                    <a:pt x="6" y="5"/>
                  </a:cubicBezTo>
                  <a:cubicBezTo>
                    <a:pt x="7" y="5"/>
                    <a:pt x="8" y="5"/>
                    <a:pt x="10" y="5"/>
                  </a:cubicBezTo>
                  <a:cubicBezTo>
                    <a:pt x="12" y="5"/>
                    <a:pt x="14" y="5"/>
                    <a:pt x="15" y="6"/>
                  </a:cubicBezTo>
                  <a:lnTo>
                    <a:pt x="15" y="1"/>
                  </a:lnTo>
                  <a:cubicBezTo>
                    <a:pt x="14" y="1"/>
                    <a:pt x="12" y="0"/>
                    <a:pt x="9" y="0"/>
                  </a:cubicBezTo>
                  <a:cubicBezTo>
                    <a:pt x="6" y="0"/>
                    <a:pt x="4" y="1"/>
                    <a:pt x="2" y="2"/>
                  </a:cubicBezTo>
                  <a:cubicBezTo>
                    <a:pt x="1" y="4"/>
                    <a:pt x="0" y="5"/>
                    <a:pt x="0" y="8"/>
                  </a:cubicBezTo>
                  <a:cubicBezTo>
                    <a:pt x="0" y="11"/>
                    <a:pt x="2" y="13"/>
                    <a:pt x="6" y="15"/>
                  </a:cubicBezTo>
                  <a:cubicBezTo>
                    <a:pt x="8" y="16"/>
                    <a:pt x="9" y="17"/>
                    <a:pt x="10" y="17"/>
                  </a:cubicBezTo>
                  <a:cubicBezTo>
                    <a:pt x="11" y="18"/>
                    <a:pt x="11" y="18"/>
                    <a:pt x="11" y="19"/>
                  </a:cubicBezTo>
                  <a:cubicBezTo>
                    <a:pt x="11" y="20"/>
                    <a:pt x="11" y="20"/>
                    <a:pt x="10" y="21"/>
                  </a:cubicBezTo>
                  <a:cubicBezTo>
                    <a:pt x="9" y="21"/>
                    <a:pt x="8" y="22"/>
                    <a:pt x="7" y="22"/>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8" name="Freeform 467"/>
            <p:cNvSpPr>
              <a:spLocks/>
            </p:cNvSpPr>
            <p:nvPr/>
          </p:nvSpPr>
          <p:spPr bwMode="auto">
            <a:xfrm>
              <a:off x="7519988" y="2844800"/>
              <a:ext cx="11113" cy="22225"/>
            </a:xfrm>
            <a:custGeom>
              <a:avLst/>
              <a:gdLst>
                <a:gd name="T0" fmla="*/ 12 w 12"/>
                <a:gd name="T1" fmla="*/ 9 h 23"/>
                <a:gd name="T2" fmla="*/ 12 w 12"/>
                <a:gd name="T3" fmla="*/ 9 h 23"/>
                <a:gd name="T4" fmla="*/ 12 w 12"/>
                <a:gd name="T5" fmla="*/ 5 h 23"/>
                <a:gd name="T6" fmla="*/ 8 w 12"/>
                <a:gd name="T7" fmla="*/ 5 h 23"/>
                <a:gd name="T8" fmla="*/ 8 w 12"/>
                <a:gd name="T9" fmla="*/ 0 h 23"/>
                <a:gd name="T10" fmla="*/ 3 w 12"/>
                <a:gd name="T11" fmla="*/ 1 h 23"/>
                <a:gd name="T12" fmla="*/ 3 w 12"/>
                <a:gd name="T13" fmla="*/ 5 h 23"/>
                <a:gd name="T14" fmla="*/ 0 w 12"/>
                <a:gd name="T15" fmla="*/ 5 h 23"/>
                <a:gd name="T16" fmla="*/ 0 w 12"/>
                <a:gd name="T17" fmla="*/ 9 h 23"/>
                <a:gd name="T18" fmla="*/ 3 w 12"/>
                <a:gd name="T19" fmla="*/ 9 h 23"/>
                <a:gd name="T20" fmla="*/ 3 w 12"/>
                <a:gd name="T21" fmla="*/ 17 h 23"/>
                <a:gd name="T22" fmla="*/ 9 w 12"/>
                <a:gd name="T23" fmla="*/ 23 h 23"/>
                <a:gd name="T24" fmla="*/ 12 w 12"/>
                <a:gd name="T25" fmla="*/ 22 h 23"/>
                <a:gd name="T26" fmla="*/ 12 w 12"/>
                <a:gd name="T27" fmla="*/ 18 h 23"/>
                <a:gd name="T28" fmla="*/ 11 w 12"/>
                <a:gd name="T29" fmla="*/ 19 h 23"/>
                <a:gd name="T30" fmla="*/ 8 w 12"/>
                <a:gd name="T31" fmla="*/ 16 h 23"/>
                <a:gd name="T32" fmla="*/ 8 w 12"/>
                <a:gd name="T33" fmla="*/ 9 h 23"/>
                <a:gd name="T34" fmla="*/ 12 w 12"/>
                <a:gd name="T35" fmla="*/ 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23">
                  <a:moveTo>
                    <a:pt x="12" y="9"/>
                  </a:moveTo>
                  <a:lnTo>
                    <a:pt x="12" y="9"/>
                  </a:lnTo>
                  <a:lnTo>
                    <a:pt x="12" y="5"/>
                  </a:lnTo>
                  <a:lnTo>
                    <a:pt x="8" y="5"/>
                  </a:lnTo>
                  <a:lnTo>
                    <a:pt x="8" y="0"/>
                  </a:lnTo>
                  <a:lnTo>
                    <a:pt x="3" y="1"/>
                  </a:lnTo>
                  <a:lnTo>
                    <a:pt x="3" y="5"/>
                  </a:lnTo>
                  <a:lnTo>
                    <a:pt x="0" y="5"/>
                  </a:lnTo>
                  <a:lnTo>
                    <a:pt x="0" y="9"/>
                  </a:lnTo>
                  <a:lnTo>
                    <a:pt x="3" y="9"/>
                  </a:lnTo>
                  <a:lnTo>
                    <a:pt x="3" y="17"/>
                  </a:lnTo>
                  <a:cubicBezTo>
                    <a:pt x="3" y="21"/>
                    <a:pt x="5" y="23"/>
                    <a:pt x="9" y="23"/>
                  </a:cubicBezTo>
                  <a:cubicBezTo>
                    <a:pt x="10" y="23"/>
                    <a:pt x="12" y="23"/>
                    <a:pt x="12" y="22"/>
                  </a:cubicBezTo>
                  <a:lnTo>
                    <a:pt x="12" y="18"/>
                  </a:lnTo>
                  <a:cubicBezTo>
                    <a:pt x="12" y="19"/>
                    <a:pt x="11" y="19"/>
                    <a:pt x="11" y="19"/>
                  </a:cubicBezTo>
                  <a:cubicBezTo>
                    <a:pt x="9" y="19"/>
                    <a:pt x="8" y="18"/>
                    <a:pt x="8" y="16"/>
                  </a:cubicBezTo>
                  <a:lnTo>
                    <a:pt x="8" y="9"/>
                  </a:lnTo>
                  <a:lnTo>
                    <a:pt x="12" y="9"/>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59" name="Freeform 468"/>
            <p:cNvSpPr>
              <a:spLocks noEditPoints="1"/>
            </p:cNvSpPr>
            <p:nvPr/>
          </p:nvSpPr>
          <p:spPr bwMode="auto">
            <a:xfrm>
              <a:off x="7532688" y="2847975"/>
              <a:ext cx="19050" cy="19050"/>
            </a:xfrm>
            <a:custGeom>
              <a:avLst/>
              <a:gdLst>
                <a:gd name="T0" fmla="*/ 14 w 19"/>
                <a:gd name="T1" fmla="*/ 10 h 19"/>
                <a:gd name="T2" fmla="*/ 14 w 19"/>
                <a:gd name="T3" fmla="*/ 10 h 19"/>
                <a:gd name="T4" fmla="*/ 10 w 19"/>
                <a:gd name="T5" fmla="*/ 15 h 19"/>
                <a:gd name="T6" fmla="*/ 6 w 19"/>
                <a:gd name="T7" fmla="*/ 10 h 19"/>
                <a:gd name="T8" fmla="*/ 7 w 19"/>
                <a:gd name="T9" fmla="*/ 6 h 19"/>
                <a:gd name="T10" fmla="*/ 10 w 19"/>
                <a:gd name="T11" fmla="*/ 4 h 19"/>
                <a:gd name="T12" fmla="*/ 14 w 19"/>
                <a:gd name="T13" fmla="*/ 10 h 19"/>
                <a:gd name="T14" fmla="*/ 3 w 19"/>
                <a:gd name="T15" fmla="*/ 3 h 19"/>
                <a:gd name="T16" fmla="*/ 3 w 19"/>
                <a:gd name="T17" fmla="*/ 3 h 19"/>
                <a:gd name="T18" fmla="*/ 0 w 19"/>
                <a:gd name="T19" fmla="*/ 10 h 19"/>
                <a:gd name="T20" fmla="*/ 3 w 19"/>
                <a:gd name="T21" fmla="*/ 16 h 19"/>
                <a:gd name="T22" fmla="*/ 10 w 19"/>
                <a:gd name="T23" fmla="*/ 19 h 19"/>
                <a:gd name="T24" fmla="*/ 17 w 19"/>
                <a:gd name="T25" fmla="*/ 16 h 19"/>
                <a:gd name="T26" fmla="*/ 19 w 19"/>
                <a:gd name="T27" fmla="*/ 9 h 19"/>
                <a:gd name="T28" fmla="*/ 17 w 19"/>
                <a:gd name="T29" fmla="*/ 3 h 19"/>
                <a:gd name="T30" fmla="*/ 10 w 19"/>
                <a:gd name="T31" fmla="*/ 0 h 19"/>
                <a:gd name="T32" fmla="*/ 3 w 19"/>
                <a:gd name="T33"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19">
                  <a:moveTo>
                    <a:pt x="14" y="10"/>
                  </a:moveTo>
                  <a:lnTo>
                    <a:pt x="14" y="10"/>
                  </a:lnTo>
                  <a:cubicBezTo>
                    <a:pt x="14" y="13"/>
                    <a:pt x="13" y="15"/>
                    <a:pt x="10" y="15"/>
                  </a:cubicBezTo>
                  <a:cubicBezTo>
                    <a:pt x="7" y="15"/>
                    <a:pt x="6" y="13"/>
                    <a:pt x="6" y="10"/>
                  </a:cubicBezTo>
                  <a:cubicBezTo>
                    <a:pt x="6" y="8"/>
                    <a:pt x="6" y="7"/>
                    <a:pt x="7" y="6"/>
                  </a:cubicBezTo>
                  <a:cubicBezTo>
                    <a:pt x="7" y="5"/>
                    <a:pt x="8" y="4"/>
                    <a:pt x="10" y="4"/>
                  </a:cubicBezTo>
                  <a:cubicBezTo>
                    <a:pt x="12" y="4"/>
                    <a:pt x="14" y="6"/>
                    <a:pt x="14" y="10"/>
                  </a:cubicBezTo>
                  <a:close/>
                  <a:moveTo>
                    <a:pt x="3" y="3"/>
                  </a:moveTo>
                  <a:lnTo>
                    <a:pt x="3" y="3"/>
                  </a:lnTo>
                  <a:cubicBezTo>
                    <a:pt x="1" y="5"/>
                    <a:pt x="0" y="7"/>
                    <a:pt x="0" y="10"/>
                  </a:cubicBezTo>
                  <a:cubicBezTo>
                    <a:pt x="0" y="13"/>
                    <a:pt x="1" y="15"/>
                    <a:pt x="3" y="16"/>
                  </a:cubicBezTo>
                  <a:cubicBezTo>
                    <a:pt x="5" y="18"/>
                    <a:pt x="7" y="19"/>
                    <a:pt x="10" y="19"/>
                  </a:cubicBezTo>
                  <a:cubicBezTo>
                    <a:pt x="13" y="19"/>
                    <a:pt x="15" y="18"/>
                    <a:pt x="17" y="16"/>
                  </a:cubicBezTo>
                  <a:cubicBezTo>
                    <a:pt x="18" y="15"/>
                    <a:pt x="19" y="12"/>
                    <a:pt x="19" y="9"/>
                  </a:cubicBezTo>
                  <a:cubicBezTo>
                    <a:pt x="19" y="7"/>
                    <a:pt x="18" y="5"/>
                    <a:pt x="17" y="3"/>
                  </a:cubicBezTo>
                  <a:cubicBezTo>
                    <a:pt x="15" y="1"/>
                    <a:pt x="13" y="0"/>
                    <a:pt x="10" y="0"/>
                  </a:cubicBezTo>
                  <a:cubicBezTo>
                    <a:pt x="7" y="0"/>
                    <a:pt x="5" y="1"/>
                    <a:pt x="3" y="3"/>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0" name="Freeform 469"/>
            <p:cNvSpPr>
              <a:spLocks/>
            </p:cNvSpPr>
            <p:nvPr/>
          </p:nvSpPr>
          <p:spPr bwMode="auto">
            <a:xfrm>
              <a:off x="7554913" y="2849563"/>
              <a:ext cx="11113" cy="15875"/>
            </a:xfrm>
            <a:custGeom>
              <a:avLst/>
              <a:gdLst>
                <a:gd name="T0" fmla="*/ 0 w 11"/>
                <a:gd name="T1" fmla="*/ 0 h 17"/>
                <a:gd name="T2" fmla="*/ 0 w 11"/>
                <a:gd name="T3" fmla="*/ 0 h 17"/>
                <a:gd name="T4" fmla="*/ 0 w 11"/>
                <a:gd name="T5" fmla="*/ 17 h 17"/>
                <a:gd name="T6" fmla="*/ 5 w 11"/>
                <a:gd name="T7" fmla="*/ 17 h 17"/>
                <a:gd name="T8" fmla="*/ 5 w 11"/>
                <a:gd name="T9" fmla="*/ 9 h 17"/>
                <a:gd name="T10" fmla="*/ 6 w 11"/>
                <a:gd name="T11" fmla="*/ 5 h 17"/>
                <a:gd name="T12" fmla="*/ 9 w 11"/>
                <a:gd name="T13" fmla="*/ 4 h 17"/>
                <a:gd name="T14" fmla="*/ 11 w 11"/>
                <a:gd name="T15" fmla="*/ 5 h 17"/>
                <a:gd name="T16" fmla="*/ 11 w 11"/>
                <a:gd name="T17" fmla="*/ 0 h 17"/>
                <a:gd name="T18" fmla="*/ 9 w 11"/>
                <a:gd name="T19" fmla="*/ 0 h 17"/>
                <a:gd name="T20" fmla="*/ 5 w 11"/>
                <a:gd name="T21" fmla="*/ 3 h 17"/>
                <a:gd name="T22" fmla="*/ 5 w 11"/>
                <a:gd name="T23" fmla="*/ 3 h 17"/>
                <a:gd name="T24" fmla="*/ 5 w 11"/>
                <a:gd name="T25" fmla="*/ 0 h 17"/>
                <a:gd name="T26" fmla="*/ 0 w 11"/>
                <a:gd name="T2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 h="17">
                  <a:moveTo>
                    <a:pt x="0" y="0"/>
                  </a:moveTo>
                  <a:lnTo>
                    <a:pt x="0" y="0"/>
                  </a:lnTo>
                  <a:lnTo>
                    <a:pt x="0" y="17"/>
                  </a:lnTo>
                  <a:lnTo>
                    <a:pt x="5" y="17"/>
                  </a:lnTo>
                  <a:lnTo>
                    <a:pt x="5" y="9"/>
                  </a:lnTo>
                  <a:cubicBezTo>
                    <a:pt x="5" y="7"/>
                    <a:pt x="5" y="6"/>
                    <a:pt x="6" y="5"/>
                  </a:cubicBezTo>
                  <a:cubicBezTo>
                    <a:pt x="6" y="4"/>
                    <a:pt x="7" y="4"/>
                    <a:pt x="9" y="4"/>
                  </a:cubicBezTo>
                  <a:cubicBezTo>
                    <a:pt x="9" y="4"/>
                    <a:pt x="10" y="4"/>
                    <a:pt x="11" y="5"/>
                  </a:cubicBezTo>
                  <a:lnTo>
                    <a:pt x="11" y="0"/>
                  </a:lnTo>
                  <a:cubicBezTo>
                    <a:pt x="11" y="0"/>
                    <a:pt x="10" y="0"/>
                    <a:pt x="9" y="0"/>
                  </a:cubicBezTo>
                  <a:cubicBezTo>
                    <a:pt x="7" y="0"/>
                    <a:pt x="6" y="1"/>
                    <a:pt x="5" y="3"/>
                  </a:cubicBezTo>
                  <a:lnTo>
                    <a:pt x="5" y="3"/>
                  </a:lnTo>
                  <a:lnTo>
                    <a:pt x="5" y="0"/>
                  </a:lnTo>
                  <a:lnTo>
                    <a:pt x="0" y="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1" name="Freeform 470"/>
            <p:cNvSpPr>
              <a:spLocks noEditPoints="1"/>
            </p:cNvSpPr>
            <p:nvPr/>
          </p:nvSpPr>
          <p:spPr bwMode="auto">
            <a:xfrm>
              <a:off x="7566025" y="2847975"/>
              <a:ext cx="15875" cy="19050"/>
            </a:xfrm>
            <a:custGeom>
              <a:avLst/>
              <a:gdLst>
                <a:gd name="T0" fmla="*/ 10 w 16"/>
                <a:gd name="T1" fmla="*/ 14 h 19"/>
                <a:gd name="T2" fmla="*/ 10 w 16"/>
                <a:gd name="T3" fmla="*/ 14 h 19"/>
                <a:gd name="T4" fmla="*/ 7 w 16"/>
                <a:gd name="T5" fmla="*/ 15 h 19"/>
                <a:gd name="T6" fmla="*/ 6 w 16"/>
                <a:gd name="T7" fmla="*/ 15 h 19"/>
                <a:gd name="T8" fmla="*/ 5 w 16"/>
                <a:gd name="T9" fmla="*/ 13 h 19"/>
                <a:gd name="T10" fmla="*/ 8 w 16"/>
                <a:gd name="T11" fmla="*/ 10 h 19"/>
                <a:gd name="T12" fmla="*/ 11 w 16"/>
                <a:gd name="T13" fmla="*/ 10 h 19"/>
                <a:gd name="T14" fmla="*/ 11 w 16"/>
                <a:gd name="T15" fmla="*/ 11 h 19"/>
                <a:gd name="T16" fmla="*/ 10 w 16"/>
                <a:gd name="T17" fmla="*/ 14 h 19"/>
                <a:gd name="T18" fmla="*/ 16 w 16"/>
                <a:gd name="T19" fmla="*/ 18 h 19"/>
                <a:gd name="T20" fmla="*/ 16 w 16"/>
                <a:gd name="T21" fmla="*/ 18 h 19"/>
                <a:gd name="T22" fmla="*/ 16 w 16"/>
                <a:gd name="T23" fmla="*/ 8 h 19"/>
                <a:gd name="T24" fmla="*/ 8 w 16"/>
                <a:gd name="T25" fmla="*/ 0 h 19"/>
                <a:gd name="T26" fmla="*/ 5 w 16"/>
                <a:gd name="T27" fmla="*/ 1 h 19"/>
                <a:gd name="T28" fmla="*/ 2 w 16"/>
                <a:gd name="T29" fmla="*/ 2 h 19"/>
                <a:gd name="T30" fmla="*/ 2 w 16"/>
                <a:gd name="T31" fmla="*/ 6 h 19"/>
                <a:gd name="T32" fmla="*/ 8 w 16"/>
                <a:gd name="T33" fmla="*/ 4 h 19"/>
                <a:gd name="T34" fmla="*/ 11 w 16"/>
                <a:gd name="T35" fmla="*/ 7 h 19"/>
                <a:gd name="T36" fmla="*/ 6 w 16"/>
                <a:gd name="T37" fmla="*/ 8 h 19"/>
                <a:gd name="T38" fmla="*/ 0 w 16"/>
                <a:gd name="T39" fmla="*/ 14 h 19"/>
                <a:gd name="T40" fmla="*/ 2 w 16"/>
                <a:gd name="T41" fmla="*/ 17 h 19"/>
                <a:gd name="T42" fmla="*/ 6 w 16"/>
                <a:gd name="T43" fmla="*/ 19 h 19"/>
                <a:gd name="T44" fmla="*/ 11 w 16"/>
                <a:gd name="T45" fmla="*/ 16 h 19"/>
                <a:gd name="T46" fmla="*/ 11 w 16"/>
                <a:gd name="T47" fmla="*/ 16 h 19"/>
                <a:gd name="T48" fmla="*/ 11 w 16"/>
                <a:gd name="T49" fmla="*/ 18 h 19"/>
                <a:gd name="T50" fmla="*/ 16 w 16"/>
                <a:gd name="T5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 h="19">
                  <a:moveTo>
                    <a:pt x="10" y="14"/>
                  </a:moveTo>
                  <a:lnTo>
                    <a:pt x="10" y="14"/>
                  </a:lnTo>
                  <a:cubicBezTo>
                    <a:pt x="9" y="15"/>
                    <a:pt x="8" y="15"/>
                    <a:pt x="7" y="15"/>
                  </a:cubicBezTo>
                  <a:cubicBezTo>
                    <a:pt x="7" y="15"/>
                    <a:pt x="6" y="15"/>
                    <a:pt x="6" y="15"/>
                  </a:cubicBezTo>
                  <a:cubicBezTo>
                    <a:pt x="5" y="14"/>
                    <a:pt x="5" y="14"/>
                    <a:pt x="5" y="13"/>
                  </a:cubicBezTo>
                  <a:cubicBezTo>
                    <a:pt x="5" y="12"/>
                    <a:pt x="6" y="11"/>
                    <a:pt x="8" y="10"/>
                  </a:cubicBezTo>
                  <a:lnTo>
                    <a:pt x="11" y="10"/>
                  </a:lnTo>
                  <a:lnTo>
                    <a:pt x="11" y="11"/>
                  </a:lnTo>
                  <a:cubicBezTo>
                    <a:pt x="11" y="12"/>
                    <a:pt x="11" y="13"/>
                    <a:pt x="10" y="14"/>
                  </a:cubicBezTo>
                  <a:close/>
                  <a:moveTo>
                    <a:pt x="16" y="18"/>
                  </a:moveTo>
                  <a:lnTo>
                    <a:pt x="16" y="18"/>
                  </a:lnTo>
                  <a:lnTo>
                    <a:pt x="16" y="8"/>
                  </a:lnTo>
                  <a:cubicBezTo>
                    <a:pt x="16" y="3"/>
                    <a:pt x="13" y="0"/>
                    <a:pt x="8" y="0"/>
                  </a:cubicBezTo>
                  <a:cubicBezTo>
                    <a:pt x="7" y="0"/>
                    <a:pt x="6" y="1"/>
                    <a:pt x="5" y="1"/>
                  </a:cubicBezTo>
                  <a:cubicBezTo>
                    <a:pt x="4" y="1"/>
                    <a:pt x="3" y="2"/>
                    <a:pt x="2" y="2"/>
                  </a:cubicBezTo>
                  <a:lnTo>
                    <a:pt x="2" y="6"/>
                  </a:lnTo>
                  <a:cubicBezTo>
                    <a:pt x="4" y="5"/>
                    <a:pt x="6" y="4"/>
                    <a:pt x="8" y="4"/>
                  </a:cubicBezTo>
                  <a:cubicBezTo>
                    <a:pt x="10" y="4"/>
                    <a:pt x="11" y="5"/>
                    <a:pt x="11" y="7"/>
                  </a:cubicBezTo>
                  <a:lnTo>
                    <a:pt x="6" y="8"/>
                  </a:lnTo>
                  <a:cubicBezTo>
                    <a:pt x="2" y="8"/>
                    <a:pt x="0" y="10"/>
                    <a:pt x="0" y="14"/>
                  </a:cubicBezTo>
                  <a:cubicBezTo>
                    <a:pt x="0" y="15"/>
                    <a:pt x="1" y="16"/>
                    <a:pt x="2" y="17"/>
                  </a:cubicBezTo>
                  <a:cubicBezTo>
                    <a:pt x="3" y="18"/>
                    <a:pt x="4" y="19"/>
                    <a:pt x="6" y="19"/>
                  </a:cubicBezTo>
                  <a:cubicBezTo>
                    <a:pt x="8" y="19"/>
                    <a:pt x="10" y="18"/>
                    <a:pt x="11" y="16"/>
                  </a:cubicBezTo>
                  <a:lnTo>
                    <a:pt x="11" y="16"/>
                  </a:lnTo>
                  <a:lnTo>
                    <a:pt x="11" y="18"/>
                  </a:lnTo>
                  <a:lnTo>
                    <a:pt x="16" y="18"/>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2" name="Freeform 471"/>
            <p:cNvSpPr>
              <a:spLocks noEditPoints="1"/>
            </p:cNvSpPr>
            <p:nvPr/>
          </p:nvSpPr>
          <p:spPr bwMode="auto">
            <a:xfrm>
              <a:off x="7585075" y="2847975"/>
              <a:ext cx="15875" cy="26988"/>
            </a:xfrm>
            <a:custGeom>
              <a:avLst/>
              <a:gdLst>
                <a:gd name="T0" fmla="*/ 13 w 18"/>
                <a:gd name="T1" fmla="*/ 10 h 27"/>
                <a:gd name="T2" fmla="*/ 13 w 18"/>
                <a:gd name="T3" fmla="*/ 10 h 27"/>
                <a:gd name="T4" fmla="*/ 12 w 18"/>
                <a:gd name="T5" fmla="*/ 14 h 27"/>
                <a:gd name="T6" fmla="*/ 9 w 18"/>
                <a:gd name="T7" fmla="*/ 15 h 27"/>
                <a:gd name="T8" fmla="*/ 6 w 18"/>
                <a:gd name="T9" fmla="*/ 14 h 27"/>
                <a:gd name="T10" fmla="*/ 5 w 18"/>
                <a:gd name="T11" fmla="*/ 10 h 27"/>
                <a:gd name="T12" fmla="*/ 6 w 18"/>
                <a:gd name="T13" fmla="*/ 6 h 27"/>
                <a:gd name="T14" fmla="*/ 9 w 18"/>
                <a:gd name="T15" fmla="*/ 4 h 27"/>
                <a:gd name="T16" fmla="*/ 12 w 18"/>
                <a:gd name="T17" fmla="*/ 6 h 27"/>
                <a:gd name="T18" fmla="*/ 13 w 18"/>
                <a:gd name="T19" fmla="*/ 9 h 27"/>
                <a:gd name="T20" fmla="*/ 13 w 18"/>
                <a:gd name="T21" fmla="*/ 10 h 27"/>
                <a:gd name="T22" fmla="*/ 13 w 18"/>
                <a:gd name="T23" fmla="*/ 3 h 27"/>
                <a:gd name="T24" fmla="*/ 13 w 18"/>
                <a:gd name="T25" fmla="*/ 3 h 27"/>
                <a:gd name="T26" fmla="*/ 13 w 18"/>
                <a:gd name="T27" fmla="*/ 3 h 27"/>
                <a:gd name="T28" fmla="*/ 8 w 18"/>
                <a:gd name="T29" fmla="*/ 0 h 27"/>
                <a:gd name="T30" fmla="*/ 2 w 18"/>
                <a:gd name="T31" fmla="*/ 3 h 27"/>
                <a:gd name="T32" fmla="*/ 0 w 18"/>
                <a:gd name="T33" fmla="*/ 10 h 27"/>
                <a:gd name="T34" fmla="*/ 2 w 18"/>
                <a:gd name="T35" fmla="*/ 16 h 27"/>
                <a:gd name="T36" fmla="*/ 7 w 18"/>
                <a:gd name="T37" fmla="*/ 19 h 27"/>
                <a:gd name="T38" fmla="*/ 13 w 18"/>
                <a:gd name="T39" fmla="*/ 16 h 27"/>
                <a:gd name="T40" fmla="*/ 13 w 18"/>
                <a:gd name="T41" fmla="*/ 16 h 27"/>
                <a:gd name="T42" fmla="*/ 13 w 18"/>
                <a:gd name="T43" fmla="*/ 17 h 27"/>
                <a:gd name="T44" fmla="*/ 11 w 18"/>
                <a:gd name="T45" fmla="*/ 21 h 27"/>
                <a:gd name="T46" fmla="*/ 7 w 18"/>
                <a:gd name="T47" fmla="*/ 23 h 27"/>
                <a:gd name="T48" fmla="*/ 2 w 18"/>
                <a:gd name="T49" fmla="*/ 21 h 27"/>
                <a:gd name="T50" fmla="*/ 2 w 18"/>
                <a:gd name="T51" fmla="*/ 26 h 27"/>
                <a:gd name="T52" fmla="*/ 7 w 18"/>
                <a:gd name="T53" fmla="*/ 27 h 27"/>
                <a:gd name="T54" fmla="*/ 15 w 18"/>
                <a:gd name="T55" fmla="*/ 24 h 27"/>
                <a:gd name="T56" fmla="*/ 18 w 18"/>
                <a:gd name="T57" fmla="*/ 16 h 27"/>
                <a:gd name="T58" fmla="*/ 18 w 18"/>
                <a:gd name="T59" fmla="*/ 1 h 27"/>
                <a:gd name="T60" fmla="*/ 13 w 18"/>
                <a:gd name="T61" fmla="*/ 1 h 27"/>
                <a:gd name="T62" fmla="*/ 13 w 18"/>
                <a:gd name="T63"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 h="27">
                  <a:moveTo>
                    <a:pt x="13" y="10"/>
                  </a:moveTo>
                  <a:lnTo>
                    <a:pt x="13" y="10"/>
                  </a:lnTo>
                  <a:cubicBezTo>
                    <a:pt x="13" y="11"/>
                    <a:pt x="13" y="13"/>
                    <a:pt x="12" y="14"/>
                  </a:cubicBezTo>
                  <a:cubicBezTo>
                    <a:pt x="11" y="14"/>
                    <a:pt x="10" y="15"/>
                    <a:pt x="9" y="15"/>
                  </a:cubicBezTo>
                  <a:cubicBezTo>
                    <a:pt x="8" y="15"/>
                    <a:pt x="7" y="14"/>
                    <a:pt x="6" y="14"/>
                  </a:cubicBezTo>
                  <a:cubicBezTo>
                    <a:pt x="6" y="13"/>
                    <a:pt x="5" y="11"/>
                    <a:pt x="5" y="10"/>
                  </a:cubicBezTo>
                  <a:cubicBezTo>
                    <a:pt x="5" y="8"/>
                    <a:pt x="6" y="7"/>
                    <a:pt x="6" y="6"/>
                  </a:cubicBezTo>
                  <a:cubicBezTo>
                    <a:pt x="7" y="5"/>
                    <a:pt x="8" y="4"/>
                    <a:pt x="9" y="4"/>
                  </a:cubicBezTo>
                  <a:cubicBezTo>
                    <a:pt x="10" y="4"/>
                    <a:pt x="11" y="5"/>
                    <a:pt x="12" y="6"/>
                  </a:cubicBezTo>
                  <a:cubicBezTo>
                    <a:pt x="13" y="6"/>
                    <a:pt x="13" y="7"/>
                    <a:pt x="13" y="9"/>
                  </a:cubicBezTo>
                  <a:lnTo>
                    <a:pt x="13" y="10"/>
                  </a:lnTo>
                  <a:close/>
                  <a:moveTo>
                    <a:pt x="13" y="3"/>
                  </a:moveTo>
                  <a:lnTo>
                    <a:pt x="13" y="3"/>
                  </a:lnTo>
                  <a:lnTo>
                    <a:pt x="13" y="3"/>
                  </a:lnTo>
                  <a:cubicBezTo>
                    <a:pt x="12" y="1"/>
                    <a:pt x="10" y="0"/>
                    <a:pt x="8" y="0"/>
                  </a:cubicBezTo>
                  <a:cubicBezTo>
                    <a:pt x="6" y="0"/>
                    <a:pt x="4" y="1"/>
                    <a:pt x="2" y="3"/>
                  </a:cubicBezTo>
                  <a:cubicBezTo>
                    <a:pt x="1" y="5"/>
                    <a:pt x="0" y="7"/>
                    <a:pt x="0" y="10"/>
                  </a:cubicBezTo>
                  <a:cubicBezTo>
                    <a:pt x="0" y="13"/>
                    <a:pt x="1" y="15"/>
                    <a:pt x="2" y="16"/>
                  </a:cubicBezTo>
                  <a:cubicBezTo>
                    <a:pt x="3" y="18"/>
                    <a:pt x="5" y="19"/>
                    <a:pt x="7" y="19"/>
                  </a:cubicBezTo>
                  <a:cubicBezTo>
                    <a:pt x="10" y="19"/>
                    <a:pt x="12" y="18"/>
                    <a:pt x="13" y="16"/>
                  </a:cubicBezTo>
                  <a:lnTo>
                    <a:pt x="13" y="16"/>
                  </a:lnTo>
                  <a:lnTo>
                    <a:pt x="13" y="17"/>
                  </a:lnTo>
                  <a:cubicBezTo>
                    <a:pt x="13" y="19"/>
                    <a:pt x="12" y="20"/>
                    <a:pt x="11" y="21"/>
                  </a:cubicBezTo>
                  <a:cubicBezTo>
                    <a:pt x="10" y="22"/>
                    <a:pt x="9" y="23"/>
                    <a:pt x="7" y="23"/>
                  </a:cubicBezTo>
                  <a:cubicBezTo>
                    <a:pt x="5" y="23"/>
                    <a:pt x="3" y="22"/>
                    <a:pt x="2" y="21"/>
                  </a:cubicBezTo>
                  <a:lnTo>
                    <a:pt x="2" y="26"/>
                  </a:lnTo>
                  <a:cubicBezTo>
                    <a:pt x="3" y="26"/>
                    <a:pt x="5" y="27"/>
                    <a:pt x="7" y="27"/>
                  </a:cubicBezTo>
                  <a:cubicBezTo>
                    <a:pt x="11" y="27"/>
                    <a:pt x="13" y="26"/>
                    <a:pt x="15" y="24"/>
                  </a:cubicBezTo>
                  <a:cubicBezTo>
                    <a:pt x="17" y="22"/>
                    <a:pt x="18" y="20"/>
                    <a:pt x="18" y="16"/>
                  </a:cubicBezTo>
                  <a:lnTo>
                    <a:pt x="18" y="1"/>
                  </a:lnTo>
                  <a:lnTo>
                    <a:pt x="13" y="1"/>
                  </a:lnTo>
                  <a:lnTo>
                    <a:pt x="13" y="3"/>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3" name="Freeform 472"/>
            <p:cNvSpPr>
              <a:spLocks noEditPoints="1"/>
            </p:cNvSpPr>
            <p:nvPr/>
          </p:nvSpPr>
          <p:spPr bwMode="auto">
            <a:xfrm>
              <a:off x="7605713" y="2847975"/>
              <a:ext cx="14288" cy="19050"/>
            </a:xfrm>
            <a:custGeom>
              <a:avLst/>
              <a:gdLst>
                <a:gd name="T0" fmla="*/ 6 w 16"/>
                <a:gd name="T1" fmla="*/ 5 h 19"/>
                <a:gd name="T2" fmla="*/ 6 w 16"/>
                <a:gd name="T3" fmla="*/ 5 h 19"/>
                <a:gd name="T4" fmla="*/ 8 w 16"/>
                <a:gd name="T5" fmla="*/ 4 h 19"/>
                <a:gd name="T6" fmla="*/ 11 w 16"/>
                <a:gd name="T7" fmla="*/ 8 h 19"/>
                <a:gd name="T8" fmla="*/ 5 w 16"/>
                <a:gd name="T9" fmla="*/ 8 h 19"/>
                <a:gd name="T10" fmla="*/ 6 w 16"/>
                <a:gd name="T11" fmla="*/ 5 h 19"/>
                <a:gd name="T12" fmla="*/ 15 w 16"/>
                <a:gd name="T13" fmla="*/ 14 h 19"/>
                <a:gd name="T14" fmla="*/ 15 w 16"/>
                <a:gd name="T15" fmla="*/ 14 h 19"/>
                <a:gd name="T16" fmla="*/ 10 w 16"/>
                <a:gd name="T17" fmla="*/ 15 h 19"/>
                <a:gd name="T18" fmla="*/ 5 w 16"/>
                <a:gd name="T19" fmla="*/ 11 h 19"/>
                <a:gd name="T20" fmla="*/ 16 w 16"/>
                <a:gd name="T21" fmla="*/ 11 h 19"/>
                <a:gd name="T22" fmla="*/ 16 w 16"/>
                <a:gd name="T23" fmla="*/ 9 h 19"/>
                <a:gd name="T24" fmla="*/ 14 w 16"/>
                <a:gd name="T25" fmla="*/ 3 h 19"/>
                <a:gd name="T26" fmla="*/ 8 w 16"/>
                <a:gd name="T27" fmla="*/ 0 h 19"/>
                <a:gd name="T28" fmla="*/ 2 w 16"/>
                <a:gd name="T29" fmla="*/ 3 h 19"/>
                <a:gd name="T30" fmla="*/ 0 w 16"/>
                <a:gd name="T31" fmla="*/ 10 h 19"/>
                <a:gd name="T32" fmla="*/ 2 w 16"/>
                <a:gd name="T33" fmla="*/ 16 h 19"/>
                <a:gd name="T34" fmla="*/ 8 w 16"/>
                <a:gd name="T35" fmla="*/ 19 h 19"/>
                <a:gd name="T36" fmla="*/ 15 w 16"/>
                <a:gd name="T37" fmla="*/ 17 h 19"/>
                <a:gd name="T38" fmla="*/ 15 w 16"/>
                <a:gd name="T39" fmla="*/ 1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 h="19">
                  <a:moveTo>
                    <a:pt x="6" y="5"/>
                  </a:moveTo>
                  <a:lnTo>
                    <a:pt x="6" y="5"/>
                  </a:lnTo>
                  <a:cubicBezTo>
                    <a:pt x="7" y="4"/>
                    <a:pt x="7" y="4"/>
                    <a:pt x="8" y="4"/>
                  </a:cubicBezTo>
                  <a:cubicBezTo>
                    <a:pt x="10" y="4"/>
                    <a:pt x="11" y="5"/>
                    <a:pt x="11" y="8"/>
                  </a:cubicBezTo>
                  <a:lnTo>
                    <a:pt x="5" y="8"/>
                  </a:lnTo>
                  <a:cubicBezTo>
                    <a:pt x="5" y="7"/>
                    <a:pt x="5" y="6"/>
                    <a:pt x="6" y="5"/>
                  </a:cubicBezTo>
                  <a:close/>
                  <a:moveTo>
                    <a:pt x="15" y="14"/>
                  </a:moveTo>
                  <a:lnTo>
                    <a:pt x="15" y="14"/>
                  </a:lnTo>
                  <a:cubicBezTo>
                    <a:pt x="13" y="15"/>
                    <a:pt x="12" y="15"/>
                    <a:pt x="10" y="15"/>
                  </a:cubicBezTo>
                  <a:cubicBezTo>
                    <a:pt x="7" y="15"/>
                    <a:pt x="5" y="14"/>
                    <a:pt x="5" y="11"/>
                  </a:cubicBezTo>
                  <a:lnTo>
                    <a:pt x="16" y="11"/>
                  </a:lnTo>
                  <a:lnTo>
                    <a:pt x="16" y="9"/>
                  </a:lnTo>
                  <a:cubicBezTo>
                    <a:pt x="16" y="6"/>
                    <a:pt x="16" y="4"/>
                    <a:pt x="14" y="3"/>
                  </a:cubicBezTo>
                  <a:cubicBezTo>
                    <a:pt x="13" y="1"/>
                    <a:pt x="11" y="0"/>
                    <a:pt x="8" y="0"/>
                  </a:cubicBezTo>
                  <a:cubicBezTo>
                    <a:pt x="6" y="0"/>
                    <a:pt x="4" y="1"/>
                    <a:pt x="2" y="3"/>
                  </a:cubicBezTo>
                  <a:cubicBezTo>
                    <a:pt x="0" y="5"/>
                    <a:pt x="0" y="7"/>
                    <a:pt x="0" y="10"/>
                  </a:cubicBezTo>
                  <a:cubicBezTo>
                    <a:pt x="0" y="13"/>
                    <a:pt x="0" y="15"/>
                    <a:pt x="2" y="16"/>
                  </a:cubicBezTo>
                  <a:cubicBezTo>
                    <a:pt x="3" y="18"/>
                    <a:pt x="6" y="19"/>
                    <a:pt x="8" y="19"/>
                  </a:cubicBezTo>
                  <a:cubicBezTo>
                    <a:pt x="11" y="19"/>
                    <a:pt x="13" y="18"/>
                    <a:pt x="15" y="17"/>
                  </a:cubicBezTo>
                  <a:lnTo>
                    <a:pt x="15" y="14"/>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4" name="Freeform 473"/>
            <p:cNvSpPr>
              <a:spLocks noEditPoints="1"/>
            </p:cNvSpPr>
            <p:nvPr/>
          </p:nvSpPr>
          <p:spPr bwMode="auto">
            <a:xfrm>
              <a:off x="7632700" y="2841625"/>
              <a:ext cx="15875" cy="25400"/>
            </a:xfrm>
            <a:custGeom>
              <a:avLst/>
              <a:gdLst>
                <a:gd name="T0" fmla="*/ 6 w 17"/>
                <a:gd name="T1" fmla="*/ 15 h 26"/>
                <a:gd name="T2" fmla="*/ 6 w 17"/>
                <a:gd name="T3" fmla="*/ 15 h 26"/>
                <a:gd name="T4" fmla="*/ 8 w 17"/>
                <a:gd name="T5" fmla="*/ 13 h 26"/>
                <a:gd name="T6" fmla="*/ 12 w 17"/>
                <a:gd name="T7" fmla="*/ 18 h 26"/>
                <a:gd name="T8" fmla="*/ 11 w 17"/>
                <a:gd name="T9" fmla="*/ 21 h 26"/>
                <a:gd name="T10" fmla="*/ 8 w 17"/>
                <a:gd name="T11" fmla="*/ 22 h 26"/>
                <a:gd name="T12" fmla="*/ 6 w 17"/>
                <a:gd name="T13" fmla="*/ 21 h 26"/>
                <a:gd name="T14" fmla="*/ 5 w 17"/>
                <a:gd name="T15" fmla="*/ 17 h 26"/>
                <a:gd name="T16" fmla="*/ 6 w 17"/>
                <a:gd name="T17" fmla="*/ 15 h 26"/>
                <a:gd name="T18" fmla="*/ 11 w 17"/>
                <a:gd name="T19" fmla="*/ 4 h 26"/>
                <a:gd name="T20" fmla="*/ 11 w 17"/>
                <a:gd name="T21" fmla="*/ 4 h 26"/>
                <a:gd name="T22" fmla="*/ 15 w 17"/>
                <a:gd name="T23" fmla="*/ 5 h 26"/>
                <a:gd name="T24" fmla="*/ 15 w 17"/>
                <a:gd name="T25" fmla="*/ 1 h 26"/>
                <a:gd name="T26" fmla="*/ 11 w 17"/>
                <a:gd name="T27" fmla="*/ 0 h 26"/>
                <a:gd name="T28" fmla="*/ 3 w 17"/>
                <a:gd name="T29" fmla="*/ 4 h 26"/>
                <a:gd name="T30" fmla="*/ 0 w 17"/>
                <a:gd name="T31" fmla="*/ 14 h 26"/>
                <a:gd name="T32" fmla="*/ 2 w 17"/>
                <a:gd name="T33" fmla="*/ 23 h 26"/>
                <a:gd name="T34" fmla="*/ 8 w 17"/>
                <a:gd name="T35" fmla="*/ 26 h 26"/>
                <a:gd name="T36" fmla="*/ 14 w 17"/>
                <a:gd name="T37" fmla="*/ 23 h 26"/>
                <a:gd name="T38" fmla="*/ 17 w 17"/>
                <a:gd name="T39" fmla="*/ 17 h 26"/>
                <a:gd name="T40" fmla="*/ 15 w 17"/>
                <a:gd name="T41" fmla="*/ 12 h 26"/>
                <a:gd name="T42" fmla="*/ 10 w 17"/>
                <a:gd name="T43" fmla="*/ 10 h 26"/>
                <a:gd name="T44" fmla="*/ 5 w 17"/>
                <a:gd name="T45" fmla="*/ 12 h 26"/>
                <a:gd name="T46" fmla="*/ 5 w 17"/>
                <a:gd name="T47" fmla="*/ 12 h 26"/>
                <a:gd name="T48" fmla="*/ 6 w 17"/>
                <a:gd name="T49" fmla="*/ 7 h 26"/>
                <a:gd name="T50" fmla="*/ 11 w 17"/>
                <a:gd name="T51" fmla="*/ 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 h="26">
                  <a:moveTo>
                    <a:pt x="6" y="15"/>
                  </a:moveTo>
                  <a:lnTo>
                    <a:pt x="6" y="15"/>
                  </a:lnTo>
                  <a:cubicBezTo>
                    <a:pt x="6" y="14"/>
                    <a:pt x="7" y="13"/>
                    <a:pt x="8" y="13"/>
                  </a:cubicBezTo>
                  <a:cubicBezTo>
                    <a:pt x="11" y="13"/>
                    <a:pt x="12" y="15"/>
                    <a:pt x="12" y="18"/>
                  </a:cubicBezTo>
                  <a:cubicBezTo>
                    <a:pt x="12" y="19"/>
                    <a:pt x="11" y="20"/>
                    <a:pt x="11" y="21"/>
                  </a:cubicBezTo>
                  <a:cubicBezTo>
                    <a:pt x="10" y="21"/>
                    <a:pt x="9" y="22"/>
                    <a:pt x="8" y="22"/>
                  </a:cubicBezTo>
                  <a:cubicBezTo>
                    <a:pt x="7" y="22"/>
                    <a:pt x="6" y="21"/>
                    <a:pt x="6" y="21"/>
                  </a:cubicBezTo>
                  <a:cubicBezTo>
                    <a:pt x="5" y="20"/>
                    <a:pt x="5" y="19"/>
                    <a:pt x="5" y="17"/>
                  </a:cubicBezTo>
                  <a:cubicBezTo>
                    <a:pt x="5" y="16"/>
                    <a:pt x="5" y="15"/>
                    <a:pt x="6" y="15"/>
                  </a:cubicBezTo>
                  <a:close/>
                  <a:moveTo>
                    <a:pt x="11" y="4"/>
                  </a:moveTo>
                  <a:lnTo>
                    <a:pt x="11" y="4"/>
                  </a:lnTo>
                  <a:cubicBezTo>
                    <a:pt x="12" y="4"/>
                    <a:pt x="14" y="5"/>
                    <a:pt x="15" y="5"/>
                  </a:cubicBezTo>
                  <a:lnTo>
                    <a:pt x="15" y="1"/>
                  </a:lnTo>
                  <a:cubicBezTo>
                    <a:pt x="14" y="1"/>
                    <a:pt x="12" y="0"/>
                    <a:pt x="11" y="0"/>
                  </a:cubicBezTo>
                  <a:cubicBezTo>
                    <a:pt x="7" y="0"/>
                    <a:pt x="4" y="2"/>
                    <a:pt x="3" y="4"/>
                  </a:cubicBezTo>
                  <a:cubicBezTo>
                    <a:pt x="1" y="7"/>
                    <a:pt x="0" y="10"/>
                    <a:pt x="0" y="14"/>
                  </a:cubicBezTo>
                  <a:cubicBezTo>
                    <a:pt x="0" y="18"/>
                    <a:pt x="0" y="21"/>
                    <a:pt x="2" y="23"/>
                  </a:cubicBezTo>
                  <a:cubicBezTo>
                    <a:pt x="3" y="25"/>
                    <a:pt x="6" y="26"/>
                    <a:pt x="8" y="26"/>
                  </a:cubicBezTo>
                  <a:cubicBezTo>
                    <a:pt x="11" y="26"/>
                    <a:pt x="13" y="25"/>
                    <a:pt x="14" y="23"/>
                  </a:cubicBezTo>
                  <a:cubicBezTo>
                    <a:pt x="16" y="22"/>
                    <a:pt x="17" y="20"/>
                    <a:pt x="17" y="17"/>
                  </a:cubicBezTo>
                  <a:cubicBezTo>
                    <a:pt x="17" y="15"/>
                    <a:pt x="16" y="13"/>
                    <a:pt x="15" y="12"/>
                  </a:cubicBezTo>
                  <a:cubicBezTo>
                    <a:pt x="14" y="10"/>
                    <a:pt x="12" y="10"/>
                    <a:pt x="10" y="10"/>
                  </a:cubicBezTo>
                  <a:cubicBezTo>
                    <a:pt x="8" y="10"/>
                    <a:pt x="6" y="11"/>
                    <a:pt x="5" y="12"/>
                  </a:cubicBezTo>
                  <a:lnTo>
                    <a:pt x="5" y="12"/>
                  </a:lnTo>
                  <a:cubicBezTo>
                    <a:pt x="5" y="10"/>
                    <a:pt x="5" y="8"/>
                    <a:pt x="6" y="7"/>
                  </a:cubicBezTo>
                  <a:cubicBezTo>
                    <a:pt x="8" y="5"/>
                    <a:pt x="9" y="4"/>
                    <a:pt x="11" y="4"/>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5" name="Freeform 474"/>
            <p:cNvSpPr>
              <a:spLocks/>
            </p:cNvSpPr>
            <p:nvPr/>
          </p:nvSpPr>
          <p:spPr bwMode="auto">
            <a:xfrm>
              <a:off x="7651750" y="2860675"/>
              <a:ext cx="6350" cy="6350"/>
            </a:xfrm>
            <a:custGeom>
              <a:avLst/>
              <a:gdLst>
                <a:gd name="T0" fmla="*/ 1 w 7"/>
                <a:gd name="T1" fmla="*/ 1 h 6"/>
                <a:gd name="T2" fmla="*/ 1 w 7"/>
                <a:gd name="T3" fmla="*/ 1 h 6"/>
                <a:gd name="T4" fmla="*/ 0 w 7"/>
                <a:gd name="T5" fmla="*/ 3 h 6"/>
                <a:gd name="T6" fmla="*/ 1 w 7"/>
                <a:gd name="T7" fmla="*/ 5 h 6"/>
                <a:gd name="T8" fmla="*/ 3 w 7"/>
                <a:gd name="T9" fmla="*/ 6 h 6"/>
                <a:gd name="T10" fmla="*/ 6 w 7"/>
                <a:gd name="T11" fmla="*/ 5 h 6"/>
                <a:gd name="T12" fmla="*/ 7 w 7"/>
                <a:gd name="T13" fmla="*/ 3 h 6"/>
                <a:gd name="T14" fmla="*/ 6 w 7"/>
                <a:gd name="T15" fmla="*/ 1 h 6"/>
                <a:gd name="T16" fmla="*/ 4 w 7"/>
                <a:gd name="T17" fmla="*/ 0 h 6"/>
                <a:gd name="T18" fmla="*/ 1 w 7"/>
                <a:gd name="T19" fmla="*/ 1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 h="6">
                  <a:moveTo>
                    <a:pt x="1" y="1"/>
                  </a:moveTo>
                  <a:lnTo>
                    <a:pt x="1" y="1"/>
                  </a:lnTo>
                  <a:cubicBezTo>
                    <a:pt x="1" y="2"/>
                    <a:pt x="0" y="2"/>
                    <a:pt x="0" y="3"/>
                  </a:cubicBezTo>
                  <a:cubicBezTo>
                    <a:pt x="0" y="4"/>
                    <a:pt x="1" y="5"/>
                    <a:pt x="1" y="5"/>
                  </a:cubicBezTo>
                  <a:cubicBezTo>
                    <a:pt x="2" y="6"/>
                    <a:pt x="3" y="6"/>
                    <a:pt x="3" y="6"/>
                  </a:cubicBezTo>
                  <a:cubicBezTo>
                    <a:pt x="4" y="6"/>
                    <a:pt x="5" y="6"/>
                    <a:pt x="6" y="5"/>
                  </a:cubicBezTo>
                  <a:cubicBezTo>
                    <a:pt x="6" y="5"/>
                    <a:pt x="7" y="4"/>
                    <a:pt x="7" y="3"/>
                  </a:cubicBezTo>
                  <a:cubicBezTo>
                    <a:pt x="7" y="2"/>
                    <a:pt x="6" y="2"/>
                    <a:pt x="6" y="1"/>
                  </a:cubicBezTo>
                  <a:cubicBezTo>
                    <a:pt x="5" y="1"/>
                    <a:pt x="4" y="0"/>
                    <a:pt x="4" y="0"/>
                  </a:cubicBezTo>
                  <a:cubicBezTo>
                    <a:pt x="3" y="0"/>
                    <a:pt x="2" y="1"/>
                    <a:pt x="1" y="1"/>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6" name="Freeform 475"/>
            <p:cNvSpPr>
              <a:spLocks noEditPoints="1"/>
            </p:cNvSpPr>
            <p:nvPr/>
          </p:nvSpPr>
          <p:spPr bwMode="auto">
            <a:xfrm>
              <a:off x="7659688" y="2841625"/>
              <a:ext cx="17463" cy="25400"/>
            </a:xfrm>
            <a:custGeom>
              <a:avLst/>
              <a:gdLst>
                <a:gd name="T0" fmla="*/ 13 w 18"/>
                <a:gd name="T1" fmla="*/ 13 h 26"/>
                <a:gd name="T2" fmla="*/ 13 w 18"/>
                <a:gd name="T3" fmla="*/ 13 h 26"/>
                <a:gd name="T4" fmla="*/ 9 w 18"/>
                <a:gd name="T5" fmla="*/ 22 h 26"/>
                <a:gd name="T6" fmla="*/ 6 w 18"/>
                <a:gd name="T7" fmla="*/ 13 h 26"/>
                <a:gd name="T8" fmla="*/ 9 w 18"/>
                <a:gd name="T9" fmla="*/ 4 h 26"/>
                <a:gd name="T10" fmla="*/ 13 w 18"/>
                <a:gd name="T11" fmla="*/ 13 h 26"/>
                <a:gd name="T12" fmla="*/ 3 w 18"/>
                <a:gd name="T13" fmla="*/ 4 h 26"/>
                <a:gd name="T14" fmla="*/ 3 w 18"/>
                <a:gd name="T15" fmla="*/ 4 h 26"/>
                <a:gd name="T16" fmla="*/ 0 w 18"/>
                <a:gd name="T17" fmla="*/ 14 h 26"/>
                <a:gd name="T18" fmla="*/ 9 w 18"/>
                <a:gd name="T19" fmla="*/ 26 h 26"/>
                <a:gd name="T20" fmla="*/ 16 w 18"/>
                <a:gd name="T21" fmla="*/ 22 h 26"/>
                <a:gd name="T22" fmla="*/ 18 w 18"/>
                <a:gd name="T23" fmla="*/ 13 h 26"/>
                <a:gd name="T24" fmla="*/ 9 w 18"/>
                <a:gd name="T25" fmla="*/ 0 h 26"/>
                <a:gd name="T26" fmla="*/ 3 w 18"/>
                <a:gd name="T27" fmla="*/ 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26">
                  <a:moveTo>
                    <a:pt x="13" y="13"/>
                  </a:moveTo>
                  <a:lnTo>
                    <a:pt x="13" y="13"/>
                  </a:lnTo>
                  <a:cubicBezTo>
                    <a:pt x="13" y="19"/>
                    <a:pt x="12" y="22"/>
                    <a:pt x="9" y="22"/>
                  </a:cubicBezTo>
                  <a:cubicBezTo>
                    <a:pt x="7" y="22"/>
                    <a:pt x="6" y="19"/>
                    <a:pt x="6" y="13"/>
                  </a:cubicBezTo>
                  <a:cubicBezTo>
                    <a:pt x="6" y="7"/>
                    <a:pt x="7" y="4"/>
                    <a:pt x="9" y="4"/>
                  </a:cubicBezTo>
                  <a:cubicBezTo>
                    <a:pt x="12" y="4"/>
                    <a:pt x="13" y="7"/>
                    <a:pt x="13" y="13"/>
                  </a:cubicBezTo>
                  <a:close/>
                  <a:moveTo>
                    <a:pt x="3" y="4"/>
                  </a:moveTo>
                  <a:lnTo>
                    <a:pt x="3" y="4"/>
                  </a:lnTo>
                  <a:cubicBezTo>
                    <a:pt x="1" y="6"/>
                    <a:pt x="0" y="9"/>
                    <a:pt x="0" y="14"/>
                  </a:cubicBezTo>
                  <a:cubicBezTo>
                    <a:pt x="0" y="22"/>
                    <a:pt x="3" y="26"/>
                    <a:pt x="9" y="26"/>
                  </a:cubicBezTo>
                  <a:cubicBezTo>
                    <a:pt x="12" y="26"/>
                    <a:pt x="14" y="25"/>
                    <a:pt x="16" y="22"/>
                  </a:cubicBezTo>
                  <a:cubicBezTo>
                    <a:pt x="17" y="20"/>
                    <a:pt x="18" y="17"/>
                    <a:pt x="18" y="13"/>
                  </a:cubicBezTo>
                  <a:cubicBezTo>
                    <a:pt x="18" y="5"/>
                    <a:pt x="15" y="0"/>
                    <a:pt x="9" y="0"/>
                  </a:cubicBezTo>
                  <a:cubicBezTo>
                    <a:pt x="7" y="0"/>
                    <a:pt x="4" y="2"/>
                    <a:pt x="3" y="4"/>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grpSp>
      <p:grpSp>
        <p:nvGrpSpPr>
          <p:cNvPr id="67" name="组合 15816"/>
          <p:cNvGrpSpPr/>
          <p:nvPr/>
        </p:nvGrpSpPr>
        <p:grpSpPr>
          <a:xfrm>
            <a:off x="7680176" y="5193196"/>
            <a:ext cx="907583" cy="315666"/>
            <a:chOff x="4618038" y="1035050"/>
            <a:chExt cx="763588" cy="265113"/>
          </a:xfrm>
          <a:solidFill>
            <a:srgbClr val="3C3C3B"/>
          </a:solidFill>
        </p:grpSpPr>
        <p:sp>
          <p:nvSpPr>
            <p:cNvPr id="68" name="Freeform 69"/>
            <p:cNvSpPr>
              <a:spLocks noEditPoints="1"/>
            </p:cNvSpPr>
            <p:nvPr/>
          </p:nvSpPr>
          <p:spPr bwMode="auto">
            <a:xfrm>
              <a:off x="4618038" y="1035050"/>
              <a:ext cx="763588" cy="265113"/>
            </a:xfrm>
            <a:custGeom>
              <a:avLst/>
              <a:gdLst>
                <a:gd name="T0" fmla="*/ 753 w 800"/>
                <a:gd name="T1" fmla="*/ 181 h 276"/>
                <a:gd name="T2" fmla="*/ 785 w 800"/>
                <a:gd name="T3" fmla="*/ 243 h 276"/>
                <a:gd name="T4" fmla="*/ 753 w 800"/>
                <a:gd name="T5" fmla="*/ 181 h 276"/>
                <a:gd name="T6" fmla="*/ 449 w 800"/>
                <a:gd name="T7" fmla="*/ 148 h 276"/>
                <a:gd name="T8" fmla="*/ 57 w 800"/>
                <a:gd name="T9" fmla="*/ 74 h 276"/>
                <a:gd name="T10" fmla="*/ 743 w 800"/>
                <a:gd name="T11" fmla="*/ 159 h 276"/>
                <a:gd name="T12" fmla="*/ 15 w 800"/>
                <a:gd name="T13" fmla="*/ 195 h 276"/>
                <a:gd name="T14" fmla="*/ 47 w 800"/>
                <a:gd name="T15" fmla="*/ 195 h 276"/>
                <a:gd name="T16" fmla="*/ 15 w 800"/>
                <a:gd name="T17" fmla="*/ 243 h 276"/>
                <a:gd name="T18" fmla="*/ 47 w 800"/>
                <a:gd name="T19" fmla="*/ 117 h 276"/>
                <a:gd name="T20" fmla="*/ 15 w 800"/>
                <a:gd name="T21" fmla="*/ 117 h 276"/>
                <a:gd name="T22" fmla="*/ 47 w 800"/>
                <a:gd name="T23" fmla="*/ 74 h 276"/>
                <a:gd name="T24" fmla="*/ 15 w 800"/>
                <a:gd name="T25" fmla="*/ 163 h 276"/>
                <a:gd name="T26" fmla="*/ 47 w 800"/>
                <a:gd name="T27" fmla="*/ 163 h 276"/>
                <a:gd name="T28" fmla="*/ 15 w 800"/>
                <a:gd name="T29" fmla="*/ 192 h 276"/>
                <a:gd name="T30" fmla="*/ 47 w 800"/>
                <a:gd name="T31" fmla="*/ 159 h 276"/>
                <a:gd name="T32" fmla="*/ 15 w 800"/>
                <a:gd name="T33" fmla="*/ 159 h 276"/>
                <a:gd name="T34" fmla="*/ 47 w 800"/>
                <a:gd name="T35" fmla="*/ 121 h 276"/>
                <a:gd name="T36" fmla="*/ 28 w 800"/>
                <a:gd name="T37" fmla="*/ 51 h 276"/>
                <a:gd name="T38" fmla="*/ 726 w 800"/>
                <a:gd name="T39" fmla="*/ 51 h 276"/>
                <a:gd name="T40" fmla="*/ 726 w 800"/>
                <a:gd name="T41" fmla="*/ 51 h 276"/>
                <a:gd name="T42" fmla="*/ 783 w 800"/>
                <a:gd name="T43" fmla="*/ 59 h 276"/>
                <a:gd name="T44" fmla="*/ 28 w 800"/>
                <a:gd name="T45" fmla="*/ 51 h 276"/>
                <a:gd name="T46" fmla="*/ 133 w 800"/>
                <a:gd name="T47" fmla="*/ 10 h 276"/>
                <a:gd name="T48" fmla="*/ 710 w 800"/>
                <a:gd name="T49" fmla="*/ 41 h 276"/>
                <a:gd name="T50" fmla="*/ 133 w 800"/>
                <a:gd name="T51" fmla="*/ 10 h 276"/>
                <a:gd name="T52" fmla="*/ 753 w 800"/>
                <a:gd name="T53" fmla="*/ 143 h 276"/>
                <a:gd name="T54" fmla="*/ 785 w 800"/>
                <a:gd name="T55" fmla="*/ 178 h 276"/>
                <a:gd name="T56" fmla="*/ 753 w 800"/>
                <a:gd name="T57" fmla="*/ 143 h 276"/>
                <a:gd name="T58" fmla="*/ 785 w 800"/>
                <a:gd name="T59" fmla="*/ 139 h 276"/>
                <a:gd name="T60" fmla="*/ 753 w 800"/>
                <a:gd name="T61" fmla="*/ 74 h 276"/>
                <a:gd name="T62" fmla="*/ 785 w 800"/>
                <a:gd name="T63" fmla="*/ 139 h 276"/>
                <a:gd name="T64" fmla="*/ 800 w 800"/>
                <a:gd name="T65" fmla="*/ 59 h 276"/>
                <a:gd name="T66" fmla="*/ 775 w 800"/>
                <a:gd name="T67" fmla="*/ 41 h 276"/>
                <a:gd name="T68" fmla="*/ 666 w 800"/>
                <a:gd name="T69" fmla="*/ 0 h 276"/>
                <a:gd name="T70" fmla="*/ 84 w 800"/>
                <a:gd name="T71" fmla="*/ 41 h 276"/>
                <a:gd name="T72" fmla="*/ 0 w 800"/>
                <a:gd name="T73" fmla="*/ 59 h 276"/>
                <a:gd name="T74" fmla="*/ 0 w 800"/>
                <a:gd name="T75" fmla="*/ 59 h 276"/>
                <a:gd name="T76" fmla="*/ 492 w 800"/>
                <a:gd name="T77" fmla="*/ 258 h 276"/>
                <a:gd name="T78" fmla="*/ 542 w 800"/>
                <a:gd name="T79" fmla="*/ 250 h 276"/>
                <a:gd name="T80" fmla="*/ 492 w 800"/>
                <a:gd name="T81" fmla="*/ 243 h 276"/>
                <a:gd name="T82" fmla="*/ 57 w 800"/>
                <a:gd name="T83" fmla="*/ 173 h 276"/>
                <a:gd name="T84" fmla="*/ 743 w 800"/>
                <a:gd name="T85" fmla="*/ 173 h 276"/>
                <a:gd name="T86" fmla="*/ 620 w 800"/>
                <a:gd name="T87" fmla="*/ 243 h 276"/>
                <a:gd name="T88" fmla="*/ 569 w 800"/>
                <a:gd name="T89" fmla="*/ 250 h 276"/>
                <a:gd name="T90" fmla="*/ 620 w 800"/>
                <a:gd name="T91" fmla="*/ 258 h 276"/>
                <a:gd name="T92" fmla="*/ 800 w 800"/>
                <a:gd name="T93" fmla="*/ 59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00" h="276">
                  <a:moveTo>
                    <a:pt x="753" y="181"/>
                  </a:moveTo>
                  <a:lnTo>
                    <a:pt x="753" y="181"/>
                  </a:lnTo>
                  <a:lnTo>
                    <a:pt x="785" y="181"/>
                  </a:lnTo>
                  <a:lnTo>
                    <a:pt x="785" y="243"/>
                  </a:lnTo>
                  <a:lnTo>
                    <a:pt x="753" y="243"/>
                  </a:lnTo>
                  <a:lnTo>
                    <a:pt x="753" y="181"/>
                  </a:lnTo>
                  <a:close/>
                  <a:moveTo>
                    <a:pt x="449" y="148"/>
                  </a:moveTo>
                  <a:lnTo>
                    <a:pt x="449" y="148"/>
                  </a:lnTo>
                  <a:cubicBezTo>
                    <a:pt x="289" y="148"/>
                    <a:pt x="94" y="157"/>
                    <a:pt x="57" y="159"/>
                  </a:cubicBezTo>
                  <a:lnTo>
                    <a:pt x="57" y="74"/>
                  </a:lnTo>
                  <a:lnTo>
                    <a:pt x="743" y="74"/>
                  </a:lnTo>
                  <a:lnTo>
                    <a:pt x="743" y="159"/>
                  </a:lnTo>
                  <a:cubicBezTo>
                    <a:pt x="719" y="157"/>
                    <a:pt x="606" y="148"/>
                    <a:pt x="449" y="148"/>
                  </a:cubicBezTo>
                  <a:close/>
                  <a:moveTo>
                    <a:pt x="15" y="195"/>
                  </a:moveTo>
                  <a:lnTo>
                    <a:pt x="15" y="195"/>
                  </a:lnTo>
                  <a:lnTo>
                    <a:pt x="47" y="195"/>
                  </a:lnTo>
                  <a:lnTo>
                    <a:pt x="47" y="243"/>
                  </a:lnTo>
                  <a:lnTo>
                    <a:pt x="15" y="243"/>
                  </a:lnTo>
                  <a:lnTo>
                    <a:pt x="15" y="195"/>
                  </a:lnTo>
                  <a:close/>
                  <a:moveTo>
                    <a:pt x="47" y="117"/>
                  </a:moveTo>
                  <a:lnTo>
                    <a:pt x="47" y="117"/>
                  </a:lnTo>
                  <a:lnTo>
                    <a:pt x="15" y="117"/>
                  </a:lnTo>
                  <a:lnTo>
                    <a:pt x="15" y="74"/>
                  </a:lnTo>
                  <a:lnTo>
                    <a:pt x="47" y="74"/>
                  </a:lnTo>
                  <a:lnTo>
                    <a:pt x="47" y="117"/>
                  </a:lnTo>
                  <a:close/>
                  <a:moveTo>
                    <a:pt x="15" y="163"/>
                  </a:moveTo>
                  <a:lnTo>
                    <a:pt x="15" y="163"/>
                  </a:lnTo>
                  <a:lnTo>
                    <a:pt x="47" y="163"/>
                  </a:lnTo>
                  <a:lnTo>
                    <a:pt x="47" y="192"/>
                  </a:lnTo>
                  <a:lnTo>
                    <a:pt x="15" y="192"/>
                  </a:lnTo>
                  <a:lnTo>
                    <a:pt x="15" y="163"/>
                  </a:lnTo>
                  <a:close/>
                  <a:moveTo>
                    <a:pt x="47" y="159"/>
                  </a:moveTo>
                  <a:lnTo>
                    <a:pt x="47" y="159"/>
                  </a:lnTo>
                  <a:lnTo>
                    <a:pt x="15" y="159"/>
                  </a:lnTo>
                  <a:lnTo>
                    <a:pt x="15" y="121"/>
                  </a:lnTo>
                  <a:lnTo>
                    <a:pt x="47" y="121"/>
                  </a:lnTo>
                  <a:lnTo>
                    <a:pt x="47" y="159"/>
                  </a:lnTo>
                  <a:close/>
                  <a:moveTo>
                    <a:pt x="28" y="51"/>
                  </a:moveTo>
                  <a:lnTo>
                    <a:pt x="28" y="51"/>
                  </a:lnTo>
                  <a:lnTo>
                    <a:pt x="726" y="51"/>
                  </a:lnTo>
                  <a:lnTo>
                    <a:pt x="726" y="51"/>
                  </a:lnTo>
                  <a:lnTo>
                    <a:pt x="726" y="51"/>
                  </a:lnTo>
                  <a:lnTo>
                    <a:pt x="772" y="51"/>
                  </a:lnTo>
                  <a:lnTo>
                    <a:pt x="783" y="59"/>
                  </a:lnTo>
                  <a:lnTo>
                    <a:pt x="17" y="59"/>
                  </a:lnTo>
                  <a:lnTo>
                    <a:pt x="28" y="51"/>
                  </a:lnTo>
                  <a:close/>
                  <a:moveTo>
                    <a:pt x="133" y="10"/>
                  </a:moveTo>
                  <a:lnTo>
                    <a:pt x="133" y="10"/>
                  </a:lnTo>
                  <a:lnTo>
                    <a:pt x="663" y="10"/>
                  </a:lnTo>
                  <a:lnTo>
                    <a:pt x="710" y="41"/>
                  </a:lnTo>
                  <a:lnTo>
                    <a:pt x="99" y="41"/>
                  </a:lnTo>
                  <a:lnTo>
                    <a:pt x="133" y="10"/>
                  </a:lnTo>
                  <a:close/>
                  <a:moveTo>
                    <a:pt x="753" y="143"/>
                  </a:moveTo>
                  <a:lnTo>
                    <a:pt x="753" y="143"/>
                  </a:lnTo>
                  <a:lnTo>
                    <a:pt x="785" y="143"/>
                  </a:lnTo>
                  <a:lnTo>
                    <a:pt x="785" y="178"/>
                  </a:lnTo>
                  <a:lnTo>
                    <a:pt x="753" y="178"/>
                  </a:lnTo>
                  <a:lnTo>
                    <a:pt x="753" y="143"/>
                  </a:lnTo>
                  <a:close/>
                  <a:moveTo>
                    <a:pt x="785" y="139"/>
                  </a:moveTo>
                  <a:lnTo>
                    <a:pt x="785" y="139"/>
                  </a:lnTo>
                  <a:lnTo>
                    <a:pt x="753" y="139"/>
                  </a:lnTo>
                  <a:lnTo>
                    <a:pt x="753" y="74"/>
                  </a:lnTo>
                  <a:lnTo>
                    <a:pt x="785" y="74"/>
                  </a:lnTo>
                  <a:lnTo>
                    <a:pt x="785" y="139"/>
                  </a:lnTo>
                  <a:close/>
                  <a:moveTo>
                    <a:pt x="800" y="59"/>
                  </a:moveTo>
                  <a:lnTo>
                    <a:pt x="800" y="59"/>
                  </a:lnTo>
                  <a:lnTo>
                    <a:pt x="799" y="59"/>
                  </a:lnTo>
                  <a:lnTo>
                    <a:pt x="775" y="41"/>
                  </a:lnTo>
                  <a:lnTo>
                    <a:pt x="729" y="41"/>
                  </a:lnTo>
                  <a:lnTo>
                    <a:pt x="666" y="0"/>
                  </a:lnTo>
                  <a:lnTo>
                    <a:pt x="129" y="0"/>
                  </a:lnTo>
                  <a:lnTo>
                    <a:pt x="84" y="41"/>
                  </a:lnTo>
                  <a:lnTo>
                    <a:pt x="24" y="41"/>
                  </a:lnTo>
                  <a:lnTo>
                    <a:pt x="0" y="59"/>
                  </a:lnTo>
                  <a:lnTo>
                    <a:pt x="0" y="59"/>
                  </a:lnTo>
                  <a:lnTo>
                    <a:pt x="0" y="59"/>
                  </a:lnTo>
                  <a:lnTo>
                    <a:pt x="0" y="258"/>
                  </a:lnTo>
                  <a:lnTo>
                    <a:pt x="492" y="258"/>
                  </a:lnTo>
                  <a:cubicBezTo>
                    <a:pt x="495" y="268"/>
                    <a:pt x="505" y="276"/>
                    <a:pt x="516" y="276"/>
                  </a:cubicBezTo>
                  <a:cubicBezTo>
                    <a:pt x="531" y="276"/>
                    <a:pt x="542" y="264"/>
                    <a:pt x="542" y="250"/>
                  </a:cubicBezTo>
                  <a:cubicBezTo>
                    <a:pt x="542" y="236"/>
                    <a:pt x="531" y="224"/>
                    <a:pt x="516" y="224"/>
                  </a:cubicBezTo>
                  <a:cubicBezTo>
                    <a:pt x="505" y="224"/>
                    <a:pt x="495" y="232"/>
                    <a:pt x="492" y="243"/>
                  </a:cubicBezTo>
                  <a:lnTo>
                    <a:pt x="57" y="243"/>
                  </a:lnTo>
                  <a:lnTo>
                    <a:pt x="57" y="173"/>
                  </a:lnTo>
                  <a:cubicBezTo>
                    <a:pt x="92" y="172"/>
                    <a:pt x="288" y="162"/>
                    <a:pt x="449" y="162"/>
                  </a:cubicBezTo>
                  <a:cubicBezTo>
                    <a:pt x="609" y="162"/>
                    <a:pt x="723" y="172"/>
                    <a:pt x="743" y="173"/>
                  </a:cubicBezTo>
                  <a:lnTo>
                    <a:pt x="743" y="243"/>
                  </a:lnTo>
                  <a:lnTo>
                    <a:pt x="620" y="243"/>
                  </a:lnTo>
                  <a:cubicBezTo>
                    <a:pt x="617" y="232"/>
                    <a:pt x="607" y="224"/>
                    <a:pt x="595" y="224"/>
                  </a:cubicBezTo>
                  <a:cubicBezTo>
                    <a:pt x="581" y="224"/>
                    <a:pt x="569" y="236"/>
                    <a:pt x="569" y="250"/>
                  </a:cubicBezTo>
                  <a:cubicBezTo>
                    <a:pt x="569" y="264"/>
                    <a:pt x="581" y="276"/>
                    <a:pt x="595" y="276"/>
                  </a:cubicBezTo>
                  <a:cubicBezTo>
                    <a:pt x="607" y="276"/>
                    <a:pt x="616" y="268"/>
                    <a:pt x="620" y="258"/>
                  </a:cubicBezTo>
                  <a:lnTo>
                    <a:pt x="800" y="258"/>
                  </a:lnTo>
                  <a:lnTo>
                    <a:pt x="800" y="59"/>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69" name="Freeform 70"/>
            <p:cNvSpPr>
              <a:spLocks/>
            </p:cNvSpPr>
            <p:nvPr/>
          </p:nvSpPr>
          <p:spPr bwMode="auto">
            <a:xfrm>
              <a:off x="5346700" y="1150938"/>
              <a:ext cx="12700" cy="12700"/>
            </a:xfrm>
            <a:custGeom>
              <a:avLst/>
              <a:gdLst>
                <a:gd name="T0" fmla="*/ 13 w 13"/>
                <a:gd name="T1" fmla="*/ 0 h 13"/>
                <a:gd name="T2" fmla="*/ 13 w 13"/>
                <a:gd name="T3" fmla="*/ 0 h 13"/>
                <a:gd name="T4" fmla="*/ 0 w 13"/>
                <a:gd name="T5" fmla="*/ 0 h 13"/>
                <a:gd name="T6" fmla="*/ 0 w 13"/>
                <a:gd name="T7" fmla="*/ 13 h 13"/>
                <a:gd name="T8" fmla="*/ 13 w 13"/>
                <a:gd name="T9" fmla="*/ 13 h 13"/>
                <a:gd name="T10" fmla="*/ 13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13" y="0"/>
                  </a:moveTo>
                  <a:lnTo>
                    <a:pt x="13" y="0"/>
                  </a:lnTo>
                  <a:lnTo>
                    <a:pt x="0" y="0"/>
                  </a:lnTo>
                  <a:lnTo>
                    <a:pt x="0" y="13"/>
                  </a:lnTo>
                  <a:lnTo>
                    <a:pt x="13" y="13"/>
                  </a:lnTo>
                  <a:lnTo>
                    <a:pt x="13" y="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0" name="Freeform 71"/>
            <p:cNvSpPr>
              <a:spLocks/>
            </p:cNvSpPr>
            <p:nvPr/>
          </p:nvSpPr>
          <p:spPr bwMode="auto">
            <a:xfrm>
              <a:off x="5346700" y="1130300"/>
              <a:ext cx="12700" cy="12700"/>
            </a:xfrm>
            <a:custGeom>
              <a:avLst/>
              <a:gdLst>
                <a:gd name="T0" fmla="*/ 13 w 13"/>
                <a:gd name="T1" fmla="*/ 0 h 14"/>
                <a:gd name="T2" fmla="*/ 13 w 13"/>
                <a:gd name="T3" fmla="*/ 0 h 14"/>
                <a:gd name="T4" fmla="*/ 0 w 13"/>
                <a:gd name="T5" fmla="*/ 0 h 14"/>
                <a:gd name="T6" fmla="*/ 0 w 13"/>
                <a:gd name="T7" fmla="*/ 14 h 14"/>
                <a:gd name="T8" fmla="*/ 13 w 13"/>
                <a:gd name="T9" fmla="*/ 14 h 14"/>
                <a:gd name="T10" fmla="*/ 13 w 13"/>
                <a:gd name="T11" fmla="*/ 0 h 14"/>
              </a:gdLst>
              <a:ahLst/>
              <a:cxnLst>
                <a:cxn ang="0">
                  <a:pos x="T0" y="T1"/>
                </a:cxn>
                <a:cxn ang="0">
                  <a:pos x="T2" y="T3"/>
                </a:cxn>
                <a:cxn ang="0">
                  <a:pos x="T4" y="T5"/>
                </a:cxn>
                <a:cxn ang="0">
                  <a:pos x="T6" y="T7"/>
                </a:cxn>
                <a:cxn ang="0">
                  <a:pos x="T8" y="T9"/>
                </a:cxn>
                <a:cxn ang="0">
                  <a:pos x="T10" y="T11"/>
                </a:cxn>
              </a:cxnLst>
              <a:rect l="0" t="0" r="r" b="b"/>
              <a:pathLst>
                <a:path w="13" h="14">
                  <a:moveTo>
                    <a:pt x="13" y="0"/>
                  </a:moveTo>
                  <a:lnTo>
                    <a:pt x="13" y="0"/>
                  </a:lnTo>
                  <a:lnTo>
                    <a:pt x="0" y="0"/>
                  </a:lnTo>
                  <a:lnTo>
                    <a:pt x="0" y="14"/>
                  </a:lnTo>
                  <a:lnTo>
                    <a:pt x="13" y="14"/>
                  </a:lnTo>
                  <a:lnTo>
                    <a:pt x="13" y="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1" name="Freeform 72"/>
            <p:cNvSpPr>
              <a:spLocks/>
            </p:cNvSpPr>
            <p:nvPr/>
          </p:nvSpPr>
          <p:spPr bwMode="auto">
            <a:xfrm>
              <a:off x="5345113" y="1179513"/>
              <a:ext cx="15875" cy="17463"/>
            </a:xfrm>
            <a:custGeom>
              <a:avLst/>
              <a:gdLst>
                <a:gd name="T0" fmla="*/ 0 w 17"/>
                <a:gd name="T1" fmla="*/ 17 h 17"/>
                <a:gd name="T2" fmla="*/ 0 w 17"/>
                <a:gd name="T3" fmla="*/ 17 h 17"/>
                <a:gd name="T4" fmla="*/ 17 w 17"/>
                <a:gd name="T5" fmla="*/ 17 h 17"/>
                <a:gd name="T6" fmla="*/ 17 w 17"/>
                <a:gd name="T7" fmla="*/ 0 h 17"/>
                <a:gd name="T8" fmla="*/ 0 w 17"/>
                <a:gd name="T9" fmla="*/ 0 h 17"/>
                <a:gd name="T10" fmla="*/ 0 w 17"/>
                <a:gd name="T11" fmla="*/ 17 h 17"/>
              </a:gdLst>
              <a:ahLst/>
              <a:cxnLst>
                <a:cxn ang="0">
                  <a:pos x="T0" y="T1"/>
                </a:cxn>
                <a:cxn ang="0">
                  <a:pos x="T2" y="T3"/>
                </a:cxn>
                <a:cxn ang="0">
                  <a:pos x="T4" y="T5"/>
                </a:cxn>
                <a:cxn ang="0">
                  <a:pos x="T6" y="T7"/>
                </a:cxn>
                <a:cxn ang="0">
                  <a:pos x="T8" y="T9"/>
                </a:cxn>
                <a:cxn ang="0">
                  <a:pos x="T10" y="T11"/>
                </a:cxn>
              </a:cxnLst>
              <a:rect l="0" t="0" r="r" b="b"/>
              <a:pathLst>
                <a:path w="17" h="17">
                  <a:moveTo>
                    <a:pt x="0" y="17"/>
                  </a:moveTo>
                  <a:lnTo>
                    <a:pt x="0" y="17"/>
                  </a:lnTo>
                  <a:lnTo>
                    <a:pt x="17" y="17"/>
                  </a:lnTo>
                  <a:lnTo>
                    <a:pt x="17" y="0"/>
                  </a:lnTo>
                  <a:lnTo>
                    <a:pt x="0" y="0"/>
                  </a:lnTo>
                  <a:lnTo>
                    <a:pt x="0" y="17"/>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2" name="Freeform 73"/>
            <p:cNvSpPr>
              <a:spLocks/>
            </p:cNvSpPr>
            <p:nvPr/>
          </p:nvSpPr>
          <p:spPr bwMode="auto">
            <a:xfrm>
              <a:off x="4640263" y="1196975"/>
              <a:ext cx="15875" cy="15875"/>
            </a:xfrm>
            <a:custGeom>
              <a:avLst/>
              <a:gdLst>
                <a:gd name="T0" fmla="*/ 0 w 17"/>
                <a:gd name="T1" fmla="*/ 16 h 16"/>
                <a:gd name="T2" fmla="*/ 0 w 17"/>
                <a:gd name="T3" fmla="*/ 16 h 16"/>
                <a:gd name="T4" fmla="*/ 17 w 17"/>
                <a:gd name="T5" fmla="*/ 16 h 16"/>
                <a:gd name="T6" fmla="*/ 17 w 17"/>
                <a:gd name="T7" fmla="*/ 0 h 16"/>
                <a:gd name="T8" fmla="*/ 0 w 17"/>
                <a:gd name="T9" fmla="*/ 0 h 16"/>
                <a:gd name="T10" fmla="*/ 0 w 17"/>
                <a:gd name="T11" fmla="*/ 16 h 16"/>
              </a:gdLst>
              <a:ahLst/>
              <a:cxnLst>
                <a:cxn ang="0">
                  <a:pos x="T0" y="T1"/>
                </a:cxn>
                <a:cxn ang="0">
                  <a:pos x="T2" y="T3"/>
                </a:cxn>
                <a:cxn ang="0">
                  <a:pos x="T4" y="T5"/>
                </a:cxn>
                <a:cxn ang="0">
                  <a:pos x="T6" y="T7"/>
                </a:cxn>
                <a:cxn ang="0">
                  <a:pos x="T8" y="T9"/>
                </a:cxn>
                <a:cxn ang="0">
                  <a:pos x="T10" y="T11"/>
                </a:cxn>
              </a:cxnLst>
              <a:rect l="0" t="0" r="r" b="b"/>
              <a:pathLst>
                <a:path w="17" h="16">
                  <a:moveTo>
                    <a:pt x="0" y="16"/>
                  </a:moveTo>
                  <a:lnTo>
                    <a:pt x="0" y="16"/>
                  </a:lnTo>
                  <a:lnTo>
                    <a:pt x="17" y="16"/>
                  </a:lnTo>
                  <a:lnTo>
                    <a:pt x="17" y="0"/>
                  </a:lnTo>
                  <a:lnTo>
                    <a:pt x="0" y="0"/>
                  </a:lnTo>
                  <a:lnTo>
                    <a:pt x="0" y="16"/>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3" name="Freeform 74"/>
            <p:cNvSpPr>
              <a:spLocks/>
            </p:cNvSpPr>
            <p:nvPr/>
          </p:nvSpPr>
          <p:spPr bwMode="auto">
            <a:xfrm>
              <a:off x="4640263" y="1254125"/>
              <a:ext cx="1588" cy="3175"/>
            </a:xfrm>
            <a:custGeom>
              <a:avLst/>
              <a:gdLst>
                <a:gd name="T0" fmla="*/ 2 w 3"/>
                <a:gd name="T1" fmla="*/ 1 h 3"/>
                <a:gd name="T2" fmla="*/ 2 w 3"/>
                <a:gd name="T3" fmla="*/ 1 h 3"/>
                <a:gd name="T4" fmla="*/ 1 w 3"/>
                <a:gd name="T5" fmla="*/ 1 h 3"/>
                <a:gd name="T6" fmla="*/ 1 w 3"/>
                <a:gd name="T7" fmla="*/ 0 h 3"/>
                <a:gd name="T8" fmla="*/ 0 w 3"/>
                <a:gd name="T9" fmla="*/ 0 h 3"/>
                <a:gd name="T10" fmla="*/ 0 w 3"/>
                <a:gd name="T11" fmla="*/ 3 h 3"/>
                <a:gd name="T12" fmla="*/ 1 w 3"/>
                <a:gd name="T13" fmla="*/ 3 h 3"/>
                <a:gd name="T14" fmla="*/ 1 w 3"/>
                <a:gd name="T15" fmla="*/ 1 h 3"/>
                <a:gd name="T16" fmla="*/ 2 w 3"/>
                <a:gd name="T17" fmla="*/ 1 h 3"/>
                <a:gd name="T18" fmla="*/ 2 w 3"/>
                <a:gd name="T19" fmla="*/ 3 h 3"/>
                <a:gd name="T20" fmla="*/ 3 w 3"/>
                <a:gd name="T21" fmla="*/ 3 h 3"/>
                <a:gd name="T22" fmla="*/ 3 w 3"/>
                <a:gd name="T23" fmla="*/ 0 h 3"/>
                <a:gd name="T24" fmla="*/ 2 w 3"/>
                <a:gd name="T25" fmla="*/ 0 h 3"/>
                <a:gd name="T26" fmla="*/ 2 w 3"/>
                <a:gd name="T2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2" y="1"/>
                  </a:moveTo>
                  <a:lnTo>
                    <a:pt x="2" y="1"/>
                  </a:lnTo>
                  <a:lnTo>
                    <a:pt x="1" y="1"/>
                  </a:lnTo>
                  <a:lnTo>
                    <a:pt x="1" y="0"/>
                  </a:lnTo>
                  <a:lnTo>
                    <a:pt x="0" y="0"/>
                  </a:lnTo>
                  <a:lnTo>
                    <a:pt x="0" y="3"/>
                  </a:lnTo>
                  <a:lnTo>
                    <a:pt x="1" y="3"/>
                  </a:lnTo>
                  <a:lnTo>
                    <a:pt x="1" y="1"/>
                  </a:lnTo>
                  <a:lnTo>
                    <a:pt x="2" y="1"/>
                  </a:lnTo>
                  <a:lnTo>
                    <a:pt x="2" y="3"/>
                  </a:lnTo>
                  <a:lnTo>
                    <a:pt x="3" y="3"/>
                  </a:lnTo>
                  <a:lnTo>
                    <a:pt x="3" y="0"/>
                  </a:lnTo>
                  <a:lnTo>
                    <a:pt x="2" y="0"/>
                  </a:lnTo>
                  <a:lnTo>
                    <a:pt x="2" y="1"/>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4" name="Freeform 75"/>
            <p:cNvSpPr>
              <a:spLocks/>
            </p:cNvSpPr>
            <p:nvPr/>
          </p:nvSpPr>
          <p:spPr bwMode="auto">
            <a:xfrm>
              <a:off x="4641850" y="1254125"/>
              <a:ext cx="3175" cy="3175"/>
            </a:xfrm>
            <a:custGeom>
              <a:avLst/>
              <a:gdLst>
                <a:gd name="T0" fmla="*/ 3 w 3"/>
                <a:gd name="T1" fmla="*/ 2 h 3"/>
                <a:gd name="T2" fmla="*/ 3 w 3"/>
                <a:gd name="T3" fmla="*/ 2 h 3"/>
                <a:gd name="T4" fmla="*/ 2 w 3"/>
                <a:gd name="T5" fmla="*/ 2 h 3"/>
                <a:gd name="T6" fmla="*/ 1 w 3"/>
                <a:gd name="T7" fmla="*/ 2 h 3"/>
                <a:gd name="T8" fmla="*/ 1 w 3"/>
                <a:gd name="T9" fmla="*/ 0 h 3"/>
                <a:gd name="T10" fmla="*/ 0 w 3"/>
                <a:gd name="T11" fmla="*/ 0 h 3"/>
                <a:gd name="T12" fmla="*/ 0 w 3"/>
                <a:gd name="T13" fmla="*/ 2 h 3"/>
                <a:gd name="T14" fmla="*/ 1 w 3"/>
                <a:gd name="T15" fmla="*/ 2 h 3"/>
                <a:gd name="T16" fmla="*/ 2 w 3"/>
                <a:gd name="T17" fmla="*/ 3 h 3"/>
                <a:gd name="T18" fmla="*/ 3 w 3"/>
                <a:gd name="T19" fmla="*/ 2 h 3"/>
                <a:gd name="T20" fmla="*/ 3 w 3"/>
                <a:gd name="T21" fmla="*/ 2 h 3"/>
                <a:gd name="T22" fmla="*/ 3 w 3"/>
                <a:gd name="T23" fmla="*/ 0 h 3"/>
                <a:gd name="T24" fmla="*/ 3 w 3"/>
                <a:gd name="T25" fmla="*/ 0 h 3"/>
                <a:gd name="T26" fmla="*/ 3 w 3"/>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 h="3">
                  <a:moveTo>
                    <a:pt x="3" y="2"/>
                  </a:moveTo>
                  <a:lnTo>
                    <a:pt x="3" y="2"/>
                  </a:lnTo>
                  <a:cubicBezTo>
                    <a:pt x="3" y="2"/>
                    <a:pt x="3" y="2"/>
                    <a:pt x="2" y="2"/>
                  </a:cubicBezTo>
                  <a:cubicBezTo>
                    <a:pt x="1" y="2"/>
                    <a:pt x="1" y="2"/>
                    <a:pt x="1" y="2"/>
                  </a:cubicBezTo>
                  <a:lnTo>
                    <a:pt x="1" y="0"/>
                  </a:lnTo>
                  <a:lnTo>
                    <a:pt x="0" y="0"/>
                  </a:lnTo>
                  <a:lnTo>
                    <a:pt x="0" y="2"/>
                  </a:lnTo>
                  <a:cubicBezTo>
                    <a:pt x="0" y="2"/>
                    <a:pt x="1" y="2"/>
                    <a:pt x="1" y="2"/>
                  </a:cubicBezTo>
                  <a:cubicBezTo>
                    <a:pt x="1" y="3"/>
                    <a:pt x="1" y="3"/>
                    <a:pt x="2" y="3"/>
                  </a:cubicBezTo>
                  <a:cubicBezTo>
                    <a:pt x="3" y="3"/>
                    <a:pt x="3" y="3"/>
                    <a:pt x="3" y="2"/>
                  </a:cubicBezTo>
                  <a:cubicBezTo>
                    <a:pt x="3" y="2"/>
                    <a:pt x="3" y="2"/>
                    <a:pt x="3" y="2"/>
                  </a:cubicBezTo>
                  <a:lnTo>
                    <a:pt x="3" y="0"/>
                  </a:lnTo>
                  <a:lnTo>
                    <a:pt x="3" y="0"/>
                  </a:lnTo>
                  <a:lnTo>
                    <a:pt x="3" y="2"/>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5" name="Freeform 76"/>
            <p:cNvSpPr>
              <a:spLocks noEditPoints="1"/>
            </p:cNvSpPr>
            <p:nvPr/>
          </p:nvSpPr>
          <p:spPr bwMode="auto">
            <a:xfrm>
              <a:off x="4646613" y="1254125"/>
              <a:ext cx="3175" cy="3175"/>
            </a:xfrm>
            <a:custGeom>
              <a:avLst/>
              <a:gdLst>
                <a:gd name="T0" fmla="*/ 1 w 3"/>
                <a:gd name="T1" fmla="*/ 1 h 3"/>
                <a:gd name="T2" fmla="*/ 1 w 3"/>
                <a:gd name="T3" fmla="*/ 1 h 3"/>
                <a:gd name="T4" fmla="*/ 1 w 3"/>
                <a:gd name="T5" fmla="*/ 0 h 3"/>
                <a:gd name="T6" fmla="*/ 2 w 3"/>
                <a:gd name="T7" fmla="*/ 1 h 3"/>
                <a:gd name="T8" fmla="*/ 1 w 3"/>
                <a:gd name="T9" fmla="*/ 1 h 3"/>
                <a:gd name="T10" fmla="*/ 1 w 3"/>
                <a:gd name="T11" fmla="*/ 0 h 3"/>
                <a:gd name="T12" fmla="*/ 1 w 3"/>
                <a:gd name="T13" fmla="*/ 0 h 3"/>
                <a:gd name="T14" fmla="*/ 0 w 3"/>
                <a:gd name="T15" fmla="*/ 3 h 3"/>
                <a:gd name="T16" fmla="*/ 0 w 3"/>
                <a:gd name="T17" fmla="*/ 3 h 3"/>
                <a:gd name="T18" fmla="*/ 1 w 3"/>
                <a:gd name="T19" fmla="*/ 2 h 3"/>
                <a:gd name="T20" fmla="*/ 2 w 3"/>
                <a:gd name="T21" fmla="*/ 2 h 3"/>
                <a:gd name="T22" fmla="*/ 2 w 3"/>
                <a:gd name="T23" fmla="*/ 3 h 3"/>
                <a:gd name="T24" fmla="*/ 3 w 3"/>
                <a:gd name="T25" fmla="*/ 3 h 3"/>
                <a:gd name="T26" fmla="*/ 2 w 3"/>
                <a:gd name="T27" fmla="*/ 0 h 3"/>
                <a:gd name="T28" fmla="*/ 1 w 3"/>
                <a:gd name="T29" fmla="*/ 0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3">
                  <a:moveTo>
                    <a:pt x="1" y="1"/>
                  </a:moveTo>
                  <a:lnTo>
                    <a:pt x="1" y="1"/>
                  </a:lnTo>
                  <a:lnTo>
                    <a:pt x="1" y="0"/>
                  </a:lnTo>
                  <a:lnTo>
                    <a:pt x="2" y="1"/>
                  </a:lnTo>
                  <a:lnTo>
                    <a:pt x="1" y="1"/>
                  </a:lnTo>
                  <a:close/>
                  <a:moveTo>
                    <a:pt x="1" y="0"/>
                  </a:moveTo>
                  <a:lnTo>
                    <a:pt x="1" y="0"/>
                  </a:lnTo>
                  <a:lnTo>
                    <a:pt x="0" y="3"/>
                  </a:lnTo>
                  <a:lnTo>
                    <a:pt x="0" y="3"/>
                  </a:lnTo>
                  <a:lnTo>
                    <a:pt x="1" y="2"/>
                  </a:lnTo>
                  <a:lnTo>
                    <a:pt x="2" y="2"/>
                  </a:lnTo>
                  <a:lnTo>
                    <a:pt x="2" y="3"/>
                  </a:lnTo>
                  <a:lnTo>
                    <a:pt x="3" y="3"/>
                  </a:lnTo>
                  <a:lnTo>
                    <a:pt x="2" y="0"/>
                  </a:lnTo>
                  <a:lnTo>
                    <a:pt x="1" y="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6" name="Freeform 77"/>
            <p:cNvSpPr>
              <a:spLocks/>
            </p:cNvSpPr>
            <p:nvPr/>
          </p:nvSpPr>
          <p:spPr bwMode="auto">
            <a:xfrm>
              <a:off x="4649788" y="1254125"/>
              <a:ext cx="4763" cy="3175"/>
            </a:xfrm>
            <a:custGeom>
              <a:avLst/>
              <a:gdLst>
                <a:gd name="T0" fmla="*/ 3 w 5"/>
                <a:gd name="T1" fmla="*/ 2 h 3"/>
                <a:gd name="T2" fmla="*/ 3 w 5"/>
                <a:gd name="T3" fmla="*/ 2 h 3"/>
                <a:gd name="T4" fmla="*/ 3 w 5"/>
                <a:gd name="T5" fmla="*/ 0 h 3"/>
                <a:gd name="T6" fmla="*/ 2 w 5"/>
                <a:gd name="T7" fmla="*/ 0 h 3"/>
                <a:gd name="T8" fmla="*/ 1 w 5"/>
                <a:gd name="T9" fmla="*/ 2 h 3"/>
                <a:gd name="T10" fmla="*/ 0 w 5"/>
                <a:gd name="T11" fmla="*/ 0 h 3"/>
                <a:gd name="T12" fmla="*/ 0 w 5"/>
                <a:gd name="T13" fmla="*/ 0 h 3"/>
                <a:gd name="T14" fmla="*/ 1 w 5"/>
                <a:gd name="T15" fmla="*/ 3 h 3"/>
                <a:gd name="T16" fmla="*/ 2 w 5"/>
                <a:gd name="T17" fmla="*/ 3 h 3"/>
                <a:gd name="T18" fmla="*/ 2 w 5"/>
                <a:gd name="T19" fmla="*/ 0 h 3"/>
                <a:gd name="T20" fmla="*/ 3 w 5"/>
                <a:gd name="T21" fmla="*/ 3 h 3"/>
                <a:gd name="T22" fmla="*/ 4 w 5"/>
                <a:gd name="T23" fmla="*/ 3 h 3"/>
                <a:gd name="T24" fmla="*/ 5 w 5"/>
                <a:gd name="T25" fmla="*/ 0 h 3"/>
                <a:gd name="T26" fmla="*/ 4 w 5"/>
                <a:gd name="T27" fmla="*/ 0 h 3"/>
                <a:gd name="T28" fmla="*/ 3 w 5"/>
                <a:gd name="T29"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3">
                  <a:moveTo>
                    <a:pt x="3" y="2"/>
                  </a:moveTo>
                  <a:lnTo>
                    <a:pt x="3" y="2"/>
                  </a:lnTo>
                  <a:lnTo>
                    <a:pt x="3" y="0"/>
                  </a:lnTo>
                  <a:lnTo>
                    <a:pt x="2" y="0"/>
                  </a:lnTo>
                  <a:lnTo>
                    <a:pt x="1" y="2"/>
                  </a:lnTo>
                  <a:lnTo>
                    <a:pt x="0" y="0"/>
                  </a:lnTo>
                  <a:lnTo>
                    <a:pt x="0" y="0"/>
                  </a:lnTo>
                  <a:lnTo>
                    <a:pt x="1" y="3"/>
                  </a:lnTo>
                  <a:lnTo>
                    <a:pt x="2" y="3"/>
                  </a:lnTo>
                  <a:lnTo>
                    <a:pt x="2" y="0"/>
                  </a:lnTo>
                  <a:lnTo>
                    <a:pt x="3" y="3"/>
                  </a:lnTo>
                  <a:lnTo>
                    <a:pt x="4" y="3"/>
                  </a:lnTo>
                  <a:lnTo>
                    <a:pt x="5" y="0"/>
                  </a:lnTo>
                  <a:lnTo>
                    <a:pt x="4" y="0"/>
                  </a:lnTo>
                  <a:lnTo>
                    <a:pt x="3" y="2"/>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7" name="Freeform 78"/>
            <p:cNvSpPr>
              <a:spLocks/>
            </p:cNvSpPr>
            <p:nvPr/>
          </p:nvSpPr>
          <p:spPr bwMode="auto">
            <a:xfrm>
              <a:off x="4654550" y="1254125"/>
              <a:ext cx="1588" cy="3175"/>
            </a:xfrm>
            <a:custGeom>
              <a:avLst/>
              <a:gdLst>
                <a:gd name="T0" fmla="*/ 0 w 3"/>
                <a:gd name="T1" fmla="*/ 1 h 3"/>
                <a:gd name="T2" fmla="*/ 0 w 3"/>
                <a:gd name="T3" fmla="*/ 1 h 3"/>
                <a:gd name="T4" fmla="*/ 0 w 3"/>
                <a:gd name="T5" fmla="*/ 3 h 3"/>
                <a:gd name="T6" fmla="*/ 1 w 3"/>
                <a:gd name="T7" fmla="*/ 3 h 3"/>
                <a:gd name="T8" fmla="*/ 3 w 3"/>
                <a:gd name="T9" fmla="*/ 3 h 3"/>
                <a:gd name="T10" fmla="*/ 3 w 3"/>
                <a:gd name="T11" fmla="*/ 2 h 3"/>
                <a:gd name="T12" fmla="*/ 2 w 3"/>
                <a:gd name="T13" fmla="*/ 2 h 3"/>
                <a:gd name="T14" fmla="*/ 1 w 3"/>
                <a:gd name="T15" fmla="*/ 1 h 3"/>
                <a:gd name="T16" fmla="*/ 3 w 3"/>
                <a:gd name="T17" fmla="*/ 1 h 3"/>
                <a:gd name="T18" fmla="*/ 3 w 3"/>
                <a:gd name="T19" fmla="*/ 1 h 3"/>
                <a:gd name="T20" fmla="*/ 1 w 3"/>
                <a:gd name="T21" fmla="*/ 1 h 3"/>
                <a:gd name="T22" fmla="*/ 2 w 3"/>
                <a:gd name="T23" fmla="*/ 0 h 3"/>
                <a:gd name="T24" fmla="*/ 3 w 3"/>
                <a:gd name="T25" fmla="*/ 0 h 3"/>
                <a:gd name="T26" fmla="*/ 3 w 3"/>
                <a:gd name="T27" fmla="*/ 0 h 3"/>
                <a:gd name="T28" fmla="*/ 2 w 3"/>
                <a:gd name="T29" fmla="*/ 0 h 3"/>
                <a:gd name="T30" fmla="*/ 0 w 3"/>
                <a:gd name="T31"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 h="3">
                  <a:moveTo>
                    <a:pt x="0" y="1"/>
                  </a:moveTo>
                  <a:lnTo>
                    <a:pt x="0" y="1"/>
                  </a:lnTo>
                  <a:cubicBezTo>
                    <a:pt x="0" y="2"/>
                    <a:pt x="0" y="2"/>
                    <a:pt x="0" y="3"/>
                  </a:cubicBezTo>
                  <a:cubicBezTo>
                    <a:pt x="1" y="3"/>
                    <a:pt x="1" y="3"/>
                    <a:pt x="1" y="3"/>
                  </a:cubicBezTo>
                  <a:lnTo>
                    <a:pt x="3" y="3"/>
                  </a:lnTo>
                  <a:lnTo>
                    <a:pt x="3" y="2"/>
                  </a:lnTo>
                  <a:lnTo>
                    <a:pt x="2" y="2"/>
                  </a:lnTo>
                  <a:cubicBezTo>
                    <a:pt x="1" y="2"/>
                    <a:pt x="1" y="2"/>
                    <a:pt x="1" y="1"/>
                  </a:cubicBezTo>
                  <a:lnTo>
                    <a:pt x="3" y="1"/>
                  </a:lnTo>
                  <a:lnTo>
                    <a:pt x="3" y="1"/>
                  </a:lnTo>
                  <a:lnTo>
                    <a:pt x="1" y="1"/>
                  </a:lnTo>
                  <a:cubicBezTo>
                    <a:pt x="1" y="0"/>
                    <a:pt x="1" y="0"/>
                    <a:pt x="2" y="0"/>
                  </a:cubicBezTo>
                  <a:lnTo>
                    <a:pt x="3" y="0"/>
                  </a:lnTo>
                  <a:lnTo>
                    <a:pt x="3" y="0"/>
                  </a:lnTo>
                  <a:lnTo>
                    <a:pt x="2" y="0"/>
                  </a:lnTo>
                  <a:cubicBezTo>
                    <a:pt x="0" y="0"/>
                    <a:pt x="0" y="0"/>
                    <a:pt x="0" y="1"/>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8" name="Freeform 79"/>
            <p:cNvSpPr>
              <a:spLocks/>
            </p:cNvSpPr>
            <p:nvPr/>
          </p:nvSpPr>
          <p:spPr bwMode="auto">
            <a:xfrm>
              <a:off x="4656138" y="1254125"/>
              <a:ext cx="1588" cy="3175"/>
            </a:xfrm>
            <a:custGeom>
              <a:avLst/>
              <a:gdLst>
                <a:gd name="T0" fmla="*/ 0 w 1"/>
                <a:gd name="T1" fmla="*/ 3 h 3"/>
                <a:gd name="T2" fmla="*/ 0 w 1"/>
                <a:gd name="T3" fmla="*/ 3 h 3"/>
                <a:gd name="T4" fmla="*/ 1 w 1"/>
                <a:gd name="T5" fmla="*/ 3 h 3"/>
                <a:gd name="T6" fmla="*/ 1 w 1"/>
                <a:gd name="T7" fmla="*/ 0 h 3"/>
                <a:gd name="T8" fmla="*/ 0 w 1"/>
                <a:gd name="T9" fmla="*/ 0 h 3"/>
                <a:gd name="T10" fmla="*/ 0 w 1"/>
                <a:gd name="T11" fmla="*/ 3 h 3"/>
              </a:gdLst>
              <a:ahLst/>
              <a:cxnLst>
                <a:cxn ang="0">
                  <a:pos x="T0" y="T1"/>
                </a:cxn>
                <a:cxn ang="0">
                  <a:pos x="T2" y="T3"/>
                </a:cxn>
                <a:cxn ang="0">
                  <a:pos x="T4" y="T5"/>
                </a:cxn>
                <a:cxn ang="0">
                  <a:pos x="T6" y="T7"/>
                </a:cxn>
                <a:cxn ang="0">
                  <a:pos x="T8" y="T9"/>
                </a:cxn>
                <a:cxn ang="0">
                  <a:pos x="T10" y="T11"/>
                </a:cxn>
              </a:cxnLst>
              <a:rect l="0" t="0" r="r" b="b"/>
              <a:pathLst>
                <a:path w="1" h="3">
                  <a:moveTo>
                    <a:pt x="0" y="3"/>
                  </a:moveTo>
                  <a:lnTo>
                    <a:pt x="0" y="3"/>
                  </a:lnTo>
                  <a:lnTo>
                    <a:pt x="1" y="3"/>
                  </a:lnTo>
                  <a:lnTo>
                    <a:pt x="1" y="0"/>
                  </a:lnTo>
                  <a:lnTo>
                    <a:pt x="0" y="0"/>
                  </a:lnTo>
                  <a:lnTo>
                    <a:pt x="0" y="3"/>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79" name="Freeform 80"/>
            <p:cNvSpPr>
              <a:spLocks/>
            </p:cNvSpPr>
            <p:nvPr/>
          </p:nvSpPr>
          <p:spPr bwMode="auto">
            <a:xfrm>
              <a:off x="4640263" y="1241425"/>
              <a:ext cx="6350" cy="7938"/>
            </a:xfrm>
            <a:custGeom>
              <a:avLst/>
              <a:gdLst>
                <a:gd name="T0" fmla="*/ 7 w 7"/>
                <a:gd name="T1" fmla="*/ 9 h 9"/>
                <a:gd name="T2" fmla="*/ 7 w 7"/>
                <a:gd name="T3" fmla="*/ 9 h 9"/>
                <a:gd name="T4" fmla="*/ 7 w 7"/>
                <a:gd name="T5" fmla="*/ 9 h 9"/>
                <a:gd name="T6" fmla="*/ 7 w 7"/>
                <a:gd name="T7" fmla="*/ 9 h 9"/>
                <a:gd name="T8" fmla="*/ 2 w 7"/>
                <a:gd name="T9" fmla="*/ 0 h 9"/>
                <a:gd name="T10" fmla="*/ 0 w 7"/>
                <a:gd name="T11" fmla="*/ 3 h 9"/>
                <a:gd name="T12" fmla="*/ 1 w 7"/>
                <a:gd name="T13" fmla="*/ 5 h 9"/>
                <a:gd name="T14" fmla="*/ 7 w 7"/>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7" y="9"/>
                  </a:moveTo>
                  <a:lnTo>
                    <a:pt x="7" y="9"/>
                  </a:lnTo>
                  <a:lnTo>
                    <a:pt x="7" y="9"/>
                  </a:lnTo>
                  <a:cubicBezTo>
                    <a:pt x="7" y="9"/>
                    <a:pt x="7" y="9"/>
                    <a:pt x="7" y="9"/>
                  </a:cubicBezTo>
                  <a:cubicBezTo>
                    <a:pt x="5" y="4"/>
                    <a:pt x="2" y="0"/>
                    <a:pt x="2" y="0"/>
                  </a:cubicBezTo>
                  <a:cubicBezTo>
                    <a:pt x="2" y="0"/>
                    <a:pt x="0" y="2"/>
                    <a:pt x="0" y="3"/>
                  </a:cubicBezTo>
                  <a:cubicBezTo>
                    <a:pt x="0" y="5"/>
                    <a:pt x="1" y="5"/>
                    <a:pt x="1" y="5"/>
                  </a:cubicBezTo>
                  <a:cubicBezTo>
                    <a:pt x="3" y="7"/>
                    <a:pt x="6" y="9"/>
                    <a:pt x="7" y="9"/>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0" name="Freeform 81"/>
            <p:cNvSpPr>
              <a:spLocks/>
            </p:cNvSpPr>
            <p:nvPr/>
          </p:nvSpPr>
          <p:spPr bwMode="auto">
            <a:xfrm>
              <a:off x="4641850" y="1250950"/>
              <a:ext cx="4763" cy="1588"/>
            </a:xfrm>
            <a:custGeom>
              <a:avLst/>
              <a:gdLst>
                <a:gd name="T0" fmla="*/ 6 w 6"/>
                <a:gd name="T1" fmla="*/ 0 h 2"/>
                <a:gd name="T2" fmla="*/ 6 w 6"/>
                <a:gd name="T3" fmla="*/ 0 h 2"/>
                <a:gd name="T4" fmla="*/ 6 w 6"/>
                <a:gd name="T5" fmla="*/ 0 h 2"/>
                <a:gd name="T6" fmla="*/ 6 w 6"/>
                <a:gd name="T7" fmla="*/ 0 h 2"/>
                <a:gd name="T8" fmla="*/ 0 w 6"/>
                <a:gd name="T9" fmla="*/ 0 h 2"/>
                <a:gd name="T10" fmla="*/ 3 w 6"/>
                <a:gd name="T11" fmla="*/ 2 h 2"/>
                <a:gd name="T12" fmla="*/ 6 w 6"/>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6" h="2">
                  <a:moveTo>
                    <a:pt x="6" y="0"/>
                  </a:moveTo>
                  <a:lnTo>
                    <a:pt x="6" y="0"/>
                  </a:lnTo>
                  <a:cubicBezTo>
                    <a:pt x="6" y="0"/>
                    <a:pt x="6" y="0"/>
                    <a:pt x="6" y="0"/>
                  </a:cubicBezTo>
                  <a:cubicBezTo>
                    <a:pt x="6" y="0"/>
                    <a:pt x="6" y="0"/>
                    <a:pt x="6" y="0"/>
                  </a:cubicBezTo>
                  <a:lnTo>
                    <a:pt x="0" y="0"/>
                  </a:lnTo>
                  <a:cubicBezTo>
                    <a:pt x="0" y="1"/>
                    <a:pt x="1" y="2"/>
                    <a:pt x="3" y="2"/>
                  </a:cubicBezTo>
                  <a:cubicBezTo>
                    <a:pt x="3" y="2"/>
                    <a:pt x="5" y="1"/>
                    <a:pt x="6"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1" name="Freeform 82"/>
            <p:cNvSpPr>
              <a:spLocks/>
            </p:cNvSpPr>
            <p:nvPr/>
          </p:nvSpPr>
          <p:spPr bwMode="auto">
            <a:xfrm>
              <a:off x="4640263" y="1246188"/>
              <a:ext cx="6350" cy="4763"/>
            </a:xfrm>
            <a:custGeom>
              <a:avLst/>
              <a:gdLst>
                <a:gd name="T0" fmla="*/ 2 w 8"/>
                <a:gd name="T1" fmla="*/ 4 h 5"/>
                <a:gd name="T2" fmla="*/ 2 w 8"/>
                <a:gd name="T3" fmla="*/ 4 h 5"/>
                <a:gd name="T4" fmla="*/ 3 w 8"/>
                <a:gd name="T5" fmla="*/ 5 h 5"/>
                <a:gd name="T6" fmla="*/ 8 w 8"/>
                <a:gd name="T7" fmla="*/ 5 h 5"/>
                <a:gd name="T8" fmla="*/ 8 w 8"/>
                <a:gd name="T9" fmla="*/ 5 h 5"/>
                <a:gd name="T10" fmla="*/ 8 w 8"/>
                <a:gd name="T11" fmla="*/ 5 h 5"/>
                <a:gd name="T12" fmla="*/ 0 w 8"/>
                <a:gd name="T13" fmla="*/ 0 h 5"/>
                <a:gd name="T14" fmla="*/ 0 w 8"/>
                <a:gd name="T15" fmla="*/ 1 h 5"/>
                <a:gd name="T16" fmla="*/ 0 w 8"/>
                <a:gd name="T17" fmla="*/ 2 h 5"/>
                <a:gd name="T18" fmla="*/ 0 w 8"/>
                <a:gd name="T19" fmla="*/ 3 h 5"/>
                <a:gd name="T20" fmla="*/ 2 w 8"/>
                <a:gd name="T21"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5">
                  <a:moveTo>
                    <a:pt x="2" y="4"/>
                  </a:moveTo>
                  <a:lnTo>
                    <a:pt x="2" y="4"/>
                  </a:lnTo>
                  <a:cubicBezTo>
                    <a:pt x="3" y="5"/>
                    <a:pt x="3" y="5"/>
                    <a:pt x="3" y="5"/>
                  </a:cubicBezTo>
                  <a:cubicBezTo>
                    <a:pt x="3" y="5"/>
                    <a:pt x="7" y="5"/>
                    <a:pt x="8" y="5"/>
                  </a:cubicBezTo>
                  <a:lnTo>
                    <a:pt x="8" y="5"/>
                  </a:lnTo>
                  <a:cubicBezTo>
                    <a:pt x="8" y="5"/>
                    <a:pt x="8" y="5"/>
                    <a:pt x="8" y="5"/>
                  </a:cubicBezTo>
                  <a:cubicBezTo>
                    <a:pt x="5" y="3"/>
                    <a:pt x="0" y="0"/>
                    <a:pt x="0" y="0"/>
                  </a:cubicBezTo>
                  <a:cubicBezTo>
                    <a:pt x="0" y="0"/>
                    <a:pt x="0" y="1"/>
                    <a:pt x="0" y="1"/>
                  </a:cubicBezTo>
                  <a:lnTo>
                    <a:pt x="0" y="2"/>
                  </a:lnTo>
                  <a:cubicBezTo>
                    <a:pt x="0" y="2"/>
                    <a:pt x="0" y="3"/>
                    <a:pt x="0" y="3"/>
                  </a:cubicBezTo>
                  <a:cubicBezTo>
                    <a:pt x="1" y="4"/>
                    <a:pt x="2" y="4"/>
                    <a:pt x="2" y="4"/>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2" name="Freeform 83"/>
            <p:cNvSpPr>
              <a:spLocks/>
            </p:cNvSpPr>
            <p:nvPr/>
          </p:nvSpPr>
          <p:spPr bwMode="auto">
            <a:xfrm>
              <a:off x="4645025" y="1239838"/>
              <a:ext cx="4763" cy="9525"/>
            </a:xfrm>
            <a:custGeom>
              <a:avLst/>
              <a:gdLst>
                <a:gd name="T0" fmla="*/ 4 w 5"/>
                <a:gd name="T1" fmla="*/ 10 h 11"/>
                <a:gd name="T2" fmla="*/ 4 w 5"/>
                <a:gd name="T3" fmla="*/ 10 h 11"/>
                <a:gd name="T4" fmla="*/ 4 w 5"/>
                <a:gd name="T5" fmla="*/ 10 h 11"/>
                <a:gd name="T6" fmla="*/ 4 w 5"/>
                <a:gd name="T7" fmla="*/ 10 h 11"/>
                <a:gd name="T8" fmla="*/ 3 w 5"/>
                <a:gd name="T9" fmla="*/ 0 h 11"/>
                <a:gd name="T10" fmla="*/ 2 w 5"/>
                <a:gd name="T11" fmla="*/ 0 h 11"/>
                <a:gd name="T12" fmla="*/ 0 w 5"/>
                <a:gd name="T13" fmla="*/ 2 h 11"/>
                <a:gd name="T14" fmla="*/ 0 w 5"/>
                <a:gd name="T15" fmla="*/ 4 h 11"/>
                <a:gd name="T16" fmla="*/ 4 w 5"/>
                <a:gd name="T17"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1">
                  <a:moveTo>
                    <a:pt x="4" y="10"/>
                  </a:moveTo>
                  <a:lnTo>
                    <a:pt x="4" y="10"/>
                  </a:lnTo>
                  <a:cubicBezTo>
                    <a:pt x="4" y="11"/>
                    <a:pt x="4" y="10"/>
                    <a:pt x="4" y="10"/>
                  </a:cubicBezTo>
                  <a:cubicBezTo>
                    <a:pt x="4" y="10"/>
                    <a:pt x="4" y="10"/>
                    <a:pt x="4" y="10"/>
                  </a:cubicBezTo>
                  <a:cubicBezTo>
                    <a:pt x="5" y="2"/>
                    <a:pt x="3" y="0"/>
                    <a:pt x="3" y="0"/>
                  </a:cubicBezTo>
                  <a:cubicBezTo>
                    <a:pt x="3" y="0"/>
                    <a:pt x="2" y="0"/>
                    <a:pt x="2" y="0"/>
                  </a:cubicBezTo>
                  <a:cubicBezTo>
                    <a:pt x="1" y="0"/>
                    <a:pt x="0" y="2"/>
                    <a:pt x="0" y="2"/>
                  </a:cubicBezTo>
                  <a:cubicBezTo>
                    <a:pt x="0" y="3"/>
                    <a:pt x="0" y="4"/>
                    <a:pt x="0" y="4"/>
                  </a:cubicBezTo>
                  <a:cubicBezTo>
                    <a:pt x="1" y="6"/>
                    <a:pt x="3" y="10"/>
                    <a:pt x="4" y="1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3" name="Freeform 84"/>
            <p:cNvSpPr>
              <a:spLocks/>
            </p:cNvSpPr>
            <p:nvPr/>
          </p:nvSpPr>
          <p:spPr bwMode="auto">
            <a:xfrm>
              <a:off x="4648200" y="1239838"/>
              <a:ext cx="4763" cy="9525"/>
            </a:xfrm>
            <a:custGeom>
              <a:avLst/>
              <a:gdLst>
                <a:gd name="T0" fmla="*/ 1 w 5"/>
                <a:gd name="T1" fmla="*/ 10 h 11"/>
                <a:gd name="T2" fmla="*/ 1 w 5"/>
                <a:gd name="T3" fmla="*/ 10 h 11"/>
                <a:gd name="T4" fmla="*/ 1 w 5"/>
                <a:gd name="T5" fmla="*/ 10 h 11"/>
                <a:gd name="T6" fmla="*/ 5 w 5"/>
                <a:gd name="T7" fmla="*/ 4 h 11"/>
                <a:gd name="T8" fmla="*/ 5 w 5"/>
                <a:gd name="T9" fmla="*/ 2 h 11"/>
                <a:gd name="T10" fmla="*/ 3 w 5"/>
                <a:gd name="T11" fmla="*/ 0 h 11"/>
                <a:gd name="T12" fmla="*/ 2 w 5"/>
                <a:gd name="T13" fmla="*/ 0 h 11"/>
                <a:gd name="T14" fmla="*/ 1 w 5"/>
                <a:gd name="T15" fmla="*/ 10 h 11"/>
                <a:gd name="T16" fmla="*/ 1 w 5"/>
                <a:gd name="T17" fmla="*/ 1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11">
                  <a:moveTo>
                    <a:pt x="1" y="10"/>
                  </a:moveTo>
                  <a:lnTo>
                    <a:pt x="1" y="10"/>
                  </a:lnTo>
                  <a:cubicBezTo>
                    <a:pt x="1" y="11"/>
                    <a:pt x="1" y="10"/>
                    <a:pt x="1" y="10"/>
                  </a:cubicBezTo>
                  <a:cubicBezTo>
                    <a:pt x="2" y="10"/>
                    <a:pt x="4" y="6"/>
                    <a:pt x="5" y="4"/>
                  </a:cubicBezTo>
                  <a:cubicBezTo>
                    <a:pt x="5" y="4"/>
                    <a:pt x="5" y="2"/>
                    <a:pt x="5" y="2"/>
                  </a:cubicBezTo>
                  <a:cubicBezTo>
                    <a:pt x="5" y="2"/>
                    <a:pt x="4" y="0"/>
                    <a:pt x="3" y="0"/>
                  </a:cubicBezTo>
                  <a:cubicBezTo>
                    <a:pt x="3" y="0"/>
                    <a:pt x="2" y="0"/>
                    <a:pt x="2" y="0"/>
                  </a:cubicBezTo>
                  <a:cubicBezTo>
                    <a:pt x="2" y="0"/>
                    <a:pt x="0" y="2"/>
                    <a:pt x="1" y="10"/>
                  </a:cubicBezTo>
                  <a:cubicBezTo>
                    <a:pt x="1" y="10"/>
                    <a:pt x="1" y="10"/>
                    <a:pt x="1" y="1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4" name="Freeform 85"/>
            <p:cNvSpPr>
              <a:spLocks/>
            </p:cNvSpPr>
            <p:nvPr/>
          </p:nvSpPr>
          <p:spPr bwMode="auto">
            <a:xfrm>
              <a:off x="4649788" y="1250950"/>
              <a:ext cx="6350" cy="3175"/>
            </a:xfrm>
            <a:custGeom>
              <a:avLst/>
              <a:gdLst>
                <a:gd name="T0" fmla="*/ 0 w 6"/>
                <a:gd name="T1" fmla="*/ 0 h 3"/>
                <a:gd name="T2" fmla="*/ 0 w 6"/>
                <a:gd name="T3" fmla="*/ 0 h 3"/>
                <a:gd name="T4" fmla="*/ 0 w 6"/>
                <a:gd name="T5" fmla="*/ 0 h 3"/>
                <a:gd name="T6" fmla="*/ 3 w 6"/>
                <a:gd name="T7" fmla="*/ 2 h 3"/>
                <a:gd name="T8" fmla="*/ 6 w 6"/>
                <a:gd name="T9" fmla="*/ 0 h 3"/>
                <a:gd name="T10" fmla="*/ 0 w 6"/>
                <a:gd name="T11" fmla="*/ 0 h 3"/>
                <a:gd name="T12" fmla="*/ 0 w 6"/>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6" h="3">
                  <a:moveTo>
                    <a:pt x="0" y="0"/>
                  </a:moveTo>
                  <a:lnTo>
                    <a:pt x="0" y="0"/>
                  </a:lnTo>
                  <a:lnTo>
                    <a:pt x="0" y="0"/>
                  </a:lnTo>
                  <a:cubicBezTo>
                    <a:pt x="1" y="1"/>
                    <a:pt x="3" y="2"/>
                    <a:pt x="3" y="2"/>
                  </a:cubicBezTo>
                  <a:cubicBezTo>
                    <a:pt x="3" y="2"/>
                    <a:pt x="5" y="3"/>
                    <a:pt x="6"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5" name="Freeform 86"/>
            <p:cNvSpPr>
              <a:spLocks/>
            </p:cNvSpPr>
            <p:nvPr/>
          </p:nvSpPr>
          <p:spPr bwMode="auto">
            <a:xfrm>
              <a:off x="4649788" y="1246188"/>
              <a:ext cx="7938" cy="4763"/>
            </a:xfrm>
            <a:custGeom>
              <a:avLst/>
              <a:gdLst>
                <a:gd name="T0" fmla="*/ 0 w 8"/>
                <a:gd name="T1" fmla="*/ 5 h 5"/>
                <a:gd name="T2" fmla="*/ 0 w 8"/>
                <a:gd name="T3" fmla="*/ 5 h 5"/>
                <a:gd name="T4" fmla="*/ 0 w 8"/>
                <a:gd name="T5" fmla="*/ 5 h 5"/>
                <a:gd name="T6" fmla="*/ 5 w 8"/>
                <a:gd name="T7" fmla="*/ 5 h 5"/>
                <a:gd name="T8" fmla="*/ 6 w 8"/>
                <a:gd name="T9" fmla="*/ 4 h 5"/>
                <a:gd name="T10" fmla="*/ 8 w 8"/>
                <a:gd name="T11" fmla="*/ 3 h 5"/>
                <a:gd name="T12" fmla="*/ 8 w 8"/>
                <a:gd name="T13" fmla="*/ 1 h 5"/>
                <a:gd name="T14" fmla="*/ 8 w 8"/>
                <a:gd name="T15" fmla="*/ 1 h 5"/>
                <a:gd name="T16" fmla="*/ 8 w 8"/>
                <a:gd name="T17" fmla="*/ 0 h 5"/>
                <a:gd name="T18" fmla="*/ 0 w 8"/>
                <a:gd name="T19" fmla="*/ 5 h 5"/>
                <a:gd name="T20" fmla="*/ 0 w 8"/>
                <a:gd name="T21"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 h="5">
                  <a:moveTo>
                    <a:pt x="0" y="5"/>
                  </a:moveTo>
                  <a:lnTo>
                    <a:pt x="0" y="5"/>
                  </a:lnTo>
                  <a:cubicBezTo>
                    <a:pt x="0" y="5"/>
                    <a:pt x="0" y="5"/>
                    <a:pt x="0" y="5"/>
                  </a:cubicBezTo>
                  <a:cubicBezTo>
                    <a:pt x="1" y="5"/>
                    <a:pt x="5" y="5"/>
                    <a:pt x="5" y="5"/>
                  </a:cubicBezTo>
                  <a:cubicBezTo>
                    <a:pt x="5" y="5"/>
                    <a:pt x="5" y="5"/>
                    <a:pt x="6" y="4"/>
                  </a:cubicBezTo>
                  <a:cubicBezTo>
                    <a:pt x="6" y="4"/>
                    <a:pt x="7" y="4"/>
                    <a:pt x="8" y="3"/>
                  </a:cubicBezTo>
                  <a:cubicBezTo>
                    <a:pt x="8" y="3"/>
                    <a:pt x="8" y="2"/>
                    <a:pt x="8" y="1"/>
                  </a:cubicBezTo>
                  <a:lnTo>
                    <a:pt x="8" y="1"/>
                  </a:lnTo>
                  <a:cubicBezTo>
                    <a:pt x="8" y="1"/>
                    <a:pt x="8" y="0"/>
                    <a:pt x="8" y="0"/>
                  </a:cubicBezTo>
                  <a:cubicBezTo>
                    <a:pt x="8" y="0"/>
                    <a:pt x="3" y="3"/>
                    <a:pt x="0" y="5"/>
                  </a:cubicBezTo>
                  <a:cubicBezTo>
                    <a:pt x="0" y="5"/>
                    <a:pt x="0" y="5"/>
                    <a:pt x="0" y="5"/>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6" name="Freeform 87"/>
            <p:cNvSpPr>
              <a:spLocks/>
            </p:cNvSpPr>
            <p:nvPr/>
          </p:nvSpPr>
          <p:spPr bwMode="auto">
            <a:xfrm>
              <a:off x="4649788" y="1241425"/>
              <a:ext cx="6350" cy="7938"/>
            </a:xfrm>
            <a:custGeom>
              <a:avLst/>
              <a:gdLst>
                <a:gd name="T0" fmla="*/ 0 w 7"/>
                <a:gd name="T1" fmla="*/ 9 h 9"/>
                <a:gd name="T2" fmla="*/ 0 w 7"/>
                <a:gd name="T3" fmla="*/ 9 h 9"/>
                <a:gd name="T4" fmla="*/ 0 w 7"/>
                <a:gd name="T5" fmla="*/ 9 h 9"/>
                <a:gd name="T6" fmla="*/ 6 w 7"/>
                <a:gd name="T7" fmla="*/ 5 h 9"/>
                <a:gd name="T8" fmla="*/ 7 w 7"/>
                <a:gd name="T9" fmla="*/ 3 h 9"/>
                <a:gd name="T10" fmla="*/ 5 w 7"/>
                <a:gd name="T11" fmla="*/ 0 h 9"/>
                <a:gd name="T12" fmla="*/ 0 w 7"/>
                <a:gd name="T13" fmla="*/ 9 h 9"/>
                <a:gd name="T14" fmla="*/ 0 w 7"/>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0" y="9"/>
                  </a:moveTo>
                  <a:lnTo>
                    <a:pt x="0" y="9"/>
                  </a:lnTo>
                  <a:cubicBezTo>
                    <a:pt x="0" y="9"/>
                    <a:pt x="0" y="9"/>
                    <a:pt x="0" y="9"/>
                  </a:cubicBezTo>
                  <a:cubicBezTo>
                    <a:pt x="1" y="9"/>
                    <a:pt x="4" y="7"/>
                    <a:pt x="6" y="5"/>
                  </a:cubicBezTo>
                  <a:cubicBezTo>
                    <a:pt x="6" y="5"/>
                    <a:pt x="7" y="5"/>
                    <a:pt x="7" y="3"/>
                  </a:cubicBezTo>
                  <a:cubicBezTo>
                    <a:pt x="7" y="2"/>
                    <a:pt x="5" y="0"/>
                    <a:pt x="5" y="0"/>
                  </a:cubicBezTo>
                  <a:cubicBezTo>
                    <a:pt x="5" y="0"/>
                    <a:pt x="2" y="4"/>
                    <a:pt x="0" y="9"/>
                  </a:cubicBezTo>
                  <a:cubicBezTo>
                    <a:pt x="0" y="9"/>
                    <a:pt x="0" y="9"/>
                    <a:pt x="0" y="9"/>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7" name="Freeform 88"/>
            <p:cNvSpPr>
              <a:spLocks/>
            </p:cNvSpPr>
            <p:nvPr/>
          </p:nvSpPr>
          <p:spPr bwMode="auto">
            <a:xfrm>
              <a:off x="5246688" y="1128713"/>
              <a:ext cx="11113" cy="9525"/>
            </a:xfrm>
            <a:custGeom>
              <a:avLst/>
              <a:gdLst>
                <a:gd name="T0" fmla="*/ 8 w 10"/>
                <a:gd name="T1" fmla="*/ 4 h 10"/>
                <a:gd name="T2" fmla="*/ 8 w 10"/>
                <a:gd name="T3" fmla="*/ 4 h 10"/>
                <a:gd name="T4" fmla="*/ 3 w 10"/>
                <a:gd name="T5" fmla="*/ 4 h 10"/>
                <a:gd name="T6" fmla="*/ 3 w 10"/>
                <a:gd name="T7" fmla="*/ 0 h 10"/>
                <a:gd name="T8" fmla="*/ 0 w 10"/>
                <a:gd name="T9" fmla="*/ 0 h 10"/>
                <a:gd name="T10" fmla="*/ 0 w 10"/>
                <a:gd name="T11" fmla="*/ 10 h 10"/>
                <a:gd name="T12" fmla="*/ 3 w 10"/>
                <a:gd name="T13" fmla="*/ 10 h 10"/>
                <a:gd name="T14" fmla="*/ 3 w 10"/>
                <a:gd name="T15" fmla="*/ 6 h 10"/>
                <a:gd name="T16" fmla="*/ 8 w 10"/>
                <a:gd name="T17" fmla="*/ 6 h 10"/>
                <a:gd name="T18" fmla="*/ 8 w 10"/>
                <a:gd name="T19" fmla="*/ 10 h 10"/>
                <a:gd name="T20" fmla="*/ 10 w 10"/>
                <a:gd name="T21" fmla="*/ 10 h 10"/>
                <a:gd name="T22" fmla="*/ 10 w 10"/>
                <a:gd name="T23" fmla="*/ 0 h 10"/>
                <a:gd name="T24" fmla="*/ 8 w 10"/>
                <a:gd name="T25" fmla="*/ 0 h 10"/>
                <a:gd name="T26" fmla="*/ 8 w 10"/>
                <a:gd name="T2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4"/>
                  </a:moveTo>
                  <a:lnTo>
                    <a:pt x="8" y="4"/>
                  </a:lnTo>
                  <a:lnTo>
                    <a:pt x="3" y="4"/>
                  </a:lnTo>
                  <a:lnTo>
                    <a:pt x="3" y="0"/>
                  </a:lnTo>
                  <a:lnTo>
                    <a:pt x="0" y="0"/>
                  </a:lnTo>
                  <a:lnTo>
                    <a:pt x="0" y="10"/>
                  </a:lnTo>
                  <a:lnTo>
                    <a:pt x="3" y="10"/>
                  </a:lnTo>
                  <a:lnTo>
                    <a:pt x="3" y="6"/>
                  </a:lnTo>
                  <a:lnTo>
                    <a:pt x="8" y="6"/>
                  </a:lnTo>
                  <a:lnTo>
                    <a:pt x="8" y="10"/>
                  </a:lnTo>
                  <a:lnTo>
                    <a:pt x="10" y="10"/>
                  </a:lnTo>
                  <a:lnTo>
                    <a:pt x="10" y="0"/>
                  </a:lnTo>
                  <a:lnTo>
                    <a:pt x="8" y="0"/>
                  </a:lnTo>
                  <a:lnTo>
                    <a:pt x="8" y="4"/>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8" name="Freeform 89"/>
            <p:cNvSpPr>
              <a:spLocks/>
            </p:cNvSpPr>
            <p:nvPr/>
          </p:nvSpPr>
          <p:spPr bwMode="auto">
            <a:xfrm>
              <a:off x="5259388" y="1128713"/>
              <a:ext cx="9525" cy="9525"/>
            </a:xfrm>
            <a:custGeom>
              <a:avLst/>
              <a:gdLst>
                <a:gd name="T0" fmla="*/ 8 w 10"/>
                <a:gd name="T1" fmla="*/ 6 h 10"/>
                <a:gd name="T2" fmla="*/ 8 w 10"/>
                <a:gd name="T3" fmla="*/ 6 h 10"/>
                <a:gd name="T4" fmla="*/ 5 w 10"/>
                <a:gd name="T5" fmla="*/ 8 h 10"/>
                <a:gd name="T6" fmla="*/ 2 w 10"/>
                <a:gd name="T7" fmla="*/ 6 h 10"/>
                <a:gd name="T8" fmla="*/ 2 w 10"/>
                <a:gd name="T9" fmla="*/ 0 h 10"/>
                <a:gd name="T10" fmla="*/ 0 w 10"/>
                <a:gd name="T11" fmla="*/ 0 h 10"/>
                <a:gd name="T12" fmla="*/ 0 w 10"/>
                <a:gd name="T13" fmla="*/ 6 h 10"/>
                <a:gd name="T14" fmla="*/ 1 w 10"/>
                <a:gd name="T15" fmla="*/ 9 h 10"/>
                <a:gd name="T16" fmla="*/ 5 w 10"/>
                <a:gd name="T17" fmla="*/ 10 h 10"/>
                <a:gd name="T18" fmla="*/ 9 w 10"/>
                <a:gd name="T19" fmla="*/ 9 h 10"/>
                <a:gd name="T20" fmla="*/ 10 w 10"/>
                <a:gd name="T21" fmla="*/ 6 h 10"/>
                <a:gd name="T22" fmla="*/ 10 w 10"/>
                <a:gd name="T23" fmla="*/ 0 h 10"/>
                <a:gd name="T24" fmla="*/ 8 w 10"/>
                <a:gd name="T25" fmla="*/ 0 h 10"/>
                <a:gd name="T26" fmla="*/ 8 w 10"/>
                <a:gd name="T27"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 h="10">
                  <a:moveTo>
                    <a:pt x="8" y="6"/>
                  </a:moveTo>
                  <a:lnTo>
                    <a:pt x="8" y="6"/>
                  </a:lnTo>
                  <a:cubicBezTo>
                    <a:pt x="8" y="8"/>
                    <a:pt x="7" y="8"/>
                    <a:pt x="5" y="8"/>
                  </a:cubicBezTo>
                  <a:cubicBezTo>
                    <a:pt x="3" y="8"/>
                    <a:pt x="2" y="8"/>
                    <a:pt x="2" y="6"/>
                  </a:cubicBezTo>
                  <a:lnTo>
                    <a:pt x="2" y="0"/>
                  </a:lnTo>
                  <a:lnTo>
                    <a:pt x="0" y="0"/>
                  </a:lnTo>
                  <a:lnTo>
                    <a:pt x="0" y="6"/>
                  </a:lnTo>
                  <a:cubicBezTo>
                    <a:pt x="0" y="7"/>
                    <a:pt x="0" y="8"/>
                    <a:pt x="1" y="9"/>
                  </a:cubicBezTo>
                  <a:cubicBezTo>
                    <a:pt x="2" y="10"/>
                    <a:pt x="3" y="10"/>
                    <a:pt x="5" y="10"/>
                  </a:cubicBezTo>
                  <a:cubicBezTo>
                    <a:pt x="7" y="10"/>
                    <a:pt x="8" y="10"/>
                    <a:pt x="9" y="9"/>
                  </a:cubicBezTo>
                  <a:cubicBezTo>
                    <a:pt x="10" y="8"/>
                    <a:pt x="10" y="7"/>
                    <a:pt x="10" y="6"/>
                  </a:cubicBezTo>
                  <a:lnTo>
                    <a:pt x="10" y="0"/>
                  </a:lnTo>
                  <a:lnTo>
                    <a:pt x="8" y="0"/>
                  </a:lnTo>
                  <a:lnTo>
                    <a:pt x="8" y="6"/>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89" name="Freeform 90"/>
            <p:cNvSpPr>
              <a:spLocks noEditPoints="1"/>
            </p:cNvSpPr>
            <p:nvPr/>
          </p:nvSpPr>
          <p:spPr bwMode="auto">
            <a:xfrm>
              <a:off x="5268913" y="1128713"/>
              <a:ext cx="11113" cy="9525"/>
            </a:xfrm>
            <a:custGeom>
              <a:avLst/>
              <a:gdLst>
                <a:gd name="T0" fmla="*/ 5 w 12"/>
                <a:gd name="T1" fmla="*/ 6 h 10"/>
                <a:gd name="T2" fmla="*/ 5 w 12"/>
                <a:gd name="T3" fmla="*/ 6 h 10"/>
                <a:gd name="T4" fmla="*/ 6 w 12"/>
                <a:gd name="T5" fmla="*/ 2 h 10"/>
                <a:gd name="T6" fmla="*/ 8 w 12"/>
                <a:gd name="T7" fmla="*/ 6 h 10"/>
                <a:gd name="T8" fmla="*/ 5 w 12"/>
                <a:gd name="T9" fmla="*/ 6 h 10"/>
                <a:gd name="T10" fmla="*/ 5 w 12"/>
                <a:gd name="T11" fmla="*/ 0 h 10"/>
                <a:gd name="T12" fmla="*/ 5 w 12"/>
                <a:gd name="T13" fmla="*/ 0 h 10"/>
                <a:gd name="T14" fmla="*/ 0 w 12"/>
                <a:gd name="T15" fmla="*/ 10 h 10"/>
                <a:gd name="T16" fmla="*/ 3 w 12"/>
                <a:gd name="T17" fmla="*/ 10 h 10"/>
                <a:gd name="T18" fmla="*/ 4 w 12"/>
                <a:gd name="T19" fmla="*/ 8 h 10"/>
                <a:gd name="T20" fmla="*/ 9 w 12"/>
                <a:gd name="T21" fmla="*/ 8 h 10"/>
                <a:gd name="T22" fmla="*/ 10 w 12"/>
                <a:gd name="T23" fmla="*/ 10 h 10"/>
                <a:gd name="T24" fmla="*/ 12 w 12"/>
                <a:gd name="T25" fmla="*/ 10 h 10"/>
                <a:gd name="T26" fmla="*/ 8 w 12"/>
                <a:gd name="T27" fmla="*/ 0 h 10"/>
                <a:gd name="T28" fmla="*/ 5 w 12"/>
                <a:gd name="T29"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10">
                  <a:moveTo>
                    <a:pt x="5" y="6"/>
                  </a:moveTo>
                  <a:lnTo>
                    <a:pt x="5" y="6"/>
                  </a:lnTo>
                  <a:lnTo>
                    <a:pt x="6" y="2"/>
                  </a:lnTo>
                  <a:lnTo>
                    <a:pt x="8" y="6"/>
                  </a:lnTo>
                  <a:lnTo>
                    <a:pt x="5" y="6"/>
                  </a:lnTo>
                  <a:close/>
                  <a:moveTo>
                    <a:pt x="5" y="0"/>
                  </a:moveTo>
                  <a:lnTo>
                    <a:pt x="5" y="0"/>
                  </a:lnTo>
                  <a:lnTo>
                    <a:pt x="0" y="10"/>
                  </a:lnTo>
                  <a:lnTo>
                    <a:pt x="3" y="10"/>
                  </a:lnTo>
                  <a:lnTo>
                    <a:pt x="4" y="8"/>
                  </a:lnTo>
                  <a:lnTo>
                    <a:pt x="9" y="8"/>
                  </a:lnTo>
                  <a:lnTo>
                    <a:pt x="10" y="10"/>
                  </a:lnTo>
                  <a:lnTo>
                    <a:pt x="12" y="10"/>
                  </a:lnTo>
                  <a:lnTo>
                    <a:pt x="8" y="0"/>
                  </a:lnTo>
                  <a:lnTo>
                    <a:pt x="5" y="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0" name="Freeform 91"/>
            <p:cNvSpPr>
              <a:spLocks/>
            </p:cNvSpPr>
            <p:nvPr/>
          </p:nvSpPr>
          <p:spPr bwMode="auto">
            <a:xfrm>
              <a:off x="5278438" y="1128713"/>
              <a:ext cx="17463" cy="9525"/>
            </a:xfrm>
            <a:custGeom>
              <a:avLst/>
              <a:gdLst>
                <a:gd name="T0" fmla="*/ 12 w 17"/>
                <a:gd name="T1" fmla="*/ 8 h 10"/>
                <a:gd name="T2" fmla="*/ 12 w 17"/>
                <a:gd name="T3" fmla="*/ 8 h 10"/>
                <a:gd name="T4" fmla="*/ 10 w 17"/>
                <a:gd name="T5" fmla="*/ 0 h 10"/>
                <a:gd name="T6" fmla="*/ 7 w 17"/>
                <a:gd name="T7" fmla="*/ 0 h 10"/>
                <a:gd name="T8" fmla="*/ 5 w 17"/>
                <a:gd name="T9" fmla="*/ 8 h 10"/>
                <a:gd name="T10" fmla="*/ 2 w 17"/>
                <a:gd name="T11" fmla="*/ 0 h 10"/>
                <a:gd name="T12" fmla="*/ 0 w 17"/>
                <a:gd name="T13" fmla="*/ 0 h 10"/>
                <a:gd name="T14" fmla="*/ 4 w 17"/>
                <a:gd name="T15" fmla="*/ 10 h 10"/>
                <a:gd name="T16" fmla="*/ 6 w 17"/>
                <a:gd name="T17" fmla="*/ 10 h 10"/>
                <a:gd name="T18" fmla="*/ 9 w 17"/>
                <a:gd name="T19" fmla="*/ 2 h 10"/>
                <a:gd name="T20" fmla="*/ 11 w 17"/>
                <a:gd name="T21" fmla="*/ 10 h 10"/>
                <a:gd name="T22" fmla="*/ 14 w 17"/>
                <a:gd name="T23" fmla="*/ 10 h 10"/>
                <a:gd name="T24" fmla="*/ 17 w 17"/>
                <a:gd name="T25" fmla="*/ 0 h 10"/>
                <a:gd name="T26" fmla="*/ 15 w 17"/>
                <a:gd name="T27" fmla="*/ 0 h 10"/>
                <a:gd name="T28" fmla="*/ 12 w 17"/>
                <a:gd name="T29"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10">
                  <a:moveTo>
                    <a:pt x="12" y="8"/>
                  </a:moveTo>
                  <a:lnTo>
                    <a:pt x="12" y="8"/>
                  </a:lnTo>
                  <a:lnTo>
                    <a:pt x="10" y="0"/>
                  </a:lnTo>
                  <a:lnTo>
                    <a:pt x="7" y="0"/>
                  </a:lnTo>
                  <a:lnTo>
                    <a:pt x="5" y="8"/>
                  </a:lnTo>
                  <a:lnTo>
                    <a:pt x="2" y="0"/>
                  </a:lnTo>
                  <a:lnTo>
                    <a:pt x="0" y="0"/>
                  </a:lnTo>
                  <a:lnTo>
                    <a:pt x="4" y="10"/>
                  </a:lnTo>
                  <a:lnTo>
                    <a:pt x="6" y="10"/>
                  </a:lnTo>
                  <a:lnTo>
                    <a:pt x="9" y="2"/>
                  </a:lnTo>
                  <a:lnTo>
                    <a:pt x="11" y="10"/>
                  </a:lnTo>
                  <a:lnTo>
                    <a:pt x="14" y="10"/>
                  </a:lnTo>
                  <a:lnTo>
                    <a:pt x="17" y="0"/>
                  </a:lnTo>
                  <a:lnTo>
                    <a:pt x="15" y="0"/>
                  </a:lnTo>
                  <a:lnTo>
                    <a:pt x="12" y="8"/>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1" name="Freeform 92"/>
            <p:cNvSpPr>
              <a:spLocks/>
            </p:cNvSpPr>
            <p:nvPr/>
          </p:nvSpPr>
          <p:spPr bwMode="auto">
            <a:xfrm>
              <a:off x="5295900" y="1128713"/>
              <a:ext cx="9525" cy="9525"/>
            </a:xfrm>
            <a:custGeom>
              <a:avLst/>
              <a:gdLst>
                <a:gd name="T0" fmla="*/ 0 w 9"/>
                <a:gd name="T1" fmla="*/ 5 h 10"/>
                <a:gd name="T2" fmla="*/ 0 w 9"/>
                <a:gd name="T3" fmla="*/ 5 h 10"/>
                <a:gd name="T4" fmla="*/ 1 w 9"/>
                <a:gd name="T5" fmla="*/ 9 h 10"/>
                <a:gd name="T6" fmla="*/ 5 w 9"/>
                <a:gd name="T7" fmla="*/ 10 h 10"/>
                <a:gd name="T8" fmla="*/ 9 w 9"/>
                <a:gd name="T9" fmla="*/ 10 h 10"/>
                <a:gd name="T10" fmla="*/ 9 w 9"/>
                <a:gd name="T11" fmla="*/ 8 h 10"/>
                <a:gd name="T12" fmla="*/ 5 w 9"/>
                <a:gd name="T13" fmla="*/ 8 h 10"/>
                <a:gd name="T14" fmla="*/ 2 w 9"/>
                <a:gd name="T15" fmla="*/ 6 h 10"/>
                <a:gd name="T16" fmla="*/ 9 w 9"/>
                <a:gd name="T17" fmla="*/ 6 h 10"/>
                <a:gd name="T18" fmla="*/ 9 w 9"/>
                <a:gd name="T19" fmla="*/ 4 h 10"/>
                <a:gd name="T20" fmla="*/ 2 w 9"/>
                <a:gd name="T21" fmla="*/ 4 h 10"/>
                <a:gd name="T22" fmla="*/ 5 w 9"/>
                <a:gd name="T23" fmla="*/ 2 h 10"/>
                <a:gd name="T24" fmla="*/ 9 w 9"/>
                <a:gd name="T25" fmla="*/ 2 h 10"/>
                <a:gd name="T26" fmla="*/ 9 w 9"/>
                <a:gd name="T27" fmla="*/ 0 h 10"/>
                <a:gd name="T28" fmla="*/ 5 w 9"/>
                <a:gd name="T29" fmla="*/ 0 h 10"/>
                <a:gd name="T30" fmla="*/ 0 w 9"/>
                <a:gd name="T3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 h="10">
                  <a:moveTo>
                    <a:pt x="0" y="5"/>
                  </a:moveTo>
                  <a:lnTo>
                    <a:pt x="0" y="5"/>
                  </a:lnTo>
                  <a:cubicBezTo>
                    <a:pt x="0" y="7"/>
                    <a:pt x="0" y="8"/>
                    <a:pt x="1" y="9"/>
                  </a:cubicBezTo>
                  <a:cubicBezTo>
                    <a:pt x="3" y="10"/>
                    <a:pt x="4" y="10"/>
                    <a:pt x="5" y="10"/>
                  </a:cubicBezTo>
                  <a:lnTo>
                    <a:pt x="9" y="10"/>
                  </a:lnTo>
                  <a:lnTo>
                    <a:pt x="9" y="8"/>
                  </a:lnTo>
                  <a:lnTo>
                    <a:pt x="5" y="8"/>
                  </a:lnTo>
                  <a:cubicBezTo>
                    <a:pt x="3" y="8"/>
                    <a:pt x="2" y="8"/>
                    <a:pt x="2" y="6"/>
                  </a:cubicBezTo>
                  <a:lnTo>
                    <a:pt x="9" y="6"/>
                  </a:lnTo>
                  <a:lnTo>
                    <a:pt x="9" y="4"/>
                  </a:lnTo>
                  <a:lnTo>
                    <a:pt x="2" y="4"/>
                  </a:lnTo>
                  <a:cubicBezTo>
                    <a:pt x="2" y="2"/>
                    <a:pt x="3" y="2"/>
                    <a:pt x="5" y="2"/>
                  </a:cubicBezTo>
                  <a:lnTo>
                    <a:pt x="9" y="2"/>
                  </a:lnTo>
                  <a:lnTo>
                    <a:pt x="9" y="0"/>
                  </a:lnTo>
                  <a:lnTo>
                    <a:pt x="5" y="0"/>
                  </a:lnTo>
                  <a:cubicBezTo>
                    <a:pt x="1" y="0"/>
                    <a:pt x="0" y="1"/>
                    <a:pt x="0" y="5"/>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2" name="Freeform 93"/>
            <p:cNvSpPr>
              <a:spLocks/>
            </p:cNvSpPr>
            <p:nvPr/>
          </p:nvSpPr>
          <p:spPr bwMode="auto">
            <a:xfrm>
              <a:off x="5307013" y="1128713"/>
              <a:ext cx="1588" cy="9525"/>
            </a:xfrm>
            <a:custGeom>
              <a:avLst/>
              <a:gdLst>
                <a:gd name="T0" fmla="*/ 0 w 2"/>
                <a:gd name="T1" fmla="*/ 10 h 10"/>
                <a:gd name="T2" fmla="*/ 0 w 2"/>
                <a:gd name="T3" fmla="*/ 10 h 10"/>
                <a:gd name="T4" fmla="*/ 2 w 2"/>
                <a:gd name="T5" fmla="*/ 10 h 10"/>
                <a:gd name="T6" fmla="*/ 2 w 2"/>
                <a:gd name="T7" fmla="*/ 0 h 10"/>
                <a:gd name="T8" fmla="*/ 0 w 2"/>
                <a:gd name="T9" fmla="*/ 0 h 10"/>
                <a:gd name="T10" fmla="*/ 0 w 2"/>
                <a:gd name="T11" fmla="*/ 10 h 10"/>
              </a:gdLst>
              <a:ahLst/>
              <a:cxnLst>
                <a:cxn ang="0">
                  <a:pos x="T0" y="T1"/>
                </a:cxn>
                <a:cxn ang="0">
                  <a:pos x="T2" y="T3"/>
                </a:cxn>
                <a:cxn ang="0">
                  <a:pos x="T4" y="T5"/>
                </a:cxn>
                <a:cxn ang="0">
                  <a:pos x="T6" y="T7"/>
                </a:cxn>
                <a:cxn ang="0">
                  <a:pos x="T8" y="T9"/>
                </a:cxn>
                <a:cxn ang="0">
                  <a:pos x="T10" y="T11"/>
                </a:cxn>
              </a:cxnLst>
              <a:rect l="0" t="0" r="r" b="b"/>
              <a:pathLst>
                <a:path w="2" h="10">
                  <a:moveTo>
                    <a:pt x="0" y="10"/>
                  </a:moveTo>
                  <a:lnTo>
                    <a:pt x="0" y="10"/>
                  </a:lnTo>
                  <a:lnTo>
                    <a:pt x="2" y="10"/>
                  </a:lnTo>
                  <a:lnTo>
                    <a:pt x="2" y="0"/>
                  </a:lnTo>
                  <a:lnTo>
                    <a:pt x="0" y="0"/>
                  </a:lnTo>
                  <a:lnTo>
                    <a:pt x="0" y="10"/>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3" name="Freeform 94"/>
            <p:cNvSpPr>
              <a:spLocks/>
            </p:cNvSpPr>
            <p:nvPr/>
          </p:nvSpPr>
          <p:spPr bwMode="auto">
            <a:xfrm>
              <a:off x="5213350" y="1123950"/>
              <a:ext cx="11113" cy="14288"/>
            </a:xfrm>
            <a:custGeom>
              <a:avLst/>
              <a:gdLst>
                <a:gd name="T0" fmla="*/ 0 w 12"/>
                <a:gd name="T1" fmla="*/ 6 h 15"/>
                <a:gd name="T2" fmla="*/ 0 w 12"/>
                <a:gd name="T3" fmla="*/ 6 h 15"/>
                <a:gd name="T4" fmla="*/ 2 w 12"/>
                <a:gd name="T5" fmla="*/ 9 h 15"/>
                <a:gd name="T6" fmla="*/ 11 w 12"/>
                <a:gd name="T7" fmla="*/ 15 h 15"/>
                <a:gd name="T8" fmla="*/ 12 w 12"/>
                <a:gd name="T9" fmla="*/ 15 h 15"/>
                <a:gd name="T10" fmla="*/ 12 w 12"/>
                <a:gd name="T11" fmla="*/ 15 h 15"/>
                <a:gd name="T12" fmla="*/ 3 w 12"/>
                <a:gd name="T13" fmla="*/ 0 h 15"/>
                <a:gd name="T14" fmla="*/ 0 w 12"/>
                <a:gd name="T15" fmla="*/ 6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5">
                  <a:moveTo>
                    <a:pt x="0" y="6"/>
                  </a:moveTo>
                  <a:lnTo>
                    <a:pt x="0" y="6"/>
                  </a:lnTo>
                  <a:cubicBezTo>
                    <a:pt x="0" y="8"/>
                    <a:pt x="2" y="9"/>
                    <a:pt x="2" y="9"/>
                  </a:cubicBezTo>
                  <a:cubicBezTo>
                    <a:pt x="4" y="11"/>
                    <a:pt x="10" y="14"/>
                    <a:pt x="11" y="15"/>
                  </a:cubicBezTo>
                  <a:cubicBezTo>
                    <a:pt x="11" y="15"/>
                    <a:pt x="12" y="15"/>
                    <a:pt x="12" y="15"/>
                  </a:cubicBezTo>
                  <a:cubicBezTo>
                    <a:pt x="12" y="15"/>
                    <a:pt x="12" y="15"/>
                    <a:pt x="12" y="15"/>
                  </a:cubicBezTo>
                  <a:cubicBezTo>
                    <a:pt x="8" y="6"/>
                    <a:pt x="3" y="0"/>
                    <a:pt x="3" y="0"/>
                  </a:cubicBezTo>
                  <a:cubicBezTo>
                    <a:pt x="3" y="0"/>
                    <a:pt x="0" y="3"/>
                    <a:pt x="0" y="6"/>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4" name="Freeform 95"/>
            <p:cNvSpPr>
              <a:spLocks/>
            </p:cNvSpPr>
            <p:nvPr/>
          </p:nvSpPr>
          <p:spPr bwMode="auto">
            <a:xfrm>
              <a:off x="5213350" y="1139825"/>
              <a:ext cx="9525" cy="3175"/>
            </a:xfrm>
            <a:custGeom>
              <a:avLst/>
              <a:gdLst>
                <a:gd name="T0" fmla="*/ 10 w 10"/>
                <a:gd name="T1" fmla="*/ 0 h 3"/>
                <a:gd name="T2" fmla="*/ 10 w 10"/>
                <a:gd name="T3" fmla="*/ 0 h 3"/>
                <a:gd name="T4" fmla="*/ 0 w 10"/>
                <a:gd name="T5" fmla="*/ 0 h 3"/>
                <a:gd name="T6" fmla="*/ 4 w 10"/>
                <a:gd name="T7" fmla="*/ 3 h 3"/>
                <a:gd name="T8" fmla="*/ 10 w 10"/>
                <a:gd name="T9" fmla="*/ 0 h 3"/>
                <a:gd name="T10" fmla="*/ 10 w 10"/>
                <a:gd name="T11" fmla="*/ 0 h 3"/>
                <a:gd name="T12" fmla="*/ 10 w 10"/>
                <a:gd name="T13" fmla="*/ 0 h 3"/>
                <a:gd name="T14" fmla="*/ 10 w 10"/>
                <a:gd name="T15" fmla="*/ 0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3">
                  <a:moveTo>
                    <a:pt x="10" y="0"/>
                  </a:moveTo>
                  <a:lnTo>
                    <a:pt x="10" y="0"/>
                  </a:lnTo>
                  <a:lnTo>
                    <a:pt x="0" y="0"/>
                  </a:lnTo>
                  <a:cubicBezTo>
                    <a:pt x="1" y="2"/>
                    <a:pt x="3" y="3"/>
                    <a:pt x="4" y="3"/>
                  </a:cubicBezTo>
                  <a:cubicBezTo>
                    <a:pt x="6" y="3"/>
                    <a:pt x="9" y="1"/>
                    <a:pt x="10" y="0"/>
                  </a:cubicBezTo>
                  <a:lnTo>
                    <a:pt x="10" y="0"/>
                  </a:lnTo>
                  <a:cubicBezTo>
                    <a:pt x="10" y="0"/>
                    <a:pt x="10" y="0"/>
                    <a:pt x="10" y="0"/>
                  </a:cubicBezTo>
                  <a:cubicBezTo>
                    <a:pt x="10" y="0"/>
                    <a:pt x="10" y="0"/>
                    <a:pt x="10"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5" name="Freeform 96"/>
            <p:cNvSpPr>
              <a:spLocks/>
            </p:cNvSpPr>
            <p:nvPr/>
          </p:nvSpPr>
          <p:spPr bwMode="auto">
            <a:xfrm>
              <a:off x="5210175" y="1131888"/>
              <a:ext cx="12700" cy="6350"/>
            </a:xfrm>
            <a:custGeom>
              <a:avLst/>
              <a:gdLst>
                <a:gd name="T0" fmla="*/ 1 w 14"/>
                <a:gd name="T1" fmla="*/ 0 h 8"/>
                <a:gd name="T2" fmla="*/ 1 w 14"/>
                <a:gd name="T3" fmla="*/ 0 h 8"/>
                <a:gd name="T4" fmla="*/ 1 w 14"/>
                <a:gd name="T5" fmla="*/ 5 h 8"/>
                <a:gd name="T6" fmla="*/ 4 w 14"/>
                <a:gd name="T7" fmla="*/ 8 h 8"/>
                <a:gd name="T8" fmla="*/ 6 w 14"/>
                <a:gd name="T9" fmla="*/ 8 h 8"/>
                <a:gd name="T10" fmla="*/ 14 w 14"/>
                <a:gd name="T11" fmla="*/ 8 h 8"/>
                <a:gd name="T12" fmla="*/ 14 w 14"/>
                <a:gd name="T13" fmla="*/ 8 h 8"/>
                <a:gd name="T14" fmla="*/ 14 w 14"/>
                <a:gd name="T15" fmla="*/ 8 h 8"/>
                <a:gd name="T16" fmla="*/ 1 w 14"/>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8">
                  <a:moveTo>
                    <a:pt x="1" y="0"/>
                  </a:moveTo>
                  <a:lnTo>
                    <a:pt x="1" y="0"/>
                  </a:lnTo>
                  <a:cubicBezTo>
                    <a:pt x="0" y="3"/>
                    <a:pt x="1" y="5"/>
                    <a:pt x="1" y="5"/>
                  </a:cubicBezTo>
                  <a:cubicBezTo>
                    <a:pt x="2" y="7"/>
                    <a:pt x="4" y="8"/>
                    <a:pt x="4" y="8"/>
                  </a:cubicBezTo>
                  <a:cubicBezTo>
                    <a:pt x="5" y="8"/>
                    <a:pt x="6" y="8"/>
                    <a:pt x="6" y="8"/>
                  </a:cubicBezTo>
                  <a:cubicBezTo>
                    <a:pt x="7" y="8"/>
                    <a:pt x="12" y="8"/>
                    <a:pt x="14" y="8"/>
                  </a:cubicBezTo>
                  <a:cubicBezTo>
                    <a:pt x="14" y="8"/>
                    <a:pt x="14" y="8"/>
                    <a:pt x="14" y="8"/>
                  </a:cubicBezTo>
                  <a:cubicBezTo>
                    <a:pt x="14" y="8"/>
                    <a:pt x="14" y="8"/>
                    <a:pt x="14" y="8"/>
                  </a:cubicBezTo>
                  <a:cubicBezTo>
                    <a:pt x="10" y="5"/>
                    <a:pt x="1" y="0"/>
                    <a:pt x="1"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6" name="Freeform 97"/>
            <p:cNvSpPr>
              <a:spLocks/>
            </p:cNvSpPr>
            <p:nvPr/>
          </p:nvSpPr>
          <p:spPr bwMode="auto">
            <a:xfrm>
              <a:off x="5218113" y="1119188"/>
              <a:ext cx="7938" cy="17463"/>
            </a:xfrm>
            <a:custGeom>
              <a:avLst/>
              <a:gdLst>
                <a:gd name="T0" fmla="*/ 4 w 8"/>
                <a:gd name="T1" fmla="*/ 0 h 18"/>
                <a:gd name="T2" fmla="*/ 4 w 8"/>
                <a:gd name="T3" fmla="*/ 0 h 18"/>
                <a:gd name="T4" fmla="*/ 1 w 8"/>
                <a:gd name="T5" fmla="*/ 3 h 18"/>
                <a:gd name="T6" fmla="*/ 1 w 8"/>
                <a:gd name="T7" fmla="*/ 6 h 18"/>
                <a:gd name="T8" fmla="*/ 7 w 8"/>
                <a:gd name="T9" fmla="*/ 18 h 18"/>
                <a:gd name="T10" fmla="*/ 7 w 8"/>
                <a:gd name="T11" fmla="*/ 18 h 18"/>
                <a:gd name="T12" fmla="*/ 7 w 8"/>
                <a:gd name="T13" fmla="*/ 18 h 18"/>
                <a:gd name="T14" fmla="*/ 5 w 8"/>
                <a:gd name="T15" fmla="*/ 0 h 18"/>
                <a:gd name="T16" fmla="*/ 4 w 8"/>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8">
                  <a:moveTo>
                    <a:pt x="4" y="0"/>
                  </a:moveTo>
                  <a:lnTo>
                    <a:pt x="4" y="0"/>
                  </a:lnTo>
                  <a:cubicBezTo>
                    <a:pt x="1" y="1"/>
                    <a:pt x="1" y="3"/>
                    <a:pt x="1" y="3"/>
                  </a:cubicBezTo>
                  <a:cubicBezTo>
                    <a:pt x="0" y="5"/>
                    <a:pt x="1" y="6"/>
                    <a:pt x="1" y="6"/>
                  </a:cubicBezTo>
                  <a:cubicBezTo>
                    <a:pt x="2" y="10"/>
                    <a:pt x="6" y="17"/>
                    <a:pt x="7" y="18"/>
                  </a:cubicBezTo>
                  <a:cubicBezTo>
                    <a:pt x="7" y="18"/>
                    <a:pt x="7" y="18"/>
                    <a:pt x="7" y="18"/>
                  </a:cubicBezTo>
                  <a:cubicBezTo>
                    <a:pt x="7" y="18"/>
                    <a:pt x="7" y="18"/>
                    <a:pt x="7" y="18"/>
                  </a:cubicBezTo>
                  <a:cubicBezTo>
                    <a:pt x="8" y="4"/>
                    <a:pt x="5" y="0"/>
                    <a:pt x="5" y="0"/>
                  </a:cubicBezTo>
                  <a:cubicBezTo>
                    <a:pt x="5" y="0"/>
                    <a:pt x="4" y="0"/>
                    <a:pt x="4"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7" name="Freeform 98"/>
            <p:cNvSpPr>
              <a:spLocks/>
            </p:cNvSpPr>
            <p:nvPr/>
          </p:nvSpPr>
          <p:spPr bwMode="auto">
            <a:xfrm>
              <a:off x="5226050" y="1119188"/>
              <a:ext cx="6350" cy="17463"/>
            </a:xfrm>
            <a:custGeom>
              <a:avLst/>
              <a:gdLst>
                <a:gd name="T0" fmla="*/ 8 w 8"/>
                <a:gd name="T1" fmla="*/ 3 h 18"/>
                <a:gd name="T2" fmla="*/ 8 w 8"/>
                <a:gd name="T3" fmla="*/ 3 h 18"/>
                <a:gd name="T4" fmla="*/ 5 w 8"/>
                <a:gd name="T5" fmla="*/ 0 h 18"/>
                <a:gd name="T6" fmla="*/ 3 w 8"/>
                <a:gd name="T7" fmla="*/ 0 h 18"/>
                <a:gd name="T8" fmla="*/ 2 w 8"/>
                <a:gd name="T9" fmla="*/ 18 h 18"/>
                <a:gd name="T10" fmla="*/ 2 w 8"/>
                <a:gd name="T11" fmla="*/ 18 h 18"/>
                <a:gd name="T12" fmla="*/ 2 w 8"/>
                <a:gd name="T13" fmla="*/ 18 h 18"/>
                <a:gd name="T14" fmla="*/ 8 w 8"/>
                <a:gd name="T15" fmla="*/ 6 h 18"/>
                <a:gd name="T16" fmla="*/ 8 w 8"/>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8">
                  <a:moveTo>
                    <a:pt x="8" y="3"/>
                  </a:moveTo>
                  <a:lnTo>
                    <a:pt x="8" y="3"/>
                  </a:lnTo>
                  <a:cubicBezTo>
                    <a:pt x="8" y="3"/>
                    <a:pt x="7" y="1"/>
                    <a:pt x="5" y="0"/>
                  </a:cubicBezTo>
                  <a:cubicBezTo>
                    <a:pt x="5" y="0"/>
                    <a:pt x="4" y="0"/>
                    <a:pt x="3" y="0"/>
                  </a:cubicBezTo>
                  <a:cubicBezTo>
                    <a:pt x="3" y="0"/>
                    <a:pt x="0" y="4"/>
                    <a:pt x="2" y="18"/>
                  </a:cubicBezTo>
                  <a:cubicBezTo>
                    <a:pt x="2" y="18"/>
                    <a:pt x="2" y="18"/>
                    <a:pt x="2" y="18"/>
                  </a:cubicBezTo>
                  <a:cubicBezTo>
                    <a:pt x="2" y="18"/>
                    <a:pt x="2" y="18"/>
                    <a:pt x="2" y="18"/>
                  </a:cubicBezTo>
                  <a:cubicBezTo>
                    <a:pt x="3" y="17"/>
                    <a:pt x="7" y="10"/>
                    <a:pt x="8" y="6"/>
                  </a:cubicBezTo>
                  <a:cubicBezTo>
                    <a:pt x="8" y="6"/>
                    <a:pt x="8" y="5"/>
                    <a:pt x="8" y="3"/>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8" name="Freeform 99"/>
            <p:cNvSpPr>
              <a:spLocks/>
            </p:cNvSpPr>
            <p:nvPr/>
          </p:nvSpPr>
          <p:spPr bwMode="auto">
            <a:xfrm>
              <a:off x="5229225" y="1139825"/>
              <a:ext cx="9525" cy="3175"/>
            </a:xfrm>
            <a:custGeom>
              <a:avLst/>
              <a:gdLst>
                <a:gd name="T0" fmla="*/ 0 w 10"/>
                <a:gd name="T1" fmla="*/ 0 h 4"/>
                <a:gd name="T2" fmla="*/ 0 w 10"/>
                <a:gd name="T3" fmla="*/ 0 h 4"/>
                <a:gd name="T4" fmla="*/ 0 w 10"/>
                <a:gd name="T5" fmla="*/ 0 h 4"/>
                <a:gd name="T6" fmla="*/ 5 w 10"/>
                <a:gd name="T7" fmla="*/ 3 h 4"/>
                <a:gd name="T8" fmla="*/ 10 w 10"/>
                <a:gd name="T9" fmla="*/ 0 h 4"/>
                <a:gd name="T10" fmla="*/ 0 w 10"/>
                <a:gd name="T11" fmla="*/ 0 h 4"/>
                <a:gd name="T12" fmla="*/ 0 w 10"/>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0" y="0"/>
                  </a:moveTo>
                  <a:lnTo>
                    <a:pt x="0" y="0"/>
                  </a:lnTo>
                  <a:cubicBezTo>
                    <a:pt x="0" y="0"/>
                    <a:pt x="0" y="0"/>
                    <a:pt x="0" y="0"/>
                  </a:cubicBezTo>
                  <a:cubicBezTo>
                    <a:pt x="1" y="1"/>
                    <a:pt x="4" y="3"/>
                    <a:pt x="5" y="3"/>
                  </a:cubicBezTo>
                  <a:cubicBezTo>
                    <a:pt x="5" y="3"/>
                    <a:pt x="8" y="4"/>
                    <a:pt x="10" y="0"/>
                  </a:cubicBezTo>
                  <a:lnTo>
                    <a:pt x="0" y="0"/>
                  </a:lnTo>
                  <a:cubicBezTo>
                    <a:pt x="0" y="0"/>
                    <a:pt x="0" y="0"/>
                    <a:pt x="0" y="0"/>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99" name="Freeform 100"/>
            <p:cNvSpPr>
              <a:spLocks/>
            </p:cNvSpPr>
            <p:nvPr/>
          </p:nvSpPr>
          <p:spPr bwMode="auto">
            <a:xfrm>
              <a:off x="5229225" y="1131888"/>
              <a:ext cx="12700" cy="6350"/>
            </a:xfrm>
            <a:custGeom>
              <a:avLst/>
              <a:gdLst>
                <a:gd name="T0" fmla="*/ 0 w 13"/>
                <a:gd name="T1" fmla="*/ 8 h 8"/>
                <a:gd name="T2" fmla="*/ 0 w 13"/>
                <a:gd name="T3" fmla="*/ 8 h 8"/>
                <a:gd name="T4" fmla="*/ 0 w 13"/>
                <a:gd name="T5" fmla="*/ 8 h 8"/>
                <a:gd name="T6" fmla="*/ 0 w 13"/>
                <a:gd name="T7" fmla="*/ 8 h 8"/>
                <a:gd name="T8" fmla="*/ 8 w 13"/>
                <a:gd name="T9" fmla="*/ 8 h 8"/>
                <a:gd name="T10" fmla="*/ 9 w 13"/>
                <a:gd name="T11" fmla="*/ 8 h 8"/>
                <a:gd name="T12" fmla="*/ 12 w 13"/>
                <a:gd name="T13" fmla="*/ 5 h 8"/>
                <a:gd name="T14" fmla="*/ 13 w 13"/>
                <a:gd name="T15" fmla="*/ 0 h 8"/>
                <a:gd name="T16" fmla="*/ 0 w 13"/>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8">
                  <a:moveTo>
                    <a:pt x="0" y="8"/>
                  </a:moveTo>
                  <a:lnTo>
                    <a:pt x="0" y="8"/>
                  </a:lnTo>
                  <a:cubicBezTo>
                    <a:pt x="0" y="8"/>
                    <a:pt x="0" y="8"/>
                    <a:pt x="0" y="8"/>
                  </a:cubicBezTo>
                  <a:cubicBezTo>
                    <a:pt x="0" y="8"/>
                    <a:pt x="0" y="8"/>
                    <a:pt x="0" y="8"/>
                  </a:cubicBezTo>
                  <a:cubicBezTo>
                    <a:pt x="1" y="8"/>
                    <a:pt x="7" y="8"/>
                    <a:pt x="8" y="8"/>
                  </a:cubicBezTo>
                  <a:cubicBezTo>
                    <a:pt x="8" y="8"/>
                    <a:pt x="8" y="8"/>
                    <a:pt x="9" y="8"/>
                  </a:cubicBezTo>
                  <a:cubicBezTo>
                    <a:pt x="9" y="8"/>
                    <a:pt x="11" y="7"/>
                    <a:pt x="12" y="5"/>
                  </a:cubicBezTo>
                  <a:cubicBezTo>
                    <a:pt x="12" y="5"/>
                    <a:pt x="13" y="3"/>
                    <a:pt x="13" y="0"/>
                  </a:cubicBezTo>
                  <a:cubicBezTo>
                    <a:pt x="13" y="0"/>
                    <a:pt x="4" y="5"/>
                    <a:pt x="0" y="8"/>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100" name="Freeform 101"/>
            <p:cNvSpPr>
              <a:spLocks/>
            </p:cNvSpPr>
            <p:nvPr/>
          </p:nvSpPr>
          <p:spPr bwMode="auto">
            <a:xfrm>
              <a:off x="5227638" y="1123950"/>
              <a:ext cx="12700" cy="14288"/>
            </a:xfrm>
            <a:custGeom>
              <a:avLst/>
              <a:gdLst>
                <a:gd name="T0" fmla="*/ 12 w 12"/>
                <a:gd name="T1" fmla="*/ 5 h 15"/>
                <a:gd name="T2" fmla="*/ 12 w 12"/>
                <a:gd name="T3" fmla="*/ 5 h 15"/>
                <a:gd name="T4" fmla="*/ 9 w 12"/>
                <a:gd name="T5" fmla="*/ 0 h 15"/>
                <a:gd name="T6" fmla="*/ 0 w 12"/>
                <a:gd name="T7" fmla="*/ 15 h 15"/>
                <a:gd name="T8" fmla="*/ 0 w 12"/>
                <a:gd name="T9" fmla="*/ 15 h 15"/>
                <a:gd name="T10" fmla="*/ 0 w 12"/>
                <a:gd name="T11" fmla="*/ 15 h 15"/>
                <a:gd name="T12" fmla="*/ 10 w 12"/>
                <a:gd name="T13" fmla="*/ 9 h 15"/>
                <a:gd name="T14" fmla="*/ 12 w 12"/>
                <a:gd name="T15" fmla="*/ 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15">
                  <a:moveTo>
                    <a:pt x="12" y="5"/>
                  </a:moveTo>
                  <a:lnTo>
                    <a:pt x="12" y="5"/>
                  </a:lnTo>
                  <a:cubicBezTo>
                    <a:pt x="12" y="3"/>
                    <a:pt x="9" y="0"/>
                    <a:pt x="9" y="0"/>
                  </a:cubicBezTo>
                  <a:cubicBezTo>
                    <a:pt x="9" y="0"/>
                    <a:pt x="4" y="6"/>
                    <a:pt x="0" y="15"/>
                  </a:cubicBezTo>
                  <a:cubicBezTo>
                    <a:pt x="0" y="15"/>
                    <a:pt x="0" y="15"/>
                    <a:pt x="0" y="15"/>
                  </a:cubicBezTo>
                  <a:cubicBezTo>
                    <a:pt x="0" y="15"/>
                    <a:pt x="0" y="15"/>
                    <a:pt x="0" y="15"/>
                  </a:cubicBezTo>
                  <a:cubicBezTo>
                    <a:pt x="2" y="14"/>
                    <a:pt x="7" y="11"/>
                    <a:pt x="10" y="9"/>
                  </a:cubicBezTo>
                  <a:cubicBezTo>
                    <a:pt x="10" y="9"/>
                    <a:pt x="11" y="7"/>
                    <a:pt x="12" y="5"/>
                  </a:cubicBez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101" name="Freeform 102"/>
            <p:cNvSpPr>
              <a:spLocks/>
            </p:cNvSpPr>
            <p:nvPr/>
          </p:nvSpPr>
          <p:spPr bwMode="auto">
            <a:xfrm>
              <a:off x="5345113" y="1216025"/>
              <a:ext cx="15875" cy="46038"/>
            </a:xfrm>
            <a:custGeom>
              <a:avLst/>
              <a:gdLst>
                <a:gd name="T0" fmla="*/ 0 w 17"/>
                <a:gd name="T1" fmla="*/ 47 h 47"/>
                <a:gd name="T2" fmla="*/ 0 w 17"/>
                <a:gd name="T3" fmla="*/ 47 h 47"/>
                <a:gd name="T4" fmla="*/ 17 w 17"/>
                <a:gd name="T5" fmla="*/ 47 h 47"/>
                <a:gd name="T6" fmla="*/ 17 w 17"/>
                <a:gd name="T7" fmla="*/ 0 h 47"/>
                <a:gd name="T8" fmla="*/ 0 w 17"/>
                <a:gd name="T9" fmla="*/ 0 h 47"/>
                <a:gd name="T10" fmla="*/ 0 w 17"/>
                <a:gd name="T11" fmla="*/ 47 h 47"/>
              </a:gdLst>
              <a:ahLst/>
              <a:cxnLst>
                <a:cxn ang="0">
                  <a:pos x="T0" y="T1"/>
                </a:cxn>
                <a:cxn ang="0">
                  <a:pos x="T2" y="T3"/>
                </a:cxn>
                <a:cxn ang="0">
                  <a:pos x="T4" y="T5"/>
                </a:cxn>
                <a:cxn ang="0">
                  <a:pos x="T6" y="T7"/>
                </a:cxn>
                <a:cxn ang="0">
                  <a:pos x="T8" y="T9"/>
                </a:cxn>
                <a:cxn ang="0">
                  <a:pos x="T10" y="T11"/>
                </a:cxn>
              </a:cxnLst>
              <a:rect l="0" t="0" r="r" b="b"/>
              <a:pathLst>
                <a:path w="17" h="47">
                  <a:moveTo>
                    <a:pt x="0" y="47"/>
                  </a:moveTo>
                  <a:lnTo>
                    <a:pt x="0" y="47"/>
                  </a:lnTo>
                  <a:lnTo>
                    <a:pt x="17" y="47"/>
                  </a:lnTo>
                  <a:lnTo>
                    <a:pt x="17" y="0"/>
                  </a:lnTo>
                  <a:lnTo>
                    <a:pt x="0" y="0"/>
                  </a:lnTo>
                  <a:lnTo>
                    <a:pt x="0" y="47"/>
                  </a:lnTo>
                  <a:close/>
                </a:path>
              </a:pathLst>
            </a:custGeom>
            <a:grpFill/>
            <a:ln w="0">
              <a:noFill/>
              <a:prstDash val="solid"/>
              <a:round/>
              <a:headEnd/>
              <a:tailEnd/>
            </a:ln>
          </p:spPr>
          <p:txBody>
            <a:bodyPr/>
            <a:lstStyle/>
            <a:p>
              <a:pPr defTabSz="543689">
                <a:defRPr/>
              </a:pPr>
              <a:endParaRPr lang="zh-CN" altLang="en-US" sz="1200">
                <a:latin typeface="Arial" panose="020B0604020202020204" pitchFamily="34" charset="0"/>
                <a:ea typeface="+mn-ea"/>
              </a:endParaRPr>
            </a:p>
          </p:txBody>
        </p:sp>
      </p:grpSp>
      <p:sp>
        <p:nvSpPr>
          <p:cNvPr id="102" name="disc_30226"/>
          <p:cNvSpPr>
            <a:spLocks noChangeAspect="1"/>
          </p:cNvSpPr>
          <p:nvPr/>
        </p:nvSpPr>
        <p:spPr bwMode="auto">
          <a:xfrm>
            <a:off x="5885044" y="3573016"/>
            <a:ext cx="426980" cy="504056"/>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sp>
        <p:nvSpPr>
          <p:cNvPr id="103" name="disc_30226"/>
          <p:cNvSpPr>
            <a:spLocks noChangeAspect="1"/>
          </p:cNvSpPr>
          <p:nvPr/>
        </p:nvSpPr>
        <p:spPr bwMode="auto">
          <a:xfrm>
            <a:off x="5879976" y="1952836"/>
            <a:ext cx="426980" cy="504056"/>
          </a:xfrm>
          <a:custGeom>
            <a:avLst/>
            <a:gdLst>
              <a:gd name="connsiteX0" fmla="*/ 417112 w 505460"/>
              <a:gd name="connsiteY0" fmla="*/ 508494 h 596701"/>
              <a:gd name="connsiteX1" fmla="*/ 490500 w 505460"/>
              <a:gd name="connsiteY1" fmla="*/ 508494 h 596701"/>
              <a:gd name="connsiteX2" fmla="*/ 417112 w 505460"/>
              <a:gd name="connsiteY2" fmla="*/ 581459 h 596701"/>
              <a:gd name="connsiteX3" fmla="*/ 252695 w 505460"/>
              <a:gd name="connsiteY3" fmla="*/ 255729 h 596701"/>
              <a:gd name="connsiteX4" fmla="*/ 295387 w 505460"/>
              <a:gd name="connsiteY4" fmla="*/ 298351 h 596701"/>
              <a:gd name="connsiteX5" fmla="*/ 252695 w 505460"/>
              <a:gd name="connsiteY5" fmla="*/ 340973 h 596701"/>
              <a:gd name="connsiteX6" fmla="*/ 210003 w 505460"/>
              <a:gd name="connsiteY6" fmla="*/ 298351 h 596701"/>
              <a:gd name="connsiteX7" fmla="*/ 252695 w 505460"/>
              <a:gd name="connsiteY7" fmla="*/ 255729 h 596701"/>
              <a:gd name="connsiteX8" fmla="*/ 252583 w 505460"/>
              <a:gd name="connsiteY8" fmla="*/ 241380 h 596701"/>
              <a:gd name="connsiteX9" fmla="*/ 195964 w 505460"/>
              <a:gd name="connsiteY9" fmla="*/ 298209 h 596701"/>
              <a:gd name="connsiteX10" fmla="*/ 252583 w 505460"/>
              <a:gd name="connsiteY10" fmla="*/ 355038 h 596701"/>
              <a:gd name="connsiteX11" fmla="*/ 309496 w 505460"/>
              <a:gd name="connsiteY11" fmla="*/ 298209 h 596701"/>
              <a:gd name="connsiteX12" fmla="*/ 252583 w 505460"/>
              <a:gd name="connsiteY12" fmla="*/ 241380 h 596701"/>
              <a:gd name="connsiteX13" fmla="*/ 252583 w 505460"/>
              <a:gd name="connsiteY13" fmla="*/ 127723 h 596701"/>
              <a:gd name="connsiteX14" fmla="*/ 423322 w 505460"/>
              <a:gd name="connsiteY14" fmla="*/ 298209 h 596701"/>
              <a:gd name="connsiteX15" fmla="*/ 252583 w 505460"/>
              <a:gd name="connsiteY15" fmla="*/ 468695 h 596701"/>
              <a:gd name="connsiteX16" fmla="*/ 82138 w 505460"/>
              <a:gd name="connsiteY16" fmla="*/ 298209 h 596701"/>
              <a:gd name="connsiteX17" fmla="*/ 252583 w 505460"/>
              <a:gd name="connsiteY17" fmla="*/ 127723 h 596701"/>
              <a:gd name="connsiteX18" fmla="*/ 91822 w 505460"/>
              <a:gd name="connsiteY18" fmla="*/ 0 h 596701"/>
              <a:gd name="connsiteX19" fmla="*/ 413638 w 505460"/>
              <a:gd name="connsiteY19" fmla="*/ 0 h 596701"/>
              <a:gd name="connsiteX20" fmla="*/ 505460 w 505460"/>
              <a:gd name="connsiteY20" fmla="*/ 91687 h 596701"/>
              <a:gd name="connsiteX21" fmla="*/ 505460 w 505460"/>
              <a:gd name="connsiteY21" fmla="*/ 493296 h 596701"/>
              <a:gd name="connsiteX22" fmla="*/ 481111 w 505460"/>
              <a:gd name="connsiteY22" fmla="*/ 493296 h 596701"/>
              <a:gd name="connsiteX23" fmla="*/ 481111 w 505460"/>
              <a:gd name="connsiteY23" fmla="*/ 91687 h 596701"/>
              <a:gd name="connsiteX24" fmla="*/ 413638 w 505460"/>
              <a:gd name="connsiteY24" fmla="*/ 24313 h 596701"/>
              <a:gd name="connsiteX25" fmla="*/ 91822 w 505460"/>
              <a:gd name="connsiteY25" fmla="*/ 24313 h 596701"/>
              <a:gd name="connsiteX26" fmla="*/ 24349 w 505460"/>
              <a:gd name="connsiteY26" fmla="*/ 91687 h 596701"/>
              <a:gd name="connsiteX27" fmla="*/ 24349 w 505460"/>
              <a:gd name="connsiteY27" fmla="*/ 504721 h 596701"/>
              <a:gd name="connsiteX28" fmla="*/ 91822 w 505460"/>
              <a:gd name="connsiteY28" fmla="*/ 572388 h 596701"/>
              <a:gd name="connsiteX29" fmla="*/ 402197 w 505460"/>
              <a:gd name="connsiteY29" fmla="*/ 572388 h 596701"/>
              <a:gd name="connsiteX30" fmla="*/ 402197 w 505460"/>
              <a:gd name="connsiteY30" fmla="*/ 596701 h 596701"/>
              <a:gd name="connsiteX31" fmla="*/ 91822 w 505460"/>
              <a:gd name="connsiteY31" fmla="*/ 596701 h 596701"/>
              <a:gd name="connsiteX32" fmla="*/ 0 w 505460"/>
              <a:gd name="connsiteY32" fmla="*/ 504721 h 596701"/>
              <a:gd name="connsiteX33" fmla="*/ 0 w 505460"/>
              <a:gd name="connsiteY33" fmla="*/ 91687 h 596701"/>
              <a:gd name="connsiteX34" fmla="*/ 91822 w 505460"/>
              <a:gd name="connsiteY34" fmla="*/ 0 h 596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5460" h="596701">
                <a:moveTo>
                  <a:pt x="417112" y="508494"/>
                </a:moveTo>
                <a:lnTo>
                  <a:pt x="490500" y="508494"/>
                </a:lnTo>
                <a:lnTo>
                  <a:pt x="417112" y="581459"/>
                </a:lnTo>
                <a:close/>
                <a:moveTo>
                  <a:pt x="252695" y="255729"/>
                </a:moveTo>
                <a:cubicBezTo>
                  <a:pt x="276273" y="255729"/>
                  <a:pt x="295387" y="274812"/>
                  <a:pt x="295387" y="298351"/>
                </a:cubicBezTo>
                <a:cubicBezTo>
                  <a:pt x="295387" y="321890"/>
                  <a:pt x="276273" y="340973"/>
                  <a:pt x="252695" y="340973"/>
                </a:cubicBezTo>
                <a:cubicBezTo>
                  <a:pt x="229117" y="340973"/>
                  <a:pt x="210003" y="321890"/>
                  <a:pt x="210003" y="298351"/>
                </a:cubicBezTo>
                <a:cubicBezTo>
                  <a:pt x="210003" y="274812"/>
                  <a:pt x="229117" y="255729"/>
                  <a:pt x="252695" y="255729"/>
                </a:cubicBezTo>
                <a:close/>
                <a:moveTo>
                  <a:pt x="252583" y="241380"/>
                </a:moveTo>
                <a:cubicBezTo>
                  <a:pt x="221193" y="241380"/>
                  <a:pt x="195964" y="266866"/>
                  <a:pt x="195964" y="298209"/>
                </a:cubicBezTo>
                <a:cubicBezTo>
                  <a:pt x="195964" y="329846"/>
                  <a:pt x="221193" y="355038"/>
                  <a:pt x="252583" y="355038"/>
                </a:cubicBezTo>
                <a:cubicBezTo>
                  <a:pt x="284267" y="355038"/>
                  <a:pt x="309496" y="329846"/>
                  <a:pt x="309496" y="298209"/>
                </a:cubicBezTo>
                <a:cubicBezTo>
                  <a:pt x="309496" y="266866"/>
                  <a:pt x="284267" y="241380"/>
                  <a:pt x="252583" y="241380"/>
                </a:cubicBezTo>
                <a:close/>
                <a:moveTo>
                  <a:pt x="252583" y="127723"/>
                </a:moveTo>
                <a:cubicBezTo>
                  <a:pt x="347047" y="127723"/>
                  <a:pt x="423322" y="204178"/>
                  <a:pt x="423322" y="298209"/>
                </a:cubicBezTo>
                <a:cubicBezTo>
                  <a:pt x="423322" y="392533"/>
                  <a:pt x="347047" y="468695"/>
                  <a:pt x="252583" y="468695"/>
                </a:cubicBezTo>
                <a:cubicBezTo>
                  <a:pt x="158413" y="468695"/>
                  <a:pt x="82138" y="392533"/>
                  <a:pt x="82138" y="298209"/>
                </a:cubicBezTo>
                <a:cubicBezTo>
                  <a:pt x="82138" y="204178"/>
                  <a:pt x="158413" y="127723"/>
                  <a:pt x="252583" y="127723"/>
                </a:cubicBezTo>
                <a:close/>
                <a:moveTo>
                  <a:pt x="91822" y="0"/>
                </a:moveTo>
                <a:lnTo>
                  <a:pt x="413638" y="0"/>
                </a:lnTo>
                <a:cubicBezTo>
                  <a:pt x="489325" y="0"/>
                  <a:pt x="505460" y="16111"/>
                  <a:pt x="505460" y="91687"/>
                </a:cubicBezTo>
                <a:lnTo>
                  <a:pt x="505460" y="493296"/>
                </a:lnTo>
                <a:lnTo>
                  <a:pt x="481111" y="493296"/>
                </a:lnTo>
                <a:lnTo>
                  <a:pt x="481111" y="91687"/>
                </a:lnTo>
                <a:cubicBezTo>
                  <a:pt x="481111" y="29293"/>
                  <a:pt x="476124" y="24313"/>
                  <a:pt x="413638" y="24313"/>
                </a:cubicBezTo>
                <a:lnTo>
                  <a:pt x="91822" y="24313"/>
                </a:lnTo>
                <a:cubicBezTo>
                  <a:pt x="29336" y="24313"/>
                  <a:pt x="24349" y="29293"/>
                  <a:pt x="24349" y="91687"/>
                </a:cubicBezTo>
                <a:lnTo>
                  <a:pt x="24349" y="504721"/>
                </a:lnTo>
                <a:cubicBezTo>
                  <a:pt x="24349" y="567408"/>
                  <a:pt x="29336" y="572388"/>
                  <a:pt x="91822" y="572388"/>
                </a:cubicBezTo>
                <a:lnTo>
                  <a:pt x="402197" y="572388"/>
                </a:lnTo>
                <a:lnTo>
                  <a:pt x="402197" y="596701"/>
                </a:lnTo>
                <a:lnTo>
                  <a:pt x="91822" y="596701"/>
                </a:lnTo>
                <a:cubicBezTo>
                  <a:pt x="16135" y="596701"/>
                  <a:pt x="0" y="580590"/>
                  <a:pt x="0" y="504721"/>
                </a:cubicBezTo>
                <a:lnTo>
                  <a:pt x="0" y="91687"/>
                </a:lnTo>
                <a:cubicBezTo>
                  <a:pt x="0" y="16111"/>
                  <a:pt x="16135" y="0"/>
                  <a:pt x="91822" y="0"/>
                </a:cubicBezTo>
                <a:close/>
              </a:path>
            </a:pathLst>
          </a:custGeom>
          <a:solidFill>
            <a:srgbClr val="3ABABA"/>
          </a:solidFill>
          <a:ln>
            <a:noFill/>
          </a:ln>
        </p:spPr>
        <p:txBody>
          <a:bodyPr/>
          <a:lstStyle/>
          <a:p>
            <a:endParaRPr lang="zh-CN" altLang="en-US">
              <a:latin typeface="Arial" panose="020B0604020202020204" pitchFamily="34" charset="0"/>
            </a:endParaRPr>
          </a:p>
        </p:txBody>
      </p:sp>
      <p:grpSp>
        <p:nvGrpSpPr>
          <p:cNvPr id="104" name="组合 16582"/>
          <p:cNvGrpSpPr>
            <a:grpSpLocks noChangeAspect="1"/>
          </p:cNvGrpSpPr>
          <p:nvPr/>
        </p:nvGrpSpPr>
        <p:grpSpPr>
          <a:xfrm>
            <a:off x="7824192" y="1880828"/>
            <a:ext cx="487812" cy="622150"/>
            <a:chOff x="8407400" y="2055813"/>
            <a:chExt cx="360363" cy="458788"/>
          </a:xfrm>
          <a:noFill/>
        </p:grpSpPr>
        <p:sp>
          <p:nvSpPr>
            <p:cNvPr id="105"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chemeClr val="tx1"/>
              </a:solid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106"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chemeClr val="tx1"/>
              </a:solid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107"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chemeClr val="tx1"/>
              </a:solidFill>
              <a:prstDash val="solid"/>
              <a:round/>
              <a:headEnd/>
              <a:tailEnd/>
            </a:ln>
          </p:spPr>
          <p:txBody>
            <a:bodyPr/>
            <a:lstStyle/>
            <a:p>
              <a:pPr defTabSz="543689">
                <a:defRPr/>
              </a:pPr>
              <a:endParaRPr lang="zh-CN" altLang="en-US" sz="1200">
                <a:latin typeface="Arial" panose="020B0604020202020204" pitchFamily="34" charset="0"/>
                <a:ea typeface="+mn-ea"/>
              </a:endParaRPr>
            </a:p>
          </p:txBody>
        </p:sp>
        <p:sp>
          <p:nvSpPr>
            <p:cNvPr id="108"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chemeClr val="tx1"/>
              </a:solidFill>
              <a:prstDash val="solid"/>
              <a:round/>
              <a:headEnd/>
              <a:tailEnd/>
            </a:ln>
          </p:spPr>
          <p:txBody>
            <a:bodyPr/>
            <a:lstStyle/>
            <a:p>
              <a:pPr defTabSz="543689">
                <a:defRPr/>
              </a:pPr>
              <a:endParaRPr lang="zh-CN" altLang="en-US" sz="1200">
                <a:latin typeface="Arial" panose="020B0604020202020204" pitchFamily="34" charset="0"/>
                <a:ea typeface="+mn-ea"/>
              </a:endParaRPr>
            </a:p>
          </p:txBody>
        </p:sp>
      </p:grpSp>
      <p:grpSp>
        <p:nvGrpSpPr>
          <p:cNvPr id="109" name="组合 108"/>
          <p:cNvGrpSpPr/>
          <p:nvPr/>
        </p:nvGrpSpPr>
        <p:grpSpPr>
          <a:xfrm>
            <a:off x="9372364" y="1952836"/>
            <a:ext cx="430713" cy="546273"/>
            <a:chOff x="8407400" y="2055813"/>
            <a:chExt cx="360363" cy="458788"/>
          </a:xfrm>
          <a:solidFill>
            <a:srgbClr val="3ABABA"/>
          </a:solidFill>
        </p:grpSpPr>
        <p:sp>
          <p:nvSpPr>
            <p:cNvPr id="110" name="Freeform 219"/>
            <p:cNvSpPr>
              <a:spLocks noEditPoints="1"/>
            </p:cNvSpPr>
            <p:nvPr/>
          </p:nvSpPr>
          <p:spPr bwMode="auto">
            <a:xfrm>
              <a:off x="8407400" y="2055813"/>
              <a:ext cx="360363" cy="458788"/>
            </a:xfrm>
            <a:custGeom>
              <a:avLst/>
              <a:gdLst>
                <a:gd name="T0" fmla="*/ 359 w 378"/>
                <a:gd name="T1" fmla="*/ 192 h 480"/>
                <a:gd name="T2" fmla="*/ 359 w 378"/>
                <a:gd name="T3" fmla="*/ 192 h 480"/>
                <a:gd name="T4" fmla="*/ 189 w 378"/>
                <a:gd name="T5" fmla="*/ 271 h 480"/>
                <a:gd name="T6" fmla="*/ 20 w 378"/>
                <a:gd name="T7" fmla="*/ 192 h 480"/>
                <a:gd name="T8" fmla="*/ 20 w 378"/>
                <a:gd name="T9" fmla="*/ 143 h 480"/>
                <a:gd name="T10" fmla="*/ 189 w 378"/>
                <a:gd name="T11" fmla="*/ 197 h 480"/>
                <a:gd name="T12" fmla="*/ 359 w 378"/>
                <a:gd name="T13" fmla="*/ 143 h 480"/>
                <a:gd name="T14" fmla="*/ 359 w 378"/>
                <a:gd name="T15" fmla="*/ 192 h 480"/>
                <a:gd name="T16" fmla="*/ 189 w 378"/>
                <a:gd name="T17" fmla="*/ 359 h 480"/>
                <a:gd name="T18" fmla="*/ 189 w 378"/>
                <a:gd name="T19" fmla="*/ 359 h 480"/>
                <a:gd name="T20" fmla="*/ 20 w 378"/>
                <a:gd name="T21" fmla="*/ 280 h 480"/>
                <a:gd name="T22" fmla="*/ 20 w 378"/>
                <a:gd name="T23" fmla="*/ 236 h 480"/>
                <a:gd name="T24" fmla="*/ 189 w 378"/>
                <a:gd name="T25" fmla="*/ 291 h 480"/>
                <a:gd name="T26" fmla="*/ 359 w 378"/>
                <a:gd name="T27" fmla="*/ 236 h 480"/>
                <a:gd name="T28" fmla="*/ 359 w 378"/>
                <a:gd name="T29" fmla="*/ 280 h 480"/>
                <a:gd name="T30" fmla="*/ 189 w 378"/>
                <a:gd name="T31" fmla="*/ 359 h 480"/>
                <a:gd name="T32" fmla="*/ 189 w 378"/>
                <a:gd name="T33" fmla="*/ 20 h 480"/>
                <a:gd name="T34" fmla="*/ 189 w 378"/>
                <a:gd name="T35" fmla="*/ 20 h 480"/>
                <a:gd name="T36" fmla="*/ 359 w 378"/>
                <a:gd name="T37" fmla="*/ 99 h 480"/>
                <a:gd name="T38" fmla="*/ 189 w 378"/>
                <a:gd name="T39" fmla="*/ 178 h 480"/>
                <a:gd name="T40" fmla="*/ 20 w 378"/>
                <a:gd name="T41" fmla="*/ 99 h 480"/>
                <a:gd name="T42" fmla="*/ 189 w 378"/>
                <a:gd name="T43" fmla="*/ 20 h 480"/>
                <a:gd name="T44" fmla="*/ 189 w 378"/>
                <a:gd name="T45" fmla="*/ 0 h 480"/>
                <a:gd name="T46" fmla="*/ 189 w 378"/>
                <a:gd name="T47" fmla="*/ 0 h 480"/>
                <a:gd name="T48" fmla="*/ 0 w 378"/>
                <a:gd name="T49" fmla="*/ 99 h 480"/>
                <a:gd name="T50" fmla="*/ 0 w 378"/>
                <a:gd name="T51" fmla="*/ 102 h 480"/>
                <a:gd name="T52" fmla="*/ 0 w 378"/>
                <a:gd name="T53" fmla="*/ 104 h 480"/>
                <a:gd name="T54" fmla="*/ 0 w 378"/>
                <a:gd name="T55" fmla="*/ 236 h 480"/>
                <a:gd name="T56" fmla="*/ 0 w 378"/>
                <a:gd name="T57" fmla="*/ 368 h 480"/>
                <a:gd name="T58" fmla="*/ 0 w 378"/>
                <a:gd name="T59" fmla="*/ 369 h 480"/>
                <a:gd name="T60" fmla="*/ 0 w 378"/>
                <a:gd name="T61" fmla="*/ 369 h 480"/>
                <a:gd name="T62" fmla="*/ 189 w 378"/>
                <a:gd name="T63" fmla="*/ 467 h 480"/>
                <a:gd name="T64" fmla="*/ 230 w 378"/>
                <a:gd name="T65" fmla="*/ 464 h 480"/>
                <a:gd name="T66" fmla="*/ 260 w 378"/>
                <a:gd name="T67" fmla="*/ 476 h 480"/>
                <a:gd name="T68" fmla="*/ 277 w 378"/>
                <a:gd name="T69" fmla="*/ 444 h 480"/>
                <a:gd name="T70" fmla="*/ 245 w 378"/>
                <a:gd name="T71" fmla="*/ 427 h 480"/>
                <a:gd name="T72" fmla="*/ 228 w 378"/>
                <a:gd name="T73" fmla="*/ 445 h 480"/>
                <a:gd name="T74" fmla="*/ 189 w 378"/>
                <a:gd name="T75" fmla="*/ 447 h 480"/>
                <a:gd name="T76" fmla="*/ 20 w 378"/>
                <a:gd name="T77" fmla="*/ 368 h 480"/>
                <a:gd name="T78" fmla="*/ 20 w 378"/>
                <a:gd name="T79" fmla="*/ 325 h 480"/>
                <a:gd name="T80" fmla="*/ 189 w 378"/>
                <a:gd name="T81" fmla="*/ 379 h 480"/>
                <a:gd name="T82" fmla="*/ 359 w 378"/>
                <a:gd name="T83" fmla="*/ 324 h 480"/>
                <a:gd name="T84" fmla="*/ 359 w 378"/>
                <a:gd name="T85" fmla="*/ 368 h 480"/>
                <a:gd name="T86" fmla="*/ 339 w 378"/>
                <a:gd name="T87" fmla="*/ 404 h 480"/>
                <a:gd name="T88" fmla="*/ 320 w 378"/>
                <a:gd name="T89" fmla="*/ 403 h 480"/>
                <a:gd name="T90" fmla="*/ 304 w 378"/>
                <a:gd name="T91" fmla="*/ 435 h 480"/>
                <a:gd name="T92" fmla="*/ 336 w 378"/>
                <a:gd name="T93" fmla="*/ 452 h 480"/>
                <a:gd name="T94" fmla="*/ 353 w 378"/>
                <a:gd name="T95" fmla="*/ 420 h 480"/>
                <a:gd name="T96" fmla="*/ 352 w 378"/>
                <a:gd name="T97" fmla="*/ 419 h 480"/>
                <a:gd name="T98" fmla="*/ 378 w 378"/>
                <a:gd name="T99" fmla="*/ 369 h 480"/>
                <a:gd name="T100" fmla="*/ 378 w 378"/>
                <a:gd name="T101" fmla="*/ 303 h 480"/>
                <a:gd name="T102" fmla="*/ 378 w 378"/>
                <a:gd name="T103" fmla="*/ 303 h 480"/>
                <a:gd name="T104" fmla="*/ 378 w 378"/>
                <a:gd name="T105" fmla="*/ 302 h 480"/>
                <a:gd name="T106" fmla="*/ 378 w 378"/>
                <a:gd name="T107" fmla="*/ 280 h 480"/>
                <a:gd name="T108" fmla="*/ 378 w 378"/>
                <a:gd name="T109" fmla="*/ 236 h 480"/>
                <a:gd name="T110" fmla="*/ 378 w 378"/>
                <a:gd name="T111" fmla="*/ 104 h 480"/>
                <a:gd name="T112" fmla="*/ 378 w 378"/>
                <a:gd name="T113" fmla="*/ 104 h 480"/>
                <a:gd name="T114" fmla="*/ 378 w 378"/>
                <a:gd name="T115" fmla="*/ 99 h 480"/>
                <a:gd name="T116" fmla="*/ 189 w 378"/>
                <a:gd name="T11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8" h="480">
                  <a:moveTo>
                    <a:pt x="359" y="192"/>
                  </a:moveTo>
                  <a:lnTo>
                    <a:pt x="359" y="192"/>
                  </a:lnTo>
                  <a:cubicBezTo>
                    <a:pt x="359" y="235"/>
                    <a:pt x="281" y="271"/>
                    <a:pt x="189" y="271"/>
                  </a:cubicBezTo>
                  <a:cubicBezTo>
                    <a:pt x="97" y="271"/>
                    <a:pt x="20" y="235"/>
                    <a:pt x="20" y="192"/>
                  </a:cubicBezTo>
                  <a:lnTo>
                    <a:pt x="20" y="143"/>
                  </a:lnTo>
                  <a:cubicBezTo>
                    <a:pt x="50" y="176"/>
                    <a:pt x="114" y="197"/>
                    <a:pt x="189" y="197"/>
                  </a:cubicBezTo>
                  <a:cubicBezTo>
                    <a:pt x="264" y="197"/>
                    <a:pt x="328" y="176"/>
                    <a:pt x="359" y="143"/>
                  </a:cubicBezTo>
                  <a:lnTo>
                    <a:pt x="359" y="192"/>
                  </a:lnTo>
                  <a:close/>
                  <a:moveTo>
                    <a:pt x="189" y="359"/>
                  </a:moveTo>
                  <a:lnTo>
                    <a:pt x="189" y="359"/>
                  </a:lnTo>
                  <a:cubicBezTo>
                    <a:pt x="97" y="359"/>
                    <a:pt x="20" y="323"/>
                    <a:pt x="20" y="280"/>
                  </a:cubicBezTo>
                  <a:lnTo>
                    <a:pt x="20" y="236"/>
                  </a:lnTo>
                  <a:cubicBezTo>
                    <a:pt x="50" y="269"/>
                    <a:pt x="114" y="291"/>
                    <a:pt x="189" y="291"/>
                  </a:cubicBezTo>
                  <a:cubicBezTo>
                    <a:pt x="264" y="291"/>
                    <a:pt x="328" y="269"/>
                    <a:pt x="359" y="236"/>
                  </a:cubicBezTo>
                  <a:lnTo>
                    <a:pt x="359" y="280"/>
                  </a:lnTo>
                  <a:cubicBezTo>
                    <a:pt x="359" y="323"/>
                    <a:pt x="281" y="359"/>
                    <a:pt x="189" y="359"/>
                  </a:cubicBezTo>
                  <a:close/>
                  <a:moveTo>
                    <a:pt x="189" y="20"/>
                  </a:moveTo>
                  <a:lnTo>
                    <a:pt x="189" y="20"/>
                  </a:lnTo>
                  <a:cubicBezTo>
                    <a:pt x="281" y="20"/>
                    <a:pt x="359" y="56"/>
                    <a:pt x="359" y="99"/>
                  </a:cubicBezTo>
                  <a:cubicBezTo>
                    <a:pt x="359" y="142"/>
                    <a:pt x="281" y="178"/>
                    <a:pt x="189" y="178"/>
                  </a:cubicBezTo>
                  <a:cubicBezTo>
                    <a:pt x="97" y="178"/>
                    <a:pt x="20" y="142"/>
                    <a:pt x="20" y="99"/>
                  </a:cubicBezTo>
                  <a:cubicBezTo>
                    <a:pt x="20" y="56"/>
                    <a:pt x="97" y="20"/>
                    <a:pt x="189" y="20"/>
                  </a:cubicBezTo>
                  <a:close/>
                  <a:moveTo>
                    <a:pt x="189" y="0"/>
                  </a:moveTo>
                  <a:lnTo>
                    <a:pt x="189" y="0"/>
                  </a:lnTo>
                  <a:cubicBezTo>
                    <a:pt x="83" y="0"/>
                    <a:pt x="0" y="44"/>
                    <a:pt x="0" y="99"/>
                  </a:cubicBezTo>
                  <a:cubicBezTo>
                    <a:pt x="0" y="100"/>
                    <a:pt x="0" y="101"/>
                    <a:pt x="0" y="102"/>
                  </a:cubicBezTo>
                  <a:cubicBezTo>
                    <a:pt x="0" y="103"/>
                    <a:pt x="0" y="103"/>
                    <a:pt x="0" y="104"/>
                  </a:cubicBezTo>
                  <a:lnTo>
                    <a:pt x="0" y="236"/>
                  </a:lnTo>
                  <a:lnTo>
                    <a:pt x="0" y="368"/>
                  </a:lnTo>
                  <a:lnTo>
                    <a:pt x="0" y="369"/>
                  </a:lnTo>
                  <a:cubicBezTo>
                    <a:pt x="0" y="369"/>
                    <a:pt x="0" y="369"/>
                    <a:pt x="0" y="369"/>
                  </a:cubicBezTo>
                  <a:cubicBezTo>
                    <a:pt x="1" y="424"/>
                    <a:pt x="84" y="467"/>
                    <a:pt x="189" y="467"/>
                  </a:cubicBezTo>
                  <a:cubicBezTo>
                    <a:pt x="203" y="467"/>
                    <a:pt x="217" y="466"/>
                    <a:pt x="230" y="464"/>
                  </a:cubicBezTo>
                  <a:cubicBezTo>
                    <a:pt x="236" y="474"/>
                    <a:pt x="248" y="480"/>
                    <a:pt x="260" y="476"/>
                  </a:cubicBezTo>
                  <a:cubicBezTo>
                    <a:pt x="274" y="472"/>
                    <a:pt x="281" y="457"/>
                    <a:pt x="277" y="444"/>
                  </a:cubicBezTo>
                  <a:cubicBezTo>
                    <a:pt x="273" y="430"/>
                    <a:pt x="258" y="423"/>
                    <a:pt x="245" y="427"/>
                  </a:cubicBezTo>
                  <a:cubicBezTo>
                    <a:pt x="236" y="430"/>
                    <a:pt x="230" y="436"/>
                    <a:pt x="228" y="445"/>
                  </a:cubicBezTo>
                  <a:cubicBezTo>
                    <a:pt x="215" y="446"/>
                    <a:pt x="202" y="447"/>
                    <a:pt x="189" y="447"/>
                  </a:cubicBezTo>
                  <a:cubicBezTo>
                    <a:pt x="97" y="447"/>
                    <a:pt x="20" y="411"/>
                    <a:pt x="20" y="368"/>
                  </a:cubicBezTo>
                  <a:lnTo>
                    <a:pt x="20" y="325"/>
                  </a:lnTo>
                  <a:cubicBezTo>
                    <a:pt x="50" y="357"/>
                    <a:pt x="114" y="379"/>
                    <a:pt x="189" y="379"/>
                  </a:cubicBezTo>
                  <a:cubicBezTo>
                    <a:pt x="264" y="379"/>
                    <a:pt x="328" y="357"/>
                    <a:pt x="359" y="324"/>
                  </a:cubicBezTo>
                  <a:lnTo>
                    <a:pt x="359" y="368"/>
                  </a:lnTo>
                  <a:cubicBezTo>
                    <a:pt x="359" y="383"/>
                    <a:pt x="349" y="395"/>
                    <a:pt x="339" y="404"/>
                  </a:cubicBezTo>
                  <a:cubicBezTo>
                    <a:pt x="333" y="402"/>
                    <a:pt x="327" y="401"/>
                    <a:pt x="320" y="403"/>
                  </a:cubicBezTo>
                  <a:cubicBezTo>
                    <a:pt x="307" y="407"/>
                    <a:pt x="299" y="422"/>
                    <a:pt x="304" y="435"/>
                  </a:cubicBezTo>
                  <a:cubicBezTo>
                    <a:pt x="308" y="449"/>
                    <a:pt x="322" y="456"/>
                    <a:pt x="336" y="452"/>
                  </a:cubicBezTo>
                  <a:cubicBezTo>
                    <a:pt x="349" y="448"/>
                    <a:pt x="357" y="434"/>
                    <a:pt x="353" y="420"/>
                  </a:cubicBezTo>
                  <a:cubicBezTo>
                    <a:pt x="352" y="420"/>
                    <a:pt x="352" y="419"/>
                    <a:pt x="352" y="419"/>
                  </a:cubicBezTo>
                  <a:cubicBezTo>
                    <a:pt x="369" y="404"/>
                    <a:pt x="378" y="387"/>
                    <a:pt x="378" y="369"/>
                  </a:cubicBezTo>
                  <a:lnTo>
                    <a:pt x="378" y="303"/>
                  </a:lnTo>
                  <a:lnTo>
                    <a:pt x="378" y="303"/>
                  </a:lnTo>
                  <a:cubicBezTo>
                    <a:pt x="378" y="302"/>
                    <a:pt x="378" y="302"/>
                    <a:pt x="378" y="302"/>
                  </a:cubicBezTo>
                  <a:lnTo>
                    <a:pt x="378" y="280"/>
                  </a:lnTo>
                  <a:lnTo>
                    <a:pt x="378" y="236"/>
                  </a:lnTo>
                  <a:lnTo>
                    <a:pt x="378" y="104"/>
                  </a:lnTo>
                  <a:lnTo>
                    <a:pt x="378" y="104"/>
                  </a:lnTo>
                  <a:cubicBezTo>
                    <a:pt x="378" y="102"/>
                    <a:pt x="378" y="101"/>
                    <a:pt x="378" y="99"/>
                  </a:cubicBezTo>
                  <a:cubicBezTo>
                    <a:pt x="378" y="44"/>
                    <a:pt x="295" y="0"/>
                    <a:pt x="189" y="0"/>
                  </a:cubicBezTo>
                  <a:close/>
                </a:path>
              </a:pathLst>
            </a:custGeom>
            <a:grpFill/>
            <a:ln w="0">
              <a:solidFill>
                <a:srgbClr val="3ABABA"/>
              </a:solidFill>
              <a:prstDash val="solid"/>
              <a:round/>
              <a:headEnd/>
              <a:tailEnd/>
            </a:ln>
          </p:spPr>
          <p:txBody>
            <a:bodyPr/>
            <a:lstStyle/>
            <a:p>
              <a:pPr defTabSz="543689">
                <a:defRPr/>
              </a:pPr>
              <a:endParaRPr lang="zh-CN" altLang="en-US" sz="1200">
                <a:latin typeface="Arial" panose="020B0604020202020204" pitchFamily="34" charset="0"/>
                <a:ea typeface="+mn-ea"/>
                <a:cs typeface="+mn-ea"/>
                <a:sym typeface="+mn-lt"/>
              </a:endParaRPr>
            </a:p>
          </p:txBody>
        </p:sp>
        <p:sp>
          <p:nvSpPr>
            <p:cNvPr id="111" name="Freeform 220"/>
            <p:cNvSpPr>
              <a:spLocks/>
            </p:cNvSpPr>
            <p:nvPr/>
          </p:nvSpPr>
          <p:spPr bwMode="auto">
            <a:xfrm>
              <a:off x="8435975" y="2403475"/>
              <a:ext cx="26988" cy="25400"/>
            </a:xfrm>
            <a:custGeom>
              <a:avLst/>
              <a:gdLst>
                <a:gd name="T0" fmla="*/ 3 w 29"/>
                <a:gd name="T1" fmla="*/ 7 h 26"/>
                <a:gd name="T2" fmla="*/ 3 w 29"/>
                <a:gd name="T3" fmla="*/ 7 h 26"/>
                <a:gd name="T4" fmla="*/ 9 w 29"/>
                <a:gd name="T5" fmla="*/ 23 h 26"/>
                <a:gd name="T6" fmla="*/ 26 w 29"/>
                <a:gd name="T7" fmla="*/ 19 h 26"/>
                <a:gd name="T8" fmla="*/ 19 w 29"/>
                <a:gd name="T9" fmla="*/ 4 h 26"/>
                <a:gd name="T10" fmla="*/ 3 w 29"/>
                <a:gd name="T11" fmla="*/ 7 h 26"/>
              </a:gdLst>
              <a:ahLst/>
              <a:cxnLst>
                <a:cxn ang="0">
                  <a:pos x="T0" y="T1"/>
                </a:cxn>
                <a:cxn ang="0">
                  <a:pos x="T2" y="T3"/>
                </a:cxn>
                <a:cxn ang="0">
                  <a:pos x="T4" y="T5"/>
                </a:cxn>
                <a:cxn ang="0">
                  <a:pos x="T6" y="T7"/>
                </a:cxn>
                <a:cxn ang="0">
                  <a:pos x="T8" y="T9"/>
                </a:cxn>
                <a:cxn ang="0">
                  <a:pos x="T10" y="T11"/>
                </a:cxn>
              </a:cxnLst>
              <a:rect l="0" t="0" r="r" b="b"/>
              <a:pathLst>
                <a:path w="29" h="26">
                  <a:moveTo>
                    <a:pt x="3" y="7"/>
                  </a:moveTo>
                  <a:lnTo>
                    <a:pt x="3" y="7"/>
                  </a:lnTo>
                  <a:cubicBezTo>
                    <a:pt x="0" y="12"/>
                    <a:pt x="3" y="19"/>
                    <a:pt x="9" y="23"/>
                  </a:cubicBezTo>
                  <a:cubicBezTo>
                    <a:pt x="16" y="26"/>
                    <a:pt x="23" y="24"/>
                    <a:pt x="26" y="19"/>
                  </a:cubicBezTo>
                  <a:cubicBezTo>
                    <a:pt x="29" y="14"/>
                    <a:pt x="26" y="7"/>
                    <a:pt x="19" y="4"/>
                  </a:cubicBezTo>
                  <a:cubicBezTo>
                    <a:pt x="13" y="0"/>
                    <a:pt x="5" y="2"/>
                    <a:pt x="3" y="7"/>
                  </a:cubicBezTo>
                  <a:close/>
                </a:path>
              </a:pathLst>
            </a:custGeom>
            <a:grpFill/>
            <a:ln w="0">
              <a:solidFill>
                <a:srgbClr val="3ABABA"/>
              </a:solidFill>
              <a:prstDash val="solid"/>
              <a:round/>
              <a:headEnd/>
              <a:tailEnd/>
            </a:ln>
          </p:spPr>
          <p:txBody>
            <a:bodyPr/>
            <a:lstStyle/>
            <a:p>
              <a:pPr defTabSz="543689">
                <a:defRPr/>
              </a:pPr>
              <a:endParaRPr lang="zh-CN" altLang="en-US" sz="1200">
                <a:latin typeface="Arial" panose="020B0604020202020204" pitchFamily="34" charset="0"/>
                <a:ea typeface="+mn-ea"/>
                <a:cs typeface="+mn-ea"/>
                <a:sym typeface="+mn-lt"/>
              </a:endParaRPr>
            </a:p>
          </p:txBody>
        </p:sp>
        <p:sp>
          <p:nvSpPr>
            <p:cNvPr id="112" name="Freeform 221"/>
            <p:cNvSpPr>
              <a:spLocks/>
            </p:cNvSpPr>
            <p:nvPr/>
          </p:nvSpPr>
          <p:spPr bwMode="auto">
            <a:xfrm>
              <a:off x="8435975" y="2319338"/>
              <a:ext cx="26988" cy="25400"/>
            </a:xfrm>
            <a:custGeom>
              <a:avLst/>
              <a:gdLst>
                <a:gd name="T0" fmla="*/ 19 w 29"/>
                <a:gd name="T1" fmla="*/ 3 h 26"/>
                <a:gd name="T2" fmla="*/ 19 w 29"/>
                <a:gd name="T3" fmla="*/ 3 h 26"/>
                <a:gd name="T4" fmla="*/ 3 w 29"/>
                <a:gd name="T5" fmla="*/ 7 h 26"/>
                <a:gd name="T6" fmla="*/ 9 w 29"/>
                <a:gd name="T7" fmla="*/ 22 h 26"/>
                <a:gd name="T8" fmla="*/ 26 w 29"/>
                <a:gd name="T9" fmla="*/ 19 h 26"/>
                <a:gd name="T10" fmla="*/ 19 w 29"/>
                <a:gd name="T11" fmla="*/ 3 h 26"/>
              </a:gdLst>
              <a:ahLst/>
              <a:cxnLst>
                <a:cxn ang="0">
                  <a:pos x="T0" y="T1"/>
                </a:cxn>
                <a:cxn ang="0">
                  <a:pos x="T2" y="T3"/>
                </a:cxn>
                <a:cxn ang="0">
                  <a:pos x="T4" y="T5"/>
                </a:cxn>
                <a:cxn ang="0">
                  <a:pos x="T6" y="T7"/>
                </a:cxn>
                <a:cxn ang="0">
                  <a:pos x="T8" y="T9"/>
                </a:cxn>
                <a:cxn ang="0">
                  <a:pos x="T10" y="T11"/>
                </a:cxn>
              </a:cxnLst>
              <a:rect l="0" t="0" r="r" b="b"/>
              <a:pathLst>
                <a:path w="29" h="26">
                  <a:moveTo>
                    <a:pt x="19" y="3"/>
                  </a:moveTo>
                  <a:lnTo>
                    <a:pt x="19" y="3"/>
                  </a:lnTo>
                  <a:cubicBezTo>
                    <a:pt x="13" y="0"/>
                    <a:pt x="5" y="2"/>
                    <a:pt x="3" y="7"/>
                  </a:cubicBezTo>
                  <a:cubicBezTo>
                    <a:pt x="0" y="12"/>
                    <a:pt x="3" y="19"/>
                    <a:pt x="9" y="22"/>
                  </a:cubicBezTo>
                  <a:cubicBezTo>
                    <a:pt x="16" y="26"/>
                    <a:pt x="23" y="24"/>
                    <a:pt x="26" y="19"/>
                  </a:cubicBezTo>
                  <a:cubicBezTo>
                    <a:pt x="29" y="13"/>
                    <a:pt x="26" y="7"/>
                    <a:pt x="19" y="3"/>
                  </a:cubicBezTo>
                  <a:close/>
                </a:path>
              </a:pathLst>
            </a:custGeom>
            <a:grpFill/>
            <a:ln w="0">
              <a:solidFill>
                <a:srgbClr val="3ABABA"/>
              </a:solidFill>
              <a:prstDash val="solid"/>
              <a:round/>
              <a:headEnd/>
              <a:tailEnd/>
            </a:ln>
          </p:spPr>
          <p:txBody>
            <a:bodyPr/>
            <a:lstStyle/>
            <a:p>
              <a:pPr defTabSz="543689">
                <a:defRPr/>
              </a:pPr>
              <a:endParaRPr lang="zh-CN" altLang="en-US" sz="1200">
                <a:latin typeface="Arial" panose="020B0604020202020204" pitchFamily="34" charset="0"/>
                <a:ea typeface="+mn-ea"/>
                <a:cs typeface="+mn-ea"/>
                <a:sym typeface="+mn-lt"/>
              </a:endParaRPr>
            </a:p>
          </p:txBody>
        </p:sp>
        <p:sp>
          <p:nvSpPr>
            <p:cNvPr id="113" name="Freeform 222"/>
            <p:cNvSpPr>
              <a:spLocks/>
            </p:cNvSpPr>
            <p:nvPr/>
          </p:nvSpPr>
          <p:spPr bwMode="auto">
            <a:xfrm>
              <a:off x="8435975" y="2235200"/>
              <a:ext cx="26988" cy="23813"/>
            </a:xfrm>
            <a:custGeom>
              <a:avLst/>
              <a:gdLst>
                <a:gd name="T0" fmla="*/ 19 w 29"/>
                <a:gd name="T1" fmla="*/ 3 h 25"/>
                <a:gd name="T2" fmla="*/ 19 w 29"/>
                <a:gd name="T3" fmla="*/ 3 h 25"/>
                <a:gd name="T4" fmla="*/ 3 w 29"/>
                <a:gd name="T5" fmla="*/ 6 h 25"/>
                <a:gd name="T6" fmla="*/ 9 w 29"/>
                <a:gd name="T7" fmla="*/ 22 h 25"/>
                <a:gd name="T8" fmla="*/ 26 w 29"/>
                <a:gd name="T9" fmla="*/ 18 h 25"/>
                <a:gd name="T10" fmla="*/ 19 w 29"/>
                <a:gd name="T11" fmla="*/ 3 h 25"/>
              </a:gdLst>
              <a:ahLst/>
              <a:cxnLst>
                <a:cxn ang="0">
                  <a:pos x="T0" y="T1"/>
                </a:cxn>
                <a:cxn ang="0">
                  <a:pos x="T2" y="T3"/>
                </a:cxn>
                <a:cxn ang="0">
                  <a:pos x="T4" y="T5"/>
                </a:cxn>
                <a:cxn ang="0">
                  <a:pos x="T6" y="T7"/>
                </a:cxn>
                <a:cxn ang="0">
                  <a:pos x="T8" y="T9"/>
                </a:cxn>
                <a:cxn ang="0">
                  <a:pos x="T10" y="T11"/>
                </a:cxn>
              </a:cxnLst>
              <a:rect l="0" t="0" r="r" b="b"/>
              <a:pathLst>
                <a:path w="29" h="25">
                  <a:moveTo>
                    <a:pt x="19" y="3"/>
                  </a:moveTo>
                  <a:lnTo>
                    <a:pt x="19" y="3"/>
                  </a:lnTo>
                  <a:cubicBezTo>
                    <a:pt x="13" y="0"/>
                    <a:pt x="5" y="1"/>
                    <a:pt x="3" y="6"/>
                  </a:cubicBezTo>
                  <a:cubicBezTo>
                    <a:pt x="0" y="12"/>
                    <a:pt x="3" y="19"/>
                    <a:pt x="9" y="22"/>
                  </a:cubicBezTo>
                  <a:cubicBezTo>
                    <a:pt x="16" y="25"/>
                    <a:pt x="23" y="24"/>
                    <a:pt x="26" y="18"/>
                  </a:cubicBezTo>
                  <a:cubicBezTo>
                    <a:pt x="29" y="13"/>
                    <a:pt x="26" y="6"/>
                    <a:pt x="19" y="3"/>
                  </a:cubicBezTo>
                  <a:close/>
                </a:path>
              </a:pathLst>
            </a:custGeom>
            <a:grpFill/>
            <a:ln w="0">
              <a:solidFill>
                <a:srgbClr val="3ABABA"/>
              </a:solidFill>
              <a:prstDash val="solid"/>
              <a:round/>
              <a:headEnd/>
              <a:tailEnd/>
            </a:ln>
          </p:spPr>
          <p:txBody>
            <a:bodyPr/>
            <a:lstStyle/>
            <a:p>
              <a:pPr defTabSz="543689">
                <a:defRPr/>
              </a:pPr>
              <a:endParaRPr lang="zh-CN" altLang="en-US" sz="1200">
                <a:latin typeface="Arial" panose="020B0604020202020204" pitchFamily="34" charset="0"/>
                <a:ea typeface="+mn-ea"/>
                <a:cs typeface="+mn-ea"/>
                <a:sym typeface="+mn-lt"/>
              </a:endParaRPr>
            </a:p>
          </p:txBody>
        </p:sp>
      </p:grpSp>
      <p:sp>
        <p:nvSpPr>
          <p:cNvPr id="115" name="文本框 114"/>
          <p:cNvSpPr txBox="1"/>
          <p:nvPr/>
        </p:nvSpPr>
        <p:spPr bwMode="auto">
          <a:xfrm>
            <a:off x="7644172" y="4977172"/>
            <a:ext cx="97210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SAN/NAS</a:t>
            </a:r>
          </a:p>
        </p:txBody>
      </p:sp>
      <p:sp>
        <p:nvSpPr>
          <p:cNvPr id="116" name="文本框 115"/>
          <p:cNvSpPr txBox="1"/>
          <p:nvPr/>
        </p:nvSpPr>
        <p:spPr bwMode="auto">
          <a:xfrm>
            <a:off x="5591944" y="3320988"/>
            <a:ext cx="97210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LUN</a:t>
            </a:r>
          </a:p>
        </p:txBody>
      </p:sp>
      <p:sp>
        <p:nvSpPr>
          <p:cNvPr id="117" name="文本框 116"/>
          <p:cNvSpPr txBox="1"/>
          <p:nvPr/>
        </p:nvSpPr>
        <p:spPr bwMode="auto">
          <a:xfrm>
            <a:off x="7464152" y="3212976"/>
            <a:ext cx="126014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Shared catalog</a:t>
            </a:r>
          </a:p>
        </p:txBody>
      </p:sp>
      <p:sp>
        <p:nvSpPr>
          <p:cNvPr id="118" name="文本框 117"/>
          <p:cNvSpPr txBox="1"/>
          <p:nvPr/>
        </p:nvSpPr>
        <p:spPr bwMode="auto">
          <a:xfrm>
            <a:off x="5609946" y="1715515"/>
            <a:ext cx="97210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RDM</a:t>
            </a:r>
          </a:p>
        </p:txBody>
      </p:sp>
      <p:sp>
        <p:nvSpPr>
          <p:cNvPr id="119" name="文本框 118"/>
          <p:cNvSpPr txBox="1"/>
          <p:nvPr/>
        </p:nvSpPr>
        <p:spPr bwMode="auto">
          <a:xfrm>
            <a:off x="7572164" y="1484784"/>
            <a:ext cx="972108"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Virtualized storage</a:t>
            </a:r>
          </a:p>
        </p:txBody>
      </p:sp>
      <p:sp>
        <p:nvSpPr>
          <p:cNvPr id="120" name="文本框 119"/>
          <p:cNvSpPr txBox="1"/>
          <p:nvPr/>
        </p:nvSpPr>
        <p:spPr bwMode="auto">
          <a:xfrm>
            <a:off x="8976320" y="1520788"/>
            <a:ext cx="1235022"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Non-virtualized storage</a:t>
            </a:r>
          </a:p>
        </p:txBody>
      </p:sp>
      <p:sp>
        <p:nvSpPr>
          <p:cNvPr id="114" name="文本框 113"/>
          <p:cNvSpPr txBox="1"/>
          <p:nvPr/>
        </p:nvSpPr>
        <p:spPr bwMode="auto">
          <a:xfrm>
            <a:off x="5447928" y="4617132"/>
            <a:ext cx="1260140" cy="457991"/>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sz="1200" dirty="0">
                <a:solidFill>
                  <a:srgbClr val="C00000"/>
                </a:solidFill>
                <a:latin typeface="Arial" panose="020B0604020202020204" pitchFamily="34" charset="0"/>
                <a:ea typeface="+mn-ea"/>
              </a:rPr>
              <a:t>FusionStorage</a:t>
            </a:r>
          </a:p>
          <a:p>
            <a:pPr algn="ctr"/>
            <a:r>
              <a:rPr lang="en-US" sz="1200" dirty="0">
                <a:solidFill>
                  <a:srgbClr val="C00000"/>
                </a:solidFill>
                <a:latin typeface="Arial" panose="020B0604020202020204" pitchFamily="34" charset="0"/>
                <a:ea typeface="+mn-ea"/>
              </a:rPr>
              <a:t> Block</a:t>
            </a:r>
          </a:p>
        </p:txBody>
      </p:sp>
    </p:spTree>
    <p:extLst>
      <p:ext uri="{BB962C8B-B14F-4D97-AF65-F5344CB8AC3E}">
        <p14:creationId xmlns:p14="http://schemas.microsoft.com/office/powerpoint/2010/main" val="1766646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latin typeface="Arial" panose="020B0604020202020204" pitchFamily="34" charset="0"/>
              </a:rPr>
              <a:t>Huawei Virtual Disk Features</a:t>
            </a:r>
          </a:p>
        </p:txBody>
      </p:sp>
      <p:grpSp>
        <p:nvGrpSpPr>
          <p:cNvPr id="17" name="îS1ïḓê"/>
          <p:cNvGrpSpPr/>
          <p:nvPr/>
        </p:nvGrpSpPr>
        <p:grpSpPr>
          <a:xfrm>
            <a:off x="6917453" y="2100605"/>
            <a:ext cx="3967079" cy="940970"/>
            <a:chOff x="4365625" y="1639157"/>
            <a:chExt cx="4958848" cy="1176212"/>
          </a:xfrm>
        </p:grpSpPr>
        <p:sp>
          <p:nvSpPr>
            <p:cNvPr id="20" name="î$liď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BD7C3AA6-EC85-44CE-AA92-EFD8B554DA01}"/>
                </a:ext>
              </a:extLst>
            </p:cNvPr>
            <p:cNvSpPr/>
            <p:nvPr/>
          </p:nvSpPr>
          <p:spPr bwMode="auto">
            <a:xfrm>
              <a:off x="5157251" y="1639157"/>
              <a:ext cx="4167222" cy="1176212"/>
            </a:xfrm>
            <a:prstGeom prst="rect">
              <a:avLst/>
            </a:prstGeom>
            <a:noFill/>
            <a:ln w="3175">
              <a:no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92500" lnSpcReduction="20000"/>
            </a:bodyPr>
            <a:lstStyle>
              <a:defPPr>
                <a:defRPr lang="zh-CN"/>
              </a:defPPr>
              <a:lvl1pPr algn="l" rtl="0" fontAlgn="t">
                <a:spcBef>
                  <a:spcPct val="0"/>
                </a:spcBef>
                <a:spcAft>
                  <a:spcPct val="0"/>
                </a:spcAft>
                <a:defRPr sz="1000" kern="1200">
                  <a:solidFill>
                    <a:schemeClr val="dk1"/>
                  </a:solidFill>
                  <a:latin typeface="+mn-lt"/>
                  <a:ea typeface="+mn-ea"/>
                  <a:cs typeface="+mn-cs"/>
                </a:defRPr>
              </a:lvl1pPr>
              <a:lvl2pPr marL="457200" algn="l" rtl="0" fontAlgn="t">
                <a:spcBef>
                  <a:spcPct val="0"/>
                </a:spcBef>
                <a:spcAft>
                  <a:spcPct val="0"/>
                </a:spcAft>
                <a:defRPr sz="1000" kern="1200">
                  <a:solidFill>
                    <a:schemeClr val="dk1"/>
                  </a:solidFill>
                  <a:latin typeface="+mn-lt"/>
                  <a:ea typeface="+mn-ea"/>
                  <a:cs typeface="+mn-cs"/>
                </a:defRPr>
              </a:lvl2pPr>
              <a:lvl3pPr marL="914400" algn="l" rtl="0" fontAlgn="t">
                <a:spcBef>
                  <a:spcPct val="0"/>
                </a:spcBef>
                <a:spcAft>
                  <a:spcPct val="0"/>
                </a:spcAft>
                <a:defRPr sz="1000" kern="1200">
                  <a:solidFill>
                    <a:schemeClr val="dk1"/>
                  </a:solidFill>
                  <a:latin typeface="+mn-lt"/>
                  <a:ea typeface="+mn-ea"/>
                  <a:cs typeface="+mn-cs"/>
                </a:defRPr>
              </a:lvl3pPr>
              <a:lvl4pPr marL="1371600" algn="l" rtl="0" fontAlgn="t">
                <a:spcBef>
                  <a:spcPct val="0"/>
                </a:spcBef>
                <a:spcAft>
                  <a:spcPct val="0"/>
                </a:spcAft>
                <a:defRPr sz="1000" kern="1200">
                  <a:solidFill>
                    <a:schemeClr val="dk1"/>
                  </a:solidFill>
                  <a:latin typeface="+mn-lt"/>
                  <a:ea typeface="+mn-ea"/>
                  <a:cs typeface="+mn-cs"/>
                </a:defRPr>
              </a:lvl4pPr>
              <a:lvl5pPr marL="1828800" algn="l" rtl="0" fontAlgn="t">
                <a:spcBef>
                  <a:spcPct val="0"/>
                </a:spcBef>
                <a:spcAft>
                  <a:spcPct val="0"/>
                </a:spcAft>
                <a:defRPr sz="1000" kern="1200">
                  <a:solidFill>
                    <a:schemeClr val="dk1"/>
                  </a:solidFill>
                  <a:latin typeface="+mn-lt"/>
                  <a:ea typeface="+mn-ea"/>
                  <a:cs typeface="+mn-cs"/>
                </a:defRPr>
              </a:lvl5pPr>
              <a:lvl6pPr marL="2286000" algn="l" defTabSz="914400" rtl="0" eaLnBrk="1" latinLnBrk="0" hangingPunct="1">
                <a:defRPr sz="1000" kern="1200">
                  <a:solidFill>
                    <a:schemeClr val="dk1"/>
                  </a:solidFill>
                  <a:latin typeface="+mn-lt"/>
                  <a:ea typeface="+mn-ea"/>
                  <a:cs typeface="+mn-cs"/>
                </a:defRPr>
              </a:lvl6pPr>
              <a:lvl7pPr marL="2743200" algn="l" defTabSz="914400" rtl="0" eaLnBrk="1" latinLnBrk="0" hangingPunct="1">
                <a:defRPr sz="1000" kern="1200">
                  <a:solidFill>
                    <a:schemeClr val="dk1"/>
                  </a:solidFill>
                  <a:latin typeface="+mn-lt"/>
                  <a:ea typeface="+mn-ea"/>
                  <a:cs typeface="+mn-cs"/>
                </a:defRPr>
              </a:lvl7pPr>
              <a:lvl8pPr marL="3200400" algn="l" defTabSz="914400" rtl="0" eaLnBrk="1" latinLnBrk="0" hangingPunct="1">
                <a:defRPr sz="1000" kern="1200">
                  <a:solidFill>
                    <a:schemeClr val="dk1"/>
                  </a:solidFill>
                  <a:latin typeface="+mn-lt"/>
                  <a:ea typeface="+mn-ea"/>
                  <a:cs typeface="+mn-cs"/>
                </a:defRPr>
              </a:lvl8pPr>
              <a:lvl9pPr marL="3657600" algn="l" defTabSz="914400" rtl="0" eaLnBrk="1" latinLnBrk="0" hangingPunct="1">
                <a:defRPr sz="1000" kern="1200">
                  <a:solidFill>
                    <a:schemeClr val="dk1"/>
                  </a:solidFill>
                  <a:latin typeface="+mn-lt"/>
                  <a:ea typeface="+mn-ea"/>
                  <a:cs typeface="+mn-cs"/>
                </a:defRPr>
              </a:lvl9pPr>
            </a:lstStyle>
            <a:p>
              <a:pPr>
                <a:lnSpc>
                  <a:spcPct val="150000"/>
                </a:lnSpc>
              </a:pPr>
              <a:r>
                <a:rPr lang="en-US" sz="1700" dirty="0">
                  <a:latin typeface="Arial" panose="020B0604020202020204" pitchFamily="34" charset="0"/>
                </a:rPr>
                <a:t>Type</a:t>
              </a:r>
            </a:p>
            <a:p>
              <a:pPr marL="285750" indent="-285750">
                <a:lnSpc>
                  <a:spcPct val="150000"/>
                </a:lnSpc>
                <a:buFont typeface="Arial" panose="020B0604020202020204" pitchFamily="34" charset="0"/>
                <a:buChar char="•"/>
              </a:pPr>
              <a:r>
                <a:rPr lang="en-US" sz="1400" dirty="0">
                  <a:latin typeface="Arial" panose="020B0604020202020204" pitchFamily="34" charset="0"/>
                </a:rPr>
                <a:t>Common</a:t>
              </a:r>
            </a:p>
            <a:p>
              <a:pPr marL="285750" indent="-285750">
                <a:lnSpc>
                  <a:spcPct val="150000"/>
                </a:lnSpc>
                <a:buFont typeface="Arial" panose="020B0604020202020204" pitchFamily="34" charset="0"/>
                <a:buChar char="•"/>
              </a:pPr>
              <a:r>
                <a:rPr lang="en-US" sz="1400" dirty="0">
                  <a:latin typeface="Arial" panose="020B0604020202020204" pitchFamily="34" charset="0"/>
                </a:rPr>
                <a:t>Shared</a:t>
              </a:r>
            </a:p>
          </p:txBody>
        </p:sp>
        <p:sp>
          <p:nvSpPr>
            <p:cNvPr id="30" name="îṧḻiḍe"/>
            <p:cNvSpPr/>
            <p:nvPr/>
          </p:nvSpPr>
          <p:spPr>
            <a:xfrm>
              <a:off x="4365625" y="1880184"/>
              <a:ext cx="586874" cy="50365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608133" h="521902">
                  <a:moveTo>
                    <a:pt x="304032" y="341857"/>
                  </a:moveTo>
                  <a:cubicBezTo>
                    <a:pt x="259974" y="341857"/>
                    <a:pt x="223485" y="375178"/>
                    <a:pt x="218633" y="417992"/>
                  </a:cubicBezTo>
                  <a:lnTo>
                    <a:pt x="389527" y="417992"/>
                  </a:lnTo>
                  <a:cubicBezTo>
                    <a:pt x="384675" y="375178"/>
                    <a:pt x="348187" y="341857"/>
                    <a:pt x="304032" y="341857"/>
                  </a:cubicBezTo>
                  <a:close/>
                  <a:moveTo>
                    <a:pt x="304032" y="322484"/>
                  </a:moveTo>
                  <a:cubicBezTo>
                    <a:pt x="362161" y="322484"/>
                    <a:pt x="409421" y="369657"/>
                    <a:pt x="409421" y="427679"/>
                  </a:cubicBezTo>
                  <a:cubicBezTo>
                    <a:pt x="409421" y="433006"/>
                    <a:pt x="405151" y="437365"/>
                    <a:pt x="399717" y="437365"/>
                  </a:cubicBezTo>
                  <a:lnTo>
                    <a:pt x="208347" y="437365"/>
                  </a:lnTo>
                  <a:cubicBezTo>
                    <a:pt x="203009" y="437365"/>
                    <a:pt x="198642" y="433006"/>
                    <a:pt x="198642" y="427679"/>
                  </a:cubicBezTo>
                  <a:cubicBezTo>
                    <a:pt x="198642" y="369657"/>
                    <a:pt x="245903" y="322484"/>
                    <a:pt x="304032" y="322484"/>
                  </a:cubicBezTo>
                  <a:close/>
                  <a:moveTo>
                    <a:pt x="436242" y="318956"/>
                  </a:moveTo>
                  <a:cubicBezTo>
                    <a:pt x="480396" y="318956"/>
                    <a:pt x="516398" y="354803"/>
                    <a:pt x="516398" y="398886"/>
                  </a:cubicBezTo>
                  <a:cubicBezTo>
                    <a:pt x="516398" y="404214"/>
                    <a:pt x="512031" y="408574"/>
                    <a:pt x="506694" y="408574"/>
                  </a:cubicBezTo>
                  <a:lnTo>
                    <a:pt x="436242" y="408574"/>
                  </a:lnTo>
                  <a:cubicBezTo>
                    <a:pt x="430905" y="408574"/>
                    <a:pt x="426538" y="404214"/>
                    <a:pt x="426538" y="398886"/>
                  </a:cubicBezTo>
                  <a:cubicBezTo>
                    <a:pt x="426538" y="393557"/>
                    <a:pt x="430905" y="389197"/>
                    <a:pt x="436242" y="389197"/>
                  </a:cubicBezTo>
                  <a:lnTo>
                    <a:pt x="496214" y="389197"/>
                  </a:lnTo>
                  <a:cubicBezTo>
                    <a:pt x="491556" y="360326"/>
                    <a:pt x="466422" y="338333"/>
                    <a:pt x="436242" y="338333"/>
                  </a:cubicBezTo>
                  <a:cubicBezTo>
                    <a:pt x="426247" y="338333"/>
                    <a:pt x="416349" y="340755"/>
                    <a:pt x="407615" y="345406"/>
                  </a:cubicBezTo>
                  <a:cubicBezTo>
                    <a:pt x="402957" y="347925"/>
                    <a:pt x="397037" y="346181"/>
                    <a:pt x="394514" y="341433"/>
                  </a:cubicBezTo>
                  <a:cubicBezTo>
                    <a:pt x="391991" y="336783"/>
                    <a:pt x="393738" y="330873"/>
                    <a:pt x="398493" y="328354"/>
                  </a:cubicBezTo>
                  <a:cubicBezTo>
                    <a:pt x="410041" y="322153"/>
                    <a:pt x="423044" y="318956"/>
                    <a:pt x="436242" y="318956"/>
                  </a:cubicBezTo>
                  <a:close/>
                  <a:moveTo>
                    <a:pt x="171724" y="318956"/>
                  </a:moveTo>
                  <a:cubicBezTo>
                    <a:pt x="184921" y="318956"/>
                    <a:pt x="198022" y="322153"/>
                    <a:pt x="209570" y="328354"/>
                  </a:cubicBezTo>
                  <a:cubicBezTo>
                    <a:pt x="214228" y="330873"/>
                    <a:pt x="216072" y="336783"/>
                    <a:pt x="213549" y="341433"/>
                  </a:cubicBezTo>
                  <a:cubicBezTo>
                    <a:pt x="210929" y="346181"/>
                    <a:pt x="205107" y="347925"/>
                    <a:pt x="200352" y="345406"/>
                  </a:cubicBezTo>
                  <a:cubicBezTo>
                    <a:pt x="191617" y="340755"/>
                    <a:pt x="181719" y="338333"/>
                    <a:pt x="171724" y="338333"/>
                  </a:cubicBezTo>
                  <a:cubicBezTo>
                    <a:pt x="141641" y="338333"/>
                    <a:pt x="116507" y="360326"/>
                    <a:pt x="111849" y="389197"/>
                  </a:cubicBezTo>
                  <a:lnTo>
                    <a:pt x="172597" y="389197"/>
                  </a:lnTo>
                  <a:cubicBezTo>
                    <a:pt x="178032" y="389197"/>
                    <a:pt x="182301" y="393557"/>
                    <a:pt x="182301" y="398886"/>
                  </a:cubicBezTo>
                  <a:cubicBezTo>
                    <a:pt x="182301" y="404214"/>
                    <a:pt x="178032" y="408574"/>
                    <a:pt x="172597" y="408574"/>
                  </a:cubicBezTo>
                  <a:lnTo>
                    <a:pt x="101369" y="408574"/>
                  </a:lnTo>
                  <a:cubicBezTo>
                    <a:pt x="96032" y="408574"/>
                    <a:pt x="91665" y="404214"/>
                    <a:pt x="91665" y="398886"/>
                  </a:cubicBezTo>
                  <a:cubicBezTo>
                    <a:pt x="91665" y="354803"/>
                    <a:pt x="127570" y="318956"/>
                    <a:pt x="171724" y="318956"/>
                  </a:cubicBezTo>
                  <a:close/>
                  <a:moveTo>
                    <a:pt x="436271" y="221979"/>
                  </a:moveTo>
                  <a:cubicBezTo>
                    <a:pt x="420261" y="221979"/>
                    <a:pt x="407163" y="235064"/>
                    <a:pt x="407163" y="251058"/>
                  </a:cubicBezTo>
                  <a:cubicBezTo>
                    <a:pt x="407163" y="267148"/>
                    <a:pt x="420261" y="280234"/>
                    <a:pt x="436271" y="280234"/>
                  </a:cubicBezTo>
                  <a:cubicBezTo>
                    <a:pt x="452377" y="280234"/>
                    <a:pt x="465379" y="267148"/>
                    <a:pt x="465379" y="251058"/>
                  </a:cubicBezTo>
                  <a:cubicBezTo>
                    <a:pt x="465379" y="235064"/>
                    <a:pt x="452377" y="221979"/>
                    <a:pt x="436271" y="221979"/>
                  </a:cubicBezTo>
                  <a:close/>
                  <a:moveTo>
                    <a:pt x="171743" y="221979"/>
                  </a:moveTo>
                  <a:cubicBezTo>
                    <a:pt x="155726" y="221979"/>
                    <a:pt x="142621" y="235064"/>
                    <a:pt x="142621" y="251058"/>
                  </a:cubicBezTo>
                  <a:cubicBezTo>
                    <a:pt x="142621" y="267148"/>
                    <a:pt x="155726" y="280234"/>
                    <a:pt x="171743" y="280234"/>
                  </a:cubicBezTo>
                  <a:cubicBezTo>
                    <a:pt x="187857" y="280234"/>
                    <a:pt x="200962" y="267148"/>
                    <a:pt x="200962" y="251058"/>
                  </a:cubicBezTo>
                  <a:cubicBezTo>
                    <a:pt x="200962" y="235064"/>
                    <a:pt x="187857" y="221979"/>
                    <a:pt x="171743" y="221979"/>
                  </a:cubicBezTo>
                  <a:close/>
                  <a:moveTo>
                    <a:pt x="436271" y="202593"/>
                  </a:moveTo>
                  <a:cubicBezTo>
                    <a:pt x="463050" y="202593"/>
                    <a:pt x="484784" y="224305"/>
                    <a:pt x="484784" y="251058"/>
                  </a:cubicBezTo>
                  <a:cubicBezTo>
                    <a:pt x="484784" y="277810"/>
                    <a:pt x="463050" y="299620"/>
                    <a:pt x="436271" y="299620"/>
                  </a:cubicBezTo>
                  <a:cubicBezTo>
                    <a:pt x="409491" y="299620"/>
                    <a:pt x="387757" y="277810"/>
                    <a:pt x="387757" y="251058"/>
                  </a:cubicBezTo>
                  <a:cubicBezTo>
                    <a:pt x="387757" y="224305"/>
                    <a:pt x="409491" y="202593"/>
                    <a:pt x="436271" y="202593"/>
                  </a:cubicBezTo>
                  <a:close/>
                  <a:moveTo>
                    <a:pt x="171743" y="202593"/>
                  </a:moveTo>
                  <a:cubicBezTo>
                    <a:pt x="198535" y="202593"/>
                    <a:pt x="220376" y="224305"/>
                    <a:pt x="220376" y="251058"/>
                  </a:cubicBezTo>
                  <a:cubicBezTo>
                    <a:pt x="220376" y="277810"/>
                    <a:pt x="198535" y="299620"/>
                    <a:pt x="171743" y="299620"/>
                  </a:cubicBezTo>
                  <a:cubicBezTo>
                    <a:pt x="145048" y="299620"/>
                    <a:pt x="123207" y="277810"/>
                    <a:pt x="123207" y="251058"/>
                  </a:cubicBezTo>
                  <a:cubicBezTo>
                    <a:pt x="123207" y="224305"/>
                    <a:pt x="145048" y="202593"/>
                    <a:pt x="171743" y="202593"/>
                  </a:cubicBezTo>
                  <a:close/>
                  <a:moveTo>
                    <a:pt x="304032" y="197691"/>
                  </a:moveTo>
                  <a:cubicBezTo>
                    <a:pt x="280260" y="197691"/>
                    <a:pt x="260952" y="216967"/>
                    <a:pt x="260952" y="240699"/>
                  </a:cubicBezTo>
                  <a:cubicBezTo>
                    <a:pt x="260952" y="264333"/>
                    <a:pt x="280260" y="283706"/>
                    <a:pt x="304032" y="283706"/>
                  </a:cubicBezTo>
                  <a:cubicBezTo>
                    <a:pt x="327803" y="283706"/>
                    <a:pt x="347112" y="264333"/>
                    <a:pt x="347112" y="240699"/>
                  </a:cubicBezTo>
                  <a:cubicBezTo>
                    <a:pt x="347112" y="216967"/>
                    <a:pt x="327803" y="197691"/>
                    <a:pt x="304032" y="197691"/>
                  </a:cubicBezTo>
                  <a:close/>
                  <a:moveTo>
                    <a:pt x="304032" y="178319"/>
                  </a:moveTo>
                  <a:cubicBezTo>
                    <a:pt x="338476" y="178319"/>
                    <a:pt x="366517" y="206215"/>
                    <a:pt x="366517" y="240699"/>
                  </a:cubicBezTo>
                  <a:cubicBezTo>
                    <a:pt x="366517" y="275085"/>
                    <a:pt x="338476" y="303079"/>
                    <a:pt x="304032" y="303079"/>
                  </a:cubicBezTo>
                  <a:cubicBezTo>
                    <a:pt x="269587" y="303079"/>
                    <a:pt x="241546" y="275085"/>
                    <a:pt x="241546" y="240699"/>
                  </a:cubicBezTo>
                  <a:cubicBezTo>
                    <a:pt x="241546" y="206215"/>
                    <a:pt x="269587" y="178319"/>
                    <a:pt x="304032" y="178319"/>
                  </a:cubicBezTo>
                  <a:close/>
                  <a:moveTo>
                    <a:pt x="51721" y="19380"/>
                  </a:moveTo>
                  <a:cubicBezTo>
                    <a:pt x="33963" y="19380"/>
                    <a:pt x="19407" y="33915"/>
                    <a:pt x="19407" y="51744"/>
                  </a:cubicBezTo>
                  <a:lnTo>
                    <a:pt x="19407" y="502522"/>
                  </a:lnTo>
                  <a:lnTo>
                    <a:pt x="588726" y="502522"/>
                  </a:lnTo>
                  <a:lnTo>
                    <a:pt x="588726" y="145349"/>
                  </a:lnTo>
                  <a:cubicBezTo>
                    <a:pt x="588726" y="127617"/>
                    <a:pt x="574170" y="113082"/>
                    <a:pt x="556315" y="113082"/>
                  </a:cubicBezTo>
                  <a:lnTo>
                    <a:pt x="304018" y="113082"/>
                  </a:lnTo>
                  <a:cubicBezTo>
                    <a:pt x="298681" y="113082"/>
                    <a:pt x="294314" y="108721"/>
                    <a:pt x="294314" y="103392"/>
                  </a:cubicBezTo>
                  <a:lnTo>
                    <a:pt x="294314" y="51744"/>
                  </a:lnTo>
                  <a:cubicBezTo>
                    <a:pt x="294314" y="33915"/>
                    <a:pt x="279856" y="19380"/>
                    <a:pt x="262001" y="19380"/>
                  </a:cubicBezTo>
                  <a:close/>
                  <a:moveTo>
                    <a:pt x="51721" y="0"/>
                  </a:moveTo>
                  <a:lnTo>
                    <a:pt x="262001" y="0"/>
                  </a:lnTo>
                  <a:cubicBezTo>
                    <a:pt x="290530" y="0"/>
                    <a:pt x="313722" y="23256"/>
                    <a:pt x="313722" y="51744"/>
                  </a:cubicBezTo>
                  <a:lnTo>
                    <a:pt x="313722" y="93702"/>
                  </a:lnTo>
                  <a:lnTo>
                    <a:pt x="556315" y="93702"/>
                  </a:lnTo>
                  <a:cubicBezTo>
                    <a:pt x="568542" y="93702"/>
                    <a:pt x="579798" y="97965"/>
                    <a:pt x="588726" y="105039"/>
                  </a:cubicBezTo>
                  <a:lnTo>
                    <a:pt x="588726" y="93702"/>
                  </a:lnTo>
                  <a:cubicBezTo>
                    <a:pt x="588726" y="75872"/>
                    <a:pt x="574170" y="61434"/>
                    <a:pt x="556315" y="61434"/>
                  </a:cubicBezTo>
                  <a:lnTo>
                    <a:pt x="342833" y="61434"/>
                  </a:lnTo>
                  <a:cubicBezTo>
                    <a:pt x="337496" y="61434"/>
                    <a:pt x="333129" y="57074"/>
                    <a:pt x="333129" y="51744"/>
                  </a:cubicBezTo>
                  <a:cubicBezTo>
                    <a:pt x="333129" y="46318"/>
                    <a:pt x="337496" y="42054"/>
                    <a:pt x="342833" y="42054"/>
                  </a:cubicBezTo>
                  <a:lnTo>
                    <a:pt x="556315" y="42054"/>
                  </a:lnTo>
                  <a:cubicBezTo>
                    <a:pt x="584844" y="42054"/>
                    <a:pt x="608133" y="65213"/>
                    <a:pt x="608133" y="93702"/>
                  </a:cubicBezTo>
                  <a:lnTo>
                    <a:pt x="608133" y="512212"/>
                  </a:lnTo>
                  <a:cubicBezTo>
                    <a:pt x="608133" y="517639"/>
                    <a:pt x="603767" y="521902"/>
                    <a:pt x="598429" y="521902"/>
                  </a:cubicBezTo>
                  <a:lnTo>
                    <a:pt x="9703" y="521902"/>
                  </a:lnTo>
                  <a:cubicBezTo>
                    <a:pt x="4366" y="521902"/>
                    <a:pt x="0" y="517639"/>
                    <a:pt x="0" y="512212"/>
                  </a:cubicBezTo>
                  <a:lnTo>
                    <a:pt x="0" y="51744"/>
                  </a:lnTo>
                  <a:cubicBezTo>
                    <a:pt x="0" y="23256"/>
                    <a:pt x="23192" y="0"/>
                    <a:pt x="51721" y="0"/>
                  </a:cubicBezTo>
                  <a:close/>
                </a:path>
              </a:pathLst>
            </a:custGeom>
            <a:noFill/>
            <a:ln w="3175" cap="rnd">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algn="l" rtl="0" fontAlgn="t">
                <a:spcBef>
                  <a:spcPct val="0"/>
                </a:spcBef>
                <a:spcAft>
                  <a:spcPct val="0"/>
                </a:spcAft>
                <a:defRPr sz="1000" kern="1200">
                  <a:solidFill>
                    <a:schemeClr val="lt1"/>
                  </a:solidFill>
                  <a:latin typeface="+mn-lt"/>
                  <a:ea typeface="+mn-ea"/>
                  <a:cs typeface="+mn-cs"/>
                </a:defRPr>
              </a:lvl1pPr>
              <a:lvl2pPr marL="457200" algn="l" rtl="0" fontAlgn="t">
                <a:spcBef>
                  <a:spcPct val="0"/>
                </a:spcBef>
                <a:spcAft>
                  <a:spcPct val="0"/>
                </a:spcAft>
                <a:defRPr sz="1000" kern="1200">
                  <a:solidFill>
                    <a:schemeClr val="lt1"/>
                  </a:solidFill>
                  <a:latin typeface="+mn-lt"/>
                  <a:ea typeface="+mn-ea"/>
                  <a:cs typeface="+mn-cs"/>
                </a:defRPr>
              </a:lvl2pPr>
              <a:lvl3pPr marL="914400" algn="l" rtl="0" fontAlgn="t">
                <a:spcBef>
                  <a:spcPct val="0"/>
                </a:spcBef>
                <a:spcAft>
                  <a:spcPct val="0"/>
                </a:spcAft>
                <a:defRPr sz="1000" kern="1200">
                  <a:solidFill>
                    <a:schemeClr val="lt1"/>
                  </a:solidFill>
                  <a:latin typeface="+mn-lt"/>
                  <a:ea typeface="+mn-ea"/>
                  <a:cs typeface="+mn-cs"/>
                </a:defRPr>
              </a:lvl3pPr>
              <a:lvl4pPr marL="1371600" algn="l" rtl="0" fontAlgn="t">
                <a:spcBef>
                  <a:spcPct val="0"/>
                </a:spcBef>
                <a:spcAft>
                  <a:spcPct val="0"/>
                </a:spcAft>
                <a:defRPr sz="1000" kern="1200">
                  <a:solidFill>
                    <a:schemeClr val="lt1"/>
                  </a:solidFill>
                  <a:latin typeface="+mn-lt"/>
                  <a:ea typeface="+mn-ea"/>
                  <a:cs typeface="+mn-cs"/>
                </a:defRPr>
              </a:lvl4pPr>
              <a:lvl5pPr marL="1828800" algn="l" rtl="0" fontAlgn="t">
                <a:spcBef>
                  <a:spcPct val="0"/>
                </a:spcBef>
                <a:spcAft>
                  <a:spcPct val="0"/>
                </a:spcAft>
                <a:defRPr sz="1000" kern="1200">
                  <a:solidFill>
                    <a:schemeClr val="lt1"/>
                  </a:solidFill>
                  <a:latin typeface="+mn-lt"/>
                  <a:ea typeface="+mn-ea"/>
                  <a:cs typeface="+mn-cs"/>
                </a:defRPr>
              </a:lvl5pPr>
              <a:lvl6pPr marL="2286000" algn="l" defTabSz="914400" rtl="0" eaLnBrk="1" latinLnBrk="0" hangingPunct="1">
                <a:defRPr sz="1000" kern="1200">
                  <a:solidFill>
                    <a:schemeClr val="lt1"/>
                  </a:solidFill>
                  <a:latin typeface="+mn-lt"/>
                  <a:ea typeface="+mn-ea"/>
                  <a:cs typeface="+mn-cs"/>
                </a:defRPr>
              </a:lvl6pPr>
              <a:lvl7pPr marL="2743200" algn="l" defTabSz="914400" rtl="0" eaLnBrk="1" latinLnBrk="0" hangingPunct="1">
                <a:defRPr sz="1000" kern="1200">
                  <a:solidFill>
                    <a:schemeClr val="lt1"/>
                  </a:solidFill>
                  <a:latin typeface="+mn-lt"/>
                  <a:ea typeface="+mn-ea"/>
                  <a:cs typeface="+mn-cs"/>
                </a:defRPr>
              </a:lvl7pPr>
              <a:lvl8pPr marL="3200400" algn="l" defTabSz="914400" rtl="0" eaLnBrk="1" latinLnBrk="0" hangingPunct="1">
                <a:defRPr sz="1000" kern="1200">
                  <a:solidFill>
                    <a:schemeClr val="lt1"/>
                  </a:solidFill>
                  <a:latin typeface="+mn-lt"/>
                  <a:ea typeface="+mn-ea"/>
                  <a:cs typeface="+mn-cs"/>
                </a:defRPr>
              </a:lvl8pPr>
              <a:lvl9pPr marL="3657600" algn="l" defTabSz="914400" rtl="0" eaLnBrk="1" latinLnBrk="0" hangingPunct="1">
                <a:defRPr sz="1000" kern="1200">
                  <a:solidFill>
                    <a:schemeClr val="lt1"/>
                  </a:solidFill>
                  <a:latin typeface="+mn-lt"/>
                  <a:ea typeface="+mn-ea"/>
                  <a:cs typeface="+mn-cs"/>
                </a:defRPr>
              </a:lvl9pPr>
            </a:lstStyle>
            <a:p>
              <a:pPr algn="ctr" defTabSz="914354"/>
              <a:endParaRPr lang="zh-CN" altLang="en-US" sz="2000" b="1" i="1">
                <a:solidFill>
                  <a:schemeClr val="tx1"/>
                </a:solidFill>
                <a:latin typeface="Arial" panose="020B0604020202020204" pitchFamily="34" charset="0"/>
              </a:endParaRPr>
            </a:p>
          </p:txBody>
        </p:sp>
      </p:grpSp>
      <p:sp>
        <p:nvSpPr>
          <p:cNvPr id="31" name="îşļîḑ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BD7C3AA6-EC85-44CE-AA92-EFD8B554DA01}"/>
              </a:ext>
            </a:extLst>
          </p:cNvPr>
          <p:cNvSpPr/>
          <p:nvPr/>
        </p:nvSpPr>
        <p:spPr bwMode="auto">
          <a:xfrm>
            <a:off x="7550754" y="3189248"/>
            <a:ext cx="3333778" cy="940970"/>
          </a:xfrm>
          <a:prstGeom prst="rect">
            <a:avLst/>
          </a:prstGeom>
          <a:noFill/>
          <a:ln w="3175">
            <a:no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92500" lnSpcReduction="20000"/>
          </a:bodyPr>
          <a:lstStyle>
            <a:defPPr>
              <a:defRPr lang="zh-CN"/>
            </a:defPPr>
            <a:lvl1pPr algn="l" rtl="0" fontAlgn="t">
              <a:spcBef>
                <a:spcPct val="0"/>
              </a:spcBef>
              <a:spcAft>
                <a:spcPct val="0"/>
              </a:spcAft>
              <a:defRPr sz="1000" kern="1200">
                <a:solidFill>
                  <a:schemeClr val="dk1"/>
                </a:solidFill>
                <a:latin typeface="+mn-lt"/>
                <a:ea typeface="+mn-ea"/>
                <a:cs typeface="+mn-cs"/>
              </a:defRPr>
            </a:lvl1pPr>
            <a:lvl2pPr marL="457200" algn="l" rtl="0" fontAlgn="t">
              <a:spcBef>
                <a:spcPct val="0"/>
              </a:spcBef>
              <a:spcAft>
                <a:spcPct val="0"/>
              </a:spcAft>
              <a:defRPr sz="1000" kern="1200">
                <a:solidFill>
                  <a:schemeClr val="dk1"/>
                </a:solidFill>
                <a:latin typeface="+mn-lt"/>
                <a:ea typeface="+mn-ea"/>
                <a:cs typeface="+mn-cs"/>
              </a:defRPr>
            </a:lvl2pPr>
            <a:lvl3pPr marL="914400" algn="l" rtl="0" fontAlgn="t">
              <a:spcBef>
                <a:spcPct val="0"/>
              </a:spcBef>
              <a:spcAft>
                <a:spcPct val="0"/>
              </a:spcAft>
              <a:defRPr sz="1000" kern="1200">
                <a:solidFill>
                  <a:schemeClr val="dk1"/>
                </a:solidFill>
                <a:latin typeface="+mn-lt"/>
                <a:ea typeface="+mn-ea"/>
                <a:cs typeface="+mn-cs"/>
              </a:defRPr>
            </a:lvl3pPr>
            <a:lvl4pPr marL="1371600" algn="l" rtl="0" fontAlgn="t">
              <a:spcBef>
                <a:spcPct val="0"/>
              </a:spcBef>
              <a:spcAft>
                <a:spcPct val="0"/>
              </a:spcAft>
              <a:defRPr sz="1000" kern="1200">
                <a:solidFill>
                  <a:schemeClr val="dk1"/>
                </a:solidFill>
                <a:latin typeface="+mn-lt"/>
                <a:ea typeface="+mn-ea"/>
                <a:cs typeface="+mn-cs"/>
              </a:defRPr>
            </a:lvl4pPr>
            <a:lvl5pPr marL="1828800" algn="l" rtl="0" fontAlgn="t">
              <a:spcBef>
                <a:spcPct val="0"/>
              </a:spcBef>
              <a:spcAft>
                <a:spcPct val="0"/>
              </a:spcAft>
              <a:defRPr sz="1000" kern="1200">
                <a:solidFill>
                  <a:schemeClr val="dk1"/>
                </a:solidFill>
                <a:latin typeface="+mn-lt"/>
                <a:ea typeface="+mn-ea"/>
                <a:cs typeface="+mn-cs"/>
              </a:defRPr>
            </a:lvl5pPr>
            <a:lvl6pPr marL="2286000" algn="l" defTabSz="914400" rtl="0" eaLnBrk="1" latinLnBrk="0" hangingPunct="1">
              <a:defRPr sz="1000" kern="1200">
                <a:solidFill>
                  <a:schemeClr val="dk1"/>
                </a:solidFill>
                <a:latin typeface="+mn-lt"/>
                <a:ea typeface="+mn-ea"/>
                <a:cs typeface="+mn-cs"/>
              </a:defRPr>
            </a:lvl6pPr>
            <a:lvl7pPr marL="2743200" algn="l" defTabSz="914400" rtl="0" eaLnBrk="1" latinLnBrk="0" hangingPunct="1">
              <a:defRPr sz="1000" kern="1200">
                <a:solidFill>
                  <a:schemeClr val="dk1"/>
                </a:solidFill>
                <a:latin typeface="+mn-lt"/>
                <a:ea typeface="+mn-ea"/>
                <a:cs typeface="+mn-cs"/>
              </a:defRPr>
            </a:lvl7pPr>
            <a:lvl8pPr marL="3200400" algn="l" defTabSz="914400" rtl="0" eaLnBrk="1" latinLnBrk="0" hangingPunct="1">
              <a:defRPr sz="1000" kern="1200">
                <a:solidFill>
                  <a:schemeClr val="dk1"/>
                </a:solidFill>
                <a:latin typeface="+mn-lt"/>
                <a:ea typeface="+mn-ea"/>
                <a:cs typeface="+mn-cs"/>
              </a:defRPr>
            </a:lvl8pPr>
            <a:lvl9pPr marL="3657600" algn="l" defTabSz="914400" rtl="0" eaLnBrk="1" latinLnBrk="0" hangingPunct="1">
              <a:defRPr sz="1000" kern="1200">
                <a:solidFill>
                  <a:schemeClr val="dk1"/>
                </a:solidFill>
                <a:latin typeface="+mn-lt"/>
                <a:ea typeface="+mn-ea"/>
                <a:cs typeface="+mn-cs"/>
              </a:defRPr>
            </a:lvl9pPr>
          </a:lstStyle>
          <a:p>
            <a:pPr>
              <a:lnSpc>
                <a:spcPct val="150000"/>
              </a:lnSpc>
            </a:pPr>
            <a:r>
              <a:rPr lang="en-US" sz="1700" dirty="0">
                <a:latin typeface="Arial" panose="020B0604020202020204" pitchFamily="34" charset="0"/>
              </a:rPr>
              <a:t>Configuration Mode</a:t>
            </a:r>
          </a:p>
          <a:p>
            <a:pPr marL="285750" indent="-285750">
              <a:lnSpc>
                <a:spcPct val="150000"/>
              </a:lnSpc>
              <a:buFont typeface="Arial" panose="020B0604020202020204" pitchFamily="34" charset="0"/>
              <a:buChar char="•"/>
            </a:pPr>
            <a:r>
              <a:rPr lang="en-US" sz="1400" dirty="0">
                <a:latin typeface="Arial" panose="020B0604020202020204" pitchFamily="34" charset="0"/>
              </a:rPr>
              <a:t>Common</a:t>
            </a:r>
          </a:p>
          <a:p>
            <a:pPr marL="285750" indent="-285750">
              <a:lnSpc>
                <a:spcPct val="150000"/>
              </a:lnSpc>
              <a:buFont typeface="Arial" panose="020B0604020202020204" pitchFamily="34" charset="0"/>
              <a:buChar char="•"/>
            </a:pPr>
            <a:r>
              <a:rPr lang="en-US" sz="1400" dirty="0">
                <a:latin typeface="Arial" panose="020B0604020202020204" pitchFamily="34" charset="0"/>
              </a:rPr>
              <a:t>Thin-provision</a:t>
            </a:r>
          </a:p>
        </p:txBody>
      </p:sp>
      <p:sp>
        <p:nvSpPr>
          <p:cNvPr id="32" name="îṣľîdé"/>
          <p:cNvSpPr/>
          <p:nvPr/>
        </p:nvSpPr>
        <p:spPr>
          <a:xfrm>
            <a:off x="6917453" y="3349136"/>
            <a:ext cx="469499" cy="468792"/>
          </a:xfrm>
          <a:custGeom>
            <a:avLst/>
            <a:gdLst>
              <a:gd name="connsiteX0" fmla="*/ 502242 w 608979"/>
              <a:gd name="connsiteY0" fmla="*/ 134250 h 608062"/>
              <a:gd name="connsiteX1" fmla="*/ 385105 w 608979"/>
              <a:gd name="connsiteY1" fmla="*/ 248033 h 608062"/>
              <a:gd name="connsiteX2" fmla="*/ 554396 w 608979"/>
              <a:gd name="connsiteY2" fmla="*/ 248033 h 608062"/>
              <a:gd name="connsiteX3" fmla="*/ 502242 w 608979"/>
              <a:gd name="connsiteY3" fmla="*/ 134250 h 608062"/>
              <a:gd name="connsiteX4" fmla="*/ 360508 w 608979"/>
              <a:gd name="connsiteY4" fmla="*/ 54504 h 608062"/>
              <a:gd name="connsiteX5" fmla="*/ 360508 w 608979"/>
              <a:gd name="connsiteY5" fmla="*/ 213542 h 608062"/>
              <a:gd name="connsiteX6" fmla="*/ 472408 w 608979"/>
              <a:gd name="connsiteY6" fmla="*/ 104838 h 608062"/>
              <a:gd name="connsiteX7" fmla="*/ 360508 w 608979"/>
              <a:gd name="connsiteY7" fmla="*/ 54504 h 608062"/>
              <a:gd name="connsiteX8" fmla="*/ 270565 w 608979"/>
              <a:gd name="connsiteY8" fmla="*/ 49255 h 608062"/>
              <a:gd name="connsiteX9" fmla="*/ 270565 w 608979"/>
              <a:gd name="connsiteY9" fmla="*/ 337906 h 608062"/>
              <a:gd name="connsiteX10" fmla="*/ 559654 w 608979"/>
              <a:gd name="connsiteY10" fmla="*/ 337906 h 608062"/>
              <a:gd name="connsiteX11" fmla="*/ 279903 w 608979"/>
              <a:gd name="connsiteY11" fmla="*/ 608062 h 608062"/>
              <a:gd name="connsiteX12" fmla="*/ 0 w 608979"/>
              <a:gd name="connsiteY12" fmla="*/ 328583 h 608062"/>
              <a:gd name="connsiteX13" fmla="*/ 270565 w 608979"/>
              <a:gd name="connsiteY13" fmla="*/ 49255 h 608062"/>
              <a:gd name="connsiteX14" fmla="*/ 318603 w 608979"/>
              <a:gd name="connsiteY14" fmla="*/ 0 h 608062"/>
              <a:gd name="connsiteX15" fmla="*/ 608979 w 608979"/>
              <a:gd name="connsiteY15" fmla="*/ 289953 h 608062"/>
              <a:gd name="connsiteX16" fmla="*/ 318603 w 608979"/>
              <a:gd name="connsiteY16" fmla="*/ 289953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8979" h="608062">
                <a:moveTo>
                  <a:pt x="502242" y="134250"/>
                </a:moveTo>
                <a:lnTo>
                  <a:pt x="385105" y="248033"/>
                </a:lnTo>
                <a:lnTo>
                  <a:pt x="554396" y="248033"/>
                </a:lnTo>
                <a:cubicBezTo>
                  <a:pt x="547716" y="205128"/>
                  <a:pt x="529192" y="166013"/>
                  <a:pt x="502242" y="134250"/>
                </a:cubicBezTo>
                <a:close/>
                <a:moveTo>
                  <a:pt x="360508" y="54504"/>
                </a:moveTo>
                <a:lnTo>
                  <a:pt x="360508" y="213542"/>
                </a:lnTo>
                <a:lnTo>
                  <a:pt x="472408" y="104838"/>
                </a:lnTo>
                <a:cubicBezTo>
                  <a:pt x="440979" y="78913"/>
                  <a:pt x="402641" y="61023"/>
                  <a:pt x="360508" y="54504"/>
                </a:cubicBezTo>
                <a:close/>
                <a:moveTo>
                  <a:pt x="270565" y="49255"/>
                </a:moveTo>
                <a:cubicBezTo>
                  <a:pt x="270717" y="55698"/>
                  <a:pt x="270565" y="337906"/>
                  <a:pt x="270565" y="337906"/>
                </a:cubicBezTo>
                <a:cubicBezTo>
                  <a:pt x="270565" y="337906"/>
                  <a:pt x="551000" y="338285"/>
                  <a:pt x="559654" y="337906"/>
                </a:cubicBezTo>
                <a:cubicBezTo>
                  <a:pt x="554720" y="487917"/>
                  <a:pt x="431356" y="608062"/>
                  <a:pt x="279903" y="608062"/>
                </a:cubicBezTo>
                <a:cubicBezTo>
                  <a:pt x="125338" y="608062"/>
                  <a:pt x="0" y="482914"/>
                  <a:pt x="0" y="328583"/>
                </a:cubicBezTo>
                <a:cubicBezTo>
                  <a:pt x="0" y="177359"/>
                  <a:pt x="120327" y="54182"/>
                  <a:pt x="270565" y="49255"/>
                </a:cubicBezTo>
                <a:close/>
                <a:moveTo>
                  <a:pt x="318603" y="0"/>
                </a:moveTo>
                <a:cubicBezTo>
                  <a:pt x="478936" y="0"/>
                  <a:pt x="608979" y="129854"/>
                  <a:pt x="608979" y="289953"/>
                </a:cubicBezTo>
                <a:lnTo>
                  <a:pt x="318603" y="289953"/>
                </a:lnTo>
                <a:close/>
              </a:path>
            </a:pathLst>
          </a:custGeom>
          <a:noFill/>
          <a:ln w="3175" cap="rnd">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defPPr>
              <a:defRPr lang="zh-CN"/>
            </a:defPPr>
            <a:lvl1pPr algn="l" rtl="0" fontAlgn="t">
              <a:spcBef>
                <a:spcPct val="0"/>
              </a:spcBef>
              <a:spcAft>
                <a:spcPct val="0"/>
              </a:spcAft>
              <a:defRPr sz="1000" kern="1200">
                <a:solidFill>
                  <a:schemeClr val="lt1"/>
                </a:solidFill>
                <a:latin typeface="+mn-lt"/>
                <a:ea typeface="+mn-ea"/>
                <a:cs typeface="+mn-cs"/>
              </a:defRPr>
            </a:lvl1pPr>
            <a:lvl2pPr marL="457200" algn="l" rtl="0" fontAlgn="t">
              <a:spcBef>
                <a:spcPct val="0"/>
              </a:spcBef>
              <a:spcAft>
                <a:spcPct val="0"/>
              </a:spcAft>
              <a:defRPr sz="1000" kern="1200">
                <a:solidFill>
                  <a:schemeClr val="lt1"/>
                </a:solidFill>
                <a:latin typeface="+mn-lt"/>
                <a:ea typeface="+mn-ea"/>
                <a:cs typeface="+mn-cs"/>
              </a:defRPr>
            </a:lvl2pPr>
            <a:lvl3pPr marL="914400" algn="l" rtl="0" fontAlgn="t">
              <a:spcBef>
                <a:spcPct val="0"/>
              </a:spcBef>
              <a:spcAft>
                <a:spcPct val="0"/>
              </a:spcAft>
              <a:defRPr sz="1000" kern="1200">
                <a:solidFill>
                  <a:schemeClr val="lt1"/>
                </a:solidFill>
                <a:latin typeface="+mn-lt"/>
                <a:ea typeface="+mn-ea"/>
                <a:cs typeface="+mn-cs"/>
              </a:defRPr>
            </a:lvl3pPr>
            <a:lvl4pPr marL="1371600" algn="l" rtl="0" fontAlgn="t">
              <a:spcBef>
                <a:spcPct val="0"/>
              </a:spcBef>
              <a:spcAft>
                <a:spcPct val="0"/>
              </a:spcAft>
              <a:defRPr sz="1000" kern="1200">
                <a:solidFill>
                  <a:schemeClr val="lt1"/>
                </a:solidFill>
                <a:latin typeface="+mn-lt"/>
                <a:ea typeface="+mn-ea"/>
                <a:cs typeface="+mn-cs"/>
              </a:defRPr>
            </a:lvl4pPr>
            <a:lvl5pPr marL="1828800" algn="l" rtl="0" fontAlgn="t">
              <a:spcBef>
                <a:spcPct val="0"/>
              </a:spcBef>
              <a:spcAft>
                <a:spcPct val="0"/>
              </a:spcAft>
              <a:defRPr sz="1000" kern="1200">
                <a:solidFill>
                  <a:schemeClr val="lt1"/>
                </a:solidFill>
                <a:latin typeface="+mn-lt"/>
                <a:ea typeface="+mn-ea"/>
                <a:cs typeface="+mn-cs"/>
              </a:defRPr>
            </a:lvl5pPr>
            <a:lvl6pPr marL="2286000" algn="l" defTabSz="914400" rtl="0" eaLnBrk="1" latinLnBrk="0" hangingPunct="1">
              <a:defRPr sz="1000" kern="1200">
                <a:solidFill>
                  <a:schemeClr val="lt1"/>
                </a:solidFill>
                <a:latin typeface="+mn-lt"/>
                <a:ea typeface="+mn-ea"/>
                <a:cs typeface="+mn-cs"/>
              </a:defRPr>
            </a:lvl6pPr>
            <a:lvl7pPr marL="2743200" algn="l" defTabSz="914400" rtl="0" eaLnBrk="1" latinLnBrk="0" hangingPunct="1">
              <a:defRPr sz="1000" kern="1200">
                <a:solidFill>
                  <a:schemeClr val="lt1"/>
                </a:solidFill>
                <a:latin typeface="+mn-lt"/>
                <a:ea typeface="+mn-ea"/>
                <a:cs typeface="+mn-cs"/>
              </a:defRPr>
            </a:lvl7pPr>
            <a:lvl8pPr marL="3200400" algn="l" defTabSz="914400" rtl="0" eaLnBrk="1" latinLnBrk="0" hangingPunct="1">
              <a:defRPr sz="1000" kern="1200">
                <a:solidFill>
                  <a:schemeClr val="lt1"/>
                </a:solidFill>
                <a:latin typeface="+mn-lt"/>
                <a:ea typeface="+mn-ea"/>
                <a:cs typeface="+mn-cs"/>
              </a:defRPr>
            </a:lvl8pPr>
            <a:lvl9pPr marL="3657600" algn="l" defTabSz="914400" rtl="0" eaLnBrk="1" latinLnBrk="0" hangingPunct="1">
              <a:defRPr sz="1000" kern="1200">
                <a:solidFill>
                  <a:schemeClr val="lt1"/>
                </a:solidFill>
                <a:latin typeface="+mn-lt"/>
                <a:ea typeface="+mn-ea"/>
                <a:cs typeface="+mn-cs"/>
              </a:defRPr>
            </a:lvl9pPr>
          </a:lstStyle>
          <a:p>
            <a:pPr algn="ctr" defTabSz="914354"/>
            <a:endParaRPr lang="zh-CN" altLang="en-US" sz="2000" b="1" i="1">
              <a:solidFill>
                <a:schemeClr val="tx1"/>
              </a:solidFill>
              <a:latin typeface="Arial" panose="020B0604020202020204" pitchFamily="34" charset="0"/>
            </a:endParaRPr>
          </a:p>
        </p:txBody>
      </p:sp>
      <p:sp>
        <p:nvSpPr>
          <p:cNvPr id="33" name="ísľîḓ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BD7C3AA6-EC85-44CE-AA92-EFD8B554DA01}"/>
              </a:ext>
            </a:extLst>
          </p:cNvPr>
          <p:cNvSpPr/>
          <p:nvPr/>
        </p:nvSpPr>
        <p:spPr bwMode="auto">
          <a:xfrm>
            <a:off x="7550754" y="4277890"/>
            <a:ext cx="3333778" cy="1239341"/>
          </a:xfrm>
          <a:prstGeom prst="rect">
            <a:avLst/>
          </a:prstGeom>
          <a:noFill/>
          <a:ln w="3175">
            <a:noFill/>
          </a:ln>
          <a:extLst/>
        </p:spPr>
        <p:style>
          <a:lnRef idx="2">
            <a:schemeClr val="dk1"/>
          </a:lnRef>
          <a:fillRef idx="1">
            <a:schemeClr val="lt1"/>
          </a:fillRef>
          <a:effectRef idx="0">
            <a:schemeClr val="dk1"/>
          </a:effectRef>
          <a:fontRef idx="minor">
            <a:schemeClr val="dk1"/>
          </a:fontRef>
        </p:style>
        <p:txBody>
          <a:bodyPr wrap="square" lIns="91440" tIns="45720" rIns="91440" bIns="45720" rtlCol="0" anchor="ctr">
            <a:normAutofit fontScale="85000" lnSpcReduction="20000"/>
          </a:bodyPr>
          <a:lstStyle>
            <a:defPPr>
              <a:defRPr lang="zh-CN"/>
            </a:defPPr>
            <a:lvl1pPr algn="l" rtl="0" fontAlgn="t">
              <a:spcBef>
                <a:spcPct val="0"/>
              </a:spcBef>
              <a:spcAft>
                <a:spcPct val="0"/>
              </a:spcAft>
              <a:defRPr sz="1000" kern="1200">
                <a:solidFill>
                  <a:schemeClr val="dk1"/>
                </a:solidFill>
                <a:latin typeface="+mn-lt"/>
                <a:ea typeface="+mn-ea"/>
                <a:cs typeface="+mn-cs"/>
              </a:defRPr>
            </a:lvl1pPr>
            <a:lvl2pPr marL="457200" algn="l" rtl="0" fontAlgn="t">
              <a:spcBef>
                <a:spcPct val="0"/>
              </a:spcBef>
              <a:spcAft>
                <a:spcPct val="0"/>
              </a:spcAft>
              <a:defRPr sz="1000" kern="1200">
                <a:solidFill>
                  <a:schemeClr val="dk1"/>
                </a:solidFill>
                <a:latin typeface="+mn-lt"/>
                <a:ea typeface="+mn-ea"/>
                <a:cs typeface="+mn-cs"/>
              </a:defRPr>
            </a:lvl2pPr>
            <a:lvl3pPr marL="914400" algn="l" rtl="0" fontAlgn="t">
              <a:spcBef>
                <a:spcPct val="0"/>
              </a:spcBef>
              <a:spcAft>
                <a:spcPct val="0"/>
              </a:spcAft>
              <a:defRPr sz="1000" kern="1200">
                <a:solidFill>
                  <a:schemeClr val="dk1"/>
                </a:solidFill>
                <a:latin typeface="+mn-lt"/>
                <a:ea typeface="+mn-ea"/>
                <a:cs typeface="+mn-cs"/>
              </a:defRPr>
            </a:lvl3pPr>
            <a:lvl4pPr marL="1371600" algn="l" rtl="0" fontAlgn="t">
              <a:spcBef>
                <a:spcPct val="0"/>
              </a:spcBef>
              <a:spcAft>
                <a:spcPct val="0"/>
              </a:spcAft>
              <a:defRPr sz="1000" kern="1200">
                <a:solidFill>
                  <a:schemeClr val="dk1"/>
                </a:solidFill>
                <a:latin typeface="+mn-lt"/>
                <a:ea typeface="+mn-ea"/>
                <a:cs typeface="+mn-cs"/>
              </a:defRPr>
            </a:lvl4pPr>
            <a:lvl5pPr marL="1828800" algn="l" rtl="0" fontAlgn="t">
              <a:spcBef>
                <a:spcPct val="0"/>
              </a:spcBef>
              <a:spcAft>
                <a:spcPct val="0"/>
              </a:spcAft>
              <a:defRPr sz="1000" kern="1200">
                <a:solidFill>
                  <a:schemeClr val="dk1"/>
                </a:solidFill>
                <a:latin typeface="+mn-lt"/>
                <a:ea typeface="+mn-ea"/>
                <a:cs typeface="+mn-cs"/>
              </a:defRPr>
            </a:lvl5pPr>
            <a:lvl6pPr marL="2286000" algn="l" defTabSz="914400" rtl="0" eaLnBrk="1" latinLnBrk="0" hangingPunct="1">
              <a:defRPr sz="1000" kern="1200">
                <a:solidFill>
                  <a:schemeClr val="dk1"/>
                </a:solidFill>
                <a:latin typeface="+mn-lt"/>
                <a:ea typeface="+mn-ea"/>
                <a:cs typeface="+mn-cs"/>
              </a:defRPr>
            </a:lvl6pPr>
            <a:lvl7pPr marL="2743200" algn="l" defTabSz="914400" rtl="0" eaLnBrk="1" latinLnBrk="0" hangingPunct="1">
              <a:defRPr sz="1000" kern="1200">
                <a:solidFill>
                  <a:schemeClr val="dk1"/>
                </a:solidFill>
                <a:latin typeface="+mn-lt"/>
                <a:ea typeface="+mn-ea"/>
                <a:cs typeface="+mn-cs"/>
              </a:defRPr>
            </a:lvl7pPr>
            <a:lvl8pPr marL="3200400" algn="l" defTabSz="914400" rtl="0" eaLnBrk="1" latinLnBrk="0" hangingPunct="1">
              <a:defRPr sz="1000" kern="1200">
                <a:solidFill>
                  <a:schemeClr val="dk1"/>
                </a:solidFill>
                <a:latin typeface="+mn-lt"/>
                <a:ea typeface="+mn-ea"/>
                <a:cs typeface="+mn-cs"/>
              </a:defRPr>
            </a:lvl8pPr>
            <a:lvl9pPr marL="3657600" algn="l" defTabSz="914400" rtl="0" eaLnBrk="1" latinLnBrk="0" hangingPunct="1">
              <a:defRPr sz="1000" kern="1200">
                <a:solidFill>
                  <a:schemeClr val="dk1"/>
                </a:solidFill>
                <a:latin typeface="+mn-lt"/>
                <a:ea typeface="+mn-ea"/>
                <a:cs typeface="+mn-cs"/>
              </a:defRPr>
            </a:lvl9pPr>
          </a:lstStyle>
          <a:p>
            <a:pPr>
              <a:lnSpc>
                <a:spcPct val="150000"/>
              </a:lnSpc>
            </a:pPr>
            <a:r>
              <a:rPr lang="en-US" sz="2100" dirty="0">
                <a:latin typeface="Arial" panose="020B0604020202020204" pitchFamily="34" charset="0"/>
              </a:rPr>
              <a:t>Disk Mode</a:t>
            </a:r>
          </a:p>
          <a:p>
            <a:pPr marL="285750" indent="-285750">
              <a:lnSpc>
                <a:spcPct val="150000"/>
              </a:lnSpc>
              <a:buFont typeface="Arial" panose="020B0604020202020204" pitchFamily="34" charset="0"/>
              <a:buChar char="•"/>
            </a:pPr>
            <a:r>
              <a:rPr lang="en-US" sz="1500" dirty="0">
                <a:latin typeface="Arial" panose="020B0604020202020204" pitchFamily="34" charset="0"/>
              </a:rPr>
              <a:t>Dependent</a:t>
            </a:r>
          </a:p>
          <a:p>
            <a:pPr marL="285750" indent="-285750">
              <a:lnSpc>
                <a:spcPct val="150000"/>
              </a:lnSpc>
              <a:buFont typeface="Arial" panose="020B0604020202020204" pitchFamily="34" charset="0"/>
              <a:buChar char="•"/>
            </a:pPr>
            <a:r>
              <a:rPr lang="en-US" sz="1500" dirty="0">
                <a:latin typeface="Arial" panose="020B0604020202020204" pitchFamily="34" charset="0"/>
              </a:rPr>
              <a:t>Independent &amp; persistent</a:t>
            </a:r>
          </a:p>
          <a:p>
            <a:pPr marL="285750" indent="-285750">
              <a:lnSpc>
                <a:spcPct val="150000"/>
              </a:lnSpc>
              <a:buFont typeface="Arial" panose="020B0604020202020204" pitchFamily="34" charset="0"/>
              <a:buChar char="•"/>
            </a:pPr>
            <a:r>
              <a:rPr lang="en-US" sz="1500" dirty="0">
                <a:latin typeface="Arial" panose="020B0604020202020204" pitchFamily="34" charset="0"/>
              </a:rPr>
              <a:t>Independent &amp; nonpersistent</a:t>
            </a:r>
          </a:p>
        </p:txBody>
      </p:sp>
      <p:sp>
        <p:nvSpPr>
          <p:cNvPr id="34" name="i$1îḑe"/>
          <p:cNvSpPr/>
          <p:nvPr/>
        </p:nvSpPr>
        <p:spPr>
          <a:xfrm>
            <a:off x="6917453" y="4491486"/>
            <a:ext cx="469499" cy="361379"/>
          </a:xfrm>
          <a:custGeom>
            <a:avLst/>
            <a:gdLst>
              <a:gd name="connsiteX0" fmla="*/ 432542 w 607639"/>
              <a:gd name="connsiteY0" fmla="*/ 413584 h 467708"/>
              <a:gd name="connsiteX1" fmla="*/ 461381 w 607639"/>
              <a:gd name="connsiteY1" fmla="*/ 413584 h 467708"/>
              <a:gd name="connsiteX2" fmla="*/ 470460 w 607639"/>
              <a:gd name="connsiteY2" fmla="*/ 422661 h 467708"/>
              <a:gd name="connsiteX3" fmla="*/ 461381 w 607639"/>
              <a:gd name="connsiteY3" fmla="*/ 431649 h 467708"/>
              <a:gd name="connsiteX4" fmla="*/ 432542 w 607639"/>
              <a:gd name="connsiteY4" fmla="*/ 431649 h 467708"/>
              <a:gd name="connsiteX5" fmla="*/ 423463 w 607639"/>
              <a:gd name="connsiteY5" fmla="*/ 422661 h 467708"/>
              <a:gd name="connsiteX6" fmla="*/ 432542 w 607639"/>
              <a:gd name="connsiteY6" fmla="*/ 413584 h 467708"/>
              <a:gd name="connsiteX7" fmla="*/ 328231 w 607639"/>
              <a:gd name="connsiteY7" fmla="*/ 413584 h 467708"/>
              <a:gd name="connsiteX8" fmla="*/ 406054 w 607639"/>
              <a:gd name="connsiteY8" fmla="*/ 413584 h 467708"/>
              <a:gd name="connsiteX9" fmla="*/ 415136 w 607639"/>
              <a:gd name="connsiteY9" fmla="*/ 422661 h 467708"/>
              <a:gd name="connsiteX10" fmla="*/ 406054 w 607639"/>
              <a:gd name="connsiteY10" fmla="*/ 431649 h 467708"/>
              <a:gd name="connsiteX11" fmla="*/ 328231 w 607639"/>
              <a:gd name="connsiteY11" fmla="*/ 431649 h 467708"/>
              <a:gd name="connsiteX12" fmla="*/ 319238 w 607639"/>
              <a:gd name="connsiteY12" fmla="*/ 422661 h 467708"/>
              <a:gd name="connsiteX13" fmla="*/ 328231 w 607639"/>
              <a:gd name="connsiteY13" fmla="*/ 413584 h 467708"/>
              <a:gd name="connsiteX14" fmla="*/ 44859 w 607639"/>
              <a:gd name="connsiteY14" fmla="*/ 375996 h 467708"/>
              <a:gd name="connsiteX15" fmla="*/ 44859 w 607639"/>
              <a:gd name="connsiteY15" fmla="*/ 411810 h 467708"/>
              <a:gd name="connsiteX16" fmla="*/ 82686 w 607639"/>
              <a:gd name="connsiteY16" fmla="*/ 449668 h 467708"/>
              <a:gd name="connsiteX17" fmla="*/ 524864 w 607639"/>
              <a:gd name="connsiteY17" fmla="*/ 449668 h 467708"/>
              <a:gd name="connsiteX18" fmla="*/ 562780 w 607639"/>
              <a:gd name="connsiteY18" fmla="*/ 411810 h 467708"/>
              <a:gd name="connsiteX19" fmla="*/ 562780 w 607639"/>
              <a:gd name="connsiteY19" fmla="*/ 375996 h 467708"/>
              <a:gd name="connsiteX20" fmla="*/ 19848 w 607639"/>
              <a:gd name="connsiteY20" fmla="*/ 326675 h 467708"/>
              <a:gd name="connsiteX21" fmla="*/ 19848 w 607639"/>
              <a:gd name="connsiteY21" fmla="*/ 357956 h 467708"/>
              <a:gd name="connsiteX22" fmla="*/ 587791 w 607639"/>
              <a:gd name="connsiteY22" fmla="*/ 357956 h 467708"/>
              <a:gd name="connsiteX23" fmla="*/ 587791 w 607639"/>
              <a:gd name="connsiteY23" fmla="*/ 326675 h 467708"/>
              <a:gd name="connsiteX24" fmla="*/ 76633 w 607639"/>
              <a:gd name="connsiteY24" fmla="*/ 277887 h 467708"/>
              <a:gd name="connsiteX25" fmla="*/ 99330 w 607639"/>
              <a:gd name="connsiteY25" fmla="*/ 285707 h 467708"/>
              <a:gd name="connsiteX26" fmla="*/ 122115 w 607639"/>
              <a:gd name="connsiteY26" fmla="*/ 277887 h 467708"/>
              <a:gd name="connsiteX27" fmla="*/ 144811 w 607639"/>
              <a:gd name="connsiteY27" fmla="*/ 285707 h 467708"/>
              <a:gd name="connsiteX28" fmla="*/ 167508 w 607639"/>
              <a:gd name="connsiteY28" fmla="*/ 277887 h 467708"/>
              <a:gd name="connsiteX29" fmla="*/ 190204 w 607639"/>
              <a:gd name="connsiteY29" fmla="*/ 285707 h 467708"/>
              <a:gd name="connsiteX30" fmla="*/ 212989 w 607639"/>
              <a:gd name="connsiteY30" fmla="*/ 277887 h 467708"/>
              <a:gd name="connsiteX31" fmla="*/ 235686 w 607639"/>
              <a:gd name="connsiteY31" fmla="*/ 285707 h 467708"/>
              <a:gd name="connsiteX32" fmla="*/ 258382 w 607639"/>
              <a:gd name="connsiteY32" fmla="*/ 277887 h 467708"/>
              <a:gd name="connsiteX33" fmla="*/ 281079 w 607639"/>
              <a:gd name="connsiteY33" fmla="*/ 285707 h 467708"/>
              <a:gd name="connsiteX34" fmla="*/ 303775 w 607639"/>
              <a:gd name="connsiteY34" fmla="*/ 277887 h 467708"/>
              <a:gd name="connsiteX35" fmla="*/ 326560 w 607639"/>
              <a:gd name="connsiteY35" fmla="*/ 285707 h 467708"/>
              <a:gd name="connsiteX36" fmla="*/ 349257 w 607639"/>
              <a:gd name="connsiteY36" fmla="*/ 277887 h 467708"/>
              <a:gd name="connsiteX37" fmla="*/ 371953 w 607639"/>
              <a:gd name="connsiteY37" fmla="*/ 285707 h 467708"/>
              <a:gd name="connsiteX38" fmla="*/ 394650 w 607639"/>
              <a:gd name="connsiteY38" fmla="*/ 277887 h 467708"/>
              <a:gd name="connsiteX39" fmla="*/ 424733 w 607639"/>
              <a:gd name="connsiteY39" fmla="*/ 293439 h 467708"/>
              <a:gd name="connsiteX40" fmla="*/ 422597 w 607639"/>
              <a:gd name="connsiteY40" fmla="*/ 306058 h 467708"/>
              <a:gd name="connsiteX41" fmla="*/ 410047 w 607639"/>
              <a:gd name="connsiteY41" fmla="*/ 303836 h 467708"/>
              <a:gd name="connsiteX42" fmla="*/ 394650 w 607639"/>
              <a:gd name="connsiteY42" fmla="*/ 295927 h 467708"/>
              <a:gd name="connsiteX43" fmla="*/ 379341 w 607639"/>
              <a:gd name="connsiteY43" fmla="*/ 303836 h 467708"/>
              <a:gd name="connsiteX44" fmla="*/ 371953 w 607639"/>
              <a:gd name="connsiteY44" fmla="*/ 307657 h 467708"/>
              <a:gd name="connsiteX45" fmla="*/ 364566 w 607639"/>
              <a:gd name="connsiteY45" fmla="*/ 303836 h 467708"/>
              <a:gd name="connsiteX46" fmla="*/ 349257 w 607639"/>
              <a:gd name="connsiteY46" fmla="*/ 295927 h 467708"/>
              <a:gd name="connsiteX47" fmla="*/ 333859 w 607639"/>
              <a:gd name="connsiteY47" fmla="*/ 303836 h 467708"/>
              <a:gd name="connsiteX48" fmla="*/ 326560 w 607639"/>
              <a:gd name="connsiteY48" fmla="*/ 307657 h 467708"/>
              <a:gd name="connsiteX49" fmla="*/ 319173 w 607639"/>
              <a:gd name="connsiteY49" fmla="*/ 303836 h 467708"/>
              <a:gd name="connsiteX50" fmla="*/ 303775 w 607639"/>
              <a:gd name="connsiteY50" fmla="*/ 295927 h 467708"/>
              <a:gd name="connsiteX51" fmla="*/ 288466 w 607639"/>
              <a:gd name="connsiteY51" fmla="*/ 303836 h 467708"/>
              <a:gd name="connsiteX52" fmla="*/ 281079 w 607639"/>
              <a:gd name="connsiteY52" fmla="*/ 307657 h 467708"/>
              <a:gd name="connsiteX53" fmla="*/ 273691 w 607639"/>
              <a:gd name="connsiteY53" fmla="*/ 303836 h 467708"/>
              <a:gd name="connsiteX54" fmla="*/ 258382 w 607639"/>
              <a:gd name="connsiteY54" fmla="*/ 295927 h 467708"/>
              <a:gd name="connsiteX55" fmla="*/ 243073 w 607639"/>
              <a:gd name="connsiteY55" fmla="*/ 303836 h 467708"/>
              <a:gd name="connsiteX56" fmla="*/ 235686 w 607639"/>
              <a:gd name="connsiteY56" fmla="*/ 307657 h 467708"/>
              <a:gd name="connsiteX57" fmla="*/ 228298 w 607639"/>
              <a:gd name="connsiteY57" fmla="*/ 303836 h 467708"/>
              <a:gd name="connsiteX58" fmla="*/ 212989 w 607639"/>
              <a:gd name="connsiteY58" fmla="*/ 295927 h 467708"/>
              <a:gd name="connsiteX59" fmla="*/ 197592 w 607639"/>
              <a:gd name="connsiteY59" fmla="*/ 303836 h 467708"/>
              <a:gd name="connsiteX60" fmla="*/ 190204 w 607639"/>
              <a:gd name="connsiteY60" fmla="*/ 307657 h 467708"/>
              <a:gd name="connsiteX61" fmla="*/ 182817 w 607639"/>
              <a:gd name="connsiteY61" fmla="*/ 303836 h 467708"/>
              <a:gd name="connsiteX62" fmla="*/ 167508 w 607639"/>
              <a:gd name="connsiteY62" fmla="*/ 295927 h 467708"/>
              <a:gd name="connsiteX63" fmla="*/ 152199 w 607639"/>
              <a:gd name="connsiteY63" fmla="*/ 303836 h 467708"/>
              <a:gd name="connsiteX64" fmla="*/ 144811 w 607639"/>
              <a:gd name="connsiteY64" fmla="*/ 307657 h 467708"/>
              <a:gd name="connsiteX65" fmla="*/ 137424 w 607639"/>
              <a:gd name="connsiteY65" fmla="*/ 303836 h 467708"/>
              <a:gd name="connsiteX66" fmla="*/ 122115 w 607639"/>
              <a:gd name="connsiteY66" fmla="*/ 295927 h 467708"/>
              <a:gd name="connsiteX67" fmla="*/ 106717 w 607639"/>
              <a:gd name="connsiteY67" fmla="*/ 303836 h 467708"/>
              <a:gd name="connsiteX68" fmla="*/ 99330 w 607639"/>
              <a:gd name="connsiteY68" fmla="*/ 307657 h 467708"/>
              <a:gd name="connsiteX69" fmla="*/ 92031 w 607639"/>
              <a:gd name="connsiteY69" fmla="*/ 303836 h 467708"/>
              <a:gd name="connsiteX70" fmla="*/ 76633 w 607639"/>
              <a:gd name="connsiteY70" fmla="*/ 295927 h 467708"/>
              <a:gd name="connsiteX71" fmla="*/ 58921 w 607639"/>
              <a:gd name="connsiteY71" fmla="*/ 308724 h 467708"/>
              <a:gd name="connsiteX72" fmla="*/ 548718 w 607639"/>
              <a:gd name="connsiteY72" fmla="*/ 308724 h 467708"/>
              <a:gd name="connsiteX73" fmla="*/ 530917 w 607639"/>
              <a:gd name="connsiteY73" fmla="*/ 295927 h 467708"/>
              <a:gd name="connsiteX74" fmla="*/ 515608 w 607639"/>
              <a:gd name="connsiteY74" fmla="*/ 303836 h 467708"/>
              <a:gd name="connsiteX75" fmla="*/ 508220 w 607639"/>
              <a:gd name="connsiteY75" fmla="*/ 307657 h 467708"/>
              <a:gd name="connsiteX76" fmla="*/ 500833 w 607639"/>
              <a:gd name="connsiteY76" fmla="*/ 303836 h 467708"/>
              <a:gd name="connsiteX77" fmla="*/ 485524 w 607639"/>
              <a:gd name="connsiteY77" fmla="*/ 295927 h 467708"/>
              <a:gd name="connsiteX78" fmla="*/ 470215 w 607639"/>
              <a:gd name="connsiteY78" fmla="*/ 303836 h 467708"/>
              <a:gd name="connsiteX79" fmla="*/ 462828 w 607639"/>
              <a:gd name="connsiteY79" fmla="*/ 307657 h 467708"/>
              <a:gd name="connsiteX80" fmla="*/ 455440 w 607639"/>
              <a:gd name="connsiteY80" fmla="*/ 303836 h 467708"/>
              <a:gd name="connsiteX81" fmla="*/ 445383 w 607639"/>
              <a:gd name="connsiteY81" fmla="*/ 296638 h 467708"/>
              <a:gd name="connsiteX82" fmla="*/ 439241 w 607639"/>
              <a:gd name="connsiteY82" fmla="*/ 285440 h 467708"/>
              <a:gd name="connsiteX83" fmla="*/ 450456 w 607639"/>
              <a:gd name="connsiteY83" fmla="*/ 279309 h 467708"/>
              <a:gd name="connsiteX84" fmla="*/ 462828 w 607639"/>
              <a:gd name="connsiteY84" fmla="*/ 285707 h 467708"/>
              <a:gd name="connsiteX85" fmla="*/ 485524 w 607639"/>
              <a:gd name="connsiteY85" fmla="*/ 277887 h 467708"/>
              <a:gd name="connsiteX86" fmla="*/ 508220 w 607639"/>
              <a:gd name="connsiteY86" fmla="*/ 285707 h 467708"/>
              <a:gd name="connsiteX87" fmla="*/ 530917 w 607639"/>
              <a:gd name="connsiteY87" fmla="*/ 277887 h 467708"/>
              <a:gd name="connsiteX88" fmla="*/ 567231 w 607639"/>
              <a:gd name="connsiteY88" fmla="*/ 308724 h 467708"/>
              <a:gd name="connsiteX89" fmla="*/ 587791 w 607639"/>
              <a:gd name="connsiteY89" fmla="*/ 308724 h 467708"/>
              <a:gd name="connsiteX90" fmla="*/ 607639 w 607639"/>
              <a:gd name="connsiteY90" fmla="*/ 328541 h 467708"/>
              <a:gd name="connsiteX91" fmla="*/ 607639 w 607639"/>
              <a:gd name="connsiteY91" fmla="*/ 356179 h 467708"/>
              <a:gd name="connsiteX92" fmla="*/ 587791 w 607639"/>
              <a:gd name="connsiteY92" fmla="*/ 375996 h 467708"/>
              <a:gd name="connsiteX93" fmla="*/ 580849 w 607639"/>
              <a:gd name="connsiteY93" fmla="*/ 375996 h 467708"/>
              <a:gd name="connsiteX94" fmla="*/ 580849 w 607639"/>
              <a:gd name="connsiteY94" fmla="*/ 411810 h 467708"/>
              <a:gd name="connsiteX95" fmla="*/ 524864 w 607639"/>
              <a:gd name="connsiteY95" fmla="*/ 467708 h 467708"/>
              <a:gd name="connsiteX96" fmla="*/ 82686 w 607639"/>
              <a:gd name="connsiteY96" fmla="*/ 467708 h 467708"/>
              <a:gd name="connsiteX97" fmla="*/ 26790 w 607639"/>
              <a:gd name="connsiteY97" fmla="*/ 411810 h 467708"/>
              <a:gd name="connsiteX98" fmla="*/ 26790 w 607639"/>
              <a:gd name="connsiteY98" fmla="*/ 375996 h 467708"/>
              <a:gd name="connsiteX99" fmla="*/ 19848 w 607639"/>
              <a:gd name="connsiteY99" fmla="*/ 375996 h 467708"/>
              <a:gd name="connsiteX100" fmla="*/ 0 w 607639"/>
              <a:gd name="connsiteY100" fmla="*/ 356179 h 467708"/>
              <a:gd name="connsiteX101" fmla="*/ 0 w 607639"/>
              <a:gd name="connsiteY101" fmla="*/ 328541 h 467708"/>
              <a:gd name="connsiteX102" fmla="*/ 19848 w 607639"/>
              <a:gd name="connsiteY102" fmla="*/ 308724 h 467708"/>
              <a:gd name="connsiteX103" fmla="*/ 40319 w 607639"/>
              <a:gd name="connsiteY103" fmla="*/ 308724 h 467708"/>
              <a:gd name="connsiteX104" fmla="*/ 76633 w 607639"/>
              <a:gd name="connsiteY104" fmla="*/ 277887 h 467708"/>
              <a:gd name="connsiteX105" fmla="*/ 453903 w 607639"/>
              <a:gd name="connsiteY105" fmla="*/ 153720 h 467708"/>
              <a:gd name="connsiteX106" fmla="*/ 466621 w 607639"/>
              <a:gd name="connsiteY106" fmla="*/ 153720 h 467708"/>
              <a:gd name="connsiteX107" fmla="*/ 466621 w 607639"/>
              <a:gd name="connsiteY107" fmla="*/ 166438 h 467708"/>
              <a:gd name="connsiteX108" fmla="*/ 410948 w 607639"/>
              <a:gd name="connsiteY108" fmla="*/ 222199 h 467708"/>
              <a:gd name="connsiteX109" fmla="*/ 398230 w 607639"/>
              <a:gd name="connsiteY109" fmla="*/ 222199 h 467708"/>
              <a:gd name="connsiteX110" fmla="*/ 398230 w 607639"/>
              <a:gd name="connsiteY110" fmla="*/ 209393 h 467708"/>
              <a:gd name="connsiteX111" fmla="*/ 362222 w 607639"/>
              <a:gd name="connsiteY111" fmla="*/ 134198 h 467708"/>
              <a:gd name="connsiteX112" fmla="*/ 364978 w 607639"/>
              <a:gd name="connsiteY112" fmla="*/ 146634 h 467708"/>
              <a:gd name="connsiteX113" fmla="*/ 355019 w 607639"/>
              <a:gd name="connsiteY113" fmla="*/ 163244 h 467708"/>
              <a:gd name="connsiteX114" fmla="*/ 342748 w 607639"/>
              <a:gd name="connsiteY114" fmla="*/ 166619 h 467708"/>
              <a:gd name="connsiteX115" fmla="*/ 339369 w 607639"/>
              <a:gd name="connsiteY115" fmla="*/ 154361 h 467708"/>
              <a:gd name="connsiteX116" fmla="*/ 349773 w 607639"/>
              <a:gd name="connsiteY116" fmla="*/ 136952 h 467708"/>
              <a:gd name="connsiteX117" fmla="*/ 362222 w 607639"/>
              <a:gd name="connsiteY117" fmla="*/ 134198 h 467708"/>
              <a:gd name="connsiteX118" fmla="*/ 433780 w 607639"/>
              <a:gd name="connsiteY118" fmla="*/ 133659 h 467708"/>
              <a:gd name="connsiteX119" fmla="*/ 446506 w 607639"/>
              <a:gd name="connsiteY119" fmla="*/ 133659 h 467708"/>
              <a:gd name="connsiteX120" fmla="*/ 446506 w 607639"/>
              <a:gd name="connsiteY120" fmla="*/ 146457 h 467708"/>
              <a:gd name="connsiteX121" fmla="*/ 372641 w 607639"/>
              <a:gd name="connsiteY121" fmla="*/ 220226 h 467708"/>
              <a:gd name="connsiteX122" fmla="*/ 359915 w 607639"/>
              <a:gd name="connsiteY122" fmla="*/ 220226 h 467708"/>
              <a:gd name="connsiteX123" fmla="*/ 359915 w 607639"/>
              <a:gd name="connsiteY123" fmla="*/ 207427 h 467708"/>
              <a:gd name="connsiteX124" fmla="*/ 413676 w 607639"/>
              <a:gd name="connsiteY124" fmla="*/ 113639 h 467708"/>
              <a:gd name="connsiteX125" fmla="*/ 426486 w 607639"/>
              <a:gd name="connsiteY125" fmla="*/ 113639 h 467708"/>
              <a:gd name="connsiteX126" fmla="*/ 426486 w 607639"/>
              <a:gd name="connsiteY126" fmla="*/ 126357 h 467708"/>
              <a:gd name="connsiteX127" fmla="*/ 370800 w 607639"/>
              <a:gd name="connsiteY127" fmla="*/ 182029 h 467708"/>
              <a:gd name="connsiteX128" fmla="*/ 357990 w 607639"/>
              <a:gd name="connsiteY128" fmla="*/ 182029 h 467708"/>
              <a:gd name="connsiteX129" fmla="*/ 357990 w 607639"/>
              <a:gd name="connsiteY129" fmla="*/ 169312 h 467708"/>
              <a:gd name="connsiteX130" fmla="*/ 550213 w 607639"/>
              <a:gd name="connsiteY130" fmla="*/ 18039 h 467708"/>
              <a:gd name="connsiteX131" fmla="*/ 541581 w 607639"/>
              <a:gd name="connsiteY131" fmla="*/ 21594 h 467708"/>
              <a:gd name="connsiteX132" fmla="*/ 462999 w 607639"/>
              <a:gd name="connsiteY132" fmla="*/ 99973 h 467708"/>
              <a:gd name="connsiteX133" fmla="*/ 480353 w 607639"/>
              <a:gd name="connsiteY133" fmla="*/ 117213 h 467708"/>
              <a:gd name="connsiteX134" fmla="*/ 558846 w 607639"/>
              <a:gd name="connsiteY134" fmla="*/ 38834 h 467708"/>
              <a:gd name="connsiteX135" fmla="*/ 562405 w 607639"/>
              <a:gd name="connsiteY135" fmla="*/ 30214 h 467708"/>
              <a:gd name="connsiteX136" fmla="*/ 558846 w 607639"/>
              <a:gd name="connsiteY136" fmla="*/ 21594 h 467708"/>
              <a:gd name="connsiteX137" fmla="*/ 550213 w 607639"/>
              <a:gd name="connsiteY137" fmla="*/ 18039 h 467708"/>
              <a:gd name="connsiteX138" fmla="*/ 550213 w 607639"/>
              <a:gd name="connsiteY138" fmla="*/ 0 h 467708"/>
              <a:gd name="connsiteX139" fmla="*/ 571661 w 607639"/>
              <a:gd name="connsiteY139" fmla="*/ 8797 h 467708"/>
              <a:gd name="connsiteX140" fmla="*/ 580471 w 607639"/>
              <a:gd name="connsiteY140" fmla="*/ 30214 h 467708"/>
              <a:gd name="connsiteX141" fmla="*/ 571661 w 607639"/>
              <a:gd name="connsiteY141" fmla="*/ 51542 h 467708"/>
              <a:gd name="connsiteX142" fmla="*/ 492990 w 607639"/>
              <a:gd name="connsiteY142" fmla="*/ 130099 h 467708"/>
              <a:gd name="connsiteX143" fmla="*/ 500999 w 607639"/>
              <a:gd name="connsiteY143" fmla="*/ 165023 h 467708"/>
              <a:gd name="connsiteX144" fmla="*/ 379523 w 607639"/>
              <a:gd name="connsiteY144" fmla="*/ 264108 h 467708"/>
              <a:gd name="connsiteX145" fmla="*/ 368309 w 607639"/>
              <a:gd name="connsiteY145" fmla="*/ 266596 h 467708"/>
              <a:gd name="connsiteX146" fmla="*/ 349176 w 607639"/>
              <a:gd name="connsiteY146" fmla="*/ 258687 h 467708"/>
              <a:gd name="connsiteX147" fmla="*/ 321409 w 607639"/>
              <a:gd name="connsiteY147" fmla="*/ 230961 h 467708"/>
              <a:gd name="connsiteX148" fmla="*/ 315981 w 607639"/>
              <a:gd name="connsiteY148" fmla="*/ 200569 h 467708"/>
              <a:gd name="connsiteX149" fmla="*/ 324079 w 607639"/>
              <a:gd name="connsiteY149" fmla="*/ 183507 h 467708"/>
              <a:gd name="connsiteX150" fmla="*/ 336093 w 607639"/>
              <a:gd name="connsiteY150" fmla="*/ 179419 h 467708"/>
              <a:gd name="connsiteX151" fmla="*/ 340276 w 607639"/>
              <a:gd name="connsiteY151" fmla="*/ 191416 h 467708"/>
              <a:gd name="connsiteX152" fmla="*/ 332356 w 607639"/>
              <a:gd name="connsiteY152" fmla="*/ 208122 h 467708"/>
              <a:gd name="connsiteX153" fmla="*/ 334225 w 607639"/>
              <a:gd name="connsiteY153" fmla="*/ 218253 h 467708"/>
              <a:gd name="connsiteX154" fmla="*/ 361902 w 607639"/>
              <a:gd name="connsiteY154" fmla="*/ 245890 h 467708"/>
              <a:gd name="connsiteX155" fmla="*/ 372047 w 607639"/>
              <a:gd name="connsiteY155" fmla="*/ 247756 h 467708"/>
              <a:gd name="connsiteX156" fmla="*/ 483290 w 607639"/>
              <a:gd name="connsiteY156" fmla="*/ 161646 h 467708"/>
              <a:gd name="connsiteX157" fmla="*/ 478395 w 607639"/>
              <a:gd name="connsiteY157" fmla="*/ 140851 h 467708"/>
              <a:gd name="connsiteX158" fmla="*/ 478306 w 607639"/>
              <a:gd name="connsiteY158" fmla="*/ 140762 h 467708"/>
              <a:gd name="connsiteX159" fmla="*/ 439416 w 607639"/>
              <a:gd name="connsiteY159" fmla="*/ 101839 h 467708"/>
              <a:gd name="connsiteX160" fmla="*/ 418591 w 607639"/>
              <a:gd name="connsiteY160" fmla="*/ 97041 h 467708"/>
              <a:gd name="connsiteX161" fmla="*/ 384150 w 607639"/>
              <a:gd name="connsiteY161" fmla="*/ 120768 h 467708"/>
              <a:gd name="connsiteX162" fmla="*/ 371424 w 607639"/>
              <a:gd name="connsiteY162" fmla="*/ 121656 h 467708"/>
              <a:gd name="connsiteX163" fmla="*/ 370534 w 607639"/>
              <a:gd name="connsiteY163" fmla="*/ 108860 h 467708"/>
              <a:gd name="connsiteX164" fmla="*/ 415209 w 607639"/>
              <a:gd name="connsiteY164" fmla="*/ 79356 h 467708"/>
              <a:gd name="connsiteX165" fmla="*/ 450184 w 607639"/>
              <a:gd name="connsiteY165" fmla="*/ 87354 h 467708"/>
              <a:gd name="connsiteX166" fmla="*/ 528766 w 607639"/>
              <a:gd name="connsiteY166" fmla="*/ 8797 h 467708"/>
              <a:gd name="connsiteX167" fmla="*/ 550213 w 607639"/>
              <a:gd name="connsiteY167" fmla="*/ 0 h 46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607639" h="467708">
                <a:moveTo>
                  <a:pt x="432542" y="413584"/>
                </a:moveTo>
                <a:lnTo>
                  <a:pt x="461381" y="413584"/>
                </a:lnTo>
                <a:cubicBezTo>
                  <a:pt x="466366" y="413584"/>
                  <a:pt x="470460" y="417678"/>
                  <a:pt x="470460" y="422661"/>
                </a:cubicBezTo>
                <a:cubicBezTo>
                  <a:pt x="470460" y="427645"/>
                  <a:pt x="466366" y="431649"/>
                  <a:pt x="461381" y="431649"/>
                </a:cubicBezTo>
                <a:lnTo>
                  <a:pt x="432542" y="431649"/>
                </a:lnTo>
                <a:cubicBezTo>
                  <a:pt x="427558" y="431649"/>
                  <a:pt x="423463" y="427645"/>
                  <a:pt x="423463" y="422661"/>
                </a:cubicBezTo>
                <a:cubicBezTo>
                  <a:pt x="423463" y="417678"/>
                  <a:pt x="427558" y="413584"/>
                  <a:pt x="432542" y="413584"/>
                </a:cubicBezTo>
                <a:close/>
                <a:moveTo>
                  <a:pt x="328231" y="413584"/>
                </a:moveTo>
                <a:lnTo>
                  <a:pt x="406054" y="413584"/>
                </a:lnTo>
                <a:cubicBezTo>
                  <a:pt x="411040" y="413584"/>
                  <a:pt x="415136" y="417678"/>
                  <a:pt x="415136" y="422661"/>
                </a:cubicBezTo>
                <a:cubicBezTo>
                  <a:pt x="415136" y="427645"/>
                  <a:pt x="411040" y="431649"/>
                  <a:pt x="406054" y="431649"/>
                </a:cubicBezTo>
                <a:lnTo>
                  <a:pt x="328231" y="431649"/>
                </a:lnTo>
                <a:cubicBezTo>
                  <a:pt x="323245" y="431649"/>
                  <a:pt x="319238" y="427645"/>
                  <a:pt x="319238" y="422661"/>
                </a:cubicBezTo>
                <a:cubicBezTo>
                  <a:pt x="319238" y="417678"/>
                  <a:pt x="323245" y="413584"/>
                  <a:pt x="328231" y="413584"/>
                </a:cubicBezTo>
                <a:close/>
                <a:moveTo>
                  <a:pt x="44859" y="375996"/>
                </a:moveTo>
                <a:lnTo>
                  <a:pt x="44859" y="411810"/>
                </a:lnTo>
                <a:cubicBezTo>
                  <a:pt x="44859" y="432694"/>
                  <a:pt x="61859" y="449668"/>
                  <a:pt x="82686" y="449668"/>
                </a:cubicBezTo>
                <a:lnTo>
                  <a:pt x="524864" y="449668"/>
                </a:lnTo>
                <a:cubicBezTo>
                  <a:pt x="545780" y="449668"/>
                  <a:pt x="562780" y="432694"/>
                  <a:pt x="562780" y="411810"/>
                </a:cubicBezTo>
                <a:lnTo>
                  <a:pt x="562780" y="375996"/>
                </a:lnTo>
                <a:close/>
                <a:moveTo>
                  <a:pt x="19848" y="326675"/>
                </a:moveTo>
                <a:cubicBezTo>
                  <a:pt x="18869" y="326675"/>
                  <a:pt x="18869" y="357956"/>
                  <a:pt x="19848" y="357956"/>
                </a:cubicBezTo>
                <a:lnTo>
                  <a:pt x="587791" y="357956"/>
                </a:lnTo>
                <a:cubicBezTo>
                  <a:pt x="588770" y="357956"/>
                  <a:pt x="588770" y="326675"/>
                  <a:pt x="587791" y="326675"/>
                </a:cubicBezTo>
                <a:close/>
                <a:moveTo>
                  <a:pt x="76633" y="277887"/>
                </a:moveTo>
                <a:cubicBezTo>
                  <a:pt x="85000" y="277887"/>
                  <a:pt x="92921" y="280731"/>
                  <a:pt x="99330" y="285707"/>
                </a:cubicBezTo>
                <a:cubicBezTo>
                  <a:pt x="105738" y="280731"/>
                  <a:pt x="113749" y="277887"/>
                  <a:pt x="122115" y="277887"/>
                </a:cubicBezTo>
                <a:cubicBezTo>
                  <a:pt x="130393" y="277887"/>
                  <a:pt x="138403" y="280731"/>
                  <a:pt x="144811" y="285707"/>
                </a:cubicBezTo>
                <a:cubicBezTo>
                  <a:pt x="151220" y="280731"/>
                  <a:pt x="159230" y="277887"/>
                  <a:pt x="167508" y="277887"/>
                </a:cubicBezTo>
                <a:cubicBezTo>
                  <a:pt x="175874" y="277887"/>
                  <a:pt x="183796" y="280731"/>
                  <a:pt x="190204" y="285707"/>
                </a:cubicBezTo>
                <a:cubicBezTo>
                  <a:pt x="196613" y="280731"/>
                  <a:pt x="204623" y="277887"/>
                  <a:pt x="212989" y="277887"/>
                </a:cubicBezTo>
                <a:cubicBezTo>
                  <a:pt x="221267" y="277887"/>
                  <a:pt x="229277" y="280731"/>
                  <a:pt x="235686" y="285707"/>
                </a:cubicBezTo>
                <a:cubicBezTo>
                  <a:pt x="242094" y="280731"/>
                  <a:pt x="250016" y="277887"/>
                  <a:pt x="258382" y="277887"/>
                </a:cubicBezTo>
                <a:cubicBezTo>
                  <a:pt x="266660" y="277887"/>
                  <a:pt x="274670" y="280731"/>
                  <a:pt x="281079" y="285707"/>
                </a:cubicBezTo>
                <a:cubicBezTo>
                  <a:pt x="287487" y="280731"/>
                  <a:pt x="295497" y="277887"/>
                  <a:pt x="303775" y="277887"/>
                </a:cubicBezTo>
                <a:cubicBezTo>
                  <a:pt x="312141" y="277887"/>
                  <a:pt x="320152" y="280731"/>
                  <a:pt x="326560" y="285707"/>
                </a:cubicBezTo>
                <a:cubicBezTo>
                  <a:pt x="332969" y="280731"/>
                  <a:pt x="340890" y="277887"/>
                  <a:pt x="349257" y="277887"/>
                </a:cubicBezTo>
                <a:cubicBezTo>
                  <a:pt x="357534" y="277887"/>
                  <a:pt x="365545" y="280731"/>
                  <a:pt x="371953" y="285707"/>
                </a:cubicBezTo>
                <a:cubicBezTo>
                  <a:pt x="378362" y="280731"/>
                  <a:pt x="386372" y="277887"/>
                  <a:pt x="394650" y="277887"/>
                </a:cubicBezTo>
                <a:cubicBezTo>
                  <a:pt x="406665" y="277887"/>
                  <a:pt x="417880" y="283663"/>
                  <a:pt x="424733" y="293439"/>
                </a:cubicBezTo>
                <a:cubicBezTo>
                  <a:pt x="427670" y="297526"/>
                  <a:pt x="426691" y="303125"/>
                  <a:pt x="422597" y="306058"/>
                </a:cubicBezTo>
                <a:cubicBezTo>
                  <a:pt x="418503" y="308902"/>
                  <a:pt x="412896" y="307924"/>
                  <a:pt x="410047" y="303836"/>
                </a:cubicBezTo>
                <a:cubicBezTo>
                  <a:pt x="406487" y="298859"/>
                  <a:pt x="400791" y="295927"/>
                  <a:pt x="394650" y="295927"/>
                </a:cubicBezTo>
                <a:cubicBezTo>
                  <a:pt x="388597" y="295927"/>
                  <a:pt x="382812" y="298859"/>
                  <a:pt x="379341" y="303836"/>
                </a:cubicBezTo>
                <a:cubicBezTo>
                  <a:pt x="377650" y="306235"/>
                  <a:pt x="374890" y="307657"/>
                  <a:pt x="371953" y="307657"/>
                </a:cubicBezTo>
                <a:cubicBezTo>
                  <a:pt x="369016" y="307657"/>
                  <a:pt x="366257" y="306235"/>
                  <a:pt x="364566" y="303836"/>
                </a:cubicBezTo>
                <a:cubicBezTo>
                  <a:pt x="361095" y="298859"/>
                  <a:pt x="355309" y="295927"/>
                  <a:pt x="349257" y="295927"/>
                </a:cubicBezTo>
                <a:cubicBezTo>
                  <a:pt x="343115" y="295927"/>
                  <a:pt x="337419" y="298859"/>
                  <a:pt x="333859" y="303836"/>
                </a:cubicBezTo>
                <a:cubicBezTo>
                  <a:pt x="332168" y="306235"/>
                  <a:pt x="329498" y="307657"/>
                  <a:pt x="326560" y="307657"/>
                </a:cubicBezTo>
                <a:cubicBezTo>
                  <a:pt x="323623" y="307657"/>
                  <a:pt x="320864" y="306235"/>
                  <a:pt x="319173" y="303836"/>
                </a:cubicBezTo>
                <a:cubicBezTo>
                  <a:pt x="315613" y="298859"/>
                  <a:pt x="309916" y="295927"/>
                  <a:pt x="303775" y="295927"/>
                </a:cubicBezTo>
                <a:cubicBezTo>
                  <a:pt x="297722" y="295927"/>
                  <a:pt x="292026" y="298859"/>
                  <a:pt x="288466" y="303836"/>
                </a:cubicBezTo>
                <a:cubicBezTo>
                  <a:pt x="286775" y="306235"/>
                  <a:pt x="284016" y="307657"/>
                  <a:pt x="281079" y="307657"/>
                </a:cubicBezTo>
                <a:cubicBezTo>
                  <a:pt x="278141" y="307657"/>
                  <a:pt x="275382" y="306235"/>
                  <a:pt x="273691" y="303836"/>
                </a:cubicBezTo>
                <a:cubicBezTo>
                  <a:pt x="270220" y="298859"/>
                  <a:pt x="264435" y="295927"/>
                  <a:pt x="258382" y="295927"/>
                </a:cubicBezTo>
                <a:cubicBezTo>
                  <a:pt x="252330" y="295927"/>
                  <a:pt x="246544" y="298859"/>
                  <a:pt x="243073" y="303836"/>
                </a:cubicBezTo>
                <a:cubicBezTo>
                  <a:pt x="241382" y="306235"/>
                  <a:pt x="238623" y="307657"/>
                  <a:pt x="235686" y="307657"/>
                </a:cubicBezTo>
                <a:cubicBezTo>
                  <a:pt x="232749" y="307657"/>
                  <a:pt x="229989" y="306235"/>
                  <a:pt x="228298" y="303836"/>
                </a:cubicBezTo>
                <a:cubicBezTo>
                  <a:pt x="224738" y="298859"/>
                  <a:pt x="219042" y="295927"/>
                  <a:pt x="212989" y="295927"/>
                </a:cubicBezTo>
                <a:cubicBezTo>
                  <a:pt x="206848" y="295927"/>
                  <a:pt x="201152" y="298859"/>
                  <a:pt x="197592" y="303836"/>
                </a:cubicBezTo>
                <a:cubicBezTo>
                  <a:pt x="195900" y="306235"/>
                  <a:pt x="193141" y="307657"/>
                  <a:pt x="190204" y="307657"/>
                </a:cubicBezTo>
                <a:cubicBezTo>
                  <a:pt x="187267" y="307657"/>
                  <a:pt x="184508" y="306235"/>
                  <a:pt x="182817" y="303836"/>
                </a:cubicBezTo>
                <a:cubicBezTo>
                  <a:pt x="179345" y="298859"/>
                  <a:pt x="173560" y="295927"/>
                  <a:pt x="167508" y="295927"/>
                </a:cubicBezTo>
                <a:cubicBezTo>
                  <a:pt x="161455" y="295927"/>
                  <a:pt x="155670" y="298859"/>
                  <a:pt x="152199" y="303836"/>
                </a:cubicBezTo>
                <a:cubicBezTo>
                  <a:pt x="150508" y="306235"/>
                  <a:pt x="147749" y="307657"/>
                  <a:pt x="144811" y="307657"/>
                </a:cubicBezTo>
                <a:cubicBezTo>
                  <a:pt x="141874" y="307657"/>
                  <a:pt x="139115" y="306235"/>
                  <a:pt x="137424" y="303836"/>
                </a:cubicBezTo>
                <a:cubicBezTo>
                  <a:pt x="133864" y="298859"/>
                  <a:pt x="128167" y="295927"/>
                  <a:pt x="122115" y="295927"/>
                </a:cubicBezTo>
                <a:cubicBezTo>
                  <a:pt x="115974" y="295927"/>
                  <a:pt x="110277" y="298859"/>
                  <a:pt x="106717" y="303836"/>
                </a:cubicBezTo>
                <a:cubicBezTo>
                  <a:pt x="105026" y="306235"/>
                  <a:pt x="102267" y="307657"/>
                  <a:pt x="99330" y="307657"/>
                </a:cubicBezTo>
                <a:cubicBezTo>
                  <a:pt x="96393" y="307657"/>
                  <a:pt x="93722" y="306235"/>
                  <a:pt x="92031" y="303836"/>
                </a:cubicBezTo>
                <a:cubicBezTo>
                  <a:pt x="88471" y="298859"/>
                  <a:pt x="82775" y="295927"/>
                  <a:pt x="76633" y="295927"/>
                </a:cubicBezTo>
                <a:cubicBezTo>
                  <a:pt x="68356" y="295927"/>
                  <a:pt x="61414" y="301259"/>
                  <a:pt x="58921" y="308724"/>
                </a:cubicBezTo>
                <a:lnTo>
                  <a:pt x="548718" y="308724"/>
                </a:lnTo>
                <a:cubicBezTo>
                  <a:pt x="546226" y="301259"/>
                  <a:pt x="539194" y="295927"/>
                  <a:pt x="530917" y="295927"/>
                </a:cubicBezTo>
                <a:cubicBezTo>
                  <a:pt x="524864" y="295927"/>
                  <a:pt x="519168" y="298859"/>
                  <a:pt x="515608" y="303836"/>
                </a:cubicBezTo>
                <a:cubicBezTo>
                  <a:pt x="513917" y="306235"/>
                  <a:pt x="511157" y="307657"/>
                  <a:pt x="508220" y="307657"/>
                </a:cubicBezTo>
                <a:cubicBezTo>
                  <a:pt x="505283" y="307657"/>
                  <a:pt x="502524" y="306235"/>
                  <a:pt x="500833" y="303836"/>
                </a:cubicBezTo>
                <a:cubicBezTo>
                  <a:pt x="497362" y="298859"/>
                  <a:pt x="491576" y="295927"/>
                  <a:pt x="485524" y="295927"/>
                </a:cubicBezTo>
                <a:cubicBezTo>
                  <a:pt x="479472" y="295927"/>
                  <a:pt x="473686" y="298859"/>
                  <a:pt x="470215" y="303836"/>
                </a:cubicBezTo>
                <a:cubicBezTo>
                  <a:pt x="468524" y="306235"/>
                  <a:pt x="465765" y="307657"/>
                  <a:pt x="462828" y="307657"/>
                </a:cubicBezTo>
                <a:cubicBezTo>
                  <a:pt x="459890" y="307657"/>
                  <a:pt x="457131" y="306235"/>
                  <a:pt x="455440" y="303836"/>
                </a:cubicBezTo>
                <a:cubicBezTo>
                  <a:pt x="452948" y="300370"/>
                  <a:pt x="449388" y="297793"/>
                  <a:pt x="445383" y="296638"/>
                </a:cubicBezTo>
                <a:cubicBezTo>
                  <a:pt x="440576" y="295216"/>
                  <a:pt x="437817" y="290239"/>
                  <a:pt x="439241" y="285440"/>
                </a:cubicBezTo>
                <a:cubicBezTo>
                  <a:pt x="440665" y="280642"/>
                  <a:pt x="445650" y="277976"/>
                  <a:pt x="450456" y="279309"/>
                </a:cubicBezTo>
                <a:cubicBezTo>
                  <a:pt x="454906" y="280642"/>
                  <a:pt x="459178" y="282863"/>
                  <a:pt x="462828" y="285707"/>
                </a:cubicBezTo>
                <a:cubicBezTo>
                  <a:pt x="469236" y="280731"/>
                  <a:pt x="477157" y="277887"/>
                  <a:pt x="485524" y="277887"/>
                </a:cubicBezTo>
                <a:cubicBezTo>
                  <a:pt x="493890" y="277887"/>
                  <a:pt x="501812" y="280731"/>
                  <a:pt x="508220" y="285707"/>
                </a:cubicBezTo>
                <a:cubicBezTo>
                  <a:pt x="514629" y="280731"/>
                  <a:pt x="522639" y="277887"/>
                  <a:pt x="530917" y="277887"/>
                </a:cubicBezTo>
                <a:cubicBezTo>
                  <a:pt x="549252" y="277887"/>
                  <a:pt x="564383" y="291217"/>
                  <a:pt x="567231" y="308724"/>
                </a:cubicBezTo>
                <a:lnTo>
                  <a:pt x="587791" y="308724"/>
                </a:lnTo>
                <a:cubicBezTo>
                  <a:pt x="598739" y="308724"/>
                  <a:pt x="607639" y="317611"/>
                  <a:pt x="607639" y="328541"/>
                </a:cubicBezTo>
                <a:lnTo>
                  <a:pt x="607639" y="356179"/>
                </a:lnTo>
                <a:cubicBezTo>
                  <a:pt x="607639" y="367110"/>
                  <a:pt x="598739" y="375996"/>
                  <a:pt x="587791" y="375996"/>
                </a:cubicBezTo>
                <a:lnTo>
                  <a:pt x="580849" y="375996"/>
                </a:lnTo>
                <a:lnTo>
                  <a:pt x="580849" y="411810"/>
                </a:lnTo>
                <a:cubicBezTo>
                  <a:pt x="580849" y="442648"/>
                  <a:pt x="555749" y="467708"/>
                  <a:pt x="524864" y="467708"/>
                </a:cubicBezTo>
                <a:lnTo>
                  <a:pt x="82686" y="467708"/>
                </a:lnTo>
                <a:cubicBezTo>
                  <a:pt x="51890" y="467708"/>
                  <a:pt x="26790" y="442648"/>
                  <a:pt x="26790" y="411810"/>
                </a:cubicBezTo>
                <a:lnTo>
                  <a:pt x="26790" y="375996"/>
                </a:lnTo>
                <a:lnTo>
                  <a:pt x="19848" y="375996"/>
                </a:lnTo>
                <a:cubicBezTo>
                  <a:pt x="8900" y="375996"/>
                  <a:pt x="0" y="367110"/>
                  <a:pt x="0" y="356179"/>
                </a:cubicBezTo>
                <a:lnTo>
                  <a:pt x="0" y="328541"/>
                </a:lnTo>
                <a:cubicBezTo>
                  <a:pt x="0" y="317611"/>
                  <a:pt x="8900" y="308724"/>
                  <a:pt x="19848" y="308724"/>
                </a:cubicBezTo>
                <a:lnTo>
                  <a:pt x="40319" y="308724"/>
                </a:lnTo>
                <a:cubicBezTo>
                  <a:pt x="43167" y="291217"/>
                  <a:pt x="58387" y="277887"/>
                  <a:pt x="76633" y="277887"/>
                </a:cubicBezTo>
                <a:close/>
                <a:moveTo>
                  <a:pt x="453903" y="153720"/>
                </a:moveTo>
                <a:cubicBezTo>
                  <a:pt x="457372" y="150163"/>
                  <a:pt x="463152" y="150163"/>
                  <a:pt x="466621" y="153720"/>
                </a:cubicBezTo>
                <a:cubicBezTo>
                  <a:pt x="470178" y="157277"/>
                  <a:pt x="470178" y="162969"/>
                  <a:pt x="466621" y="166438"/>
                </a:cubicBezTo>
                <a:lnTo>
                  <a:pt x="410948" y="222199"/>
                </a:lnTo>
                <a:cubicBezTo>
                  <a:pt x="407391" y="225668"/>
                  <a:pt x="401699" y="225668"/>
                  <a:pt x="398230" y="222199"/>
                </a:cubicBezTo>
                <a:cubicBezTo>
                  <a:pt x="394673" y="218642"/>
                  <a:pt x="394673" y="212950"/>
                  <a:pt x="398230" y="209393"/>
                </a:cubicBezTo>
                <a:close/>
                <a:moveTo>
                  <a:pt x="362222" y="134198"/>
                </a:moveTo>
                <a:cubicBezTo>
                  <a:pt x="366401" y="136952"/>
                  <a:pt x="367646" y="142459"/>
                  <a:pt x="364978" y="146634"/>
                </a:cubicBezTo>
                <a:cubicBezTo>
                  <a:pt x="361688" y="151785"/>
                  <a:pt x="358843" y="157648"/>
                  <a:pt x="355019" y="163244"/>
                </a:cubicBezTo>
                <a:cubicBezTo>
                  <a:pt x="350751" y="169639"/>
                  <a:pt x="344171" y="167418"/>
                  <a:pt x="342748" y="166619"/>
                </a:cubicBezTo>
                <a:cubicBezTo>
                  <a:pt x="338391" y="164132"/>
                  <a:pt x="336879" y="158714"/>
                  <a:pt x="339369" y="154361"/>
                </a:cubicBezTo>
                <a:cubicBezTo>
                  <a:pt x="342837" y="148232"/>
                  <a:pt x="346394" y="142370"/>
                  <a:pt x="349773" y="136952"/>
                </a:cubicBezTo>
                <a:cubicBezTo>
                  <a:pt x="352440" y="132777"/>
                  <a:pt x="358043" y="131534"/>
                  <a:pt x="362222" y="134198"/>
                </a:cubicBezTo>
                <a:close/>
                <a:moveTo>
                  <a:pt x="433780" y="133659"/>
                </a:moveTo>
                <a:cubicBezTo>
                  <a:pt x="437340" y="130193"/>
                  <a:pt x="443036" y="130193"/>
                  <a:pt x="446506" y="133659"/>
                </a:cubicBezTo>
                <a:cubicBezTo>
                  <a:pt x="450066" y="137214"/>
                  <a:pt x="450066" y="142902"/>
                  <a:pt x="446506" y="146457"/>
                </a:cubicBezTo>
                <a:lnTo>
                  <a:pt x="372641" y="220226"/>
                </a:lnTo>
                <a:cubicBezTo>
                  <a:pt x="369170" y="223692"/>
                  <a:pt x="363475" y="223692"/>
                  <a:pt x="359915" y="220226"/>
                </a:cubicBezTo>
                <a:cubicBezTo>
                  <a:pt x="356355" y="216670"/>
                  <a:pt x="356355" y="210982"/>
                  <a:pt x="359915" y="207427"/>
                </a:cubicBezTo>
                <a:close/>
                <a:moveTo>
                  <a:pt x="413676" y="113639"/>
                </a:moveTo>
                <a:cubicBezTo>
                  <a:pt x="417235" y="110082"/>
                  <a:pt x="422928" y="110082"/>
                  <a:pt x="426486" y="113639"/>
                </a:cubicBezTo>
                <a:cubicBezTo>
                  <a:pt x="429955" y="117108"/>
                  <a:pt x="429955" y="122799"/>
                  <a:pt x="426486" y="126357"/>
                </a:cubicBezTo>
                <a:lnTo>
                  <a:pt x="370800" y="182029"/>
                </a:lnTo>
                <a:cubicBezTo>
                  <a:pt x="367242" y="185587"/>
                  <a:pt x="361549" y="185587"/>
                  <a:pt x="357990" y="182029"/>
                </a:cubicBezTo>
                <a:cubicBezTo>
                  <a:pt x="354521" y="178561"/>
                  <a:pt x="354521" y="172780"/>
                  <a:pt x="357990" y="169312"/>
                </a:cubicBezTo>
                <a:close/>
                <a:moveTo>
                  <a:pt x="550213" y="18039"/>
                </a:moveTo>
                <a:cubicBezTo>
                  <a:pt x="546920" y="18039"/>
                  <a:pt x="543895" y="19284"/>
                  <a:pt x="541581" y="21594"/>
                </a:cubicBezTo>
                <a:lnTo>
                  <a:pt x="462999" y="99973"/>
                </a:lnTo>
                <a:lnTo>
                  <a:pt x="480353" y="117213"/>
                </a:lnTo>
                <a:lnTo>
                  <a:pt x="558846" y="38834"/>
                </a:lnTo>
                <a:cubicBezTo>
                  <a:pt x="561159" y="36523"/>
                  <a:pt x="562405" y="33502"/>
                  <a:pt x="562405" y="30214"/>
                </a:cubicBezTo>
                <a:cubicBezTo>
                  <a:pt x="562405" y="26926"/>
                  <a:pt x="561159" y="23816"/>
                  <a:pt x="558846" y="21594"/>
                </a:cubicBezTo>
                <a:cubicBezTo>
                  <a:pt x="556532" y="19284"/>
                  <a:pt x="553506" y="18039"/>
                  <a:pt x="550213" y="18039"/>
                </a:cubicBezTo>
                <a:close/>
                <a:moveTo>
                  <a:pt x="550213" y="0"/>
                </a:moveTo>
                <a:cubicBezTo>
                  <a:pt x="558312" y="0"/>
                  <a:pt x="565965" y="3110"/>
                  <a:pt x="571661" y="8797"/>
                </a:cubicBezTo>
                <a:cubicBezTo>
                  <a:pt x="577356" y="14485"/>
                  <a:pt x="580471" y="22127"/>
                  <a:pt x="580471" y="30214"/>
                </a:cubicBezTo>
                <a:cubicBezTo>
                  <a:pt x="580471" y="38301"/>
                  <a:pt x="577356" y="45854"/>
                  <a:pt x="571661" y="51542"/>
                </a:cubicBezTo>
                <a:lnTo>
                  <a:pt x="492990" y="130099"/>
                </a:lnTo>
                <a:cubicBezTo>
                  <a:pt x="498953" y="137386"/>
                  <a:pt x="503936" y="149827"/>
                  <a:pt x="500999" y="165023"/>
                </a:cubicBezTo>
                <a:cubicBezTo>
                  <a:pt x="494770" y="197547"/>
                  <a:pt x="456235" y="229095"/>
                  <a:pt x="379523" y="264108"/>
                </a:cubicBezTo>
                <a:cubicBezTo>
                  <a:pt x="375963" y="265796"/>
                  <a:pt x="372136" y="266596"/>
                  <a:pt x="368309" y="266596"/>
                </a:cubicBezTo>
                <a:cubicBezTo>
                  <a:pt x="361279" y="266596"/>
                  <a:pt x="354337" y="263841"/>
                  <a:pt x="349176" y="258687"/>
                </a:cubicBezTo>
                <a:lnTo>
                  <a:pt x="321409" y="230961"/>
                </a:lnTo>
                <a:cubicBezTo>
                  <a:pt x="313489" y="223052"/>
                  <a:pt x="311264" y="210788"/>
                  <a:pt x="315981" y="200569"/>
                </a:cubicBezTo>
                <a:cubicBezTo>
                  <a:pt x="318650" y="194704"/>
                  <a:pt x="321409" y="188927"/>
                  <a:pt x="324079" y="183507"/>
                </a:cubicBezTo>
                <a:cubicBezTo>
                  <a:pt x="326215" y="179063"/>
                  <a:pt x="331644" y="177197"/>
                  <a:pt x="336093" y="179419"/>
                </a:cubicBezTo>
                <a:cubicBezTo>
                  <a:pt x="340632" y="181552"/>
                  <a:pt x="342412" y="186972"/>
                  <a:pt x="340276" y="191416"/>
                </a:cubicBezTo>
                <a:cubicBezTo>
                  <a:pt x="337606" y="196748"/>
                  <a:pt x="335026" y="202346"/>
                  <a:pt x="332356" y="208122"/>
                </a:cubicBezTo>
                <a:cubicBezTo>
                  <a:pt x="330754" y="211499"/>
                  <a:pt x="331555" y="215587"/>
                  <a:pt x="334225" y="218253"/>
                </a:cubicBezTo>
                <a:lnTo>
                  <a:pt x="361902" y="245890"/>
                </a:lnTo>
                <a:cubicBezTo>
                  <a:pt x="364572" y="248556"/>
                  <a:pt x="368665" y="249267"/>
                  <a:pt x="372047" y="247756"/>
                </a:cubicBezTo>
                <a:cubicBezTo>
                  <a:pt x="441017" y="216209"/>
                  <a:pt x="478395" y="187239"/>
                  <a:pt x="483290" y="161646"/>
                </a:cubicBezTo>
                <a:cubicBezTo>
                  <a:pt x="485159" y="151959"/>
                  <a:pt x="481777" y="144406"/>
                  <a:pt x="478395" y="140851"/>
                </a:cubicBezTo>
                <a:lnTo>
                  <a:pt x="478306" y="140762"/>
                </a:lnTo>
                <a:lnTo>
                  <a:pt x="439416" y="101839"/>
                </a:lnTo>
                <a:cubicBezTo>
                  <a:pt x="435856" y="98463"/>
                  <a:pt x="428291" y="95175"/>
                  <a:pt x="418591" y="97041"/>
                </a:cubicBezTo>
                <a:cubicBezTo>
                  <a:pt x="407734" y="99085"/>
                  <a:pt x="396164" y="107082"/>
                  <a:pt x="384150" y="120768"/>
                </a:cubicBezTo>
                <a:cubicBezTo>
                  <a:pt x="380857" y="124500"/>
                  <a:pt x="375162" y="124856"/>
                  <a:pt x="371424" y="121656"/>
                </a:cubicBezTo>
                <a:cubicBezTo>
                  <a:pt x="367686" y="118368"/>
                  <a:pt x="367241" y="112681"/>
                  <a:pt x="370534" y="108860"/>
                </a:cubicBezTo>
                <a:cubicBezTo>
                  <a:pt x="385574" y="91887"/>
                  <a:pt x="400169" y="82200"/>
                  <a:pt x="415209" y="79356"/>
                </a:cubicBezTo>
                <a:cubicBezTo>
                  <a:pt x="430338" y="76424"/>
                  <a:pt x="442886" y="81312"/>
                  <a:pt x="450184" y="87354"/>
                </a:cubicBezTo>
                <a:lnTo>
                  <a:pt x="528766" y="8797"/>
                </a:lnTo>
                <a:cubicBezTo>
                  <a:pt x="534550" y="3110"/>
                  <a:pt x="542115" y="0"/>
                  <a:pt x="550213" y="0"/>
                </a:cubicBezTo>
                <a:close/>
              </a:path>
            </a:pathLst>
          </a:custGeom>
          <a:noFill/>
          <a:ln w="3175" cap="rnd">
            <a:solidFill>
              <a:schemeClr val="tx1"/>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fontScale="92500" lnSpcReduction="10000"/>
          </a:bodyPr>
          <a:lstStyle>
            <a:defPPr>
              <a:defRPr lang="zh-CN"/>
            </a:defPPr>
            <a:lvl1pPr algn="l" rtl="0" fontAlgn="t">
              <a:spcBef>
                <a:spcPct val="0"/>
              </a:spcBef>
              <a:spcAft>
                <a:spcPct val="0"/>
              </a:spcAft>
              <a:defRPr sz="1000" kern="1200">
                <a:solidFill>
                  <a:schemeClr val="lt1"/>
                </a:solidFill>
                <a:latin typeface="+mn-lt"/>
                <a:ea typeface="+mn-ea"/>
                <a:cs typeface="+mn-cs"/>
              </a:defRPr>
            </a:lvl1pPr>
            <a:lvl2pPr marL="457200" algn="l" rtl="0" fontAlgn="t">
              <a:spcBef>
                <a:spcPct val="0"/>
              </a:spcBef>
              <a:spcAft>
                <a:spcPct val="0"/>
              </a:spcAft>
              <a:defRPr sz="1000" kern="1200">
                <a:solidFill>
                  <a:schemeClr val="lt1"/>
                </a:solidFill>
                <a:latin typeface="+mn-lt"/>
                <a:ea typeface="+mn-ea"/>
                <a:cs typeface="+mn-cs"/>
              </a:defRPr>
            </a:lvl2pPr>
            <a:lvl3pPr marL="914400" algn="l" rtl="0" fontAlgn="t">
              <a:spcBef>
                <a:spcPct val="0"/>
              </a:spcBef>
              <a:spcAft>
                <a:spcPct val="0"/>
              </a:spcAft>
              <a:defRPr sz="1000" kern="1200">
                <a:solidFill>
                  <a:schemeClr val="lt1"/>
                </a:solidFill>
                <a:latin typeface="+mn-lt"/>
                <a:ea typeface="+mn-ea"/>
                <a:cs typeface="+mn-cs"/>
              </a:defRPr>
            </a:lvl3pPr>
            <a:lvl4pPr marL="1371600" algn="l" rtl="0" fontAlgn="t">
              <a:spcBef>
                <a:spcPct val="0"/>
              </a:spcBef>
              <a:spcAft>
                <a:spcPct val="0"/>
              </a:spcAft>
              <a:defRPr sz="1000" kern="1200">
                <a:solidFill>
                  <a:schemeClr val="lt1"/>
                </a:solidFill>
                <a:latin typeface="+mn-lt"/>
                <a:ea typeface="+mn-ea"/>
                <a:cs typeface="+mn-cs"/>
              </a:defRPr>
            </a:lvl4pPr>
            <a:lvl5pPr marL="1828800" algn="l" rtl="0" fontAlgn="t">
              <a:spcBef>
                <a:spcPct val="0"/>
              </a:spcBef>
              <a:spcAft>
                <a:spcPct val="0"/>
              </a:spcAft>
              <a:defRPr sz="1000" kern="1200">
                <a:solidFill>
                  <a:schemeClr val="lt1"/>
                </a:solidFill>
                <a:latin typeface="+mn-lt"/>
                <a:ea typeface="+mn-ea"/>
                <a:cs typeface="+mn-cs"/>
              </a:defRPr>
            </a:lvl5pPr>
            <a:lvl6pPr marL="2286000" algn="l" defTabSz="914400" rtl="0" eaLnBrk="1" latinLnBrk="0" hangingPunct="1">
              <a:defRPr sz="1000" kern="1200">
                <a:solidFill>
                  <a:schemeClr val="lt1"/>
                </a:solidFill>
                <a:latin typeface="+mn-lt"/>
                <a:ea typeface="+mn-ea"/>
                <a:cs typeface="+mn-cs"/>
              </a:defRPr>
            </a:lvl6pPr>
            <a:lvl7pPr marL="2743200" algn="l" defTabSz="914400" rtl="0" eaLnBrk="1" latinLnBrk="0" hangingPunct="1">
              <a:defRPr sz="1000" kern="1200">
                <a:solidFill>
                  <a:schemeClr val="lt1"/>
                </a:solidFill>
                <a:latin typeface="+mn-lt"/>
                <a:ea typeface="+mn-ea"/>
                <a:cs typeface="+mn-cs"/>
              </a:defRPr>
            </a:lvl7pPr>
            <a:lvl8pPr marL="3200400" algn="l" defTabSz="914400" rtl="0" eaLnBrk="1" latinLnBrk="0" hangingPunct="1">
              <a:defRPr sz="1000" kern="1200">
                <a:solidFill>
                  <a:schemeClr val="lt1"/>
                </a:solidFill>
                <a:latin typeface="+mn-lt"/>
                <a:ea typeface="+mn-ea"/>
                <a:cs typeface="+mn-cs"/>
              </a:defRPr>
            </a:lvl8pPr>
            <a:lvl9pPr marL="3657600" algn="l" defTabSz="914400" rtl="0" eaLnBrk="1" latinLnBrk="0" hangingPunct="1">
              <a:defRPr sz="1000" kern="1200">
                <a:solidFill>
                  <a:schemeClr val="lt1"/>
                </a:solidFill>
                <a:latin typeface="+mn-lt"/>
                <a:ea typeface="+mn-ea"/>
                <a:cs typeface="+mn-cs"/>
              </a:defRPr>
            </a:lvl9pPr>
          </a:lstStyle>
          <a:p>
            <a:pPr algn="ctr" defTabSz="914354"/>
            <a:endParaRPr lang="zh-CN" altLang="en-US" sz="2000" b="1" i="1">
              <a:solidFill>
                <a:schemeClr val="tx1"/>
              </a:solidFill>
              <a:latin typeface="Arial" panose="020B0604020202020204" pitchFamily="34" charset="0"/>
            </a:endParaRPr>
          </a:p>
        </p:txBody>
      </p:sp>
      <p:cxnSp>
        <p:nvCxnSpPr>
          <p:cNvPr id="35" name="直接连接符 34"/>
          <p:cNvCxnSpPr/>
          <p:nvPr/>
        </p:nvCxnSpPr>
        <p:spPr>
          <a:xfrm>
            <a:off x="6408091" y="3115411"/>
            <a:ext cx="5016501"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408091" y="4204054"/>
            <a:ext cx="5016501"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6408091" y="5553236"/>
            <a:ext cx="5016501"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iŝ1íd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A1B0E184-E065-47F4-B1A8-BF00386B1834}"/>
              </a:ext>
            </a:extLst>
          </p:cNvPr>
          <p:cNvSpPr/>
          <p:nvPr/>
        </p:nvSpPr>
        <p:spPr bwMode="auto">
          <a:xfrm>
            <a:off x="1282829" y="2489652"/>
            <a:ext cx="2601312" cy="2392300"/>
          </a:xfrm>
          <a:custGeom>
            <a:avLst/>
            <a:gdLst>
              <a:gd name="T0" fmla="*/ 373 w 2067"/>
              <a:gd name="T1" fmla="*/ 16 h 1899"/>
              <a:gd name="T2" fmla="*/ 1824 w 2067"/>
              <a:gd name="T3" fmla="*/ 0 h 1899"/>
              <a:gd name="T4" fmla="*/ 2067 w 2067"/>
              <a:gd name="T5" fmla="*/ 1863 h 1899"/>
              <a:gd name="T6" fmla="*/ 2067 w 2067"/>
              <a:gd name="T7" fmla="*/ 1863 h 1899"/>
              <a:gd name="T8" fmla="*/ 1873 w 2067"/>
              <a:gd name="T9" fmla="*/ 1870 h 1899"/>
              <a:gd name="T10" fmla="*/ 1655 w 2067"/>
              <a:gd name="T11" fmla="*/ 1878 h 1899"/>
              <a:gd name="T12" fmla="*/ 1378 w 2067"/>
              <a:gd name="T13" fmla="*/ 1886 h 1899"/>
              <a:gd name="T14" fmla="*/ 1058 w 2067"/>
              <a:gd name="T15" fmla="*/ 1893 h 1899"/>
              <a:gd name="T16" fmla="*/ 887 w 2067"/>
              <a:gd name="T17" fmla="*/ 1896 h 1899"/>
              <a:gd name="T18" fmla="*/ 712 w 2067"/>
              <a:gd name="T19" fmla="*/ 1898 h 1899"/>
              <a:gd name="T20" fmla="*/ 532 w 2067"/>
              <a:gd name="T21" fmla="*/ 1899 h 1899"/>
              <a:gd name="T22" fmla="*/ 353 w 2067"/>
              <a:gd name="T23" fmla="*/ 1899 h 1899"/>
              <a:gd name="T24" fmla="*/ 175 w 2067"/>
              <a:gd name="T25" fmla="*/ 1897 h 1899"/>
              <a:gd name="T26" fmla="*/ 0 w 2067"/>
              <a:gd name="T27" fmla="*/ 1894 h 1899"/>
              <a:gd name="T28" fmla="*/ 373 w 2067"/>
              <a:gd name="T29" fmla="*/ 16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67" h="1899">
                <a:moveTo>
                  <a:pt x="373" y="16"/>
                </a:moveTo>
                <a:lnTo>
                  <a:pt x="1824" y="0"/>
                </a:lnTo>
                <a:lnTo>
                  <a:pt x="2067" y="1863"/>
                </a:lnTo>
                <a:lnTo>
                  <a:pt x="2067" y="1863"/>
                </a:lnTo>
                <a:lnTo>
                  <a:pt x="1873" y="1870"/>
                </a:lnTo>
                <a:lnTo>
                  <a:pt x="1655" y="1878"/>
                </a:lnTo>
                <a:lnTo>
                  <a:pt x="1378" y="1886"/>
                </a:lnTo>
                <a:lnTo>
                  <a:pt x="1058" y="1893"/>
                </a:lnTo>
                <a:lnTo>
                  <a:pt x="887" y="1896"/>
                </a:lnTo>
                <a:lnTo>
                  <a:pt x="712" y="1898"/>
                </a:lnTo>
                <a:lnTo>
                  <a:pt x="532" y="1899"/>
                </a:lnTo>
                <a:lnTo>
                  <a:pt x="353" y="1899"/>
                </a:lnTo>
                <a:lnTo>
                  <a:pt x="175" y="1897"/>
                </a:lnTo>
                <a:lnTo>
                  <a:pt x="0" y="1894"/>
                </a:lnTo>
                <a:lnTo>
                  <a:pt x="373" y="16"/>
                </a:lnTo>
                <a:close/>
              </a:path>
            </a:pathLst>
          </a:custGeom>
          <a:solidFill>
            <a:schemeClr val="tx2"/>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39" name="iśļiḓ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7FF1523-2432-4880-BAB2-8EB51C073347}"/>
              </a:ext>
            </a:extLst>
          </p:cNvPr>
          <p:cNvSpPr/>
          <p:nvPr/>
        </p:nvSpPr>
        <p:spPr bwMode="auto">
          <a:xfrm>
            <a:off x="1386077" y="2540016"/>
            <a:ext cx="2374673" cy="2251280"/>
          </a:xfrm>
          <a:custGeom>
            <a:avLst/>
            <a:gdLst>
              <a:gd name="T0" fmla="*/ 437 w 1885"/>
              <a:gd name="T1" fmla="*/ 12 h 1787"/>
              <a:gd name="T2" fmla="*/ 322 w 1885"/>
              <a:gd name="T3" fmla="*/ 18 h 1787"/>
              <a:gd name="T4" fmla="*/ 0 w 1885"/>
              <a:gd name="T5" fmla="*/ 1673 h 1787"/>
              <a:gd name="T6" fmla="*/ 1885 w 1885"/>
              <a:gd name="T7" fmla="*/ 1787 h 1787"/>
              <a:gd name="T8" fmla="*/ 1727 w 1885"/>
              <a:gd name="T9" fmla="*/ 405 h 1787"/>
              <a:gd name="T10" fmla="*/ 1721 w 1885"/>
              <a:gd name="T11" fmla="*/ 0 h 1787"/>
              <a:gd name="T12" fmla="*/ 437 w 1885"/>
              <a:gd name="T13" fmla="*/ 12 h 1787"/>
            </a:gdLst>
            <a:ahLst/>
            <a:cxnLst>
              <a:cxn ang="0">
                <a:pos x="T0" y="T1"/>
              </a:cxn>
              <a:cxn ang="0">
                <a:pos x="T2" y="T3"/>
              </a:cxn>
              <a:cxn ang="0">
                <a:pos x="T4" y="T5"/>
              </a:cxn>
              <a:cxn ang="0">
                <a:pos x="T6" y="T7"/>
              </a:cxn>
              <a:cxn ang="0">
                <a:pos x="T8" y="T9"/>
              </a:cxn>
              <a:cxn ang="0">
                <a:pos x="T10" y="T11"/>
              </a:cxn>
              <a:cxn ang="0">
                <a:pos x="T12" y="T13"/>
              </a:cxn>
            </a:cxnLst>
            <a:rect l="0" t="0" r="r" b="b"/>
            <a:pathLst>
              <a:path w="1885" h="1787">
                <a:moveTo>
                  <a:pt x="437" y="12"/>
                </a:moveTo>
                <a:lnTo>
                  <a:pt x="322" y="18"/>
                </a:lnTo>
                <a:lnTo>
                  <a:pt x="0" y="1673"/>
                </a:lnTo>
                <a:lnTo>
                  <a:pt x="1885" y="1787"/>
                </a:lnTo>
                <a:lnTo>
                  <a:pt x="1727" y="405"/>
                </a:lnTo>
                <a:lnTo>
                  <a:pt x="1721" y="0"/>
                </a:lnTo>
                <a:lnTo>
                  <a:pt x="437" y="12"/>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0" name="îşḻiḓ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5BBC8F1-B7C9-4973-99BA-6619D8F60827}"/>
              </a:ext>
            </a:extLst>
          </p:cNvPr>
          <p:cNvSpPr/>
          <p:nvPr/>
        </p:nvSpPr>
        <p:spPr bwMode="auto">
          <a:xfrm>
            <a:off x="1421331" y="2560162"/>
            <a:ext cx="2306681" cy="2266389"/>
          </a:xfrm>
          <a:custGeom>
            <a:avLst/>
            <a:gdLst>
              <a:gd name="T0" fmla="*/ 319 w 1832"/>
              <a:gd name="T1" fmla="*/ 0 h 1800"/>
              <a:gd name="T2" fmla="*/ 0 w 1832"/>
              <a:gd name="T3" fmla="*/ 1629 h 1800"/>
              <a:gd name="T4" fmla="*/ 85 w 1832"/>
              <a:gd name="T5" fmla="*/ 1742 h 1800"/>
              <a:gd name="T6" fmla="*/ 401 w 1832"/>
              <a:gd name="T7" fmla="*/ 1778 h 1800"/>
              <a:gd name="T8" fmla="*/ 401 w 1832"/>
              <a:gd name="T9" fmla="*/ 1778 h 1800"/>
              <a:gd name="T10" fmla="*/ 532 w 1832"/>
              <a:gd name="T11" fmla="*/ 1777 h 1800"/>
              <a:gd name="T12" fmla="*/ 672 w 1832"/>
              <a:gd name="T13" fmla="*/ 1776 h 1800"/>
              <a:gd name="T14" fmla="*/ 835 w 1832"/>
              <a:gd name="T15" fmla="*/ 1775 h 1800"/>
              <a:gd name="T16" fmla="*/ 1006 w 1832"/>
              <a:gd name="T17" fmla="*/ 1775 h 1800"/>
              <a:gd name="T18" fmla="*/ 1167 w 1832"/>
              <a:gd name="T19" fmla="*/ 1777 h 1800"/>
              <a:gd name="T20" fmla="*/ 1238 w 1832"/>
              <a:gd name="T21" fmla="*/ 1778 h 1800"/>
              <a:gd name="T22" fmla="*/ 1301 w 1832"/>
              <a:gd name="T23" fmla="*/ 1781 h 1800"/>
              <a:gd name="T24" fmla="*/ 1353 w 1832"/>
              <a:gd name="T25" fmla="*/ 1783 h 1800"/>
              <a:gd name="T26" fmla="*/ 1390 w 1832"/>
              <a:gd name="T27" fmla="*/ 1787 h 1800"/>
              <a:gd name="T28" fmla="*/ 1390 w 1832"/>
              <a:gd name="T29" fmla="*/ 1787 h 1800"/>
              <a:gd name="T30" fmla="*/ 1452 w 1832"/>
              <a:gd name="T31" fmla="*/ 1793 h 1800"/>
              <a:gd name="T32" fmla="*/ 1513 w 1832"/>
              <a:gd name="T33" fmla="*/ 1797 h 1800"/>
              <a:gd name="T34" fmla="*/ 1543 w 1832"/>
              <a:gd name="T35" fmla="*/ 1799 h 1800"/>
              <a:gd name="T36" fmla="*/ 1572 w 1832"/>
              <a:gd name="T37" fmla="*/ 1800 h 1800"/>
              <a:gd name="T38" fmla="*/ 1600 w 1832"/>
              <a:gd name="T39" fmla="*/ 1799 h 1800"/>
              <a:gd name="T40" fmla="*/ 1627 w 1832"/>
              <a:gd name="T41" fmla="*/ 1796 h 1800"/>
              <a:gd name="T42" fmla="*/ 1654 w 1832"/>
              <a:gd name="T43" fmla="*/ 1794 h 1800"/>
              <a:gd name="T44" fmla="*/ 1678 w 1832"/>
              <a:gd name="T45" fmla="*/ 1789 h 1800"/>
              <a:gd name="T46" fmla="*/ 1701 w 1832"/>
              <a:gd name="T47" fmla="*/ 1783 h 1800"/>
              <a:gd name="T48" fmla="*/ 1722 w 1832"/>
              <a:gd name="T49" fmla="*/ 1776 h 1800"/>
              <a:gd name="T50" fmla="*/ 1740 w 1832"/>
              <a:gd name="T51" fmla="*/ 1766 h 1800"/>
              <a:gd name="T52" fmla="*/ 1749 w 1832"/>
              <a:gd name="T53" fmla="*/ 1760 h 1800"/>
              <a:gd name="T54" fmla="*/ 1757 w 1832"/>
              <a:gd name="T55" fmla="*/ 1754 h 1800"/>
              <a:gd name="T56" fmla="*/ 1764 w 1832"/>
              <a:gd name="T57" fmla="*/ 1748 h 1800"/>
              <a:gd name="T58" fmla="*/ 1772 w 1832"/>
              <a:gd name="T59" fmla="*/ 1741 h 1800"/>
              <a:gd name="T60" fmla="*/ 1778 w 1832"/>
              <a:gd name="T61" fmla="*/ 1734 h 1800"/>
              <a:gd name="T62" fmla="*/ 1783 w 1832"/>
              <a:gd name="T63" fmla="*/ 1725 h 1800"/>
              <a:gd name="T64" fmla="*/ 1783 w 1832"/>
              <a:gd name="T65" fmla="*/ 1725 h 1800"/>
              <a:gd name="T66" fmla="*/ 1792 w 1832"/>
              <a:gd name="T67" fmla="*/ 1710 h 1800"/>
              <a:gd name="T68" fmla="*/ 1799 w 1832"/>
              <a:gd name="T69" fmla="*/ 1693 h 1800"/>
              <a:gd name="T70" fmla="*/ 1807 w 1832"/>
              <a:gd name="T71" fmla="*/ 1677 h 1800"/>
              <a:gd name="T72" fmla="*/ 1814 w 1832"/>
              <a:gd name="T73" fmla="*/ 1661 h 1800"/>
              <a:gd name="T74" fmla="*/ 1819 w 1832"/>
              <a:gd name="T75" fmla="*/ 1646 h 1800"/>
              <a:gd name="T76" fmla="*/ 1822 w 1832"/>
              <a:gd name="T77" fmla="*/ 1631 h 1800"/>
              <a:gd name="T78" fmla="*/ 1829 w 1832"/>
              <a:gd name="T79" fmla="*/ 1602 h 1800"/>
              <a:gd name="T80" fmla="*/ 1832 w 1832"/>
              <a:gd name="T81" fmla="*/ 1576 h 1800"/>
              <a:gd name="T82" fmla="*/ 1832 w 1832"/>
              <a:gd name="T83" fmla="*/ 1551 h 1800"/>
              <a:gd name="T84" fmla="*/ 1831 w 1832"/>
              <a:gd name="T85" fmla="*/ 1528 h 1800"/>
              <a:gd name="T86" fmla="*/ 1827 w 1832"/>
              <a:gd name="T87" fmla="*/ 1507 h 1800"/>
              <a:gd name="T88" fmla="*/ 1827 w 1832"/>
              <a:gd name="T89" fmla="*/ 1507 h 1800"/>
              <a:gd name="T90" fmla="*/ 1823 w 1832"/>
              <a:gd name="T91" fmla="*/ 1482 h 1800"/>
              <a:gd name="T92" fmla="*/ 1816 w 1832"/>
              <a:gd name="T93" fmla="*/ 1429 h 1800"/>
              <a:gd name="T94" fmla="*/ 1795 w 1832"/>
              <a:gd name="T95" fmla="*/ 1253 h 1800"/>
              <a:gd name="T96" fmla="*/ 1733 w 1832"/>
              <a:gd name="T97" fmla="*/ 747 h 1800"/>
              <a:gd name="T98" fmla="*/ 1649 w 1832"/>
              <a:gd name="T99" fmla="*/ 25 h 1800"/>
              <a:gd name="T100" fmla="*/ 319 w 1832"/>
              <a:gd name="T101" fmla="*/ 0 h 1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32" h="1800">
                <a:moveTo>
                  <a:pt x="319" y="0"/>
                </a:moveTo>
                <a:lnTo>
                  <a:pt x="0" y="1629"/>
                </a:lnTo>
                <a:lnTo>
                  <a:pt x="85" y="1742"/>
                </a:lnTo>
                <a:lnTo>
                  <a:pt x="401" y="1778"/>
                </a:lnTo>
                <a:lnTo>
                  <a:pt x="401" y="1778"/>
                </a:lnTo>
                <a:lnTo>
                  <a:pt x="532" y="1777"/>
                </a:lnTo>
                <a:lnTo>
                  <a:pt x="672" y="1776"/>
                </a:lnTo>
                <a:lnTo>
                  <a:pt x="835" y="1775"/>
                </a:lnTo>
                <a:lnTo>
                  <a:pt x="1006" y="1775"/>
                </a:lnTo>
                <a:lnTo>
                  <a:pt x="1167" y="1777"/>
                </a:lnTo>
                <a:lnTo>
                  <a:pt x="1238" y="1778"/>
                </a:lnTo>
                <a:lnTo>
                  <a:pt x="1301" y="1781"/>
                </a:lnTo>
                <a:lnTo>
                  <a:pt x="1353" y="1783"/>
                </a:lnTo>
                <a:lnTo>
                  <a:pt x="1390" y="1787"/>
                </a:lnTo>
                <a:lnTo>
                  <a:pt x="1390" y="1787"/>
                </a:lnTo>
                <a:lnTo>
                  <a:pt x="1452" y="1793"/>
                </a:lnTo>
                <a:lnTo>
                  <a:pt x="1513" y="1797"/>
                </a:lnTo>
                <a:lnTo>
                  <a:pt x="1543" y="1799"/>
                </a:lnTo>
                <a:lnTo>
                  <a:pt x="1572" y="1800"/>
                </a:lnTo>
                <a:lnTo>
                  <a:pt x="1600" y="1799"/>
                </a:lnTo>
                <a:lnTo>
                  <a:pt x="1627" y="1796"/>
                </a:lnTo>
                <a:lnTo>
                  <a:pt x="1654" y="1794"/>
                </a:lnTo>
                <a:lnTo>
                  <a:pt x="1678" y="1789"/>
                </a:lnTo>
                <a:lnTo>
                  <a:pt x="1701" y="1783"/>
                </a:lnTo>
                <a:lnTo>
                  <a:pt x="1722" y="1776"/>
                </a:lnTo>
                <a:lnTo>
                  <a:pt x="1740" y="1766"/>
                </a:lnTo>
                <a:lnTo>
                  <a:pt x="1749" y="1760"/>
                </a:lnTo>
                <a:lnTo>
                  <a:pt x="1757" y="1754"/>
                </a:lnTo>
                <a:lnTo>
                  <a:pt x="1764" y="1748"/>
                </a:lnTo>
                <a:lnTo>
                  <a:pt x="1772" y="1741"/>
                </a:lnTo>
                <a:lnTo>
                  <a:pt x="1778" y="1734"/>
                </a:lnTo>
                <a:lnTo>
                  <a:pt x="1783" y="1725"/>
                </a:lnTo>
                <a:lnTo>
                  <a:pt x="1783" y="1725"/>
                </a:lnTo>
                <a:lnTo>
                  <a:pt x="1792" y="1710"/>
                </a:lnTo>
                <a:lnTo>
                  <a:pt x="1799" y="1693"/>
                </a:lnTo>
                <a:lnTo>
                  <a:pt x="1807" y="1677"/>
                </a:lnTo>
                <a:lnTo>
                  <a:pt x="1814" y="1661"/>
                </a:lnTo>
                <a:lnTo>
                  <a:pt x="1819" y="1646"/>
                </a:lnTo>
                <a:lnTo>
                  <a:pt x="1822" y="1631"/>
                </a:lnTo>
                <a:lnTo>
                  <a:pt x="1829" y="1602"/>
                </a:lnTo>
                <a:lnTo>
                  <a:pt x="1832" y="1576"/>
                </a:lnTo>
                <a:lnTo>
                  <a:pt x="1832" y="1551"/>
                </a:lnTo>
                <a:lnTo>
                  <a:pt x="1831" y="1528"/>
                </a:lnTo>
                <a:lnTo>
                  <a:pt x="1827" y="1507"/>
                </a:lnTo>
                <a:lnTo>
                  <a:pt x="1827" y="1507"/>
                </a:lnTo>
                <a:lnTo>
                  <a:pt x="1823" y="1482"/>
                </a:lnTo>
                <a:lnTo>
                  <a:pt x="1816" y="1429"/>
                </a:lnTo>
                <a:lnTo>
                  <a:pt x="1795" y="1253"/>
                </a:lnTo>
                <a:lnTo>
                  <a:pt x="1733" y="747"/>
                </a:lnTo>
                <a:lnTo>
                  <a:pt x="1649" y="25"/>
                </a:lnTo>
                <a:lnTo>
                  <a:pt x="319" y="0"/>
                </a:lnTo>
                <a:close/>
              </a:path>
            </a:pathLst>
          </a:custGeom>
          <a:solidFill>
            <a:srgbClr val="8082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1" name="íṩliḓ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3AE9865-A0A0-4BA6-998E-E87BA7F5569D}"/>
              </a:ext>
            </a:extLst>
          </p:cNvPr>
          <p:cNvSpPr/>
          <p:nvPr/>
        </p:nvSpPr>
        <p:spPr bwMode="auto">
          <a:xfrm>
            <a:off x="1416295" y="2509798"/>
            <a:ext cx="2331863" cy="2314236"/>
          </a:xfrm>
          <a:custGeom>
            <a:avLst/>
            <a:gdLst>
              <a:gd name="T0" fmla="*/ 328 w 1851"/>
              <a:gd name="T1" fmla="*/ 12 h 1839"/>
              <a:gd name="T2" fmla="*/ 1667 w 1851"/>
              <a:gd name="T3" fmla="*/ 0 h 1839"/>
              <a:gd name="T4" fmla="*/ 1851 w 1851"/>
              <a:gd name="T5" fmla="*/ 1588 h 1839"/>
              <a:gd name="T6" fmla="*/ 1851 w 1851"/>
              <a:gd name="T7" fmla="*/ 1588 h 1839"/>
              <a:gd name="T8" fmla="*/ 1849 w 1851"/>
              <a:gd name="T9" fmla="*/ 1597 h 1839"/>
              <a:gd name="T10" fmla="*/ 1842 w 1851"/>
              <a:gd name="T11" fmla="*/ 1620 h 1839"/>
              <a:gd name="T12" fmla="*/ 1836 w 1851"/>
              <a:gd name="T13" fmla="*/ 1635 h 1839"/>
              <a:gd name="T14" fmla="*/ 1829 w 1851"/>
              <a:gd name="T15" fmla="*/ 1653 h 1839"/>
              <a:gd name="T16" fmla="*/ 1819 w 1851"/>
              <a:gd name="T17" fmla="*/ 1674 h 1839"/>
              <a:gd name="T18" fmla="*/ 1808 w 1851"/>
              <a:gd name="T19" fmla="*/ 1694 h 1839"/>
              <a:gd name="T20" fmla="*/ 1794 w 1851"/>
              <a:gd name="T21" fmla="*/ 1715 h 1839"/>
              <a:gd name="T22" fmla="*/ 1778 w 1851"/>
              <a:gd name="T23" fmla="*/ 1736 h 1839"/>
              <a:gd name="T24" fmla="*/ 1760 w 1851"/>
              <a:gd name="T25" fmla="*/ 1757 h 1839"/>
              <a:gd name="T26" fmla="*/ 1738 w 1851"/>
              <a:gd name="T27" fmla="*/ 1777 h 1839"/>
              <a:gd name="T28" fmla="*/ 1728 w 1851"/>
              <a:gd name="T29" fmla="*/ 1787 h 1839"/>
              <a:gd name="T30" fmla="*/ 1714 w 1851"/>
              <a:gd name="T31" fmla="*/ 1795 h 1839"/>
              <a:gd name="T32" fmla="*/ 1702 w 1851"/>
              <a:gd name="T33" fmla="*/ 1804 h 1839"/>
              <a:gd name="T34" fmla="*/ 1688 w 1851"/>
              <a:gd name="T35" fmla="*/ 1812 h 1839"/>
              <a:gd name="T36" fmla="*/ 1673 w 1851"/>
              <a:gd name="T37" fmla="*/ 1819 h 1839"/>
              <a:gd name="T38" fmla="*/ 1658 w 1851"/>
              <a:gd name="T39" fmla="*/ 1825 h 1839"/>
              <a:gd name="T40" fmla="*/ 1642 w 1851"/>
              <a:gd name="T41" fmla="*/ 1831 h 1839"/>
              <a:gd name="T42" fmla="*/ 1625 w 1851"/>
              <a:gd name="T43" fmla="*/ 1836 h 1839"/>
              <a:gd name="T44" fmla="*/ 1625 w 1851"/>
              <a:gd name="T45" fmla="*/ 1836 h 1839"/>
              <a:gd name="T46" fmla="*/ 1577 w 1851"/>
              <a:gd name="T47" fmla="*/ 1839 h 1839"/>
              <a:gd name="T48" fmla="*/ 1528 w 1851"/>
              <a:gd name="T49" fmla="*/ 1839 h 1839"/>
              <a:gd name="T50" fmla="*/ 1476 w 1851"/>
              <a:gd name="T51" fmla="*/ 1837 h 1839"/>
              <a:gd name="T52" fmla="*/ 1425 w 1851"/>
              <a:gd name="T53" fmla="*/ 1835 h 1839"/>
              <a:gd name="T54" fmla="*/ 1318 w 1851"/>
              <a:gd name="T55" fmla="*/ 1829 h 1839"/>
              <a:gd name="T56" fmla="*/ 1210 w 1851"/>
              <a:gd name="T57" fmla="*/ 1822 h 1839"/>
              <a:gd name="T58" fmla="*/ 1098 w 1851"/>
              <a:gd name="T59" fmla="*/ 1813 h 1839"/>
              <a:gd name="T60" fmla="*/ 986 w 1851"/>
              <a:gd name="T61" fmla="*/ 1807 h 1839"/>
              <a:gd name="T62" fmla="*/ 930 w 1851"/>
              <a:gd name="T63" fmla="*/ 1806 h 1839"/>
              <a:gd name="T64" fmla="*/ 872 w 1851"/>
              <a:gd name="T65" fmla="*/ 1805 h 1839"/>
              <a:gd name="T66" fmla="*/ 815 w 1851"/>
              <a:gd name="T67" fmla="*/ 1805 h 1839"/>
              <a:gd name="T68" fmla="*/ 759 w 1851"/>
              <a:gd name="T69" fmla="*/ 1806 h 1839"/>
              <a:gd name="T70" fmla="*/ 759 w 1851"/>
              <a:gd name="T71" fmla="*/ 1806 h 1839"/>
              <a:gd name="T72" fmla="*/ 700 w 1851"/>
              <a:gd name="T73" fmla="*/ 1809 h 1839"/>
              <a:gd name="T74" fmla="*/ 638 w 1851"/>
              <a:gd name="T75" fmla="*/ 1809 h 1839"/>
              <a:gd name="T76" fmla="*/ 576 w 1851"/>
              <a:gd name="T77" fmla="*/ 1809 h 1839"/>
              <a:gd name="T78" fmla="*/ 512 w 1851"/>
              <a:gd name="T79" fmla="*/ 1807 h 1839"/>
              <a:gd name="T80" fmla="*/ 386 w 1851"/>
              <a:gd name="T81" fmla="*/ 1804 h 1839"/>
              <a:gd name="T82" fmla="*/ 266 w 1851"/>
              <a:gd name="T83" fmla="*/ 1799 h 1839"/>
              <a:gd name="T84" fmla="*/ 160 w 1851"/>
              <a:gd name="T85" fmla="*/ 1793 h 1839"/>
              <a:gd name="T86" fmla="*/ 76 w 1851"/>
              <a:gd name="T87" fmla="*/ 1788 h 1839"/>
              <a:gd name="T88" fmla="*/ 0 w 1851"/>
              <a:gd name="T89" fmla="*/ 1782 h 1839"/>
              <a:gd name="T90" fmla="*/ 328 w 1851"/>
              <a:gd name="T91" fmla="*/ 12 h 1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51" h="1839">
                <a:moveTo>
                  <a:pt x="328" y="12"/>
                </a:moveTo>
                <a:lnTo>
                  <a:pt x="1667" y="0"/>
                </a:lnTo>
                <a:lnTo>
                  <a:pt x="1851" y="1588"/>
                </a:lnTo>
                <a:lnTo>
                  <a:pt x="1851" y="1588"/>
                </a:lnTo>
                <a:lnTo>
                  <a:pt x="1849" y="1597"/>
                </a:lnTo>
                <a:lnTo>
                  <a:pt x="1842" y="1620"/>
                </a:lnTo>
                <a:lnTo>
                  <a:pt x="1836" y="1635"/>
                </a:lnTo>
                <a:lnTo>
                  <a:pt x="1829" y="1653"/>
                </a:lnTo>
                <a:lnTo>
                  <a:pt x="1819" y="1674"/>
                </a:lnTo>
                <a:lnTo>
                  <a:pt x="1808" y="1694"/>
                </a:lnTo>
                <a:lnTo>
                  <a:pt x="1794" y="1715"/>
                </a:lnTo>
                <a:lnTo>
                  <a:pt x="1778" y="1736"/>
                </a:lnTo>
                <a:lnTo>
                  <a:pt x="1760" y="1757"/>
                </a:lnTo>
                <a:lnTo>
                  <a:pt x="1738" y="1777"/>
                </a:lnTo>
                <a:lnTo>
                  <a:pt x="1728" y="1787"/>
                </a:lnTo>
                <a:lnTo>
                  <a:pt x="1714" y="1795"/>
                </a:lnTo>
                <a:lnTo>
                  <a:pt x="1702" y="1804"/>
                </a:lnTo>
                <a:lnTo>
                  <a:pt x="1688" y="1812"/>
                </a:lnTo>
                <a:lnTo>
                  <a:pt x="1673" y="1819"/>
                </a:lnTo>
                <a:lnTo>
                  <a:pt x="1658" y="1825"/>
                </a:lnTo>
                <a:lnTo>
                  <a:pt x="1642" y="1831"/>
                </a:lnTo>
                <a:lnTo>
                  <a:pt x="1625" y="1836"/>
                </a:lnTo>
                <a:lnTo>
                  <a:pt x="1625" y="1836"/>
                </a:lnTo>
                <a:lnTo>
                  <a:pt x="1577" y="1839"/>
                </a:lnTo>
                <a:lnTo>
                  <a:pt x="1528" y="1839"/>
                </a:lnTo>
                <a:lnTo>
                  <a:pt x="1476" y="1837"/>
                </a:lnTo>
                <a:lnTo>
                  <a:pt x="1425" y="1835"/>
                </a:lnTo>
                <a:lnTo>
                  <a:pt x="1318" y="1829"/>
                </a:lnTo>
                <a:lnTo>
                  <a:pt x="1210" y="1822"/>
                </a:lnTo>
                <a:lnTo>
                  <a:pt x="1098" y="1813"/>
                </a:lnTo>
                <a:lnTo>
                  <a:pt x="986" y="1807"/>
                </a:lnTo>
                <a:lnTo>
                  <a:pt x="930" y="1806"/>
                </a:lnTo>
                <a:lnTo>
                  <a:pt x="872" y="1805"/>
                </a:lnTo>
                <a:lnTo>
                  <a:pt x="815" y="1805"/>
                </a:lnTo>
                <a:lnTo>
                  <a:pt x="759" y="1806"/>
                </a:lnTo>
                <a:lnTo>
                  <a:pt x="759" y="1806"/>
                </a:lnTo>
                <a:lnTo>
                  <a:pt x="700" y="1809"/>
                </a:lnTo>
                <a:lnTo>
                  <a:pt x="638" y="1809"/>
                </a:lnTo>
                <a:lnTo>
                  <a:pt x="576" y="1809"/>
                </a:lnTo>
                <a:lnTo>
                  <a:pt x="512" y="1807"/>
                </a:lnTo>
                <a:lnTo>
                  <a:pt x="386" y="1804"/>
                </a:lnTo>
                <a:lnTo>
                  <a:pt x="266" y="1799"/>
                </a:lnTo>
                <a:lnTo>
                  <a:pt x="160" y="1793"/>
                </a:lnTo>
                <a:lnTo>
                  <a:pt x="76" y="1788"/>
                </a:lnTo>
                <a:lnTo>
                  <a:pt x="0" y="1782"/>
                </a:lnTo>
                <a:lnTo>
                  <a:pt x="328" y="12"/>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2" name="işḷiḓ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5BDCC2D3-E531-40FA-A6EE-B7442DDF28CE}"/>
              </a:ext>
            </a:extLst>
          </p:cNvPr>
          <p:cNvSpPr/>
          <p:nvPr/>
        </p:nvSpPr>
        <p:spPr bwMode="auto">
          <a:xfrm>
            <a:off x="2360623" y="2308341"/>
            <a:ext cx="596816" cy="254340"/>
          </a:xfrm>
          <a:custGeom>
            <a:avLst/>
            <a:gdLst>
              <a:gd name="T0" fmla="*/ 365 w 475"/>
              <a:gd name="T1" fmla="*/ 69 h 204"/>
              <a:gd name="T2" fmla="*/ 306 w 475"/>
              <a:gd name="T3" fmla="*/ 67 h 204"/>
              <a:gd name="T4" fmla="*/ 291 w 475"/>
              <a:gd name="T5" fmla="*/ 63 h 204"/>
              <a:gd name="T6" fmla="*/ 285 w 475"/>
              <a:gd name="T7" fmla="*/ 51 h 204"/>
              <a:gd name="T8" fmla="*/ 280 w 475"/>
              <a:gd name="T9" fmla="*/ 20 h 204"/>
              <a:gd name="T10" fmla="*/ 267 w 475"/>
              <a:gd name="T11" fmla="*/ 8 h 204"/>
              <a:gd name="T12" fmla="*/ 252 w 475"/>
              <a:gd name="T13" fmla="*/ 3 h 204"/>
              <a:gd name="T14" fmla="*/ 226 w 475"/>
              <a:gd name="T15" fmla="*/ 0 h 204"/>
              <a:gd name="T16" fmla="*/ 197 w 475"/>
              <a:gd name="T17" fmla="*/ 9 h 204"/>
              <a:gd name="T18" fmla="*/ 183 w 475"/>
              <a:gd name="T19" fmla="*/ 28 h 204"/>
              <a:gd name="T20" fmla="*/ 182 w 475"/>
              <a:gd name="T21" fmla="*/ 44 h 204"/>
              <a:gd name="T22" fmla="*/ 179 w 475"/>
              <a:gd name="T23" fmla="*/ 63 h 204"/>
              <a:gd name="T24" fmla="*/ 167 w 475"/>
              <a:gd name="T25" fmla="*/ 71 h 204"/>
              <a:gd name="T26" fmla="*/ 119 w 475"/>
              <a:gd name="T27" fmla="*/ 77 h 204"/>
              <a:gd name="T28" fmla="*/ 75 w 475"/>
              <a:gd name="T29" fmla="*/ 87 h 204"/>
              <a:gd name="T30" fmla="*/ 63 w 475"/>
              <a:gd name="T31" fmla="*/ 93 h 204"/>
              <a:gd name="T32" fmla="*/ 23 w 475"/>
              <a:gd name="T33" fmla="*/ 135 h 204"/>
              <a:gd name="T34" fmla="*/ 1 w 475"/>
              <a:gd name="T35" fmla="*/ 170 h 204"/>
              <a:gd name="T36" fmla="*/ 0 w 475"/>
              <a:gd name="T37" fmla="*/ 177 h 204"/>
              <a:gd name="T38" fmla="*/ 8 w 475"/>
              <a:gd name="T39" fmla="*/ 191 h 204"/>
              <a:gd name="T40" fmla="*/ 31 w 475"/>
              <a:gd name="T41" fmla="*/ 201 h 204"/>
              <a:gd name="T42" fmla="*/ 99 w 475"/>
              <a:gd name="T43" fmla="*/ 204 h 204"/>
              <a:gd name="T44" fmla="*/ 420 w 475"/>
              <a:gd name="T45" fmla="*/ 198 h 204"/>
              <a:gd name="T46" fmla="*/ 444 w 475"/>
              <a:gd name="T47" fmla="*/ 195 h 204"/>
              <a:gd name="T48" fmla="*/ 465 w 475"/>
              <a:gd name="T49" fmla="*/ 182 h 204"/>
              <a:gd name="T50" fmla="*/ 474 w 475"/>
              <a:gd name="T51" fmla="*/ 164 h 204"/>
              <a:gd name="T52" fmla="*/ 473 w 475"/>
              <a:gd name="T53" fmla="*/ 151 h 204"/>
              <a:gd name="T54" fmla="*/ 447 w 475"/>
              <a:gd name="T55" fmla="*/ 115 h 204"/>
              <a:gd name="T56" fmla="*/ 409 w 475"/>
              <a:gd name="T57" fmla="*/ 81 h 204"/>
              <a:gd name="T58" fmla="*/ 383 w 475"/>
              <a:gd name="T59" fmla="*/ 71 h 204"/>
              <a:gd name="T60" fmla="*/ 236 w 475"/>
              <a:gd name="T61" fmla="*/ 57 h 204"/>
              <a:gd name="T62" fmla="*/ 221 w 475"/>
              <a:gd name="T63" fmla="*/ 53 h 204"/>
              <a:gd name="T64" fmla="*/ 212 w 475"/>
              <a:gd name="T65" fmla="*/ 45 h 204"/>
              <a:gd name="T66" fmla="*/ 209 w 475"/>
              <a:gd name="T67" fmla="*/ 37 h 204"/>
              <a:gd name="T68" fmla="*/ 214 w 475"/>
              <a:gd name="T69" fmla="*/ 26 h 204"/>
              <a:gd name="T70" fmla="*/ 225 w 475"/>
              <a:gd name="T71" fmla="*/ 17 h 204"/>
              <a:gd name="T72" fmla="*/ 236 w 475"/>
              <a:gd name="T73" fmla="*/ 16 h 204"/>
              <a:gd name="T74" fmla="*/ 250 w 475"/>
              <a:gd name="T75" fmla="*/ 20 h 204"/>
              <a:gd name="T76" fmla="*/ 260 w 475"/>
              <a:gd name="T77" fmla="*/ 28 h 204"/>
              <a:gd name="T78" fmla="*/ 262 w 475"/>
              <a:gd name="T79" fmla="*/ 37 h 204"/>
              <a:gd name="T80" fmla="*/ 258 w 475"/>
              <a:gd name="T81" fmla="*/ 49 h 204"/>
              <a:gd name="T82" fmla="*/ 246 w 475"/>
              <a:gd name="T83" fmla="*/ 56 h 204"/>
              <a:gd name="T84" fmla="*/ 236 w 475"/>
              <a:gd name="T85" fmla="*/ 5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75" h="204">
                <a:moveTo>
                  <a:pt x="383" y="71"/>
                </a:moveTo>
                <a:lnTo>
                  <a:pt x="383" y="71"/>
                </a:lnTo>
                <a:lnTo>
                  <a:pt x="365" y="69"/>
                </a:lnTo>
                <a:lnTo>
                  <a:pt x="350" y="68"/>
                </a:lnTo>
                <a:lnTo>
                  <a:pt x="325" y="67"/>
                </a:lnTo>
                <a:lnTo>
                  <a:pt x="306" y="67"/>
                </a:lnTo>
                <a:lnTo>
                  <a:pt x="299" y="65"/>
                </a:lnTo>
                <a:lnTo>
                  <a:pt x="291" y="63"/>
                </a:lnTo>
                <a:lnTo>
                  <a:pt x="291" y="63"/>
                </a:lnTo>
                <a:lnTo>
                  <a:pt x="289" y="61"/>
                </a:lnTo>
                <a:lnTo>
                  <a:pt x="286" y="58"/>
                </a:lnTo>
                <a:lnTo>
                  <a:pt x="285" y="51"/>
                </a:lnTo>
                <a:lnTo>
                  <a:pt x="284" y="34"/>
                </a:lnTo>
                <a:lnTo>
                  <a:pt x="282" y="25"/>
                </a:lnTo>
                <a:lnTo>
                  <a:pt x="280" y="20"/>
                </a:lnTo>
                <a:lnTo>
                  <a:pt x="277" y="15"/>
                </a:lnTo>
                <a:lnTo>
                  <a:pt x="273" y="11"/>
                </a:lnTo>
                <a:lnTo>
                  <a:pt x="267" y="8"/>
                </a:lnTo>
                <a:lnTo>
                  <a:pt x="260" y="5"/>
                </a:lnTo>
                <a:lnTo>
                  <a:pt x="252" y="3"/>
                </a:lnTo>
                <a:lnTo>
                  <a:pt x="252" y="3"/>
                </a:lnTo>
                <a:lnTo>
                  <a:pt x="243" y="0"/>
                </a:lnTo>
                <a:lnTo>
                  <a:pt x="235" y="0"/>
                </a:lnTo>
                <a:lnTo>
                  <a:pt x="226" y="0"/>
                </a:lnTo>
                <a:lnTo>
                  <a:pt x="220" y="0"/>
                </a:lnTo>
                <a:lnTo>
                  <a:pt x="207" y="4"/>
                </a:lnTo>
                <a:lnTo>
                  <a:pt x="197" y="9"/>
                </a:lnTo>
                <a:lnTo>
                  <a:pt x="190" y="15"/>
                </a:lnTo>
                <a:lnTo>
                  <a:pt x="185" y="22"/>
                </a:lnTo>
                <a:lnTo>
                  <a:pt x="183" y="28"/>
                </a:lnTo>
                <a:lnTo>
                  <a:pt x="181" y="34"/>
                </a:lnTo>
                <a:lnTo>
                  <a:pt x="181" y="34"/>
                </a:lnTo>
                <a:lnTo>
                  <a:pt x="182" y="44"/>
                </a:lnTo>
                <a:lnTo>
                  <a:pt x="183" y="53"/>
                </a:lnTo>
                <a:lnTo>
                  <a:pt x="182" y="58"/>
                </a:lnTo>
                <a:lnTo>
                  <a:pt x="179" y="63"/>
                </a:lnTo>
                <a:lnTo>
                  <a:pt x="175" y="67"/>
                </a:lnTo>
                <a:lnTo>
                  <a:pt x="167" y="71"/>
                </a:lnTo>
                <a:lnTo>
                  <a:pt x="167" y="71"/>
                </a:lnTo>
                <a:lnTo>
                  <a:pt x="159" y="74"/>
                </a:lnTo>
                <a:lnTo>
                  <a:pt x="148" y="75"/>
                </a:lnTo>
                <a:lnTo>
                  <a:pt x="119" y="77"/>
                </a:lnTo>
                <a:lnTo>
                  <a:pt x="104" y="80"/>
                </a:lnTo>
                <a:lnTo>
                  <a:pt x="88" y="83"/>
                </a:lnTo>
                <a:lnTo>
                  <a:pt x="75" y="87"/>
                </a:lnTo>
                <a:lnTo>
                  <a:pt x="69" y="91"/>
                </a:lnTo>
                <a:lnTo>
                  <a:pt x="63" y="93"/>
                </a:lnTo>
                <a:lnTo>
                  <a:pt x="63" y="93"/>
                </a:lnTo>
                <a:lnTo>
                  <a:pt x="48" y="105"/>
                </a:lnTo>
                <a:lnTo>
                  <a:pt x="35" y="120"/>
                </a:lnTo>
                <a:lnTo>
                  <a:pt x="23" y="135"/>
                </a:lnTo>
                <a:lnTo>
                  <a:pt x="12" y="151"/>
                </a:lnTo>
                <a:lnTo>
                  <a:pt x="12" y="151"/>
                </a:lnTo>
                <a:lnTo>
                  <a:pt x="1" y="170"/>
                </a:lnTo>
                <a:lnTo>
                  <a:pt x="1" y="170"/>
                </a:lnTo>
                <a:lnTo>
                  <a:pt x="0" y="174"/>
                </a:lnTo>
                <a:lnTo>
                  <a:pt x="0" y="177"/>
                </a:lnTo>
                <a:lnTo>
                  <a:pt x="0" y="181"/>
                </a:lnTo>
                <a:lnTo>
                  <a:pt x="2" y="185"/>
                </a:lnTo>
                <a:lnTo>
                  <a:pt x="8" y="191"/>
                </a:lnTo>
                <a:lnTo>
                  <a:pt x="16" y="195"/>
                </a:lnTo>
                <a:lnTo>
                  <a:pt x="24" y="199"/>
                </a:lnTo>
                <a:lnTo>
                  <a:pt x="31" y="201"/>
                </a:lnTo>
                <a:lnTo>
                  <a:pt x="39" y="204"/>
                </a:lnTo>
                <a:lnTo>
                  <a:pt x="39" y="204"/>
                </a:lnTo>
                <a:lnTo>
                  <a:pt x="99" y="204"/>
                </a:lnTo>
                <a:lnTo>
                  <a:pt x="232" y="203"/>
                </a:lnTo>
                <a:lnTo>
                  <a:pt x="371" y="200"/>
                </a:lnTo>
                <a:lnTo>
                  <a:pt x="420" y="198"/>
                </a:lnTo>
                <a:lnTo>
                  <a:pt x="436" y="197"/>
                </a:lnTo>
                <a:lnTo>
                  <a:pt x="444" y="195"/>
                </a:lnTo>
                <a:lnTo>
                  <a:pt x="444" y="195"/>
                </a:lnTo>
                <a:lnTo>
                  <a:pt x="453" y="192"/>
                </a:lnTo>
                <a:lnTo>
                  <a:pt x="460" y="187"/>
                </a:lnTo>
                <a:lnTo>
                  <a:pt x="465" y="182"/>
                </a:lnTo>
                <a:lnTo>
                  <a:pt x="469" y="176"/>
                </a:lnTo>
                <a:lnTo>
                  <a:pt x="472" y="170"/>
                </a:lnTo>
                <a:lnTo>
                  <a:pt x="474" y="164"/>
                </a:lnTo>
                <a:lnTo>
                  <a:pt x="475" y="157"/>
                </a:lnTo>
                <a:lnTo>
                  <a:pt x="475" y="157"/>
                </a:lnTo>
                <a:lnTo>
                  <a:pt x="473" y="151"/>
                </a:lnTo>
                <a:lnTo>
                  <a:pt x="468" y="141"/>
                </a:lnTo>
                <a:lnTo>
                  <a:pt x="459" y="129"/>
                </a:lnTo>
                <a:lnTo>
                  <a:pt x="447" y="115"/>
                </a:lnTo>
                <a:lnTo>
                  <a:pt x="433" y="100"/>
                </a:lnTo>
                <a:lnTo>
                  <a:pt x="418" y="87"/>
                </a:lnTo>
                <a:lnTo>
                  <a:pt x="409" y="81"/>
                </a:lnTo>
                <a:lnTo>
                  <a:pt x="401" y="77"/>
                </a:lnTo>
                <a:lnTo>
                  <a:pt x="391" y="74"/>
                </a:lnTo>
                <a:lnTo>
                  <a:pt x="383" y="71"/>
                </a:lnTo>
                <a:lnTo>
                  <a:pt x="383" y="71"/>
                </a:lnTo>
                <a:close/>
                <a:moveTo>
                  <a:pt x="236" y="57"/>
                </a:moveTo>
                <a:lnTo>
                  <a:pt x="236" y="57"/>
                </a:lnTo>
                <a:lnTo>
                  <a:pt x="230" y="57"/>
                </a:lnTo>
                <a:lnTo>
                  <a:pt x="225" y="56"/>
                </a:lnTo>
                <a:lnTo>
                  <a:pt x="221" y="53"/>
                </a:lnTo>
                <a:lnTo>
                  <a:pt x="217" y="51"/>
                </a:lnTo>
                <a:lnTo>
                  <a:pt x="214" y="49"/>
                </a:lnTo>
                <a:lnTo>
                  <a:pt x="212" y="45"/>
                </a:lnTo>
                <a:lnTo>
                  <a:pt x="209" y="41"/>
                </a:lnTo>
                <a:lnTo>
                  <a:pt x="209" y="37"/>
                </a:lnTo>
                <a:lnTo>
                  <a:pt x="209" y="37"/>
                </a:lnTo>
                <a:lnTo>
                  <a:pt x="209" y="33"/>
                </a:lnTo>
                <a:lnTo>
                  <a:pt x="212" y="28"/>
                </a:lnTo>
                <a:lnTo>
                  <a:pt x="214" y="26"/>
                </a:lnTo>
                <a:lnTo>
                  <a:pt x="217" y="22"/>
                </a:lnTo>
                <a:lnTo>
                  <a:pt x="221" y="20"/>
                </a:lnTo>
                <a:lnTo>
                  <a:pt x="225" y="17"/>
                </a:lnTo>
                <a:lnTo>
                  <a:pt x="230" y="16"/>
                </a:lnTo>
                <a:lnTo>
                  <a:pt x="236" y="16"/>
                </a:lnTo>
                <a:lnTo>
                  <a:pt x="236" y="16"/>
                </a:lnTo>
                <a:lnTo>
                  <a:pt x="241" y="16"/>
                </a:lnTo>
                <a:lnTo>
                  <a:pt x="246" y="17"/>
                </a:lnTo>
                <a:lnTo>
                  <a:pt x="250" y="20"/>
                </a:lnTo>
                <a:lnTo>
                  <a:pt x="254" y="22"/>
                </a:lnTo>
                <a:lnTo>
                  <a:pt x="258" y="26"/>
                </a:lnTo>
                <a:lnTo>
                  <a:pt x="260" y="28"/>
                </a:lnTo>
                <a:lnTo>
                  <a:pt x="261" y="33"/>
                </a:lnTo>
                <a:lnTo>
                  <a:pt x="262" y="37"/>
                </a:lnTo>
                <a:lnTo>
                  <a:pt x="262" y="37"/>
                </a:lnTo>
                <a:lnTo>
                  <a:pt x="261" y="41"/>
                </a:lnTo>
                <a:lnTo>
                  <a:pt x="260" y="45"/>
                </a:lnTo>
                <a:lnTo>
                  <a:pt x="258" y="49"/>
                </a:lnTo>
                <a:lnTo>
                  <a:pt x="254" y="51"/>
                </a:lnTo>
                <a:lnTo>
                  <a:pt x="250" y="53"/>
                </a:lnTo>
                <a:lnTo>
                  <a:pt x="246" y="56"/>
                </a:lnTo>
                <a:lnTo>
                  <a:pt x="241" y="57"/>
                </a:lnTo>
                <a:lnTo>
                  <a:pt x="236" y="57"/>
                </a:lnTo>
                <a:lnTo>
                  <a:pt x="236" y="57"/>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3" name="íṥḷiḓ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47AFDD38-36C7-4A5D-8B13-29A7EFAE4136}"/>
              </a:ext>
            </a:extLst>
          </p:cNvPr>
          <p:cNvSpPr/>
          <p:nvPr/>
        </p:nvSpPr>
        <p:spPr bwMode="auto">
          <a:xfrm>
            <a:off x="3443454" y="4504220"/>
            <a:ext cx="304704" cy="319813"/>
          </a:xfrm>
          <a:custGeom>
            <a:avLst/>
            <a:gdLst>
              <a:gd name="T0" fmla="*/ 87 w 241"/>
              <a:gd name="T1" fmla="*/ 0 h 254"/>
              <a:gd name="T2" fmla="*/ 87 w 241"/>
              <a:gd name="T3" fmla="*/ 0 h 254"/>
              <a:gd name="T4" fmla="*/ 89 w 241"/>
              <a:gd name="T5" fmla="*/ 10 h 254"/>
              <a:gd name="T6" fmla="*/ 89 w 241"/>
              <a:gd name="T7" fmla="*/ 32 h 254"/>
              <a:gd name="T8" fmla="*/ 89 w 241"/>
              <a:gd name="T9" fmla="*/ 63 h 254"/>
              <a:gd name="T10" fmla="*/ 86 w 241"/>
              <a:gd name="T11" fmla="*/ 81 h 254"/>
              <a:gd name="T12" fmla="*/ 84 w 241"/>
              <a:gd name="T13" fmla="*/ 100 h 254"/>
              <a:gd name="T14" fmla="*/ 80 w 241"/>
              <a:gd name="T15" fmla="*/ 121 h 254"/>
              <a:gd name="T16" fmla="*/ 75 w 241"/>
              <a:gd name="T17" fmla="*/ 141 h 254"/>
              <a:gd name="T18" fmla="*/ 68 w 241"/>
              <a:gd name="T19" fmla="*/ 163 h 254"/>
              <a:gd name="T20" fmla="*/ 59 w 241"/>
              <a:gd name="T21" fmla="*/ 183 h 254"/>
              <a:gd name="T22" fmla="*/ 48 w 241"/>
              <a:gd name="T23" fmla="*/ 203 h 254"/>
              <a:gd name="T24" fmla="*/ 34 w 241"/>
              <a:gd name="T25" fmla="*/ 222 h 254"/>
              <a:gd name="T26" fmla="*/ 26 w 241"/>
              <a:gd name="T27" fmla="*/ 230 h 254"/>
              <a:gd name="T28" fmla="*/ 18 w 241"/>
              <a:gd name="T29" fmla="*/ 239 h 254"/>
              <a:gd name="T30" fmla="*/ 9 w 241"/>
              <a:gd name="T31" fmla="*/ 247 h 254"/>
              <a:gd name="T32" fmla="*/ 0 w 241"/>
              <a:gd name="T33" fmla="*/ 254 h 254"/>
              <a:gd name="T34" fmla="*/ 0 w 241"/>
              <a:gd name="T35" fmla="*/ 254 h 254"/>
              <a:gd name="T36" fmla="*/ 15 w 241"/>
              <a:gd name="T37" fmla="*/ 253 h 254"/>
              <a:gd name="T38" fmla="*/ 15 w 241"/>
              <a:gd name="T39" fmla="*/ 253 h 254"/>
              <a:gd name="T40" fmla="*/ 32 w 241"/>
              <a:gd name="T41" fmla="*/ 248 h 254"/>
              <a:gd name="T42" fmla="*/ 48 w 241"/>
              <a:gd name="T43" fmla="*/ 242 h 254"/>
              <a:gd name="T44" fmla="*/ 63 w 241"/>
              <a:gd name="T45" fmla="*/ 236 h 254"/>
              <a:gd name="T46" fmla="*/ 78 w 241"/>
              <a:gd name="T47" fmla="*/ 229 h 254"/>
              <a:gd name="T48" fmla="*/ 92 w 241"/>
              <a:gd name="T49" fmla="*/ 221 h 254"/>
              <a:gd name="T50" fmla="*/ 104 w 241"/>
              <a:gd name="T51" fmla="*/ 212 h 254"/>
              <a:gd name="T52" fmla="*/ 118 w 241"/>
              <a:gd name="T53" fmla="*/ 204 h 254"/>
              <a:gd name="T54" fmla="*/ 128 w 241"/>
              <a:gd name="T55" fmla="*/ 194 h 254"/>
              <a:gd name="T56" fmla="*/ 150 w 241"/>
              <a:gd name="T57" fmla="*/ 174 h 254"/>
              <a:gd name="T58" fmla="*/ 168 w 241"/>
              <a:gd name="T59" fmla="*/ 153 h 254"/>
              <a:gd name="T60" fmla="*/ 184 w 241"/>
              <a:gd name="T61" fmla="*/ 132 h 254"/>
              <a:gd name="T62" fmla="*/ 198 w 241"/>
              <a:gd name="T63" fmla="*/ 111 h 254"/>
              <a:gd name="T64" fmla="*/ 209 w 241"/>
              <a:gd name="T65" fmla="*/ 91 h 254"/>
              <a:gd name="T66" fmla="*/ 219 w 241"/>
              <a:gd name="T67" fmla="*/ 70 h 254"/>
              <a:gd name="T68" fmla="*/ 226 w 241"/>
              <a:gd name="T69" fmla="*/ 52 h 254"/>
              <a:gd name="T70" fmla="*/ 232 w 241"/>
              <a:gd name="T71" fmla="*/ 37 h 254"/>
              <a:gd name="T72" fmla="*/ 239 w 241"/>
              <a:gd name="T73" fmla="*/ 14 h 254"/>
              <a:gd name="T74" fmla="*/ 241 w 241"/>
              <a:gd name="T75" fmla="*/ 5 h 254"/>
              <a:gd name="T76" fmla="*/ 241 w 241"/>
              <a:gd name="T77" fmla="*/ 5 h 254"/>
              <a:gd name="T78" fmla="*/ 233 w 241"/>
              <a:gd name="T79" fmla="*/ 6 h 254"/>
              <a:gd name="T80" fmla="*/ 223 w 241"/>
              <a:gd name="T81" fmla="*/ 8 h 254"/>
              <a:gd name="T82" fmla="*/ 208 w 241"/>
              <a:gd name="T83" fmla="*/ 8 h 254"/>
              <a:gd name="T84" fmla="*/ 186 w 241"/>
              <a:gd name="T85" fmla="*/ 8 h 254"/>
              <a:gd name="T86" fmla="*/ 160 w 241"/>
              <a:gd name="T87" fmla="*/ 8 h 254"/>
              <a:gd name="T88" fmla="*/ 127 w 241"/>
              <a:gd name="T89" fmla="*/ 5 h 254"/>
              <a:gd name="T90" fmla="*/ 87 w 241"/>
              <a:gd name="T91" fmla="*/ 0 h 254"/>
              <a:gd name="T92" fmla="*/ 87 w 241"/>
              <a:gd name="T93" fmla="*/ 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41" h="254">
                <a:moveTo>
                  <a:pt x="87" y="0"/>
                </a:moveTo>
                <a:lnTo>
                  <a:pt x="87" y="0"/>
                </a:lnTo>
                <a:lnTo>
                  <a:pt x="89" y="10"/>
                </a:lnTo>
                <a:lnTo>
                  <a:pt x="89" y="32"/>
                </a:lnTo>
                <a:lnTo>
                  <a:pt x="89" y="63"/>
                </a:lnTo>
                <a:lnTo>
                  <a:pt x="86" y="81"/>
                </a:lnTo>
                <a:lnTo>
                  <a:pt x="84" y="100"/>
                </a:lnTo>
                <a:lnTo>
                  <a:pt x="80" y="121"/>
                </a:lnTo>
                <a:lnTo>
                  <a:pt x="75" y="141"/>
                </a:lnTo>
                <a:lnTo>
                  <a:pt x="68" y="163"/>
                </a:lnTo>
                <a:lnTo>
                  <a:pt x="59" y="183"/>
                </a:lnTo>
                <a:lnTo>
                  <a:pt x="48" y="203"/>
                </a:lnTo>
                <a:lnTo>
                  <a:pt x="34" y="222"/>
                </a:lnTo>
                <a:lnTo>
                  <a:pt x="26" y="230"/>
                </a:lnTo>
                <a:lnTo>
                  <a:pt x="18" y="239"/>
                </a:lnTo>
                <a:lnTo>
                  <a:pt x="9" y="247"/>
                </a:lnTo>
                <a:lnTo>
                  <a:pt x="0" y="254"/>
                </a:lnTo>
                <a:lnTo>
                  <a:pt x="0" y="254"/>
                </a:lnTo>
                <a:lnTo>
                  <a:pt x="15" y="253"/>
                </a:lnTo>
                <a:lnTo>
                  <a:pt x="15" y="253"/>
                </a:lnTo>
                <a:lnTo>
                  <a:pt x="32" y="248"/>
                </a:lnTo>
                <a:lnTo>
                  <a:pt x="48" y="242"/>
                </a:lnTo>
                <a:lnTo>
                  <a:pt x="63" y="236"/>
                </a:lnTo>
                <a:lnTo>
                  <a:pt x="78" y="229"/>
                </a:lnTo>
                <a:lnTo>
                  <a:pt x="92" y="221"/>
                </a:lnTo>
                <a:lnTo>
                  <a:pt x="104" y="212"/>
                </a:lnTo>
                <a:lnTo>
                  <a:pt x="118" y="204"/>
                </a:lnTo>
                <a:lnTo>
                  <a:pt x="128" y="194"/>
                </a:lnTo>
                <a:lnTo>
                  <a:pt x="150" y="174"/>
                </a:lnTo>
                <a:lnTo>
                  <a:pt x="168" y="153"/>
                </a:lnTo>
                <a:lnTo>
                  <a:pt x="184" y="132"/>
                </a:lnTo>
                <a:lnTo>
                  <a:pt x="198" y="111"/>
                </a:lnTo>
                <a:lnTo>
                  <a:pt x="209" y="91"/>
                </a:lnTo>
                <a:lnTo>
                  <a:pt x="219" y="70"/>
                </a:lnTo>
                <a:lnTo>
                  <a:pt x="226" y="52"/>
                </a:lnTo>
                <a:lnTo>
                  <a:pt x="232" y="37"/>
                </a:lnTo>
                <a:lnTo>
                  <a:pt x="239" y="14"/>
                </a:lnTo>
                <a:lnTo>
                  <a:pt x="241" y="5"/>
                </a:lnTo>
                <a:lnTo>
                  <a:pt x="241" y="5"/>
                </a:lnTo>
                <a:lnTo>
                  <a:pt x="233" y="6"/>
                </a:lnTo>
                <a:lnTo>
                  <a:pt x="223" y="8"/>
                </a:lnTo>
                <a:lnTo>
                  <a:pt x="208" y="8"/>
                </a:lnTo>
                <a:lnTo>
                  <a:pt x="186" y="8"/>
                </a:lnTo>
                <a:lnTo>
                  <a:pt x="160" y="8"/>
                </a:lnTo>
                <a:lnTo>
                  <a:pt x="127" y="5"/>
                </a:lnTo>
                <a:lnTo>
                  <a:pt x="87" y="0"/>
                </a:lnTo>
                <a:lnTo>
                  <a:pt x="87" y="0"/>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4" name="íṧ1ïḍ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867C511C-A382-4C00-9E9E-1A395E8CAD0C}"/>
              </a:ext>
            </a:extLst>
          </p:cNvPr>
          <p:cNvSpPr/>
          <p:nvPr/>
        </p:nvSpPr>
        <p:spPr bwMode="auto">
          <a:xfrm>
            <a:off x="2383288" y="2409069"/>
            <a:ext cx="554006" cy="128430"/>
          </a:xfrm>
          <a:custGeom>
            <a:avLst/>
            <a:gdLst>
              <a:gd name="T0" fmla="*/ 0 w 442"/>
              <a:gd name="T1" fmla="*/ 86 h 101"/>
              <a:gd name="T2" fmla="*/ 18 w 442"/>
              <a:gd name="T3" fmla="*/ 55 h 101"/>
              <a:gd name="T4" fmla="*/ 30 w 442"/>
              <a:gd name="T5" fmla="*/ 41 h 101"/>
              <a:gd name="T6" fmla="*/ 46 w 442"/>
              <a:gd name="T7" fmla="*/ 29 h 101"/>
              <a:gd name="T8" fmla="*/ 65 w 442"/>
              <a:gd name="T9" fmla="*/ 19 h 101"/>
              <a:gd name="T10" fmla="*/ 92 w 442"/>
              <a:gd name="T11" fmla="*/ 12 h 101"/>
              <a:gd name="T12" fmla="*/ 124 w 442"/>
              <a:gd name="T13" fmla="*/ 7 h 101"/>
              <a:gd name="T14" fmla="*/ 164 w 442"/>
              <a:gd name="T15" fmla="*/ 7 h 101"/>
              <a:gd name="T16" fmla="*/ 207 w 442"/>
              <a:gd name="T17" fmla="*/ 7 h 101"/>
              <a:gd name="T18" fmla="*/ 309 w 442"/>
              <a:gd name="T19" fmla="*/ 1 h 101"/>
              <a:gd name="T20" fmla="*/ 359 w 442"/>
              <a:gd name="T21" fmla="*/ 1 h 101"/>
              <a:gd name="T22" fmla="*/ 377 w 442"/>
              <a:gd name="T23" fmla="*/ 4 h 101"/>
              <a:gd name="T24" fmla="*/ 391 w 442"/>
              <a:gd name="T25" fmla="*/ 11 h 101"/>
              <a:gd name="T26" fmla="*/ 404 w 442"/>
              <a:gd name="T27" fmla="*/ 21 h 101"/>
              <a:gd name="T28" fmla="*/ 426 w 442"/>
              <a:gd name="T29" fmla="*/ 42 h 101"/>
              <a:gd name="T30" fmla="*/ 439 w 442"/>
              <a:gd name="T31" fmla="*/ 63 h 101"/>
              <a:gd name="T32" fmla="*/ 442 w 442"/>
              <a:gd name="T33" fmla="*/ 72 h 101"/>
              <a:gd name="T34" fmla="*/ 441 w 442"/>
              <a:gd name="T35" fmla="*/ 81 h 101"/>
              <a:gd name="T36" fmla="*/ 435 w 442"/>
              <a:gd name="T37" fmla="*/ 87 h 101"/>
              <a:gd name="T38" fmla="*/ 431 w 442"/>
              <a:gd name="T39" fmla="*/ 88 h 101"/>
              <a:gd name="T40" fmla="*/ 414 w 442"/>
              <a:gd name="T41" fmla="*/ 89 h 101"/>
              <a:gd name="T42" fmla="*/ 378 w 442"/>
              <a:gd name="T43" fmla="*/ 84 h 101"/>
              <a:gd name="T44" fmla="*/ 325 w 442"/>
              <a:gd name="T45" fmla="*/ 78 h 101"/>
              <a:gd name="T46" fmla="*/ 252 w 442"/>
              <a:gd name="T47" fmla="*/ 78 h 101"/>
              <a:gd name="T48" fmla="*/ 211 w 442"/>
              <a:gd name="T49" fmla="*/ 81 h 101"/>
              <a:gd name="T50" fmla="*/ 110 w 442"/>
              <a:gd name="T51" fmla="*/ 93 h 101"/>
              <a:gd name="T52" fmla="*/ 42 w 442"/>
              <a:gd name="T53" fmla="*/ 101 h 101"/>
              <a:gd name="T54" fmla="*/ 29 w 442"/>
              <a:gd name="T55" fmla="*/ 101 h 101"/>
              <a:gd name="T56" fmla="*/ 12 w 442"/>
              <a:gd name="T57" fmla="*/ 98 h 101"/>
              <a:gd name="T58" fmla="*/ 4 w 442"/>
              <a:gd name="T59" fmla="*/ 93 h 101"/>
              <a:gd name="T60" fmla="*/ 0 w 442"/>
              <a:gd name="T61" fmla="*/ 87 h 101"/>
              <a:gd name="T62" fmla="*/ 0 w 442"/>
              <a:gd name="T63" fmla="*/ 8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2" h="101">
                <a:moveTo>
                  <a:pt x="0" y="86"/>
                </a:moveTo>
                <a:lnTo>
                  <a:pt x="0" y="86"/>
                </a:lnTo>
                <a:lnTo>
                  <a:pt x="9" y="70"/>
                </a:lnTo>
                <a:lnTo>
                  <a:pt x="18" y="55"/>
                </a:lnTo>
                <a:lnTo>
                  <a:pt x="24" y="48"/>
                </a:lnTo>
                <a:lnTo>
                  <a:pt x="30" y="41"/>
                </a:lnTo>
                <a:lnTo>
                  <a:pt x="37" y="35"/>
                </a:lnTo>
                <a:lnTo>
                  <a:pt x="46" y="29"/>
                </a:lnTo>
                <a:lnTo>
                  <a:pt x="54" y="24"/>
                </a:lnTo>
                <a:lnTo>
                  <a:pt x="65" y="19"/>
                </a:lnTo>
                <a:lnTo>
                  <a:pt x="77" y="15"/>
                </a:lnTo>
                <a:lnTo>
                  <a:pt x="92" y="12"/>
                </a:lnTo>
                <a:lnTo>
                  <a:pt x="106" y="9"/>
                </a:lnTo>
                <a:lnTo>
                  <a:pt x="124" y="7"/>
                </a:lnTo>
                <a:lnTo>
                  <a:pt x="143" y="6"/>
                </a:lnTo>
                <a:lnTo>
                  <a:pt x="164" y="7"/>
                </a:lnTo>
                <a:lnTo>
                  <a:pt x="164" y="7"/>
                </a:lnTo>
                <a:lnTo>
                  <a:pt x="207" y="7"/>
                </a:lnTo>
                <a:lnTo>
                  <a:pt x="246" y="6"/>
                </a:lnTo>
                <a:lnTo>
                  <a:pt x="309" y="1"/>
                </a:lnTo>
                <a:lnTo>
                  <a:pt x="336" y="0"/>
                </a:lnTo>
                <a:lnTo>
                  <a:pt x="359" y="1"/>
                </a:lnTo>
                <a:lnTo>
                  <a:pt x="368" y="2"/>
                </a:lnTo>
                <a:lnTo>
                  <a:pt x="377" y="4"/>
                </a:lnTo>
                <a:lnTo>
                  <a:pt x="385" y="7"/>
                </a:lnTo>
                <a:lnTo>
                  <a:pt x="391" y="11"/>
                </a:lnTo>
                <a:lnTo>
                  <a:pt x="391" y="11"/>
                </a:lnTo>
                <a:lnTo>
                  <a:pt x="404" y="21"/>
                </a:lnTo>
                <a:lnTo>
                  <a:pt x="417" y="30"/>
                </a:lnTo>
                <a:lnTo>
                  <a:pt x="426" y="42"/>
                </a:lnTo>
                <a:lnTo>
                  <a:pt x="435" y="53"/>
                </a:lnTo>
                <a:lnTo>
                  <a:pt x="439" y="63"/>
                </a:lnTo>
                <a:lnTo>
                  <a:pt x="441" y="67"/>
                </a:lnTo>
                <a:lnTo>
                  <a:pt x="442" y="72"/>
                </a:lnTo>
                <a:lnTo>
                  <a:pt x="442" y="77"/>
                </a:lnTo>
                <a:lnTo>
                  <a:pt x="441" y="81"/>
                </a:lnTo>
                <a:lnTo>
                  <a:pt x="438" y="83"/>
                </a:lnTo>
                <a:lnTo>
                  <a:pt x="435" y="87"/>
                </a:lnTo>
                <a:lnTo>
                  <a:pt x="435" y="87"/>
                </a:lnTo>
                <a:lnTo>
                  <a:pt x="431" y="88"/>
                </a:lnTo>
                <a:lnTo>
                  <a:pt x="426" y="89"/>
                </a:lnTo>
                <a:lnTo>
                  <a:pt x="414" y="89"/>
                </a:lnTo>
                <a:lnTo>
                  <a:pt x="397" y="87"/>
                </a:lnTo>
                <a:lnTo>
                  <a:pt x="378" y="84"/>
                </a:lnTo>
                <a:lnTo>
                  <a:pt x="354" y="81"/>
                </a:lnTo>
                <a:lnTo>
                  <a:pt x="325" y="78"/>
                </a:lnTo>
                <a:lnTo>
                  <a:pt x="291" y="77"/>
                </a:lnTo>
                <a:lnTo>
                  <a:pt x="252" y="78"/>
                </a:lnTo>
                <a:lnTo>
                  <a:pt x="252" y="78"/>
                </a:lnTo>
                <a:lnTo>
                  <a:pt x="211" y="81"/>
                </a:lnTo>
                <a:lnTo>
                  <a:pt x="173" y="84"/>
                </a:lnTo>
                <a:lnTo>
                  <a:pt x="110" y="93"/>
                </a:lnTo>
                <a:lnTo>
                  <a:pt x="60" y="99"/>
                </a:lnTo>
                <a:lnTo>
                  <a:pt x="42" y="101"/>
                </a:lnTo>
                <a:lnTo>
                  <a:pt x="29" y="101"/>
                </a:lnTo>
                <a:lnTo>
                  <a:pt x="29" y="101"/>
                </a:lnTo>
                <a:lnTo>
                  <a:pt x="19" y="100"/>
                </a:lnTo>
                <a:lnTo>
                  <a:pt x="12" y="98"/>
                </a:lnTo>
                <a:lnTo>
                  <a:pt x="7" y="95"/>
                </a:lnTo>
                <a:lnTo>
                  <a:pt x="4" y="93"/>
                </a:lnTo>
                <a:lnTo>
                  <a:pt x="1" y="89"/>
                </a:lnTo>
                <a:lnTo>
                  <a:pt x="0" y="87"/>
                </a:lnTo>
                <a:lnTo>
                  <a:pt x="0" y="86"/>
                </a:lnTo>
                <a:lnTo>
                  <a:pt x="0" y="86"/>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normAutofit fontScale="32500" lnSpcReduction="20000"/>
          </a:bodyPr>
          <a:lstStyle/>
          <a:p>
            <a:endParaRPr lang="en-US" dirty="0">
              <a:latin typeface="Arial" panose="020B0604020202020204" pitchFamily="34" charset="0"/>
              <a:ea typeface="+mn-ea"/>
            </a:endParaRPr>
          </a:p>
        </p:txBody>
      </p:sp>
      <p:sp>
        <p:nvSpPr>
          <p:cNvPr id="45" name="îṧľíḋ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74EFE6F-0E27-45B8-9DD5-5EAD5166BED5}"/>
              </a:ext>
            </a:extLst>
          </p:cNvPr>
          <p:cNvSpPr/>
          <p:nvPr/>
        </p:nvSpPr>
        <p:spPr bwMode="auto">
          <a:xfrm>
            <a:off x="2876857" y="3219933"/>
            <a:ext cx="269449" cy="229158"/>
          </a:xfrm>
          <a:custGeom>
            <a:avLst/>
            <a:gdLst>
              <a:gd name="T0" fmla="*/ 206 w 215"/>
              <a:gd name="T1" fmla="*/ 183 h 183"/>
              <a:gd name="T2" fmla="*/ 21 w 215"/>
              <a:gd name="T3" fmla="*/ 183 h 183"/>
              <a:gd name="T4" fmla="*/ 0 w 215"/>
              <a:gd name="T5" fmla="*/ 0 h 183"/>
              <a:gd name="T6" fmla="*/ 215 w 215"/>
              <a:gd name="T7" fmla="*/ 0 h 183"/>
              <a:gd name="T8" fmla="*/ 206 w 215"/>
              <a:gd name="T9" fmla="*/ 183 h 183"/>
              <a:gd name="T10" fmla="*/ 34 w 215"/>
              <a:gd name="T11" fmla="*/ 169 h 183"/>
              <a:gd name="T12" fmla="*/ 192 w 215"/>
              <a:gd name="T13" fmla="*/ 169 h 183"/>
              <a:gd name="T14" fmla="*/ 199 w 215"/>
              <a:gd name="T15" fmla="*/ 16 h 183"/>
              <a:gd name="T16" fmla="*/ 17 w 215"/>
              <a:gd name="T17" fmla="*/ 16 h 183"/>
              <a:gd name="T18" fmla="*/ 34 w 215"/>
              <a:gd name="T19" fmla="*/ 169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5" h="183">
                <a:moveTo>
                  <a:pt x="206" y="183"/>
                </a:moveTo>
                <a:lnTo>
                  <a:pt x="21" y="183"/>
                </a:lnTo>
                <a:lnTo>
                  <a:pt x="0" y="0"/>
                </a:lnTo>
                <a:lnTo>
                  <a:pt x="215" y="0"/>
                </a:lnTo>
                <a:lnTo>
                  <a:pt x="206" y="183"/>
                </a:lnTo>
                <a:close/>
                <a:moveTo>
                  <a:pt x="34" y="169"/>
                </a:moveTo>
                <a:lnTo>
                  <a:pt x="192" y="169"/>
                </a:lnTo>
                <a:lnTo>
                  <a:pt x="199" y="16"/>
                </a:lnTo>
                <a:lnTo>
                  <a:pt x="17" y="16"/>
                </a:lnTo>
                <a:lnTo>
                  <a:pt x="34" y="169"/>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normAutofit lnSpcReduction="10000"/>
          </a:bodyPr>
          <a:lstStyle/>
          <a:p>
            <a:endParaRPr lang="en-US" dirty="0">
              <a:latin typeface="Arial" panose="020B0604020202020204" pitchFamily="34" charset="0"/>
              <a:ea typeface="+mn-ea"/>
            </a:endParaRPr>
          </a:p>
        </p:txBody>
      </p:sp>
      <p:sp>
        <p:nvSpPr>
          <p:cNvPr id="46" name="iṣ1iḍ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5A6414F8-0CA1-49CD-BAB5-24A9C7719307}"/>
              </a:ext>
            </a:extLst>
          </p:cNvPr>
          <p:cNvSpPr/>
          <p:nvPr/>
        </p:nvSpPr>
        <p:spPr bwMode="auto">
          <a:xfrm>
            <a:off x="2886930" y="3562410"/>
            <a:ext cx="264413" cy="244267"/>
          </a:xfrm>
          <a:custGeom>
            <a:avLst/>
            <a:gdLst>
              <a:gd name="T0" fmla="*/ 197 w 210"/>
              <a:gd name="T1" fmla="*/ 194 h 194"/>
              <a:gd name="T2" fmla="*/ 17 w 210"/>
              <a:gd name="T3" fmla="*/ 194 h 194"/>
              <a:gd name="T4" fmla="*/ 0 w 210"/>
              <a:gd name="T5" fmla="*/ 13 h 194"/>
              <a:gd name="T6" fmla="*/ 210 w 210"/>
              <a:gd name="T7" fmla="*/ 0 h 194"/>
              <a:gd name="T8" fmla="*/ 197 w 210"/>
              <a:gd name="T9" fmla="*/ 194 h 194"/>
              <a:gd name="T10" fmla="*/ 31 w 210"/>
              <a:gd name="T11" fmla="*/ 178 h 194"/>
              <a:gd name="T12" fmla="*/ 183 w 210"/>
              <a:gd name="T13" fmla="*/ 178 h 194"/>
              <a:gd name="T14" fmla="*/ 194 w 210"/>
              <a:gd name="T15" fmla="*/ 17 h 194"/>
              <a:gd name="T16" fmla="*/ 17 w 210"/>
              <a:gd name="T17" fmla="*/ 28 h 194"/>
              <a:gd name="T18" fmla="*/ 31 w 210"/>
              <a:gd name="T19" fmla="*/ 17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0" h="194">
                <a:moveTo>
                  <a:pt x="197" y="194"/>
                </a:moveTo>
                <a:lnTo>
                  <a:pt x="17" y="194"/>
                </a:lnTo>
                <a:lnTo>
                  <a:pt x="0" y="13"/>
                </a:lnTo>
                <a:lnTo>
                  <a:pt x="210" y="0"/>
                </a:lnTo>
                <a:lnTo>
                  <a:pt x="197" y="194"/>
                </a:lnTo>
                <a:close/>
                <a:moveTo>
                  <a:pt x="31" y="178"/>
                </a:moveTo>
                <a:lnTo>
                  <a:pt x="183" y="178"/>
                </a:lnTo>
                <a:lnTo>
                  <a:pt x="194" y="17"/>
                </a:lnTo>
                <a:lnTo>
                  <a:pt x="17" y="28"/>
                </a:lnTo>
                <a:lnTo>
                  <a:pt x="31" y="178"/>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47" name="ïSḻïḍ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B924089-7650-4D10-9936-5C2EA59872B5}"/>
              </a:ext>
            </a:extLst>
          </p:cNvPr>
          <p:cNvSpPr/>
          <p:nvPr/>
        </p:nvSpPr>
        <p:spPr bwMode="auto">
          <a:xfrm>
            <a:off x="2876857" y="2844721"/>
            <a:ext cx="269449" cy="231675"/>
          </a:xfrm>
          <a:custGeom>
            <a:avLst/>
            <a:gdLst>
              <a:gd name="T0" fmla="*/ 206 w 215"/>
              <a:gd name="T1" fmla="*/ 183 h 183"/>
              <a:gd name="T2" fmla="*/ 21 w 215"/>
              <a:gd name="T3" fmla="*/ 183 h 183"/>
              <a:gd name="T4" fmla="*/ 0 w 215"/>
              <a:gd name="T5" fmla="*/ 0 h 183"/>
              <a:gd name="T6" fmla="*/ 215 w 215"/>
              <a:gd name="T7" fmla="*/ 0 h 183"/>
              <a:gd name="T8" fmla="*/ 206 w 215"/>
              <a:gd name="T9" fmla="*/ 183 h 183"/>
              <a:gd name="T10" fmla="*/ 34 w 215"/>
              <a:gd name="T11" fmla="*/ 168 h 183"/>
              <a:gd name="T12" fmla="*/ 192 w 215"/>
              <a:gd name="T13" fmla="*/ 168 h 183"/>
              <a:gd name="T14" fmla="*/ 199 w 215"/>
              <a:gd name="T15" fmla="*/ 15 h 183"/>
              <a:gd name="T16" fmla="*/ 17 w 215"/>
              <a:gd name="T17" fmla="*/ 15 h 183"/>
              <a:gd name="T18" fmla="*/ 34 w 215"/>
              <a:gd name="T19" fmla="*/ 168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5" h="183">
                <a:moveTo>
                  <a:pt x="206" y="183"/>
                </a:moveTo>
                <a:lnTo>
                  <a:pt x="21" y="183"/>
                </a:lnTo>
                <a:lnTo>
                  <a:pt x="0" y="0"/>
                </a:lnTo>
                <a:lnTo>
                  <a:pt x="215" y="0"/>
                </a:lnTo>
                <a:lnTo>
                  <a:pt x="206" y="183"/>
                </a:lnTo>
                <a:close/>
                <a:moveTo>
                  <a:pt x="34" y="168"/>
                </a:moveTo>
                <a:lnTo>
                  <a:pt x="192" y="168"/>
                </a:lnTo>
                <a:lnTo>
                  <a:pt x="199" y="15"/>
                </a:lnTo>
                <a:lnTo>
                  <a:pt x="17" y="15"/>
                </a:lnTo>
                <a:lnTo>
                  <a:pt x="34" y="168"/>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normAutofit lnSpcReduction="10000"/>
          </a:bodyPr>
          <a:lstStyle/>
          <a:p>
            <a:endParaRPr lang="en-US" dirty="0">
              <a:latin typeface="Arial" panose="020B0604020202020204" pitchFamily="34" charset="0"/>
              <a:ea typeface="+mn-ea"/>
            </a:endParaRPr>
          </a:p>
        </p:txBody>
      </p:sp>
      <p:sp>
        <p:nvSpPr>
          <p:cNvPr id="48" name="ïṧľîḓ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0AA663D-E12E-49B2-ABB2-FEA36F29F1D2}"/>
              </a:ext>
            </a:extLst>
          </p:cNvPr>
          <p:cNvSpPr/>
          <p:nvPr/>
        </p:nvSpPr>
        <p:spPr bwMode="auto">
          <a:xfrm>
            <a:off x="3311249" y="3028825"/>
            <a:ext cx="886411" cy="1470634"/>
          </a:xfrm>
          <a:custGeom>
            <a:avLst/>
            <a:gdLst>
              <a:gd name="T0" fmla="*/ 706 w 706"/>
              <a:gd name="T1" fmla="*/ 666 h 1168"/>
              <a:gd name="T2" fmla="*/ 628 w 706"/>
              <a:gd name="T3" fmla="*/ 585 h 1168"/>
              <a:gd name="T4" fmla="*/ 571 w 706"/>
              <a:gd name="T5" fmla="*/ 518 h 1168"/>
              <a:gd name="T6" fmla="*/ 537 w 706"/>
              <a:gd name="T7" fmla="*/ 475 h 1168"/>
              <a:gd name="T8" fmla="*/ 510 w 706"/>
              <a:gd name="T9" fmla="*/ 432 h 1168"/>
              <a:gd name="T10" fmla="*/ 488 w 706"/>
              <a:gd name="T11" fmla="*/ 390 h 1168"/>
              <a:gd name="T12" fmla="*/ 475 w 706"/>
              <a:gd name="T13" fmla="*/ 351 h 1168"/>
              <a:gd name="T14" fmla="*/ 471 w 706"/>
              <a:gd name="T15" fmla="*/ 333 h 1168"/>
              <a:gd name="T16" fmla="*/ 464 w 706"/>
              <a:gd name="T17" fmla="*/ 273 h 1168"/>
              <a:gd name="T18" fmla="*/ 452 w 706"/>
              <a:gd name="T19" fmla="*/ 213 h 1168"/>
              <a:gd name="T20" fmla="*/ 436 w 706"/>
              <a:gd name="T21" fmla="*/ 156 h 1168"/>
              <a:gd name="T22" fmla="*/ 416 w 706"/>
              <a:gd name="T23" fmla="*/ 104 h 1168"/>
              <a:gd name="T24" fmla="*/ 393 w 706"/>
              <a:gd name="T25" fmla="*/ 61 h 1168"/>
              <a:gd name="T26" fmla="*/ 366 w 706"/>
              <a:gd name="T27" fmla="*/ 27 h 1168"/>
              <a:gd name="T28" fmla="*/ 352 w 706"/>
              <a:gd name="T29" fmla="*/ 15 h 1168"/>
              <a:gd name="T30" fmla="*/ 337 w 706"/>
              <a:gd name="T31" fmla="*/ 7 h 1168"/>
              <a:gd name="T32" fmla="*/ 321 w 706"/>
              <a:gd name="T33" fmla="*/ 1 h 1168"/>
              <a:gd name="T34" fmla="*/ 304 w 706"/>
              <a:gd name="T35" fmla="*/ 0 h 1168"/>
              <a:gd name="T36" fmla="*/ 265 w 706"/>
              <a:gd name="T37" fmla="*/ 1 h 1168"/>
              <a:gd name="T38" fmla="*/ 117 w 706"/>
              <a:gd name="T39" fmla="*/ 12 h 1168"/>
              <a:gd name="T40" fmla="*/ 0 w 706"/>
              <a:gd name="T41" fmla="*/ 23 h 1168"/>
              <a:gd name="T42" fmla="*/ 3 w 706"/>
              <a:gd name="T43" fmla="*/ 53 h 1168"/>
              <a:gd name="T44" fmla="*/ 15 w 706"/>
              <a:gd name="T45" fmla="*/ 94 h 1168"/>
              <a:gd name="T46" fmla="*/ 37 w 706"/>
              <a:gd name="T47" fmla="*/ 149 h 1168"/>
              <a:gd name="T48" fmla="*/ 70 w 706"/>
              <a:gd name="T49" fmla="*/ 218 h 1168"/>
              <a:gd name="T50" fmla="*/ 80 w 706"/>
              <a:gd name="T51" fmla="*/ 240 h 1168"/>
              <a:gd name="T52" fmla="*/ 94 w 706"/>
              <a:gd name="T53" fmla="*/ 289 h 1168"/>
              <a:gd name="T54" fmla="*/ 109 w 706"/>
              <a:gd name="T55" fmla="*/ 368 h 1168"/>
              <a:gd name="T56" fmla="*/ 124 w 706"/>
              <a:gd name="T57" fmla="*/ 449 h 1168"/>
              <a:gd name="T58" fmla="*/ 141 w 706"/>
              <a:gd name="T59" fmla="*/ 499 h 1168"/>
              <a:gd name="T60" fmla="*/ 159 w 706"/>
              <a:gd name="T61" fmla="*/ 533 h 1168"/>
              <a:gd name="T62" fmla="*/ 175 w 706"/>
              <a:gd name="T63" fmla="*/ 553 h 1168"/>
              <a:gd name="T64" fmla="*/ 193 w 706"/>
              <a:gd name="T65" fmla="*/ 573 h 1168"/>
              <a:gd name="T66" fmla="*/ 214 w 706"/>
              <a:gd name="T67" fmla="*/ 588 h 1168"/>
              <a:gd name="T68" fmla="*/ 227 w 706"/>
              <a:gd name="T69" fmla="*/ 595 h 1168"/>
              <a:gd name="T70" fmla="*/ 265 w 706"/>
              <a:gd name="T71" fmla="*/ 636 h 1168"/>
              <a:gd name="T72" fmla="*/ 316 w 706"/>
              <a:gd name="T73" fmla="*/ 698 h 1168"/>
              <a:gd name="T74" fmla="*/ 342 w 706"/>
              <a:gd name="T75" fmla="*/ 736 h 1168"/>
              <a:gd name="T76" fmla="*/ 366 w 706"/>
              <a:gd name="T77" fmla="*/ 776 h 1168"/>
              <a:gd name="T78" fmla="*/ 386 w 706"/>
              <a:gd name="T79" fmla="*/ 818 h 1168"/>
              <a:gd name="T80" fmla="*/ 394 w 706"/>
              <a:gd name="T81" fmla="*/ 837 h 1168"/>
              <a:gd name="T82" fmla="*/ 412 w 706"/>
              <a:gd name="T83" fmla="*/ 870 h 1168"/>
              <a:gd name="T84" fmla="*/ 440 w 706"/>
              <a:gd name="T85" fmla="*/ 911 h 1168"/>
              <a:gd name="T86" fmla="*/ 490 w 706"/>
              <a:gd name="T87" fmla="*/ 971 h 1168"/>
              <a:gd name="T88" fmla="*/ 514 w 706"/>
              <a:gd name="T89" fmla="*/ 1005 h 1168"/>
              <a:gd name="T90" fmla="*/ 641 w 706"/>
              <a:gd name="T91" fmla="*/ 1168 h 1168"/>
              <a:gd name="T92" fmla="*/ 706 w 706"/>
              <a:gd name="T93" fmla="*/ 666 h 1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6" h="1168">
                <a:moveTo>
                  <a:pt x="706" y="666"/>
                </a:moveTo>
                <a:lnTo>
                  <a:pt x="706" y="666"/>
                </a:lnTo>
                <a:lnTo>
                  <a:pt x="667" y="627"/>
                </a:lnTo>
                <a:lnTo>
                  <a:pt x="628" y="585"/>
                </a:lnTo>
                <a:lnTo>
                  <a:pt x="589" y="541"/>
                </a:lnTo>
                <a:lnTo>
                  <a:pt x="571" y="518"/>
                </a:lnTo>
                <a:lnTo>
                  <a:pt x="554" y="497"/>
                </a:lnTo>
                <a:lnTo>
                  <a:pt x="537" y="475"/>
                </a:lnTo>
                <a:lnTo>
                  <a:pt x="523" y="453"/>
                </a:lnTo>
                <a:lnTo>
                  <a:pt x="510" y="432"/>
                </a:lnTo>
                <a:lnTo>
                  <a:pt x="498" y="410"/>
                </a:lnTo>
                <a:lnTo>
                  <a:pt x="488" y="390"/>
                </a:lnTo>
                <a:lnTo>
                  <a:pt x="480" y="370"/>
                </a:lnTo>
                <a:lnTo>
                  <a:pt x="475" y="351"/>
                </a:lnTo>
                <a:lnTo>
                  <a:pt x="471" y="333"/>
                </a:lnTo>
                <a:lnTo>
                  <a:pt x="471" y="333"/>
                </a:lnTo>
                <a:lnTo>
                  <a:pt x="467" y="303"/>
                </a:lnTo>
                <a:lnTo>
                  <a:pt x="464" y="273"/>
                </a:lnTo>
                <a:lnTo>
                  <a:pt x="458" y="243"/>
                </a:lnTo>
                <a:lnTo>
                  <a:pt x="452" y="213"/>
                </a:lnTo>
                <a:lnTo>
                  <a:pt x="443" y="184"/>
                </a:lnTo>
                <a:lnTo>
                  <a:pt x="436" y="156"/>
                </a:lnTo>
                <a:lnTo>
                  <a:pt x="427" y="130"/>
                </a:lnTo>
                <a:lnTo>
                  <a:pt x="416" y="104"/>
                </a:lnTo>
                <a:lnTo>
                  <a:pt x="405" y="82"/>
                </a:lnTo>
                <a:lnTo>
                  <a:pt x="393" y="61"/>
                </a:lnTo>
                <a:lnTo>
                  <a:pt x="381" y="43"/>
                </a:lnTo>
                <a:lnTo>
                  <a:pt x="366" y="27"/>
                </a:lnTo>
                <a:lnTo>
                  <a:pt x="359" y="21"/>
                </a:lnTo>
                <a:lnTo>
                  <a:pt x="352" y="15"/>
                </a:lnTo>
                <a:lnTo>
                  <a:pt x="345" y="10"/>
                </a:lnTo>
                <a:lnTo>
                  <a:pt x="337" y="7"/>
                </a:lnTo>
                <a:lnTo>
                  <a:pt x="329" y="3"/>
                </a:lnTo>
                <a:lnTo>
                  <a:pt x="321" y="1"/>
                </a:lnTo>
                <a:lnTo>
                  <a:pt x="313" y="0"/>
                </a:lnTo>
                <a:lnTo>
                  <a:pt x="304" y="0"/>
                </a:lnTo>
                <a:lnTo>
                  <a:pt x="304" y="0"/>
                </a:lnTo>
                <a:lnTo>
                  <a:pt x="265" y="1"/>
                </a:lnTo>
                <a:lnTo>
                  <a:pt x="218" y="4"/>
                </a:lnTo>
                <a:lnTo>
                  <a:pt x="117" y="12"/>
                </a:lnTo>
                <a:lnTo>
                  <a:pt x="0" y="23"/>
                </a:lnTo>
                <a:lnTo>
                  <a:pt x="0" y="23"/>
                </a:lnTo>
                <a:lnTo>
                  <a:pt x="0" y="36"/>
                </a:lnTo>
                <a:lnTo>
                  <a:pt x="3" y="53"/>
                </a:lnTo>
                <a:lnTo>
                  <a:pt x="8" y="72"/>
                </a:lnTo>
                <a:lnTo>
                  <a:pt x="15" y="94"/>
                </a:lnTo>
                <a:lnTo>
                  <a:pt x="25" y="120"/>
                </a:lnTo>
                <a:lnTo>
                  <a:pt x="37" y="149"/>
                </a:lnTo>
                <a:lnTo>
                  <a:pt x="52" y="181"/>
                </a:lnTo>
                <a:lnTo>
                  <a:pt x="70" y="218"/>
                </a:lnTo>
                <a:lnTo>
                  <a:pt x="70" y="218"/>
                </a:lnTo>
                <a:lnTo>
                  <a:pt x="80" y="240"/>
                </a:lnTo>
                <a:lnTo>
                  <a:pt x="87" y="263"/>
                </a:lnTo>
                <a:lnTo>
                  <a:pt x="94" y="289"/>
                </a:lnTo>
                <a:lnTo>
                  <a:pt x="99" y="315"/>
                </a:lnTo>
                <a:lnTo>
                  <a:pt x="109" y="368"/>
                </a:lnTo>
                <a:lnTo>
                  <a:pt x="118" y="422"/>
                </a:lnTo>
                <a:lnTo>
                  <a:pt x="124" y="449"/>
                </a:lnTo>
                <a:lnTo>
                  <a:pt x="133" y="475"/>
                </a:lnTo>
                <a:lnTo>
                  <a:pt x="141" y="499"/>
                </a:lnTo>
                <a:lnTo>
                  <a:pt x="153" y="522"/>
                </a:lnTo>
                <a:lnTo>
                  <a:pt x="159" y="533"/>
                </a:lnTo>
                <a:lnTo>
                  <a:pt x="167" y="544"/>
                </a:lnTo>
                <a:lnTo>
                  <a:pt x="175" y="553"/>
                </a:lnTo>
                <a:lnTo>
                  <a:pt x="183" y="563"/>
                </a:lnTo>
                <a:lnTo>
                  <a:pt x="193" y="573"/>
                </a:lnTo>
                <a:lnTo>
                  <a:pt x="203" y="581"/>
                </a:lnTo>
                <a:lnTo>
                  <a:pt x="214" y="588"/>
                </a:lnTo>
                <a:lnTo>
                  <a:pt x="227" y="595"/>
                </a:lnTo>
                <a:lnTo>
                  <a:pt x="227" y="595"/>
                </a:lnTo>
                <a:lnTo>
                  <a:pt x="245" y="614"/>
                </a:lnTo>
                <a:lnTo>
                  <a:pt x="265" y="636"/>
                </a:lnTo>
                <a:lnTo>
                  <a:pt x="289" y="664"/>
                </a:lnTo>
                <a:lnTo>
                  <a:pt x="316" y="698"/>
                </a:lnTo>
                <a:lnTo>
                  <a:pt x="329" y="717"/>
                </a:lnTo>
                <a:lnTo>
                  <a:pt x="342" y="736"/>
                </a:lnTo>
                <a:lnTo>
                  <a:pt x="354" y="756"/>
                </a:lnTo>
                <a:lnTo>
                  <a:pt x="366" y="776"/>
                </a:lnTo>
                <a:lnTo>
                  <a:pt x="376" y="798"/>
                </a:lnTo>
                <a:lnTo>
                  <a:pt x="386" y="818"/>
                </a:lnTo>
                <a:lnTo>
                  <a:pt x="386" y="818"/>
                </a:lnTo>
                <a:lnTo>
                  <a:pt x="394" y="837"/>
                </a:lnTo>
                <a:lnTo>
                  <a:pt x="402" y="854"/>
                </a:lnTo>
                <a:lnTo>
                  <a:pt x="412" y="870"/>
                </a:lnTo>
                <a:lnTo>
                  <a:pt x="422" y="884"/>
                </a:lnTo>
                <a:lnTo>
                  <a:pt x="440" y="911"/>
                </a:lnTo>
                <a:lnTo>
                  <a:pt x="458" y="932"/>
                </a:lnTo>
                <a:lnTo>
                  <a:pt x="490" y="971"/>
                </a:lnTo>
                <a:lnTo>
                  <a:pt x="504" y="988"/>
                </a:lnTo>
                <a:lnTo>
                  <a:pt x="514" y="1005"/>
                </a:lnTo>
                <a:lnTo>
                  <a:pt x="514" y="1005"/>
                </a:lnTo>
                <a:lnTo>
                  <a:pt x="641" y="1168"/>
                </a:lnTo>
                <a:lnTo>
                  <a:pt x="706" y="1168"/>
                </a:lnTo>
                <a:lnTo>
                  <a:pt x="706" y="666"/>
                </a:lnTo>
                <a:close/>
              </a:path>
            </a:pathLst>
          </a:custGeom>
          <a:solidFill>
            <a:schemeClr val="tx1">
              <a:lumMod val="75000"/>
              <a:lumOff val="25000"/>
              <a:alpha val="56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grpSp>
        <p:nvGrpSpPr>
          <p:cNvPr id="49" name="ïSḻïḋ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5BF24D21-A80B-4DAF-B95A-7B4D825EF929}"/>
              </a:ext>
            </a:extLst>
          </p:cNvPr>
          <p:cNvGrpSpPr/>
          <p:nvPr/>
        </p:nvGrpSpPr>
        <p:grpSpPr>
          <a:xfrm>
            <a:off x="3245777" y="2746791"/>
            <a:ext cx="1377517" cy="1683817"/>
            <a:chOff x="3953338" y="2622140"/>
            <a:chExt cx="1962757" cy="2399180"/>
          </a:xfrm>
        </p:grpSpPr>
        <p:sp>
          <p:nvSpPr>
            <p:cNvPr id="50" name="ïṡlíḓ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C18F0BA-2E1D-4783-88D2-BECB09867EA8}"/>
                </a:ext>
              </a:extLst>
            </p:cNvPr>
            <p:cNvSpPr/>
            <p:nvPr/>
          </p:nvSpPr>
          <p:spPr bwMode="auto">
            <a:xfrm>
              <a:off x="4362379" y="3070648"/>
              <a:ext cx="466450" cy="190169"/>
            </a:xfrm>
            <a:custGeom>
              <a:avLst/>
              <a:gdLst>
                <a:gd name="T0" fmla="*/ 52 w 260"/>
                <a:gd name="T1" fmla="*/ 5 h 106"/>
                <a:gd name="T2" fmla="*/ 52 w 260"/>
                <a:gd name="T3" fmla="*/ 5 h 106"/>
                <a:gd name="T4" fmla="*/ 38 w 260"/>
                <a:gd name="T5" fmla="*/ 7 h 106"/>
                <a:gd name="T6" fmla="*/ 25 w 260"/>
                <a:gd name="T7" fmla="*/ 11 h 106"/>
                <a:gd name="T8" fmla="*/ 16 w 260"/>
                <a:gd name="T9" fmla="*/ 17 h 106"/>
                <a:gd name="T10" fmla="*/ 10 w 260"/>
                <a:gd name="T11" fmla="*/ 23 h 106"/>
                <a:gd name="T12" fmla="*/ 5 w 260"/>
                <a:gd name="T13" fmla="*/ 28 h 106"/>
                <a:gd name="T14" fmla="*/ 3 w 260"/>
                <a:gd name="T15" fmla="*/ 34 h 106"/>
                <a:gd name="T16" fmla="*/ 0 w 260"/>
                <a:gd name="T17" fmla="*/ 39 h 106"/>
                <a:gd name="T18" fmla="*/ 0 w 260"/>
                <a:gd name="T19" fmla="*/ 39 h 106"/>
                <a:gd name="T20" fmla="*/ 1 w 260"/>
                <a:gd name="T21" fmla="*/ 40 h 106"/>
                <a:gd name="T22" fmla="*/ 3 w 260"/>
                <a:gd name="T23" fmla="*/ 47 h 106"/>
                <a:gd name="T24" fmla="*/ 7 w 260"/>
                <a:gd name="T25" fmla="*/ 56 h 106"/>
                <a:gd name="T26" fmla="*/ 15 w 260"/>
                <a:gd name="T27" fmla="*/ 66 h 106"/>
                <a:gd name="T28" fmla="*/ 19 w 260"/>
                <a:gd name="T29" fmla="*/ 72 h 106"/>
                <a:gd name="T30" fmla="*/ 25 w 260"/>
                <a:gd name="T31" fmla="*/ 77 h 106"/>
                <a:gd name="T32" fmla="*/ 34 w 260"/>
                <a:gd name="T33" fmla="*/ 83 h 106"/>
                <a:gd name="T34" fmla="*/ 42 w 260"/>
                <a:gd name="T35" fmla="*/ 88 h 106"/>
                <a:gd name="T36" fmla="*/ 53 w 260"/>
                <a:gd name="T37" fmla="*/ 93 h 106"/>
                <a:gd name="T38" fmla="*/ 65 w 260"/>
                <a:gd name="T39" fmla="*/ 98 h 106"/>
                <a:gd name="T40" fmla="*/ 80 w 260"/>
                <a:gd name="T41" fmla="*/ 101 h 106"/>
                <a:gd name="T42" fmla="*/ 95 w 260"/>
                <a:gd name="T43" fmla="*/ 104 h 106"/>
                <a:gd name="T44" fmla="*/ 95 w 260"/>
                <a:gd name="T45" fmla="*/ 104 h 106"/>
                <a:gd name="T46" fmla="*/ 111 w 260"/>
                <a:gd name="T47" fmla="*/ 105 h 106"/>
                <a:gd name="T48" fmla="*/ 128 w 260"/>
                <a:gd name="T49" fmla="*/ 106 h 106"/>
                <a:gd name="T50" fmla="*/ 143 w 260"/>
                <a:gd name="T51" fmla="*/ 106 h 106"/>
                <a:gd name="T52" fmla="*/ 158 w 260"/>
                <a:gd name="T53" fmla="*/ 106 h 106"/>
                <a:gd name="T54" fmla="*/ 187 w 260"/>
                <a:gd name="T55" fmla="*/ 104 h 106"/>
                <a:gd name="T56" fmla="*/ 211 w 260"/>
                <a:gd name="T57" fmla="*/ 99 h 106"/>
                <a:gd name="T58" fmla="*/ 231 w 260"/>
                <a:gd name="T59" fmla="*/ 94 h 106"/>
                <a:gd name="T60" fmla="*/ 247 w 260"/>
                <a:gd name="T61" fmla="*/ 90 h 106"/>
                <a:gd name="T62" fmla="*/ 260 w 260"/>
                <a:gd name="T63" fmla="*/ 86 h 106"/>
                <a:gd name="T64" fmla="*/ 230 w 260"/>
                <a:gd name="T65" fmla="*/ 0 h 106"/>
                <a:gd name="T66" fmla="*/ 52 w 260"/>
                <a:gd name="T67" fmla="*/ 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0" h="106">
                  <a:moveTo>
                    <a:pt x="52" y="5"/>
                  </a:moveTo>
                  <a:lnTo>
                    <a:pt x="52" y="5"/>
                  </a:lnTo>
                  <a:lnTo>
                    <a:pt x="38" y="7"/>
                  </a:lnTo>
                  <a:lnTo>
                    <a:pt x="25" y="11"/>
                  </a:lnTo>
                  <a:lnTo>
                    <a:pt x="16" y="17"/>
                  </a:lnTo>
                  <a:lnTo>
                    <a:pt x="10" y="23"/>
                  </a:lnTo>
                  <a:lnTo>
                    <a:pt x="5" y="28"/>
                  </a:lnTo>
                  <a:lnTo>
                    <a:pt x="3" y="34"/>
                  </a:lnTo>
                  <a:lnTo>
                    <a:pt x="0" y="39"/>
                  </a:lnTo>
                  <a:lnTo>
                    <a:pt x="0" y="39"/>
                  </a:lnTo>
                  <a:lnTo>
                    <a:pt x="1" y="40"/>
                  </a:lnTo>
                  <a:lnTo>
                    <a:pt x="3" y="47"/>
                  </a:lnTo>
                  <a:lnTo>
                    <a:pt x="7" y="56"/>
                  </a:lnTo>
                  <a:lnTo>
                    <a:pt x="15" y="66"/>
                  </a:lnTo>
                  <a:lnTo>
                    <a:pt x="19" y="72"/>
                  </a:lnTo>
                  <a:lnTo>
                    <a:pt x="25" y="77"/>
                  </a:lnTo>
                  <a:lnTo>
                    <a:pt x="34" y="83"/>
                  </a:lnTo>
                  <a:lnTo>
                    <a:pt x="42" y="88"/>
                  </a:lnTo>
                  <a:lnTo>
                    <a:pt x="53" y="93"/>
                  </a:lnTo>
                  <a:lnTo>
                    <a:pt x="65" y="98"/>
                  </a:lnTo>
                  <a:lnTo>
                    <a:pt x="80" y="101"/>
                  </a:lnTo>
                  <a:lnTo>
                    <a:pt x="95" y="104"/>
                  </a:lnTo>
                  <a:lnTo>
                    <a:pt x="95" y="104"/>
                  </a:lnTo>
                  <a:lnTo>
                    <a:pt x="111" y="105"/>
                  </a:lnTo>
                  <a:lnTo>
                    <a:pt x="128" y="106"/>
                  </a:lnTo>
                  <a:lnTo>
                    <a:pt x="143" y="106"/>
                  </a:lnTo>
                  <a:lnTo>
                    <a:pt x="158" y="106"/>
                  </a:lnTo>
                  <a:lnTo>
                    <a:pt x="187" y="104"/>
                  </a:lnTo>
                  <a:lnTo>
                    <a:pt x="211" y="99"/>
                  </a:lnTo>
                  <a:lnTo>
                    <a:pt x="231" y="94"/>
                  </a:lnTo>
                  <a:lnTo>
                    <a:pt x="247" y="90"/>
                  </a:lnTo>
                  <a:lnTo>
                    <a:pt x="260" y="86"/>
                  </a:lnTo>
                  <a:lnTo>
                    <a:pt x="230" y="0"/>
                  </a:lnTo>
                  <a:lnTo>
                    <a:pt x="52" y="5"/>
                  </a:lnTo>
                  <a:close/>
                </a:path>
              </a:pathLst>
            </a:custGeom>
            <a:solidFill>
              <a:srgbClr val="DA7B46"/>
            </a:solidFill>
            <a:ln>
              <a:noFill/>
            </a:ln>
          </p:spPr>
          <p:txBody>
            <a:bodyPr vert="horz" wrap="square" lIns="91440" tIns="45720" rIns="91440" bIns="45720" numCol="1" anchor="t" anchorCtr="0" compatLnSpc="1">
              <a:prstTxWarp prst="textNoShape">
                <a:avLst/>
              </a:prstTxWarp>
              <a:normAutofit fontScale="32500" lnSpcReduction="20000"/>
            </a:bodyPr>
            <a:lstStyle/>
            <a:p>
              <a:endParaRPr lang="en-US" dirty="0">
                <a:latin typeface="Arial" panose="020B0604020202020204" pitchFamily="34" charset="0"/>
                <a:ea typeface="+mn-ea"/>
              </a:endParaRPr>
            </a:p>
          </p:txBody>
        </p:sp>
        <p:sp>
          <p:nvSpPr>
            <p:cNvPr id="51" name="ïṩḻiḍ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4DFA1E14-18EC-4A59-9DA0-26BA372366B4}"/>
                </a:ext>
              </a:extLst>
            </p:cNvPr>
            <p:cNvSpPr/>
            <p:nvPr/>
          </p:nvSpPr>
          <p:spPr bwMode="auto">
            <a:xfrm>
              <a:off x="4279852" y="2841011"/>
              <a:ext cx="602797" cy="362397"/>
            </a:xfrm>
            <a:custGeom>
              <a:avLst/>
              <a:gdLst>
                <a:gd name="T0" fmla="*/ 325 w 337"/>
                <a:gd name="T1" fmla="*/ 83 h 201"/>
                <a:gd name="T2" fmla="*/ 307 w 337"/>
                <a:gd name="T3" fmla="*/ 54 h 201"/>
                <a:gd name="T4" fmla="*/ 286 w 337"/>
                <a:gd name="T5" fmla="*/ 27 h 201"/>
                <a:gd name="T6" fmla="*/ 259 w 337"/>
                <a:gd name="T7" fmla="*/ 1 h 201"/>
                <a:gd name="T8" fmla="*/ 188 w 337"/>
                <a:gd name="T9" fmla="*/ 0 h 201"/>
                <a:gd name="T10" fmla="*/ 159 w 337"/>
                <a:gd name="T11" fmla="*/ 26 h 201"/>
                <a:gd name="T12" fmla="*/ 71 w 337"/>
                <a:gd name="T13" fmla="*/ 103 h 201"/>
                <a:gd name="T14" fmla="*/ 17 w 337"/>
                <a:gd name="T15" fmla="*/ 145 h 201"/>
                <a:gd name="T16" fmla="*/ 0 w 337"/>
                <a:gd name="T17" fmla="*/ 155 h 201"/>
                <a:gd name="T18" fmla="*/ 0 w 337"/>
                <a:gd name="T19" fmla="*/ 162 h 201"/>
                <a:gd name="T20" fmla="*/ 11 w 337"/>
                <a:gd name="T21" fmla="*/ 175 h 201"/>
                <a:gd name="T22" fmla="*/ 29 w 337"/>
                <a:gd name="T23" fmla="*/ 186 h 201"/>
                <a:gd name="T24" fmla="*/ 55 w 337"/>
                <a:gd name="T25" fmla="*/ 193 h 201"/>
                <a:gd name="T26" fmla="*/ 84 w 337"/>
                <a:gd name="T27" fmla="*/ 196 h 201"/>
                <a:gd name="T28" fmla="*/ 115 w 337"/>
                <a:gd name="T29" fmla="*/ 191 h 201"/>
                <a:gd name="T30" fmla="*/ 145 w 337"/>
                <a:gd name="T31" fmla="*/ 178 h 201"/>
                <a:gd name="T32" fmla="*/ 173 w 337"/>
                <a:gd name="T33" fmla="*/ 155 h 201"/>
                <a:gd name="T34" fmla="*/ 185 w 337"/>
                <a:gd name="T35" fmla="*/ 139 h 201"/>
                <a:gd name="T36" fmla="*/ 188 w 337"/>
                <a:gd name="T37" fmla="*/ 136 h 201"/>
                <a:gd name="T38" fmla="*/ 192 w 337"/>
                <a:gd name="T39" fmla="*/ 132 h 201"/>
                <a:gd name="T40" fmla="*/ 197 w 337"/>
                <a:gd name="T41" fmla="*/ 131 h 201"/>
                <a:gd name="T42" fmla="*/ 201 w 337"/>
                <a:gd name="T43" fmla="*/ 127 h 201"/>
                <a:gd name="T44" fmla="*/ 204 w 337"/>
                <a:gd name="T45" fmla="*/ 134 h 201"/>
                <a:gd name="T46" fmla="*/ 211 w 337"/>
                <a:gd name="T47" fmla="*/ 155 h 201"/>
                <a:gd name="T48" fmla="*/ 215 w 337"/>
                <a:gd name="T49" fmla="*/ 173 h 201"/>
                <a:gd name="T50" fmla="*/ 215 w 337"/>
                <a:gd name="T51" fmla="*/ 201 h 201"/>
                <a:gd name="T52" fmla="*/ 241 w 337"/>
                <a:gd name="T53" fmla="*/ 198 h 201"/>
                <a:gd name="T54" fmla="*/ 282 w 337"/>
                <a:gd name="T55" fmla="*/ 189 h 201"/>
                <a:gd name="T56" fmla="*/ 310 w 337"/>
                <a:gd name="T57" fmla="*/ 175 h 201"/>
                <a:gd name="T58" fmla="*/ 328 w 337"/>
                <a:gd name="T59" fmla="*/ 160 h 201"/>
                <a:gd name="T60" fmla="*/ 336 w 337"/>
                <a:gd name="T61" fmla="*/ 143 h 201"/>
                <a:gd name="T62" fmla="*/ 337 w 337"/>
                <a:gd name="T63" fmla="*/ 125 h 201"/>
                <a:gd name="T64" fmla="*/ 334 w 337"/>
                <a:gd name="T65" fmla="*/ 107 h 201"/>
                <a:gd name="T66" fmla="*/ 325 w 337"/>
                <a:gd name="T67" fmla="*/ 8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7" h="201">
                  <a:moveTo>
                    <a:pt x="325" y="83"/>
                  </a:moveTo>
                  <a:lnTo>
                    <a:pt x="325" y="83"/>
                  </a:lnTo>
                  <a:lnTo>
                    <a:pt x="317" y="68"/>
                  </a:lnTo>
                  <a:lnTo>
                    <a:pt x="307" y="54"/>
                  </a:lnTo>
                  <a:lnTo>
                    <a:pt x="297" y="39"/>
                  </a:lnTo>
                  <a:lnTo>
                    <a:pt x="286" y="27"/>
                  </a:lnTo>
                  <a:lnTo>
                    <a:pt x="268" y="8"/>
                  </a:lnTo>
                  <a:lnTo>
                    <a:pt x="259" y="1"/>
                  </a:lnTo>
                  <a:lnTo>
                    <a:pt x="246" y="16"/>
                  </a:lnTo>
                  <a:lnTo>
                    <a:pt x="188" y="0"/>
                  </a:lnTo>
                  <a:lnTo>
                    <a:pt x="188" y="0"/>
                  </a:lnTo>
                  <a:lnTo>
                    <a:pt x="159" y="26"/>
                  </a:lnTo>
                  <a:lnTo>
                    <a:pt x="103" y="77"/>
                  </a:lnTo>
                  <a:lnTo>
                    <a:pt x="71" y="103"/>
                  </a:lnTo>
                  <a:lnTo>
                    <a:pt x="41" y="127"/>
                  </a:lnTo>
                  <a:lnTo>
                    <a:pt x="17" y="145"/>
                  </a:lnTo>
                  <a:lnTo>
                    <a:pt x="8" y="151"/>
                  </a:lnTo>
                  <a:lnTo>
                    <a:pt x="0" y="155"/>
                  </a:lnTo>
                  <a:lnTo>
                    <a:pt x="0" y="155"/>
                  </a:lnTo>
                  <a:lnTo>
                    <a:pt x="0" y="162"/>
                  </a:lnTo>
                  <a:lnTo>
                    <a:pt x="5" y="168"/>
                  </a:lnTo>
                  <a:lnTo>
                    <a:pt x="11" y="175"/>
                  </a:lnTo>
                  <a:lnTo>
                    <a:pt x="20" y="181"/>
                  </a:lnTo>
                  <a:lnTo>
                    <a:pt x="29" y="186"/>
                  </a:lnTo>
                  <a:lnTo>
                    <a:pt x="41" y="191"/>
                  </a:lnTo>
                  <a:lnTo>
                    <a:pt x="55" y="193"/>
                  </a:lnTo>
                  <a:lnTo>
                    <a:pt x="69" y="196"/>
                  </a:lnTo>
                  <a:lnTo>
                    <a:pt x="84" y="196"/>
                  </a:lnTo>
                  <a:lnTo>
                    <a:pt x="99" y="195"/>
                  </a:lnTo>
                  <a:lnTo>
                    <a:pt x="115" y="191"/>
                  </a:lnTo>
                  <a:lnTo>
                    <a:pt x="130" y="186"/>
                  </a:lnTo>
                  <a:lnTo>
                    <a:pt x="145" y="178"/>
                  </a:lnTo>
                  <a:lnTo>
                    <a:pt x="159" y="168"/>
                  </a:lnTo>
                  <a:lnTo>
                    <a:pt x="173" y="155"/>
                  </a:lnTo>
                  <a:lnTo>
                    <a:pt x="179" y="148"/>
                  </a:lnTo>
                  <a:lnTo>
                    <a:pt x="185" y="139"/>
                  </a:lnTo>
                  <a:lnTo>
                    <a:pt x="185" y="139"/>
                  </a:lnTo>
                  <a:lnTo>
                    <a:pt x="188" y="136"/>
                  </a:lnTo>
                  <a:lnTo>
                    <a:pt x="191" y="133"/>
                  </a:lnTo>
                  <a:lnTo>
                    <a:pt x="192" y="132"/>
                  </a:lnTo>
                  <a:lnTo>
                    <a:pt x="194" y="132"/>
                  </a:lnTo>
                  <a:lnTo>
                    <a:pt x="197" y="131"/>
                  </a:lnTo>
                  <a:lnTo>
                    <a:pt x="199" y="130"/>
                  </a:lnTo>
                  <a:lnTo>
                    <a:pt x="201" y="127"/>
                  </a:lnTo>
                  <a:lnTo>
                    <a:pt x="201" y="127"/>
                  </a:lnTo>
                  <a:lnTo>
                    <a:pt x="204" y="134"/>
                  </a:lnTo>
                  <a:lnTo>
                    <a:pt x="206" y="140"/>
                  </a:lnTo>
                  <a:lnTo>
                    <a:pt x="211" y="155"/>
                  </a:lnTo>
                  <a:lnTo>
                    <a:pt x="214" y="163"/>
                  </a:lnTo>
                  <a:lnTo>
                    <a:pt x="215" y="173"/>
                  </a:lnTo>
                  <a:lnTo>
                    <a:pt x="215" y="185"/>
                  </a:lnTo>
                  <a:lnTo>
                    <a:pt x="215" y="201"/>
                  </a:lnTo>
                  <a:lnTo>
                    <a:pt x="215" y="201"/>
                  </a:lnTo>
                  <a:lnTo>
                    <a:pt x="241" y="198"/>
                  </a:lnTo>
                  <a:lnTo>
                    <a:pt x="263" y="193"/>
                  </a:lnTo>
                  <a:lnTo>
                    <a:pt x="282" y="189"/>
                  </a:lnTo>
                  <a:lnTo>
                    <a:pt x="298" y="183"/>
                  </a:lnTo>
                  <a:lnTo>
                    <a:pt x="310" y="175"/>
                  </a:lnTo>
                  <a:lnTo>
                    <a:pt x="321" y="168"/>
                  </a:lnTo>
                  <a:lnTo>
                    <a:pt x="328" y="160"/>
                  </a:lnTo>
                  <a:lnTo>
                    <a:pt x="333" y="151"/>
                  </a:lnTo>
                  <a:lnTo>
                    <a:pt x="336" y="143"/>
                  </a:lnTo>
                  <a:lnTo>
                    <a:pt x="337" y="133"/>
                  </a:lnTo>
                  <a:lnTo>
                    <a:pt x="337" y="125"/>
                  </a:lnTo>
                  <a:lnTo>
                    <a:pt x="336" y="115"/>
                  </a:lnTo>
                  <a:lnTo>
                    <a:pt x="334" y="107"/>
                  </a:lnTo>
                  <a:lnTo>
                    <a:pt x="331" y="98"/>
                  </a:lnTo>
                  <a:lnTo>
                    <a:pt x="325" y="83"/>
                  </a:lnTo>
                  <a:lnTo>
                    <a:pt x="325" y="83"/>
                  </a:lnTo>
                  <a:close/>
                </a:path>
              </a:pathLst>
            </a:custGeom>
            <a:solidFill>
              <a:srgbClr val="E19469"/>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52" name="ïšḷîd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6556E58-E20F-43A6-951D-D71E3F6CA3FA}"/>
                </a:ext>
              </a:extLst>
            </p:cNvPr>
            <p:cNvSpPr/>
            <p:nvPr/>
          </p:nvSpPr>
          <p:spPr bwMode="auto">
            <a:xfrm>
              <a:off x="4193738" y="2812307"/>
              <a:ext cx="498744" cy="322927"/>
            </a:xfrm>
            <a:custGeom>
              <a:avLst/>
              <a:gdLst>
                <a:gd name="T0" fmla="*/ 210 w 278"/>
                <a:gd name="T1" fmla="*/ 0 h 179"/>
                <a:gd name="T2" fmla="*/ 210 w 278"/>
                <a:gd name="T3" fmla="*/ 0 h 179"/>
                <a:gd name="T4" fmla="*/ 177 w 278"/>
                <a:gd name="T5" fmla="*/ 21 h 179"/>
                <a:gd name="T6" fmla="*/ 113 w 278"/>
                <a:gd name="T7" fmla="*/ 62 h 179"/>
                <a:gd name="T8" fmla="*/ 79 w 278"/>
                <a:gd name="T9" fmla="*/ 85 h 179"/>
                <a:gd name="T10" fmla="*/ 46 w 278"/>
                <a:gd name="T11" fmla="*/ 104 h 179"/>
                <a:gd name="T12" fmla="*/ 18 w 278"/>
                <a:gd name="T13" fmla="*/ 119 h 179"/>
                <a:gd name="T14" fmla="*/ 9 w 278"/>
                <a:gd name="T15" fmla="*/ 122 h 179"/>
                <a:gd name="T16" fmla="*/ 0 w 278"/>
                <a:gd name="T17" fmla="*/ 125 h 179"/>
                <a:gd name="T18" fmla="*/ 0 w 278"/>
                <a:gd name="T19" fmla="*/ 125 h 179"/>
                <a:gd name="T20" fmla="*/ 0 w 278"/>
                <a:gd name="T21" fmla="*/ 132 h 179"/>
                <a:gd name="T22" fmla="*/ 4 w 278"/>
                <a:gd name="T23" fmla="*/ 139 h 179"/>
                <a:gd name="T24" fmla="*/ 9 w 278"/>
                <a:gd name="T25" fmla="*/ 147 h 179"/>
                <a:gd name="T26" fmla="*/ 16 w 278"/>
                <a:gd name="T27" fmla="*/ 154 h 179"/>
                <a:gd name="T28" fmla="*/ 26 w 278"/>
                <a:gd name="T29" fmla="*/ 161 h 179"/>
                <a:gd name="T30" fmla="*/ 36 w 278"/>
                <a:gd name="T31" fmla="*/ 167 h 179"/>
                <a:gd name="T32" fmla="*/ 48 w 278"/>
                <a:gd name="T33" fmla="*/ 172 h 179"/>
                <a:gd name="T34" fmla="*/ 63 w 278"/>
                <a:gd name="T35" fmla="*/ 175 h 179"/>
                <a:gd name="T36" fmla="*/ 77 w 278"/>
                <a:gd name="T37" fmla="*/ 178 h 179"/>
                <a:gd name="T38" fmla="*/ 93 w 278"/>
                <a:gd name="T39" fmla="*/ 179 h 179"/>
                <a:gd name="T40" fmla="*/ 109 w 278"/>
                <a:gd name="T41" fmla="*/ 178 h 179"/>
                <a:gd name="T42" fmla="*/ 124 w 278"/>
                <a:gd name="T43" fmla="*/ 175 h 179"/>
                <a:gd name="T44" fmla="*/ 141 w 278"/>
                <a:gd name="T45" fmla="*/ 171 h 179"/>
                <a:gd name="T46" fmla="*/ 157 w 278"/>
                <a:gd name="T47" fmla="*/ 162 h 179"/>
                <a:gd name="T48" fmla="*/ 171 w 278"/>
                <a:gd name="T49" fmla="*/ 151 h 179"/>
                <a:gd name="T50" fmla="*/ 178 w 278"/>
                <a:gd name="T51" fmla="*/ 145 h 179"/>
                <a:gd name="T52" fmla="*/ 186 w 278"/>
                <a:gd name="T53" fmla="*/ 138 h 179"/>
                <a:gd name="T54" fmla="*/ 186 w 278"/>
                <a:gd name="T55" fmla="*/ 138 h 179"/>
                <a:gd name="T56" fmla="*/ 231 w 278"/>
                <a:gd name="T57" fmla="*/ 86 h 179"/>
                <a:gd name="T58" fmla="*/ 260 w 278"/>
                <a:gd name="T59" fmla="*/ 54 h 179"/>
                <a:gd name="T60" fmla="*/ 278 w 278"/>
                <a:gd name="T61" fmla="*/ 31 h 179"/>
                <a:gd name="T62" fmla="*/ 210 w 278"/>
                <a:gd name="T63"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8" h="179">
                  <a:moveTo>
                    <a:pt x="210" y="0"/>
                  </a:moveTo>
                  <a:lnTo>
                    <a:pt x="210" y="0"/>
                  </a:lnTo>
                  <a:lnTo>
                    <a:pt x="177" y="21"/>
                  </a:lnTo>
                  <a:lnTo>
                    <a:pt x="113" y="62"/>
                  </a:lnTo>
                  <a:lnTo>
                    <a:pt x="79" y="85"/>
                  </a:lnTo>
                  <a:lnTo>
                    <a:pt x="46" y="104"/>
                  </a:lnTo>
                  <a:lnTo>
                    <a:pt x="18" y="119"/>
                  </a:lnTo>
                  <a:lnTo>
                    <a:pt x="9" y="122"/>
                  </a:lnTo>
                  <a:lnTo>
                    <a:pt x="0" y="125"/>
                  </a:lnTo>
                  <a:lnTo>
                    <a:pt x="0" y="125"/>
                  </a:lnTo>
                  <a:lnTo>
                    <a:pt x="0" y="132"/>
                  </a:lnTo>
                  <a:lnTo>
                    <a:pt x="4" y="139"/>
                  </a:lnTo>
                  <a:lnTo>
                    <a:pt x="9" y="147"/>
                  </a:lnTo>
                  <a:lnTo>
                    <a:pt x="16" y="154"/>
                  </a:lnTo>
                  <a:lnTo>
                    <a:pt x="26" y="161"/>
                  </a:lnTo>
                  <a:lnTo>
                    <a:pt x="36" y="167"/>
                  </a:lnTo>
                  <a:lnTo>
                    <a:pt x="48" y="172"/>
                  </a:lnTo>
                  <a:lnTo>
                    <a:pt x="63" y="175"/>
                  </a:lnTo>
                  <a:lnTo>
                    <a:pt x="77" y="178"/>
                  </a:lnTo>
                  <a:lnTo>
                    <a:pt x="93" y="179"/>
                  </a:lnTo>
                  <a:lnTo>
                    <a:pt x="109" y="178"/>
                  </a:lnTo>
                  <a:lnTo>
                    <a:pt x="124" y="175"/>
                  </a:lnTo>
                  <a:lnTo>
                    <a:pt x="141" y="171"/>
                  </a:lnTo>
                  <a:lnTo>
                    <a:pt x="157" y="162"/>
                  </a:lnTo>
                  <a:lnTo>
                    <a:pt x="171" y="151"/>
                  </a:lnTo>
                  <a:lnTo>
                    <a:pt x="178" y="145"/>
                  </a:lnTo>
                  <a:lnTo>
                    <a:pt x="186" y="138"/>
                  </a:lnTo>
                  <a:lnTo>
                    <a:pt x="186" y="138"/>
                  </a:lnTo>
                  <a:lnTo>
                    <a:pt x="231" y="86"/>
                  </a:lnTo>
                  <a:lnTo>
                    <a:pt x="260" y="54"/>
                  </a:lnTo>
                  <a:lnTo>
                    <a:pt x="278" y="31"/>
                  </a:lnTo>
                  <a:lnTo>
                    <a:pt x="210" y="0"/>
                  </a:lnTo>
                  <a:close/>
                </a:path>
              </a:pathLst>
            </a:custGeom>
            <a:solidFill>
              <a:srgbClr val="E19469"/>
            </a:solidFill>
            <a:ln>
              <a:noFill/>
            </a:ln>
          </p:spPr>
          <p:txBody>
            <a:bodyPr vert="horz" wrap="square" lIns="91440" tIns="45720" rIns="91440" bIns="45720" numCol="1" anchor="t" anchorCtr="0" compatLnSpc="1">
              <a:prstTxWarp prst="textNoShape">
                <a:avLst/>
              </a:prstTxWarp>
              <a:normAutofit fontScale="92500" lnSpcReduction="10000"/>
            </a:bodyPr>
            <a:lstStyle/>
            <a:p>
              <a:endParaRPr lang="en-US" dirty="0">
                <a:latin typeface="Arial" panose="020B0604020202020204" pitchFamily="34" charset="0"/>
                <a:ea typeface="+mn-ea"/>
              </a:endParaRPr>
            </a:p>
          </p:txBody>
        </p:sp>
        <p:sp>
          <p:nvSpPr>
            <p:cNvPr id="53" name="ïś1ïḍ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23642B4-1C04-44F4-A2EE-39C5A4E6C417}"/>
                </a:ext>
              </a:extLst>
            </p:cNvPr>
            <p:cNvSpPr/>
            <p:nvPr/>
          </p:nvSpPr>
          <p:spPr bwMode="auto">
            <a:xfrm>
              <a:off x="3999982" y="2622140"/>
              <a:ext cx="1309649" cy="1851447"/>
            </a:xfrm>
            <a:custGeom>
              <a:avLst/>
              <a:gdLst>
                <a:gd name="T0" fmla="*/ 722 w 732"/>
                <a:gd name="T1" fmla="*/ 771 h 1031"/>
                <a:gd name="T2" fmla="*/ 627 w 732"/>
                <a:gd name="T3" fmla="*/ 694 h 1031"/>
                <a:gd name="T4" fmla="*/ 598 w 732"/>
                <a:gd name="T5" fmla="*/ 653 h 1031"/>
                <a:gd name="T6" fmla="*/ 584 w 732"/>
                <a:gd name="T7" fmla="*/ 612 h 1031"/>
                <a:gd name="T8" fmla="*/ 569 w 732"/>
                <a:gd name="T9" fmla="*/ 487 h 1031"/>
                <a:gd name="T10" fmla="*/ 564 w 732"/>
                <a:gd name="T11" fmla="*/ 237 h 1031"/>
                <a:gd name="T12" fmla="*/ 490 w 732"/>
                <a:gd name="T13" fmla="*/ 126 h 1031"/>
                <a:gd name="T14" fmla="*/ 448 w 732"/>
                <a:gd name="T15" fmla="*/ 59 h 1031"/>
                <a:gd name="T16" fmla="*/ 407 w 732"/>
                <a:gd name="T17" fmla="*/ 5 h 1031"/>
                <a:gd name="T18" fmla="*/ 392 w 732"/>
                <a:gd name="T19" fmla="*/ 0 h 1031"/>
                <a:gd name="T20" fmla="*/ 366 w 732"/>
                <a:gd name="T21" fmla="*/ 13 h 1031"/>
                <a:gd name="T22" fmla="*/ 314 w 732"/>
                <a:gd name="T23" fmla="*/ 54 h 1031"/>
                <a:gd name="T24" fmla="*/ 282 w 732"/>
                <a:gd name="T25" fmla="*/ 68 h 1031"/>
                <a:gd name="T26" fmla="*/ 188 w 732"/>
                <a:gd name="T27" fmla="*/ 85 h 1031"/>
                <a:gd name="T28" fmla="*/ 94 w 732"/>
                <a:gd name="T29" fmla="*/ 70 h 1031"/>
                <a:gd name="T30" fmla="*/ 75 w 732"/>
                <a:gd name="T31" fmla="*/ 78 h 1031"/>
                <a:gd name="T32" fmla="*/ 69 w 732"/>
                <a:gd name="T33" fmla="*/ 106 h 1031"/>
                <a:gd name="T34" fmla="*/ 91 w 732"/>
                <a:gd name="T35" fmla="*/ 163 h 1031"/>
                <a:gd name="T36" fmla="*/ 116 w 732"/>
                <a:gd name="T37" fmla="*/ 185 h 1031"/>
                <a:gd name="T38" fmla="*/ 165 w 732"/>
                <a:gd name="T39" fmla="*/ 202 h 1031"/>
                <a:gd name="T40" fmla="*/ 236 w 732"/>
                <a:gd name="T41" fmla="*/ 204 h 1031"/>
                <a:gd name="T42" fmla="*/ 314 w 732"/>
                <a:gd name="T43" fmla="*/ 179 h 1031"/>
                <a:gd name="T44" fmla="*/ 360 w 732"/>
                <a:gd name="T45" fmla="*/ 162 h 1031"/>
                <a:gd name="T46" fmla="*/ 394 w 732"/>
                <a:gd name="T47" fmla="*/ 251 h 1031"/>
                <a:gd name="T48" fmla="*/ 357 w 732"/>
                <a:gd name="T49" fmla="*/ 299 h 1031"/>
                <a:gd name="T50" fmla="*/ 327 w 732"/>
                <a:gd name="T51" fmla="*/ 368 h 1031"/>
                <a:gd name="T52" fmla="*/ 314 w 732"/>
                <a:gd name="T53" fmla="*/ 460 h 1031"/>
                <a:gd name="T54" fmla="*/ 294 w 732"/>
                <a:gd name="T55" fmla="*/ 466 h 1031"/>
                <a:gd name="T56" fmla="*/ 250 w 732"/>
                <a:gd name="T57" fmla="*/ 437 h 1031"/>
                <a:gd name="T58" fmla="*/ 220 w 732"/>
                <a:gd name="T59" fmla="*/ 396 h 1031"/>
                <a:gd name="T60" fmla="*/ 187 w 732"/>
                <a:gd name="T61" fmla="*/ 309 h 1031"/>
                <a:gd name="T62" fmla="*/ 158 w 732"/>
                <a:gd name="T63" fmla="*/ 259 h 1031"/>
                <a:gd name="T64" fmla="*/ 108 w 732"/>
                <a:gd name="T65" fmla="*/ 218 h 1031"/>
                <a:gd name="T66" fmla="*/ 66 w 732"/>
                <a:gd name="T67" fmla="*/ 201 h 1031"/>
                <a:gd name="T68" fmla="*/ 29 w 732"/>
                <a:gd name="T69" fmla="*/ 202 h 1031"/>
                <a:gd name="T70" fmla="*/ 7 w 732"/>
                <a:gd name="T71" fmla="*/ 218 h 1031"/>
                <a:gd name="T72" fmla="*/ 0 w 732"/>
                <a:gd name="T73" fmla="*/ 239 h 1031"/>
                <a:gd name="T74" fmla="*/ 35 w 732"/>
                <a:gd name="T75" fmla="*/ 287 h 1031"/>
                <a:gd name="T76" fmla="*/ 107 w 732"/>
                <a:gd name="T77" fmla="*/ 402 h 1031"/>
                <a:gd name="T78" fmla="*/ 155 w 732"/>
                <a:gd name="T79" fmla="*/ 514 h 1031"/>
                <a:gd name="T80" fmla="*/ 211 w 732"/>
                <a:gd name="T81" fmla="*/ 669 h 1031"/>
                <a:gd name="T82" fmla="*/ 252 w 732"/>
                <a:gd name="T83" fmla="*/ 752 h 1031"/>
                <a:gd name="T84" fmla="*/ 290 w 732"/>
                <a:gd name="T85" fmla="*/ 794 h 1031"/>
                <a:gd name="T86" fmla="*/ 324 w 732"/>
                <a:gd name="T87" fmla="*/ 813 h 1031"/>
                <a:gd name="T88" fmla="*/ 391 w 732"/>
                <a:gd name="T89" fmla="*/ 828 h 1031"/>
                <a:gd name="T90" fmla="*/ 436 w 732"/>
                <a:gd name="T91" fmla="*/ 851 h 1031"/>
                <a:gd name="T92" fmla="*/ 539 w 732"/>
                <a:gd name="T93" fmla="*/ 959 h 1031"/>
                <a:gd name="T94" fmla="*/ 580 w 732"/>
                <a:gd name="T95" fmla="*/ 1019 h 1031"/>
                <a:gd name="T96" fmla="*/ 602 w 732"/>
                <a:gd name="T97" fmla="*/ 1031 h 1031"/>
                <a:gd name="T98" fmla="*/ 642 w 732"/>
                <a:gd name="T99" fmla="*/ 1020 h 1031"/>
                <a:gd name="T100" fmla="*/ 699 w 732"/>
                <a:gd name="T101" fmla="*/ 972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32" h="1031">
                  <a:moveTo>
                    <a:pt x="732" y="776"/>
                  </a:moveTo>
                  <a:lnTo>
                    <a:pt x="732" y="776"/>
                  </a:lnTo>
                  <a:lnTo>
                    <a:pt x="722" y="771"/>
                  </a:lnTo>
                  <a:lnTo>
                    <a:pt x="722" y="771"/>
                  </a:lnTo>
                  <a:lnTo>
                    <a:pt x="682" y="742"/>
                  </a:lnTo>
                  <a:lnTo>
                    <a:pt x="663" y="727"/>
                  </a:lnTo>
                  <a:lnTo>
                    <a:pt x="644" y="711"/>
                  </a:lnTo>
                  <a:lnTo>
                    <a:pt x="627" y="694"/>
                  </a:lnTo>
                  <a:lnTo>
                    <a:pt x="619" y="685"/>
                  </a:lnTo>
                  <a:lnTo>
                    <a:pt x="611" y="675"/>
                  </a:lnTo>
                  <a:lnTo>
                    <a:pt x="604" y="664"/>
                  </a:lnTo>
                  <a:lnTo>
                    <a:pt x="598" y="653"/>
                  </a:lnTo>
                  <a:lnTo>
                    <a:pt x="592" y="641"/>
                  </a:lnTo>
                  <a:lnTo>
                    <a:pt x="587" y="628"/>
                  </a:lnTo>
                  <a:lnTo>
                    <a:pt x="587" y="628"/>
                  </a:lnTo>
                  <a:lnTo>
                    <a:pt x="584" y="612"/>
                  </a:lnTo>
                  <a:lnTo>
                    <a:pt x="579" y="593"/>
                  </a:lnTo>
                  <a:lnTo>
                    <a:pt x="577" y="570"/>
                  </a:lnTo>
                  <a:lnTo>
                    <a:pt x="573" y="545"/>
                  </a:lnTo>
                  <a:lnTo>
                    <a:pt x="569" y="487"/>
                  </a:lnTo>
                  <a:lnTo>
                    <a:pt x="567" y="427"/>
                  </a:lnTo>
                  <a:lnTo>
                    <a:pt x="564" y="367"/>
                  </a:lnTo>
                  <a:lnTo>
                    <a:pt x="564" y="312"/>
                  </a:lnTo>
                  <a:lnTo>
                    <a:pt x="564" y="237"/>
                  </a:lnTo>
                  <a:lnTo>
                    <a:pt x="564" y="237"/>
                  </a:lnTo>
                  <a:lnTo>
                    <a:pt x="536" y="192"/>
                  </a:lnTo>
                  <a:lnTo>
                    <a:pt x="512" y="157"/>
                  </a:lnTo>
                  <a:lnTo>
                    <a:pt x="490" y="126"/>
                  </a:lnTo>
                  <a:lnTo>
                    <a:pt x="468" y="94"/>
                  </a:lnTo>
                  <a:lnTo>
                    <a:pt x="468" y="94"/>
                  </a:lnTo>
                  <a:lnTo>
                    <a:pt x="457" y="76"/>
                  </a:lnTo>
                  <a:lnTo>
                    <a:pt x="448" y="59"/>
                  </a:lnTo>
                  <a:lnTo>
                    <a:pt x="432" y="31"/>
                  </a:lnTo>
                  <a:lnTo>
                    <a:pt x="424" y="20"/>
                  </a:lnTo>
                  <a:lnTo>
                    <a:pt x="416" y="11"/>
                  </a:lnTo>
                  <a:lnTo>
                    <a:pt x="407" y="5"/>
                  </a:lnTo>
                  <a:lnTo>
                    <a:pt x="403" y="2"/>
                  </a:lnTo>
                  <a:lnTo>
                    <a:pt x="397" y="0"/>
                  </a:lnTo>
                  <a:lnTo>
                    <a:pt x="397" y="0"/>
                  </a:lnTo>
                  <a:lnTo>
                    <a:pt x="392" y="0"/>
                  </a:lnTo>
                  <a:lnTo>
                    <a:pt x="388" y="0"/>
                  </a:lnTo>
                  <a:lnTo>
                    <a:pt x="382" y="2"/>
                  </a:lnTo>
                  <a:lnTo>
                    <a:pt x="377" y="5"/>
                  </a:lnTo>
                  <a:lnTo>
                    <a:pt x="366" y="13"/>
                  </a:lnTo>
                  <a:lnTo>
                    <a:pt x="354" y="24"/>
                  </a:lnTo>
                  <a:lnTo>
                    <a:pt x="339" y="36"/>
                  </a:lnTo>
                  <a:lnTo>
                    <a:pt x="324" y="48"/>
                  </a:lnTo>
                  <a:lnTo>
                    <a:pt x="314" y="54"/>
                  </a:lnTo>
                  <a:lnTo>
                    <a:pt x="305" y="60"/>
                  </a:lnTo>
                  <a:lnTo>
                    <a:pt x="294" y="64"/>
                  </a:lnTo>
                  <a:lnTo>
                    <a:pt x="282" y="68"/>
                  </a:lnTo>
                  <a:lnTo>
                    <a:pt x="282" y="68"/>
                  </a:lnTo>
                  <a:lnTo>
                    <a:pt x="259" y="74"/>
                  </a:lnTo>
                  <a:lnTo>
                    <a:pt x="235" y="80"/>
                  </a:lnTo>
                  <a:lnTo>
                    <a:pt x="212" y="84"/>
                  </a:lnTo>
                  <a:lnTo>
                    <a:pt x="188" y="85"/>
                  </a:lnTo>
                  <a:lnTo>
                    <a:pt x="165" y="85"/>
                  </a:lnTo>
                  <a:lnTo>
                    <a:pt x="141" y="83"/>
                  </a:lnTo>
                  <a:lnTo>
                    <a:pt x="118" y="77"/>
                  </a:lnTo>
                  <a:lnTo>
                    <a:pt x="94" y="70"/>
                  </a:lnTo>
                  <a:lnTo>
                    <a:pt x="94" y="70"/>
                  </a:lnTo>
                  <a:lnTo>
                    <a:pt x="85" y="71"/>
                  </a:lnTo>
                  <a:lnTo>
                    <a:pt x="79" y="73"/>
                  </a:lnTo>
                  <a:lnTo>
                    <a:pt x="75" y="78"/>
                  </a:lnTo>
                  <a:lnTo>
                    <a:pt x="71" y="84"/>
                  </a:lnTo>
                  <a:lnTo>
                    <a:pt x="69" y="90"/>
                  </a:lnTo>
                  <a:lnTo>
                    <a:pt x="69" y="97"/>
                  </a:lnTo>
                  <a:lnTo>
                    <a:pt x="69" y="106"/>
                  </a:lnTo>
                  <a:lnTo>
                    <a:pt x="70" y="114"/>
                  </a:lnTo>
                  <a:lnTo>
                    <a:pt x="75" y="131"/>
                  </a:lnTo>
                  <a:lnTo>
                    <a:pt x="82" y="148"/>
                  </a:lnTo>
                  <a:lnTo>
                    <a:pt x="91" y="163"/>
                  </a:lnTo>
                  <a:lnTo>
                    <a:pt x="101" y="176"/>
                  </a:lnTo>
                  <a:lnTo>
                    <a:pt x="101" y="176"/>
                  </a:lnTo>
                  <a:lnTo>
                    <a:pt x="107" y="180"/>
                  </a:lnTo>
                  <a:lnTo>
                    <a:pt x="116" y="185"/>
                  </a:lnTo>
                  <a:lnTo>
                    <a:pt x="125" y="190"/>
                  </a:lnTo>
                  <a:lnTo>
                    <a:pt x="137" y="195"/>
                  </a:lnTo>
                  <a:lnTo>
                    <a:pt x="150" y="198"/>
                  </a:lnTo>
                  <a:lnTo>
                    <a:pt x="165" y="202"/>
                  </a:lnTo>
                  <a:lnTo>
                    <a:pt x="182" y="204"/>
                  </a:lnTo>
                  <a:lnTo>
                    <a:pt x="199" y="207"/>
                  </a:lnTo>
                  <a:lnTo>
                    <a:pt x="217" y="207"/>
                  </a:lnTo>
                  <a:lnTo>
                    <a:pt x="236" y="204"/>
                  </a:lnTo>
                  <a:lnTo>
                    <a:pt x="255" y="202"/>
                  </a:lnTo>
                  <a:lnTo>
                    <a:pt x="274" y="196"/>
                  </a:lnTo>
                  <a:lnTo>
                    <a:pt x="295" y="189"/>
                  </a:lnTo>
                  <a:lnTo>
                    <a:pt x="314" y="179"/>
                  </a:lnTo>
                  <a:lnTo>
                    <a:pt x="335" y="167"/>
                  </a:lnTo>
                  <a:lnTo>
                    <a:pt x="354" y="151"/>
                  </a:lnTo>
                  <a:lnTo>
                    <a:pt x="354" y="151"/>
                  </a:lnTo>
                  <a:lnTo>
                    <a:pt x="360" y="162"/>
                  </a:lnTo>
                  <a:lnTo>
                    <a:pt x="366" y="177"/>
                  </a:lnTo>
                  <a:lnTo>
                    <a:pt x="379" y="210"/>
                  </a:lnTo>
                  <a:lnTo>
                    <a:pt x="394" y="251"/>
                  </a:lnTo>
                  <a:lnTo>
                    <a:pt x="394" y="251"/>
                  </a:lnTo>
                  <a:lnTo>
                    <a:pt x="390" y="255"/>
                  </a:lnTo>
                  <a:lnTo>
                    <a:pt x="379" y="267"/>
                  </a:lnTo>
                  <a:lnTo>
                    <a:pt x="365" y="287"/>
                  </a:lnTo>
                  <a:lnTo>
                    <a:pt x="357" y="299"/>
                  </a:lnTo>
                  <a:lnTo>
                    <a:pt x="349" y="314"/>
                  </a:lnTo>
                  <a:lnTo>
                    <a:pt x="341" y="331"/>
                  </a:lnTo>
                  <a:lnTo>
                    <a:pt x="333" y="349"/>
                  </a:lnTo>
                  <a:lnTo>
                    <a:pt x="327" y="368"/>
                  </a:lnTo>
                  <a:lnTo>
                    <a:pt x="321" y="389"/>
                  </a:lnTo>
                  <a:lnTo>
                    <a:pt x="317" y="411"/>
                  </a:lnTo>
                  <a:lnTo>
                    <a:pt x="314" y="434"/>
                  </a:lnTo>
                  <a:lnTo>
                    <a:pt x="314" y="460"/>
                  </a:lnTo>
                  <a:lnTo>
                    <a:pt x="315" y="486"/>
                  </a:lnTo>
                  <a:lnTo>
                    <a:pt x="315" y="486"/>
                  </a:lnTo>
                  <a:lnTo>
                    <a:pt x="305" y="475"/>
                  </a:lnTo>
                  <a:lnTo>
                    <a:pt x="294" y="466"/>
                  </a:lnTo>
                  <a:lnTo>
                    <a:pt x="284" y="460"/>
                  </a:lnTo>
                  <a:lnTo>
                    <a:pt x="273" y="452"/>
                  </a:lnTo>
                  <a:lnTo>
                    <a:pt x="262" y="445"/>
                  </a:lnTo>
                  <a:lnTo>
                    <a:pt x="250" y="437"/>
                  </a:lnTo>
                  <a:lnTo>
                    <a:pt x="240" y="423"/>
                  </a:lnTo>
                  <a:lnTo>
                    <a:pt x="226" y="407"/>
                  </a:lnTo>
                  <a:lnTo>
                    <a:pt x="226" y="407"/>
                  </a:lnTo>
                  <a:lnTo>
                    <a:pt x="220" y="396"/>
                  </a:lnTo>
                  <a:lnTo>
                    <a:pt x="215" y="385"/>
                  </a:lnTo>
                  <a:lnTo>
                    <a:pt x="206" y="361"/>
                  </a:lnTo>
                  <a:lnTo>
                    <a:pt x="196" y="336"/>
                  </a:lnTo>
                  <a:lnTo>
                    <a:pt x="187" y="309"/>
                  </a:lnTo>
                  <a:lnTo>
                    <a:pt x="181" y="296"/>
                  </a:lnTo>
                  <a:lnTo>
                    <a:pt x="175" y="284"/>
                  </a:lnTo>
                  <a:lnTo>
                    <a:pt x="166" y="271"/>
                  </a:lnTo>
                  <a:lnTo>
                    <a:pt x="158" y="259"/>
                  </a:lnTo>
                  <a:lnTo>
                    <a:pt x="148" y="248"/>
                  </a:lnTo>
                  <a:lnTo>
                    <a:pt x="136" y="237"/>
                  </a:lnTo>
                  <a:lnTo>
                    <a:pt x="123" y="226"/>
                  </a:lnTo>
                  <a:lnTo>
                    <a:pt x="108" y="218"/>
                  </a:lnTo>
                  <a:lnTo>
                    <a:pt x="108" y="218"/>
                  </a:lnTo>
                  <a:lnTo>
                    <a:pt x="93" y="209"/>
                  </a:lnTo>
                  <a:lnTo>
                    <a:pt x="79" y="204"/>
                  </a:lnTo>
                  <a:lnTo>
                    <a:pt x="66" y="201"/>
                  </a:lnTo>
                  <a:lnTo>
                    <a:pt x="55" y="198"/>
                  </a:lnTo>
                  <a:lnTo>
                    <a:pt x="46" y="198"/>
                  </a:lnTo>
                  <a:lnTo>
                    <a:pt x="36" y="200"/>
                  </a:lnTo>
                  <a:lnTo>
                    <a:pt x="29" y="202"/>
                  </a:lnTo>
                  <a:lnTo>
                    <a:pt x="22" y="206"/>
                  </a:lnTo>
                  <a:lnTo>
                    <a:pt x="16" y="209"/>
                  </a:lnTo>
                  <a:lnTo>
                    <a:pt x="11" y="213"/>
                  </a:lnTo>
                  <a:lnTo>
                    <a:pt x="7" y="218"/>
                  </a:lnTo>
                  <a:lnTo>
                    <a:pt x="4" y="222"/>
                  </a:lnTo>
                  <a:lnTo>
                    <a:pt x="0" y="232"/>
                  </a:lnTo>
                  <a:lnTo>
                    <a:pt x="0" y="239"/>
                  </a:lnTo>
                  <a:lnTo>
                    <a:pt x="0" y="239"/>
                  </a:lnTo>
                  <a:lnTo>
                    <a:pt x="1" y="243"/>
                  </a:lnTo>
                  <a:lnTo>
                    <a:pt x="5" y="248"/>
                  </a:lnTo>
                  <a:lnTo>
                    <a:pt x="17" y="265"/>
                  </a:lnTo>
                  <a:lnTo>
                    <a:pt x="35" y="287"/>
                  </a:lnTo>
                  <a:lnTo>
                    <a:pt x="57" y="319"/>
                  </a:lnTo>
                  <a:lnTo>
                    <a:pt x="82" y="356"/>
                  </a:lnTo>
                  <a:lnTo>
                    <a:pt x="94" y="378"/>
                  </a:lnTo>
                  <a:lnTo>
                    <a:pt x="107" y="402"/>
                  </a:lnTo>
                  <a:lnTo>
                    <a:pt x="120" y="427"/>
                  </a:lnTo>
                  <a:lnTo>
                    <a:pt x="132" y="454"/>
                  </a:lnTo>
                  <a:lnTo>
                    <a:pt x="144" y="482"/>
                  </a:lnTo>
                  <a:lnTo>
                    <a:pt x="155" y="514"/>
                  </a:lnTo>
                  <a:lnTo>
                    <a:pt x="155" y="514"/>
                  </a:lnTo>
                  <a:lnTo>
                    <a:pt x="176" y="573"/>
                  </a:lnTo>
                  <a:lnTo>
                    <a:pt x="194" y="624"/>
                  </a:lnTo>
                  <a:lnTo>
                    <a:pt x="211" y="669"/>
                  </a:lnTo>
                  <a:lnTo>
                    <a:pt x="227" y="708"/>
                  </a:lnTo>
                  <a:lnTo>
                    <a:pt x="235" y="723"/>
                  </a:lnTo>
                  <a:lnTo>
                    <a:pt x="243" y="739"/>
                  </a:lnTo>
                  <a:lnTo>
                    <a:pt x="252" y="752"/>
                  </a:lnTo>
                  <a:lnTo>
                    <a:pt x="261" y="764"/>
                  </a:lnTo>
                  <a:lnTo>
                    <a:pt x="270" y="776"/>
                  </a:lnTo>
                  <a:lnTo>
                    <a:pt x="280" y="786"/>
                  </a:lnTo>
                  <a:lnTo>
                    <a:pt x="290" y="794"/>
                  </a:lnTo>
                  <a:lnTo>
                    <a:pt x="302" y="801"/>
                  </a:lnTo>
                  <a:lnTo>
                    <a:pt x="302" y="801"/>
                  </a:lnTo>
                  <a:lnTo>
                    <a:pt x="313" y="809"/>
                  </a:lnTo>
                  <a:lnTo>
                    <a:pt x="324" y="813"/>
                  </a:lnTo>
                  <a:lnTo>
                    <a:pt x="344" y="821"/>
                  </a:lnTo>
                  <a:lnTo>
                    <a:pt x="362" y="825"/>
                  </a:lnTo>
                  <a:lnTo>
                    <a:pt x="379" y="828"/>
                  </a:lnTo>
                  <a:lnTo>
                    <a:pt x="391" y="828"/>
                  </a:lnTo>
                  <a:lnTo>
                    <a:pt x="402" y="828"/>
                  </a:lnTo>
                  <a:lnTo>
                    <a:pt x="409" y="825"/>
                  </a:lnTo>
                  <a:lnTo>
                    <a:pt x="409" y="825"/>
                  </a:lnTo>
                  <a:lnTo>
                    <a:pt x="436" y="851"/>
                  </a:lnTo>
                  <a:lnTo>
                    <a:pt x="462" y="876"/>
                  </a:lnTo>
                  <a:lnTo>
                    <a:pt x="493" y="909"/>
                  </a:lnTo>
                  <a:lnTo>
                    <a:pt x="525" y="942"/>
                  </a:lnTo>
                  <a:lnTo>
                    <a:pt x="539" y="959"/>
                  </a:lnTo>
                  <a:lnTo>
                    <a:pt x="552" y="976"/>
                  </a:lnTo>
                  <a:lnTo>
                    <a:pt x="564" y="992"/>
                  </a:lnTo>
                  <a:lnTo>
                    <a:pt x="574" y="1006"/>
                  </a:lnTo>
                  <a:lnTo>
                    <a:pt x="580" y="1019"/>
                  </a:lnTo>
                  <a:lnTo>
                    <a:pt x="584" y="1030"/>
                  </a:lnTo>
                  <a:lnTo>
                    <a:pt x="584" y="1030"/>
                  </a:lnTo>
                  <a:lnTo>
                    <a:pt x="592" y="1031"/>
                  </a:lnTo>
                  <a:lnTo>
                    <a:pt x="602" y="1031"/>
                  </a:lnTo>
                  <a:lnTo>
                    <a:pt x="611" y="1031"/>
                  </a:lnTo>
                  <a:lnTo>
                    <a:pt x="621" y="1029"/>
                  </a:lnTo>
                  <a:lnTo>
                    <a:pt x="631" y="1025"/>
                  </a:lnTo>
                  <a:lnTo>
                    <a:pt x="642" y="1020"/>
                  </a:lnTo>
                  <a:lnTo>
                    <a:pt x="651" y="1014"/>
                  </a:lnTo>
                  <a:lnTo>
                    <a:pt x="661" y="1007"/>
                  </a:lnTo>
                  <a:lnTo>
                    <a:pt x="680" y="992"/>
                  </a:lnTo>
                  <a:lnTo>
                    <a:pt x="699" y="972"/>
                  </a:lnTo>
                  <a:lnTo>
                    <a:pt x="716" y="952"/>
                  </a:lnTo>
                  <a:lnTo>
                    <a:pt x="732" y="930"/>
                  </a:lnTo>
                  <a:lnTo>
                    <a:pt x="732" y="776"/>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54" name="îṣľïď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9A0F6C25-DFC0-45E9-9B7F-392897D991B6}"/>
                </a:ext>
              </a:extLst>
            </p:cNvPr>
            <p:cNvSpPr/>
            <p:nvPr/>
          </p:nvSpPr>
          <p:spPr bwMode="auto">
            <a:xfrm>
              <a:off x="4563311" y="3088590"/>
              <a:ext cx="269107" cy="398278"/>
            </a:xfrm>
            <a:custGeom>
              <a:avLst/>
              <a:gdLst>
                <a:gd name="T0" fmla="*/ 71 w 151"/>
                <a:gd name="T1" fmla="*/ 0 h 221"/>
                <a:gd name="T2" fmla="*/ 71 w 151"/>
                <a:gd name="T3" fmla="*/ 0 h 221"/>
                <a:gd name="T4" fmla="*/ 62 w 151"/>
                <a:gd name="T5" fmla="*/ 12 h 221"/>
                <a:gd name="T6" fmla="*/ 49 w 151"/>
                <a:gd name="T7" fmla="*/ 29 h 221"/>
                <a:gd name="T8" fmla="*/ 37 w 151"/>
                <a:gd name="T9" fmla="*/ 50 h 221"/>
                <a:gd name="T10" fmla="*/ 24 w 151"/>
                <a:gd name="T11" fmla="*/ 76 h 221"/>
                <a:gd name="T12" fmla="*/ 18 w 151"/>
                <a:gd name="T13" fmla="*/ 91 h 221"/>
                <a:gd name="T14" fmla="*/ 13 w 151"/>
                <a:gd name="T15" fmla="*/ 107 h 221"/>
                <a:gd name="T16" fmla="*/ 9 w 151"/>
                <a:gd name="T17" fmla="*/ 123 h 221"/>
                <a:gd name="T18" fmla="*/ 5 w 151"/>
                <a:gd name="T19" fmla="*/ 141 h 221"/>
                <a:gd name="T20" fmla="*/ 3 w 151"/>
                <a:gd name="T21" fmla="*/ 159 h 221"/>
                <a:gd name="T22" fmla="*/ 0 w 151"/>
                <a:gd name="T23" fmla="*/ 178 h 221"/>
                <a:gd name="T24" fmla="*/ 0 w 151"/>
                <a:gd name="T25" fmla="*/ 198 h 221"/>
                <a:gd name="T26" fmla="*/ 1 w 151"/>
                <a:gd name="T27" fmla="*/ 220 h 221"/>
                <a:gd name="T28" fmla="*/ 1 w 151"/>
                <a:gd name="T29" fmla="*/ 221 h 221"/>
                <a:gd name="T30" fmla="*/ 1 w 151"/>
                <a:gd name="T31" fmla="*/ 221 h 221"/>
                <a:gd name="T32" fmla="*/ 4 w 151"/>
                <a:gd name="T33" fmla="*/ 208 h 221"/>
                <a:gd name="T34" fmla="*/ 6 w 151"/>
                <a:gd name="T35" fmla="*/ 194 h 221"/>
                <a:gd name="T36" fmla="*/ 10 w 151"/>
                <a:gd name="T37" fmla="*/ 175 h 221"/>
                <a:gd name="T38" fmla="*/ 17 w 151"/>
                <a:gd name="T39" fmla="*/ 155 h 221"/>
                <a:gd name="T40" fmla="*/ 22 w 151"/>
                <a:gd name="T41" fmla="*/ 145 h 221"/>
                <a:gd name="T42" fmla="*/ 27 w 151"/>
                <a:gd name="T43" fmla="*/ 135 h 221"/>
                <a:gd name="T44" fmla="*/ 33 w 151"/>
                <a:gd name="T45" fmla="*/ 125 h 221"/>
                <a:gd name="T46" fmla="*/ 40 w 151"/>
                <a:gd name="T47" fmla="*/ 115 h 221"/>
                <a:gd name="T48" fmla="*/ 48 w 151"/>
                <a:gd name="T49" fmla="*/ 106 h 221"/>
                <a:gd name="T50" fmla="*/ 58 w 151"/>
                <a:gd name="T51" fmla="*/ 97 h 221"/>
                <a:gd name="T52" fmla="*/ 58 w 151"/>
                <a:gd name="T53" fmla="*/ 97 h 221"/>
                <a:gd name="T54" fmla="*/ 76 w 151"/>
                <a:gd name="T55" fmla="*/ 83 h 221"/>
                <a:gd name="T56" fmla="*/ 94 w 151"/>
                <a:gd name="T57" fmla="*/ 71 h 221"/>
                <a:gd name="T58" fmla="*/ 124 w 151"/>
                <a:gd name="T59" fmla="*/ 52 h 221"/>
                <a:gd name="T60" fmla="*/ 143 w 151"/>
                <a:gd name="T61" fmla="*/ 41 h 221"/>
                <a:gd name="T62" fmla="*/ 151 w 151"/>
                <a:gd name="T63" fmla="*/ 37 h 221"/>
                <a:gd name="T64" fmla="*/ 71 w 151"/>
                <a:gd name="T65"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1" h="221">
                  <a:moveTo>
                    <a:pt x="71" y="0"/>
                  </a:moveTo>
                  <a:lnTo>
                    <a:pt x="71" y="0"/>
                  </a:lnTo>
                  <a:lnTo>
                    <a:pt x="62" y="12"/>
                  </a:lnTo>
                  <a:lnTo>
                    <a:pt x="49" y="29"/>
                  </a:lnTo>
                  <a:lnTo>
                    <a:pt x="37" y="50"/>
                  </a:lnTo>
                  <a:lnTo>
                    <a:pt x="24" y="76"/>
                  </a:lnTo>
                  <a:lnTo>
                    <a:pt x="18" y="91"/>
                  </a:lnTo>
                  <a:lnTo>
                    <a:pt x="13" y="107"/>
                  </a:lnTo>
                  <a:lnTo>
                    <a:pt x="9" y="123"/>
                  </a:lnTo>
                  <a:lnTo>
                    <a:pt x="5" y="141"/>
                  </a:lnTo>
                  <a:lnTo>
                    <a:pt x="3" y="159"/>
                  </a:lnTo>
                  <a:lnTo>
                    <a:pt x="0" y="178"/>
                  </a:lnTo>
                  <a:lnTo>
                    <a:pt x="0" y="198"/>
                  </a:lnTo>
                  <a:lnTo>
                    <a:pt x="1" y="220"/>
                  </a:lnTo>
                  <a:lnTo>
                    <a:pt x="1" y="221"/>
                  </a:lnTo>
                  <a:lnTo>
                    <a:pt x="1" y="221"/>
                  </a:lnTo>
                  <a:lnTo>
                    <a:pt x="4" y="208"/>
                  </a:lnTo>
                  <a:lnTo>
                    <a:pt x="6" y="194"/>
                  </a:lnTo>
                  <a:lnTo>
                    <a:pt x="10" y="175"/>
                  </a:lnTo>
                  <a:lnTo>
                    <a:pt x="17" y="155"/>
                  </a:lnTo>
                  <a:lnTo>
                    <a:pt x="22" y="145"/>
                  </a:lnTo>
                  <a:lnTo>
                    <a:pt x="27" y="135"/>
                  </a:lnTo>
                  <a:lnTo>
                    <a:pt x="33" y="125"/>
                  </a:lnTo>
                  <a:lnTo>
                    <a:pt x="40" y="115"/>
                  </a:lnTo>
                  <a:lnTo>
                    <a:pt x="48" y="106"/>
                  </a:lnTo>
                  <a:lnTo>
                    <a:pt x="58" y="97"/>
                  </a:lnTo>
                  <a:lnTo>
                    <a:pt x="58" y="97"/>
                  </a:lnTo>
                  <a:lnTo>
                    <a:pt x="76" y="83"/>
                  </a:lnTo>
                  <a:lnTo>
                    <a:pt x="94" y="71"/>
                  </a:lnTo>
                  <a:lnTo>
                    <a:pt x="124" y="52"/>
                  </a:lnTo>
                  <a:lnTo>
                    <a:pt x="143" y="41"/>
                  </a:lnTo>
                  <a:lnTo>
                    <a:pt x="151" y="37"/>
                  </a:lnTo>
                  <a:lnTo>
                    <a:pt x="71" y="0"/>
                  </a:lnTo>
                  <a:close/>
                </a:path>
              </a:pathLst>
            </a:custGeom>
            <a:solidFill>
              <a:srgbClr val="E19469"/>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55" name="ís1iḍ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78C525A-B884-4177-92B2-AF4109AEE660}"/>
                </a:ext>
              </a:extLst>
            </p:cNvPr>
            <p:cNvSpPr/>
            <p:nvPr/>
          </p:nvSpPr>
          <p:spPr bwMode="auto">
            <a:xfrm>
              <a:off x="4609955" y="3088590"/>
              <a:ext cx="405454" cy="322927"/>
            </a:xfrm>
            <a:custGeom>
              <a:avLst/>
              <a:gdLst>
                <a:gd name="T0" fmla="*/ 225 w 225"/>
                <a:gd name="T1" fmla="*/ 179 h 179"/>
                <a:gd name="T2" fmla="*/ 225 w 225"/>
                <a:gd name="T3" fmla="*/ 179 h 179"/>
                <a:gd name="T4" fmla="*/ 224 w 225"/>
                <a:gd name="T5" fmla="*/ 119 h 179"/>
                <a:gd name="T6" fmla="*/ 222 w 225"/>
                <a:gd name="T7" fmla="*/ 64 h 179"/>
                <a:gd name="T8" fmla="*/ 44 w 225"/>
                <a:gd name="T9" fmla="*/ 0 h 179"/>
                <a:gd name="T10" fmla="*/ 44 w 225"/>
                <a:gd name="T11" fmla="*/ 0 h 179"/>
                <a:gd name="T12" fmla="*/ 38 w 225"/>
                <a:gd name="T13" fmla="*/ 6 h 179"/>
                <a:gd name="T14" fmla="*/ 38 w 225"/>
                <a:gd name="T15" fmla="*/ 6 h 179"/>
                <a:gd name="T16" fmla="*/ 30 w 225"/>
                <a:gd name="T17" fmla="*/ 17 h 179"/>
                <a:gd name="T18" fmla="*/ 20 w 225"/>
                <a:gd name="T19" fmla="*/ 31 h 179"/>
                <a:gd name="T20" fmla="*/ 9 w 225"/>
                <a:gd name="T21" fmla="*/ 49 h 179"/>
                <a:gd name="T22" fmla="*/ 0 w 225"/>
                <a:gd name="T23" fmla="*/ 68 h 179"/>
                <a:gd name="T24" fmla="*/ 0 w 225"/>
                <a:gd name="T25" fmla="*/ 68 h 179"/>
                <a:gd name="T26" fmla="*/ 15 w 225"/>
                <a:gd name="T27" fmla="*/ 65 h 179"/>
                <a:gd name="T28" fmla="*/ 31 w 225"/>
                <a:gd name="T29" fmla="*/ 64 h 179"/>
                <a:gd name="T30" fmla="*/ 47 w 225"/>
                <a:gd name="T31" fmla="*/ 64 h 179"/>
                <a:gd name="T32" fmla="*/ 64 w 225"/>
                <a:gd name="T33" fmla="*/ 66 h 179"/>
                <a:gd name="T34" fmla="*/ 79 w 225"/>
                <a:gd name="T35" fmla="*/ 71 h 179"/>
                <a:gd name="T36" fmla="*/ 96 w 225"/>
                <a:gd name="T37" fmla="*/ 76 h 179"/>
                <a:gd name="T38" fmla="*/ 113 w 225"/>
                <a:gd name="T39" fmla="*/ 83 h 179"/>
                <a:gd name="T40" fmla="*/ 129 w 225"/>
                <a:gd name="T41" fmla="*/ 91 h 179"/>
                <a:gd name="T42" fmla="*/ 144 w 225"/>
                <a:gd name="T43" fmla="*/ 101 h 179"/>
                <a:gd name="T44" fmla="*/ 159 w 225"/>
                <a:gd name="T45" fmla="*/ 111 h 179"/>
                <a:gd name="T46" fmla="*/ 172 w 225"/>
                <a:gd name="T47" fmla="*/ 121 h 179"/>
                <a:gd name="T48" fmla="*/ 185 w 225"/>
                <a:gd name="T49" fmla="*/ 133 h 179"/>
                <a:gd name="T50" fmla="*/ 197 w 225"/>
                <a:gd name="T51" fmla="*/ 144 h 179"/>
                <a:gd name="T52" fmla="*/ 208 w 225"/>
                <a:gd name="T53" fmla="*/ 156 h 179"/>
                <a:gd name="T54" fmla="*/ 218 w 225"/>
                <a:gd name="T55" fmla="*/ 168 h 179"/>
                <a:gd name="T56" fmla="*/ 225 w 225"/>
                <a:gd name="T57" fmla="*/ 179 h 179"/>
                <a:gd name="T58" fmla="*/ 225 w 225"/>
                <a:gd name="T59"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179">
                  <a:moveTo>
                    <a:pt x="225" y="179"/>
                  </a:moveTo>
                  <a:lnTo>
                    <a:pt x="225" y="179"/>
                  </a:lnTo>
                  <a:lnTo>
                    <a:pt x="224" y="119"/>
                  </a:lnTo>
                  <a:lnTo>
                    <a:pt x="222" y="64"/>
                  </a:lnTo>
                  <a:lnTo>
                    <a:pt x="44" y="0"/>
                  </a:lnTo>
                  <a:lnTo>
                    <a:pt x="44" y="0"/>
                  </a:lnTo>
                  <a:lnTo>
                    <a:pt x="38" y="6"/>
                  </a:lnTo>
                  <a:lnTo>
                    <a:pt x="38" y="6"/>
                  </a:lnTo>
                  <a:lnTo>
                    <a:pt x="30" y="17"/>
                  </a:lnTo>
                  <a:lnTo>
                    <a:pt x="20" y="31"/>
                  </a:lnTo>
                  <a:lnTo>
                    <a:pt x="9" y="49"/>
                  </a:lnTo>
                  <a:lnTo>
                    <a:pt x="0" y="68"/>
                  </a:lnTo>
                  <a:lnTo>
                    <a:pt x="0" y="68"/>
                  </a:lnTo>
                  <a:lnTo>
                    <a:pt x="15" y="65"/>
                  </a:lnTo>
                  <a:lnTo>
                    <a:pt x="31" y="64"/>
                  </a:lnTo>
                  <a:lnTo>
                    <a:pt x="47" y="64"/>
                  </a:lnTo>
                  <a:lnTo>
                    <a:pt x="64" y="66"/>
                  </a:lnTo>
                  <a:lnTo>
                    <a:pt x="79" y="71"/>
                  </a:lnTo>
                  <a:lnTo>
                    <a:pt x="96" y="76"/>
                  </a:lnTo>
                  <a:lnTo>
                    <a:pt x="113" y="83"/>
                  </a:lnTo>
                  <a:lnTo>
                    <a:pt x="129" y="91"/>
                  </a:lnTo>
                  <a:lnTo>
                    <a:pt x="144" y="101"/>
                  </a:lnTo>
                  <a:lnTo>
                    <a:pt x="159" y="111"/>
                  </a:lnTo>
                  <a:lnTo>
                    <a:pt x="172" y="121"/>
                  </a:lnTo>
                  <a:lnTo>
                    <a:pt x="185" y="133"/>
                  </a:lnTo>
                  <a:lnTo>
                    <a:pt x="197" y="144"/>
                  </a:lnTo>
                  <a:lnTo>
                    <a:pt x="208" y="156"/>
                  </a:lnTo>
                  <a:lnTo>
                    <a:pt x="218" y="168"/>
                  </a:lnTo>
                  <a:lnTo>
                    <a:pt x="225" y="179"/>
                  </a:lnTo>
                  <a:lnTo>
                    <a:pt x="225" y="179"/>
                  </a:lnTo>
                  <a:close/>
                </a:path>
              </a:pathLst>
            </a:custGeom>
            <a:solidFill>
              <a:srgbClr val="E19469"/>
            </a:solidFill>
            <a:ln>
              <a:noFill/>
            </a:ln>
          </p:spPr>
          <p:txBody>
            <a:bodyPr vert="horz" wrap="square" lIns="91440" tIns="45720" rIns="91440" bIns="45720" numCol="1" anchor="t" anchorCtr="0" compatLnSpc="1">
              <a:prstTxWarp prst="textNoShape">
                <a:avLst/>
              </a:prstTxWarp>
              <a:normAutofit fontScale="92500" lnSpcReduction="10000"/>
            </a:bodyPr>
            <a:lstStyle/>
            <a:p>
              <a:endParaRPr lang="en-US" dirty="0">
                <a:latin typeface="Arial" panose="020B0604020202020204" pitchFamily="34" charset="0"/>
                <a:ea typeface="+mn-ea"/>
              </a:endParaRPr>
            </a:p>
          </p:txBody>
        </p:sp>
        <p:sp>
          <p:nvSpPr>
            <p:cNvPr id="56" name="iṥḷiḍ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20D29729-8E07-47D4-896B-5D229F439706}"/>
                </a:ext>
              </a:extLst>
            </p:cNvPr>
            <p:cNvSpPr/>
            <p:nvPr/>
          </p:nvSpPr>
          <p:spPr bwMode="auto">
            <a:xfrm>
              <a:off x="3982042" y="2869716"/>
              <a:ext cx="1148185" cy="430569"/>
            </a:xfrm>
            <a:custGeom>
              <a:avLst/>
              <a:gdLst>
                <a:gd name="T0" fmla="*/ 0 w 639"/>
                <a:gd name="T1" fmla="*/ 18 h 240"/>
                <a:gd name="T2" fmla="*/ 28 w 639"/>
                <a:gd name="T3" fmla="*/ 62 h 240"/>
                <a:gd name="T4" fmla="*/ 607 w 639"/>
                <a:gd name="T5" fmla="*/ 240 h 240"/>
                <a:gd name="T6" fmla="*/ 639 w 639"/>
                <a:gd name="T7" fmla="*/ 147 h 240"/>
                <a:gd name="T8" fmla="*/ 49 w 639"/>
                <a:gd name="T9" fmla="*/ 0 h 240"/>
                <a:gd name="T10" fmla="*/ 0 w 639"/>
                <a:gd name="T11" fmla="*/ 18 h 240"/>
              </a:gdLst>
              <a:ahLst/>
              <a:cxnLst>
                <a:cxn ang="0">
                  <a:pos x="T0" y="T1"/>
                </a:cxn>
                <a:cxn ang="0">
                  <a:pos x="T2" y="T3"/>
                </a:cxn>
                <a:cxn ang="0">
                  <a:pos x="T4" y="T5"/>
                </a:cxn>
                <a:cxn ang="0">
                  <a:pos x="T6" y="T7"/>
                </a:cxn>
                <a:cxn ang="0">
                  <a:pos x="T8" y="T9"/>
                </a:cxn>
                <a:cxn ang="0">
                  <a:pos x="T10" y="T11"/>
                </a:cxn>
              </a:cxnLst>
              <a:rect l="0" t="0" r="r" b="b"/>
              <a:pathLst>
                <a:path w="639" h="240">
                  <a:moveTo>
                    <a:pt x="0" y="18"/>
                  </a:moveTo>
                  <a:lnTo>
                    <a:pt x="28" y="62"/>
                  </a:lnTo>
                  <a:lnTo>
                    <a:pt x="607" y="240"/>
                  </a:lnTo>
                  <a:lnTo>
                    <a:pt x="639" y="147"/>
                  </a:lnTo>
                  <a:lnTo>
                    <a:pt x="49" y="0"/>
                  </a:lnTo>
                  <a:lnTo>
                    <a:pt x="0" y="18"/>
                  </a:lnTo>
                  <a:close/>
                </a:path>
              </a:pathLst>
            </a:custGeom>
            <a:solidFill>
              <a:schemeClr val="tx2"/>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57" name="ïṥḷïď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12AED985-6FEC-4471-9206-686DF1B10C33}"/>
                </a:ext>
              </a:extLst>
            </p:cNvPr>
            <p:cNvSpPr/>
            <p:nvPr/>
          </p:nvSpPr>
          <p:spPr bwMode="auto">
            <a:xfrm>
              <a:off x="3992806" y="2912773"/>
              <a:ext cx="1094365" cy="387512"/>
            </a:xfrm>
            <a:custGeom>
              <a:avLst/>
              <a:gdLst>
                <a:gd name="T0" fmla="*/ 579 w 612"/>
                <a:gd name="T1" fmla="*/ 169 h 216"/>
                <a:gd name="T2" fmla="*/ 23 w 612"/>
                <a:gd name="T3" fmla="*/ 12 h 216"/>
                <a:gd name="T4" fmla="*/ 0 w 612"/>
                <a:gd name="T5" fmla="*/ 0 h 216"/>
                <a:gd name="T6" fmla="*/ 24 w 612"/>
                <a:gd name="T7" fmla="*/ 38 h 216"/>
                <a:gd name="T8" fmla="*/ 603 w 612"/>
                <a:gd name="T9" fmla="*/ 216 h 216"/>
                <a:gd name="T10" fmla="*/ 612 w 612"/>
                <a:gd name="T11" fmla="*/ 189 h 216"/>
                <a:gd name="T12" fmla="*/ 612 w 612"/>
                <a:gd name="T13" fmla="*/ 189 h 216"/>
                <a:gd name="T14" fmla="*/ 605 w 612"/>
                <a:gd name="T15" fmla="*/ 188 h 216"/>
                <a:gd name="T16" fmla="*/ 599 w 612"/>
                <a:gd name="T17" fmla="*/ 186 h 216"/>
                <a:gd name="T18" fmla="*/ 593 w 612"/>
                <a:gd name="T19" fmla="*/ 182 h 216"/>
                <a:gd name="T20" fmla="*/ 588 w 612"/>
                <a:gd name="T21" fmla="*/ 180 h 216"/>
                <a:gd name="T22" fmla="*/ 582 w 612"/>
                <a:gd name="T23" fmla="*/ 172 h 216"/>
                <a:gd name="T24" fmla="*/ 579 w 612"/>
                <a:gd name="T25" fmla="*/ 169 h 216"/>
                <a:gd name="T26" fmla="*/ 579 w 612"/>
                <a:gd name="T27" fmla="*/ 16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2" h="216">
                  <a:moveTo>
                    <a:pt x="579" y="169"/>
                  </a:moveTo>
                  <a:lnTo>
                    <a:pt x="23" y="12"/>
                  </a:lnTo>
                  <a:lnTo>
                    <a:pt x="0" y="0"/>
                  </a:lnTo>
                  <a:lnTo>
                    <a:pt x="24" y="38"/>
                  </a:lnTo>
                  <a:lnTo>
                    <a:pt x="603" y="216"/>
                  </a:lnTo>
                  <a:lnTo>
                    <a:pt x="612" y="189"/>
                  </a:lnTo>
                  <a:lnTo>
                    <a:pt x="612" y="189"/>
                  </a:lnTo>
                  <a:lnTo>
                    <a:pt x="605" y="188"/>
                  </a:lnTo>
                  <a:lnTo>
                    <a:pt x="599" y="186"/>
                  </a:lnTo>
                  <a:lnTo>
                    <a:pt x="593" y="182"/>
                  </a:lnTo>
                  <a:lnTo>
                    <a:pt x="588" y="180"/>
                  </a:lnTo>
                  <a:lnTo>
                    <a:pt x="582" y="172"/>
                  </a:lnTo>
                  <a:lnTo>
                    <a:pt x="579" y="169"/>
                  </a:lnTo>
                  <a:lnTo>
                    <a:pt x="579" y="169"/>
                  </a:ln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58" name="íśļiḑ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4035EEA5-956B-451B-B85F-2586E7EF8F5F}"/>
                </a:ext>
              </a:extLst>
            </p:cNvPr>
            <p:cNvSpPr/>
            <p:nvPr/>
          </p:nvSpPr>
          <p:spPr bwMode="auto">
            <a:xfrm>
              <a:off x="3953338" y="2869716"/>
              <a:ext cx="118407" cy="111232"/>
            </a:xfrm>
            <a:custGeom>
              <a:avLst/>
              <a:gdLst>
                <a:gd name="connsiteX0" fmla="*/ 118407 w 118407"/>
                <a:gd name="connsiteY0" fmla="*/ 0 h 111232"/>
                <a:gd name="connsiteX1" fmla="*/ 104055 w 118407"/>
                <a:gd name="connsiteY1" fmla="*/ 12558 h 111232"/>
                <a:gd name="connsiteX2" fmla="*/ 91496 w 118407"/>
                <a:gd name="connsiteY2" fmla="*/ 26911 h 111232"/>
                <a:gd name="connsiteX3" fmla="*/ 86114 w 118407"/>
                <a:gd name="connsiteY3" fmla="*/ 41263 h 111232"/>
                <a:gd name="connsiteX4" fmla="*/ 80732 w 118407"/>
                <a:gd name="connsiteY4" fmla="*/ 57410 h 111232"/>
                <a:gd name="connsiteX5" fmla="*/ 79773 w 118407"/>
                <a:gd name="connsiteY5" fmla="*/ 65078 h 111232"/>
                <a:gd name="connsiteX6" fmla="*/ 80693 w 118407"/>
                <a:gd name="connsiteY6" fmla="*/ 65539 h 111232"/>
                <a:gd name="connsiteX7" fmla="*/ 80693 w 118407"/>
                <a:gd name="connsiteY7" fmla="*/ 79598 h 111232"/>
                <a:gd name="connsiteX8" fmla="*/ 80693 w 118407"/>
                <a:gd name="connsiteY8" fmla="*/ 91900 h 111232"/>
                <a:gd name="connsiteX9" fmla="*/ 82527 w 118407"/>
                <a:gd name="connsiteY9" fmla="*/ 111232 h 111232"/>
                <a:gd name="connsiteX10" fmla="*/ 80587 w 118407"/>
                <a:gd name="connsiteY10" fmla="*/ 109208 h 111232"/>
                <a:gd name="connsiteX11" fmla="*/ 80732 w 118407"/>
                <a:gd name="connsiteY11" fmla="*/ 111231 h 111232"/>
                <a:gd name="connsiteX12" fmla="*/ 56649 w 118407"/>
                <a:gd name="connsiteY12" fmla="*/ 84229 h 111232"/>
                <a:gd name="connsiteX13" fmla="*/ 0 w 118407"/>
                <a:gd name="connsiteY13" fmla="*/ 25118 h 111232"/>
                <a:gd name="connsiteX14" fmla="*/ 21528 w 118407"/>
                <a:gd name="connsiteY14" fmla="*/ 35902 h 111232"/>
                <a:gd name="connsiteX15" fmla="*/ 21528 w 118407"/>
                <a:gd name="connsiteY15" fmla="*/ 32293 h 111232"/>
                <a:gd name="connsiteX16" fmla="*/ 23322 w 118407"/>
                <a:gd name="connsiteY16" fmla="*/ 19734 h 11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407" h="111232">
                  <a:moveTo>
                    <a:pt x="118407" y="0"/>
                  </a:moveTo>
                  <a:lnTo>
                    <a:pt x="104055" y="12558"/>
                  </a:lnTo>
                  <a:lnTo>
                    <a:pt x="91496" y="26911"/>
                  </a:lnTo>
                  <a:lnTo>
                    <a:pt x="86114" y="41263"/>
                  </a:lnTo>
                  <a:lnTo>
                    <a:pt x="80732" y="57410"/>
                  </a:lnTo>
                  <a:lnTo>
                    <a:pt x="79773" y="65078"/>
                  </a:lnTo>
                  <a:lnTo>
                    <a:pt x="80693" y="65539"/>
                  </a:lnTo>
                  <a:lnTo>
                    <a:pt x="80693" y="79598"/>
                  </a:lnTo>
                  <a:lnTo>
                    <a:pt x="80693" y="91900"/>
                  </a:lnTo>
                  <a:lnTo>
                    <a:pt x="82527" y="111232"/>
                  </a:lnTo>
                  <a:lnTo>
                    <a:pt x="80587" y="109208"/>
                  </a:lnTo>
                  <a:lnTo>
                    <a:pt x="80732" y="111231"/>
                  </a:lnTo>
                  <a:lnTo>
                    <a:pt x="56649" y="84229"/>
                  </a:lnTo>
                  <a:lnTo>
                    <a:pt x="0" y="25118"/>
                  </a:lnTo>
                  <a:lnTo>
                    <a:pt x="21528" y="35902"/>
                  </a:lnTo>
                  <a:lnTo>
                    <a:pt x="21528" y="32293"/>
                  </a:lnTo>
                  <a:lnTo>
                    <a:pt x="23322" y="19734"/>
                  </a:lnTo>
                  <a:close/>
                </a:path>
              </a:pathLst>
            </a:custGeom>
            <a:solidFill>
              <a:schemeClr val="bg1"/>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59" name="isḻíď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85C1A05B-C31D-472C-98AA-E74D8B2C8698}"/>
                </a:ext>
              </a:extLst>
            </p:cNvPr>
            <p:cNvSpPr/>
            <p:nvPr/>
          </p:nvSpPr>
          <p:spPr bwMode="auto">
            <a:xfrm>
              <a:off x="5033348" y="3128057"/>
              <a:ext cx="125584" cy="172228"/>
            </a:xfrm>
            <a:custGeom>
              <a:avLst/>
              <a:gdLst>
                <a:gd name="T0" fmla="*/ 66 w 71"/>
                <a:gd name="T1" fmla="*/ 60 h 95"/>
                <a:gd name="T2" fmla="*/ 66 w 71"/>
                <a:gd name="T3" fmla="*/ 60 h 95"/>
                <a:gd name="T4" fmla="*/ 62 w 71"/>
                <a:gd name="T5" fmla="*/ 68 h 95"/>
                <a:gd name="T6" fmla="*/ 56 w 71"/>
                <a:gd name="T7" fmla="*/ 77 h 95"/>
                <a:gd name="T8" fmla="*/ 51 w 71"/>
                <a:gd name="T9" fmla="*/ 83 h 95"/>
                <a:gd name="T10" fmla="*/ 44 w 71"/>
                <a:gd name="T11" fmla="*/ 89 h 95"/>
                <a:gd name="T12" fmla="*/ 38 w 71"/>
                <a:gd name="T13" fmla="*/ 92 h 95"/>
                <a:gd name="T14" fmla="*/ 31 w 71"/>
                <a:gd name="T15" fmla="*/ 95 h 95"/>
                <a:gd name="T16" fmla="*/ 24 w 71"/>
                <a:gd name="T17" fmla="*/ 95 h 95"/>
                <a:gd name="T18" fmla="*/ 18 w 71"/>
                <a:gd name="T19" fmla="*/ 94 h 95"/>
                <a:gd name="T20" fmla="*/ 18 w 71"/>
                <a:gd name="T21" fmla="*/ 94 h 95"/>
                <a:gd name="T22" fmla="*/ 12 w 71"/>
                <a:gd name="T23" fmla="*/ 90 h 95"/>
                <a:gd name="T24" fmla="*/ 7 w 71"/>
                <a:gd name="T25" fmla="*/ 85 h 95"/>
                <a:gd name="T26" fmla="*/ 3 w 71"/>
                <a:gd name="T27" fmla="*/ 79 h 95"/>
                <a:gd name="T28" fmla="*/ 1 w 71"/>
                <a:gd name="T29" fmla="*/ 71 h 95"/>
                <a:gd name="T30" fmla="*/ 0 w 71"/>
                <a:gd name="T31" fmla="*/ 63 h 95"/>
                <a:gd name="T32" fmla="*/ 0 w 71"/>
                <a:gd name="T33" fmla="*/ 54 h 95"/>
                <a:gd name="T34" fmla="*/ 1 w 71"/>
                <a:gd name="T35" fmla="*/ 44 h 95"/>
                <a:gd name="T36" fmla="*/ 4 w 71"/>
                <a:gd name="T37" fmla="*/ 36 h 95"/>
                <a:gd name="T38" fmla="*/ 4 w 71"/>
                <a:gd name="T39" fmla="*/ 36 h 95"/>
                <a:gd name="T40" fmla="*/ 8 w 71"/>
                <a:gd name="T41" fmla="*/ 26 h 95"/>
                <a:gd name="T42" fmla="*/ 13 w 71"/>
                <a:gd name="T43" fmla="*/ 19 h 95"/>
                <a:gd name="T44" fmla="*/ 19 w 71"/>
                <a:gd name="T45" fmla="*/ 12 h 95"/>
                <a:gd name="T46" fmla="*/ 26 w 71"/>
                <a:gd name="T47" fmla="*/ 7 h 95"/>
                <a:gd name="T48" fmla="*/ 32 w 71"/>
                <a:gd name="T49" fmla="*/ 2 h 95"/>
                <a:gd name="T50" fmla="*/ 39 w 71"/>
                <a:gd name="T51" fmla="*/ 1 h 95"/>
                <a:gd name="T52" fmla="*/ 46 w 71"/>
                <a:gd name="T53" fmla="*/ 0 h 95"/>
                <a:gd name="T54" fmla="*/ 52 w 71"/>
                <a:gd name="T55" fmla="*/ 2 h 95"/>
                <a:gd name="T56" fmla="*/ 52 w 71"/>
                <a:gd name="T57" fmla="*/ 2 h 95"/>
                <a:gd name="T58" fmla="*/ 58 w 71"/>
                <a:gd name="T59" fmla="*/ 4 h 95"/>
                <a:gd name="T60" fmla="*/ 63 w 71"/>
                <a:gd name="T61" fmla="*/ 10 h 95"/>
                <a:gd name="T62" fmla="*/ 67 w 71"/>
                <a:gd name="T63" fmla="*/ 16 h 95"/>
                <a:gd name="T64" fmla="*/ 69 w 71"/>
                <a:gd name="T65" fmla="*/ 24 h 95"/>
                <a:gd name="T66" fmla="*/ 71 w 71"/>
                <a:gd name="T67" fmla="*/ 32 h 95"/>
                <a:gd name="T68" fmla="*/ 71 w 71"/>
                <a:gd name="T69" fmla="*/ 41 h 95"/>
                <a:gd name="T70" fmla="*/ 69 w 71"/>
                <a:gd name="T71" fmla="*/ 50 h 95"/>
                <a:gd name="T72" fmla="*/ 66 w 71"/>
                <a:gd name="T73" fmla="*/ 60 h 95"/>
                <a:gd name="T74" fmla="*/ 66 w 71"/>
                <a:gd name="T75" fmla="*/ 6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1" h="95">
                  <a:moveTo>
                    <a:pt x="66" y="60"/>
                  </a:moveTo>
                  <a:lnTo>
                    <a:pt x="66" y="60"/>
                  </a:lnTo>
                  <a:lnTo>
                    <a:pt x="62" y="68"/>
                  </a:lnTo>
                  <a:lnTo>
                    <a:pt x="56" y="77"/>
                  </a:lnTo>
                  <a:lnTo>
                    <a:pt x="51" y="83"/>
                  </a:lnTo>
                  <a:lnTo>
                    <a:pt x="44" y="89"/>
                  </a:lnTo>
                  <a:lnTo>
                    <a:pt x="38" y="92"/>
                  </a:lnTo>
                  <a:lnTo>
                    <a:pt x="31" y="95"/>
                  </a:lnTo>
                  <a:lnTo>
                    <a:pt x="24" y="95"/>
                  </a:lnTo>
                  <a:lnTo>
                    <a:pt x="18" y="94"/>
                  </a:lnTo>
                  <a:lnTo>
                    <a:pt x="18" y="94"/>
                  </a:lnTo>
                  <a:lnTo>
                    <a:pt x="12" y="90"/>
                  </a:lnTo>
                  <a:lnTo>
                    <a:pt x="7" y="85"/>
                  </a:lnTo>
                  <a:lnTo>
                    <a:pt x="3" y="79"/>
                  </a:lnTo>
                  <a:lnTo>
                    <a:pt x="1" y="71"/>
                  </a:lnTo>
                  <a:lnTo>
                    <a:pt x="0" y="63"/>
                  </a:lnTo>
                  <a:lnTo>
                    <a:pt x="0" y="54"/>
                  </a:lnTo>
                  <a:lnTo>
                    <a:pt x="1" y="44"/>
                  </a:lnTo>
                  <a:lnTo>
                    <a:pt x="4" y="36"/>
                  </a:lnTo>
                  <a:lnTo>
                    <a:pt x="4" y="36"/>
                  </a:lnTo>
                  <a:lnTo>
                    <a:pt x="8" y="26"/>
                  </a:lnTo>
                  <a:lnTo>
                    <a:pt x="13" y="19"/>
                  </a:lnTo>
                  <a:lnTo>
                    <a:pt x="19" y="12"/>
                  </a:lnTo>
                  <a:lnTo>
                    <a:pt x="26" y="7"/>
                  </a:lnTo>
                  <a:lnTo>
                    <a:pt x="32" y="2"/>
                  </a:lnTo>
                  <a:lnTo>
                    <a:pt x="39" y="1"/>
                  </a:lnTo>
                  <a:lnTo>
                    <a:pt x="46" y="0"/>
                  </a:lnTo>
                  <a:lnTo>
                    <a:pt x="52" y="2"/>
                  </a:lnTo>
                  <a:lnTo>
                    <a:pt x="52" y="2"/>
                  </a:lnTo>
                  <a:lnTo>
                    <a:pt x="58" y="4"/>
                  </a:lnTo>
                  <a:lnTo>
                    <a:pt x="63" y="10"/>
                  </a:lnTo>
                  <a:lnTo>
                    <a:pt x="67" y="16"/>
                  </a:lnTo>
                  <a:lnTo>
                    <a:pt x="69" y="24"/>
                  </a:lnTo>
                  <a:lnTo>
                    <a:pt x="71" y="32"/>
                  </a:lnTo>
                  <a:lnTo>
                    <a:pt x="71" y="41"/>
                  </a:lnTo>
                  <a:lnTo>
                    <a:pt x="69" y="50"/>
                  </a:lnTo>
                  <a:lnTo>
                    <a:pt x="66" y="60"/>
                  </a:lnTo>
                  <a:lnTo>
                    <a:pt x="66" y="60"/>
                  </a:ln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0" name="íšľíḓ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A704581B-6481-4CEE-BF8F-7B14CA0DCBD6}"/>
                </a:ext>
              </a:extLst>
            </p:cNvPr>
            <p:cNvSpPr/>
            <p:nvPr/>
          </p:nvSpPr>
          <p:spPr bwMode="auto">
            <a:xfrm>
              <a:off x="5033348" y="3181880"/>
              <a:ext cx="125584" cy="118408"/>
            </a:xfrm>
            <a:custGeom>
              <a:avLst/>
              <a:gdLst>
                <a:gd name="T0" fmla="*/ 71 w 71"/>
                <a:gd name="T1" fmla="*/ 0 h 66"/>
                <a:gd name="T2" fmla="*/ 71 w 71"/>
                <a:gd name="T3" fmla="*/ 0 h 66"/>
                <a:gd name="T4" fmla="*/ 67 w 71"/>
                <a:gd name="T5" fmla="*/ 10 h 66"/>
                <a:gd name="T6" fmla="*/ 61 w 71"/>
                <a:gd name="T7" fmla="*/ 21 h 66"/>
                <a:gd name="T8" fmla="*/ 57 w 71"/>
                <a:gd name="T9" fmla="*/ 26 h 66"/>
                <a:gd name="T10" fmla="*/ 54 w 71"/>
                <a:gd name="T11" fmla="*/ 31 h 66"/>
                <a:gd name="T12" fmla="*/ 49 w 71"/>
                <a:gd name="T13" fmla="*/ 34 h 66"/>
                <a:gd name="T14" fmla="*/ 43 w 71"/>
                <a:gd name="T15" fmla="*/ 37 h 66"/>
                <a:gd name="T16" fmla="*/ 43 w 71"/>
                <a:gd name="T17" fmla="*/ 37 h 66"/>
                <a:gd name="T18" fmla="*/ 34 w 71"/>
                <a:gd name="T19" fmla="*/ 39 h 66"/>
                <a:gd name="T20" fmla="*/ 27 w 71"/>
                <a:gd name="T21" fmla="*/ 38 h 66"/>
                <a:gd name="T22" fmla="*/ 20 w 71"/>
                <a:gd name="T23" fmla="*/ 37 h 66"/>
                <a:gd name="T24" fmla="*/ 14 w 71"/>
                <a:gd name="T25" fmla="*/ 34 h 66"/>
                <a:gd name="T26" fmla="*/ 9 w 71"/>
                <a:gd name="T27" fmla="*/ 31 h 66"/>
                <a:gd name="T28" fmla="*/ 4 w 71"/>
                <a:gd name="T29" fmla="*/ 27 h 66"/>
                <a:gd name="T30" fmla="*/ 0 w 71"/>
                <a:gd name="T31" fmla="*/ 21 h 66"/>
                <a:gd name="T32" fmla="*/ 0 w 71"/>
                <a:gd name="T33" fmla="*/ 21 h 66"/>
                <a:gd name="T34" fmla="*/ 0 w 71"/>
                <a:gd name="T35" fmla="*/ 28 h 66"/>
                <a:gd name="T36" fmla="*/ 0 w 71"/>
                <a:gd name="T37" fmla="*/ 36 h 66"/>
                <a:gd name="T38" fmla="*/ 1 w 71"/>
                <a:gd name="T39" fmla="*/ 42 h 66"/>
                <a:gd name="T40" fmla="*/ 2 w 71"/>
                <a:gd name="T41" fmla="*/ 48 h 66"/>
                <a:gd name="T42" fmla="*/ 4 w 71"/>
                <a:gd name="T43" fmla="*/ 54 h 66"/>
                <a:gd name="T44" fmla="*/ 8 w 71"/>
                <a:gd name="T45" fmla="*/ 59 h 66"/>
                <a:gd name="T46" fmla="*/ 13 w 71"/>
                <a:gd name="T47" fmla="*/ 62 h 66"/>
                <a:gd name="T48" fmla="*/ 18 w 71"/>
                <a:gd name="T49" fmla="*/ 65 h 66"/>
                <a:gd name="T50" fmla="*/ 18 w 71"/>
                <a:gd name="T51" fmla="*/ 65 h 66"/>
                <a:gd name="T52" fmla="*/ 24 w 71"/>
                <a:gd name="T53" fmla="*/ 66 h 66"/>
                <a:gd name="T54" fmla="*/ 31 w 71"/>
                <a:gd name="T55" fmla="*/ 66 h 66"/>
                <a:gd name="T56" fmla="*/ 38 w 71"/>
                <a:gd name="T57" fmla="*/ 63 h 66"/>
                <a:gd name="T58" fmla="*/ 44 w 71"/>
                <a:gd name="T59" fmla="*/ 60 h 66"/>
                <a:gd name="T60" fmla="*/ 51 w 71"/>
                <a:gd name="T61" fmla="*/ 54 h 66"/>
                <a:gd name="T62" fmla="*/ 56 w 71"/>
                <a:gd name="T63" fmla="*/ 48 h 66"/>
                <a:gd name="T64" fmla="*/ 62 w 71"/>
                <a:gd name="T65" fmla="*/ 39 h 66"/>
                <a:gd name="T66" fmla="*/ 66 w 71"/>
                <a:gd name="T67" fmla="*/ 31 h 66"/>
                <a:gd name="T68" fmla="*/ 66 w 71"/>
                <a:gd name="T69" fmla="*/ 31 h 66"/>
                <a:gd name="T70" fmla="*/ 68 w 71"/>
                <a:gd name="T71" fmla="*/ 22 h 66"/>
                <a:gd name="T72" fmla="*/ 71 w 71"/>
                <a:gd name="T73" fmla="*/ 14 h 66"/>
                <a:gd name="T74" fmla="*/ 71 w 71"/>
                <a:gd name="T75" fmla="*/ 7 h 66"/>
                <a:gd name="T76" fmla="*/ 71 w 71"/>
                <a:gd name="T77" fmla="*/ 0 h 66"/>
                <a:gd name="T78" fmla="*/ 71 w 71"/>
                <a:gd name="T7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1" h="66">
                  <a:moveTo>
                    <a:pt x="71" y="0"/>
                  </a:moveTo>
                  <a:lnTo>
                    <a:pt x="71" y="0"/>
                  </a:lnTo>
                  <a:lnTo>
                    <a:pt x="67" y="10"/>
                  </a:lnTo>
                  <a:lnTo>
                    <a:pt x="61" y="21"/>
                  </a:lnTo>
                  <a:lnTo>
                    <a:pt x="57" y="26"/>
                  </a:lnTo>
                  <a:lnTo>
                    <a:pt x="54" y="31"/>
                  </a:lnTo>
                  <a:lnTo>
                    <a:pt x="49" y="34"/>
                  </a:lnTo>
                  <a:lnTo>
                    <a:pt x="43" y="37"/>
                  </a:lnTo>
                  <a:lnTo>
                    <a:pt x="43" y="37"/>
                  </a:lnTo>
                  <a:lnTo>
                    <a:pt x="34" y="39"/>
                  </a:lnTo>
                  <a:lnTo>
                    <a:pt x="27" y="38"/>
                  </a:lnTo>
                  <a:lnTo>
                    <a:pt x="20" y="37"/>
                  </a:lnTo>
                  <a:lnTo>
                    <a:pt x="14" y="34"/>
                  </a:lnTo>
                  <a:lnTo>
                    <a:pt x="9" y="31"/>
                  </a:lnTo>
                  <a:lnTo>
                    <a:pt x="4" y="27"/>
                  </a:lnTo>
                  <a:lnTo>
                    <a:pt x="0" y="21"/>
                  </a:lnTo>
                  <a:lnTo>
                    <a:pt x="0" y="21"/>
                  </a:lnTo>
                  <a:lnTo>
                    <a:pt x="0" y="28"/>
                  </a:lnTo>
                  <a:lnTo>
                    <a:pt x="0" y="36"/>
                  </a:lnTo>
                  <a:lnTo>
                    <a:pt x="1" y="42"/>
                  </a:lnTo>
                  <a:lnTo>
                    <a:pt x="2" y="48"/>
                  </a:lnTo>
                  <a:lnTo>
                    <a:pt x="4" y="54"/>
                  </a:lnTo>
                  <a:lnTo>
                    <a:pt x="8" y="59"/>
                  </a:lnTo>
                  <a:lnTo>
                    <a:pt x="13" y="62"/>
                  </a:lnTo>
                  <a:lnTo>
                    <a:pt x="18" y="65"/>
                  </a:lnTo>
                  <a:lnTo>
                    <a:pt x="18" y="65"/>
                  </a:lnTo>
                  <a:lnTo>
                    <a:pt x="24" y="66"/>
                  </a:lnTo>
                  <a:lnTo>
                    <a:pt x="31" y="66"/>
                  </a:lnTo>
                  <a:lnTo>
                    <a:pt x="38" y="63"/>
                  </a:lnTo>
                  <a:lnTo>
                    <a:pt x="44" y="60"/>
                  </a:lnTo>
                  <a:lnTo>
                    <a:pt x="51" y="54"/>
                  </a:lnTo>
                  <a:lnTo>
                    <a:pt x="56" y="48"/>
                  </a:lnTo>
                  <a:lnTo>
                    <a:pt x="62" y="39"/>
                  </a:lnTo>
                  <a:lnTo>
                    <a:pt x="66" y="31"/>
                  </a:lnTo>
                  <a:lnTo>
                    <a:pt x="66" y="31"/>
                  </a:lnTo>
                  <a:lnTo>
                    <a:pt x="68" y="22"/>
                  </a:lnTo>
                  <a:lnTo>
                    <a:pt x="71" y="14"/>
                  </a:lnTo>
                  <a:lnTo>
                    <a:pt x="71" y="7"/>
                  </a:lnTo>
                  <a:lnTo>
                    <a:pt x="71" y="0"/>
                  </a:lnTo>
                  <a:lnTo>
                    <a:pt x="71" y="0"/>
                  </a:ln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1" name="ïšľïḑ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46D2E63C-2915-4EA0-80C4-6BCD9E09E177}"/>
                </a:ext>
              </a:extLst>
            </p:cNvPr>
            <p:cNvSpPr/>
            <p:nvPr/>
          </p:nvSpPr>
          <p:spPr bwMode="auto">
            <a:xfrm>
              <a:off x="5083581" y="3189056"/>
              <a:ext cx="46646" cy="64585"/>
            </a:xfrm>
            <a:custGeom>
              <a:avLst/>
              <a:gdLst>
                <a:gd name="T0" fmla="*/ 24 w 27"/>
                <a:gd name="T1" fmla="*/ 23 h 35"/>
                <a:gd name="T2" fmla="*/ 24 w 27"/>
                <a:gd name="T3" fmla="*/ 23 h 35"/>
                <a:gd name="T4" fmla="*/ 21 w 27"/>
                <a:gd name="T5" fmla="*/ 29 h 35"/>
                <a:gd name="T6" fmla="*/ 16 w 27"/>
                <a:gd name="T7" fmla="*/ 34 h 35"/>
                <a:gd name="T8" fmla="*/ 10 w 27"/>
                <a:gd name="T9" fmla="*/ 35 h 35"/>
                <a:gd name="T10" fmla="*/ 7 w 27"/>
                <a:gd name="T11" fmla="*/ 35 h 35"/>
                <a:gd name="T12" fmla="*/ 5 w 27"/>
                <a:gd name="T13" fmla="*/ 35 h 35"/>
                <a:gd name="T14" fmla="*/ 5 w 27"/>
                <a:gd name="T15" fmla="*/ 35 h 35"/>
                <a:gd name="T16" fmla="*/ 4 w 27"/>
                <a:gd name="T17" fmla="*/ 34 h 35"/>
                <a:gd name="T18" fmla="*/ 1 w 27"/>
                <a:gd name="T19" fmla="*/ 32 h 35"/>
                <a:gd name="T20" fmla="*/ 0 w 27"/>
                <a:gd name="T21" fmla="*/ 27 h 35"/>
                <a:gd name="T22" fmla="*/ 0 w 27"/>
                <a:gd name="T23" fmla="*/ 20 h 35"/>
                <a:gd name="T24" fmla="*/ 3 w 27"/>
                <a:gd name="T25" fmla="*/ 12 h 35"/>
                <a:gd name="T26" fmla="*/ 3 w 27"/>
                <a:gd name="T27" fmla="*/ 12 h 35"/>
                <a:gd name="T28" fmla="*/ 6 w 27"/>
                <a:gd name="T29" fmla="*/ 6 h 35"/>
                <a:gd name="T30" fmla="*/ 11 w 27"/>
                <a:gd name="T31" fmla="*/ 3 h 35"/>
                <a:gd name="T32" fmla="*/ 16 w 27"/>
                <a:gd name="T33" fmla="*/ 0 h 35"/>
                <a:gd name="T34" fmla="*/ 18 w 27"/>
                <a:gd name="T35" fmla="*/ 0 h 35"/>
                <a:gd name="T36" fmla="*/ 21 w 27"/>
                <a:gd name="T37" fmla="*/ 2 h 35"/>
                <a:gd name="T38" fmla="*/ 21 w 27"/>
                <a:gd name="T39" fmla="*/ 2 h 35"/>
                <a:gd name="T40" fmla="*/ 23 w 27"/>
                <a:gd name="T41" fmla="*/ 3 h 35"/>
                <a:gd name="T42" fmla="*/ 24 w 27"/>
                <a:gd name="T43" fmla="*/ 4 h 35"/>
                <a:gd name="T44" fmla="*/ 27 w 27"/>
                <a:gd name="T45" fmla="*/ 10 h 35"/>
                <a:gd name="T46" fmla="*/ 27 w 27"/>
                <a:gd name="T47" fmla="*/ 16 h 35"/>
                <a:gd name="T48" fmla="*/ 24 w 27"/>
                <a:gd name="T49" fmla="*/ 23 h 35"/>
                <a:gd name="T50" fmla="*/ 24 w 27"/>
                <a:gd name="T51"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 h="35">
                  <a:moveTo>
                    <a:pt x="24" y="23"/>
                  </a:moveTo>
                  <a:lnTo>
                    <a:pt x="24" y="23"/>
                  </a:lnTo>
                  <a:lnTo>
                    <a:pt x="21" y="29"/>
                  </a:lnTo>
                  <a:lnTo>
                    <a:pt x="16" y="34"/>
                  </a:lnTo>
                  <a:lnTo>
                    <a:pt x="10" y="35"/>
                  </a:lnTo>
                  <a:lnTo>
                    <a:pt x="7" y="35"/>
                  </a:lnTo>
                  <a:lnTo>
                    <a:pt x="5" y="35"/>
                  </a:lnTo>
                  <a:lnTo>
                    <a:pt x="5" y="35"/>
                  </a:lnTo>
                  <a:lnTo>
                    <a:pt x="4" y="34"/>
                  </a:lnTo>
                  <a:lnTo>
                    <a:pt x="1" y="32"/>
                  </a:lnTo>
                  <a:lnTo>
                    <a:pt x="0" y="27"/>
                  </a:lnTo>
                  <a:lnTo>
                    <a:pt x="0" y="20"/>
                  </a:lnTo>
                  <a:lnTo>
                    <a:pt x="3" y="12"/>
                  </a:lnTo>
                  <a:lnTo>
                    <a:pt x="3" y="12"/>
                  </a:lnTo>
                  <a:lnTo>
                    <a:pt x="6" y="6"/>
                  </a:lnTo>
                  <a:lnTo>
                    <a:pt x="11" y="3"/>
                  </a:lnTo>
                  <a:lnTo>
                    <a:pt x="16" y="0"/>
                  </a:lnTo>
                  <a:lnTo>
                    <a:pt x="18" y="0"/>
                  </a:lnTo>
                  <a:lnTo>
                    <a:pt x="21" y="2"/>
                  </a:lnTo>
                  <a:lnTo>
                    <a:pt x="21" y="2"/>
                  </a:lnTo>
                  <a:lnTo>
                    <a:pt x="23" y="3"/>
                  </a:lnTo>
                  <a:lnTo>
                    <a:pt x="24" y="4"/>
                  </a:lnTo>
                  <a:lnTo>
                    <a:pt x="27" y="10"/>
                  </a:lnTo>
                  <a:lnTo>
                    <a:pt x="27" y="16"/>
                  </a:lnTo>
                  <a:lnTo>
                    <a:pt x="24" y="23"/>
                  </a:lnTo>
                  <a:lnTo>
                    <a:pt x="24" y="23"/>
                  </a:lnTo>
                  <a:close/>
                </a:path>
              </a:pathLst>
            </a:custGeom>
            <a:solidFill>
              <a:schemeClr val="bg1"/>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2" name="íşḷiď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C5DDB47A-7B88-4C9C-B449-9FC67CB68110}"/>
                </a:ext>
              </a:extLst>
            </p:cNvPr>
            <p:cNvSpPr/>
            <p:nvPr/>
          </p:nvSpPr>
          <p:spPr bwMode="auto">
            <a:xfrm>
              <a:off x="3953338" y="2887657"/>
              <a:ext cx="28705" cy="32294"/>
            </a:xfrm>
            <a:custGeom>
              <a:avLst/>
              <a:gdLst>
                <a:gd name="T0" fmla="*/ 0 w 17"/>
                <a:gd name="T1" fmla="*/ 3 h 18"/>
                <a:gd name="T2" fmla="*/ 13 w 17"/>
                <a:gd name="T3" fmla="*/ 18 h 18"/>
                <a:gd name="T4" fmla="*/ 13 w 17"/>
                <a:gd name="T5" fmla="*/ 18 h 18"/>
                <a:gd name="T6" fmla="*/ 14 w 17"/>
                <a:gd name="T7" fmla="*/ 11 h 18"/>
                <a:gd name="T8" fmla="*/ 15 w 17"/>
                <a:gd name="T9" fmla="*/ 5 h 18"/>
                <a:gd name="T10" fmla="*/ 17 w 17"/>
                <a:gd name="T11" fmla="*/ 0 h 18"/>
                <a:gd name="T12" fmla="*/ 0 w 17"/>
                <a:gd name="T13" fmla="*/ 3 h 18"/>
              </a:gdLst>
              <a:ahLst/>
              <a:cxnLst>
                <a:cxn ang="0">
                  <a:pos x="T0" y="T1"/>
                </a:cxn>
                <a:cxn ang="0">
                  <a:pos x="T2" y="T3"/>
                </a:cxn>
                <a:cxn ang="0">
                  <a:pos x="T4" y="T5"/>
                </a:cxn>
                <a:cxn ang="0">
                  <a:pos x="T6" y="T7"/>
                </a:cxn>
                <a:cxn ang="0">
                  <a:pos x="T8" y="T9"/>
                </a:cxn>
                <a:cxn ang="0">
                  <a:pos x="T10" y="T11"/>
                </a:cxn>
                <a:cxn ang="0">
                  <a:pos x="T12" y="T13"/>
                </a:cxn>
              </a:cxnLst>
              <a:rect l="0" t="0" r="r" b="b"/>
              <a:pathLst>
                <a:path w="17" h="18">
                  <a:moveTo>
                    <a:pt x="0" y="3"/>
                  </a:moveTo>
                  <a:lnTo>
                    <a:pt x="13" y="18"/>
                  </a:lnTo>
                  <a:lnTo>
                    <a:pt x="13" y="18"/>
                  </a:lnTo>
                  <a:lnTo>
                    <a:pt x="14" y="11"/>
                  </a:lnTo>
                  <a:lnTo>
                    <a:pt x="15" y="5"/>
                  </a:lnTo>
                  <a:lnTo>
                    <a:pt x="17" y="0"/>
                  </a:lnTo>
                  <a:lnTo>
                    <a:pt x="0" y="3"/>
                  </a:lnTo>
                  <a:close/>
                </a:path>
              </a:pathLst>
            </a:custGeom>
            <a:solidFill>
              <a:srgbClr val="5859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3" name="ïṥḷïḍ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23B92C7-B4C0-44CD-B1EB-BBB0F2EDBECE}"/>
                </a:ext>
              </a:extLst>
            </p:cNvPr>
            <p:cNvSpPr/>
            <p:nvPr/>
          </p:nvSpPr>
          <p:spPr bwMode="auto">
            <a:xfrm>
              <a:off x="4165033" y="2747721"/>
              <a:ext cx="233226" cy="104055"/>
            </a:xfrm>
            <a:custGeom>
              <a:avLst/>
              <a:gdLst>
                <a:gd name="T0" fmla="*/ 40 w 129"/>
                <a:gd name="T1" fmla="*/ 50 h 57"/>
                <a:gd name="T2" fmla="*/ 40 w 129"/>
                <a:gd name="T3" fmla="*/ 50 h 57"/>
                <a:gd name="T4" fmla="*/ 53 w 129"/>
                <a:gd name="T5" fmla="*/ 54 h 57"/>
                <a:gd name="T6" fmla="*/ 66 w 129"/>
                <a:gd name="T7" fmla="*/ 56 h 57"/>
                <a:gd name="T8" fmla="*/ 81 w 129"/>
                <a:gd name="T9" fmla="*/ 57 h 57"/>
                <a:gd name="T10" fmla="*/ 94 w 129"/>
                <a:gd name="T11" fmla="*/ 56 h 57"/>
                <a:gd name="T12" fmla="*/ 106 w 129"/>
                <a:gd name="T13" fmla="*/ 55 h 57"/>
                <a:gd name="T14" fmla="*/ 115 w 129"/>
                <a:gd name="T15" fmla="*/ 51 h 57"/>
                <a:gd name="T16" fmla="*/ 120 w 129"/>
                <a:gd name="T17" fmla="*/ 50 h 57"/>
                <a:gd name="T18" fmla="*/ 124 w 129"/>
                <a:gd name="T19" fmla="*/ 47 h 57"/>
                <a:gd name="T20" fmla="*/ 126 w 129"/>
                <a:gd name="T21" fmla="*/ 44 h 57"/>
                <a:gd name="T22" fmla="*/ 127 w 129"/>
                <a:gd name="T23" fmla="*/ 41 h 57"/>
                <a:gd name="T24" fmla="*/ 127 w 129"/>
                <a:gd name="T25" fmla="*/ 41 h 57"/>
                <a:gd name="T26" fmla="*/ 129 w 129"/>
                <a:gd name="T27" fmla="*/ 33 h 57"/>
                <a:gd name="T28" fmla="*/ 127 w 129"/>
                <a:gd name="T29" fmla="*/ 26 h 57"/>
                <a:gd name="T30" fmla="*/ 126 w 129"/>
                <a:gd name="T31" fmla="*/ 19 h 57"/>
                <a:gd name="T32" fmla="*/ 124 w 129"/>
                <a:gd name="T33" fmla="*/ 13 h 57"/>
                <a:gd name="T34" fmla="*/ 124 w 129"/>
                <a:gd name="T35" fmla="*/ 13 h 57"/>
                <a:gd name="T36" fmla="*/ 108 w 129"/>
                <a:gd name="T37" fmla="*/ 14 h 57"/>
                <a:gd name="T38" fmla="*/ 93 w 129"/>
                <a:gd name="T39" fmla="*/ 15 h 57"/>
                <a:gd name="T40" fmla="*/ 78 w 129"/>
                <a:gd name="T41" fmla="*/ 15 h 57"/>
                <a:gd name="T42" fmla="*/ 62 w 129"/>
                <a:gd name="T43" fmla="*/ 14 h 57"/>
                <a:gd name="T44" fmla="*/ 47 w 129"/>
                <a:gd name="T45" fmla="*/ 13 h 57"/>
                <a:gd name="T46" fmla="*/ 31 w 129"/>
                <a:gd name="T47" fmla="*/ 9 h 57"/>
                <a:gd name="T48" fmla="*/ 16 w 129"/>
                <a:gd name="T49" fmla="*/ 4 h 57"/>
                <a:gd name="T50" fmla="*/ 0 w 129"/>
                <a:gd name="T51" fmla="*/ 0 h 57"/>
                <a:gd name="T52" fmla="*/ 0 w 129"/>
                <a:gd name="T53" fmla="*/ 0 h 57"/>
                <a:gd name="T54" fmla="*/ 0 w 129"/>
                <a:gd name="T55" fmla="*/ 6 h 57"/>
                <a:gd name="T56" fmla="*/ 1 w 129"/>
                <a:gd name="T57" fmla="*/ 13 h 57"/>
                <a:gd name="T58" fmla="*/ 2 w 129"/>
                <a:gd name="T59" fmla="*/ 20 h 57"/>
                <a:gd name="T60" fmla="*/ 6 w 129"/>
                <a:gd name="T61" fmla="*/ 27 h 57"/>
                <a:gd name="T62" fmla="*/ 11 w 129"/>
                <a:gd name="T63" fmla="*/ 33 h 57"/>
                <a:gd name="T64" fmla="*/ 18 w 129"/>
                <a:gd name="T65" fmla="*/ 39 h 57"/>
                <a:gd name="T66" fmla="*/ 28 w 129"/>
                <a:gd name="T67" fmla="*/ 45 h 57"/>
                <a:gd name="T68" fmla="*/ 40 w 129"/>
                <a:gd name="T69" fmla="*/ 50 h 57"/>
                <a:gd name="T70" fmla="*/ 40 w 129"/>
                <a:gd name="T71" fmla="*/ 5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9" h="57">
                  <a:moveTo>
                    <a:pt x="40" y="50"/>
                  </a:moveTo>
                  <a:lnTo>
                    <a:pt x="40" y="50"/>
                  </a:lnTo>
                  <a:lnTo>
                    <a:pt x="53" y="54"/>
                  </a:lnTo>
                  <a:lnTo>
                    <a:pt x="66" y="56"/>
                  </a:lnTo>
                  <a:lnTo>
                    <a:pt x="81" y="57"/>
                  </a:lnTo>
                  <a:lnTo>
                    <a:pt x="94" y="56"/>
                  </a:lnTo>
                  <a:lnTo>
                    <a:pt x="106" y="55"/>
                  </a:lnTo>
                  <a:lnTo>
                    <a:pt x="115" y="51"/>
                  </a:lnTo>
                  <a:lnTo>
                    <a:pt x="120" y="50"/>
                  </a:lnTo>
                  <a:lnTo>
                    <a:pt x="124" y="47"/>
                  </a:lnTo>
                  <a:lnTo>
                    <a:pt x="126" y="44"/>
                  </a:lnTo>
                  <a:lnTo>
                    <a:pt x="127" y="41"/>
                  </a:lnTo>
                  <a:lnTo>
                    <a:pt x="127" y="41"/>
                  </a:lnTo>
                  <a:lnTo>
                    <a:pt x="129" y="33"/>
                  </a:lnTo>
                  <a:lnTo>
                    <a:pt x="127" y="26"/>
                  </a:lnTo>
                  <a:lnTo>
                    <a:pt x="126" y="19"/>
                  </a:lnTo>
                  <a:lnTo>
                    <a:pt x="124" y="13"/>
                  </a:lnTo>
                  <a:lnTo>
                    <a:pt x="124" y="13"/>
                  </a:lnTo>
                  <a:lnTo>
                    <a:pt x="108" y="14"/>
                  </a:lnTo>
                  <a:lnTo>
                    <a:pt x="93" y="15"/>
                  </a:lnTo>
                  <a:lnTo>
                    <a:pt x="78" y="15"/>
                  </a:lnTo>
                  <a:lnTo>
                    <a:pt x="62" y="14"/>
                  </a:lnTo>
                  <a:lnTo>
                    <a:pt x="47" y="13"/>
                  </a:lnTo>
                  <a:lnTo>
                    <a:pt x="31" y="9"/>
                  </a:lnTo>
                  <a:lnTo>
                    <a:pt x="16" y="4"/>
                  </a:lnTo>
                  <a:lnTo>
                    <a:pt x="0" y="0"/>
                  </a:lnTo>
                  <a:lnTo>
                    <a:pt x="0" y="0"/>
                  </a:lnTo>
                  <a:lnTo>
                    <a:pt x="0" y="6"/>
                  </a:lnTo>
                  <a:lnTo>
                    <a:pt x="1" y="13"/>
                  </a:lnTo>
                  <a:lnTo>
                    <a:pt x="2" y="20"/>
                  </a:lnTo>
                  <a:lnTo>
                    <a:pt x="6" y="27"/>
                  </a:lnTo>
                  <a:lnTo>
                    <a:pt x="11" y="33"/>
                  </a:lnTo>
                  <a:lnTo>
                    <a:pt x="18" y="39"/>
                  </a:lnTo>
                  <a:lnTo>
                    <a:pt x="28" y="45"/>
                  </a:lnTo>
                  <a:lnTo>
                    <a:pt x="40" y="50"/>
                  </a:lnTo>
                  <a:lnTo>
                    <a:pt x="40" y="5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4" name="i$ļîď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474D1006-D106-4777-9F75-062181AC7E9A}"/>
                </a:ext>
              </a:extLst>
            </p:cNvPr>
            <p:cNvSpPr/>
            <p:nvPr/>
          </p:nvSpPr>
          <p:spPr bwMode="auto">
            <a:xfrm>
              <a:off x="3999982" y="2977358"/>
              <a:ext cx="814495" cy="1130245"/>
            </a:xfrm>
            <a:custGeom>
              <a:avLst/>
              <a:gdLst>
                <a:gd name="T0" fmla="*/ 454 w 455"/>
                <a:gd name="T1" fmla="*/ 525 h 630"/>
                <a:gd name="T2" fmla="*/ 451 w 455"/>
                <a:gd name="T3" fmla="*/ 495 h 630"/>
                <a:gd name="T4" fmla="*/ 445 w 455"/>
                <a:gd name="T5" fmla="*/ 465 h 630"/>
                <a:gd name="T6" fmla="*/ 426 w 455"/>
                <a:gd name="T7" fmla="*/ 411 h 630"/>
                <a:gd name="T8" fmla="*/ 402 w 455"/>
                <a:gd name="T9" fmla="*/ 365 h 630"/>
                <a:gd name="T10" fmla="*/ 382 w 455"/>
                <a:gd name="T11" fmla="*/ 342 h 630"/>
                <a:gd name="T12" fmla="*/ 376 w 455"/>
                <a:gd name="T13" fmla="*/ 336 h 630"/>
                <a:gd name="T14" fmla="*/ 338 w 455"/>
                <a:gd name="T15" fmla="*/ 304 h 630"/>
                <a:gd name="T16" fmla="*/ 315 w 455"/>
                <a:gd name="T17" fmla="*/ 281 h 630"/>
                <a:gd name="T18" fmla="*/ 315 w 455"/>
                <a:gd name="T19" fmla="*/ 283 h 630"/>
                <a:gd name="T20" fmla="*/ 296 w 455"/>
                <a:gd name="T21" fmla="*/ 268 h 630"/>
                <a:gd name="T22" fmla="*/ 264 w 455"/>
                <a:gd name="T23" fmla="*/ 248 h 630"/>
                <a:gd name="T24" fmla="*/ 240 w 455"/>
                <a:gd name="T25" fmla="*/ 225 h 630"/>
                <a:gd name="T26" fmla="*/ 226 w 455"/>
                <a:gd name="T27" fmla="*/ 209 h 630"/>
                <a:gd name="T28" fmla="*/ 215 w 455"/>
                <a:gd name="T29" fmla="*/ 187 h 630"/>
                <a:gd name="T30" fmla="*/ 196 w 455"/>
                <a:gd name="T31" fmla="*/ 138 h 630"/>
                <a:gd name="T32" fmla="*/ 181 w 455"/>
                <a:gd name="T33" fmla="*/ 98 h 630"/>
                <a:gd name="T34" fmla="*/ 166 w 455"/>
                <a:gd name="T35" fmla="*/ 73 h 630"/>
                <a:gd name="T36" fmla="*/ 148 w 455"/>
                <a:gd name="T37" fmla="*/ 50 h 630"/>
                <a:gd name="T38" fmla="*/ 123 w 455"/>
                <a:gd name="T39" fmla="*/ 28 h 630"/>
                <a:gd name="T40" fmla="*/ 108 w 455"/>
                <a:gd name="T41" fmla="*/ 20 h 630"/>
                <a:gd name="T42" fmla="*/ 79 w 455"/>
                <a:gd name="T43" fmla="*/ 6 h 630"/>
                <a:gd name="T44" fmla="*/ 55 w 455"/>
                <a:gd name="T45" fmla="*/ 0 h 630"/>
                <a:gd name="T46" fmla="*/ 36 w 455"/>
                <a:gd name="T47" fmla="*/ 2 h 630"/>
                <a:gd name="T48" fmla="*/ 22 w 455"/>
                <a:gd name="T49" fmla="*/ 8 h 630"/>
                <a:gd name="T50" fmla="*/ 11 w 455"/>
                <a:gd name="T51" fmla="*/ 15 h 630"/>
                <a:gd name="T52" fmla="*/ 4 w 455"/>
                <a:gd name="T53" fmla="*/ 24 h 630"/>
                <a:gd name="T54" fmla="*/ 0 w 455"/>
                <a:gd name="T55" fmla="*/ 41 h 630"/>
                <a:gd name="T56" fmla="*/ 1 w 455"/>
                <a:gd name="T57" fmla="*/ 45 h 630"/>
                <a:gd name="T58" fmla="*/ 17 w 455"/>
                <a:gd name="T59" fmla="*/ 67 h 630"/>
                <a:gd name="T60" fmla="*/ 57 w 455"/>
                <a:gd name="T61" fmla="*/ 121 h 630"/>
                <a:gd name="T62" fmla="*/ 94 w 455"/>
                <a:gd name="T63" fmla="*/ 180 h 630"/>
                <a:gd name="T64" fmla="*/ 120 w 455"/>
                <a:gd name="T65" fmla="*/ 229 h 630"/>
                <a:gd name="T66" fmla="*/ 144 w 455"/>
                <a:gd name="T67" fmla="*/ 284 h 630"/>
                <a:gd name="T68" fmla="*/ 155 w 455"/>
                <a:gd name="T69" fmla="*/ 316 h 630"/>
                <a:gd name="T70" fmla="*/ 194 w 455"/>
                <a:gd name="T71" fmla="*/ 426 h 630"/>
                <a:gd name="T72" fmla="*/ 227 w 455"/>
                <a:gd name="T73" fmla="*/ 510 h 630"/>
                <a:gd name="T74" fmla="*/ 243 w 455"/>
                <a:gd name="T75" fmla="*/ 541 h 630"/>
                <a:gd name="T76" fmla="*/ 261 w 455"/>
                <a:gd name="T77" fmla="*/ 566 h 630"/>
                <a:gd name="T78" fmla="*/ 280 w 455"/>
                <a:gd name="T79" fmla="*/ 588 h 630"/>
                <a:gd name="T80" fmla="*/ 302 w 455"/>
                <a:gd name="T81" fmla="*/ 603 h 630"/>
                <a:gd name="T82" fmla="*/ 320 w 455"/>
                <a:gd name="T83" fmla="*/ 614 h 630"/>
                <a:gd name="T84" fmla="*/ 354 w 455"/>
                <a:gd name="T85" fmla="*/ 626 h 630"/>
                <a:gd name="T86" fmla="*/ 382 w 455"/>
                <a:gd name="T87" fmla="*/ 630 h 630"/>
                <a:gd name="T88" fmla="*/ 407 w 455"/>
                <a:gd name="T89" fmla="*/ 629 h 630"/>
                <a:gd name="T90" fmla="*/ 421 w 455"/>
                <a:gd name="T91" fmla="*/ 621 h 630"/>
                <a:gd name="T92" fmla="*/ 437 w 455"/>
                <a:gd name="T93" fmla="*/ 608 h 630"/>
                <a:gd name="T94" fmla="*/ 448 w 455"/>
                <a:gd name="T95" fmla="*/ 591 h 630"/>
                <a:gd name="T96" fmla="*/ 454 w 455"/>
                <a:gd name="T97" fmla="*/ 562 h 630"/>
                <a:gd name="T98" fmla="*/ 454 w 455"/>
                <a:gd name="T99" fmla="*/ 525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55" h="630">
                  <a:moveTo>
                    <a:pt x="454" y="525"/>
                  </a:moveTo>
                  <a:lnTo>
                    <a:pt x="454" y="525"/>
                  </a:lnTo>
                  <a:lnTo>
                    <a:pt x="454" y="511"/>
                  </a:lnTo>
                  <a:lnTo>
                    <a:pt x="451" y="495"/>
                  </a:lnTo>
                  <a:lnTo>
                    <a:pt x="449" y="481"/>
                  </a:lnTo>
                  <a:lnTo>
                    <a:pt x="445" y="465"/>
                  </a:lnTo>
                  <a:lnTo>
                    <a:pt x="437" y="437"/>
                  </a:lnTo>
                  <a:lnTo>
                    <a:pt x="426" y="411"/>
                  </a:lnTo>
                  <a:lnTo>
                    <a:pt x="414" y="387"/>
                  </a:lnTo>
                  <a:lnTo>
                    <a:pt x="402" y="365"/>
                  </a:lnTo>
                  <a:lnTo>
                    <a:pt x="389" y="348"/>
                  </a:lnTo>
                  <a:lnTo>
                    <a:pt x="382" y="342"/>
                  </a:lnTo>
                  <a:lnTo>
                    <a:pt x="376" y="336"/>
                  </a:lnTo>
                  <a:lnTo>
                    <a:pt x="376" y="336"/>
                  </a:lnTo>
                  <a:lnTo>
                    <a:pt x="356" y="319"/>
                  </a:lnTo>
                  <a:lnTo>
                    <a:pt x="338" y="304"/>
                  </a:lnTo>
                  <a:lnTo>
                    <a:pt x="315" y="281"/>
                  </a:lnTo>
                  <a:lnTo>
                    <a:pt x="315" y="281"/>
                  </a:lnTo>
                  <a:lnTo>
                    <a:pt x="315" y="283"/>
                  </a:lnTo>
                  <a:lnTo>
                    <a:pt x="315" y="283"/>
                  </a:lnTo>
                  <a:lnTo>
                    <a:pt x="306" y="275"/>
                  </a:lnTo>
                  <a:lnTo>
                    <a:pt x="296" y="268"/>
                  </a:lnTo>
                  <a:lnTo>
                    <a:pt x="274" y="256"/>
                  </a:lnTo>
                  <a:lnTo>
                    <a:pt x="264" y="248"/>
                  </a:lnTo>
                  <a:lnTo>
                    <a:pt x="252" y="239"/>
                  </a:lnTo>
                  <a:lnTo>
                    <a:pt x="240" y="225"/>
                  </a:lnTo>
                  <a:lnTo>
                    <a:pt x="226" y="209"/>
                  </a:lnTo>
                  <a:lnTo>
                    <a:pt x="226" y="209"/>
                  </a:lnTo>
                  <a:lnTo>
                    <a:pt x="220" y="198"/>
                  </a:lnTo>
                  <a:lnTo>
                    <a:pt x="215" y="187"/>
                  </a:lnTo>
                  <a:lnTo>
                    <a:pt x="206" y="163"/>
                  </a:lnTo>
                  <a:lnTo>
                    <a:pt x="196" y="138"/>
                  </a:lnTo>
                  <a:lnTo>
                    <a:pt x="187" y="111"/>
                  </a:lnTo>
                  <a:lnTo>
                    <a:pt x="181" y="98"/>
                  </a:lnTo>
                  <a:lnTo>
                    <a:pt x="175" y="86"/>
                  </a:lnTo>
                  <a:lnTo>
                    <a:pt x="166" y="73"/>
                  </a:lnTo>
                  <a:lnTo>
                    <a:pt x="158" y="61"/>
                  </a:lnTo>
                  <a:lnTo>
                    <a:pt x="148" y="50"/>
                  </a:lnTo>
                  <a:lnTo>
                    <a:pt x="136" y="39"/>
                  </a:lnTo>
                  <a:lnTo>
                    <a:pt x="123" y="28"/>
                  </a:lnTo>
                  <a:lnTo>
                    <a:pt x="108" y="20"/>
                  </a:lnTo>
                  <a:lnTo>
                    <a:pt x="108" y="20"/>
                  </a:lnTo>
                  <a:lnTo>
                    <a:pt x="93" y="11"/>
                  </a:lnTo>
                  <a:lnTo>
                    <a:pt x="79" y="6"/>
                  </a:lnTo>
                  <a:lnTo>
                    <a:pt x="66" y="3"/>
                  </a:lnTo>
                  <a:lnTo>
                    <a:pt x="55" y="0"/>
                  </a:lnTo>
                  <a:lnTo>
                    <a:pt x="46" y="0"/>
                  </a:lnTo>
                  <a:lnTo>
                    <a:pt x="36" y="2"/>
                  </a:lnTo>
                  <a:lnTo>
                    <a:pt x="29" y="4"/>
                  </a:lnTo>
                  <a:lnTo>
                    <a:pt x="22" y="8"/>
                  </a:lnTo>
                  <a:lnTo>
                    <a:pt x="16" y="11"/>
                  </a:lnTo>
                  <a:lnTo>
                    <a:pt x="11" y="15"/>
                  </a:lnTo>
                  <a:lnTo>
                    <a:pt x="7" y="20"/>
                  </a:lnTo>
                  <a:lnTo>
                    <a:pt x="4" y="24"/>
                  </a:lnTo>
                  <a:lnTo>
                    <a:pt x="0" y="34"/>
                  </a:lnTo>
                  <a:lnTo>
                    <a:pt x="0" y="41"/>
                  </a:lnTo>
                  <a:lnTo>
                    <a:pt x="0" y="41"/>
                  </a:lnTo>
                  <a:lnTo>
                    <a:pt x="1" y="45"/>
                  </a:lnTo>
                  <a:lnTo>
                    <a:pt x="5" y="50"/>
                  </a:lnTo>
                  <a:lnTo>
                    <a:pt x="17" y="67"/>
                  </a:lnTo>
                  <a:lnTo>
                    <a:pt x="35" y="89"/>
                  </a:lnTo>
                  <a:lnTo>
                    <a:pt x="57" y="121"/>
                  </a:lnTo>
                  <a:lnTo>
                    <a:pt x="82" y="158"/>
                  </a:lnTo>
                  <a:lnTo>
                    <a:pt x="94" y="180"/>
                  </a:lnTo>
                  <a:lnTo>
                    <a:pt x="107" y="204"/>
                  </a:lnTo>
                  <a:lnTo>
                    <a:pt x="120" y="229"/>
                  </a:lnTo>
                  <a:lnTo>
                    <a:pt x="132" y="256"/>
                  </a:lnTo>
                  <a:lnTo>
                    <a:pt x="144" y="284"/>
                  </a:lnTo>
                  <a:lnTo>
                    <a:pt x="155" y="316"/>
                  </a:lnTo>
                  <a:lnTo>
                    <a:pt x="155" y="316"/>
                  </a:lnTo>
                  <a:lnTo>
                    <a:pt x="176" y="375"/>
                  </a:lnTo>
                  <a:lnTo>
                    <a:pt x="194" y="426"/>
                  </a:lnTo>
                  <a:lnTo>
                    <a:pt x="211" y="471"/>
                  </a:lnTo>
                  <a:lnTo>
                    <a:pt x="227" y="510"/>
                  </a:lnTo>
                  <a:lnTo>
                    <a:pt x="235" y="525"/>
                  </a:lnTo>
                  <a:lnTo>
                    <a:pt x="243" y="541"/>
                  </a:lnTo>
                  <a:lnTo>
                    <a:pt x="252" y="554"/>
                  </a:lnTo>
                  <a:lnTo>
                    <a:pt x="261" y="566"/>
                  </a:lnTo>
                  <a:lnTo>
                    <a:pt x="270" y="578"/>
                  </a:lnTo>
                  <a:lnTo>
                    <a:pt x="280" y="588"/>
                  </a:lnTo>
                  <a:lnTo>
                    <a:pt x="290" y="596"/>
                  </a:lnTo>
                  <a:lnTo>
                    <a:pt x="302" y="603"/>
                  </a:lnTo>
                  <a:lnTo>
                    <a:pt x="302" y="603"/>
                  </a:lnTo>
                  <a:lnTo>
                    <a:pt x="320" y="614"/>
                  </a:lnTo>
                  <a:lnTo>
                    <a:pt x="338" y="621"/>
                  </a:lnTo>
                  <a:lnTo>
                    <a:pt x="354" y="626"/>
                  </a:lnTo>
                  <a:lnTo>
                    <a:pt x="368" y="629"/>
                  </a:lnTo>
                  <a:lnTo>
                    <a:pt x="382" y="630"/>
                  </a:lnTo>
                  <a:lnTo>
                    <a:pt x="392" y="630"/>
                  </a:lnTo>
                  <a:lnTo>
                    <a:pt x="407" y="629"/>
                  </a:lnTo>
                  <a:lnTo>
                    <a:pt x="407" y="629"/>
                  </a:lnTo>
                  <a:lnTo>
                    <a:pt x="421" y="621"/>
                  </a:lnTo>
                  <a:lnTo>
                    <a:pt x="432" y="613"/>
                  </a:lnTo>
                  <a:lnTo>
                    <a:pt x="437" y="608"/>
                  </a:lnTo>
                  <a:lnTo>
                    <a:pt x="442" y="603"/>
                  </a:lnTo>
                  <a:lnTo>
                    <a:pt x="448" y="591"/>
                  </a:lnTo>
                  <a:lnTo>
                    <a:pt x="451" y="578"/>
                  </a:lnTo>
                  <a:lnTo>
                    <a:pt x="454" y="562"/>
                  </a:lnTo>
                  <a:lnTo>
                    <a:pt x="455" y="546"/>
                  </a:lnTo>
                  <a:lnTo>
                    <a:pt x="454" y="525"/>
                  </a:lnTo>
                  <a:lnTo>
                    <a:pt x="454" y="525"/>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65" name="ïṥļîḑ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BEC41A5-3248-4A2A-B008-A30BC46CCEB6}"/>
                </a:ext>
              </a:extLst>
            </p:cNvPr>
            <p:cNvSpPr/>
            <p:nvPr/>
          </p:nvSpPr>
          <p:spPr bwMode="auto">
            <a:xfrm>
              <a:off x="4017923" y="3059885"/>
              <a:ext cx="172228" cy="186580"/>
            </a:xfrm>
            <a:custGeom>
              <a:avLst/>
              <a:gdLst>
                <a:gd name="T0" fmla="*/ 0 w 96"/>
                <a:gd name="T1" fmla="*/ 12 h 105"/>
                <a:gd name="T2" fmla="*/ 0 w 96"/>
                <a:gd name="T3" fmla="*/ 12 h 105"/>
                <a:gd name="T4" fmla="*/ 28 w 96"/>
                <a:gd name="T5" fmla="*/ 49 h 105"/>
                <a:gd name="T6" fmla="*/ 46 w 96"/>
                <a:gd name="T7" fmla="*/ 75 h 105"/>
                <a:gd name="T8" fmla="*/ 66 w 96"/>
                <a:gd name="T9" fmla="*/ 105 h 105"/>
                <a:gd name="T10" fmla="*/ 66 w 96"/>
                <a:gd name="T11" fmla="*/ 105 h 105"/>
                <a:gd name="T12" fmla="*/ 76 w 96"/>
                <a:gd name="T13" fmla="*/ 101 h 105"/>
                <a:gd name="T14" fmla="*/ 85 w 96"/>
                <a:gd name="T15" fmla="*/ 96 h 105"/>
                <a:gd name="T16" fmla="*/ 91 w 96"/>
                <a:gd name="T17" fmla="*/ 92 h 105"/>
                <a:gd name="T18" fmla="*/ 95 w 96"/>
                <a:gd name="T19" fmla="*/ 88 h 105"/>
                <a:gd name="T20" fmla="*/ 95 w 96"/>
                <a:gd name="T21" fmla="*/ 88 h 105"/>
                <a:gd name="T22" fmla="*/ 96 w 96"/>
                <a:gd name="T23" fmla="*/ 83 h 105"/>
                <a:gd name="T24" fmla="*/ 95 w 96"/>
                <a:gd name="T25" fmla="*/ 77 h 105"/>
                <a:gd name="T26" fmla="*/ 94 w 96"/>
                <a:gd name="T27" fmla="*/ 68 h 105"/>
                <a:gd name="T28" fmla="*/ 90 w 96"/>
                <a:gd name="T29" fmla="*/ 58 h 105"/>
                <a:gd name="T30" fmla="*/ 84 w 96"/>
                <a:gd name="T31" fmla="*/ 46 h 105"/>
                <a:gd name="T32" fmla="*/ 77 w 96"/>
                <a:gd name="T33" fmla="*/ 34 h 105"/>
                <a:gd name="T34" fmla="*/ 67 w 96"/>
                <a:gd name="T35" fmla="*/ 23 h 105"/>
                <a:gd name="T36" fmla="*/ 55 w 96"/>
                <a:gd name="T37" fmla="*/ 12 h 105"/>
                <a:gd name="T38" fmla="*/ 55 w 96"/>
                <a:gd name="T39" fmla="*/ 12 h 105"/>
                <a:gd name="T40" fmla="*/ 46 w 96"/>
                <a:gd name="T41" fmla="*/ 5 h 105"/>
                <a:gd name="T42" fmla="*/ 37 w 96"/>
                <a:gd name="T43" fmla="*/ 1 h 105"/>
                <a:gd name="T44" fmla="*/ 29 w 96"/>
                <a:gd name="T45" fmla="*/ 0 h 105"/>
                <a:gd name="T46" fmla="*/ 20 w 96"/>
                <a:gd name="T47" fmla="*/ 1 h 105"/>
                <a:gd name="T48" fmla="*/ 14 w 96"/>
                <a:gd name="T49" fmla="*/ 3 h 105"/>
                <a:gd name="T50" fmla="*/ 8 w 96"/>
                <a:gd name="T51" fmla="*/ 6 h 105"/>
                <a:gd name="T52" fmla="*/ 0 w 96"/>
                <a:gd name="T53" fmla="*/ 12 h 105"/>
                <a:gd name="T54" fmla="*/ 0 w 96"/>
                <a:gd name="T55" fmla="*/ 1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6" h="105">
                  <a:moveTo>
                    <a:pt x="0" y="12"/>
                  </a:moveTo>
                  <a:lnTo>
                    <a:pt x="0" y="12"/>
                  </a:lnTo>
                  <a:lnTo>
                    <a:pt x="28" y="49"/>
                  </a:lnTo>
                  <a:lnTo>
                    <a:pt x="46" y="75"/>
                  </a:lnTo>
                  <a:lnTo>
                    <a:pt x="66" y="105"/>
                  </a:lnTo>
                  <a:lnTo>
                    <a:pt x="66" y="105"/>
                  </a:lnTo>
                  <a:lnTo>
                    <a:pt x="76" y="101"/>
                  </a:lnTo>
                  <a:lnTo>
                    <a:pt x="85" y="96"/>
                  </a:lnTo>
                  <a:lnTo>
                    <a:pt x="91" y="92"/>
                  </a:lnTo>
                  <a:lnTo>
                    <a:pt x="95" y="88"/>
                  </a:lnTo>
                  <a:lnTo>
                    <a:pt x="95" y="88"/>
                  </a:lnTo>
                  <a:lnTo>
                    <a:pt x="96" y="83"/>
                  </a:lnTo>
                  <a:lnTo>
                    <a:pt x="95" y="77"/>
                  </a:lnTo>
                  <a:lnTo>
                    <a:pt x="94" y="68"/>
                  </a:lnTo>
                  <a:lnTo>
                    <a:pt x="90" y="58"/>
                  </a:lnTo>
                  <a:lnTo>
                    <a:pt x="84" y="46"/>
                  </a:lnTo>
                  <a:lnTo>
                    <a:pt x="77" y="34"/>
                  </a:lnTo>
                  <a:lnTo>
                    <a:pt x="67" y="23"/>
                  </a:lnTo>
                  <a:lnTo>
                    <a:pt x="55" y="12"/>
                  </a:lnTo>
                  <a:lnTo>
                    <a:pt x="55" y="12"/>
                  </a:lnTo>
                  <a:lnTo>
                    <a:pt x="46" y="5"/>
                  </a:lnTo>
                  <a:lnTo>
                    <a:pt x="37" y="1"/>
                  </a:lnTo>
                  <a:lnTo>
                    <a:pt x="29" y="0"/>
                  </a:lnTo>
                  <a:lnTo>
                    <a:pt x="20" y="1"/>
                  </a:lnTo>
                  <a:lnTo>
                    <a:pt x="14" y="3"/>
                  </a:lnTo>
                  <a:lnTo>
                    <a:pt x="8" y="6"/>
                  </a:lnTo>
                  <a:lnTo>
                    <a:pt x="0" y="12"/>
                  </a:lnTo>
                  <a:lnTo>
                    <a:pt x="0" y="12"/>
                  </a:lnTo>
                  <a:close/>
                </a:path>
              </a:pathLst>
            </a:custGeom>
            <a:solidFill>
              <a:srgbClr val="D1D3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32500" lnSpcReduction="20000"/>
            </a:bodyPr>
            <a:lstStyle/>
            <a:p>
              <a:endParaRPr lang="en-US" dirty="0">
                <a:latin typeface="Arial" panose="020B0604020202020204" pitchFamily="34" charset="0"/>
                <a:ea typeface="+mn-ea"/>
              </a:endParaRPr>
            </a:p>
          </p:txBody>
        </p:sp>
        <p:sp>
          <p:nvSpPr>
            <p:cNvPr id="66" name="íṣḷîd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212B728E-FFC7-4B42-8C70-EC00A08B5F17}"/>
                </a:ext>
              </a:extLst>
            </p:cNvPr>
            <p:cNvSpPr/>
            <p:nvPr/>
          </p:nvSpPr>
          <p:spPr bwMode="auto">
            <a:xfrm>
              <a:off x="4129152" y="3163938"/>
              <a:ext cx="60998" cy="82527"/>
            </a:xfrm>
            <a:custGeom>
              <a:avLst/>
              <a:gdLst>
                <a:gd name="T0" fmla="*/ 0 w 34"/>
                <a:gd name="T1" fmla="*/ 42 h 47"/>
                <a:gd name="T2" fmla="*/ 0 w 34"/>
                <a:gd name="T3" fmla="*/ 42 h 47"/>
                <a:gd name="T4" fmla="*/ 4 w 34"/>
                <a:gd name="T5" fmla="*/ 47 h 47"/>
                <a:gd name="T6" fmla="*/ 4 w 34"/>
                <a:gd name="T7" fmla="*/ 47 h 47"/>
                <a:gd name="T8" fmla="*/ 14 w 34"/>
                <a:gd name="T9" fmla="*/ 43 h 47"/>
                <a:gd name="T10" fmla="*/ 23 w 34"/>
                <a:gd name="T11" fmla="*/ 38 h 47"/>
                <a:gd name="T12" fmla="*/ 29 w 34"/>
                <a:gd name="T13" fmla="*/ 34 h 47"/>
                <a:gd name="T14" fmla="*/ 33 w 34"/>
                <a:gd name="T15" fmla="*/ 30 h 47"/>
                <a:gd name="T16" fmla="*/ 33 w 34"/>
                <a:gd name="T17" fmla="*/ 30 h 47"/>
                <a:gd name="T18" fmla="*/ 34 w 34"/>
                <a:gd name="T19" fmla="*/ 25 h 47"/>
                <a:gd name="T20" fmla="*/ 33 w 34"/>
                <a:gd name="T21" fmla="*/ 19 h 47"/>
                <a:gd name="T22" fmla="*/ 32 w 34"/>
                <a:gd name="T23" fmla="*/ 10 h 47"/>
                <a:gd name="T24" fmla="*/ 28 w 34"/>
                <a:gd name="T25" fmla="*/ 0 h 47"/>
                <a:gd name="T26" fmla="*/ 28 w 34"/>
                <a:gd name="T27" fmla="*/ 0 h 47"/>
                <a:gd name="T28" fmla="*/ 29 w 34"/>
                <a:gd name="T29" fmla="*/ 10 h 47"/>
                <a:gd name="T30" fmla="*/ 29 w 34"/>
                <a:gd name="T31" fmla="*/ 19 h 47"/>
                <a:gd name="T32" fmla="*/ 29 w 34"/>
                <a:gd name="T33" fmla="*/ 19 h 47"/>
                <a:gd name="T34" fmla="*/ 28 w 34"/>
                <a:gd name="T35" fmla="*/ 23 h 47"/>
                <a:gd name="T36" fmla="*/ 26 w 34"/>
                <a:gd name="T37" fmla="*/ 25 h 47"/>
                <a:gd name="T38" fmla="*/ 18 w 34"/>
                <a:gd name="T39" fmla="*/ 31 h 47"/>
                <a:gd name="T40" fmla="*/ 10 w 34"/>
                <a:gd name="T41" fmla="*/ 37 h 47"/>
                <a:gd name="T42" fmla="*/ 0 w 34"/>
                <a:gd name="T43" fmla="*/ 42 h 47"/>
                <a:gd name="T44" fmla="*/ 0 w 34"/>
                <a:gd name="T45" fmla="*/ 4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 h="47">
                  <a:moveTo>
                    <a:pt x="0" y="42"/>
                  </a:moveTo>
                  <a:lnTo>
                    <a:pt x="0" y="42"/>
                  </a:lnTo>
                  <a:lnTo>
                    <a:pt x="4" y="47"/>
                  </a:lnTo>
                  <a:lnTo>
                    <a:pt x="4" y="47"/>
                  </a:lnTo>
                  <a:lnTo>
                    <a:pt x="14" y="43"/>
                  </a:lnTo>
                  <a:lnTo>
                    <a:pt x="23" y="38"/>
                  </a:lnTo>
                  <a:lnTo>
                    <a:pt x="29" y="34"/>
                  </a:lnTo>
                  <a:lnTo>
                    <a:pt x="33" y="30"/>
                  </a:lnTo>
                  <a:lnTo>
                    <a:pt x="33" y="30"/>
                  </a:lnTo>
                  <a:lnTo>
                    <a:pt x="34" y="25"/>
                  </a:lnTo>
                  <a:lnTo>
                    <a:pt x="33" y="19"/>
                  </a:lnTo>
                  <a:lnTo>
                    <a:pt x="32" y="10"/>
                  </a:lnTo>
                  <a:lnTo>
                    <a:pt x="28" y="0"/>
                  </a:lnTo>
                  <a:lnTo>
                    <a:pt x="28" y="0"/>
                  </a:lnTo>
                  <a:lnTo>
                    <a:pt x="29" y="10"/>
                  </a:lnTo>
                  <a:lnTo>
                    <a:pt x="29" y="19"/>
                  </a:lnTo>
                  <a:lnTo>
                    <a:pt x="29" y="19"/>
                  </a:lnTo>
                  <a:lnTo>
                    <a:pt x="28" y="23"/>
                  </a:lnTo>
                  <a:lnTo>
                    <a:pt x="26" y="25"/>
                  </a:lnTo>
                  <a:lnTo>
                    <a:pt x="18" y="31"/>
                  </a:lnTo>
                  <a:lnTo>
                    <a:pt x="10" y="37"/>
                  </a:lnTo>
                  <a:lnTo>
                    <a:pt x="0" y="42"/>
                  </a:lnTo>
                  <a:lnTo>
                    <a:pt x="0" y="42"/>
                  </a:lnTo>
                  <a:close/>
                </a:path>
              </a:pathLst>
            </a:custGeom>
            <a:solidFill>
              <a:srgbClr val="FCB39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67" name="iṩḷiď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B2FEA4D9-5659-4F3F-B1D4-8C41F2D067B3}"/>
                </a:ext>
              </a:extLst>
            </p:cNvPr>
            <p:cNvSpPr/>
            <p:nvPr/>
          </p:nvSpPr>
          <p:spPr bwMode="auto">
            <a:xfrm>
              <a:off x="4922119" y="3910258"/>
              <a:ext cx="387512" cy="821671"/>
            </a:xfrm>
            <a:custGeom>
              <a:avLst/>
              <a:gdLst>
                <a:gd name="T0" fmla="*/ 217 w 217"/>
                <a:gd name="T1" fmla="*/ 23 h 459"/>
                <a:gd name="T2" fmla="*/ 188 w 217"/>
                <a:gd name="T3" fmla="*/ 0 h 459"/>
                <a:gd name="T4" fmla="*/ 188 w 217"/>
                <a:gd name="T5" fmla="*/ 0 h 459"/>
                <a:gd name="T6" fmla="*/ 184 w 217"/>
                <a:gd name="T7" fmla="*/ 3 h 459"/>
                <a:gd name="T8" fmla="*/ 172 w 217"/>
                <a:gd name="T9" fmla="*/ 10 h 459"/>
                <a:gd name="T10" fmla="*/ 155 w 217"/>
                <a:gd name="T11" fmla="*/ 23 h 459"/>
                <a:gd name="T12" fmla="*/ 134 w 217"/>
                <a:gd name="T13" fmla="*/ 43 h 459"/>
                <a:gd name="T14" fmla="*/ 122 w 217"/>
                <a:gd name="T15" fmla="*/ 57 h 459"/>
                <a:gd name="T16" fmla="*/ 110 w 217"/>
                <a:gd name="T17" fmla="*/ 71 h 459"/>
                <a:gd name="T18" fmla="*/ 96 w 217"/>
                <a:gd name="T19" fmla="*/ 87 h 459"/>
                <a:gd name="T20" fmla="*/ 83 w 217"/>
                <a:gd name="T21" fmla="*/ 105 h 459"/>
                <a:gd name="T22" fmla="*/ 71 w 217"/>
                <a:gd name="T23" fmla="*/ 125 h 459"/>
                <a:gd name="T24" fmla="*/ 58 w 217"/>
                <a:gd name="T25" fmla="*/ 148 h 459"/>
                <a:gd name="T26" fmla="*/ 46 w 217"/>
                <a:gd name="T27" fmla="*/ 173 h 459"/>
                <a:gd name="T28" fmla="*/ 34 w 217"/>
                <a:gd name="T29" fmla="*/ 200 h 459"/>
                <a:gd name="T30" fmla="*/ 34 w 217"/>
                <a:gd name="T31" fmla="*/ 200 h 459"/>
                <a:gd name="T32" fmla="*/ 24 w 217"/>
                <a:gd name="T33" fmla="*/ 226 h 459"/>
                <a:gd name="T34" fmla="*/ 16 w 217"/>
                <a:gd name="T35" fmla="*/ 252 h 459"/>
                <a:gd name="T36" fmla="*/ 10 w 217"/>
                <a:gd name="T37" fmla="*/ 273 h 459"/>
                <a:gd name="T38" fmla="*/ 5 w 217"/>
                <a:gd name="T39" fmla="*/ 293 h 459"/>
                <a:gd name="T40" fmla="*/ 3 w 217"/>
                <a:gd name="T41" fmla="*/ 311 h 459"/>
                <a:gd name="T42" fmla="*/ 0 w 217"/>
                <a:gd name="T43" fmla="*/ 326 h 459"/>
                <a:gd name="T44" fmla="*/ 0 w 217"/>
                <a:gd name="T45" fmla="*/ 340 h 459"/>
                <a:gd name="T46" fmla="*/ 0 w 217"/>
                <a:gd name="T47" fmla="*/ 352 h 459"/>
                <a:gd name="T48" fmla="*/ 0 w 217"/>
                <a:gd name="T49" fmla="*/ 361 h 459"/>
                <a:gd name="T50" fmla="*/ 3 w 217"/>
                <a:gd name="T51" fmla="*/ 370 h 459"/>
                <a:gd name="T52" fmla="*/ 6 w 217"/>
                <a:gd name="T53" fmla="*/ 382 h 459"/>
                <a:gd name="T54" fmla="*/ 9 w 217"/>
                <a:gd name="T55" fmla="*/ 388 h 459"/>
                <a:gd name="T56" fmla="*/ 10 w 217"/>
                <a:gd name="T57" fmla="*/ 390 h 459"/>
                <a:gd name="T58" fmla="*/ 98 w 217"/>
                <a:gd name="T59" fmla="*/ 459 h 459"/>
                <a:gd name="T60" fmla="*/ 217 w 217"/>
                <a:gd name="T61" fmla="*/ 177 h 459"/>
                <a:gd name="T62" fmla="*/ 217 w 217"/>
                <a:gd name="T63" fmla="*/ 23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7" h="459">
                  <a:moveTo>
                    <a:pt x="217" y="23"/>
                  </a:moveTo>
                  <a:lnTo>
                    <a:pt x="188" y="0"/>
                  </a:lnTo>
                  <a:lnTo>
                    <a:pt x="188" y="0"/>
                  </a:lnTo>
                  <a:lnTo>
                    <a:pt x="184" y="3"/>
                  </a:lnTo>
                  <a:lnTo>
                    <a:pt x="172" y="10"/>
                  </a:lnTo>
                  <a:lnTo>
                    <a:pt x="155" y="23"/>
                  </a:lnTo>
                  <a:lnTo>
                    <a:pt x="134" y="43"/>
                  </a:lnTo>
                  <a:lnTo>
                    <a:pt x="122" y="57"/>
                  </a:lnTo>
                  <a:lnTo>
                    <a:pt x="110" y="71"/>
                  </a:lnTo>
                  <a:lnTo>
                    <a:pt x="96" y="87"/>
                  </a:lnTo>
                  <a:lnTo>
                    <a:pt x="83" y="105"/>
                  </a:lnTo>
                  <a:lnTo>
                    <a:pt x="71" y="125"/>
                  </a:lnTo>
                  <a:lnTo>
                    <a:pt x="58" y="148"/>
                  </a:lnTo>
                  <a:lnTo>
                    <a:pt x="46" y="173"/>
                  </a:lnTo>
                  <a:lnTo>
                    <a:pt x="34" y="200"/>
                  </a:lnTo>
                  <a:lnTo>
                    <a:pt x="34" y="200"/>
                  </a:lnTo>
                  <a:lnTo>
                    <a:pt x="24" y="226"/>
                  </a:lnTo>
                  <a:lnTo>
                    <a:pt x="16" y="252"/>
                  </a:lnTo>
                  <a:lnTo>
                    <a:pt x="10" y="273"/>
                  </a:lnTo>
                  <a:lnTo>
                    <a:pt x="5" y="293"/>
                  </a:lnTo>
                  <a:lnTo>
                    <a:pt x="3" y="311"/>
                  </a:lnTo>
                  <a:lnTo>
                    <a:pt x="0" y="326"/>
                  </a:lnTo>
                  <a:lnTo>
                    <a:pt x="0" y="340"/>
                  </a:lnTo>
                  <a:lnTo>
                    <a:pt x="0" y="352"/>
                  </a:lnTo>
                  <a:lnTo>
                    <a:pt x="0" y="361"/>
                  </a:lnTo>
                  <a:lnTo>
                    <a:pt x="3" y="370"/>
                  </a:lnTo>
                  <a:lnTo>
                    <a:pt x="6" y="382"/>
                  </a:lnTo>
                  <a:lnTo>
                    <a:pt x="9" y="388"/>
                  </a:lnTo>
                  <a:lnTo>
                    <a:pt x="10" y="390"/>
                  </a:lnTo>
                  <a:lnTo>
                    <a:pt x="98" y="459"/>
                  </a:lnTo>
                  <a:lnTo>
                    <a:pt x="217" y="177"/>
                  </a:lnTo>
                  <a:lnTo>
                    <a:pt x="217" y="23"/>
                  </a:lnTo>
                  <a:close/>
                </a:path>
              </a:pathLst>
            </a:custGeom>
            <a:solidFill>
              <a:schemeClr val="bg1"/>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68" name="îSliḑ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019B8C0C-8B84-44B9-8577-81D17893C3BF}"/>
                </a:ext>
              </a:extLst>
            </p:cNvPr>
            <p:cNvSpPr/>
            <p:nvPr/>
          </p:nvSpPr>
          <p:spPr bwMode="auto">
            <a:xfrm>
              <a:off x="5011820" y="3992523"/>
              <a:ext cx="904275" cy="1028797"/>
            </a:xfrm>
            <a:custGeom>
              <a:avLst/>
              <a:gdLst>
                <a:gd name="connsiteX0" fmla="*/ 297812 w 297812"/>
                <a:gd name="connsiteY0" fmla="*/ 0 h 904195"/>
                <a:gd name="connsiteX1" fmla="*/ 297812 w 297812"/>
                <a:gd name="connsiteY1" fmla="*/ 651236 h 904195"/>
                <a:gd name="connsiteX2" fmla="*/ 297812 w 297812"/>
                <a:gd name="connsiteY2" fmla="*/ 904195 h 904195"/>
                <a:gd name="connsiteX3" fmla="*/ 5382 w 297812"/>
                <a:gd name="connsiteY3" fmla="*/ 683966 h 904195"/>
                <a:gd name="connsiteX4" fmla="*/ 5382 w 297812"/>
                <a:gd name="connsiteY4" fmla="*/ 683529 h 904195"/>
                <a:gd name="connsiteX5" fmla="*/ 5382 w 297812"/>
                <a:gd name="connsiteY5" fmla="*/ 676804 h 904195"/>
                <a:gd name="connsiteX6" fmla="*/ 1794 w 297812"/>
                <a:gd name="connsiteY6" fmla="*/ 653527 h 904195"/>
                <a:gd name="connsiteX7" fmla="*/ 0 w 297812"/>
                <a:gd name="connsiteY7" fmla="*/ 617718 h 904195"/>
                <a:gd name="connsiteX8" fmla="*/ 12 w 297812"/>
                <a:gd name="connsiteY8" fmla="*/ 617386 h 904195"/>
                <a:gd name="connsiteX9" fmla="*/ 0 w 297812"/>
                <a:gd name="connsiteY9" fmla="*/ 617149 h 904195"/>
                <a:gd name="connsiteX10" fmla="*/ 1794 w 297812"/>
                <a:gd name="connsiteY10" fmla="*/ 566916 h 904195"/>
                <a:gd name="connsiteX11" fmla="*/ 3588 w 297812"/>
                <a:gd name="connsiteY11" fmla="*/ 536418 h 904195"/>
                <a:gd name="connsiteX12" fmla="*/ 7176 w 297812"/>
                <a:gd name="connsiteY12" fmla="*/ 504125 h 904195"/>
                <a:gd name="connsiteX13" fmla="*/ 14353 w 297812"/>
                <a:gd name="connsiteY13" fmla="*/ 470038 h 904195"/>
                <a:gd name="connsiteX14" fmla="*/ 25117 w 297812"/>
                <a:gd name="connsiteY14" fmla="*/ 432363 h 904195"/>
                <a:gd name="connsiteX15" fmla="*/ 35881 w 297812"/>
                <a:gd name="connsiteY15" fmla="*/ 391101 h 904195"/>
                <a:gd name="connsiteX16" fmla="*/ 52028 w 297812"/>
                <a:gd name="connsiteY16" fmla="*/ 351632 h 904195"/>
                <a:gd name="connsiteX17" fmla="*/ 68174 w 297812"/>
                <a:gd name="connsiteY17" fmla="*/ 304987 h 904195"/>
                <a:gd name="connsiteX18" fmla="*/ 89703 w 297812"/>
                <a:gd name="connsiteY18" fmla="*/ 260136 h 904195"/>
                <a:gd name="connsiteX19" fmla="*/ 97527 w 297812"/>
                <a:gd name="connsiteY19" fmla="*/ 246834 h 904195"/>
                <a:gd name="connsiteX20" fmla="*/ 116613 w 297812"/>
                <a:gd name="connsiteY20" fmla="*/ 211277 h 904195"/>
                <a:gd name="connsiteX21" fmla="*/ 143524 w 297812"/>
                <a:gd name="connsiteY21" fmla="*/ 168306 h 904195"/>
                <a:gd name="connsiteX22" fmla="*/ 172229 w 297812"/>
                <a:gd name="connsiteY22" fmla="*/ 130706 h 904195"/>
                <a:gd name="connsiteX23" fmla="*/ 197346 w 297812"/>
                <a:gd name="connsiteY23" fmla="*/ 94896 h 904195"/>
                <a:gd name="connsiteX24" fmla="*/ 224256 w 297812"/>
                <a:gd name="connsiteY24" fmla="*/ 64458 h 904195"/>
                <a:gd name="connsiteX25" fmla="*/ 249373 w 297812"/>
                <a:gd name="connsiteY25" fmla="*/ 39391 h 904195"/>
                <a:gd name="connsiteX26" fmla="*/ 276284 w 297812"/>
                <a:gd name="connsiteY26" fmla="*/ 17905 h 904195"/>
                <a:gd name="connsiteX0" fmla="*/ 867584 w 867584"/>
                <a:gd name="connsiteY0" fmla="*/ 356260 h 886362"/>
                <a:gd name="connsiteX1" fmla="*/ 297812 w 867584"/>
                <a:gd name="connsiteY1" fmla="*/ 633403 h 886362"/>
                <a:gd name="connsiteX2" fmla="*/ 297812 w 867584"/>
                <a:gd name="connsiteY2" fmla="*/ 886362 h 886362"/>
                <a:gd name="connsiteX3" fmla="*/ 5382 w 867584"/>
                <a:gd name="connsiteY3" fmla="*/ 666133 h 886362"/>
                <a:gd name="connsiteX4" fmla="*/ 5382 w 867584"/>
                <a:gd name="connsiteY4" fmla="*/ 665696 h 886362"/>
                <a:gd name="connsiteX5" fmla="*/ 5382 w 867584"/>
                <a:gd name="connsiteY5" fmla="*/ 658971 h 886362"/>
                <a:gd name="connsiteX6" fmla="*/ 1794 w 867584"/>
                <a:gd name="connsiteY6" fmla="*/ 635694 h 886362"/>
                <a:gd name="connsiteX7" fmla="*/ 0 w 867584"/>
                <a:gd name="connsiteY7" fmla="*/ 599885 h 886362"/>
                <a:gd name="connsiteX8" fmla="*/ 12 w 867584"/>
                <a:gd name="connsiteY8" fmla="*/ 599553 h 886362"/>
                <a:gd name="connsiteX9" fmla="*/ 0 w 867584"/>
                <a:gd name="connsiteY9" fmla="*/ 599316 h 886362"/>
                <a:gd name="connsiteX10" fmla="*/ 1794 w 867584"/>
                <a:gd name="connsiteY10" fmla="*/ 549083 h 886362"/>
                <a:gd name="connsiteX11" fmla="*/ 3588 w 867584"/>
                <a:gd name="connsiteY11" fmla="*/ 518585 h 886362"/>
                <a:gd name="connsiteX12" fmla="*/ 7176 w 867584"/>
                <a:gd name="connsiteY12" fmla="*/ 486292 h 886362"/>
                <a:gd name="connsiteX13" fmla="*/ 14353 w 867584"/>
                <a:gd name="connsiteY13" fmla="*/ 452205 h 886362"/>
                <a:gd name="connsiteX14" fmla="*/ 25117 w 867584"/>
                <a:gd name="connsiteY14" fmla="*/ 414530 h 886362"/>
                <a:gd name="connsiteX15" fmla="*/ 35881 w 867584"/>
                <a:gd name="connsiteY15" fmla="*/ 373268 h 886362"/>
                <a:gd name="connsiteX16" fmla="*/ 52028 w 867584"/>
                <a:gd name="connsiteY16" fmla="*/ 333799 h 886362"/>
                <a:gd name="connsiteX17" fmla="*/ 68174 w 867584"/>
                <a:gd name="connsiteY17" fmla="*/ 287154 h 886362"/>
                <a:gd name="connsiteX18" fmla="*/ 89703 w 867584"/>
                <a:gd name="connsiteY18" fmla="*/ 242303 h 886362"/>
                <a:gd name="connsiteX19" fmla="*/ 97527 w 867584"/>
                <a:gd name="connsiteY19" fmla="*/ 229001 h 886362"/>
                <a:gd name="connsiteX20" fmla="*/ 116613 w 867584"/>
                <a:gd name="connsiteY20" fmla="*/ 193444 h 886362"/>
                <a:gd name="connsiteX21" fmla="*/ 143524 w 867584"/>
                <a:gd name="connsiteY21" fmla="*/ 150473 h 886362"/>
                <a:gd name="connsiteX22" fmla="*/ 172229 w 867584"/>
                <a:gd name="connsiteY22" fmla="*/ 112873 h 886362"/>
                <a:gd name="connsiteX23" fmla="*/ 197346 w 867584"/>
                <a:gd name="connsiteY23" fmla="*/ 77063 h 886362"/>
                <a:gd name="connsiteX24" fmla="*/ 224256 w 867584"/>
                <a:gd name="connsiteY24" fmla="*/ 46625 h 886362"/>
                <a:gd name="connsiteX25" fmla="*/ 249373 w 867584"/>
                <a:gd name="connsiteY25" fmla="*/ 21558 h 886362"/>
                <a:gd name="connsiteX26" fmla="*/ 276284 w 867584"/>
                <a:gd name="connsiteY26" fmla="*/ 72 h 886362"/>
                <a:gd name="connsiteX27" fmla="*/ 867584 w 867584"/>
                <a:gd name="connsiteY27" fmla="*/ 356260 h 886362"/>
                <a:gd name="connsiteX0" fmla="*/ 867584 w 867584"/>
                <a:gd name="connsiteY0" fmla="*/ 356260 h 886362"/>
                <a:gd name="connsiteX1" fmla="*/ 297812 w 867584"/>
                <a:gd name="connsiteY1" fmla="*/ 886362 h 886362"/>
                <a:gd name="connsiteX2" fmla="*/ 5382 w 867584"/>
                <a:gd name="connsiteY2" fmla="*/ 666133 h 886362"/>
                <a:gd name="connsiteX3" fmla="*/ 5382 w 867584"/>
                <a:gd name="connsiteY3" fmla="*/ 665696 h 886362"/>
                <a:gd name="connsiteX4" fmla="*/ 5382 w 867584"/>
                <a:gd name="connsiteY4" fmla="*/ 658971 h 886362"/>
                <a:gd name="connsiteX5" fmla="*/ 1794 w 867584"/>
                <a:gd name="connsiteY5" fmla="*/ 635694 h 886362"/>
                <a:gd name="connsiteX6" fmla="*/ 0 w 867584"/>
                <a:gd name="connsiteY6" fmla="*/ 599885 h 886362"/>
                <a:gd name="connsiteX7" fmla="*/ 12 w 867584"/>
                <a:gd name="connsiteY7" fmla="*/ 599553 h 886362"/>
                <a:gd name="connsiteX8" fmla="*/ 0 w 867584"/>
                <a:gd name="connsiteY8" fmla="*/ 599316 h 886362"/>
                <a:gd name="connsiteX9" fmla="*/ 1794 w 867584"/>
                <a:gd name="connsiteY9" fmla="*/ 549083 h 886362"/>
                <a:gd name="connsiteX10" fmla="*/ 3588 w 867584"/>
                <a:gd name="connsiteY10" fmla="*/ 518585 h 886362"/>
                <a:gd name="connsiteX11" fmla="*/ 7176 w 867584"/>
                <a:gd name="connsiteY11" fmla="*/ 486292 h 886362"/>
                <a:gd name="connsiteX12" fmla="*/ 14353 w 867584"/>
                <a:gd name="connsiteY12" fmla="*/ 452205 h 886362"/>
                <a:gd name="connsiteX13" fmla="*/ 25117 w 867584"/>
                <a:gd name="connsiteY13" fmla="*/ 414530 h 886362"/>
                <a:gd name="connsiteX14" fmla="*/ 35881 w 867584"/>
                <a:gd name="connsiteY14" fmla="*/ 373268 h 886362"/>
                <a:gd name="connsiteX15" fmla="*/ 52028 w 867584"/>
                <a:gd name="connsiteY15" fmla="*/ 333799 h 886362"/>
                <a:gd name="connsiteX16" fmla="*/ 68174 w 867584"/>
                <a:gd name="connsiteY16" fmla="*/ 287154 h 886362"/>
                <a:gd name="connsiteX17" fmla="*/ 89703 w 867584"/>
                <a:gd name="connsiteY17" fmla="*/ 242303 h 886362"/>
                <a:gd name="connsiteX18" fmla="*/ 97527 w 867584"/>
                <a:gd name="connsiteY18" fmla="*/ 229001 h 886362"/>
                <a:gd name="connsiteX19" fmla="*/ 116613 w 867584"/>
                <a:gd name="connsiteY19" fmla="*/ 193444 h 886362"/>
                <a:gd name="connsiteX20" fmla="*/ 143524 w 867584"/>
                <a:gd name="connsiteY20" fmla="*/ 150473 h 886362"/>
                <a:gd name="connsiteX21" fmla="*/ 172229 w 867584"/>
                <a:gd name="connsiteY21" fmla="*/ 112873 h 886362"/>
                <a:gd name="connsiteX22" fmla="*/ 197346 w 867584"/>
                <a:gd name="connsiteY22" fmla="*/ 77063 h 886362"/>
                <a:gd name="connsiteX23" fmla="*/ 224256 w 867584"/>
                <a:gd name="connsiteY23" fmla="*/ 46625 h 886362"/>
                <a:gd name="connsiteX24" fmla="*/ 249373 w 867584"/>
                <a:gd name="connsiteY24" fmla="*/ 21558 h 886362"/>
                <a:gd name="connsiteX25" fmla="*/ 276284 w 867584"/>
                <a:gd name="connsiteY25" fmla="*/ 72 h 886362"/>
                <a:gd name="connsiteX26" fmla="*/ 867584 w 867584"/>
                <a:gd name="connsiteY26" fmla="*/ 356260 h 886362"/>
                <a:gd name="connsiteX0" fmla="*/ 867584 w 867584"/>
                <a:gd name="connsiteY0" fmla="*/ 420997 h 951099"/>
                <a:gd name="connsiteX1" fmla="*/ 297812 w 867584"/>
                <a:gd name="connsiteY1" fmla="*/ 951099 h 951099"/>
                <a:gd name="connsiteX2" fmla="*/ 5382 w 867584"/>
                <a:gd name="connsiteY2" fmla="*/ 730870 h 951099"/>
                <a:gd name="connsiteX3" fmla="*/ 5382 w 867584"/>
                <a:gd name="connsiteY3" fmla="*/ 730433 h 951099"/>
                <a:gd name="connsiteX4" fmla="*/ 5382 w 867584"/>
                <a:gd name="connsiteY4" fmla="*/ 723708 h 951099"/>
                <a:gd name="connsiteX5" fmla="*/ 1794 w 867584"/>
                <a:gd name="connsiteY5" fmla="*/ 700431 h 951099"/>
                <a:gd name="connsiteX6" fmla="*/ 0 w 867584"/>
                <a:gd name="connsiteY6" fmla="*/ 664622 h 951099"/>
                <a:gd name="connsiteX7" fmla="*/ 12 w 867584"/>
                <a:gd name="connsiteY7" fmla="*/ 664290 h 951099"/>
                <a:gd name="connsiteX8" fmla="*/ 0 w 867584"/>
                <a:gd name="connsiteY8" fmla="*/ 664053 h 951099"/>
                <a:gd name="connsiteX9" fmla="*/ 1794 w 867584"/>
                <a:gd name="connsiteY9" fmla="*/ 613820 h 951099"/>
                <a:gd name="connsiteX10" fmla="*/ 3588 w 867584"/>
                <a:gd name="connsiteY10" fmla="*/ 583322 h 951099"/>
                <a:gd name="connsiteX11" fmla="*/ 7176 w 867584"/>
                <a:gd name="connsiteY11" fmla="*/ 551029 h 951099"/>
                <a:gd name="connsiteX12" fmla="*/ 14353 w 867584"/>
                <a:gd name="connsiteY12" fmla="*/ 516942 h 951099"/>
                <a:gd name="connsiteX13" fmla="*/ 25117 w 867584"/>
                <a:gd name="connsiteY13" fmla="*/ 479267 h 951099"/>
                <a:gd name="connsiteX14" fmla="*/ 35881 w 867584"/>
                <a:gd name="connsiteY14" fmla="*/ 438005 h 951099"/>
                <a:gd name="connsiteX15" fmla="*/ 52028 w 867584"/>
                <a:gd name="connsiteY15" fmla="*/ 398536 h 951099"/>
                <a:gd name="connsiteX16" fmla="*/ 68174 w 867584"/>
                <a:gd name="connsiteY16" fmla="*/ 351891 h 951099"/>
                <a:gd name="connsiteX17" fmla="*/ 89703 w 867584"/>
                <a:gd name="connsiteY17" fmla="*/ 307040 h 951099"/>
                <a:gd name="connsiteX18" fmla="*/ 97527 w 867584"/>
                <a:gd name="connsiteY18" fmla="*/ 293738 h 951099"/>
                <a:gd name="connsiteX19" fmla="*/ 116613 w 867584"/>
                <a:gd name="connsiteY19" fmla="*/ 258181 h 951099"/>
                <a:gd name="connsiteX20" fmla="*/ 143524 w 867584"/>
                <a:gd name="connsiteY20" fmla="*/ 215210 h 951099"/>
                <a:gd name="connsiteX21" fmla="*/ 172229 w 867584"/>
                <a:gd name="connsiteY21" fmla="*/ 177610 h 951099"/>
                <a:gd name="connsiteX22" fmla="*/ 197346 w 867584"/>
                <a:gd name="connsiteY22" fmla="*/ 141800 h 951099"/>
                <a:gd name="connsiteX23" fmla="*/ 224256 w 867584"/>
                <a:gd name="connsiteY23" fmla="*/ 111362 h 951099"/>
                <a:gd name="connsiteX24" fmla="*/ 249373 w 867584"/>
                <a:gd name="connsiteY24" fmla="*/ 86295 h 951099"/>
                <a:gd name="connsiteX25" fmla="*/ 330241 w 867584"/>
                <a:gd name="connsiteY25" fmla="*/ 61 h 951099"/>
                <a:gd name="connsiteX26" fmla="*/ 867584 w 867584"/>
                <a:gd name="connsiteY26" fmla="*/ 420997 h 951099"/>
                <a:gd name="connsiteX0" fmla="*/ 904274 w 904274"/>
                <a:gd name="connsiteY0" fmla="*/ 410207 h 951100"/>
                <a:gd name="connsiteX1" fmla="*/ 297812 w 904274"/>
                <a:gd name="connsiteY1" fmla="*/ 951100 h 951100"/>
                <a:gd name="connsiteX2" fmla="*/ 5382 w 904274"/>
                <a:gd name="connsiteY2" fmla="*/ 730871 h 951100"/>
                <a:gd name="connsiteX3" fmla="*/ 5382 w 904274"/>
                <a:gd name="connsiteY3" fmla="*/ 730434 h 951100"/>
                <a:gd name="connsiteX4" fmla="*/ 5382 w 904274"/>
                <a:gd name="connsiteY4" fmla="*/ 723709 h 951100"/>
                <a:gd name="connsiteX5" fmla="*/ 1794 w 904274"/>
                <a:gd name="connsiteY5" fmla="*/ 700432 h 951100"/>
                <a:gd name="connsiteX6" fmla="*/ 0 w 904274"/>
                <a:gd name="connsiteY6" fmla="*/ 664623 h 951100"/>
                <a:gd name="connsiteX7" fmla="*/ 12 w 904274"/>
                <a:gd name="connsiteY7" fmla="*/ 664291 h 951100"/>
                <a:gd name="connsiteX8" fmla="*/ 0 w 904274"/>
                <a:gd name="connsiteY8" fmla="*/ 664054 h 951100"/>
                <a:gd name="connsiteX9" fmla="*/ 1794 w 904274"/>
                <a:gd name="connsiteY9" fmla="*/ 613821 h 951100"/>
                <a:gd name="connsiteX10" fmla="*/ 3588 w 904274"/>
                <a:gd name="connsiteY10" fmla="*/ 583323 h 951100"/>
                <a:gd name="connsiteX11" fmla="*/ 7176 w 904274"/>
                <a:gd name="connsiteY11" fmla="*/ 551030 h 951100"/>
                <a:gd name="connsiteX12" fmla="*/ 14353 w 904274"/>
                <a:gd name="connsiteY12" fmla="*/ 516943 h 951100"/>
                <a:gd name="connsiteX13" fmla="*/ 25117 w 904274"/>
                <a:gd name="connsiteY13" fmla="*/ 479268 h 951100"/>
                <a:gd name="connsiteX14" fmla="*/ 35881 w 904274"/>
                <a:gd name="connsiteY14" fmla="*/ 438006 h 951100"/>
                <a:gd name="connsiteX15" fmla="*/ 52028 w 904274"/>
                <a:gd name="connsiteY15" fmla="*/ 398537 h 951100"/>
                <a:gd name="connsiteX16" fmla="*/ 68174 w 904274"/>
                <a:gd name="connsiteY16" fmla="*/ 351892 h 951100"/>
                <a:gd name="connsiteX17" fmla="*/ 89703 w 904274"/>
                <a:gd name="connsiteY17" fmla="*/ 307041 h 951100"/>
                <a:gd name="connsiteX18" fmla="*/ 97527 w 904274"/>
                <a:gd name="connsiteY18" fmla="*/ 293739 h 951100"/>
                <a:gd name="connsiteX19" fmla="*/ 116613 w 904274"/>
                <a:gd name="connsiteY19" fmla="*/ 258182 h 951100"/>
                <a:gd name="connsiteX20" fmla="*/ 143524 w 904274"/>
                <a:gd name="connsiteY20" fmla="*/ 215211 h 951100"/>
                <a:gd name="connsiteX21" fmla="*/ 172229 w 904274"/>
                <a:gd name="connsiteY21" fmla="*/ 177611 h 951100"/>
                <a:gd name="connsiteX22" fmla="*/ 197346 w 904274"/>
                <a:gd name="connsiteY22" fmla="*/ 141801 h 951100"/>
                <a:gd name="connsiteX23" fmla="*/ 224256 w 904274"/>
                <a:gd name="connsiteY23" fmla="*/ 111363 h 951100"/>
                <a:gd name="connsiteX24" fmla="*/ 249373 w 904274"/>
                <a:gd name="connsiteY24" fmla="*/ 86296 h 951100"/>
                <a:gd name="connsiteX25" fmla="*/ 330241 w 904274"/>
                <a:gd name="connsiteY25" fmla="*/ 62 h 951100"/>
                <a:gd name="connsiteX26" fmla="*/ 904274 w 904274"/>
                <a:gd name="connsiteY26" fmla="*/ 410207 h 951100"/>
                <a:gd name="connsiteX0" fmla="*/ 904274 w 904274"/>
                <a:gd name="connsiteY0" fmla="*/ 410207 h 1028796"/>
                <a:gd name="connsiteX1" fmla="*/ 496369 w 904274"/>
                <a:gd name="connsiteY1" fmla="*/ 1028796 h 1028796"/>
                <a:gd name="connsiteX2" fmla="*/ 5382 w 904274"/>
                <a:gd name="connsiteY2" fmla="*/ 730871 h 1028796"/>
                <a:gd name="connsiteX3" fmla="*/ 5382 w 904274"/>
                <a:gd name="connsiteY3" fmla="*/ 730434 h 1028796"/>
                <a:gd name="connsiteX4" fmla="*/ 5382 w 904274"/>
                <a:gd name="connsiteY4" fmla="*/ 723709 h 1028796"/>
                <a:gd name="connsiteX5" fmla="*/ 1794 w 904274"/>
                <a:gd name="connsiteY5" fmla="*/ 700432 h 1028796"/>
                <a:gd name="connsiteX6" fmla="*/ 0 w 904274"/>
                <a:gd name="connsiteY6" fmla="*/ 664623 h 1028796"/>
                <a:gd name="connsiteX7" fmla="*/ 12 w 904274"/>
                <a:gd name="connsiteY7" fmla="*/ 664291 h 1028796"/>
                <a:gd name="connsiteX8" fmla="*/ 0 w 904274"/>
                <a:gd name="connsiteY8" fmla="*/ 664054 h 1028796"/>
                <a:gd name="connsiteX9" fmla="*/ 1794 w 904274"/>
                <a:gd name="connsiteY9" fmla="*/ 613821 h 1028796"/>
                <a:gd name="connsiteX10" fmla="*/ 3588 w 904274"/>
                <a:gd name="connsiteY10" fmla="*/ 583323 h 1028796"/>
                <a:gd name="connsiteX11" fmla="*/ 7176 w 904274"/>
                <a:gd name="connsiteY11" fmla="*/ 551030 h 1028796"/>
                <a:gd name="connsiteX12" fmla="*/ 14353 w 904274"/>
                <a:gd name="connsiteY12" fmla="*/ 516943 h 1028796"/>
                <a:gd name="connsiteX13" fmla="*/ 25117 w 904274"/>
                <a:gd name="connsiteY13" fmla="*/ 479268 h 1028796"/>
                <a:gd name="connsiteX14" fmla="*/ 35881 w 904274"/>
                <a:gd name="connsiteY14" fmla="*/ 438006 h 1028796"/>
                <a:gd name="connsiteX15" fmla="*/ 52028 w 904274"/>
                <a:gd name="connsiteY15" fmla="*/ 398537 h 1028796"/>
                <a:gd name="connsiteX16" fmla="*/ 68174 w 904274"/>
                <a:gd name="connsiteY16" fmla="*/ 351892 h 1028796"/>
                <a:gd name="connsiteX17" fmla="*/ 89703 w 904274"/>
                <a:gd name="connsiteY17" fmla="*/ 307041 h 1028796"/>
                <a:gd name="connsiteX18" fmla="*/ 97527 w 904274"/>
                <a:gd name="connsiteY18" fmla="*/ 293739 h 1028796"/>
                <a:gd name="connsiteX19" fmla="*/ 116613 w 904274"/>
                <a:gd name="connsiteY19" fmla="*/ 258182 h 1028796"/>
                <a:gd name="connsiteX20" fmla="*/ 143524 w 904274"/>
                <a:gd name="connsiteY20" fmla="*/ 215211 h 1028796"/>
                <a:gd name="connsiteX21" fmla="*/ 172229 w 904274"/>
                <a:gd name="connsiteY21" fmla="*/ 177611 h 1028796"/>
                <a:gd name="connsiteX22" fmla="*/ 197346 w 904274"/>
                <a:gd name="connsiteY22" fmla="*/ 141801 h 1028796"/>
                <a:gd name="connsiteX23" fmla="*/ 224256 w 904274"/>
                <a:gd name="connsiteY23" fmla="*/ 111363 h 1028796"/>
                <a:gd name="connsiteX24" fmla="*/ 249373 w 904274"/>
                <a:gd name="connsiteY24" fmla="*/ 86296 h 1028796"/>
                <a:gd name="connsiteX25" fmla="*/ 330241 w 904274"/>
                <a:gd name="connsiteY25" fmla="*/ 62 h 1028796"/>
                <a:gd name="connsiteX26" fmla="*/ 904274 w 904274"/>
                <a:gd name="connsiteY26" fmla="*/ 410207 h 102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04274" h="1028796">
                  <a:moveTo>
                    <a:pt x="904274" y="410207"/>
                  </a:moveTo>
                  <a:lnTo>
                    <a:pt x="496369" y="1028796"/>
                  </a:lnTo>
                  <a:lnTo>
                    <a:pt x="5382" y="730871"/>
                  </a:lnTo>
                  <a:lnTo>
                    <a:pt x="5382" y="730434"/>
                  </a:lnTo>
                  <a:lnTo>
                    <a:pt x="5382" y="723709"/>
                  </a:lnTo>
                  <a:lnTo>
                    <a:pt x="1794" y="700432"/>
                  </a:lnTo>
                  <a:lnTo>
                    <a:pt x="0" y="664623"/>
                  </a:lnTo>
                  <a:cubicBezTo>
                    <a:pt x="4" y="664512"/>
                    <a:pt x="8" y="664402"/>
                    <a:pt x="12" y="664291"/>
                  </a:cubicBezTo>
                  <a:lnTo>
                    <a:pt x="0" y="664054"/>
                  </a:lnTo>
                  <a:lnTo>
                    <a:pt x="1794" y="613821"/>
                  </a:lnTo>
                  <a:lnTo>
                    <a:pt x="3588" y="583323"/>
                  </a:lnTo>
                  <a:lnTo>
                    <a:pt x="7176" y="551030"/>
                  </a:lnTo>
                  <a:lnTo>
                    <a:pt x="14353" y="516943"/>
                  </a:lnTo>
                  <a:lnTo>
                    <a:pt x="25117" y="479268"/>
                  </a:lnTo>
                  <a:lnTo>
                    <a:pt x="35881" y="438006"/>
                  </a:lnTo>
                  <a:lnTo>
                    <a:pt x="52028" y="398537"/>
                  </a:lnTo>
                  <a:lnTo>
                    <a:pt x="68174" y="351892"/>
                  </a:lnTo>
                  <a:lnTo>
                    <a:pt x="89703" y="307041"/>
                  </a:lnTo>
                  <a:lnTo>
                    <a:pt x="97527" y="293739"/>
                  </a:lnTo>
                  <a:lnTo>
                    <a:pt x="116613" y="258182"/>
                  </a:lnTo>
                  <a:lnTo>
                    <a:pt x="143524" y="215211"/>
                  </a:lnTo>
                  <a:lnTo>
                    <a:pt x="172229" y="177611"/>
                  </a:lnTo>
                  <a:lnTo>
                    <a:pt x="197346" y="141801"/>
                  </a:lnTo>
                  <a:lnTo>
                    <a:pt x="224256" y="111363"/>
                  </a:lnTo>
                  <a:lnTo>
                    <a:pt x="249373" y="86296"/>
                  </a:lnTo>
                  <a:lnTo>
                    <a:pt x="330241" y="62"/>
                  </a:lnTo>
                  <a:cubicBezTo>
                    <a:pt x="337417" y="-5906"/>
                    <a:pt x="897098" y="416175"/>
                    <a:pt x="904274" y="410207"/>
                  </a:cubicBezTo>
                  <a:close/>
                </a:path>
              </a:pathLst>
            </a:custGeom>
            <a:solidFill>
              <a:schemeClr val="tx1"/>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grpSp>
      <p:sp>
        <p:nvSpPr>
          <p:cNvPr id="69" name="íṥľïḋ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20CD7B5-5542-4703-9436-39142946E1D0}"/>
              </a:ext>
            </a:extLst>
          </p:cNvPr>
          <p:cNvSpPr/>
          <p:nvPr/>
        </p:nvSpPr>
        <p:spPr bwMode="auto">
          <a:xfrm>
            <a:off x="1932527" y="3068841"/>
            <a:ext cx="909075" cy="20145"/>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70" name="î$1id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5F9E340E-7533-46CB-B89F-C1694865E6E6}"/>
              </a:ext>
            </a:extLst>
          </p:cNvPr>
          <p:cNvSpPr/>
          <p:nvPr/>
        </p:nvSpPr>
        <p:spPr bwMode="auto">
          <a:xfrm>
            <a:off x="1856980" y="3411317"/>
            <a:ext cx="977066" cy="20145"/>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71" name="iŝľíḑ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CDE36914-FC63-49F8-9573-D66916FCABBD}"/>
              </a:ext>
            </a:extLst>
          </p:cNvPr>
          <p:cNvSpPr/>
          <p:nvPr/>
        </p:nvSpPr>
        <p:spPr bwMode="auto">
          <a:xfrm>
            <a:off x="1773880" y="3778975"/>
            <a:ext cx="1060168" cy="20145"/>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72" name="iṡľïď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780B2A9-8734-40DC-8413-6400D659FE50}"/>
              </a:ext>
            </a:extLst>
          </p:cNvPr>
          <p:cNvSpPr/>
          <p:nvPr/>
        </p:nvSpPr>
        <p:spPr bwMode="auto">
          <a:xfrm>
            <a:off x="2886929" y="3904886"/>
            <a:ext cx="264413" cy="246784"/>
          </a:xfrm>
          <a:custGeom>
            <a:avLst/>
            <a:gdLst>
              <a:gd name="T0" fmla="*/ 197 w 210"/>
              <a:gd name="T1" fmla="*/ 195 h 195"/>
              <a:gd name="T2" fmla="*/ 17 w 210"/>
              <a:gd name="T3" fmla="*/ 195 h 195"/>
              <a:gd name="T4" fmla="*/ 0 w 210"/>
              <a:gd name="T5" fmla="*/ 13 h 195"/>
              <a:gd name="T6" fmla="*/ 210 w 210"/>
              <a:gd name="T7" fmla="*/ 0 h 195"/>
              <a:gd name="T8" fmla="*/ 197 w 210"/>
              <a:gd name="T9" fmla="*/ 195 h 195"/>
              <a:gd name="T10" fmla="*/ 31 w 210"/>
              <a:gd name="T11" fmla="*/ 178 h 195"/>
              <a:gd name="T12" fmla="*/ 183 w 210"/>
              <a:gd name="T13" fmla="*/ 178 h 195"/>
              <a:gd name="T14" fmla="*/ 194 w 210"/>
              <a:gd name="T15" fmla="*/ 18 h 195"/>
              <a:gd name="T16" fmla="*/ 17 w 210"/>
              <a:gd name="T17" fmla="*/ 29 h 195"/>
              <a:gd name="T18" fmla="*/ 31 w 210"/>
              <a:gd name="T19" fmla="*/ 17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0" h="195">
                <a:moveTo>
                  <a:pt x="197" y="195"/>
                </a:moveTo>
                <a:lnTo>
                  <a:pt x="17" y="195"/>
                </a:lnTo>
                <a:lnTo>
                  <a:pt x="0" y="13"/>
                </a:lnTo>
                <a:lnTo>
                  <a:pt x="210" y="0"/>
                </a:lnTo>
                <a:lnTo>
                  <a:pt x="197" y="195"/>
                </a:lnTo>
                <a:close/>
                <a:moveTo>
                  <a:pt x="31" y="178"/>
                </a:moveTo>
                <a:lnTo>
                  <a:pt x="183" y="178"/>
                </a:lnTo>
                <a:lnTo>
                  <a:pt x="194" y="18"/>
                </a:lnTo>
                <a:lnTo>
                  <a:pt x="17" y="29"/>
                </a:lnTo>
                <a:lnTo>
                  <a:pt x="31" y="178"/>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73" name="ïşľïd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8F623A2E-2B0E-42D9-9F58-F191A20309F0}"/>
              </a:ext>
            </a:extLst>
          </p:cNvPr>
          <p:cNvSpPr/>
          <p:nvPr/>
        </p:nvSpPr>
        <p:spPr bwMode="auto">
          <a:xfrm>
            <a:off x="1713442" y="4121453"/>
            <a:ext cx="1120604" cy="22664"/>
          </a:xfrm>
          <a:prstGeom prst="rect">
            <a:avLst/>
          </a:pr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grpSp>
        <p:nvGrpSpPr>
          <p:cNvPr id="74" name="îṡḷiḋ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9AEAF75F-C49D-4BD0-A8AD-504E4908BD1E}"/>
              </a:ext>
            </a:extLst>
          </p:cNvPr>
          <p:cNvGrpSpPr/>
          <p:nvPr/>
        </p:nvGrpSpPr>
        <p:grpSpPr>
          <a:xfrm>
            <a:off x="1091445" y="4244850"/>
            <a:ext cx="1709866" cy="876247"/>
            <a:chOff x="697036" y="3978532"/>
            <a:chExt cx="1709866" cy="1248551"/>
          </a:xfrm>
        </p:grpSpPr>
        <p:sp>
          <p:nvSpPr>
            <p:cNvPr id="75" name="iṧ1iḋ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A96E048B-720A-4095-8BE7-A35942B3E511}"/>
                </a:ext>
              </a:extLst>
            </p:cNvPr>
            <p:cNvSpPr/>
            <p:nvPr/>
          </p:nvSpPr>
          <p:spPr bwMode="auto">
            <a:xfrm>
              <a:off x="1706839" y="3985708"/>
              <a:ext cx="503642" cy="337287"/>
            </a:xfrm>
            <a:custGeom>
              <a:avLst/>
              <a:gdLst>
                <a:gd name="T0" fmla="*/ 0 w 401"/>
                <a:gd name="T1" fmla="*/ 4 h 189"/>
                <a:gd name="T2" fmla="*/ 12 w 401"/>
                <a:gd name="T3" fmla="*/ 0 h 189"/>
                <a:gd name="T4" fmla="*/ 22 w 401"/>
                <a:gd name="T5" fmla="*/ 3 h 189"/>
                <a:gd name="T6" fmla="*/ 59 w 401"/>
                <a:gd name="T7" fmla="*/ 22 h 189"/>
                <a:gd name="T8" fmla="*/ 76 w 401"/>
                <a:gd name="T9" fmla="*/ 29 h 189"/>
                <a:gd name="T10" fmla="*/ 113 w 401"/>
                <a:gd name="T11" fmla="*/ 42 h 189"/>
                <a:gd name="T12" fmla="*/ 159 w 401"/>
                <a:gd name="T13" fmla="*/ 53 h 189"/>
                <a:gd name="T14" fmla="*/ 207 w 401"/>
                <a:gd name="T15" fmla="*/ 57 h 189"/>
                <a:gd name="T16" fmla="*/ 233 w 401"/>
                <a:gd name="T17" fmla="*/ 56 h 189"/>
                <a:gd name="T18" fmla="*/ 239 w 401"/>
                <a:gd name="T19" fmla="*/ 57 h 189"/>
                <a:gd name="T20" fmla="*/ 249 w 401"/>
                <a:gd name="T21" fmla="*/ 66 h 189"/>
                <a:gd name="T22" fmla="*/ 264 w 401"/>
                <a:gd name="T23" fmla="*/ 82 h 189"/>
                <a:gd name="T24" fmla="*/ 289 w 401"/>
                <a:gd name="T25" fmla="*/ 103 h 189"/>
                <a:gd name="T26" fmla="*/ 307 w 401"/>
                <a:gd name="T27" fmla="*/ 112 h 189"/>
                <a:gd name="T28" fmla="*/ 365 w 401"/>
                <a:gd name="T29" fmla="*/ 137 h 189"/>
                <a:gd name="T30" fmla="*/ 395 w 401"/>
                <a:gd name="T31" fmla="*/ 144 h 189"/>
                <a:gd name="T32" fmla="*/ 397 w 401"/>
                <a:gd name="T33" fmla="*/ 146 h 189"/>
                <a:gd name="T34" fmla="*/ 401 w 401"/>
                <a:gd name="T35" fmla="*/ 152 h 189"/>
                <a:gd name="T36" fmla="*/ 400 w 401"/>
                <a:gd name="T37" fmla="*/ 160 h 189"/>
                <a:gd name="T38" fmla="*/ 396 w 401"/>
                <a:gd name="T39" fmla="*/ 170 h 189"/>
                <a:gd name="T40" fmla="*/ 390 w 401"/>
                <a:gd name="T41" fmla="*/ 177 h 189"/>
                <a:gd name="T42" fmla="*/ 379 w 401"/>
                <a:gd name="T43" fmla="*/ 184 h 189"/>
                <a:gd name="T44" fmla="*/ 366 w 401"/>
                <a:gd name="T45" fmla="*/ 188 h 189"/>
                <a:gd name="T46" fmla="*/ 350 w 401"/>
                <a:gd name="T47" fmla="*/ 188 h 189"/>
                <a:gd name="T48" fmla="*/ 341 w 401"/>
                <a:gd name="T49" fmla="*/ 187 h 189"/>
                <a:gd name="T50" fmla="*/ 304 w 401"/>
                <a:gd name="T51" fmla="*/ 177 h 189"/>
                <a:gd name="T52" fmla="*/ 269 w 401"/>
                <a:gd name="T53" fmla="*/ 163 h 189"/>
                <a:gd name="T54" fmla="*/ 254 w 401"/>
                <a:gd name="T55" fmla="*/ 153 h 189"/>
                <a:gd name="T56" fmla="*/ 241 w 401"/>
                <a:gd name="T57" fmla="*/ 141 h 189"/>
                <a:gd name="T58" fmla="*/ 230 w 401"/>
                <a:gd name="T59" fmla="*/ 124 h 189"/>
                <a:gd name="T60" fmla="*/ 222 w 401"/>
                <a:gd name="T61" fmla="*/ 105 h 189"/>
                <a:gd name="T62" fmla="*/ 183 w 401"/>
                <a:gd name="T63" fmla="*/ 109 h 189"/>
                <a:gd name="T64" fmla="*/ 143 w 401"/>
                <a:gd name="T65" fmla="*/ 109 h 189"/>
                <a:gd name="T66" fmla="*/ 101 w 401"/>
                <a:gd name="T67" fmla="*/ 103 h 189"/>
                <a:gd name="T68" fmla="*/ 60 w 401"/>
                <a:gd name="T69" fmla="*/ 89 h 189"/>
                <a:gd name="T70" fmla="*/ 51 w 401"/>
                <a:gd name="T71" fmla="*/ 85 h 189"/>
                <a:gd name="T72" fmla="*/ 35 w 401"/>
                <a:gd name="T73" fmla="*/ 72 h 189"/>
                <a:gd name="T74" fmla="*/ 23 w 401"/>
                <a:gd name="T75" fmla="*/ 59 h 189"/>
                <a:gd name="T76" fmla="*/ 11 w 401"/>
                <a:gd name="T77" fmla="*/ 38 h 189"/>
                <a:gd name="T78" fmla="*/ 3 w 401"/>
                <a:gd name="T79" fmla="*/ 14 h 189"/>
                <a:gd name="T80" fmla="*/ 0 w 401"/>
                <a:gd name="T81" fmla="*/ 4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1" h="189">
                  <a:moveTo>
                    <a:pt x="0" y="4"/>
                  </a:moveTo>
                  <a:lnTo>
                    <a:pt x="0" y="4"/>
                  </a:lnTo>
                  <a:lnTo>
                    <a:pt x="7" y="1"/>
                  </a:lnTo>
                  <a:lnTo>
                    <a:pt x="12" y="0"/>
                  </a:lnTo>
                  <a:lnTo>
                    <a:pt x="17" y="0"/>
                  </a:lnTo>
                  <a:lnTo>
                    <a:pt x="22" y="3"/>
                  </a:lnTo>
                  <a:lnTo>
                    <a:pt x="36" y="10"/>
                  </a:lnTo>
                  <a:lnTo>
                    <a:pt x="59" y="22"/>
                  </a:lnTo>
                  <a:lnTo>
                    <a:pt x="59" y="22"/>
                  </a:lnTo>
                  <a:lnTo>
                    <a:pt x="76" y="29"/>
                  </a:lnTo>
                  <a:lnTo>
                    <a:pt x="94" y="36"/>
                  </a:lnTo>
                  <a:lnTo>
                    <a:pt x="113" y="42"/>
                  </a:lnTo>
                  <a:lnTo>
                    <a:pt x="135" y="48"/>
                  </a:lnTo>
                  <a:lnTo>
                    <a:pt x="159" y="53"/>
                  </a:lnTo>
                  <a:lnTo>
                    <a:pt x="183" y="56"/>
                  </a:lnTo>
                  <a:lnTo>
                    <a:pt x="207" y="57"/>
                  </a:lnTo>
                  <a:lnTo>
                    <a:pt x="233" y="56"/>
                  </a:lnTo>
                  <a:lnTo>
                    <a:pt x="233" y="56"/>
                  </a:lnTo>
                  <a:lnTo>
                    <a:pt x="236" y="56"/>
                  </a:lnTo>
                  <a:lnTo>
                    <a:pt x="239" y="57"/>
                  </a:lnTo>
                  <a:lnTo>
                    <a:pt x="245" y="60"/>
                  </a:lnTo>
                  <a:lnTo>
                    <a:pt x="249" y="66"/>
                  </a:lnTo>
                  <a:lnTo>
                    <a:pt x="255" y="74"/>
                  </a:lnTo>
                  <a:lnTo>
                    <a:pt x="264" y="82"/>
                  </a:lnTo>
                  <a:lnTo>
                    <a:pt x="275" y="92"/>
                  </a:lnTo>
                  <a:lnTo>
                    <a:pt x="289" y="103"/>
                  </a:lnTo>
                  <a:lnTo>
                    <a:pt x="307" y="112"/>
                  </a:lnTo>
                  <a:lnTo>
                    <a:pt x="307" y="112"/>
                  </a:lnTo>
                  <a:lnTo>
                    <a:pt x="342" y="128"/>
                  </a:lnTo>
                  <a:lnTo>
                    <a:pt x="365" y="137"/>
                  </a:lnTo>
                  <a:lnTo>
                    <a:pt x="382" y="141"/>
                  </a:lnTo>
                  <a:lnTo>
                    <a:pt x="395" y="144"/>
                  </a:lnTo>
                  <a:lnTo>
                    <a:pt x="395" y="144"/>
                  </a:lnTo>
                  <a:lnTo>
                    <a:pt x="397" y="146"/>
                  </a:lnTo>
                  <a:lnTo>
                    <a:pt x="400" y="148"/>
                  </a:lnTo>
                  <a:lnTo>
                    <a:pt x="401" y="152"/>
                  </a:lnTo>
                  <a:lnTo>
                    <a:pt x="401" y="157"/>
                  </a:lnTo>
                  <a:lnTo>
                    <a:pt x="400" y="160"/>
                  </a:lnTo>
                  <a:lnTo>
                    <a:pt x="399" y="165"/>
                  </a:lnTo>
                  <a:lnTo>
                    <a:pt x="396" y="170"/>
                  </a:lnTo>
                  <a:lnTo>
                    <a:pt x="394" y="174"/>
                  </a:lnTo>
                  <a:lnTo>
                    <a:pt x="390" y="177"/>
                  </a:lnTo>
                  <a:lnTo>
                    <a:pt x="385" y="181"/>
                  </a:lnTo>
                  <a:lnTo>
                    <a:pt x="379" y="184"/>
                  </a:lnTo>
                  <a:lnTo>
                    <a:pt x="373" y="187"/>
                  </a:lnTo>
                  <a:lnTo>
                    <a:pt x="366" y="188"/>
                  </a:lnTo>
                  <a:lnTo>
                    <a:pt x="359" y="189"/>
                  </a:lnTo>
                  <a:lnTo>
                    <a:pt x="350" y="188"/>
                  </a:lnTo>
                  <a:lnTo>
                    <a:pt x="341" y="187"/>
                  </a:lnTo>
                  <a:lnTo>
                    <a:pt x="341" y="187"/>
                  </a:lnTo>
                  <a:lnTo>
                    <a:pt x="322" y="182"/>
                  </a:lnTo>
                  <a:lnTo>
                    <a:pt x="304" y="177"/>
                  </a:lnTo>
                  <a:lnTo>
                    <a:pt x="285" y="171"/>
                  </a:lnTo>
                  <a:lnTo>
                    <a:pt x="269" y="163"/>
                  </a:lnTo>
                  <a:lnTo>
                    <a:pt x="261" y="158"/>
                  </a:lnTo>
                  <a:lnTo>
                    <a:pt x="254" y="153"/>
                  </a:lnTo>
                  <a:lnTo>
                    <a:pt x="247" y="147"/>
                  </a:lnTo>
                  <a:lnTo>
                    <a:pt x="241" y="141"/>
                  </a:lnTo>
                  <a:lnTo>
                    <a:pt x="235" y="133"/>
                  </a:lnTo>
                  <a:lnTo>
                    <a:pt x="230" y="124"/>
                  </a:lnTo>
                  <a:lnTo>
                    <a:pt x="225" y="116"/>
                  </a:lnTo>
                  <a:lnTo>
                    <a:pt x="222" y="105"/>
                  </a:lnTo>
                  <a:lnTo>
                    <a:pt x="222" y="105"/>
                  </a:lnTo>
                  <a:lnTo>
                    <a:pt x="183" y="109"/>
                  </a:lnTo>
                  <a:lnTo>
                    <a:pt x="164" y="109"/>
                  </a:lnTo>
                  <a:lnTo>
                    <a:pt x="143" y="109"/>
                  </a:lnTo>
                  <a:lnTo>
                    <a:pt x="122" y="106"/>
                  </a:lnTo>
                  <a:lnTo>
                    <a:pt x="101" y="103"/>
                  </a:lnTo>
                  <a:lnTo>
                    <a:pt x="81" y="98"/>
                  </a:lnTo>
                  <a:lnTo>
                    <a:pt x="60" y="89"/>
                  </a:lnTo>
                  <a:lnTo>
                    <a:pt x="60" y="89"/>
                  </a:lnTo>
                  <a:lnTo>
                    <a:pt x="51" y="85"/>
                  </a:lnTo>
                  <a:lnTo>
                    <a:pt x="42" y="79"/>
                  </a:lnTo>
                  <a:lnTo>
                    <a:pt x="35" y="72"/>
                  </a:lnTo>
                  <a:lnTo>
                    <a:pt x="29" y="66"/>
                  </a:lnTo>
                  <a:lnTo>
                    <a:pt x="23" y="59"/>
                  </a:lnTo>
                  <a:lnTo>
                    <a:pt x="18" y="52"/>
                  </a:lnTo>
                  <a:lnTo>
                    <a:pt x="11" y="38"/>
                  </a:lnTo>
                  <a:lnTo>
                    <a:pt x="5" y="24"/>
                  </a:lnTo>
                  <a:lnTo>
                    <a:pt x="3" y="14"/>
                  </a:lnTo>
                  <a:lnTo>
                    <a:pt x="0" y="4"/>
                  </a:lnTo>
                  <a:lnTo>
                    <a:pt x="0" y="4"/>
                  </a:lnTo>
                  <a:close/>
                </a:path>
              </a:pathLst>
            </a:custGeom>
            <a:solidFill>
              <a:srgbClr val="E8AD8B"/>
            </a:solidFill>
            <a:ln>
              <a:noFill/>
            </a:ln>
          </p:spPr>
          <p:txBody>
            <a:bodyPr vert="horz" wrap="square" lIns="91440" tIns="45720" rIns="91440" bIns="45720" numCol="1" anchor="t" anchorCtr="0" compatLnSpc="1">
              <a:prstTxWarp prst="textNoShape">
                <a:avLst/>
              </a:prstTxWarp>
              <a:normAutofit lnSpcReduction="10000"/>
            </a:bodyPr>
            <a:lstStyle/>
            <a:p>
              <a:endParaRPr lang="en-US" dirty="0">
                <a:latin typeface="Arial" panose="020B0604020202020204" pitchFamily="34" charset="0"/>
                <a:ea typeface="+mn-ea"/>
              </a:endParaRPr>
            </a:p>
          </p:txBody>
        </p:sp>
        <p:sp>
          <p:nvSpPr>
            <p:cNvPr id="76" name="iṣlíď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9430DC6-C95F-4882-B83B-4188282CDC6B}"/>
                </a:ext>
              </a:extLst>
            </p:cNvPr>
            <p:cNvSpPr/>
            <p:nvPr/>
          </p:nvSpPr>
          <p:spPr bwMode="auto">
            <a:xfrm>
              <a:off x="697036" y="4287114"/>
              <a:ext cx="1709866" cy="807338"/>
            </a:xfrm>
            <a:custGeom>
              <a:avLst/>
              <a:gdLst>
                <a:gd name="T0" fmla="*/ 1336 w 1357"/>
                <a:gd name="T1" fmla="*/ 189 h 450"/>
                <a:gd name="T2" fmla="*/ 1322 w 1357"/>
                <a:gd name="T3" fmla="*/ 155 h 450"/>
                <a:gd name="T4" fmla="*/ 1307 w 1357"/>
                <a:gd name="T5" fmla="*/ 136 h 450"/>
                <a:gd name="T6" fmla="*/ 1297 w 1357"/>
                <a:gd name="T7" fmla="*/ 131 h 450"/>
                <a:gd name="T8" fmla="*/ 1284 w 1357"/>
                <a:gd name="T9" fmla="*/ 121 h 450"/>
                <a:gd name="T10" fmla="*/ 1272 w 1357"/>
                <a:gd name="T11" fmla="*/ 94 h 450"/>
                <a:gd name="T12" fmla="*/ 1255 w 1357"/>
                <a:gd name="T13" fmla="*/ 62 h 450"/>
                <a:gd name="T14" fmla="*/ 1238 w 1357"/>
                <a:gd name="T15" fmla="*/ 47 h 450"/>
                <a:gd name="T16" fmla="*/ 1212 w 1357"/>
                <a:gd name="T17" fmla="*/ 38 h 450"/>
                <a:gd name="T18" fmla="*/ 1137 w 1357"/>
                <a:gd name="T19" fmla="*/ 23 h 450"/>
                <a:gd name="T20" fmla="*/ 1032 w 1357"/>
                <a:gd name="T21" fmla="*/ 8 h 450"/>
                <a:gd name="T22" fmla="*/ 911 w 1357"/>
                <a:gd name="T23" fmla="*/ 1 h 450"/>
                <a:gd name="T24" fmla="*/ 786 w 1357"/>
                <a:gd name="T25" fmla="*/ 2 h 450"/>
                <a:gd name="T26" fmla="*/ 707 w 1357"/>
                <a:gd name="T27" fmla="*/ 12 h 450"/>
                <a:gd name="T28" fmla="*/ 571 w 1357"/>
                <a:gd name="T29" fmla="*/ 42 h 450"/>
                <a:gd name="T30" fmla="*/ 301 w 1357"/>
                <a:gd name="T31" fmla="*/ 115 h 450"/>
                <a:gd name="T32" fmla="*/ 38 w 1357"/>
                <a:gd name="T33" fmla="*/ 192 h 450"/>
                <a:gd name="T34" fmla="*/ 0 w 1357"/>
                <a:gd name="T35" fmla="*/ 450 h 450"/>
                <a:gd name="T36" fmla="*/ 130 w 1357"/>
                <a:gd name="T37" fmla="*/ 438 h 450"/>
                <a:gd name="T38" fmla="*/ 227 w 1357"/>
                <a:gd name="T39" fmla="*/ 438 h 450"/>
                <a:gd name="T40" fmla="*/ 258 w 1357"/>
                <a:gd name="T41" fmla="*/ 429 h 450"/>
                <a:gd name="T42" fmla="*/ 305 w 1357"/>
                <a:gd name="T43" fmla="*/ 410 h 450"/>
                <a:gd name="T44" fmla="*/ 351 w 1357"/>
                <a:gd name="T45" fmla="*/ 387 h 450"/>
                <a:gd name="T46" fmla="*/ 384 w 1357"/>
                <a:gd name="T47" fmla="*/ 383 h 450"/>
                <a:gd name="T48" fmla="*/ 410 w 1357"/>
                <a:gd name="T49" fmla="*/ 384 h 450"/>
                <a:gd name="T50" fmla="*/ 518 w 1357"/>
                <a:gd name="T51" fmla="*/ 405 h 450"/>
                <a:gd name="T52" fmla="*/ 600 w 1357"/>
                <a:gd name="T53" fmla="*/ 419 h 450"/>
                <a:gd name="T54" fmla="*/ 659 w 1357"/>
                <a:gd name="T55" fmla="*/ 419 h 450"/>
                <a:gd name="T56" fmla="*/ 712 w 1357"/>
                <a:gd name="T57" fmla="*/ 405 h 450"/>
                <a:gd name="T58" fmla="*/ 768 w 1357"/>
                <a:gd name="T59" fmla="*/ 396 h 450"/>
                <a:gd name="T60" fmla="*/ 964 w 1357"/>
                <a:gd name="T61" fmla="*/ 370 h 450"/>
                <a:gd name="T62" fmla="*/ 1008 w 1357"/>
                <a:gd name="T63" fmla="*/ 356 h 450"/>
                <a:gd name="T64" fmla="*/ 1023 w 1357"/>
                <a:gd name="T65" fmla="*/ 344 h 450"/>
                <a:gd name="T66" fmla="*/ 1025 w 1357"/>
                <a:gd name="T67" fmla="*/ 336 h 450"/>
                <a:gd name="T68" fmla="*/ 1031 w 1357"/>
                <a:gd name="T69" fmla="*/ 324 h 450"/>
                <a:gd name="T70" fmla="*/ 1067 w 1357"/>
                <a:gd name="T71" fmla="*/ 310 h 450"/>
                <a:gd name="T72" fmla="*/ 1165 w 1357"/>
                <a:gd name="T73" fmla="*/ 296 h 450"/>
                <a:gd name="T74" fmla="*/ 1273 w 1357"/>
                <a:gd name="T75" fmla="*/ 280 h 450"/>
                <a:gd name="T76" fmla="*/ 1333 w 1357"/>
                <a:gd name="T77" fmla="*/ 261 h 450"/>
                <a:gd name="T78" fmla="*/ 1345 w 1357"/>
                <a:gd name="T79" fmla="*/ 253 h 450"/>
                <a:gd name="T80" fmla="*/ 1356 w 1357"/>
                <a:gd name="T81" fmla="*/ 234 h 450"/>
                <a:gd name="T82" fmla="*/ 1357 w 1357"/>
                <a:gd name="T83" fmla="*/ 220 h 450"/>
                <a:gd name="T84" fmla="*/ 1343 w 1357"/>
                <a:gd name="T85" fmla="*/ 202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57" h="450">
                  <a:moveTo>
                    <a:pt x="1337" y="198"/>
                  </a:moveTo>
                  <a:lnTo>
                    <a:pt x="1337" y="198"/>
                  </a:lnTo>
                  <a:lnTo>
                    <a:pt x="1336" y="189"/>
                  </a:lnTo>
                  <a:lnTo>
                    <a:pt x="1332" y="179"/>
                  </a:lnTo>
                  <a:lnTo>
                    <a:pt x="1328" y="167"/>
                  </a:lnTo>
                  <a:lnTo>
                    <a:pt x="1322" y="155"/>
                  </a:lnTo>
                  <a:lnTo>
                    <a:pt x="1315" y="144"/>
                  </a:lnTo>
                  <a:lnTo>
                    <a:pt x="1312" y="139"/>
                  </a:lnTo>
                  <a:lnTo>
                    <a:pt x="1307" y="136"/>
                  </a:lnTo>
                  <a:lnTo>
                    <a:pt x="1302" y="133"/>
                  </a:lnTo>
                  <a:lnTo>
                    <a:pt x="1297" y="131"/>
                  </a:lnTo>
                  <a:lnTo>
                    <a:pt x="1297" y="131"/>
                  </a:lnTo>
                  <a:lnTo>
                    <a:pt x="1292" y="129"/>
                  </a:lnTo>
                  <a:lnTo>
                    <a:pt x="1287" y="126"/>
                  </a:lnTo>
                  <a:lnTo>
                    <a:pt x="1284" y="121"/>
                  </a:lnTo>
                  <a:lnTo>
                    <a:pt x="1280" y="118"/>
                  </a:lnTo>
                  <a:lnTo>
                    <a:pt x="1275" y="107"/>
                  </a:lnTo>
                  <a:lnTo>
                    <a:pt x="1272" y="94"/>
                  </a:lnTo>
                  <a:lnTo>
                    <a:pt x="1266" y="80"/>
                  </a:lnTo>
                  <a:lnTo>
                    <a:pt x="1260" y="68"/>
                  </a:lnTo>
                  <a:lnTo>
                    <a:pt x="1255" y="62"/>
                  </a:lnTo>
                  <a:lnTo>
                    <a:pt x="1250" y="56"/>
                  </a:lnTo>
                  <a:lnTo>
                    <a:pt x="1244" y="52"/>
                  </a:lnTo>
                  <a:lnTo>
                    <a:pt x="1238" y="47"/>
                  </a:lnTo>
                  <a:lnTo>
                    <a:pt x="1238" y="47"/>
                  </a:lnTo>
                  <a:lnTo>
                    <a:pt x="1227" y="43"/>
                  </a:lnTo>
                  <a:lnTo>
                    <a:pt x="1212" y="38"/>
                  </a:lnTo>
                  <a:lnTo>
                    <a:pt x="1191" y="33"/>
                  </a:lnTo>
                  <a:lnTo>
                    <a:pt x="1166" y="27"/>
                  </a:lnTo>
                  <a:lnTo>
                    <a:pt x="1137" y="23"/>
                  </a:lnTo>
                  <a:lnTo>
                    <a:pt x="1106" y="18"/>
                  </a:lnTo>
                  <a:lnTo>
                    <a:pt x="1070" y="13"/>
                  </a:lnTo>
                  <a:lnTo>
                    <a:pt x="1032" y="8"/>
                  </a:lnTo>
                  <a:lnTo>
                    <a:pt x="994" y="5"/>
                  </a:lnTo>
                  <a:lnTo>
                    <a:pt x="953" y="2"/>
                  </a:lnTo>
                  <a:lnTo>
                    <a:pt x="911" y="1"/>
                  </a:lnTo>
                  <a:lnTo>
                    <a:pt x="870" y="0"/>
                  </a:lnTo>
                  <a:lnTo>
                    <a:pt x="828" y="1"/>
                  </a:lnTo>
                  <a:lnTo>
                    <a:pt x="786" y="2"/>
                  </a:lnTo>
                  <a:lnTo>
                    <a:pt x="746" y="7"/>
                  </a:lnTo>
                  <a:lnTo>
                    <a:pt x="707" y="12"/>
                  </a:lnTo>
                  <a:lnTo>
                    <a:pt x="707" y="12"/>
                  </a:lnTo>
                  <a:lnTo>
                    <a:pt x="666" y="20"/>
                  </a:lnTo>
                  <a:lnTo>
                    <a:pt x="621" y="30"/>
                  </a:lnTo>
                  <a:lnTo>
                    <a:pt x="571" y="42"/>
                  </a:lnTo>
                  <a:lnTo>
                    <a:pt x="518" y="55"/>
                  </a:lnTo>
                  <a:lnTo>
                    <a:pt x="410" y="85"/>
                  </a:lnTo>
                  <a:lnTo>
                    <a:pt x="301" y="115"/>
                  </a:lnTo>
                  <a:lnTo>
                    <a:pt x="119" y="169"/>
                  </a:lnTo>
                  <a:lnTo>
                    <a:pt x="62" y="186"/>
                  </a:lnTo>
                  <a:lnTo>
                    <a:pt x="38" y="192"/>
                  </a:lnTo>
                  <a:lnTo>
                    <a:pt x="38" y="192"/>
                  </a:lnTo>
                  <a:lnTo>
                    <a:pt x="0" y="198"/>
                  </a:lnTo>
                  <a:lnTo>
                    <a:pt x="0" y="450"/>
                  </a:lnTo>
                  <a:lnTo>
                    <a:pt x="0" y="450"/>
                  </a:lnTo>
                  <a:lnTo>
                    <a:pt x="66" y="443"/>
                  </a:lnTo>
                  <a:lnTo>
                    <a:pt x="130" y="438"/>
                  </a:lnTo>
                  <a:lnTo>
                    <a:pt x="185" y="437"/>
                  </a:lnTo>
                  <a:lnTo>
                    <a:pt x="208" y="437"/>
                  </a:lnTo>
                  <a:lnTo>
                    <a:pt x="227" y="438"/>
                  </a:lnTo>
                  <a:lnTo>
                    <a:pt x="227" y="438"/>
                  </a:lnTo>
                  <a:lnTo>
                    <a:pt x="244" y="434"/>
                  </a:lnTo>
                  <a:lnTo>
                    <a:pt x="258" y="429"/>
                  </a:lnTo>
                  <a:lnTo>
                    <a:pt x="273" y="425"/>
                  </a:lnTo>
                  <a:lnTo>
                    <a:pt x="285" y="420"/>
                  </a:lnTo>
                  <a:lnTo>
                    <a:pt x="305" y="410"/>
                  </a:lnTo>
                  <a:lnTo>
                    <a:pt x="323" y="399"/>
                  </a:lnTo>
                  <a:lnTo>
                    <a:pt x="341" y="391"/>
                  </a:lnTo>
                  <a:lnTo>
                    <a:pt x="351" y="387"/>
                  </a:lnTo>
                  <a:lnTo>
                    <a:pt x="361" y="385"/>
                  </a:lnTo>
                  <a:lnTo>
                    <a:pt x="372" y="384"/>
                  </a:lnTo>
                  <a:lnTo>
                    <a:pt x="384" y="383"/>
                  </a:lnTo>
                  <a:lnTo>
                    <a:pt x="396" y="383"/>
                  </a:lnTo>
                  <a:lnTo>
                    <a:pt x="410" y="384"/>
                  </a:lnTo>
                  <a:lnTo>
                    <a:pt x="410" y="384"/>
                  </a:lnTo>
                  <a:lnTo>
                    <a:pt x="443" y="390"/>
                  </a:lnTo>
                  <a:lnTo>
                    <a:pt x="480" y="397"/>
                  </a:lnTo>
                  <a:lnTo>
                    <a:pt x="518" y="405"/>
                  </a:lnTo>
                  <a:lnTo>
                    <a:pt x="559" y="413"/>
                  </a:lnTo>
                  <a:lnTo>
                    <a:pt x="580" y="416"/>
                  </a:lnTo>
                  <a:lnTo>
                    <a:pt x="600" y="419"/>
                  </a:lnTo>
                  <a:lnTo>
                    <a:pt x="621" y="420"/>
                  </a:lnTo>
                  <a:lnTo>
                    <a:pt x="640" y="420"/>
                  </a:lnTo>
                  <a:lnTo>
                    <a:pt x="659" y="419"/>
                  </a:lnTo>
                  <a:lnTo>
                    <a:pt x="677" y="416"/>
                  </a:lnTo>
                  <a:lnTo>
                    <a:pt x="695" y="411"/>
                  </a:lnTo>
                  <a:lnTo>
                    <a:pt x="712" y="405"/>
                  </a:lnTo>
                  <a:lnTo>
                    <a:pt x="712" y="405"/>
                  </a:lnTo>
                  <a:lnTo>
                    <a:pt x="740" y="401"/>
                  </a:lnTo>
                  <a:lnTo>
                    <a:pt x="768" y="396"/>
                  </a:lnTo>
                  <a:lnTo>
                    <a:pt x="823" y="389"/>
                  </a:lnTo>
                  <a:lnTo>
                    <a:pt x="923" y="377"/>
                  </a:lnTo>
                  <a:lnTo>
                    <a:pt x="964" y="370"/>
                  </a:lnTo>
                  <a:lnTo>
                    <a:pt x="982" y="366"/>
                  </a:lnTo>
                  <a:lnTo>
                    <a:pt x="996" y="362"/>
                  </a:lnTo>
                  <a:lnTo>
                    <a:pt x="1008" y="356"/>
                  </a:lnTo>
                  <a:lnTo>
                    <a:pt x="1018" y="350"/>
                  </a:lnTo>
                  <a:lnTo>
                    <a:pt x="1020" y="348"/>
                  </a:lnTo>
                  <a:lnTo>
                    <a:pt x="1023" y="344"/>
                  </a:lnTo>
                  <a:lnTo>
                    <a:pt x="1024" y="339"/>
                  </a:lnTo>
                  <a:lnTo>
                    <a:pt x="1025" y="336"/>
                  </a:lnTo>
                  <a:lnTo>
                    <a:pt x="1025" y="336"/>
                  </a:lnTo>
                  <a:lnTo>
                    <a:pt x="1025" y="331"/>
                  </a:lnTo>
                  <a:lnTo>
                    <a:pt x="1027" y="327"/>
                  </a:lnTo>
                  <a:lnTo>
                    <a:pt x="1031" y="324"/>
                  </a:lnTo>
                  <a:lnTo>
                    <a:pt x="1036" y="321"/>
                  </a:lnTo>
                  <a:lnTo>
                    <a:pt x="1049" y="315"/>
                  </a:lnTo>
                  <a:lnTo>
                    <a:pt x="1067" y="310"/>
                  </a:lnTo>
                  <a:lnTo>
                    <a:pt x="1088" y="307"/>
                  </a:lnTo>
                  <a:lnTo>
                    <a:pt x="1112" y="302"/>
                  </a:lnTo>
                  <a:lnTo>
                    <a:pt x="1165" y="296"/>
                  </a:lnTo>
                  <a:lnTo>
                    <a:pt x="1220" y="289"/>
                  </a:lnTo>
                  <a:lnTo>
                    <a:pt x="1247" y="285"/>
                  </a:lnTo>
                  <a:lnTo>
                    <a:pt x="1273" y="280"/>
                  </a:lnTo>
                  <a:lnTo>
                    <a:pt x="1296" y="274"/>
                  </a:lnTo>
                  <a:lnTo>
                    <a:pt x="1316" y="268"/>
                  </a:lnTo>
                  <a:lnTo>
                    <a:pt x="1333" y="261"/>
                  </a:lnTo>
                  <a:lnTo>
                    <a:pt x="1339" y="256"/>
                  </a:lnTo>
                  <a:lnTo>
                    <a:pt x="1345" y="253"/>
                  </a:lnTo>
                  <a:lnTo>
                    <a:pt x="1345" y="253"/>
                  </a:lnTo>
                  <a:lnTo>
                    <a:pt x="1350" y="245"/>
                  </a:lnTo>
                  <a:lnTo>
                    <a:pt x="1354" y="239"/>
                  </a:lnTo>
                  <a:lnTo>
                    <a:pt x="1356" y="234"/>
                  </a:lnTo>
                  <a:lnTo>
                    <a:pt x="1357" y="228"/>
                  </a:lnTo>
                  <a:lnTo>
                    <a:pt x="1357" y="224"/>
                  </a:lnTo>
                  <a:lnTo>
                    <a:pt x="1357" y="220"/>
                  </a:lnTo>
                  <a:lnTo>
                    <a:pt x="1354" y="212"/>
                  </a:lnTo>
                  <a:lnTo>
                    <a:pt x="1349" y="206"/>
                  </a:lnTo>
                  <a:lnTo>
                    <a:pt x="1343" y="202"/>
                  </a:lnTo>
                  <a:lnTo>
                    <a:pt x="1337" y="198"/>
                  </a:lnTo>
                  <a:lnTo>
                    <a:pt x="1337" y="198"/>
                  </a:lnTo>
                  <a:close/>
                </a:path>
              </a:pathLst>
            </a:custGeom>
            <a:solidFill>
              <a:schemeClr val="bg2">
                <a:lumMod val="50000"/>
                <a:alpha val="56000"/>
              </a:schemeClr>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77" name="ïṧľïd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D7E9877B-7385-4E2E-94B3-D7BF1E9FDDFB}"/>
                </a:ext>
              </a:extLst>
            </p:cNvPr>
            <p:cNvSpPr/>
            <p:nvPr/>
          </p:nvSpPr>
          <p:spPr bwMode="auto">
            <a:xfrm>
              <a:off x="880866" y="4333759"/>
              <a:ext cx="148575" cy="692517"/>
            </a:xfrm>
            <a:custGeom>
              <a:avLst/>
              <a:gdLst>
                <a:gd name="T0" fmla="*/ 82 w 118"/>
                <a:gd name="T1" fmla="*/ 65 h 385"/>
                <a:gd name="T2" fmla="*/ 82 w 118"/>
                <a:gd name="T3" fmla="*/ 65 h 385"/>
                <a:gd name="T4" fmla="*/ 74 w 118"/>
                <a:gd name="T5" fmla="*/ 47 h 385"/>
                <a:gd name="T6" fmla="*/ 65 w 118"/>
                <a:gd name="T7" fmla="*/ 33 h 385"/>
                <a:gd name="T8" fmla="*/ 57 w 118"/>
                <a:gd name="T9" fmla="*/ 22 h 385"/>
                <a:gd name="T10" fmla="*/ 48 w 118"/>
                <a:gd name="T11" fmla="*/ 13 h 385"/>
                <a:gd name="T12" fmla="*/ 42 w 118"/>
                <a:gd name="T13" fmla="*/ 6 h 385"/>
                <a:gd name="T14" fmla="*/ 36 w 118"/>
                <a:gd name="T15" fmla="*/ 3 h 385"/>
                <a:gd name="T16" fmla="*/ 32 w 118"/>
                <a:gd name="T17" fmla="*/ 0 h 385"/>
                <a:gd name="T18" fmla="*/ 32 w 118"/>
                <a:gd name="T19" fmla="*/ 0 h 385"/>
                <a:gd name="T20" fmla="*/ 28 w 118"/>
                <a:gd name="T21" fmla="*/ 10 h 385"/>
                <a:gd name="T22" fmla="*/ 18 w 118"/>
                <a:gd name="T23" fmla="*/ 40 h 385"/>
                <a:gd name="T24" fmla="*/ 14 w 118"/>
                <a:gd name="T25" fmla="*/ 60 h 385"/>
                <a:gd name="T26" fmla="*/ 9 w 118"/>
                <a:gd name="T27" fmla="*/ 85 h 385"/>
                <a:gd name="T28" fmla="*/ 4 w 118"/>
                <a:gd name="T29" fmla="*/ 110 h 385"/>
                <a:gd name="T30" fmla="*/ 1 w 118"/>
                <a:gd name="T31" fmla="*/ 139 h 385"/>
                <a:gd name="T32" fmla="*/ 0 w 118"/>
                <a:gd name="T33" fmla="*/ 169 h 385"/>
                <a:gd name="T34" fmla="*/ 0 w 118"/>
                <a:gd name="T35" fmla="*/ 200 h 385"/>
                <a:gd name="T36" fmla="*/ 1 w 118"/>
                <a:gd name="T37" fmla="*/ 216 h 385"/>
                <a:gd name="T38" fmla="*/ 4 w 118"/>
                <a:gd name="T39" fmla="*/ 233 h 385"/>
                <a:gd name="T40" fmla="*/ 7 w 118"/>
                <a:gd name="T41" fmla="*/ 248 h 385"/>
                <a:gd name="T42" fmla="*/ 11 w 118"/>
                <a:gd name="T43" fmla="*/ 265 h 385"/>
                <a:gd name="T44" fmla="*/ 15 w 118"/>
                <a:gd name="T45" fmla="*/ 281 h 385"/>
                <a:gd name="T46" fmla="*/ 21 w 118"/>
                <a:gd name="T47" fmla="*/ 296 h 385"/>
                <a:gd name="T48" fmla="*/ 28 w 118"/>
                <a:gd name="T49" fmla="*/ 312 h 385"/>
                <a:gd name="T50" fmla="*/ 35 w 118"/>
                <a:gd name="T51" fmla="*/ 328 h 385"/>
                <a:gd name="T52" fmla="*/ 44 w 118"/>
                <a:gd name="T53" fmla="*/ 342 h 385"/>
                <a:gd name="T54" fmla="*/ 54 w 118"/>
                <a:gd name="T55" fmla="*/ 358 h 385"/>
                <a:gd name="T56" fmla="*/ 65 w 118"/>
                <a:gd name="T57" fmla="*/ 371 h 385"/>
                <a:gd name="T58" fmla="*/ 78 w 118"/>
                <a:gd name="T59" fmla="*/ 385 h 385"/>
                <a:gd name="T60" fmla="*/ 78 w 118"/>
                <a:gd name="T61" fmla="*/ 385 h 385"/>
                <a:gd name="T62" fmla="*/ 83 w 118"/>
                <a:gd name="T63" fmla="*/ 382 h 385"/>
                <a:gd name="T64" fmla="*/ 89 w 118"/>
                <a:gd name="T65" fmla="*/ 377 h 385"/>
                <a:gd name="T66" fmla="*/ 93 w 118"/>
                <a:gd name="T67" fmla="*/ 371 h 385"/>
                <a:gd name="T68" fmla="*/ 98 w 118"/>
                <a:gd name="T69" fmla="*/ 365 h 385"/>
                <a:gd name="T70" fmla="*/ 105 w 118"/>
                <a:gd name="T71" fmla="*/ 351 h 385"/>
                <a:gd name="T72" fmla="*/ 111 w 118"/>
                <a:gd name="T73" fmla="*/ 335 h 385"/>
                <a:gd name="T74" fmla="*/ 115 w 118"/>
                <a:gd name="T75" fmla="*/ 316 h 385"/>
                <a:gd name="T76" fmla="*/ 117 w 118"/>
                <a:gd name="T77" fmla="*/ 295 h 385"/>
                <a:gd name="T78" fmla="*/ 118 w 118"/>
                <a:gd name="T79" fmla="*/ 272 h 385"/>
                <a:gd name="T80" fmla="*/ 118 w 118"/>
                <a:gd name="T81" fmla="*/ 249 h 385"/>
                <a:gd name="T82" fmla="*/ 117 w 118"/>
                <a:gd name="T83" fmla="*/ 225 h 385"/>
                <a:gd name="T84" fmla="*/ 115 w 118"/>
                <a:gd name="T85" fmla="*/ 201 h 385"/>
                <a:gd name="T86" fmla="*/ 112 w 118"/>
                <a:gd name="T87" fmla="*/ 177 h 385"/>
                <a:gd name="T88" fmla="*/ 107 w 118"/>
                <a:gd name="T89" fmla="*/ 153 h 385"/>
                <a:gd name="T90" fmla="*/ 103 w 118"/>
                <a:gd name="T91" fmla="*/ 129 h 385"/>
                <a:gd name="T92" fmla="*/ 97 w 118"/>
                <a:gd name="T93" fmla="*/ 106 h 385"/>
                <a:gd name="T94" fmla="*/ 89 w 118"/>
                <a:gd name="T95" fmla="*/ 86 h 385"/>
                <a:gd name="T96" fmla="*/ 82 w 118"/>
                <a:gd name="T97" fmla="*/ 65 h 385"/>
                <a:gd name="T98" fmla="*/ 82 w 118"/>
                <a:gd name="T99" fmla="*/ 6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8" h="385">
                  <a:moveTo>
                    <a:pt x="82" y="65"/>
                  </a:moveTo>
                  <a:lnTo>
                    <a:pt x="82" y="65"/>
                  </a:lnTo>
                  <a:lnTo>
                    <a:pt x="74" y="47"/>
                  </a:lnTo>
                  <a:lnTo>
                    <a:pt x="65" y="33"/>
                  </a:lnTo>
                  <a:lnTo>
                    <a:pt x="57" y="22"/>
                  </a:lnTo>
                  <a:lnTo>
                    <a:pt x="48" y="13"/>
                  </a:lnTo>
                  <a:lnTo>
                    <a:pt x="42" y="6"/>
                  </a:lnTo>
                  <a:lnTo>
                    <a:pt x="36" y="3"/>
                  </a:lnTo>
                  <a:lnTo>
                    <a:pt x="32" y="0"/>
                  </a:lnTo>
                  <a:lnTo>
                    <a:pt x="32" y="0"/>
                  </a:lnTo>
                  <a:lnTo>
                    <a:pt x="28" y="10"/>
                  </a:lnTo>
                  <a:lnTo>
                    <a:pt x="18" y="40"/>
                  </a:lnTo>
                  <a:lnTo>
                    <a:pt x="14" y="60"/>
                  </a:lnTo>
                  <a:lnTo>
                    <a:pt x="9" y="85"/>
                  </a:lnTo>
                  <a:lnTo>
                    <a:pt x="4" y="110"/>
                  </a:lnTo>
                  <a:lnTo>
                    <a:pt x="1" y="139"/>
                  </a:lnTo>
                  <a:lnTo>
                    <a:pt x="0" y="169"/>
                  </a:lnTo>
                  <a:lnTo>
                    <a:pt x="0" y="200"/>
                  </a:lnTo>
                  <a:lnTo>
                    <a:pt x="1" y="216"/>
                  </a:lnTo>
                  <a:lnTo>
                    <a:pt x="4" y="233"/>
                  </a:lnTo>
                  <a:lnTo>
                    <a:pt x="7" y="248"/>
                  </a:lnTo>
                  <a:lnTo>
                    <a:pt x="11" y="265"/>
                  </a:lnTo>
                  <a:lnTo>
                    <a:pt x="15" y="281"/>
                  </a:lnTo>
                  <a:lnTo>
                    <a:pt x="21" y="296"/>
                  </a:lnTo>
                  <a:lnTo>
                    <a:pt x="28" y="312"/>
                  </a:lnTo>
                  <a:lnTo>
                    <a:pt x="35" y="328"/>
                  </a:lnTo>
                  <a:lnTo>
                    <a:pt x="44" y="342"/>
                  </a:lnTo>
                  <a:lnTo>
                    <a:pt x="54" y="358"/>
                  </a:lnTo>
                  <a:lnTo>
                    <a:pt x="65" y="371"/>
                  </a:lnTo>
                  <a:lnTo>
                    <a:pt x="78" y="385"/>
                  </a:lnTo>
                  <a:lnTo>
                    <a:pt x="78" y="385"/>
                  </a:lnTo>
                  <a:lnTo>
                    <a:pt x="83" y="382"/>
                  </a:lnTo>
                  <a:lnTo>
                    <a:pt x="89" y="377"/>
                  </a:lnTo>
                  <a:lnTo>
                    <a:pt x="93" y="371"/>
                  </a:lnTo>
                  <a:lnTo>
                    <a:pt x="98" y="365"/>
                  </a:lnTo>
                  <a:lnTo>
                    <a:pt x="105" y="351"/>
                  </a:lnTo>
                  <a:lnTo>
                    <a:pt x="111" y="335"/>
                  </a:lnTo>
                  <a:lnTo>
                    <a:pt x="115" y="316"/>
                  </a:lnTo>
                  <a:lnTo>
                    <a:pt x="117" y="295"/>
                  </a:lnTo>
                  <a:lnTo>
                    <a:pt x="118" y="272"/>
                  </a:lnTo>
                  <a:lnTo>
                    <a:pt x="118" y="249"/>
                  </a:lnTo>
                  <a:lnTo>
                    <a:pt x="117" y="225"/>
                  </a:lnTo>
                  <a:lnTo>
                    <a:pt x="115" y="201"/>
                  </a:lnTo>
                  <a:lnTo>
                    <a:pt x="112" y="177"/>
                  </a:lnTo>
                  <a:lnTo>
                    <a:pt x="107" y="153"/>
                  </a:lnTo>
                  <a:lnTo>
                    <a:pt x="103" y="129"/>
                  </a:lnTo>
                  <a:lnTo>
                    <a:pt x="97" y="106"/>
                  </a:lnTo>
                  <a:lnTo>
                    <a:pt x="89" y="86"/>
                  </a:lnTo>
                  <a:lnTo>
                    <a:pt x="82" y="65"/>
                  </a:lnTo>
                  <a:lnTo>
                    <a:pt x="82" y="65"/>
                  </a:lnTo>
                  <a:close/>
                </a:path>
              </a:pathLst>
            </a:custGeom>
            <a:solidFill>
              <a:srgbClr val="1717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78" name="íśľïď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6AF3D6F4-0B71-4F3C-9D3F-F7E4773139BB}"/>
                </a:ext>
              </a:extLst>
            </p:cNvPr>
            <p:cNvSpPr/>
            <p:nvPr/>
          </p:nvSpPr>
          <p:spPr bwMode="auto">
            <a:xfrm>
              <a:off x="1709357" y="4018000"/>
              <a:ext cx="554006" cy="412640"/>
            </a:xfrm>
            <a:custGeom>
              <a:avLst/>
              <a:gdLst>
                <a:gd name="T0" fmla="*/ 29 w 440"/>
                <a:gd name="T1" fmla="*/ 65 h 231"/>
                <a:gd name="T2" fmla="*/ 9 w 440"/>
                <a:gd name="T3" fmla="*/ 41 h 231"/>
                <a:gd name="T4" fmla="*/ 1 w 440"/>
                <a:gd name="T5" fmla="*/ 26 h 231"/>
                <a:gd name="T6" fmla="*/ 0 w 440"/>
                <a:gd name="T7" fmla="*/ 10 h 231"/>
                <a:gd name="T8" fmla="*/ 3 w 440"/>
                <a:gd name="T9" fmla="*/ 3 h 231"/>
                <a:gd name="T10" fmla="*/ 7 w 440"/>
                <a:gd name="T11" fmla="*/ 0 h 231"/>
                <a:gd name="T12" fmla="*/ 20 w 440"/>
                <a:gd name="T13" fmla="*/ 3 h 231"/>
                <a:gd name="T14" fmla="*/ 54 w 440"/>
                <a:gd name="T15" fmla="*/ 17 h 231"/>
                <a:gd name="T16" fmla="*/ 116 w 440"/>
                <a:gd name="T17" fmla="*/ 46 h 231"/>
                <a:gd name="T18" fmla="*/ 168 w 440"/>
                <a:gd name="T19" fmla="*/ 67 h 231"/>
                <a:gd name="T20" fmla="*/ 202 w 440"/>
                <a:gd name="T21" fmla="*/ 74 h 231"/>
                <a:gd name="T22" fmla="*/ 217 w 440"/>
                <a:gd name="T23" fmla="*/ 75 h 231"/>
                <a:gd name="T24" fmla="*/ 291 w 440"/>
                <a:gd name="T25" fmla="*/ 77 h 231"/>
                <a:gd name="T26" fmla="*/ 302 w 440"/>
                <a:gd name="T27" fmla="*/ 80 h 231"/>
                <a:gd name="T28" fmla="*/ 308 w 440"/>
                <a:gd name="T29" fmla="*/ 85 h 231"/>
                <a:gd name="T30" fmla="*/ 317 w 440"/>
                <a:gd name="T31" fmla="*/ 95 h 231"/>
                <a:gd name="T32" fmla="*/ 343 w 440"/>
                <a:gd name="T33" fmla="*/ 122 h 231"/>
                <a:gd name="T34" fmla="*/ 367 w 440"/>
                <a:gd name="T35" fmla="*/ 141 h 231"/>
                <a:gd name="T36" fmla="*/ 380 w 440"/>
                <a:gd name="T37" fmla="*/ 150 h 231"/>
                <a:gd name="T38" fmla="*/ 418 w 440"/>
                <a:gd name="T39" fmla="*/ 169 h 231"/>
                <a:gd name="T40" fmla="*/ 437 w 440"/>
                <a:gd name="T41" fmla="*/ 175 h 231"/>
                <a:gd name="T42" fmla="*/ 438 w 440"/>
                <a:gd name="T43" fmla="*/ 176 h 231"/>
                <a:gd name="T44" fmla="*/ 440 w 440"/>
                <a:gd name="T45" fmla="*/ 187 h 231"/>
                <a:gd name="T46" fmla="*/ 437 w 440"/>
                <a:gd name="T47" fmla="*/ 204 h 231"/>
                <a:gd name="T48" fmla="*/ 430 w 440"/>
                <a:gd name="T49" fmla="*/ 215 h 231"/>
                <a:gd name="T50" fmla="*/ 421 w 440"/>
                <a:gd name="T51" fmla="*/ 224 h 231"/>
                <a:gd name="T52" fmla="*/ 405 w 440"/>
                <a:gd name="T53" fmla="*/ 230 h 231"/>
                <a:gd name="T54" fmla="*/ 385 w 440"/>
                <a:gd name="T55" fmla="*/ 231 h 231"/>
                <a:gd name="T56" fmla="*/ 373 w 440"/>
                <a:gd name="T57" fmla="*/ 229 h 231"/>
                <a:gd name="T58" fmla="*/ 349 w 440"/>
                <a:gd name="T59" fmla="*/ 222 h 231"/>
                <a:gd name="T60" fmla="*/ 328 w 440"/>
                <a:gd name="T61" fmla="*/ 213 h 231"/>
                <a:gd name="T62" fmla="*/ 313 w 440"/>
                <a:gd name="T63" fmla="*/ 203 h 231"/>
                <a:gd name="T64" fmla="*/ 291 w 440"/>
                <a:gd name="T65" fmla="*/ 178 h 231"/>
                <a:gd name="T66" fmla="*/ 279 w 440"/>
                <a:gd name="T67" fmla="*/ 154 h 231"/>
                <a:gd name="T68" fmla="*/ 274 w 440"/>
                <a:gd name="T69" fmla="*/ 145 h 231"/>
                <a:gd name="T70" fmla="*/ 269 w 440"/>
                <a:gd name="T71" fmla="*/ 151 h 231"/>
                <a:gd name="T72" fmla="*/ 256 w 440"/>
                <a:gd name="T73" fmla="*/ 157 h 231"/>
                <a:gd name="T74" fmla="*/ 240 w 440"/>
                <a:gd name="T75" fmla="*/ 159 h 231"/>
                <a:gd name="T76" fmla="*/ 220 w 440"/>
                <a:gd name="T77" fmla="*/ 159 h 231"/>
                <a:gd name="T78" fmla="*/ 192 w 440"/>
                <a:gd name="T79" fmla="*/ 154 h 231"/>
                <a:gd name="T80" fmla="*/ 157 w 440"/>
                <a:gd name="T81" fmla="*/ 144 h 231"/>
                <a:gd name="T82" fmla="*/ 137 w 440"/>
                <a:gd name="T83" fmla="*/ 135 h 231"/>
                <a:gd name="T84" fmla="*/ 71 w 440"/>
                <a:gd name="T85" fmla="*/ 105 h 231"/>
                <a:gd name="T86" fmla="*/ 39 w 440"/>
                <a:gd name="T87" fmla="*/ 82 h 231"/>
                <a:gd name="T88" fmla="*/ 29 w 440"/>
                <a:gd name="T89" fmla="*/ 70 h 231"/>
                <a:gd name="T90" fmla="*/ 29 w 440"/>
                <a:gd name="T91" fmla="*/ 6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40" h="231">
                  <a:moveTo>
                    <a:pt x="29" y="65"/>
                  </a:moveTo>
                  <a:lnTo>
                    <a:pt x="29" y="65"/>
                  </a:lnTo>
                  <a:lnTo>
                    <a:pt x="15" y="50"/>
                  </a:lnTo>
                  <a:lnTo>
                    <a:pt x="9" y="41"/>
                  </a:lnTo>
                  <a:lnTo>
                    <a:pt x="4" y="33"/>
                  </a:lnTo>
                  <a:lnTo>
                    <a:pt x="1" y="26"/>
                  </a:lnTo>
                  <a:lnTo>
                    <a:pt x="0" y="17"/>
                  </a:lnTo>
                  <a:lnTo>
                    <a:pt x="0" y="10"/>
                  </a:lnTo>
                  <a:lnTo>
                    <a:pt x="3" y="3"/>
                  </a:lnTo>
                  <a:lnTo>
                    <a:pt x="3" y="3"/>
                  </a:lnTo>
                  <a:lnTo>
                    <a:pt x="4" y="2"/>
                  </a:lnTo>
                  <a:lnTo>
                    <a:pt x="7" y="0"/>
                  </a:lnTo>
                  <a:lnTo>
                    <a:pt x="13" y="0"/>
                  </a:lnTo>
                  <a:lnTo>
                    <a:pt x="20" y="3"/>
                  </a:lnTo>
                  <a:lnTo>
                    <a:pt x="30" y="6"/>
                  </a:lnTo>
                  <a:lnTo>
                    <a:pt x="54" y="17"/>
                  </a:lnTo>
                  <a:lnTo>
                    <a:pt x="84" y="32"/>
                  </a:lnTo>
                  <a:lnTo>
                    <a:pt x="116" y="46"/>
                  </a:lnTo>
                  <a:lnTo>
                    <a:pt x="150" y="61"/>
                  </a:lnTo>
                  <a:lnTo>
                    <a:pt x="168" y="67"/>
                  </a:lnTo>
                  <a:lnTo>
                    <a:pt x="185" y="70"/>
                  </a:lnTo>
                  <a:lnTo>
                    <a:pt x="202" y="74"/>
                  </a:lnTo>
                  <a:lnTo>
                    <a:pt x="217" y="75"/>
                  </a:lnTo>
                  <a:lnTo>
                    <a:pt x="217" y="75"/>
                  </a:lnTo>
                  <a:lnTo>
                    <a:pt x="266" y="76"/>
                  </a:lnTo>
                  <a:lnTo>
                    <a:pt x="291" y="77"/>
                  </a:lnTo>
                  <a:lnTo>
                    <a:pt x="297" y="79"/>
                  </a:lnTo>
                  <a:lnTo>
                    <a:pt x="302" y="80"/>
                  </a:lnTo>
                  <a:lnTo>
                    <a:pt x="304" y="82"/>
                  </a:lnTo>
                  <a:lnTo>
                    <a:pt x="308" y="85"/>
                  </a:lnTo>
                  <a:lnTo>
                    <a:pt x="308" y="85"/>
                  </a:lnTo>
                  <a:lnTo>
                    <a:pt x="317" y="95"/>
                  </a:lnTo>
                  <a:lnTo>
                    <a:pt x="333" y="112"/>
                  </a:lnTo>
                  <a:lnTo>
                    <a:pt x="343" y="122"/>
                  </a:lnTo>
                  <a:lnTo>
                    <a:pt x="353" y="132"/>
                  </a:lnTo>
                  <a:lnTo>
                    <a:pt x="367" y="141"/>
                  </a:lnTo>
                  <a:lnTo>
                    <a:pt x="380" y="150"/>
                  </a:lnTo>
                  <a:lnTo>
                    <a:pt x="380" y="150"/>
                  </a:lnTo>
                  <a:lnTo>
                    <a:pt x="403" y="162"/>
                  </a:lnTo>
                  <a:lnTo>
                    <a:pt x="418" y="169"/>
                  </a:lnTo>
                  <a:lnTo>
                    <a:pt x="428" y="172"/>
                  </a:lnTo>
                  <a:lnTo>
                    <a:pt x="437" y="175"/>
                  </a:lnTo>
                  <a:lnTo>
                    <a:pt x="437" y="175"/>
                  </a:lnTo>
                  <a:lnTo>
                    <a:pt x="438" y="176"/>
                  </a:lnTo>
                  <a:lnTo>
                    <a:pt x="439" y="178"/>
                  </a:lnTo>
                  <a:lnTo>
                    <a:pt x="440" y="187"/>
                  </a:lnTo>
                  <a:lnTo>
                    <a:pt x="439" y="198"/>
                  </a:lnTo>
                  <a:lnTo>
                    <a:pt x="437" y="204"/>
                  </a:lnTo>
                  <a:lnTo>
                    <a:pt x="434" y="209"/>
                  </a:lnTo>
                  <a:lnTo>
                    <a:pt x="430" y="215"/>
                  </a:lnTo>
                  <a:lnTo>
                    <a:pt x="426" y="219"/>
                  </a:lnTo>
                  <a:lnTo>
                    <a:pt x="421" y="224"/>
                  </a:lnTo>
                  <a:lnTo>
                    <a:pt x="414" y="228"/>
                  </a:lnTo>
                  <a:lnTo>
                    <a:pt x="405" y="230"/>
                  </a:lnTo>
                  <a:lnTo>
                    <a:pt x="396" y="231"/>
                  </a:lnTo>
                  <a:lnTo>
                    <a:pt x="385" y="231"/>
                  </a:lnTo>
                  <a:lnTo>
                    <a:pt x="373" y="229"/>
                  </a:lnTo>
                  <a:lnTo>
                    <a:pt x="373" y="229"/>
                  </a:lnTo>
                  <a:lnTo>
                    <a:pt x="359" y="225"/>
                  </a:lnTo>
                  <a:lnTo>
                    <a:pt x="349" y="222"/>
                  </a:lnTo>
                  <a:lnTo>
                    <a:pt x="338" y="218"/>
                  </a:lnTo>
                  <a:lnTo>
                    <a:pt x="328" y="213"/>
                  </a:lnTo>
                  <a:lnTo>
                    <a:pt x="320" y="207"/>
                  </a:lnTo>
                  <a:lnTo>
                    <a:pt x="313" y="203"/>
                  </a:lnTo>
                  <a:lnTo>
                    <a:pt x="301" y="190"/>
                  </a:lnTo>
                  <a:lnTo>
                    <a:pt x="291" y="178"/>
                  </a:lnTo>
                  <a:lnTo>
                    <a:pt x="284" y="166"/>
                  </a:lnTo>
                  <a:lnTo>
                    <a:pt x="279" y="154"/>
                  </a:lnTo>
                  <a:lnTo>
                    <a:pt x="274" y="145"/>
                  </a:lnTo>
                  <a:lnTo>
                    <a:pt x="274" y="145"/>
                  </a:lnTo>
                  <a:lnTo>
                    <a:pt x="273" y="146"/>
                  </a:lnTo>
                  <a:lnTo>
                    <a:pt x="269" y="151"/>
                  </a:lnTo>
                  <a:lnTo>
                    <a:pt x="262" y="154"/>
                  </a:lnTo>
                  <a:lnTo>
                    <a:pt x="256" y="157"/>
                  </a:lnTo>
                  <a:lnTo>
                    <a:pt x="249" y="158"/>
                  </a:lnTo>
                  <a:lnTo>
                    <a:pt x="240" y="159"/>
                  </a:lnTo>
                  <a:lnTo>
                    <a:pt x="231" y="159"/>
                  </a:lnTo>
                  <a:lnTo>
                    <a:pt x="220" y="159"/>
                  </a:lnTo>
                  <a:lnTo>
                    <a:pt x="207" y="157"/>
                  </a:lnTo>
                  <a:lnTo>
                    <a:pt x="192" y="154"/>
                  </a:lnTo>
                  <a:lnTo>
                    <a:pt x="175" y="150"/>
                  </a:lnTo>
                  <a:lnTo>
                    <a:pt x="157" y="144"/>
                  </a:lnTo>
                  <a:lnTo>
                    <a:pt x="137" y="135"/>
                  </a:lnTo>
                  <a:lnTo>
                    <a:pt x="137" y="135"/>
                  </a:lnTo>
                  <a:lnTo>
                    <a:pt x="98" y="118"/>
                  </a:lnTo>
                  <a:lnTo>
                    <a:pt x="71" y="105"/>
                  </a:lnTo>
                  <a:lnTo>
                    <a:pt x="51" y="92"/>
                  </a:lnTo>
                  <a:lnTo>
                    <a:pt x="39" y="82"/>
                  </a:lnTo>
                  <a:lnTo>
                    <a:pt x="32" y="75"/>
                  </a:lnTo>
                  <a:lnTo>
                    <a:pt x="29" y="70"/>
                  </a:lnTo>
                  <a:lnTo>
                    <a:pt x="29" y="67"/>
                  </a:lnTo>
                  <a:lnTo>
                    <a:pt x="29" y="65"/>
                  </a:lnTo>
                  <a:lnTo>
                    <a:pt x="29" y="65"/>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79" name="iṣļîd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7EAEAAD-368A-4DA7-9EF1-C29AB6886834}"/>
                </a:ext>
              </a:extLst>
            </p:cNvPr>
            <p:cNvSpPr/>
            <p:nvPr/>
          </p:nvSpPr>
          <p:spPr bwMode="auto">
            <a:xfrm>
              <a:off x="1709357" y="4018000"/>
              <a:ext cx="551489" cy="340877"/>
            </a:xfrm>
            <a:custGeom>
              <a:avLst/>
              <a:gdLst>
                <a:gd name="T0" fmla="*/ 439 w 439"/>
                <a:gd name="T1" fmla="*/ 178 h 192"/>
                <a:gd name="T2" fmla="*/ 437 w 439"/>
                <a:gd name="T3" fmla="*/ 175 h 192"/>
                <a:gd name="T4" fmla="*/ 428 w 439"/>
                <a:gd name="T5" fmla="*/ 172 h 192"/>
                <a:gd name="T6" fmla="*/ 403 w 439"/>
                <a:gd name="T7" fmla="*/ 162 h 192"/>
                <a:gd name="T8" fmla="*/ 380 w 439"/>
                <a:gd name="T9" fmla="*/ 150 h 192"/>
                <a:gd name="T10" fmla="*/ 353 w 439"/>
                <a:gd name="T11" fmla="*/ 132 h 192"/>
                <a:gd name="T12" fmla="*/ 333 w 439"/>
                <a:gd name="T13" fmla="*/ 112 h 192"/>
                <a:gd name="T14" fmla="*/ 308 w 439"/>
                <a:gd name="T15" fmla="*/ 85 h 192"/>
                <a:gd name="T16" fmla="*/ 304 w 439"/>
                <a:gd name="T17" fmla="*/ 82 h 192"/>
                <a:gd name="T18" fmla="*/ 297 w 439"/>
                <a:gd name="T19" fmla="*/ 79 h 192"/>
                <a:gd name="T20" fmla="*/ 266 w 439"/>
                <a:gd name="T21" fmla="*/ 76 h 192"/>
                <a:gd name="T22" fmla="*/ 217 w 439"/>
                <a:gd name="T23" fmla="*/ 75 h 192"/>
                <a:gd name="T24" fmla="*/ 185 w 439"/>
                <a:gd name="T25" fmla="*/ 70 h 192"/>
                <a:gd name="T26" fmla="*/ 150 w 439"/>
                <a:gd name="T27" fmla="*/ 61 h 192"/>
                <a:gd name="T28" fmla="*/ 84 w 439"/>
                <a:gd name="T29" fmla="*/ 32 h 192"/>
                <a:gd name="T30" fmla="*/ 30 w 439"/>
                <a:gd name="T31" fmla="*/ 6 h 192"/>
                <a:gd name="T32" fmla="*/ 13 w 439"/>
                <a:gd name="T33" fmla="*/ 0 h 192"/>
                <a:gd name="T34" fmla="*/ 4 w 439"/>
                <a:gd name="T35" fmla="*/ 2 h 192"/>
                <a:gd name="T36" fmla="*/ 3 w 439"/>
                <a:gd name="T37" fmla="*/ 3 h 192"/>
                <a:gd name="T38" fmla="*/ 0 w 439"/>
                <a:gd name="T39" fmla="*/ 17 h 192"/>
                <a:gd name="T40" fmla="*/ 4 w 439"/>
                <a:gd name="T41" fmla="*/ 33 h 192"/>
                <a:gd name="T42" fmla="*/ 15 w 439"/>
                <a:gd name="T43" fmla="*/ 50 h 192"/>
                <a:gd name="T44" fmla="*/ 29 w 439"/>
                <a:gd name="T45" fmla="*/ 65 h 192"/>
                <a:gd name="T46" fmla="*/ 29 w 439"/>
                <a:gd name="T47" fmla="*/ 68 h 192"/>
                <a:gd name="T48" fmla="*/ 65 w 439"/>
                <a:gd name="T49" fmla="*/ 85 h 192"/>
                <a:gd name="T50" fmla="*/ 107 w 439"/>
                <a:gd name="T51" fmla="*/ 99 h 192"/>
                <a:gd name="T52" fmla="*/ 126 w 439"/>
                <a:gd name="T53" fmla="*/ 103 h 192"/>
                <a:gd name="T54" fmla="*/ 162 w 439"/>
                <a:gd name="T55" fmla="*/ 109 h 192"/>
                <a:gd name="T56" fmla="*/ 208 w 439"/>
                <a:gd name="T57" fmla="*/ 111 h 192"/>
                <a:gd name="T58" fmla="*/ 254 w 439"/>
                <a:gd name="T59" fmla="*/ 106 h 192"/>
                <a:gd name="T60" fmla="*/ 280 w 439"/>
                <a:gd name="T61" fmla="*/ 100 h 192"/>
                <a:gd name="T62" fmla="*/ 281 w 439"/>
                <a:gd name="T63" fmla="*/ 103 h 192"/>
                <a:gd name="T64" fmla="*/ 290 w 439"/>
                <a:gd name="T65" fmla="*/ 113 h 192"/>
                <a:gd name="T66" fmla="*/ 311 w 439"/>
                <a:gd name="T67" fmla="*/ 135 h 192"/>
                <a:gd name="T68" fmla="*/ 352 w 439"/>
                <a:gd name="T69" fmla="*/ 168 h 192"/>
                <a:gd name="T70" fmla="*/ 370 w 439"/>
                <a:gd name="T71" fmla="*/ 178 h 192"/>
                <a:gd name="T72" fmla="*/ 399 w 439"/>
                <a:gd name="T73" fmla="*/ 190 h 192"/>
                <a:gd name="T74" fmla="*/ 420 w 439"/>
                <a:gd name="T75" fmla="*/ 190 h 192"/>
                <a:gd name="T76" fmla="*/ 434 w 439"/>
                <a:gd name="T77" fmla="*/ 183 h 192"/>
                <a:gd name="T78" fmla="*/ 439 w 439"/>
                <a:gd name="T79" fmla="*/ 17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9" h="192">
                  <a:moveTo>
                    <a:pt x="439" y="178"/>
                  </a:moveTo>
                  <a:lnTo>
                    <a:pt x="439" y="178"/>
                  </a:lnTo>
                  <a:lnTo>
                    <a:pt x="438" y="176"/>
                  </a:lnTo>
                  <a:lnTo>
                    <a:pt x="437" y="175"/>
                  </a:lnTo>
                  <a:lnTo>
                    <a:pt x="437" y="175"/>
                  </a:lnTo>
                  <a:lnTo>
                    <a:pt x="428" y="172"/>
                  </a:lnTo>
                  <a:lnTo>
                    <a:pt x="418" y="169"/>
                  </a:lnTo>
                  <a:lnTo>
                    <a:pt x="403" y="162"/>
                  </a:lnTo>
                  <a:lnTo>
                    <a:pt x="380" y="150"/>
                  </a:lnTo>
                  <a:lnTo>
                    <a:pt x="380" y="150"/>
                  </a:lnTo>
                  <a:lnTo>
                    <a:pt x="367" y="141"/>
                  </a:lnTo>
                  <a:lnTo>
                    <a:pt x="353" y="132"/>
                  </a:lnTo>
                  <a:lnTo>
                    <a:pt x="343" y="122"/>
                  </a:lnTo>
                  <a:lnTo>
                    <a:pt x="333" y="112"/>
                  </a:lnTo>
                  <a:lnTo>
                    <a:pt x="317" y="95"/>
                  </a:lnTo>
                  <a:lnTo>
                    <a:pt x="308" y="85"/>
                  </a:lnTo>
                  <a:lnTo>
                    <a:pt x="308" y="85"/>
                  </a:lnTo>
                  <a:lnTo>
                    <a:pt x="304" y="82"/>
                  </a:lnTo>
                  <a:lnTo>
                    <a:pt x="302" y="80"/>
                  </a:lnTo>
                  <a:lnTo>
                    <a:pt x="297" y="79"/>
                  </a:lnTo>
                  <a:lnTo>
                    <a:pt x="291" y="77"/>
                  </a:lnTo>
                  <a:lnTo>
                    <a:pt x="266" y="76"/>
                  </a:lnTo>
                  <a:lnTo>
                    <a:pt x="217" y="75"/>
                  </a:lnTo>
                  <a:lnTo>
                    <a:pt x="217" y="75"/>
                  </a:lnTo>
                  <a:lnTo>
                    <a:pt x="202" y="74"/>
                  </a:lnTo>
                  <a:lnTo>
                    <a:pt x="185" y="70"/>
                  </a:lnTo>
                  <a:lnTo>
                    <a:pt x="168" y="67"/>
                  </a:lnTo>
                  <a:lnTo>
                    <a:pt x="150" y="61"/>
                  </a:lnTo>
                  <a:lnTo>
                    <a:pt x="116" y="46"/>
                  </a:lnTo>
                  <a:lnTo>
                    <a:pt x="84" y="32"/>
                  </a:lnTo>
                  <a:lnTo>
                    <a:pt x="54" y="17"/>
                  </a:lnTo>
                  <a:lnTo>
                    <a:pt x="30" y="6"/>
                  </a:lnTo>
                  <a:lnTo>
                    <a:pt x="20" y="3"/>
                  </a:lnTo>
                  <a:lnTo>
                    <a:pt x="13" y="0"/>
                  </a:lnTo>
                  <a:lnTo>
                    <a:pt x="7" y="0"/>
                  </a:lnTo>
                  <a:lnTo>
                    <a:pt x="4" y="2"/>
                  </a:lnTo>
                  <a:lnTo>
                    <a:pt x="3" y="3"/>
                  </a:lnTo>
                  <a:lnTo>
                    <a:pt x="3" y="3"/>
                  </a:lnTo>
                  <a:lnTo>
                    <a:pt x="0" y="10"/>
                  </a:lnTo>
                  <a:lnTo>
                    <a:pt x="0" y="17"/>
                  </a:lnTo>
                  <a:lnTo>
                    <a:pt x="1" y="26"/>
                  </a:lnTo>
                  <a:lnTo>
                    <a:pt x="4" y="33"/>
                  </a:lnTo>
                  <a:lnTo>
                    <a:pt x="9" y="41"/>
                  </a:lnTo>
                  <a:lnTo>
                    <a:pt x="15" y="50"/>
                  </a:lnTo>
                  <a:lnTo>
                    <a:pt x="29" y="65"/>
                  </a:lnTo>
                  <a:lnTo>
                    <a:pt x="29" y="65"/>
                  </a:lnTo>
                  <a:lnTo>
                    <a:pt x="29" y="68"/>
                  </a:lnTo>
                  <a:lnTo>
                    <a:pt x="29" y="68"/>
                  </a:lnTo>
                  <a:lnTo>
                    <a:pt x="45" y="76"/>
                  </a:lnTo>
                  <a:lnTo>
                    <a:pt x="65" y="85"/>
                  </a:lnTo>
                  <a:lnTo>
                    <a:pt x="85" y="92"/>
                  </a:lnTo>
                  <a:lnTo>
                    <a:pt x="107" y="99"/>
                  </a:lnTo>
                  <a:lnTo>
                    <a:pt x="107" y="99"/>
                  </a:lnTo>
                  <a:lnTo>
                    <a:pt x="126" y="103"/>
                  </a:lnTo>
                  <a:lnTo>
                    <a:pt x="144" y="106"/>
                  </a:lnTo>
                  <a:lnTo>
                    <a:pt x="162" y="109"/>
                  </a:lnTo>
                  <a:lnTo>
                    <a:pt x="178" y="110"/>
                  </a:lnTo>
                  <a:lnTo>
                    <a:pt x="208" y="111"/>
                  </a:lnTo>
                  <a:lnTo>
                    <a:pt x="233" y="110"/>
                  </a:lnTo>
                  <a:lnTo>
                    <a:pt x="254" y="106"/>
                  </a:lnTo>
                  <a:lnTo>
                    <a:pt x="268" y="104"/>
                  </a:lnTo>
                  <a:lnTo>
                    <a:pt x="280" y="100"/>
                  </a:lnTo>
                  <a:lnTo>
                    <a:pt x="280" y="100"/>
                  </a:lnTo>
                  <a:lnTo>
                    <a:pt x="281" y="103"/>
                  </a:lnTo>
                  <a:lnTo>
                    <a:pt x="285" y="107"/>
                  </a:lnTo>
                  <a:lnTo>
                    <a:pt x="290" y="113"/>
                  </a:lnTo>
                  <a:lnTo>
                    <a:pt x="299" y="123"/>
                  </a:lnTo>
                  <a:lnTo>
                    <a:pt x="311" y="135"/>
                  </a:lnTo>
                  <a:lnTo>
                    <a:pt x="329" y="150"/>
                  </a:lnTo>
                  <a:lnTo>
                    <a:pt x="352" y="168"/>
                  </a:lnTo>
                  <a:lnTo>
                    <a:pt x="352" y="168"/>
                  </a:lnTo>
                  <a:lnTo>
                    <a:pt x="370" y="178"/>
                  </a:lnTo>
                  <a:lnTo>
                    <a:pt x="386" y="187"/>
                  </a:lnTo>
                  <a:lnTo>
                    <a:pt x="399" y="190"/>
                  </a:lnTo>
                  <a:lnTo>
                    <a:pt x="410" y="192"/>
                  </a:lnTo>
                  <a:lnTo>
                    <a:pt x="420" y="190"/>
                  </a:lnTo>
                  <a:lnTo>
                    <a:pt x="428" y="187"/>
                  </a:lnTo>
                  <a:lnTo>
                    <a:pt x="434" y="183"/>
                  </a:lnTo>
                  <a:lnTo>
                    <a:pt x="439" y="178"/>
                  </a:lnTo>
                  <a:lnTo>
                    <a:pt x="439" y="178"/>
                  </a:lnTo>
                  <a:close/>
                </a:path>
              </a:pathLst>
            </a:custGeom>
            <a:solidFill>
              <a:srgbClr val="E8AD8B"/>
            </a:solidFill>
            <a:ln>
              <a:noFill/>
            </a:ln>
          </p:spPr>
          <p:txBody>
            <a:bodyPr vert="horz" wrap="square" lIns="91440" tIns="45720" rIns="91440" bIns="45720" numCol="1" anchor="t" anchorCtr="0" compatLnSpc="1">
              <a:prstTxWarp prst="textNoShape">
                <a:avLst/>
              </a:prstTxWarp>
              <a:normAutofit lnSpcReduction="10000"/>
            </a:bodyPr>
            <a:lstStyle/>
            <a:p>
              <a:endParaRPr lang="en-US" dirty="0">
                <a:latin typeface="Arial" panose="020B0604020202020204" pitchFamily="34" charset="0"/>
                <a:ea typeface="+mn-ea"/>
              </a:endParaRPr>
            </a:p>
          </p:txBody>
        </p:sp>
        <p:sp>
          <p:nvSpPr>
            <p:cNvPr id="80" name="iṣ1iḋ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5A4C561-EA12-4B60-BE2A-31CC982C5E0D}"/>
                </a:ext>
              </a:extLst>
            </p:cNvPr>
            <p:cNvSpPr/>
            <p:nvPr/>
          </p:nvSpPr>
          <p:spPr bwMode="auto">
            <a:xfrm>
              <a:off x="2170190" y="4269171"/>
              <a:ext cx="80582" cy="60999"/>
            </a:xfrm>
            <a:custGeom>
              <a:avLst/>
              <a:gdLst>
                <a:gd name="T0" fmla="*/ 62 w 62"/>
                <a:gd name="T1" fmla="*/ 33 h 34"/>
                <a:gd name="T2" fmla="*/ 62 w 62"/>
                <a:gd name="T3" fmla="*/ 33 h 34"/>
                <a:gd name="T4" fmla="*/ 44 w 62"/>
                <a:gd name="T5" fmla="*/ 25 h 34"/>
                <a:gd name="T6" fmla="*/ 13 w 62"/>
                <a:gd name="T7" fmla="*/ 9 h 34"/>
                <a:gd name="T8" fmla="*/ 13 w 62"/>
                <a:gd name="T9" fmla="*/ 9 h 34"/>
                <a:gd name="T10" fmla="*/ 0 w 62"/>
                <a:gd name="T11" fmla="*/ 0 h 34"/>
                <a:gd name="T12" fmla="*/ 0 w 62"/>
                <a:gd name="T13" fmla="*/ 0 h 34"/>
                <a:gd name="T14" fmla="*/ 0 w 62"/>
                <a:gd name="T15" fmla="*/ 4 h 34"/>
                <a:gd name="T16" fmla="*/ 0 w 62"/>
                <a:gd name="T17" fmla="*/ 7 h 34"/>
                <a:gd name="T18" fmla="*/ 1 w 62"/>
                <a:gd name="T19" fmla="*/ 11 h 34"/>
                <a:gd name="T20" fmla="*/ 3 w 62"/>
                <a:gd name="T21" fmla="*/ 15 h 34"/>
                <a:gd name="T22" fmla="*/ 3 w 62"/>
                <a:gd name="T23" fmla="*/ 15 h 34"/>
                <a:gd name="T24" fmla="*/ 14 w 62"/>
                <a:gd name="T25" fmla="*/ 22 h 34"/>
                <a:gd name="T26" fmla="*/ 21 w 62"/>
                <a:gd name="T27" fmla="*/ 25 h 34"/>
                <a:gd name="T28" fmla="*/ 30 w 62"/>
                <a:gd name="T29" fmla="*/ 29 h 34"/>
                <a:gd name="T30" fmla="*/ 38 w 62"/>
                <a:gd name="T31" fmla="*/ 33 h 34"/>
                <a:gd name="T32" fmla="*/ 47 w 62"/>
                <a:gd name="T33" fmla="*/ 34 h 34"/>
                <a:gd name="T34" fmla="*/ 55 w 62"/>
                <a:gd name="T35" fmla="*/ 34 h 34"/>
                <a:gd name="T36" fmla="*/ 62 w 62"/>
                <a:gd name="T37" fmla="*/ 33 h 34"/>
                <a:gd name="T38" fmla="*/ 62 w 62"/>
                <a:gd name="T39"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2" h="34">
                  <a:moveTo>
                    <a:pt x="62" y="33"/>
                  </a:moveTo>
                  <a:lnTo>
                    <a:pt x="62" y="33"/>
                  </a:lnTo>
                  <a:lnTo>
                    <a:pt x="44" y="25"/>
                  </a:lnTo>
                  <a:lnTo>
                    <a:pt x="13" y="9"/>
                  </a:lnTo>
                  <a:lnTo>
                    <a:pt x="13" y="9"/>
                  </a:lnTo>
                  <a:lnTo>
                    <a:pt x="0" y="0"/>
                  </a:lnTo>
                  <a:lnTo>
                    <a:pt x="0" y="0"/>
                  </a:lnTo>
                  <a:lnTo>
                    <a:pt x="0" y="4"/>
                  </a:lnTo>
                  <a:lnTo>
                    <a:pt x="0" y="7"/>
                  </a:lnTo>
                  <a:lnTo>
                    <a:pt x="1" y="11"/>
                  </a:lnTo>
                  <a:lnTo>
                    <a:pt x="3" y="15"/>
                  </a:lnTo>
                  <a:lnTo>
                    <a:pt x="3" y="15"/>
                  </a:lnTo>
                  <a:lnTo>
                    <a:pt x="14" y="22"/>
                  </a:lnTo>
                  <a:lnTo>
                    <a:pt x="21" y="25"/>
                  </a:lnTo>
                  <a:lnTo>
                    <a:pt x="30" y="29"/>
                  </a:lnTo>
                  <a:lnTo>
                    <a:pt x="38" y="33"/>
                  </a:lnTo>
                  <a:lnTo>
                    <a:pt x="47" y="34"/>
                  </a:lnTo>
                  <a:lnTo>
                    <a:pt x="55" y="34"/>
                  </a:lnTo>
                  <a:lnTo>
                    <a:pt x="62" y="33"/>
                  </a:lnTo>
                  <a:lnTo>
                    <a:pt x="62" y="33"/>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81" name="ïšľíḋ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C848F6A-87D3-4477-9935-9293A979D09B}"/>
                </a:ext>
              </a:extLst>
            </p:cNvPr>
            <p:cNvSpPr/>
            <p:nvPr/>
          </p:nvSpPr>
          <p:spPr bwMode="auto">
            <a:xfrm>
              <a:off x="1724466" y="4114881"/>
              <a:ext cx="624516" cy="473637"/>
            </a:xfrm>
            <a:custGeom>
              <a:avLst/>
              <a:gdLst>
                <a:gd name="T0" fmla="*/ 2 w 496"/>
                <a:gd name="T1" fmla="*/ 4 h 265"/>
                <a:gd name="T2" fmla="*/ 11 w 496"/>
                <a:gd name="T3" fmla="*/ 0 h 265"/>
                <a:gd name="T4" fmla="*/ 23 w 496"/>
                <a:gd name="T5" fmla="*/ 0 h 265"/>
                <a:gd name="T6" fmla="*/ 53 w 496"/>
                <a:gd name="T7" fmla="*/ 14 h 265"/>
                <a:gd name="T8" fmla="*/ 100 w 496"/>
                <a:gd name="T9" fmla="*/ 34 h 265"/>
                <a:gd name="T10" fmla="*/ 150 w 496"/>
                <a:gd name="T11" fmla="*/ 50 h 265"/>
                <a:gd name="T12" fmla="*/ 170 w 496"/>
                <a:gd name="T13" fmla="*/ 53 h 265"/>
                <a:gd name="T14" fmla="*/ 236 w 496"/>
                <a:gd name="T15" fmla="*/ 65 h 265"/>
                <a:gd name="T16" fmla="*/ 272 w 496"/>
                <a:gd name="T17" fmla="*/ 69 h 265"/>
                <a:gd name="T18" fmla="*/ 292 w 496"/>
                <a:gd name="T19" fmla="*/ 68 h 265"/>
                <a:gd name="T20" fmla="*/ 306 w 496"/>
                <a:gd name="T21" fmla="*/ 65 h 265"/>
                <a:gd name="T22" fmla="*/ 315 w 496"/>
                <a:gd name="T23" fmla="*/ 72 h 265"/>
                <a:gd name="T24" fmla="*/ 345 w 496"/>
                <a:gd name="T25" fmla="*/ 105 h 265"/>
                <a:gd name="T26" fmla="*/ 377 w 496"/>
                <a:gd name="T27" fmla="*/ 141 h 265"/>
                <a:gd name="T28" fmla="*/ 403 w 496"/>
                <a:gd name="T29" fmla="*/ 164 h 265"/>
                <a:gd name="T30" fmla="*/ 434 w 496"/>
                <a:gd name="T31" fmla="*/ 185 h 265"/>
                <a:gd name="T32" fmla="*/ 468 w 496"/>
                <a:gd name="T33" fmla="*/ 198 h 265"/>
                <a:gd name="T34" fmla="*/ 487 w 496"/>
                <a:gd name="T35" fmla="*/ 201 h 265"/>
                <a:gd name="T36" fmla="*/ 493 w 496"/>
                <a:gd name="T37" fmla="*/ 210 h 265"/>
                <a:gd name="T38" fmla="*/ 496 w 496"/>
                <a:gd name="T39" fmla="*/ 221 h 265"/>
                <a:gd name="T40" fmla="*/ 493 w 496"/>
                <a:gd name="T41" fmla="*/ 234 h 265"/>
                <a:gd name="T42" fmla="*/ 486 w 496"/>
                <a:gd name="T43" fmla="*/ 246 h 265"/>
                <a:gd name="T44" fmla="*/ 474 w 496"/>
                <a:gd name="T45" fmla="*/ 256 h 265"/>
                <a:gd name="T46" fmla="*/ 457 w 496"/>
                <a:gd name="T47" fmla="*/ 263 h 265"/>
                <a:gd name="T48" fmla="*/ 434 w 496"/>
                <a:gd name="T49" fmla="*/ 265 h 265"/>
                <a:gd name="T50" fmla="*/ 408 w 496"/>
                <a:gd name="T51" fmla="*/ 262 h 265"/>
                <a:gd name="T52" fmla="*/ 393 w 496"/>
                <a:gd name="T53" fmla="*/ 257 h 265"/>
                <a:gd name="T54" fmla="*/ 368 w 496"/>
                <a:gd name="T55" fmla="*/ 247 h 265"/>
                <a:gd name="T56" fmla="*/ 345 w 496"/>
                <a:gd name="T57" fmla="*/ 236 h 265"/>
                <a:gd name="T58" fmla="*/ 326 w 496"/>
                <a:gd name="T59" fmla="*/ 222 h 265"/>
                <a:gd name="T60" fmla="*/ 310 w 496"/>
                <a:gd name="T61" fmla="*/ 208 h 265"/>
                <a:gd name="T62" fmla="*/ 297 w 496"/>
                <a:gd name="T63" fmla="*/ 189 h 265"/>
                <a:gd name="T64" fmla="*/ 286 w 496"/>
                <a:gd name="T65" fmla="*/ 171 h 265"/>
                <a:gd name="T66" fmla="*/ 274 w 496"/>
                <a:gd name="T67" fmla="*/ 140 h 265"/>
                <a:gd name="T68" fmla="*/ 262 w 496"/>
                <a:gd name="T69" fmla="*/ 144 h 265"/>
                <a:gd name="T70" fmla="*/ 235 w 496"/>
                <a:gd name="T71" fmla="*/ 149 h 265"/>
                <a:gd name="T72" fmla="*/ 188 w 496"/>
                <a:gd name="T73" fmla="*/ 152 h 265"/>
                <a:gd name="T74" fmla="*/ 136 w 496"/>
                <a:gd name="T75" fmla="*/ 150 h 265"/>
                <a:gd name="T76" fmla="*/ 103 w 496"/>
                <a:gd name="T77" fmla="*/ 144 h 265"/>
                <a:gd name="T78" fmla="*/ 73 w 496"/>
                <a:gd name="T79" fmla="*/ 135 h 265"/>
                <a:gd name="T80" fmla="*/ 49 w 496"/>
                <a:gd name="T81" fmla="*/ 123 h 265"/>
                <a:gd name="T82" fmla="*/ 38 w 496"/>
                <a:gd name="T83" fmla="*/ 116 h 265"/>
                <a:gd name="T84" fmla="*/ 23 w 496"/>
                <a:gd name="T85" fmla="*/ 100 h 265"/>
                <a:gd name="T86" fmla="*/ 12 w 496"/>
                <a:gd name="T87" fmla="*/ 82 h 265"/>
                <a:gd name="T88" fmla="*/ 5 w 496"/>
                <a:gd name="T89" fmla="*/ 64 h 265"/>
                <a:gd name="T90" fmla="*/ 0 w 496"/>
                <a:gd name="T91" fmla="*/ 29 h 265"/>
                <a:gd name="T92" fmla="*/ 2 w 496"/>
                <a:gd name="T93" fmla="*/ 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96" h="265">
                  <a:moveTo>
                    <a:pt x="2" y="4"/>
                  </a:moveTo>
                  <a:lnTo>
                    <a:pt x="2" y="4"/>
                  </a:lnTo>
                  <a:lnTo>
                    <a:pt x="6" y="2"/>
                  </a:lnTo>
                  <a:lnTo>
                    <a:pt x="11" y="0"/>
                  </a:lnTo>
                  <a:lnTo>
                    <a:pt x="17" y="0"/>
                  </a:lnTo>
                  <a:lnTo>
                    <a:pt x="23" y="0"/>
                  </a:lnTo>
                  <a:lnTo>
                    <a:pt x="36" y="5"/>
                  </a:lnTo>
                  <a:lnTo>
                    <a:pt x="53" y="14"/>
                  </a:lnTo>
                  <a:lnTo>
                    <a:pt x="74" y="23"/>
                  </a:lnTo>
                  <a:lnTo>
                    <a:pt x="100" y="34"/>
                  </a:lnTo>
                  <a:lnTo>
                    <a:pt x="131" y="44"/>
                  </a:lnTo>
                  <a:lnTo>
                    <a:pt x="150" y="50"/>
                  </a:lnTo>
                  <a:lnTo>
                    <a:pt x="170" y="53"/>
                  </a:lnTo>
                  <a:lnTo>
                    <a:pt x="170" y="53"/>
                  </a:lnTo>
                  <a:lnTo>
                    <a:pt x="207" y="61"/>
                  </a:lnTo>
                  <a:lnTo>
                    <a:pt x="236" y="65"/>
                  </a:lnTo>
                  <a:lnTo>
                    <a:pt x="256" y="68"/>
                  </a:lnTo>
                  <a:lnTo>
                    <a:pt x="272" y="69"/>
                  </a:lnTo>
                  <a:lnTo>
                    <a:pt x="284" y="68"/>
                  </a:lnTo>
                  <a:lnTo>
                    <a:pt x="292" y="68"/>
                  </a:lnTo>
                  <a:lnTo>
                    <a:pt x="306" y="65"/>
                  </a:lnTo>
                  <a:lnTo>
                    <a:pt x="306" y="65"/>
                  </a:lnTo>
                  <a:lnTo>
                    <a:pt x="310" y="68"/>
                  </a:lnTo>
                  <a:lnTo>
                    <a:pt x="315" y="72"/>
                  </a:lnTo>
                  <a:lnTo>
                    <a:pt x="328" y="86"/>
                  </a:lnTo>
                  <a:lnTo>
                    <a:pt x="345" y="105"/>
                  </a:lnTo>
                  <a:lnTo>
                    <a:pt x="366" y="129"/>
                  </a:lnTo>
                  <a:lnTo>
                    <a:pt x="377" y="141"/>
                  </a:lnTo>
                  <a:lnTo>
                    <a:pt x="390" y="153"/>
                  </a:lnTo>
                  <a:lnTo>
                    <a:pt x="403" y="164"/>
                  </a:lnTo>
                  <a:lnTo>
                    <a:pt x="419" y="175"/>
                  </a:lnTo>
                  <a:lnTo>
                    <a:pt x="434" y="185"/>
                  </a:lnTo>
                  <a:lnTo>
                    <a:pt x="451" y="192"/>
                  </a:lnTo>
                  <a:lnTo>
                    <a:pt x="468" y="198"/>
                  </a:lnTo>
                  <a:lnTo>
                    <a:pt x="487" y="201"/>
                  </a:lnTo>
                  <a:lnTo>
                    <a:pt x="487" y="201"/>
                  </a:lnTo>
                  <a:lnTo>
                    <a:pt x="491" y="205"/>
                  </a:lnTo>
                  <a:lnTo>
                    <a:pt x="493" y="210"/>
                  </a:lnTo>
                  <a:lnTo>
                    <a:pt x="496" y="216"/>
                  </a:lnTo>
                  <a:lnTo>
                    <a:pt x="496" y="221"/>
                  </a:lnTo>
                  <a:lnTo>
                    <a:pt x="495" y="228"/>
                  </a:lnTo>
                  <a:lnTo>
                    <a:pt x="493" y="234"/>
                  </a:lnTo>
                  <a:lnTo>
                    <a:pt x="490" y="240"/>
                  </a:lnTo>
                  <a:lnTo>
                    <a:pt x="486" y="246"/>
                  </a:lnTo>
                  <a:lnTo>
                    <a:pt x="480" y="251"/>
                  </a:lnTo>
                  <a:lnTo>
                    <a:pt x="474" y="256"/>
                  </a:lnTo>
                  <a:lnTo>
                    <a:pt x="466" y="259"/>
                  </a:lnTo>
                  <a:lnTo>
                    <a:pt x="457" y="263"/>
                  </a:lnTo>
                  <a:lnTo>
                    <a:pt x="446" y="264"/>
                  </a:lnTo>
                  <a:lnTo>
                    <a:pt x="434" y="265"/>
                  </a:lnTo>
                  <a:lnTo>
                    <a:pt x="422" y="264"/>
                  </a:lnTo>
                  <a:lnTo>
                    <a:pt x="408" y="262"/>
                  </a:lnTo>
                  <a:lnTo>
                    <a:pt x="408" y="262"/>
                  </a:lnTo>
                  <a:lnTo>
                    <a:pt x="393" y="257"/>
                  </a:lnTo>
                  <a:lnTo>
                    <a:pt x="380" y="252"/>
                  </a:lnTo>
                  <a:lnTo>
                    <a:pt x="368" y="247"/>
                  </a:lnTo>
                  <a:lnTo>
                    <a:pt x="356" y="242"/>
                  </a:lnTo>
                  <a:lnTo>
                    <a:pt x="345" y="236"/>
                  </a:lnTo>
                  <a:lnTo>
                    <a:pt x="336" y="229"/>
                  </a:lnTo>
                  <a:lnTo>
                    <a:pt x="326" y="222"/>
                  </a:lnTo>
                  <a:lnTo>
                    <a:pt x="318" y="215"/>
                  </a:lnTo>
                  <a:lnTo>
                    <a:pt x="310" y="208"/>
                  </a:lnTo>
                  <a:lnTo>
                    <a:pt x="303" y="199"/>
                  </a:lnTo>
                  <a:lnTo>
                    <a:pt x="297" y="189"/>
                  </a:lnTo>
                  <a:lnTo>
                    <a:pt x="291" y="181"/>
                  </a:lnTo>
                  <a:lnTo>
                    <a:pt x="286" y="171"/>
                  </a:lnTo>
                  <a:lnTo>
                    <a:pt x="281" y="161"/>
                  </a:lnTo>
                  <a:lnTo>
                    <a:pt x="274" y="140"/>
                  </a:lnTo>
                  <a:lnTo>
                    <a:pt x="274" y="140"/>
                  </a:lnTo>
                  <a:lnTo>
                    <a:pt x="262" y="144"/>
                  </a:lnTo>
                  <a:lnTo>
                    <a:pt x="249" y="146"/>
                  </a:lnTo>
                  <a:lnTo>
                    <a:pt x="235" y="149"/>
                  </a:lnTo>
                  <a:lnTo>
                    <a:pt x="220" y="151"/>
                  </a:lnTo>
                  <a:lnTo>
                    <a:pt x="188" y="152"/>
                  </a:lnTo>
                  <a:lnTo>
                    <a:pt x="153" y="151"/>
                  </a:lnTo>
                  <a:lnTo>
                    <a:pt x="136" y="150"/>
                  </a:lnTo>
                  <a:lnTo>
                    <a:pt x="120" y="147"/>
                  </a:lnTo>
                  <a:lnTo>
                    <a:pt x="103" y="144"/>
                  </a:lnTo>
                  <a:lnTo>
                    <a:pt x="88" y="140"/>
                  </a:lnTo>
                  <a:lnTo>
                    <a:pt x="73" y="135"/>
                  </a:lnTo>
                  <a:lnTo>
                    <a:pt x="60" y="129"/>
                  </a:lnTo>
                  <a:lnTo>
                    <a:pt x="49" y="123"/>
                  </a:lnTo>
                  <a:lnTo>
                    <a:pt x="38" y="116"/>
                  </a:lnTo>
                  <a:lnTo>
                    <a:pt x="38" y="116"/>
                  </a:lnTo>
                  <a:lnTo>
                    <a:pt x="30" y="109"/>
                  </a:lnTo>
                  <a:lnTo>
                    <a:pt x="23" y="100"/>
                  </a:lnTo>
                  <a:lnTo>
                    <a:pt x="17" y="92"/>
                  </a:lnTo>
                  <a:lnTo>
                    <a:pt x="12" y="82"/>
                  </a:lnTo>
                  <a:lnTo>
                    <a:pt x="7" y="73"/>
                  </a:lnTo>
                  <a:lnTo>
                    <a:pt x="5" y="64"/>
                  </a:lnTo>
                  <a:lnTo>
                    <a:pt x="1" y="46"/>
                  </a:lnTo>
                  <a:lnTo>
                    <a:pt x="0" y="29"/>
                  </a:lnTo>
                  <a:lnTo>
                    <a:pt x="1" y="16"/>
                  </a:lnTo>
                  <a:lnTo>
                    <a:pt x="2" y="4"/>
                  </a:lnTo>
                  <a:lnTo>
                    <a:pt x="2" y="4"/>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2" name="išľîď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9C873C74-B52C-4626-AE18-E8272E7C3649}"/>
                </a:ext>
              </a:extLst>
            </p:cNvPr>
            <p:cNvSpPr/>
            <p:nvPr/>
          </p:nvSpPr>
          <p:spPr bwMode="auto">
            <a:xfrm>
              <a:off x="822947" y="4340934"/>
              <a:ext cx="236712" cy="627930"/>
            </a:xfrm>
            <a:custGeom>
              <a:avLst/>
              <a:gdLst>
                <a:gd name="T0" fmla="*/ 58 w 186"/>
                <a:gd name="T1" fmla="*/ 1 h 350"/>
                <a:gd name="T2" fmla="*/ 136 w 186"/>
                <a:gd name="T3" fmla="*/ 0 h 350"/>
                <a:gd name="T4" fmla="*/ 136 w 186"/>
                <a:gd name="T5" fmla="*/ 0 h 350"/>
                <a:gd name="T6" fmla="*/ 139 w 186"/>
                <a:gd name="T7" fmla="*/ 6 h 350"/>
                <a:gd name="T8" fmla="*/ 148 w 186"/>
                <a:gd name="T9" fmla="*/ 24 h 350"/>
                <a:gd name="T10" fmla="*/ 153 w 186"/>
                <a:gd name="T11" fmla="*/ 37 h 350"/>
                <a:gd name="T12" fmla="*/ 159 w 186"/>
                <a:gd name="T13" fmla="*/ 53 h 350"/>
                <a:gd name="T14" fmla="*/ 165 w 186"/>
                <a:gd name="T15" fmla="*/ 71 h 350"/>
                <a:gd name="T16" fmla="*/ 171 w 186"/>
                <a:gd name="T17" fmla="*/ 93 h 350"/>
                <a:gd name="T18" fmla="*/ 177 w 186"/>
                <a:gd name="T19" fmla="*/ 115 h 350"/>
                <a:gd name="T20" fmla="*/ 180 w 186"/>
                <a:gd name="T21" fmla="*/ 142 h 350"/>
                <a:gd name="T22" fmla="*/ 184 w 186"/>
                <a:gd name="T23" fmla="*/ 170 h 350"/>
                <a:gd name="T24" fmla="*/ 186 w 186"/>
                <a:gd name="T25" fmla="*/ 201 h 350"/>
                <a:gd name="T26" fmla="*/ 186 w 186"/>
                <a:gd name="T27" fmla="*/ 233 h 350"/>
                <a:gd name="T28" fmla="*/ 184 w 186"/>
                <a:gd name="T29" fmla="*/ 268 h 350"/>
                <a:gd name="T30" fmla="*/ 180 w 186"/>
                <a:gd name="T31" fmla="*/ 306 h 350"/>
                <a:gd name="T32" fmla="*/ 173 w 186"/>
                <a:gd name="T33" fmla="*/ 344 h 350"/>
                <a:gd name="T34" fmla="*/ 173 w 186"/>
                <a:gd name="T35" fmla="*/ 344 h 350"/>
                <a:gd name="T36" fmla="*/ 132 w 186"/>
                <a:gd name="T37" fmla="*/ 345 h 350"/>
                <a:gd name="T38" fmla="*/ 91 w 186"/>
                <a:gd name="T39" fmla="*/ 348 h 350"/>
                <a:gd name="T40" fmla="*/ 48 w 186"/>
                <a:gd name="T41" fmla="*/ 350 h 350"/>
                <a:gd name="T42" fmla="*/ 48 w 186"/>
                <a:gd name="T43" fmla="*/ 350 h 350"/>
                <a:gd name="T44" fmla="*/ 45 w 186"/>
                <a:gd name="T45" fmla="*/ 348 h 350"/>
                <a:gd name="T46" fmla="*/ 38 w 186"/>
                <a:gd name="T47" fmla="*/ 339 h 350"/>
                <a:gd name="T48" fmla="*/ 30 w 186"/>
                <a:gd name="T49" fmla="*/ 325 h 350"/>
                <a:gd name="T50" fmla="*/ 19 w 186"/>
                <a:gd name="T51" fmla="*/ 306 h 350"/>
                <a:gd name="T52" fmla="*/ 14 w 186"/>
                <a:gd name="T53" fmla="*/ 294 h 350"/>
                <a:gd name="T54" fmla="*/ 11 w 186"/>
                <a:gd name="T55" fmla="*/ 280 h 350"/>
                <a:gd name="T56" fmla="*/ 6 w 186"/>
                <a:gd name="T57" fmla="*/ 265 h 350"/>
                <a:gd name="T58" fmla="*/ 3 w 186"/>
                <a:gd name="T59" fmla="*/ 248 h 350"/>
                <a:gd name="T60" fmla="*/ 1 w 186"/>
                <a:gd name="T61" fmla="*/ 230 h 350"/>
                <a:gd name="T62" fmla="*/ 0 w 186"/>
                <a:gd name="T63" fmla="*/ 209 h 350"/>
                <a:gd name="T64" fmla="*/ 0 w 186"/>
                <a:gd name="T65" fmla="*/ 188 h 350"/>
                <a:gd name="T66" fmla="*/ 2 w 186"/>
                <a:gd name="T67" fmla="*/ 165 h 350"/>
                <a:gd name="T68" fmla="*/ 2 w 186"/>
                <a:gd name="T69" fmla="*/ 165 h 350"/>
                <a:gd name="T70" fmla="*/ 5 w 186"/>
                <a:gd name="T71" fmla="*/ 142 h 350"/>
                <a:gd name="T72" fmla="*/ 8 w 186"/>
                <a:gd name="T73" fmla="*/ 120 h 350"/>
                <a:gd name="T74" fmla="*/ 12 w 186"/>
                <a:gd name="T75" fmla="*/ 102 h 350"/>
                <a:gd name="T76" fmla="*/ 17 w 186"/>
                <a:gd name="T77" fmla="*/ 85 h 350"/>
                <a:gd name="T78" fmla="*/ 26 w 186"/>
                <a:gd name="T79" fmla="*/ 56 h 350"/>
                <a:gd name="T80" fmla="*/ 35 w 186"/>
                <a:gd name="T81" fmla="*/ 35 h 350"/>
                <a:gd name="T82" fmla="*/ 43 w 186"/>
                <a:gd name="T83" fmla="*/ 19 h 350"/>
                <a:gd name="T84" fmla="*/ 50 w 186"/>
                <a:gd name="T85" fmla="*/ 8 h 350"/>
                <a:gd name="T86" fmla="*/ 58 w 186"/>
                <a:gd name="T87" fmla="*/ 1 h 350"/>
                <a:gd name="T88" fmla="*/ 58 w 186"/>
                <a:gd name="T89" fmla="*/ 1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6" h="350">
                  <a:moveTo>
                    <a:pt x="58" y="1"/>
                  </a:moveTo>
                  <a:lnTo>
                    <a:pt x="136" y="0"/>
                  </a:lnTo>
                  <a:lnTo>
                    <a:pt x="136" y="0"/>
                  </a:lnTo>
                  <a:lnTo>
                    <a:pt x="139" y="6"/>
                  </a:lnTo>
                  <a:lnTo>
                    <a:pt x="148" y="24"/>
                  </a:lnTo>
                  <a:lnTo>
                    <a:pt x="153" y="37"/>
                  </a:lnTo>
                  <a:lnTo>
                    <a:pt x="159" y="53"/>
                  </a:lnTo>
                  <a:lnTo>
                    <a:pt x="165" y="71"/>
                  </a:lnTo>
                  <a:lnTo>
                    <a:pt x="171" y="93"/>
                  </a:lnTo>
                  <a:lnTo>
                    <a:pt x="177" y="115"/>
                  </a:lnTo>
                  <a:lnTo>
                    <a:pt x="180" y="142"/>
                  </a:lnTo>
                  <a:lnTo>
                    <a:pt x="184" y="170"/>
                  </a:lnTo>
                  <a:lnTo>
                    <a:pt x="186" y="201"/>
                  </a:lnTo>
                  <a:lnTo>
                    <a:pt x="186" y="233"/>
                  </a:lnTo>
                  <a:lnTo>
                    <a:pt x="184" y="268"/>
                  </a:lnTo>
                  <a:lnTo>
                    <a:pt x="180" y="306"/>
                  </a:lnTo>
                  <a:lnTo>
                    <a:pt x="173" y="344"/>
                  </a:lnTo>
                  <a:lnTo>
                    <a:pt x="173" y="344"/>
                  </a:lnTo>
                  <a:lnTo>
                    <a:pt x="132" y="345"/>
                  </a:lnTo>
                  <a:lnTo>
                    <a:pt x="91" y="348"/>
                  </a:lnTo>
                  <a:lnTo>
                    <a:pt x="48" y="350"/>
                  </a:lnTo>
                  <a:lnTo>
                    <a:pt x="48" y="350"/>
                  </a:lnTo>
                  <a:lnTo>
                    <a:pt x="45" y="348"/>
                  </a:lnTo>
                  <a:lnTo>
                    <a:pt x="38" y="339"/>
                  </a:lnTo>
                  <a:lnTo>
                    <a:pt x="30" y="325"/>
                  </a:lnTo>
                  <a:lnTo>
                    <a:pt x="19" y="306"/>
                  </a:lnTo>
                  <a:lnTo>
                    <a:pt x="14" y="294"/>
                  </a:lnTo>
                  <a:lnTo>
                    <a:pt x="11" y="280"/>
                  </a:lnTo>
                  <a:lnTo>
                    <a:pt x="6" y="265"/>
                  </a:lnTo>
                  <a:lnTo>
                    <a:pt x="3" y="248"/>
                  </a:lnTo>
                  <a:lnTo>
                    <a:pt x="1" y="230"/>
                  </a:lnTo>
                  <a:lnTo>
                    <a:pt x="0" y="209"/>
                  </a:lnTo>
                  <a:lnTo>
                    <a:pt x="0" y="188"/>
                  </a:lnTo>
                  <a:lnTo>
                    <a:pt x="2" y="165"/>
                  </a:lnTo>
                  <a:lnTo>
                    <a:pt x="2" y="165"/>
                  </a:lnTo>
                  <a:lnTo>
                    <a:pt x="5" y="142"/>
                  </a:lnTo>
                  <a:lnTo>
                    <a:pt x="8" y="120"/>
                  </a:lnTo>
                  <a:lnTo>
                    <a:pt x="12" y="102"/>
                  </a:lnTo>
                  <a:lnTo>
                    <a:pt x="17" y="85"/>
                  </a:lnTo>
                  <a:lnTo>
                    <a:pt x="26" y="56"/>
                  </a:lnTo>
                  <a:lnTo>
                    <a:pt x="35" y="35"/>
                  </a:lnTo>
                  <a:lnTo>
                    <a:pt x="43" y="19"/>
                  </a:lnTo>
                  <a:lnTo>
                    <a:pt x="50" y="8"/>
                  </a:lnTo>
                  <a:lnTo>
                    <a:pt x="58" y="1"/>
                  </a:lnTo>
                  <a:lnTo>
                    <a:pt x="58" y="1"/>
                  </a:lnTo>
                  <a:close/>
                </a:path>
              </a:pathLst>
            </a:custGeom>
            <a:solidFill>
              <a:srgbClr val="C6A7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3" name="îSḻíḑ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89D772A-4B5B-46A2-A8DF-1143111FF070}"/>
                </a:ext>
              </a:extLst>
            </p:cNvPr>
            <p:cNvSpPr/>
            <p:nvPr/>
          </p:nvSpPr>
          <p:spPr bwMode="auto">
            <a:xfrm>
              <a:off x="890939" y="3978532"/>
              <a:ext cx="1072758" cy="1015451"/>
            </a:xfrm>
            <a:custGeom>
              <a:avLst/>
              <a:gdLst>
                <a:gd name="T0" fmla="*/ 783 w 852"/>
                <a:gd name="T1" fmla="*/ 426 h 566"/>
                <a:gd name="T2" fmla="*/ 742 w 852"/>
                <a:gd name="T3" fmla="*/ 420 h 566"/>
                <a:gd name="T4" fmla="*/ 686 w 852"/>
                <a:gd name="T5" fmla="*/ 425 h 566"/>
                <a:gd name="T6" fmla="*/ 612 w 852"/>
                <a:gd name="T7" fmla="*/ 446 h 566"/>
                <a:gd name="T8" fmla="*/ 588 w 852"/>
                <a:gd name="T9" fmla="*/ 451 h 566"/>
                <a:gd name="T10" fmla="*/ 561 w 852"/>
                <a:gd name="T11" fmla="*/ 434 h 566"/>
                <a:gd name="T12" fmla="*/ 535 w 852"/>
                <a:gd name="T13" fmla="*/ 408 h 566"/>
                <a:gd name="T14" fmla="*/ 558 w 852"/>
                <a:gd name="T15" fmla="*/ 398 h 566"/>
                <a:gd name="T16" fmla="*/ 618 w 852"/>
                <a:gd name="T17" fmla="*/ 385 h 566"/>
                <a:gd name="T18" fmla="*/ 666 w 852"/>
                <a:gd name="T19" fmla="*/ 357 h 566"/>
                <a:gd name="T20" fmla="*/ 686 w 852"/>
                <a:gd name="T21" fmla="*/ 342 h 566"/>
                <a:gd name="T22" fmla="*/ 703 w 852"/>
                <a:gd name="T23" fmla="*/ 316 h 566"/>
                <a:gd name="T24" fmla="*/ 707 w 852"/>
                <a:gd name="T25" fmla="*/ 313 h 566"/>
                <a:gd name="T26" fmla="*/ 725 w 852"/>
                <a:gd name="T27" fmla="*/ 286 h 566"/>
                <a:gd name="T28" fmla="*/ 745 w 852"/>
                <a:gd name="T29" fmla="*/ 248 h 566"/>
                <a:gd name="T30" fmla="*/ 748 w 852"/>
                <a:gd name="T31" fmla="*/ 231 h 566"/>
                <a:gd name="T32" fmla="*/ 747 w 852"/>
                <a:gd name="T33" fmla="*/ 203 h 566"/>
                <a:gd name="T34" fmla="*/ 731 w 852"/>
                <a:gd name="T35" fmla="*/ 168 h 566"/>
                <a:gd name="T36" fmla="*/ 717 w 852"/>
                <a:gd name="T37" fmla="*/ 143 h 566"/>
                <a:gd name="T38" fmla="*/ 709 w 852"/>
                <a:gd name="T39" fmla="*/ 109 h 566"/>
                <a:gd name="T40" fmla="*/ 697 w 852"/>
                <a:gd name="T41" fmla="*/ 46 h 566"/>
                <a:gd name="T42" fmla="*/ 683 w 852"/>
                <a:gd name="T43" fmla="*/ 19 h 566"/>
                <a:gd name="T44" fmla="*/ 660 w 852"/>
                <a:gd name="T45" fmla="*/ 1 h 566"/>
                <a:gd name="T46" fmla="*/ 646 w 852"/>
                <a:gd name="T47" fmla="*/ 0 h 566"/>
                <a:gd name="T48" fmla="*/ 627 w 852"/>
                <a:gd name="T49" fmla="*/ 12 h 566"/>
                <a:gd name="T50" fmla="*/ 567 w 852"/>
                <a:gd name="T51" fmla="*/ 60 h 566"/>
                <a:gd name="T52" fmla="*/ 508 w 852"/>
                <a:gd name="T53" fmla="*/ 95 h 566"/>
                <a:gd name="T54" fmla="*/ 397 w 852"/>
                <a:gd name="T55" fmla="*/ 147 h 566"/>
                <a:gd name="T56" fmla="*/ 262 w 852"/>
                <a:gd name="T57" fmla="*/ 198 h 566"/>
                <a:gd name="T58" fmla="*/ 195 w 852"/>
                <a:gd name="T59" fmla="*/ 218 h 566"/>
                <a:gd name="T60" fmla="*/ 141 w 852"/>
                <a:gd name="T61" fmla="*/ 226 h 566"/>
                <a:gd name="T62" fmla="*/ 69 w 852"/>
                <a:gd name="T63" fmla="*/ 224 h 566"/>
                <a:gd name="T64" fmla="*/ 53 w 852"/>
                <a:gd name="T65" fmla="*/ 221 h 566"/>
                <a:gd name="T66" fmla="*/ 33 w 852"/>
                <a:gd name="T67" fmla="*/ 242 h 566"/>
                <a:gd name="T68" fmla="*/ 18 w 852"/>
                <a:gd name="T69" fmla="*/ 273 h 566"/>
                <a:gd name="T70" fmla="*/ 6 w 852"/>
                <a:gd name="T71" fmla="*/ 321 h 566"/>
                <a:gd name="T72" fmla="*/ 0 w 852"/>
                <a:gd name="T73" fmla="*/ 393 h 566"/>
                <a:gd name="T74" fmla="*/ 2 w 852"/>
                <a:gd name="T75" fmla="*/ 419 h 566"/>
                <a:gd name="T76" fmla="*/ 13 w 852"/>
                <a:gd name="T77" fmla="*/ 457 h 566"/>
                <a:gd name="T78" fmla="*/ 35 w 852"/>
                <a:gd name="T79" fmla="*/ 491 h 566"/>
                <a:gd name="T80" fmla="*/ 43 w 852"/>
                <a:gd name="T81" fmla="*/ 496 h 566"/>
                <a:gd name="T82" fmla="*/ 98 w 852"/>
                <a:gd name="T83" fmla="*/ 485 h 566"/>
                <a:gd name="T84" fmla="*/ 202 w 852"/>
                <a:gd name="T85" fmla="*/ 475 h 566"/>
                <a:gd name="T86" fmla="*/ 246 w 852"/>
                <a:gd name="T87" fmla="*/ 478 h 566"/>
                <a:gd name="T88" fmla="*/ 267 w 852"/>
                <a:gd name="T89" fmla="*/ 487 h 566"/>
                <a:gd name="T90" fmla="*/ 311 w 852"/>
                <a:gd name="T91" fmla="*/ 511 h 566"/>
                <a:gd name="T92" fmla="*/ 372 w 852"/>
                <a:gd name="T93" fmla="*/ 535 h 566"/>
                <a:gd name="T94" fmla="*/ 441 w 852"/>
                <a:gd name="T95" fmla="*/ 555 h 566"/>
                <a:gd name="T96" fmla="*/ 510 w 852"/>
                <a:gd name="T97" fmla="*/ 566 h 566"/>
                <a:gd name="T98" fmla="*/ 570 w 852"/>
                <a:gd name="T99" fmla="*/ 561 h 566"/>
                <a:gd name="T100" fmla="*/ 603 w 852"/>
                <a:gd name="T101" fmla="*/ 544 h 566"/>
                <a:gd name="T102" fmla="*/ 665 w 852"/>
                <a:gd name="T103" fmla="*/ 528 h 566"/>
                <a:gd name="T104" fmla="*/ 775 w 852"/>
                <a:gd name="T105" fmla="*/ 517 h 566"/>
                <a:gd name="T106" fmla="*/ 841 w 852"/>
                <a:gd name="T107" fmla="*/ 516 h 566"/>
                <a:gd name="T108" fmla="*/ 851 w 852"/>
                <a:gd name="T109" fmla="*/ 499 h 566"/>
                <a:gd name="T110" fmla="*/ 851 w 852"/>
                <a:gd name="T111" fmla="*/ 484 h 566"/>
                <a:gd name="T112" fmla="*/ 842 w 852"/>
                <a:gd name="T113" fmla="*/ 466 h 566"/>
                <a:gd name="T114" fmla="*/ 825 w 852"/>
                <a:gd name="T115" fmla="*/ 448 h 566"/>
                <a:gd name="T116" fmla="*/ 795 w 852"/>
                <a:gd name="T117" fmla="*/ 431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52" h="566">
                  <a:moveTo>
                    <a:pt x="795" y="431"/>
                  </a:moveTo>
                  <a:lnTo>
                    <a:pt x="795" y="431"/>
                  </a:lnTo>
                  <a:lnTo>
                    <a:pt x="783" y="426"/>
                  </a:lnTo>
                  <a:lnTo>
                    <a:pt x="770" y="424"/>
                  </a:lnTo>
                  <a:lnTo>
                    <a:pt x="757" y="421"/>
                  </a:lnTo>
                  <a:lnTo>
                    <a:pt x="742" y="420"/>
                  </a:lnTo>
                  <a:lnTo>
                    <a:pt x="728" y="420"/>
                  </a:lnTo>
                  <a:lnTo>
                    <a:pt x="713" y="421"/>
                  </a:lnTo>
                  <a:lnTo>
                    <a:pt x="686" y="425"/>
                  </a:lnTo>
                  <a:lnTo>
                    <a:pt x="658" y="431"/>
                  </a:lnTo>
                  <a:lnTo>
                    <a:pt x="634" y="439"/>
                  </a:lnTo>
                  <a:lnTo>
                    <a:pt x="612" y="446"/>
                  </a:lnTo>
                  <a:lnTo>
                    <a:pt x="595" y="455"/>
                  </a:lnTo>
                  <a:lnTo>
                    <a:pt x="595" y="455"/>
                  </a:lnTo>
                  <a:lnTo>
                    <a:pt x="588" y="451"/>
                  </a:lnTo>
                  <a:lnTo>
                    <a:pt x="580" y="448"/>
                  </a:lnTo>
                  <a:lnTo>
                    <a:pt x="570" y="442"/>
                  </a:lnTo>
                  <a:lnTo>
                    <a:pt x="561" y="434"/>
                  </a:lnTo>
                  <a:lnTo>
                    <a:pt x="552" y="426"/>
                  </a:lnTo>
                  <a:lnTo>
                    <a:pt x="543" y="418"/>
                  </a:lnTo>
                  <a:lnTo>
                    <a:pt x="535" y="408"/>
                  </a:lnTo>
                  <a:lnTo>
                    <a:pt x="529" y="399"/>
                  </a:lnTo>
                  <a:lnTo>
                    <a:pt x="529" y="399"/>
                  </a:lnTo>
                  <a:lnTo>
                    <a:pt x="558" y="398"/>
                  </a:lnTo>
                  <a:lnTo>
                    <a:pt x="582" y="395"/>
                  </a:lnTo>
                  <a:lnTo>
                    <a:pt x="601" y="391"/>
                  </a:lnTo>
                  <a:lnTo>
                    <a:pt x="618" y="385"/>
                  </a:lnTo>
                  <a:lnTo>
                    <a:pt x="632" y="379"/>
                  </a:lnTo>
                  <a:lnTo>
                    <a:pt x="644" y="372"/>
                  </a:lnTo>
                  <a:lnTo>
                    <a:pt x="666" y="357"/>
                  </a:lnTo>
                  <a:lnTo>
                    <a:pt x="666" y="357"/>
                  </a:lnTo>
                  <a:lnTo>
                    <a:pt x="677" y="349"/>
                  </a:lnTo>
                  <a:lnTo>
                    <a:pt x="686" y="342"/>
                  </a:lnTo>
                  <a:lnTo>
                    <a:pt x="692" y="333"/>
                  </a:lnTo>
                  <a:lnTo>
                    <a:pt x="697" y="327"/>
                  </a:lnTo>
                  <a:lnTo>
                    <a:pt x="703" y="316"/>
                  </a:lnTo>
                  <a:lnTo>
                    <a:pt x="704" y="312"/>
                  </a:lnTo>
                  <a:lnTo>
                    <a:pt x="704" y="312"/>
                  </a:lnTo>
                  <a:lnTo>
                    <a:pt x="707" y="313"/>
                  </a:lnTo>
                  <a:lnTo>
                    <a:pt x="707" y="313"/>
                  </a:lnTo>
                  <a:lnTo>
                    <a:pt x="716" y="300"/>
                  </a:lnTo>
                  <a:lnTo>
                    <a:pt x="725" y="286"/>
                  </a:lnTo>
                  <a:lnTo>
                    <a:pt x="735" y="271"/>
                  </a:lnTo>
                  <a:lnTo>
                    <a:pt x="740" y="260"/>
                  </a:lnTo>
                  <a:lnTo>
                    <a:pt x="745" y="248"/>
                  </a:lnTo>
                  <a:lnTo>
                    <a:pt x="745" y="248"/>
                  </a:lnTo>
                  <a:lnTo>
                    <a:pt x="747" y="239"/>
                  </a:lnTo>
                  <a:lnTo>
                    <a:pt x="748" y="231"/>
                  </a:lnTo>
                  <a:lnTo>
                    <a:pt x="750" y="224"/>
                  </a:lnTo>
                  <a:lnTo>
                    <a:pt x="750" y="217"/>
                  </a:lnTo>
                  <a:lnTo>
                    <a:pt x="747" y="203"/>
                  </a:lnTo>
                  <a:lnTo>
                    <a:pt x="743" y="191"/>
                  </a:lnTo>
                  <a:lnTo>
                    <a:pt x="737" y="179"/>
                  </a:lnTo>
                  <a:lnTo>
                    <a:pt x="731" y="168"/>
                  </a:lnTo>
                  <a:lnTo>
                    <a:pt x="724" y="156"/>
                  </a:lnTo>
                  <a:lnTo>
                    <a:pt x="717" y="143"/>
                  </a:lnTo>
                  <a:lnTo>
                    <a:pt x="717" y="143"/>
                  </a:lnTo>
                  <a:lnTo>
                    <a:pt x="715" y="136"/>
                  </a:lnTo>
                  <a:lnTo>
                    <a:pt x="712" y="127"/>
                  </a:lnTo>
                  <a:lnTo>
                    <a:pt x="709" y="109"/>
                  </a:lnTo>
                  <a:lnTo>
                    <a:pt x="705" y="88"/>
                  </a:lnTo>
                  <a:lnTo>
                    <a:pt x="701" y="66"/>
                  </a:lnTo>
                  <a:lnTo>
                    <a:pt x="697" y="46"/>
                  </a:lnTo>
                  <a:lnTo>
                    <a:pt x="693" y="36"/>
                  </a:lnTo>
                  <a:lnTo>
                    <a:pt x="689" y="26"/>
                  </a:lnTo>
                  <a:lnTo>
                    <a:pt x="683" y="19"/>
                  </a:lnTo>
                  <a:lnTo>
                    <a:pt x="677" y="12"/>
                  </a:lnTo>
                  <a:lnTo>
                    <a:pt x="670" y="6"/>
                  </a:lnTo>
                  <a:lnTo>
                    <a:pt x="660" y="1"/>
                  </a:lnTo>
                  <a:lnTo>
                    <a:pt x="660" y="1"/>
                  </a:lnTo>
                  <a:lnTo>
                    <a:pt x="651" y="0"/>
                  </a:lnTo>
                  <a:lnTo>
                    <a:pt x="646" y="0"/>
                  </a:lnTo>
                  <a:lnTo>
                    <a:pt x="642" y="1"/>
                  </a:lnTo>
                  <a:lnTo>
                    <a:pt x="635" y="5"/>
                  </a:lnTo>
                  <a:lnTo>
                    <a:pt x="627" y="12"/>
                  </a:lnTo>
                  <a:lnTo>
                    <a:pt x="604" y="32"/>
                  </a:lnTo>
                  <a:lnTo>
                    <a:pt x="587" y="46"/>
                  </a:lnTo>
                  <a:lnTo>
                    <a:pt x="567" y="60"/>
                  </a:lnTo>
                  <a:lnTo>
                    <a:pt x="567" y="60"/>
                  </a:lnTo>
                  <a:lnTo>
                    <a:pt x="539" y="77"/>
                  </a:lnTo>
                  <a:lnTo>
                    <a:pt x="508" y="95"/>
                  </a:lnTo>
                  <a:lnTo>
                    <a:pt x="474" y="112"/>
                  </a:lnTo>
                  <a:lnTo>
                    <a:pt x="437" y="129"/>
                  </a:lnTo>
                  <a:lnTo>
                    <a:pt x="397" y="147"/>
                  </a:lnTo>
                  <a:lnTo>
                    <a:pt x="355" y="164"/>
                  </a:lnTo>
                  <a:lnTo>
                    <a:pt x="262" y="198"/>
                  </a:lnTo>
                  <a:lnTo>
                    <a:pt x="262" y="198"/>
                  </a:lnTo>
                  <a:lnTo>
                    <a:pt x="238" y="207"/>
                  </a:lnTo>
                  <a:lnTo>
                    <a:pt x="216" y="213"/>
                  </a:lnTo>
                  <a:lnTo>
                    <a:pt x="195" y="218"/>
                  </a:lnTo>
                  <a:lnTo>
                    <a:pt x="175" y="221"/>
                  </a:lnTo>
                  <a:lnTo>
                    <a:pt x="157" y="224"/>
                  </a:lnTo>
                  <a:lnTo>
                    <a:pt x="141" y="226"/>
                  </a:lnTo>
                  <a:lnTo>
                    <a:pt x="110" y="227"/>
                  </a:lnTo>
                  <a:lnTo>
                    <a:pt x="86" y="225"/>
                  </a:lnTo>
                  <a:lnTo>
                    <a:pt x="69" y="224"/>
                  </a:lnTo>
                  <a:lnTo>
                    <a:pt x="55" y="220"/>
                  </a:lnTo>
                  <a:lnTo>
                    <a:pt x="55" y="220"/>
                  </a:lnTo>
                  <a:lnTo>
                    <a:pt x="53" y="221"/>
                  </a:lnTo>
                  <a:lnTo>
                    <a:pt x="47" y="226"/>
                  </a:lnTo>
                  <a:lnTo>
                    <a:pt x="38" y="236"/>
                  </a:lnTo>
                  <a:lnTo>
                    <a:pt x="33" y="242"/>
                  </a:lnTo>
                  <a:lnTo>
                    <a:pt x="29" y="250"/>
                  </a:lnTo>
                  <a:lnTo>
                    <a:pt x="23" y="261"/>
                  </a:lnTo>
                  <a:lnTo>
                    <a:pt x="18" y="273"/>
                  </a:lnTo>
                  <a:lnTo>
                    <a:pt x="13" y="286"/>
                  </a:lnTo>
                  <a:lnTo>
                    <a:pt x="9" y="303"/>
                  </a:lnTo>
                  <a:lnTo>
                    <a:pt x="6" y="321"/>
                  </a:lnTo>
                  <a:lnTo>
                    <a:pt x="3" y="343"/>
                  </a:lnTo>
                  <a:lnTo>
                    <a:pt x="1" y="367"/>
                  </a:lnTo>
                  <a:lnTo>
                    <a:pt x="0" y="393"/>
                  </a:lnTo>
                  <a:lnTo>
                    <a:pt x="0" y="393"/>
                  </a:lnTo>
                  <a:lnTo>
                    <a:pt x="1" y="407"/>
                  </a:lnTo>
                  <a:lnTo>
                    <a:pt x="2" y="419"/>
                  </a:lnTo>
                  <a:lnTo>
                    <a:pt x="3" y="430"/>
                  </a:lnTo>
                  <a:lnTo>
                    <a:pt x="6" y="439"/>
                  </a:lnTo>
                  <a:lnTo>
                    <a:pt x="13" y="457"/>
                  </a:lnTo>
                  <a:lnTo>
                    <a:pt x="20" y="472"/>
                  </a:lnTo>
                  <a:lnTo>
                    <a:pt x="27" y="483"/>
                  </a:lnTo>
                  <a:lnTo>
                    <a:pt x="35" y="491"/>
                  </a:lnTo>
                  <a:lnTo>
                    <a:pt x="39" y="495"/>
                  </a:lnTo>
                  <a:lnTo>
                    <a:pt x="43" y="496"/>
                  </a:lnTo>
                  <a:lnTo>
                    <a:pt x="43" y="496"/>
                  </a:lnTo>
                  <a:lnTo>
                    <a:pt x="50" y="493"/>
                  </a:lnTo>
                  <a:lnTo>
                    <a:pt x="69" y="490"/>
                  </a:lnTo>
                  <a:lnTo>
                    <a:pt x="98" y="485"/>
                  </a:lnTo>
                  <a:lnTo>
                    <a:pt x="131" y="481"/>
                  </a:lnTo>
                  <a:lnTo>
                    <a:pt x="167" y="478"/>
                  </a:lnTo>
                  <a:lnTo>
                    <a:pt x="202" y="475"/>
                  </a:lnTo>
                  <a:lnTo>
                    <a:pt x="218" y="475"/>
                  </a:lnTo>
                  <a:lnTo>
                    <a:pt x="233" y="476"/>
                  </a:lnTo>
                  <a:lnTo>
                    <a:pt x="246" y="478"/>
                  </a:lnTo>
                  <a:lnTo>
                    <a:pt x="257" y="480"/>
                  </a:lnTo>
                  <a:lnTo>
                    <a:pt x="257" y="480"/>
                  </a:lnTo>
                  <a:lnTo>
                    <a:pt x="267" y="487"/>
                  </a:lnTo>
                  <a:lnTo>
                    <a:pt x="280" y="495"/>
                  </a:lnTo>
                  <a:lnTo>
                    <a:pt x="295" y="503"/>
                  </a:lnTo>
                  <a:lnTo>
                    <a:pt x="311" y="511"/>
                  </a:lnTo>
                  <a:lnTo>
                    <a:pt x="331" y="520"/>
                  </a:lnTo>
                  <a:lnTo>
                    <a:pt x="351" y="527"/>
                  </a:lnTo>
                  <a:lnTo>
                    <a:pt x="372" y="535"/>
                  </a:lnTo>
                  <a:lnTo>
                    <a:pt x="394" y="543"/>
                  </a:lnTo>
                  <a:lnTo>
                    <a:pt x="417" y="549"/>
                  </a:lnTo>
                  <a:lnTo>
                    <a:pt x="441" y="555"/>
                  </a:lnTo>
                  <a:lnTo>
                    <a:pt x="464" y="560"/>
                  </a:lnTo>
                  <a:lnTo>
                    <a:pt x="488" y="563"/>
                  </a:lnTo>
                  <a:lnTo>
                    <a:pt x="510" y="566"/>
                  </a:lnTo>
                  <a:lnTo>
                    <a:pt x="532" y="566"/>
                  </a:lnTo>
                  <a:lnTo>
                    <a:pt x="552" y="564"/>
                  </a:lnTo>
                  <a:lnTo>
                    <a:pt x="570" y="561"/>
                  </a:lnTo>
                  <a:lnTo>
                    <a:pt x="570" y="561"/>
                  </a:lnTo>
                  <a:lnTo>
                    <a:pt x="586" y="552"/>
                  </a:lnTo>
                  <a:lnTo>
                    <a:pt x="603" y="544"/>
                  </a:lnTo>
                  <a:lnTo>
                    <a:pt x="622" y="538"/>
                  </a:lnTo>
                  <a:lnTo>
                    <a:pt x="644" y="533"/>
                  </a:lnTo>
                  <a:lnTo>
                    <a:pt x="665" y="528"/>
                  </a:lnTo>
                  <a:lnTo>
                    <a:pt x="688" y="525"/>
                  </a:lnTo>
                  <a:lnTo>
                    <a:pt x="733" y="520"/>
                  </a:lnTo>
                  <a:lnTo>
                    <a:pt x="775" y="517"/>
                  </a:lnTo>
                  <a:lnTo>
                    <a:pt x="810" y="516"/>
                  </a:lnTo>
                  <a:lnTo>
                    <a:pt x="841" y="516"/>
                  </a:lnTo>
                  <a:lnTo>
                    <a:pt x="841" y="516"/>
                  </a:lnTo>
                  <a:lnTo>
                    <a:pt x="847" y="509"/>
                  </a:lnTo>
                  <a:lnTo>
                    <a:pt x="849" y="504"/>
                  </a:lnTo>
                  <a:lnTo>
                    <a:pt x="851" y="499"/>
                  </a:lnTo>
                  <a:lnTo>
                    <a:pt x="852" y="495"/>
                  </a:lnTo>
                  <a:lnTo>
                    <a:pt x="852" y="490"/>
                  </a:lnTo>
                  <a:lnTo>
                    <a:pt x="851" y="484"/>
                  </a:lnTo>
                  <a:lnTo>
                    <a:pt x="849" y="478"/>
                  </a:lnTo>
                  <a:lnTo>
                    <a:pt x="847" y="472"/>
                  </a:lnTo>
                  <a:lnTo>
                    <a:pt x="842" y="466"/>
                  </a:lnTo>
                  <a:lnTo>
                    <a:pt x="837" y="460"/>
                  </a:lnTo>
                  <a:lnTo>
                    <a:pt x="831" y="454"/>
                  </a:lnTo>
                  <a:lnTo>
                    <a:pt x="825" y="448"/>
                  </a:lnTo>
                  <a:lnTo>
                    <a:pt x="816" y="442"/>
                  </a:lnTo>
                  <a:lnTo>
                    <a:pt x="806" y="437"/>
                  </a:lnTo>
                  <a:lnTo>
                    <a:pt x="795" y="431"/>
                  </a:lnTo>
                  <a:lnTo>
                    <a:pt x="795" y="431"/>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4" name="ísḻïd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1A3AFA2-4DDE-4F67-8768-56E8FB9F67CC}"/>
                </a:ext>
              </a:extLst>
            </p:cNvPr>
            <p:cNvSpPr/>
            <p:nvPr/>
          </p:nvSpPr>
          <p:spPr bwMode="auto">
            <a:xfrm>
              <a:off x="890939" y="4667460"/>
              <a:ext cx="757982" cy="326524"/>
            </a:xfrm>
            <a:custGeom>
              <a:avLst/>
              <a:gdLst>
                <a:gd name="T0" fmla="*/ 600 w 600"/>
                <a:gd name="T1" fmla="*/ 161 h 183"/>
                <a:gd name="T2" fmla="*/ 561 w 600"/>
                <a:gd name="T3" fmla="*/ 166 h 183"/>
                <a:gd name="T4" fmla="*/ 523 w 600"/>
                <a:gd name="T5" fmla="*/ 167 h 183"/>
                <a:gd name="T6" fmla="*/ 489 w 600"/>
                <a:gd name="T7" fmla="*/ 162 h 183"/>
                <a:gd name="T8" fmla="*/ 457 w 600"/>
                <a:gd name="T9" fmla="*/ 155 h 183"/>
                <a:gd name="T10" fmla="*/ 427 w 600"/>
                <a:gd name="T11" fmla="*/ 144 h 183"/>
                <a:gd name="T12" fmla="*/ 401 w 600"/>
                <a:gd name="T13" fmla="*/ 132 h 183"/>
                <a:gd name="T14" fmla="*/ 354 w 600"/>
                <a:gd name="T15" fmla="*/ 102 h 183"/>
                <a:gd name="T16" fmla="*/ 314 w 600"/>
                <a:gd name="T17" fmla="*/ 69 h 183"/>
                <a:gd name="T18" fmla="*/ 268 w 600"/>
                <a:gd name="T19" fmla="*/ 29 h 183"/>
                <a:gd name="T20" fmla="*/ 243 w 600"/>
                <a:gd name="T21" fmla="*/ 14 h 183"/>
                <a:gd name="T22" fmla="*/ 232 w 600"/>
                <a:gd name="T23" fmla="*/ 12 h 183"/>
                <a:gd name="T24" fmla="*/ 186 w 600"/>
                <a:gd name="T25" fmla="*/ 12 h 183"/>
                <a:gd name="T26" fmla="*/ 114 w 600"/>
                <a:gd name="T27" fmla="*/ 8 h 183"/>
                <a:gd name="T28" fmla="*/ 54 w 600"/>
                <a:gd name="T29" fmla="*/ 2 h 183"/>
                <a:gd name="T30" fmla="*/ 0 w 600"/>
                <a:gd name="T31" fmla="*/ 20 h 183"/>
                <a:gd name="T32" fmla="*/ 0 w 600"/>
                <a:gd name="T33" fmla="*/ 32 h 183"/>
                <a:gd name="T34" fmla="*/ 7 w 600"/>
                <a:gd name="T35" fmla="*/ 62 h 183"/>
                <a:gd name="T36" fmla="*/ 20 w 600"/>
                <a:gd name="T37" fmla="*/ 91 h 183"/>
                <a:gd name="T38" fmla="*/ 35 w 600"/>
                <a:gd name="T39" fmla="*/ 108 h 183"/>
                <a:gd name="T40" fmla="*/ 42 w 600"/>
                <a:gd name="T41" fmla="*/ 113 h 183"/>
                <a:gd name="T42" fmla="*/ 49 w 600"/>
                <a:gd name="T43" fmla="*/ 110 h 183"/>
                <a:gd name="T44" fmla="*/ 97 w 600"/>
                <a:gd name="T45" fmla="*/ 102 h 183"/>
                <a:gd name="T46" fmla="*/ 166 w 600"/>
                <a:gd name="T47" fmla="*/ 95 h 183"/>
                <a:gd name="T48" fmla="*/ 217 w 600"/>
                <a:gd name="T49" fmla="*/ 92 h 183"/>
                <a:gd name="T50" fmla="*/ 245 w 600"/>
                <a:gd name="T51" fmla="*/ 95 h 183"/>
                <a:gd name="T52" fmla="*/ 256 w 600"/>
                <a:gd name="T53" fmla="*/ 97 h 183"/>
                <a:gd name="T54" fmla="*/ 279 w 600"/>
                <a:gd name="T55" fmla="*/ 112 h 183"/>
                <a:gd name="T56" fmla="*/ 310 w 600"/>
                <a:gd name="T57" fmla="*/ 128 h 183"/>
                <a:gd name="T58" fmla="*/ 350 w 600"/>
                <a:gd name="T59" fmla="*/ 144 h 183"/>
                <a:gd name="T60" fmla="*/ 393 w 600"/>
                <a:gd name="T61" fmla="*/ 160 h 183"/>
                <a:gd name="T62" fmla="*/ 440 w 600"/>
                <a:gd name="T63" fmla="*/ 172 h 183"/>
                <a:gd name="T64" fmla="*/ 487 w 600"/>
                <a:gd name="T65" fmla="*/ 180 h 183"/>
                <a:gd name="T66" fmla="*/ 531 w 600"/>
                <a:gd name="T67" fmla="*/ 183 h 183"/>
                <a:gd name="T68" fmla="*/ 569 w 600"/>
                <a:gd name="T69" fmla="*/ 178 h 183"/>
                <a:gd name="T70" fmla="*/ 584 w 600"/>
                <a:gd name="T71" fmla="*/ 169 h 183"/>
                <a:gd name="T72" fmla="*/ 600 w 600"/>
                <a:gd name="T73" fmla="*/ 161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0" h="183">
                  <a:moveTo>
                    <a:pt x="600" y="161"/>
                  </a:moveTo>
                  <a:lnTo>
                    <a:pt x="600" y="161"/>
                  </a:lnTo>
                  <a:lnTo>
                    <a:pt x="580" y="165"/>
                  </a:lnTo>
                  <a:lnTo>
                    <a:pt x="561" y="166"/>
                  </a:lnTo>
                  <a:lnTo>
                    <a:pt x="542" y="167"/>
                  </a:lnTo>
                  <a:lnTo>
                    <a:pt x="523" y="167"/>
                  </a:lnTo>
                  <a:lnTo>
                    <a:pt x="505" y="165"/>
                  </a:lnTo>
                  <a:lnTo>
                    <a:pt x="489" y="162"/>
                  </a:lnTo>
                  <a:lnTo>
                    <a:pt x="473" y="158"/>
                  </a:lnTo>
                  <a:lnTo>
                    <a:pt x="457" y="155"/>
                  </a:lnTo>
                  <a:lnTo>
                    <a:pt x="442" y="150"/>
                  </a:lnTo>
                  <a:lnTo>
                    <a:pt x="427" y="144"/>
                  </a:lnTo>
                  <a:lnTo>
                    <a:pt x="414" y="138"/>
                  </a:lnTo>
                  <a:lnTo>
                    <a:pt x="401" y="132"/>
                  </a:lnTo>
                  <a:lnTo>
                    <a:pt x="377" y="118"/>
                  </a:lnTo>
                  <a:lnTo>
                    <a:pt x="354" y="102"/>
                  </a:lnTo>
                  <a:lnTo>
                    <a:pt x="333" y="85"/>
                  </a:lnTo>
                  <a:lnTo>
                    <a:pt x="314" y="69"/>
                  </a:lnTo>
                  <a:lnTo>
                    <a:pt x="282" y="41"/>
                  </a:lnTo>
                  <a:lnTo>
                    <a:pt x="268" y="29"/>
                  </a:lnTo>
                  <a:lnTo>
                    <a:pt x="255" y="20"/>
                  </a:lnTo>
                  <a:lnTo>
                    <a:pt x="243" y="14"/>
                  </a:lnTo>
                  <a:lnTo>
                    <a:pt x="238" y="12"/>
                  </a:lnTo>
                  <a:lnTo>
                    <a:pt x="232" y="12"/>
                  </a:lnTo>
                  <a:lnTo>
                    <a:pt x="232" y="12"/>
                  </a:lnTo>
                  <a:lnTo>
                    <a:pt x="186" y="12"/>
                  </a:lnTo>
                  <a:lnTo>
                    <a:pt x="147" y="9"/>
                  </a:lnTo>
                  <a:lnTo>
                    <a:pt x="114" y="8"/>
                  </a:lnTo>
                  <a:lnTo>
                    <a:pt x="88" y="6"/>
                  </a:lnTo>
                  <a:lnTo>
                    <a:pt x="54" y="2"/>
                  </a:lnTo>
                  <a:lnTo>
                    <a:pt x="43" y="0"/>
                  </a:lnTo>
                  <a:lnTo>
                    <a:pt x="0" y="20"/>
                  </a:lnTo>
                  <a:lnTo>
                    <a:pt x="0" y="20"/>
                  </a:lnTo>
                  <a:lnTo>
                    <a:pt x="0" y="32"/>
                  </a:lnTo>
                  <a:lnTo>
                    <a:pt x="2" y="43"/>
                  </a:lnTo>
                  <a:lnTo>
                    <a:pt x="7" y="62"/>
                  </a:lnTo>
                  <a:lnTo>
                    <a:pt x="13" y="79"/>
                  </a:lnTo>
                  <a:lnTo>
                    <a:pt x="20" y="91"/>
                  </a:lnTo>
                  <a:lnTo>
                    <a:pt x="28" y="101"/>
                  </a:lnTo>
                  <a:lnTo>
                    <a:pt x="35" y="108"/>
                  </a:lnTo>
                  <a:lnTo>
                    <a:pt x="40" y="112"/>
                  </a:lnTo>
                  <a:lnTo>
                    <a:pt x="42" y="113"/>
                  </a:lnTo>
                  <a:lnTo>
                    <a:pt x="42" y="113"/>
                  </a:lnTo>
                  <a:lnTo>
                    <a:pt x="49" y="110"/>
                  </a:lnTo>
                  <a:lnTo>
                    <a:pt x="68" y="107"/>
                  </a:lnTo>
                  <a:lnTo>
                    <a:pt x="97" y="102"/>
                  </a:lnTo>
                  <a:lnTo>
                    <a:pt x="130" y="98"/>
                  </a:lnTo>
                  <a:lnTo>
                    <a:pt x="166" y="95"/>
                  </a:lnTo>
                  <a:lnTo>
                    <a:pt x="201" y="92"/>
                  </a:lnTo>
                  <a:lnTo>
                    <a:pt x="217" y="92"/>
                  </a:lnTo>
                  <a:lnTo>
                    <a:pt x="232" y="93"/>
                  </a:lnTo>
                  <a:lnTo>
                    <a:pt x="245" y="95"/>
                  </a:lnTo>
                  <a:lnTo>
                    <a:pt x="256" y="97"/>
                  </a:lnTo>
                  <a:lnTo>
                    <a:pt x="256" y="97"/>
                  </a:lnTo>
                  <a:lnTo>
                    <a:pt x="266" y="104"/>
                  </a:lnTo>
                  <a:lnTo>
                    <a:pt x="279" y="112"/>
                  </a:lnTo>
                  <a:lnTo>
                    <a:pt x="294" y="120"/>
                  </a:lnTo>
                  <a:lnTo>
                    <a:pt x="310" y="128"/>
                  </a:lnTo>
                  <a:lnTo>
                    <a:pt x="330" y="137"/>
                  </a:lnTo>
                  <a:lnTo>
                    <a:pt x="350" y="144"/>
                  </a:lnTo>
                  <a:lnTo>
                    <a:pt x="371" y="152"/>
                  </a:lnTo>
                  <a:lnTo>
                    <a:pt x="393" y="160"/>
                  </a:lnTo>
                  <a:lnTo>
                    <a:pt x="416" y="166"/>
                  </a:lnTo>
                  <a:lnTo>
                    <a:pt x="440" y="172"/>
                  </a:lnTo>
                  <a:lnTo>
                    <a:pt x="463" y="177"/>
                  </a:lnTo>
                  <a:lnTo>
                    <a:pt x="487" y="180"/>
                  </a:lnTo>
                  <a:lnTo>
                    <a:pt x="509" y="183"/>
                  </a:lnTo>
                  <a:lnTo>
                    <a:pt x="531" y="183"/>
                  </a:lnTo>
                  <a:lnTo>
                    <a:pt x="551" y="181"/>
                  </a:lnTo>
                  <a:lnTo>
                    <a:pt x="569" y="178"/>
                  </a:lnTo>
                  <a:lnTo>
                    <a:pt x="569" y="178"/>
                  </a:lnTo>
                  <a:lnTo>
                    <a:pt x="584" y="169"/>
                  </a:lnTo>
                  <a:lnTo>
                    <a:pt x="600" y="162"/>
                  </a:lnTo>
                  <a:lnTo>
                    <a:pt x="600" y="161"/>
                  </a:lnTo>
                  <a:close/>
                </a:path>
              </a:pathLst>
            </a:custGeom>
            <a:solidFill>
              <a:srgbClr val="E8AD8B"/>
            </a:solidFill>
            <a:ln>
              <a:noFill/>
            </a:ln>
          </p:spPr>
          <p:txBody>
            <a:bodyPr vert="horz" wrap="square" lIns="91440" tIns="45720" rIns="91440" bIns="45720" numCol="1" anchor="t" anchorCtr="0" compatLnSpc="1">
              <a:prstTxWarp prst="textNoShape">
                <a:avLst/>
              </a:prstTxWarp>
              <a:normAutofit lnSpcReduction="10000"/>
            </a:bodyPr>
            <a:lstStyle/>
            <a:p>
              <a:endParaRPr lang="en-US" dirty="0">
                <a:latin typeface="Arial" panose="020B0604020202020204" pitchFamily="34" charset="0"/>
                <a:ea typeface="+mn-ea"/>
              </a:endParaRPr>
            </a:p>
          </p:txBody>
        </p:sp>
        <p:sp>
          <p:nvSpPr>
            <p:cNvPr id="85" name="íṥļïd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2A120DA9-DFE3-44A8-90D9-DC400B784C50}"/>
                </a:ext>
              </a:extLst>
            </p:cNvPr>
            <p:cNvSpPr/>
            <p:nvPr/>
          </p:nvSpPr>
          <p:spPr bwMode="auto">
            <a:xfrm>
              <a:off x="1787422" y="4814573"/>
              <a:ext cx="146056" cy="104058"/>
            </a:xfrm>
            <a:custGeom>
              <a:avLst/>
              <a:gdLst>
                <a:gd name="T0" fmla="*/ 16 w 117"/>
                <a:gd name="T1" fmla="*/ 4 h 56"/>
                <a:gd name="T2" fmla="*/ 16 w 117"/>
                <a:gd name="T3" fmla="*/ 4 h 56"/>
                <a:gd name="T4" fmla="*/ 11 w 117"/>
                <a:gd name="T5" fmla="*/ 9 h 56"/>
                <a:gd name="T6" fmla="*/ 7 w 117"/>
                <a:gd name="T7" fmla="*/ 15 h 56"/>
                <a:gd name="T8" fmla="*/ 4 w 117"/>
                <a:gd name="T9" fmla="*/ 21 h 56"/>
                <a:gd name="T10" fmla="*/ 2 w 117"/>
                <a:gd name="T11" fmla="*/ 29 h 56"/>
                <a:gd name="T12" fmla="*/ 0 w 117"/>
                <a:gd name="T13" fmla="*/ 43 h 56"/>
                <a:gd name="T14" fmla="*/ 0 w 117"/>
                <a:gd name="T15" fmla="*/ 56 h 56"/>
                <a:gd name="T16" fmla="*/ 0 w 117"/>
                <a:gd name="T17" fmla="*/ 56 h 56"/>
                <a:gd name="T18" fmla="*/ 36 w 117"/>
                <a:gd name="T19" fmla="*/ 53 h 56"/>
                <a:gd name="T20" fmla="*/ 69 w 117"/>
                <a:gd name="T21" fmla="*/ 51 h 56"/>
                <a:gd name="T22" fmla="*/ 117 w 117"/>
                <a:gd name="T23" fmla="*/ 50 h 56"/>
                <a:gd name="T24" fmla="*/ 117 w 117"/>
                <a:gd name="T25" fmla="*/ 50 h 56"/>
                <a:gd name="T26" fmla="*/ 117 w 117"/>
                <a:gd name="T27" fmla="*/ 43 h 56"/>
                <a:gd name="T28" fmla="*/ 116 w 117"/>
                <a:gd name="T29" fmla="*/ 37 h 56"/>
                <a:gd name="T30" fmla="*/ 112 w 117"/>
                <a:gd name="T31" fmla="*/ 31 h 56"/>
                <a:gd name="T32" fmla="*/ 108 w 117"/>
                <a:gd name="T33" fmla="*/ 26 h 56"/>
                <a:gd name="T34" fmla="*/ 105 w 117"/>
                <a:gd name="T35" fmla="*/ 21 h 56"/>
                <a:gd name="T36" fmla="*/ 99 w 117"/>
                <a:gd name="T37" fmla="*/ 17 h 56"/>
                <a:gd name="T38" fmla="*/ 93 w 117"/>
                <a:gd name="T39" fmla="*/ 12 h 56"/>
                <a:gd name="T40" fmla="*/ 87 w 117"/>
                <a:gd name="T41" fmla="*/ 8 h 56"/>
                <a:gd name="T42" fmla="*/ 79 w 117"/>
                <a:gd name="T43" fmla="*/ 6 h 56"/>
                <a:gd name="T44" fmla="*/ 71 w 117"/>
                <a:gd name="T45" fmla="*/ 3 h 56"/>
                <a:gd name="T46" fmla="*/ 63 w 117"/>
                <a:gd name="T47" fmla="*/ 1 h 56"/>
                <a:gd name="T48" fmla="*/ 54 w 117"/>
                <a:gd name="T49" fmla="*/ 1 h 56"/>
                <a:gd name="T50" fmla="*/ 45 w 117"/>
                <a:gd name="T51" fmla="*/ 0 h 56"/>
                <a:gd name="T52" fmla="*/ 35 w 117"/>
                <a:gd name="T53" fmla="*/ 1 h 56"/>
                <a:gd name="T54" fmla="*/ 25 w 117"/>
                <a:gd name="T55" fmla="*/ 2 h 56"/>
                <a:gd name="T56" fmla="*/ 16 w 117"/>
                <a:gd name="T57" fmla="*/ 4 h 56"/>
                <a:gd name="T58" fmla="*/ 16 w 117"/>
                <a:gd name="T59"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7" h="56">
                  <a:moveTo>
                    <a:pt x="16" y="4"/>
                  </a:moveTo>
                  <a:lnTo>
                    <a:pt x="16" y="4"/>
                  </a:lnTo>
                  <a:lnTo>
                    <a:pt x="11" y="9"/>
                  </a:lnTo>
                  <a:lnTo>
                    <a:pt x="7" y="15"/>
                  </a:lnTo>
                  <a:lnTo>
                    <a:pt x="4" y="21"/>
                  </a:lnTo>
                  <a:lnTo>
                    <a:pt x="2" y="29"/>
                  </a:lnTo>
                  <a:lnTo>
                    <a:pt x="0" y="43"/>
                  </a:lnTo>
                  <a:lnTo>
                    <a:pt x="0" y="56"/>
                  </a:lnTo>
                  <a:lnTo>
                    <a:pt x="0" y="56"/>
                  </a:lnTo>
                  <a:lnTo>
                    <a:pt x="36" y="53"/>
                  </a:lnTo>
                  <a:lnTo>
                    <a:pt x="69" y="51"/>
                  </a:lnTo>
                  <a:lnTo>
                    <a:pt x="117" y="50"/>
                  </a:lnTo>
                  <a:lnTo>
                    <a:pt x="117" y="50"/>
                  </a:lnTo>
                  <a:lnTo>
                    <a:pt x="117" y="43"/>
                  </a:lnTo>
                  <a:lnTo>
                    <a:pt x="116" y="37"/>
                  </a:lnTo>
                  <a:lnTo>
                    <a:pt x="112" y="31"/>
                  </a:lnTo>
                  <a:lnTo>
                    <a:pt x="108" y="26"/>
                  </a:lnTo>
                  <a:lnTo>
                    <a:pt x="105" y="21"/>
                  </a:lnTo>
                  <a:lnTo>
                    <a:pt x="99" y="17"/>
                  </a:lnTo>
                  <a:lnTo>
                    <a:pt x="93" y="12"/>
                  </a:lnTo>
                  <a:lnTo>
                    <a:pt x="87" y="8"/>
                  </a:lnTo>
                  <a:lnTo>
                    <a:pt x="79" y="6"/>
                  </a:lnTo>
                  <a:lnTo>
                    <a:pt x="71" y="3"/>
                  </a:lnTo>
                  <a:lnTo>
                    <a:pt x="63" y="1"/>
                  </a:lnTo>
                  <a:lnTo>
                    <a:pt x="54" y="1"/>
                  </a:lnTo>
                  <a:lnTo>
                    <a:pt x="45" y="0"/>
                  </a:lnTo>
                  <a:lnTo>
                    <a:pt x="35" y="1"/>
                  </a:lnTo>
                  <a:lnTo>
                    <a:pt x="25" y="2"/>
                  </a:lnTo>
                  <a:lnTo>
                    <a:pt x="16" y="4"/>
                  </a:lnTo>
                  <a:lnTo>
                    <a:pt x="16" y="4"/>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86" name="ïṧļiď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08F1F07-8F27-4977-BF7D-423C0A79E521}"/>
                </a:ext>
              </a:extLst>
            </p:cNvPr>
            <p:cNvSpPr/>
            <p:nvPr/>
          </p:nvSpPr>
          <p:spPr bwMode="auto">
            <a:xfrm>
              <a:off x="822947" y="4340934"/>
              <a:ext cx="219085" cy="627930"/>
            </a:xfrm>
            <a:custGeom>
              <a:avLst/>
              <a:gdLst>
                <a:gd name="T0" fmla="*/ 58 w 173"/>
                <a:gd name="T1" fmla="*/ 1 h 350"/>
                <a:gd name="T2" fmla="*/ 136 w 173"/>
                <a:gd name="T3" fmla="*/ 0 h 350"/>
                <a:gd name="T4" fmla="*/ 136 w 173"/>
                <a:gd name="T5" fmla="*/ 0 h 350"/>
                <a:gd name="T6" fmla="*/ 133 w 173"/>
                <a:gd name="T7" fmla="*/ 8 h 350"/>
                <a:gd name="T8" fmla="*/ 130 w 173"/>
                <a:gd name="T9" fmla="*/ 32 h 350"/>
                <a:gd name="T10" fmla="*/ 125 w 173"/>
                <a:gd name="T11" fmla="*/ 70 h 350"/>
                <a:gd name="T12" fmla="*/ 124 w 173"/>
                <a:gd name="T13" fmla="*/ 91 h 350"/>
                <a:gd name="T14" fmla="*/ 122 w 173"/>
                <a:gd name="T15" fmla="*/ 115 h 350"/>
                <a:gd name="T16" fmla="*/ 124 w 173"/>
                <a:gd name="T17" fmla="*/ 142 h 350"/>
                <a:gd name="T18" fmla="*/ 125 w 173"/>
                <a:gd name="T19" fmla="*/ 170 h 350"/>
                <a:gd name="T20" fmla="*/ 127 w 173"/>
                <a:gd name="T21" fmla="*/ 198 h 350"/>
                <a:gd name="T22" fmla="*/ 132 w 173"/>
                <a:gd name="T23" fmla="*/ 227 h 350"/>
                <a:gd name="T24" fmla="*/ 138 w 173"/>
                <a:gd name="T25" fmla="*/ 257 h 350"/>
                <a:gd name="T26" fmla="*/ 148 w 173"/>
                <a:gd name="T27" fmla="*/ 286 h 350"/>
                <a:gd name="T28" fmla="*/ 159 w 173"/>
                <a:gd name="T29" fmla="*/ 316 h 350"/>
                <a:gd name="T30" fmla="*/ 166 w 173"/>
                <a:gd name="T31" fmla="*/ 331 h 350"/>
                <a:gd name="T32" fmla="*/ 173 w 173"/>
                <a:gd name="T33" fmla="*/ 344 h 350"/>
                <a:gd name="T34" fmla="*/ 173 w 173"/>
                <a:gd name="T35" fmla="*/ 344 h 350"/>
                <a:gd name="T36" fmla="*/ 132 w 173"/>
                <a:gd name="T37" fmla="*/ 345 h 350"/>
                <a:gd name="T38" fmla="*/ 91 w 173"/>
                <a:gd name="T39" fmla="*/ 348 h 350"/>
                <a:gd name="T40" fmla="*/ 48 w 173"/>
                <a:gd name="T41" fmla="*/ 350 h 350"/>
                <a:gd name="T42" fmla="*/ 48 w 173"/>
                <a:gd name="T43" fmla="*/ 350 h 350"/>
                <a:gd name="T44" fmla="*/ 45 w 173"/>
                <a:gd name="T45" fmla="*/ 348 h 350"/>
                <a:gd name="T46" fmla="*/ 38 w 173"/>
                <a:gd name="T47" fmla="*/ 339 h 350"/>
                <a:gd name="T48" fmla="*/ 30 w 173"/>
                <a:gd name="T49" fmla="*/ 325 h 350"/>
                <a:gd name="T50" fmla="*/ 19 w 173"/>
                <a:gd name="T51" fmla="*/ 306 h 350"/>
                <a:gd name="T52" fmla="*/ 14 w 173"/>
                <a:gd name="T53" fmla="*/ 294 h 350"/>
                <a:gd name="T54" fmla="*/ 11 w 173"/>
                <a:gd name="T55" fmla="*/ 280 h 350"/>
                <a:gd name="T56" fmla="*/ 6 w 173"/>
                <a:gd name="T57" fmla="*/ 265 h 350"/>
                <a:gd name="T58" fmla="*/ 3 w 173"/>
                <a:gd name="T59" fmla="*/ 248 h 350"/>
                <a:gd name="T60" fmla="*/ 1 w 173"/>
                <a:gd name="T61" fmla="*/ 230 h 350"/>
                <a:gd name="T62" fmla="*/ 0 w 173"/>
                <a:gd name="T63" fmla="*/ 209 h 350"/>
                <a:gd name="T64" fmla="*/ 0 w 173"/>
                <a:gd name="T65" fmla="*/ 188 h 350"/>
                <a:gd name="T66" fmla="*/ 2 w 173"/>
                <a:gd name="T67" fmla="*/ 165 h 350"/>
                <a:gd name="T68" fmla="*/ 2 w 173"/>
                <a:gd name="T69" fmla="*/ 165 h 350"/>
                <a:gd name="T70" fmla="*/ 5 w 173"/>
                <a:gd name="T71" fmla="*/ 142 h 350"/>
                <a:gd name="T72" fmla="*/ 8 w 173"/>
                <a:gd name="T73" fmla="*/ 120 h 350"/>
                <a:gd name="T74" fmla="*/ 12 w 173"/>
                <a:gd name="T75" fmla="*/ 102 h 350"/>
                <a:gd name="T76" fmla="*/ 17 w 173"/>
                <a:gd name="T77" fmla="*/ 85 h 350"/>
                <a:gd name="T78" fmla="*/ 26 w 173"/>
                <a:gd name="T79" fmla="*/ 56 h 350"/>
                <a:gd name="T80" fmla="*/ 35 w 173"/>
                <a:gd name="T81" fmla="*/ 35 h 350"/>
                <a:gd name="T82" fmla="*/ 43 w 173"/>
                <a:gd name="T83" fmla="*/ 19 h 350"/>
                <a:gd name="T84" fmla="*/ 50 w 173"/>
                <a:gd name="T85" fmla="*/ 8 h 350"/>
                <a:gd name="T86" fmla="*/ 58 w 173"/>
                <a:gd name="T87" fmla="*/ 1 h 350"/>
                <a:gd name="T88" fmla="*/ 58 w 173"/>
                <a:gd name="T89" fmla="*/ 1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3" h="350">
                  <a:moveTo>
                    <a:pt x="58" y="1"/>
                  </a:moveTo>
                  <a:lnTo>
                    <a:pt x="136" y="0"/>
                  </a:lnTo>
                  <a:lnTo>
                    <a:pt x="136" y="0"/>
                  </a:lnTo>
                  <a:lnTo>
                    <a:pt x="133" y="8"/>
                  </a:lnTo>
                  <a:lnTo>
                    <a:pt x="130" y="32"/>
                  </a:lnTo>
                  <a:lnTo>
                    <a:pt x="125" y="70"/>
                  </a:lnTo>
                  <a:lnTo>
                    <a:pt x="124" y="91"/>
                  </a:lnTo>
                  <a:lnTo>
                    <a:pt x="122" y="115"/>
                  </a:lnTo>
                  <a:lnTo>
                    <a:pt x="124" y="142"/>
                  </a:lnTo>
                  <a:lnTo>
                    <a:pt x="125" y="170"/>
                  </a:lnTo>
                  <a:lnTo>
                    <a:pt x="127" y="198"/>
                  </a:lnTo>
                  <a:lnTo>
                    <a:pt x="132" y="227"/>
                  </a:lnTo>
                  <a:lnTo>
                    <a:pt x="138" y="257"/>
                  </a:lnTo>
                  <a:lnTo>
                    <a:pt x="148" y="286"/>
                  </a:lnTo>
                  <a:lnTo>
                    <a:pt x="159" y="316"/>
                  </a:lnTo>
                  <a:lnTo>
                    <a:pt x="166" y="331"/>
                  </a:lnTo>
                  <a:lnTo>
                    <a:pt x="173" y="344"/>
                  </a:lnTo>
                  <a:lnTo>
                    <a:pt x="173" y="344"/>
                  </a:lnTo>
                  <a:lnTo>
                    <a:pt x="132" y="345"/>
                  </a:lnTo>
                  <a:lnTo>
                    <a:pt x="91" y="348"/>
                  </a:lnTo>
                  <a:lnTo>
                    <a:pt x="48" y="350"/>
                  </a:lnTo>
                  <a:lnTo>
                    <a:pt x="48" y="350"/>
                  </a:lnTo>
                  <a:lnTo>
                    <a:pt x="45" y="348"/>
                  </a:lnTo>
                  <a:lnTo>
                    <a:pt x="38" y="339"/>
                  </a:lnTo>
                  <a:lnTo>
                    <a:pt x="30" y="325"/>
                  </a:lnTo>
                  <a:lnTo>
                    <a:pt x="19" y="306"/>
                  </a:lnTo>
                  <a:lnTo>
                    <a:pt x="14" y="294"/>
                  </a:lnTo>
                  <a:lnTo>
                    <a:pt x="11" y="280"/>
                  </a:lnTo>
                  <a:lnTo>
                    <a:pt x="6" y="265"/>
                  </a:lnTo>
                  <a:lnTo>
                    <a:pt x="3" y="248"/>
                  </a:lnTo>
                  <a:lnTo>
                    <a:pt x="1" y="230"/>
                  </a:lnTo>
                  <a:lnTo>
                    <a:pt x="0" y="209"/>
                  </a:lnTo>
                  <a:lnTo>
                    <a:pt x="0" y="188"/>
                  </a:lnTo>
                  <a:lnTo>
                    <a:pt x="2" y="165"/>
                  </a:lnTo>
                  <a:lnTo>
                    <a:pt x="2" y="165"/>
                  </a:lnTo>
                  <a:lnTo>
                    <a:pt x="5" y="142"/>
                  </a:lnTo>
                  <a:lnTo>
                    <a:pt x="8" y="120"/>
                  </a:lnTo>
                  <a:lnTo>
                    <a:pt x="12" y="102"/>
                  </a:lnTo>
                  <a:lnTo>
                    <a:pt x="17" y="85"/>
                  </a:lnTo>
                  <a:lnTo>
                    <a:pt x="26" y="56"/>
                  </a:lnTo>
                  <a:lnTo>
                    <a:pt x="35" y="35"/>
                  </a:lnTo>
                  <a:lnTo>
                    <a:pt x="43" y="19"/>
                  </a:lnTo>
                  <a:lnTo>
                    <a:pt x="50" y="8"/>
                  </a:lnTo>
                  <a:lnTo>
                    <a:pt x="58" y="1"/>
                  </a:lnTo>
                  <a:lnTo>
                    <a:pt x="58" y="1"/>
                  </a:lnTo>
                  <a:close/>
                </a:path>
              </a:pathLst>
            </a:custGeom>
            <a:solidFill>
              <a:srgbClr val="E5CF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7" name="îş1íḓ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6444734A-D130-40F6-8E0C-7525CB589137}"/>
                </a:ext>
              </a:extLst>
            </p:cNvPr>
            <p:cNvSpPr/>
            <p:nvPr/>
          </p:nvSpPr>
          <p:spPr bwMode="auto">
            <a:xfrm>
              <a:off x="822947" y="4340934"/>
              <a:ext cx="171238" cy="405464"/>
            </a:xfrm>
            <a:custGeom>
              <a:avLst/>
              <a:gdLst>
                <a:gd name="T0" fmla="*/ 132 w 136"/>
                <a:gd name="T1" fmla="*/ 226 h 226"/>
                <a:gd name="T2" fmla="*/ 132 w 136"/>
                <a:gd name="T3" fmla="*/ 226 h 226"/>
                <a:gd name="T4" fmla="*/ 129 w 136"/>
                <a:gd name="T5" fmla="*/ 204 h 226"/>
                <a:gd name="T6" fmla="*/ 126 w 136"/>
                <a:gd name="T7" fmla="*/ 183 h 226"/>
                <a:gd name="T8" fmla="*/ 124 w 136"/>
                <a:gd name="T9" fmla="*/ 162 h 226"/>
                <a:gd name="T10" fmla="*/ 124 w 136"/>
                <a:gd name="T11" fmla="*/ 142 h 226"/>
                <a:gd name="T12" fmla="*/ 124 w 136"/>
                <a:gd name="T13" fmla="*/ 103 h 226"/>
                <a:gd name="T14" fmla="*/ 125 w 136"/>
                <a:gd name="T15" fmla="*/ 70 h 226"/>
                <a:gd name="T16" fmla="*/ 129 w 136"/>
                <a:gd name="T17" fmla="*/ 41 h 226"/>
                <a:gd name="T18" fmla="*/ 132 w 136"/>
                <a:gd name="T19" fmla="*/ 19 h 226"/>
                <a:gd name="T20" fmla="*/ 136 w 136"/>
                <a:gd name="T21" fmla="*/ 0 h 226"/>
                <a:gd name="T22" fmla="*/ 58 w 136"/>
                <a:gd name="T23" fmla="*/ 1 h 226"/>
                <a:gd name="T24" fmla="*/ 58 w 136"/>
                <a:gd name="T25" fmla="*/ 1 h 226"/>
                <a:gd name="T26" fmla="*/ 50 w 136"/>
                <a:gd name="T27" fmla="*/ 8 h 226"/>
                <a:gd name="T28" fmla="*/ 43 w 136"/>
                <a:gd name="T29" fmla="*/ 19 h 226"/>
                <a:gd name="T30" fmla="*/ 35 w 136"/>
                <a:gd name="T31" fmla="*/ 35 h 226"/>
                <a:gd name="T32" fmla="*/ 26 w 136"/>
                <a:gd name="T33" fmla="*/ 56 h 226"/>
                <a:gd name="T34" fmla="*/ 17 w 136"/>
                <a:gd name="T35" fmla="*/ 85 h 226"/>
                <a:gd name="T36" fmla="*/ 12 w 136"/>
                <a:gd name="T37" fmla="*/ 102 h 226"/>
                <a:gd name="T38" fmla="*/ 8 w 136"/>
                <a:gd name="T39" fmla="*/ 120 h 226"/>
                <a:gd name="T40" fmla="*/ 5 w 136"/>
                <a:gd name="T41" fmla="*/ 142 h 226"/>
                <a:gd name="T42" fmla="*/ 2 w 136"/>
                <a:gd name="T43" fmla="*/ 165 h 226"/>
                <a:gd name="T44" fmla="*/ 2 w 136"/>
                <a:gd name="T45" fmla="*/ 165 h 226"/>
                <a:gd name="T46" fmla="*/ 0 w 136"/>
                <a:gd name="T47" fmla="*/ 190 h 226"/>
                <a:gd name="T48" fmla="*/ 0 w 136"/>
                <a:gd name="T49" fmla="*/ 190 h 226"/>
                <a:gd name="T50" fmla="*/ 29 w 136"/>
                <a:gd name="T51" fmla="*/ 201 h 226"/>
                <a:gd name="T52" fmla="*/ 61 w 136"/>
                <a:gd name="T53" fmla="*/ 212 h 226"/>
                <a:gd name="T54" fmla="*/ 96 w 136"/>
                <a:gd name="T55" fmla="*/ 220 h 226"/>
                <a:gd name="T56" fmla="*/ 114 w 136"/>
                <a:gd name="T57" fmla="*/ 224 h 226"/>
                <a:gd name="T58" fmla="*/ 132 w 136"/>
                <a:gd name="T59" fmla="*/ 226 h 226"/>
                <a:gd name="T60" fmla="*/ 132 w 136"/>
                <a:gd name="T61" fmla="*/ 226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6" h="226">
                  <a:moveTo>
                    <a:pt x="132" y="226"/>
                  </a:moveTo>
                  <a:lnTo>
                    <a:pt x="132" y="226"/>
                  </a:lnTo>
                  <a:lnTo>
                    <a:pt x="129" y="204"/>
                  </a:lnTo>
                  <a:lnTo>
                    <a:pt x="126" y="183"/>
                  </a:lnTo>
                  <a:lnTo>
                    <a:pt x="124" y="162"/>
                  </a:lnTo>
                  <a:lnTo>
                    <a:pt x="124" y="142"/>
                  </a:lnTo>
                  <a:lnTo>
                    <a:pt x="124" y="103"/>
                  </a:lnTo>
                  <a:lnTo>
                    <a:pt x="125" y="70"/>
                  </a:lnTo>
                  <a:lnTo>
                    <a:pt x="129" y="41"/>
                  </a:lnTo>
                  <a:lnTo>
                    <a:pt x="132" y="19"/>
                  </a:lnTo>
                  <a:lnTo>
                    <a:pt x="136" y="0"/>
                  </a:lnTo>
                  <a:lnTo>
                    <a:pt x="58" y="1"/>
                  </a:lnTo>
                  <a:lnTo>
                    <a:pt x="58" y="1"/>
                  </a:lnTo>
                  <a:lnTo>
                    <a:pt x="50" y="8"/>
                  </a:lnTo>
                  <a:lnTo>
                    <a:pt x="43" y="19"/>
                  </a:lnTo>
                  <a:lnTo>
                    <a:pt x="35" y="35"/>
                  </a:lnTo>
                  <a:lnTo>
                    <a:pt x="26" y="56"/>
                  </a:lnTo>
                  <a:lnTo>
                    <a:pt x="17" y="85"/>
                  </a:lnTo>
                  <a:lnTo>
                    <a:pt x="12" y="102"/>
                  </a:lnTo>
                  <a:lnTo>
                    <a:pt x="8" y="120"/>
                  </a:lnTo>
                  <a:lnTo>
                    <a:pt x="5" y="142"/>
                  </a:lnTo>
                  <a:lnTo>
                    <a:pt x="2" y="165"/>
                  </a:lnTo>
                  <a:lnTo>
                    <a:pt x="2" y="165"/>
                  </a:lnTo>
                  <a:lnTo>
                    <a:pt x="0" y="190"/>
                  </a:lnTo>
                  <a:lnTo>
                    <a:pt x="0" y="190"/>
                  </a:lnTo>
                  <a:lnTo>
                    <a:pt x="29" y="201"/>
                  </a:lnTo>
                  <a:lnTo>
                    <a:pt x="61" y="212"/>
                  </a:lnTo>
                  <a:lnTo>
                    <a:pt x="96" y="220"/>
                  </a:lnTo>
                  <a:lnTo>
                    <a:pt x="114" y="224"/>
                  </a:lnTo>
                  <a:lnTo>
                    <a:pt x="132" y="226"/>
                  </a:lnTo>
                  <a:lnTo>
                    <a:pt x="132" y="226"/>
                  </a:lnTo>
                  <a:close/>
                </a:path>
              </a:pathLst>
            </a:custGeom>
            <a:solidFill>
              <a:srgbClr val="F7E8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8" name="îṩḷíd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F764A2D3-D0DE-4D78-B964-F36233213345}"/>
                </a:ext>
              </a:extLst>
            </p:cNvPr>
            <p:cNvSpPr/>
            <p:nvPr/>
          </p:nvSpPr>
          <p:spPr bwMode="auto">
            <a:xfrm>
              <a:off x="697036" y="4333759"/>
              <a:ext cx="282040" cy="692517"/>
            </a:xfrm>
            <a:custGeom>
              <a:avLst/>
              <a:gdLst>
                <a:gd name="connsiteX0" fmla="*/ 318969 w 401865"/>
                <a:gd name="connsiteY0" fmla="*/ 0 h 692500"/>
                <a:gd name="connsiteX1" fmla="*/ 311761 w 401865"/>
                <a:gd name="connsiteY1" fmla="*/ 17987 h 692500"/>
                <a:gd name="connsiteX2" fmla="*/ 293740 w 401865"/>
                <a:gd name="connsiteY2" fmla="*/ 71948 h 692500"/>
                <a:gd name="connsiteX3" fmla="*/ 286532 w 401865"/>
                <a:gd name="connsiteY3" fmla="*/ 107922 h 692500"/>
                <a:gd name="connsiteX4" fmla="*/ 277521 w 401865"/>
                <a:gd name="connsiteY4" fmla="*/ 152890 h 692500"/>
                <a:gd name="connsiteX5" fmla="*/ 268511 w 401865"/>
                <a:gd name="connsiteY5" fmla="*/ 197857 h 692500"/>
                <a:gd name="connsiteX6" fmla="*/ 263105 w 401865"/>
                <a:gd name="connsiteY6" fmla="*/ 250020 h 692500"/>
                <a:gd name="connsiteX7" fmla="*/ 261302 w 401865"/>
                <a:gd name="connsiteY7" fmla="*/ 303981 h 692500"/>
                <a:gd name="connsiteX8" fmla="*/ 261302 w 401865"/>
                <a:gd name="connsiteY8" fmla="*/ 359740 h 692500"/>
                <a:gd name="connsiteX9" fmla="*/ 263105 w 401865"/>
                <a:gd name="connsiteY9" fmla="*/ 388520 h 692500"/>
                <a:gd name="connsiteX10" fmla="*/ 268511 w 401865"/>
                <a:gd name="connsiteY10" fmla="*/ 419098 h 692500"/>
                <a:gd name="connsiteX11" fmla="*/ 273917 w 401865"/>
                <a:gd name="connsiteY11" fmla="*/ 446078 h 692500"/>
                <a:gd name="connsiteX12" fmla="*/ 281125 w 401865"/>
                <a:gd name="connsiteY12" fmla="*/ 476656 h 692500"/>
                <a:gd name="connsiteX13" fmla="*/ 288334 w 401865"/>
                <a:gd name="connsiteY13" fmla="*/ 505435 h 692500"/>
                <a:gd name="connsiteX14" fmla="*/ 299146 w 401865"/>
                <a:gd name="connsiteY14" fmla="*/ 532416 h 692500"/>
                <a:gd name="connsiteX15" fmla="*/ 311761 w 401865"/>
                <a:gd name="connsiteY15" fmla="*/ 561195 h 692500"/>
                <a:gd name="connsiteX16" fmla="*/ 324375 w 401865"/>
                <a:gd name="connsiteY16" fmla="*/ 589974 h 692500"/>
                <a:gd name="connsiteX17" fmla="*/ 340594 w 401865"/>
                <a:gd name="connsiteY17" fmla="*/ 615156 h 692500"/>
                <a:gd name="connsiteX18" fmla="*/ 358615 w 401865"/>
                <a:gd name="connsiteY18" fmla="*/ 643935 h 692500"/>
                <a:gd name="connsiteX19" fmla="*/ 378438 w 401865"/>
                <a:gd name="connsiteY19" fmla="*/ 667318 h 692500"/>
                <a:gd name="connsiteX20" fmla="*/ 401865 w 401865"/>
                <a:gd name="connsiteY20" fmla="*/ 692500 h 692500"/>
                <a:gd name="connsiteX21" fmla="*/ 320771 w 401865"/>
                <a:gd name="connsiteY21" fmla="*/ 688903 h 692500"/>
                <a:gd name="connsiteX22" fmla="*/ 223459 w 401865"/>
                <a:gd name="connsiteY22" fmla="*/ 687104 h 692500"/>
                <a:gd name="connsiteX23" fmla="*/ 0 w 401865"/>
                <a:gd name="connsiteY23" fmla="*/ 685305 h 692500"/>
                <a:gd name="connsiteX24" fmla="*/ 0 w 401865"/>
                <a:gd name="connsiteY24" fmla="*/ 554000 h 692500"/>
                <a:gd name="connsiteX25" fmla="*/ 0 w 401865"/>
                <a:gd name="connsiteY25" fmla="*/ 17987 h 69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01865" h="692500">
                  <a:moveTo>
                    <a:pt x="318969" y="0"/>
                  </a:moveTo>
                  <a:lnTo>
                    <a:pt x="311761" y="17987"/>
                  </a:lnTo>
                  <a:lnTo>
                    <a:pt x="293740" y="71948"/>
                  </a:lnTo>
                  <a:lnTo>
                    <a:pt x="286532" y="107922"/>
                  </a:lnTo>
                  <a:lnTo>
                    <a:pt x="277521" y="152890"/>
                  </a:lnTo>
                  <a:lnTo>
                    <a:pt x="268511" y="197857"/>
                  </a:lnTo>
                  <a:lnTo>
                    <a:pt x="263105" y="250020"/>
                  </a:lnTo>
                  <a:lnTo>
                    <a:pt x="261302" y="303981"/>
                  </a:lnTo>
                  <a:lnTo>
                    <a:pt x="261302" y="359740"/>
                  </a:lnTo>
                  <a:lnTo>
                    <a:pt x="263105" y="388520"/>
                  </a:lnTo>
                  <a:lnTo>
                    <a:pt x="268511" y="419098"/>
                  </a:lnTo>
                  <a:lnTo>
                    <a:pt x="273917" y="446078"/>
                  </a:lnTo>
                  <a:lnTo>
                    <a:pt x="281125" y="476656"/>
                  </a:lnTo>
                  <a:lnTo>
                    <a:pt x="288334" y="505435"/>
                  </a:lnTo>
                  <a:lnTo>
                    <a:pt x="299146" y="532416"/>
                  </a:lnTo>
                  <a:lnTo>
                    <a:pt x="311761" y="561195"/>
                  </a:lnTo>
                  <a:lnTo>
                    <a:pt x="324375" y="589974"/>
                  </a:lnTo>
                  <a:lnTo>
                    <a:pt x="340594" y="615156"/>
                  </a:lnTo>
                  <a:lnTo>
                    <a:pt x="358615" y="643935"/>
                  </a:lnTo>
                  <a:lnTo>
                    <a:pt x="378438" y="667318"/>
                  </a:lnTo>
                  <a:lnTo>
                    <a:pt x="401865" y="692500"/>
                  </a:lnTo>
                  <a:lnTo>
                    <a:pt x="320771" y="688903"/>
                  </a:lnTo>
                  <a:lnTo>
                    <a:pt x="223459" y="687104"/>
                  </a:lnTo>
                  <a:lnTo>
                    <a:pt x="0" y="685305"/>
                  </a:lnTo>
                  <a:lnTo>
                    <a:pt x="0" y="554000"/>
                  </a:lnTo>
                  <a:lnTo>
                    <a:pt x="0" y="179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89" name="îṧḻíḓ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02AED7F9-0228-47FD-BFBE-B56AAA670762}"/>
                </a:ext>
              </a:extLst>
            </p:cNvPr>
            <p:cNvSpPr/>
            <p:nvPr/>
          </p:nvSpPr>
          <p:spPr bwMode="auto">
            <a:xfrm>
              <a:off x="1744611" y="4222525"/>
              <a:ext cx="654735" cy="527461"/>
            </a:xfrm>
            <a:custGeom>
              <a:avLst/>
              <a:gdLst>
                <a:gd name="T0" fmla="*/ 441 w 521"/>
                <a:gd name="T1" fmla="*/ 190 h 294"/>
                <a:gd name="T2" fmla="*/ 428 w 521"/>
                <a:gd name="T3" fmla="*/ 183 h 294"/>
                <a:gd name="T4" fmla="*/ 402 w 521"/>
                <a:gd name="T5" fmla="*/ 167 h 294"/>
                <a:gd name="T6" fmla="*/ 371 w 521"/>
                <a:gd name="T7" fmla="*/ 142 h 294"/>
                <a:gd name="T8" fmla="*/ 339 w 521"/>
                <a:gd name="T9" fmla="*/ 106 h 294"/>
                <a:gd name="T10" fmla="*/ 306 w 521"/>
                <a:gd name="T11" fmla="*/ 64 h 294"/>
                <a:gd name="T12" fmla="*/ 301 w 521"/>
                <a:gd name="T13" fmla="*/ 58 h 294"/>
                <a:gd name="T14" fmla="*/ 289 w 521"/>
                <a:gd name="T15" fmla="*/ 50 h 294"/>
                <a:gd name="T16" fmla="*/ 276 w 521"/>
                <a:gd name="T17" fmla="*/ 47 h 294"/>
                <a:gd name="T18" fmla="*/ 254 w 521"/>
                <a:gd name="T19" fmla="*/ 49 h 294"/>
                <a:gd name="T20" fmla="*/ 218 w 521"/>
                <a:gd name="T21" fmla="*/ 56 h 294"/>
                <a:gd name="T22" fmla="*/ 183 w 521"/>
                <a:gd name="T23" fmla="*/ 59 h 294"/>
                <a:gd name="T24" fmla="*/ 171 w 521"/>
                <a:gd name="T25" fmla="*/ 59 h 294"/>
                <a:gd name="T26" fmla="*/ 145 w 521"/>
                <a:gd name="T27" fmla="*/ 54 h 294"/>
                <a:gd name="T28" fmla="*/ 121 w 521"/>
                <a:gd name="T29" fmla="*/ 47 h 294"/>
                <a:gd name="T30" fmla="*/ 80 w 521"/>
                <a:gd name="T31" fmla="*/ 28 h 294"/>
                <a:gd name="T32" fmla="*/ 52 w 521"/>
                <a:gd name="T33" fmla="*/ 8 h 294"/>
                <a:gd name="T34" fmla="*/ 41 w 521"/>
                <a:gd name="T35" fmla="*/ 0 h 294"/>
                <a:gd name="T36" fmla="*/ 30 w 521"/>
                <a:gd name="T37" fmla="*/ 2 h 294"/>
                <a:gd name="T38" fmla="*/ 21 w 521"/>
                <a:gd name="T39" fmla="*/ 7 h 294"/>
                <a:gd name="T40" fmla="*/ 11 w 521"/>
                <a:gd name="T41" fmla="*/ 16 h 294"/>
                <a:gd name="T42" fmla="*/ 3 w 521"/>
                <a:gd name="T43" fmla="*/ 30 h 294"/>
                <a:gd name="T44" fmla="*/ 0 w 521"/>
                <a:gd name="T45" fmla="*/ 52 h 294"/>
                <a:gd name="T46" fmla="*/ 3 w 521"/>
                <a:gd name="T47" fmla="*/ 82 h 294"/>
                <a:gd name="T48" fmla="*/ 15 w 521"/>
                <a:gd name="T49" fmla="*/ 121 h 294"/>
                <a:gd name="T50" fmla="*/ 18 w 521"/>
                <a:gd name="T51" fmla="*/ 130 h 294"/>
                <a:gd name="T52" fmla="*/ 22 w 521"/>
                <a:gd name="T53" fmla="*/ 158 h 294"/>
                <a:gd name="T54" fmla="*/ 24 w 521"/>
                <a:gd name="T55" fmla="*/ 171 h 294"/>
                <a:gd name="T56" fmla="*/ 28 w 521"/>
                <a:gd name="T57" fmla="*/ 177 h 294"/>
                <a:gd name="T58" fmla="*/ 30 w 521"/>
                <a:gd name="T59" fmla="*/ 177 h 294"/>
                <a:gd name="T60" fmla="*/ 50 w 521"/>
                <a:gd name="T61" fmla="*/ 179 h 294"/>
                <a:gd name="T62" fmla="*/ 68 w 521"/>
                <a:gd name="T63" fmla="*/ 174 h 294"/>
                <a:gd name="T64" fmla="*/ 87 w 521"/>
                <a:gd name="T65" fmla="*/ 161 h 294"/>
                <a:gd name="T66" fmla="*/ 95 w 521"/>
                <a:gd name="T67" fmla="*/ 149 h 294"/>
                <a:gd name="T68" fmla="*/ 98 w 521"/>
                <a:gd name="T69" fmla="*/ 154 h 294"/>
                <a:gd name="T70" fmla="*/ 117 w 521"/>
                <a:gd name="T71" fmla="*/ 165 h 294"/>
                <a:gd name="T72" fmla="*/ 154 w 521"/>
                <a:gd name="T73" fmla="*/ 177 h 294"/>
                <a:gd name="T74" fmla="*/ 189 w 521"/>
                <a:gd name="T75" fmla="*/ 180 h 294"/>
                <a:gd name="T76" fmla="*/ 212 w 521"/>
                <a:gd name="T77" fmla="*/ 180 h 294"/>
                <a:gd name="T78" fmla="*/ 235 w 521"/>
                <a:gd name="T79" fmla="*/ 176 h 294"/>
                <a:gd name="T80" fmla="*/ 246 w 521"/>
                <a:gd name="T81" fmla="*/ 172 h 294"/>
                <a:gd name="T82" fmla="*/ 260 w 521"/>
                <a:gd name="T83" fmla="*/ 200 h 294"/>
                <a:gd name="T84" fmla="*/ 280 w 521"/>
                <a:gd name="T85" fmla="*/ 225 h 294"/>
                <a:gd name="T86" fmla="*/ 302 w 521"/>
                <a:gd name="T87" fmla="*/ 247 h 294"/>
                <a:gd name="T88" fmla="*/ 329 w 521"/>
                <a:gd name="T89" fmla="*/ 266 h 294"/>
                <a:gd name="T90" fmla="*/ 358 w 521"/>
                <a:gd name="T91" fmla="*/ 279 h 294"/>
                <a:gd name="T92" fmla="*/ 389 w 521"/>
                <a:gd name="T93" fmla="*/ 289 h 294"/>
                <a:gd name="T94" fmla="*/ 422 w 521"/>
                <a:gd name="T95" fmla="*/ 294 h 294"/>
                <a:gd name="T96" fmla="*/ 454 w 521"/>
                <a:gd name="T97" fmla="*/ 292 h 294"/>
                <a:gd name="T98" fmla="*/ 470 w 521"/>
                <a:gd name="T99" fmla="*/ 290 h 294"/>
                <a:gd name="T100" fmla="*/ 493 w 521"/>
                <a:gd name="T101" fmla="*/ 282 h 294"/>
                <a:gd name="T102" fmla="*/ 508 w 521"/>
                <a:gd name="T103" fmla="*/ 271 h 294"/>
                <a:gd name="T104" fmla="*/ 517 w 521"/>
                <a:gd name="T105" fmla="*/ 257 h 294"/>
                <a:gd name="T106" fmla="*/ 520 w 521"/>
                <a:gd name="T107" fmla="*/ 244 h 294"/>
                <a:gd name="T108" fmla="*/ 520 w 521"/>
                <a:gd name="T109" fmla="*/ 227 h 294"/>
                <a:gd name="T110" fmla="*/ 518 w 521"/>
                <a:gd name="T111" fmla="*/ 217 h 294"/>
                <a:gd name="T112" fmla="*/ 503 w 521"/>
                <a:gd name="T113" fmla="*/ 215 h 294"/>
                <a:gd name="T114" fmla="*/ 476 w 521"/>
                <a:gd name="T115" fmla="*/ 207 h 294"/>
                <a:gd name="T116" fmla="*/ 448 w 521"/>
                <a:gd name="T117" fmla="*/ 195 h 294"/>
                <a:gd name="T118" fmla="*/ 442 w 521"/>
                <a:gd name="T119" fmla="*/ 19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21" h="294">
                  <a:moveTo>
                    <a:pt x="442" y="191"/>
                  </a:moveTo>
                  <a:lnTo>
                    <a:pt x="441" y="190"/>
                  </a:lnTo>
                  <a:lnTo>
                    <a:pt x="441" y="190"/>
                  </a:lnTo>
                  <a:lnTo>
                    <a:pt x="428" y="183"/>
                  </a:lnTo>
                  <a:lnTo>
                    <a:pt x="414" y="176"/>
                  </a:lnTo>
                  <a:lnTo>
                    <a:pt x="402" y="167"/>
                  </a:lnTo>
                  <a:lnTo>
                    <a:pt x="391" y="159"/>
                  </a:lnTo>
                  <a:lnTo>
                    <a:pt x="371" y="142"/>
                  </a:lnTo>
                  <a:lnTo>
                    <a:pt x="354" y="124"/>
                  </a:lnTo>
                  <a:lnTo>
                    <a:pt x="339" y="106"/>
                  </a:lnTo>
                  <a:lnTo>
                    <a:pt x="326" y="90"/>
                  </a:lnTo>
                  <a:lnTo>
                    <a:pt x="306" y="64"/>
                  </a:lnTo>
                  <a:lnTo>
                    <a:pt x="306" y="64"/>
                  </a:lnTo>
                  <a:lnTo>
                    <a:pt x="301" y="58"/>
                  </a:lnTo>
                  <a:lnTo>
                    <a:pt x="295" y="53"/>
                  </a:lnTo>
                  <a:lnTo>
                    <a:pt x="289" y="50"/>
                  </a:lnTo>
                  <a:lnTo>
                    <a:pt x="283" y="48"/>
                  </a:lnTo>
                  <a:lnTo>
                    <a:pt x="276" y="47"/>
                  </a:lnTo>
                  <a:lnTo>
                    <a:pt x="270" y="48"/>
                  </a:lnTo>
                  <a:lnTo>
                    <a:pt x="254" y="49"/>
                  </a:lnTo>
                  <a:lnTo>
                    <a:pt x="237" y="53"/>
                  </a:lnTo>
                  <a:lnTo>
                    <a:pt x="218" y="56"/>
                  </a:lnTo>
                  <a:lnTo>
                    <a:pt x="195" y="59"/>
                  </a:lnTo>
                  <a:lnTo>
                    <a:pt x="183" y="59"/>
                  </a:lnTo>
                  <a:lnTo>
                    <a:pt x="171" y="59"/>
                  </a:lnTo>
                  <a:lnTo>
                    <a:pt x="171" y="59"/>
                  </a:lnTo>
                  <a:lnTo>
                    <a:pt x="158" y="56"/>
                  </a:lnTo>
                  <a:lnTo>
                    <a:pt x="145" y="54"/>
                  </a:lnTo>
                  <a:lnTo>
                    <a:pt x="133" y="50"/>
                  </a:lnTo>
                  <a:lnTo>
                    <a:pt x="121" y="47"/>
                  </a:lnTo>
                  <a:lnTo>
                    <a:pt x="99" y="37"/>
                  </a:lnTo>
                  <a:lnTo>
                    <a:pt x="80" y="28"/>
                  </a:lnTo>
                  <a:lnTo>
                    <a:pt x="64" y="17"/>
                  </a:lnTo>
                  <a:lnTo>
                    <a:pt x="52" y="8"/>
                  </a:lnTo>
                  <a:lnTo>
                    <a:pt x="41" y="0"/>
                  </a:lnTo>
                  <a:lnTo>
                    <a:pt x="41" y="0"/>
                  </a:lnTo>
                  <a:lnTo>
                    <a:pt x="39" y="0"/>
                  </a:lnTo>
                  <a:lnTo>
                    <a:pt x="30" y="2"/>
                  </a:lnTo>
                  <a:lnTo>
                    <a:pt x="26" y="5"/>
                  </a:lnTo>
                  <a:lnTo>
                    <a:pt x="21" y="7"/>
                  </a:lnTo>
                  <a:lnTo>
                    <a:pt x="16" y="11"/>
                  </a:lnTo>
                  <a:lnTo>
                    <a:pt x="11" y="16"/>
                  </a:lnTo>
                  <a:lnTo>
                    <a:pt x="6" y="23"/>
                  </a:lnTo>
                  <a:lnTo>
                    <a:pt x="3" y="30"/>
                  </a:lnTo>
                  <a:lnTo>
                    <a:pt x="0" y="41"/>
                  </a:lnTo>
                  <a:lnTo>
                    <a:pt x="0" y="52"/>
                  </a:lnTo>
                  <a:lnTo>
                    <a:pt x="0" y="66"/>
                  </a:lnTo>
                  <a:lnTo>
                    <a:pt x="3" y="82"/>
                  </a:lnTo>
                  <a:lnTo>
                    <a:pt x="8" y="100"/>
                  </a:lnTo>
                  <a:lnTo>
                    <a:pt x="15" y="121"/>
                  </a:lnTo>
                  <a:lnTo>
                    <a:pt x="15" y="121"/>
                  </a:lnTo>
                  <a:lnTo>
                    <a:pt x="18" y="130"/>
                  </a:lnTo>
                  <a:lnTo>
                    <a:pt x="20" y="139"/>
                  </a:lnTo>
                  <a:lnTo>
                    <a:pt x="22" y="158"/>
                  </a:lnTo>
                  <a:lnTo>
                    <a:pt x="22" y="165"/>
                  </a:lnTo>
                  <a:lnTo>
                    <a:pt x="24" y="171"/>
                  </a:lnTo>
                  <a:lnTo>
                    <a:pt x="27" y="176"/>
                  </a:lnTo>
                  <a:lnTo>
                    <a:pt x="28" y="177"/>
                  </a:lnTo>
                  <a:lnTo>
                    <a:pt x="30" y="177"/>
                  </a:lnTo>
                  <a:lnTo>
                    <a:pt x="30" y="177"/>
                  </a:lnTo>
                  <a:lnTo>
                    <a:pt x="41" y="179"/>
                  </a:lnTo>
                  <a:lnTo>
                    <a:pt x="50" y="179"/>
                  </a:lnTo>
                  <a:lnTo>
                    <a:pt x="58" y="178"/>
                  </a:lnTo>
                  <a:lnTo>
                    <a:pt x="68" y="174"/>
                  </a:lnTo>
                  <a:lnTo>
                    <a:pt x="77" y="170"/>
                  </a:lnTo>
                  <a:lnTo>
                    <a:pt x="87" y="161"/>
                  </a:lnTo>
                  <a:lnTo>
                    <a:pt x="91" y="156"/>
                  </a:lnTo>
                  <a:lnTo>
                    <a:pt x="95" y="149"/>
                  </a:lnTo>
                  <a:lnTo>
                    <a:pt x="95" y="149"/>
                  </a:lnTo>
                  <a:lnTo>
                    <a:pt x="98" y="154"/>
                  </a:lnTo>
                  <a:lnTo>
                    <a:pt x="103" y="158"/>
                  </a:lnTo>
                  <a:lnTo>
                    <a:pt x="117" y="165"/>
                  </a:lnTo>
                  <a:lnTo>
                    <a:pt x="134" y="172"/>
                  </a:lnTo>
                  <a:lnTo>
                    <a:pt x="154" y="177"/>
                  </a:lnTo>
                  <a:lnTo>
                    <a:pt x="177" y="180"/>
                  </a:lnTo>
                  <a:lnTo>
                    <a:pt x="189" y="180"/>
                  </a:lnTo>
                  <a:lnTo>
                    <a:pt x="201" y="180"/>
                  </a:lnTo>
                  <a:lnTo>
                    <a:pt x="212" y="180"/>
                  </a:lnTo>
                  <a:lnTo>
                    <a:pt x="224" y="178"/>
                  </a:lnTo>
                  <a:lnTo>
                    <a:pt x="235" y="176"/>
                  </a:lnTo>
                  <a:lnTo>
                    <a:pt x="246" y="172"/>
                  </a:lnTo>
                  <a:lnTo>
                    <a:pt x="246" y="172"/>
                  </a:lnTo>
                  <a:lnTo>
                    <a:pt x="252" y="186"/>
                  </a:lnTo>
                  <a:lnTo>
                    <a:pt x="260" y="200"/>
                  </a:lnTo>
                  <a:lnTo>
                    <a:pt x="269" y="213"/>
                  </a:lnTo>
                  <a:lnTo>
                    <a:pt x="280" y="225"/>
                  </a:lnTo>
                  <a:lnTo>
                    <a:pt x="290" y="237"/>
                  </a:lnTo>
                  <a:lnTo>
                    <a:pt x="302" y="247"/>
                  </a:lnTo>
                  <a:lnTo>
                    <a:pt x="316" y="256"/>
                  </a:lnTo>
                  <a:lnTo>
                    <a:pt x="329" y="266"/>
                  </a:lnTo>
                  <a:lnTo>
                    <a:pt x="343" y="273"/>
                  </a:lnTo>
                  <a:lnTo>
                    <a:pt x="358" y="279"/>
                  </a:lnTo>
                  <a:lnTo>
                    <a:pt x="373" y="285"/>
                  </a:lnTo>
                  <a:lnTo>
                    <a:pt x="389" y="289"/>
                  </a:lnTo>
                  <a:lnTo>
                    <a:pt x="406" y="292"/>
                  </a:lnTo>
                  <a:lnTo>
                    <a:pt x="422" y="294"/>
                  </a:lnTo>
                  <a:lnTo>
                    <a:pt x="438" y="294"/>
                  </a:lnTo>
                  <a:lnTo>
                    <a:pt x="454" y="292"/>
                  </a:lnTo>
                  <a:lnTo>
                    <a:pt x="454" y="292"/>
                  </a:lnTo>
                  <a:lnTo>
                    <a:pt x="470" y="290"/>
                  </a:lnTo>
                  <a:lnTo>
                    <a:pt x="482" y="286"/>
                  </a:lnTo>
                  <a:lnTo>
                    <a:pt x="493" y="282"/>
                  </a:lnTo>
                  <a:lnTo>
                    <a:pt x="501" y="277"/>
                  </a:lnTo>
                  <a:lnTo>
                    <a:pt x="508" y="271"/>
                  </a:lnTo>
                  <a:lnTo>
                    <a:pt x="513" y="263"/>
                  </a:lnTo>
                  <a:lnTo>
                    <a:pt x="517" y="257"/>
                  </a:lnTo>
                  <a:lnTo>
                    <a:pt x="519" y="250"/>
                  </a:lnTo>
                  <a:lnTo>
                    <a:pt x="520" y="244"/>
                  </a:lnTo>
                  <a:lnTo>
                    <a:pt x="521" y="238"/>
                  </a:lnTo>
                  <a:lnTo>
                    <a:pt x="520" y="227"/>
                  </a:lnTo>
                  <a:lnTo>
                    <a:pt x="519" y="220"/>
                  </a:lnTo>
                  <a:lnTo>
                    <a:pt x="518" y="217"/>
                  </a:lnTo>
                  <a:lnTo>
                    <a:pt x="518" y="217"/>
                  </a:lnTo>
                  <a:lnTo>
                    <a:pt x="503" y="215"/>
                  </a:lnTo>
                  <a:lnTo>
                    <a:pt x="489" y="212"/>
                  </a:lnTo>
                  <a:lnTo>
                    <a:pt x="476" y="207"/>
                  </a:lnTo>
                  <a:lnTo>
                    <a:pt x="465" y="203"/>
                  </a:lnTo>
                  <a:lnTo>
                    <a:pt x="448" y="195"/>
                  </a:lnTo>
                  <a:lnTo>
                    <a:pt x="442" y="191"/>
                  </a:lnTo>
                  <a:lnTo>
                    <a:pt x="442" y="191"/>
                  </a:lnTo>
                  <a:close/>
                </a:path>
              </a:pathLst>
            </a:custGeom>
            <a:solidFill>
              <a:srgbClr val="E8AD8B"/>
            </a:solidFill>
            <a:ln>
              <a:noFill/>
            </a:ln>
          </p:spPr>
          <p:txBody>
            <a:bodyPr vert="horz" wrap="square" lIns="91440" tIns="45720" rIns="91440" bIns="45720" numCol="1" anchor="t" anchorCtr="0" compatLnSpc="1">
              <a:prstTxWarp prst="textNoShape">
                <a:avLst/>
              </a:prstTxWarp>
              <a:normAutofit/>
            </a:bodyPr>
            <a:lstStyle/>
            <a:p>
              <a:endParaRPr lang="en-US" dirty="0">
                <a:latin typeface="Arial" panose="020B0604020202020204" pitchFamily="34" charset="0"/>
                <a:ea typeface="+mn-ea"/>
              </a:endParaRPr>
            </a:p>
          </p:txBody>
        </p:sp>
        <p:sp>
          <p:nvSpPr>
            <p:cNvPr id="90" name="íşḷîḓ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32070BE0-71F5-4752-B30D-D545E1F55534}"/>
                </a:ext>
              </a:extLst>
            </p:cNvPr>
            <p:cNvSpPr/>
            <p:nvPr/>
          </p:nvSpPr>
          <p:spPr bwMode="auto">
            <a:xfrm>
              <a:off x="2253290" y="4545461"/>
              <a:ext cx="128429" cy="100469"/>
            </a:xfrm>
            <a:custGeom>
              <a:avLst/>
              <a:gdLst>
                <a:gd name="T0" fmla="*/ 37 w 102"/>
                <a:gd name="T1" fmla="*/ 12 h 57"/>
                <a:gd name="T2" fmla="*/ 36 w 102"/>
                <a:gd name="T3" fmla="*/ 11 h 57"/>
                <a:gd name="T4" fmla="*/ 36 w 102"/>
                <a:gd name="T5" fmla="*/ 11 h 57"/>
                <a:gd name="T6" fmla="*/ 14 w 102"/>
                <a:gd name="T7" fmla="*/ 0 h 57"/>
                <a:gd name="T8" fmla="*/ 14 w 102"/>
                <a:gd name="T9" fmla="*/ 0 h 57"/>
                <a:gd name="T10" fmla="*/ 7 w 102"/>
                <a:gd name="T11" fmla="*/ 6 h 57"/>
                <a:gd name="T12" fmla="*/ 2 w 102"/>
                <a:gd name="T13" fmla="*/ 13 h 57"/>
                <a:gd name="T14" fmla="*/ 0 w 102"/>
                <a:gd name="T15" fmla="*/ 17 h 57"/>
                <a:gd name="T16" fmla="*/ 0 w 102"/>
                <a:gd name="T17" fmla="*/ 22 h 57"/>
                <a:gd name="T18" fmla="*/ 0 w 102"/>
                <a:gd name="T19" fmla="*/ 25 h 57"/>
                <a:gd name="T20" fmla="*/ 1 w 102"/>
                <a:gd name="T21" fmla="*/ 30 h 57"/>
                <a:gd name="T22" fmla="*/ 1 w 102"/>
                <a:gd name="T23" fmla="*/ 30 h 57"/>
                <a:gd name="T24" fmla="*/ 8 w 102"/>
                <a:gd name="T25" fmla="*/ 36 h 57"/>
                <a:gd name="T26" fmla="*/ 18 w 102"/>
                <a:gd name="T27" fmla="*/ 44 h 57"/>
                <a:gd name="T28" fmla="*/ 29 w 102"/>
                <a:gd name="T29" fmla="*/ 48 h 57"/>
                <a:gd name="T30" fmla="*/ 42 w 102"/>
                <a:gd name="T31" fmla="*/ 53 h 57"/>
                <a:gd name="T32" fmla="*/ 54 w 102"/>
                <a:gd name="T33" fmla="*/ 56 h 57"/>
                <a:gd name="T34" fmla="*/ 66 w 102"/>
                <a:gd name="T35" fmla="*/ 57 h 57"/>
                <a:gd name="T36" fmla="*/ 77 w 102"/>
                <a:gd name="T37" fmla="*/ 57 h 57"/>
                <a:gd name="T38" fmla="*/ 82 w 102"/>
                <a:gd name="T39" fmla="*/ 56 h 57"/>
                <a:gd name="T40" fmla="*/ 86 w 102"/>
                <a:gd name="T41" fmla="*/ 53 h 57"/>
                <a:gd name="T42" fmla="*/ 86 w 102"/>
                <a:gd name="T43" fmla="*/ 53 h 57"/>
                <a:gd name="T44" fmla="*/ 94 w 102"/>
                <a:gd name="T45" fmla="*/ 48 h 57"/>
                <a:gd name="T46" fmla="*/ 98 w 102"/>
                <a:gd name="T47" fmla="*/ 45 h 57"/>
                <a:gd name="T48" fmla="*/ 101 w 102"/>
                <a:gd name="T49" fmla="*/ 41 h 57"/>
                <a:gd name="T50" fmla="*/ 102 w 102"/>
                <a:gd name="T51" fmla="*/ 36 h 57"/>
                <a:gd name="T52" fmla="*/ 102 w 102"/>
                <a:gd name="T53" fmla="*/ 36 h 57"/>
                <a:gd name="T54" fmla="*/ 89 w 102"/>
                <a:gd name="T55" fmla="*/ 34 h 57"/>
                <a:gd name="T56" fmla="*/ 77 w 102"/>
                <a:gd name="T57" fmla="*/ 30 h 57"/>
                <a:gd name="T58" fmla="*/ 56 w 102"/>
                <a:gd name="T59" fmla="*/ 22 h 57"/>
                <a:gd name="T60" fmla="*/ 42 w 102"/>
                <a:gd name="T61" fmla="*/ 15 h 57"/>
                <a:gd name="T62" fmla="*/ 37 w 102"/>
                <a:gd name="T63" fmla="*/ 12 h 57"/>
                <a:gd name="T64" fmla="*/ 37 w 102"/>
                <a:gd name="T65"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37" y="12"/>
                  </a:moveTo>
                  <a:lnTo>
                    <a:pt x="36" y="11"/>
                  </a:lnTo>
                  <a:lnTo>
                    <a:pt x="36" y="11"/>
                  </a:lnTo>
                  <a:lnTo>
                    <a:pt x="14" y="0"/>
                  </a:lnTo>
                  <a:lnTo>
                    <a:pt x="14" y="0"/>
                  </a:lnTo>
                  <a:lnTo>
                    <a:pt x="7" y="6"/>
                  </a:lnTo>
                  <a:lnTo>
                    <a:pt x="2" y="13"/>
                  </a:lnTo>
                  <a:lnTo>
                    <a:pt x="0" y="17"/>
                  </a:lnTo>
                  <a:lnTo>
                    <a:pt x="0" y="22"/>
                  </a:lnTo>
                  <a:lnTo>
                    <a:pt x="0" y="25"/>
                  </a:lnTo>
                  <a:lnTo>
                    <a:pt x="1" y="30"/>
                  </a:lnTo>
                  <a:lnTo>
                    <a:pt x="1" y="30"/>
                  </a:lnTo>
                  <a:lnTo>
                    <a:pt x="8" y="36"/>
                  </a:lnTo>
                  <a:lnTo>
                    <a:pt x="18" y="44"/>
                  </a:lnTo>
                  <a:lnTo>
                    <a:pt x="29" y="48"/>
                  </a:lnTo>
                  <a:lnTo>
                    <a:pt x="42" y="53"/>
                  </a:lnTo>
                  <a:lnTo>
                    <a:pt x="54" y="56"/>
                  </a:lnTo>
                  <a:lnTo>
                    <a:pt x="66" y="57"/>
                  </a:lnTo>
                  <a:lnTo>
                    <a:pt x="77" y="57"/>
                  </a:lnTo>
                  <a:lnTo>
                    <a:pt x="82" y="56"/>
                  </a:lnTo>
                  <a:lnTo>
                    <a:pt x="86" y="53"/>
                  </a:lnTo>
                  <a:lnTo>
                    <a:pt x="86" y="53"/>
                  </a:lnTo>
                  <a:lnTo>
                    <a:pt x="94" y="48"/>
                  </a:lnTo>
                  <a:lnTo>
                    <a:pt x="98" y="45"/>
                  </a:lnTo>
                  <a:lnTo>
                    <a:pt x="101" y="41"/>
                  </a:lnTo>
                  <a:lnTo>
                    <a:pt x="102" y="36"/>
                  </a:lnTo>
                  <a:lnTo>
                    <a:pt x="102" y="36"/>
                  </a:lnTo>
                  <a:lnTo>
                    <a:pt x="89" y="34"/>
                  </a:lnTo>
                  <a:lnTo>
                    <a:pt x="77" y="30"/>
                  </a:lnTo>
                  <a:lnTo>
                    <a:pt x="56" y="22"/>
                  </a:lnTo>
                  <a:lnTo>
                    <a:pt x="42" y="15"/>
                  </a:lnTo>
                  <a:lnTo>
                    <a:pt x="37" y="12"/>
                  </a:lnTo>
                  <a:lnTo>
                    <a:pt x="37" y="12"/>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91" name="ísḷiḓ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14009AAA-0338-4E6A-94AD-1FEF34F72190}"/>
                </a:ext>
              </a:extLst>
            </p:cNvPr>
            <p:cNvSpPr/>
            <p:nvPr/>
          </p:nvSpPr>
          <p:spPr bwMode="auto">
            <a:xfrm>
              <a:off x="2243217" y="4423461"/>
              <a:ext cx="88138" cy="60999"/>
            </a:xfrm>
            <a:custGeom>
              <a:avLst/>
              <a:gdLst>
                <a:gd name="T0" fmla="*/ 70 w 70"/>
                <a:gd name="T1" fmla="*/ 26 h 34"/>
                <a:gd name="T2" fmla="*/ 70 w 70"/>
                <a:gd name="T3" fmla="*/ 26 h 34"/>
                <a:gd name="T4" fmla="*/ 53 w 70"/>
                <a:gd name="T5" fmla="*/ 23 h 34"/>
                <a:gd name="T6" fmla="*/ 36 w 70"/>
                <a:gd name="T7" fmla="*/ 17 h 34"/>
                <a:gd name="T8" fmla="*/ 21 w 70"/>
                <a:gd name="T9" fmla="*/ 8 h 34"/>
                <a:gd name="T10" fmla="*/ 6 w 70"/>
                <a:gd name="T11" fmla="*/ 0 h 34"/>
                <a:gd name="T12" fmla="*/ 6 w 70"/>
                <a:gd name="T13" fmla="*/ 0 h 34"/>
                <a:gd name="T14" fmla="*/ 3 w 70"/>
                <a:gd name="T15" fmla="*/ 3 h 34"/>
                <a:gd name="T16" fmla="*/ 0 w 70"/>
                <a:gd name="T17" fmla="*/ 8 h 34"/>
                <a:gd name="T18" fmla="*/ 0 w 70"/>
                <a:gd name="T19" fmla="*/ 12 h 34"/>
                <a:gd name="T20" fmla="*/ 1 w 70"/>
                <a:gd name="T21" fmla="*/ 17 h 34"/>
                <a:gd name="T22" fmla="*/ 1 w 70"/>
                <a:gd name="T23" fmla="*/ 17 h 34"/>
                <a:gd name="T24" fmla="*/ 5 w 70"/>
                <a:gd name="T25" fmla="*/ 20 h 34"/>
                <a:gd name="T26" fmla="*/ 11 w 70"/>
                <a:gd name="T27" fmla="*/ 24 h 34"/>
                <a:gd name="T28" fmla="*/ 20 w 70"/>
                <a:gd name="T29" fmla="*/ 27 h 34"/>
                <a:gd name="T30" fmla="*/ 29 w 70"/>
                <a:gd name="T31" fmla="*/ 31 h 34"/>
                <a:gd name="T32" fmla="*/ 40 w 70"/>
                <a:gd name="T33" fmla="*/ 32 h 34"/>
                <a:gd name="T34" fmla="*/ 51 w 70"/>
                <a:gd name="T35" fmla="*/ 34 h 34"/>
                <a:gd name="T36" fmla="*/ 60 w 70"/>
                <a:gd name="T37" fmla="*/ 31 h 34"/>
                <a:gd name="T38" fmla="*/ 65 w 70"/>
                <a:gd name="T39" fmla="*/ 29 h 34"/>
                <a:gd name="T40" fmla="*/ 70 w 70"/>
                <a:gd name="T41" fmla="*/ 26 h 34"/>
                <a:gd name="T42" fmla="*/ 70 w 70"/>
                <a:gd name="T43"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34">
                  <a:moveTo>
                    <a:pt x="70" y="26"/>
                  </a:moveTo>
                  <a:lnTo>
                    <a:pt x="70" y="26"/>
                  </a:lnTo>
                  <a:lnTo>
                    <a:pt x="53" y="23"/>
                  </a:lnTo>
                  <a:lnTo>
                    <a:pt x="36" y="17"/>
                  </a:lnTo>
                  <a:lnTo>
                    <a:pt x="21" y="8"/>
                  </a:lnTo>
                  <a:lnTo>
                    <a:pt x="6" y="0"/>
                  </a:lnTo>
                  <a:lnTo>
                    <a:pt x="6" y="0"/>
                  </a:lnTo>
                  <a:lnTo>
                    <a:pt x="3" y="3"/>
                  </a:lnTo>
                  <a:lnTo>
                    <a:pt x="0" y="8"/>
                  </a:lnTo>
                  <a:lnTo>
                    <a:pt x="0" y="12"/>
                  </a:lnTo>
                  <a:lnTo>
                    <a:pt x="1" y="17"/>
                  </a:lnTo>
                  <a:lnTo>
                    <a:pt x="1" y="17"/>
                  </a:lnTo>
                  <a:lnTo>
                    <a:pt x="5" y="20"/>
                  </a:lnTo>
                  <a:lnTo>
                    <a:pt x="11" y="24"/>
                  </a:lnTo>
                  <a:lnTo>
                    <a:pt x="20" y="27"/>
                  </a:lnTo>
                  <a:lnTo>
                    <a:pt x="29" y="31"/>
                  </a:lnTo>
                  <a:lnTo>
                    <a:pt x="40" y="32"/>
                  </a:lnTo>
                  <a:lnTo>
                    <a:pt x="51" y="34"/>
                  </a:lnTo>
                  <a:lnTo>
                    <a:pt x="60" y="31"/>
                  </a:lnTo>
                  <a:lnTo>
                    <a:pt x="65" y="29"/>
                  </a:lnTo>
                  <a:lnTo>
                    <a:pt x="70" y="26"/>
                  </a:lnTo>
                  <a:lnTo>
                    <a:pt x="70" y="26"/>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sp>
          <p:nvSpPr>
            <p:cNvPr id="92" name="îślîḑ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1BBA5EE7-B8FA-4172-B6F3-EFE94C3FA3BD}"/>
                </a:ext>
              </a:extLst>
            </p:cNvPr>
            <p:cNvSpPr/>
            <p:nvPr/>
          </p:nvSpPr>
          <p:spPr bwMode="auto">
            <a:xfrm>
              <a:off x="1029054" y="5216318"/>
              <a:ext cx="0" cy="10765"/>
            </a:xfrm>
            <a:custGeom>
              <a:avLst/>
              <a:gdLst>
                <a:gd name="T0" fmla="*/ 0 h 8"/>
                <a:gd name="T1" fmla="*/ 8 h 8"/>
                <a:gd name="T2" fmla="*/ 8 h 8"/>
                <a:gd name="T3" fmla="*/ 0 h 8"/>
              </a:gdLst>
              <a:ahLst/>
              <a:cxnLst>
                <a:cxn ang="0">
                  <a:pos x="0" y="T0"/>
                </a:cxn>
                <a:cxn ang="0">
                  <a:pos x="0" y="T1"/>
                </a:cxn>
                <a:cxn ang="0">
                  <a:pos x="0" y="T2"/>
                </a:cxn>
                <a:cxn ang="0">
                  <a:pos x="0" y="T3"/>
                </a:cxn>
              </a:cxnLst>
              <a:rect l="0" t="0" r="r" b="b"/>
              <a:pathLst>
                <a:path h="8">
                  <a:moveTo>
                    <a:pt x="0" y="0"/>
                  </a:moveTo>
                  <a:lnTo>
                    <a:pt x="0" y="8"/>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endParaRPr lang="en-US" dirty="0">
                <a:latin typeface="Arial" panose="020B0604020202020204" pitchFamily="34" charset="0"/>
                <a:ea typeface="+mn-ea"/>
              </a:endParaRPr>
            </a:p>
          </p:txBody>
        </p:sp>
      </p:grpSp>
      <p:sp>
        <p:nvSpPr>
          <p:cNvPr id="93" name="îşlïḋ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7A5D0C2A-4D70-4437-9181-EEA68A8DED4A}"/>
              </a:ext>
            </a:extLst>
          </p:cNvPr>
          <p:cNvSpPr/>
          <p:nvPr/>
        </p:nvSpPr>
        <p:spPr>
          <a:xfrm>
            <a:off x="1750030" y="2708920"/>
            <a:ext cx="1078046" cy="217233"/>
          </a:xfrm>
          <a:prstGeom prst="rect">
            <a:avLst/>
          </a:prstGeom>
        </p:spPr>
        <p:txBody>
          <a:bodyPr wrap="square" lIns="91440" tIns="45720" rIns="91440" bIns="45720">
            <a:noAutofit/>
          </a:bodyPr>
          <a:lstStyle/>
          <a:p>
            <a:pPr algn="ctr">
              <a:spcBef>
                <a:spcPts val="450"/>
              </a:spcBef>
              <a:buClr>
                <a:srgbClr val="E24848"/>
              </a:buClr>
            </a:pPr>
            <a:r>
              <a:rPr lang="en-US" sz="1050" dirty="0" smtClean="0">
                <a:latin typeface="Arial" panose="020B0604020202020204" pitchFamily="34" charset="0"/>
                <a:ea typeface="+mn-ea"/>
              </a:rPr>
              <a:t>Multi-tenant sharing</a:t>
            </a:r>
            <a:endParaRPr lang="en-US" sz="1050" dirty="0">
              <a:latin typeface="Arial" panose="020B0604020202020204" pitchFamily="34" charset="0"/>
              <a:ea typeface="+mn-ea"/>
            </a:endParaRPr>
          </a:p>
        </p:txBody>
      </p:sp>
      <p:sp>
        <p:nvSpPr>
          <p:cNvPr id="94" name="ïSļîḍè">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C4E2ACCF-D49B-4FBE-AAB6-9F6A27754F75}"/>
              </a:ext>
            </a:extLst>
          </p:cNvPr>
          <p:cNvSpPr/>
          <p:nvPr/>
        </p:nvSpPr>
        <p:spPr>
          <a:xfrm>
            <a:off x="1750030" y="3175763"/>
            <a:ext cx="1078046" cy="217233"/>
          </a:xfrm>
          <a:prstGeom prst="rect">
            <a:avLst/>
          </a:prstGeom>
        </p:spPr>
        <p:txBody>
          <a:bodyPr wrap="square" lIns="91440" tIns="45720" rIns="91440" bIns="45720">
            <a:noAutofit/>
          </a:bodyPr>
          <a:lstStyle/>
          <a:p>
            <a:pPr algn="ctr">
              <a:spcBef>
                <a:spcPts val="450"/>
              </a:spcBef>
              <a:buClr>
                <a:srgbClr val="E24848"/>
              </a:buClr>
            </a:pPr>
            <a:r>
              <a:rPr lang="en-US" sz="1100" dirty="0">
                <a:latin typeface="Arial" panose="020B0604020202020204" pitchFamily="34" charset="0"/>
                <a:ea typeface="+mn-ea"/>
              </a:rPr>
              <a:t>Space-saving</a:t>
            </a:r>
          </a:p>
        </p:txBody>
      </p:sp>
      <p:sp>
        <p:nvSpPr>
          <p:cNvPr id="95" name="íṩḻîď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0ED22D36-14F7-4205-A4B2-2241841D2A7C}"/>
              </a:ext>
            </a:extLst>
          </p:cNvPr>
          <p:cNvSpPr/>
          <p:nvPr/>
        </p:nvSpPr>
        <p:spPr>
          <a:xfrm>
            <a:off x="1750030" y="3429000"/>
            <a:ext cx="1078046" cy="217233"/>
          </a:xfrm>
          <a:prstGeom prst="rect">
            <a:avLst/>
          </a:prstGeom>
        </p:spPr>
        <p:txBody>
          <a:bodyPr wrap="square" lIns="91440" tIns="45720" rIns="91440" bIns="45720">
            <a:noAutofit/>
          </a:bodyPr>
          <a:lstStyle/>
          <a:p>
            <a:pPr algn="ctr">
              <a:spcBef>
                <a:spcPts val="450"/>
              </a:spcBef>
              <a:buClr>
                <a:srgbClr val="E24848"/>
              </a:buClr>
            </a:pPr>
            <a:r>
              <a:rPr lang="en-US" sz="1050" dirty="0">
                <a:latin typeface="Arial" panose="020B0604020202020204" pitchFamily="34" charset="0"/>
                <a:ea typeface="+mn-ea"/>
              </a:rPr>
              <a:t>Temporary data storage</a:t>
            </a:r>
          </a:p>
        </p:txBody>
      </p:sp>
      <p:sp>
        <p:nvSpPr>
          <p:cNvPr id="96" name="íşlídé">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6C032E09-8A70-4B6D-A0BE-A9A325C65F4C}"/>
              </a:ext>
            </a:extLst>
          </p:cNvPr>
          <p:cNvSpPr/>
          <p:nvPr/>
        </p:nvSpPr>
        <p:spPr>
          <a:xfrm>
            <a:off x="1750030" y="3879703"/>
            <a:ext cx="1078046" cy="217233"/>
          </a:xfrm>
          <a:prstGeom prst="rect">
            <a:avLst/>
          </a:prstGeom>
        </p:spPr>
        <p:txBody>
          <a:bodyPr wrap="square" lIns="91440" tIns="45720" rIns="91440" bIns="45720">
            <a:noAutofit/>
          </a:bodyPr>
          <a:lstStyle/>
          <a:p>
            <a:pPr algn="ctr">
              <a:spcBef>
                <a:spcPts val="450"/>
              </a:spcBef>
              <a:buClr>
                <a:srgbClr val="E24848"/>
              </a:buClr>
            </a:pPr>
            <a:r>
              <a:rPr lang="en-US" sz="1050" dirty="0">
                <a:latin typeface="Arial" panose="020B0604020202020204" pitchFamily="34" charset="0"/>
                <a:ea typeface="+mn-ea"/>
              </a:rPr>
              <a:t>Fast read/write</a:t>
            </a:r>
          </a:p>
        </p:txBody>
      </p:sp>
      <p:grpSp>
        <p:nvGrpSpPr>
          <p:cNvPr id="97" name="işḷídê"/>
          <p:cNvGrpSpPr>
            <a:grpSpLocks noChangeAspect="1"/>
          </p:cNvGrpSpPr>
          <p:nvPr/>
        </p:nvGrpSpPr>
        <p:grpSpPr>
          <a:xfrm>
            <a:off x="4288471" y="3373860"/>
            <a:ext cx="2131565" cy="703212"/>
            <a:chOff x="660400" y="2891048"/>
            <a:chExt cx="2717719" cy="896587"/>
          </a:xfrm>
        </p:grpSpPr>
        <p:sp>
          <p:nvSpPr>
            <p:cNvPr id="98" name="íṧļídê">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87108B92-3963-4F49-BED8-875DCFE3AC22}"/>
                </a:ext>
              </a:extLst>
            </p:cNvPr>
            <p:cNvSpPr>
              <a:spLocks noChangeAspect="1"/>
            </p:cNvSpPr>
            <p:nvPr/>
          </p:nvSpPr>
          <p:spPr bwMode="auto">
            <a:xfrm>
              <a:off x="660400" y="2891048"/>
              <a:ext cx="2717719" cy="896587"/>
            </a:xfrm>
            <a:custGeom>
              <a:avLst/>
              <a:gdLst>
                <a:gd name="connsiteX0" fmla="*/ 2086124 w 3261262"/>
                <a:gd name="connsiteY0" fmla="*/ 0 h 1234360"/>
                <a:gd name="connsiteX1" fmla="*/ 3261262 w 3261262"/>
                <a:gd name="connsiteY1" fmla="*/ 617180 h 1234360"/>
                <a:gd name="connsiteX2" fmla="*/ 2050112 w 3261262"/>
                <a:gd name="connsiteY2" fmla="*/ 1234360 h 1234360"/>
                <a:gd name="connsiteX3" fmla="*/ 2050112 w 3261262"/>
                <a:gd name="connsiteY3" fmla="*/ 925770 h 1234360"/>
                <a:gd name="connsiteX4" fmla="*/ 0 w 3261262"/>
                <a:gd name="connsiteY4" fmla="*/ 929376 h 1234360"/>
                <a:gd name="connsiteX5" fmla="*/ 0 w 3261262"/>
                <a:gd name="connsiteY5" fmla="*/ 315775 h 1234360"/>
                <a:gd name="connsiteX6" fmla="*/ 2086124 w 3261262"/>
                <a:gd name="connsiteY6" fmla="*/ 308590 h 1234360"/>
                <a:gd name="connsiteX0" fmla="*/ 0 w 3261262"/>
                <a:gd name="connsiteY0" fmla="*/ 315775 h 1234360"/>
                <a:gd name="connsiteX1" fmla="*/ 2086124 w 3261262"/>
                <a:gd name="connsiteY1" fmla="*/ 308590 h 1234360"/>
                <a:gd name="connsiteX2" fmla="*/ 2086124 w 3261262"/>
                <a:gd name="connsiteY2" fmla="*/ 0 h 1234360"/>
                <a:gd name="connsiteX3" fmla="*/ 3261262 w 3261262"/>
                <a:gd name="connsiteY3" fmla="*/ 617180 h 1234360"/>
                <a:gd name="connsiteX4" fmla="*/ 2050112 w 3261262"/>
                <a:gd name="connsiteY4" fmla="*/ 1234360 h 1234360"/>
                <a:gd name="connsiteX5" fmla="*/ 2050112 w 3261262"/>
                <a:gd name="connsiteY5" fmla="*/ 925770 h 1234360"/>
                <a:gd name="connsiteX6" fmla="*/ 0 w 3261262"/>
                <a:gd name="connsiteY6" fmla="*/ 929376 h 1234360"/>
                <a:gd name="connsiteX7" fmla="*/ 91440 w 3261262"/>
                <a:gd name="connsiteY7" fmla="*/ 407215 h 1234360"/>
                <a:gd name="connsiteX0" fmla="*/ 0 w 3261262"/>
                <a:gd name="connsiteY0" fmla="*/ 315775 h 1234360"/>
                <a:gd name="connsiteX1" fmla="*/ 2086124 w 3261262"/>
                <a:gd name="connsiteY1" fmla="*/ 308590 h 1234360"/>
                <a:gd name="connsiteX2" fmla="*/ 2086124 w 3261262"/>
                <a:gd name="connsiteY2" fmla="*/ 0 h 1234360"/>
                <a:gd name="connsiteX3" fmla="*/ 3261262 w 3261262"/>
                <a:gd name="connsiteY3" fmla="*/ 617180 h 1234360"/>
                <a:gd name="connsiteX4" fmla="*/ 2050112 w 3261262"/>
                <a:gd name="connsiteY4" fmla="*/ 1234360 h 1234360"/>
                <a:gd name="connsiteX5" fmla="*/ 2050112 w 3261262"/>
                <a:gd name="connsiteY5" fmla="*/ 925770 h 1234360"/>
                <a:gd name="connsiteX6" fmla="*/ 0 w 3261262"/>
                <a:gd name="connsiteY6" fmla="*/ 929376 h 123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262" h="1234360">
                  <a:moveTo>
                    <a:pt x="0" y="315775"/>
                  </a:moveTo>
                  <a:lnTo>
                    <a:pt x="2086124" y="308590"/>
                  </a:lnTo>
                  <a:lnTo>
                    <a:pt x="2086124" y="0"/>
                  </a:lnTo>
                  <a:lnTo>
                    <a:pt x="3261262" y="617180"/>
                  </a:lnTo>
                  <a:lnTo>
                    <a:pt x="2050112" y="1234360"/>
                  </a:lnTo>
                  <a:lnTo>
                    <a:pt x="2050112" y="925770"/>
                  </a:lnTo>
                  <a:lnTo>
                    <a:pt x="0" y="929376"/>
                  </a:lnTo>
                </a:path>
              </a:pathLst>
            </a:custGeom>
            <a:noFill/>
            <a:ln w="15875" cap="flat" cmpd="sng">
              <a:solidFill>
                <a:srgbClr val="3ABABA"/>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ctr">
              <a:normAutofit/>
            </a:bodyPr>
            <a:ls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a:lstStyle>
            <a:p>
              <a:endParaRPr lang="zh-CN" altLang="en-US">
                <a:latin typeface="Arial" panose="020B0604020202020204" pitchFamily="34" charset="0"/>
              </a:endParaRPr>
            </a:p>
          </p:txBody>
        </p:sp>
        <p:sp>
          <p:nvSpPr>
            <p:cNvPr id="99" name="îśḻîḍe">
              <a:extLst>
                <a:ext uri="{FF2B5EF4-FFF2-40B4-BE49-F238E27FC236}">
                  <a16:creationId xmlns="" xmlns:lc="http://schemas.openxmlformats.org/drawingml/2006/lockedCanvas" xmlns:a16="http://schemas.microsoft.com/office/drawing/2014/main" xmlns:p14="http://schemas.microsoft.com/office/powerpoint/2010/main" xmlns:a14="http://schemas.microsoft.com/office/drawing/2010/main" id="{2E349C5D-DEFD-4C65-899A-0DBB2AB80C3F}"/>
                </a:ext>
              </a:extLst>
            </p:cNvPr>
            <p:cNvSpPr txBox="1"/>
            <p:nvPr/>
          </p:nvSpPr>
          <p:spPr bwMode="auto">
            <a:xfrm>
              <a:off x="761554" y="3071686"/>
              <a:ext cx="1852065" cy="532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77500" lnSpcReduction="20000"/>
            </a:bodyPr>
            <a:ls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a:lstStyle>
            <a:p>
              <a:pPr eaLnBrk="1" hangingPunct="1">
                <a:lnSpc>
                  <a:spcPct val="100000"/>
                </a:lnSpc>
                <a:spcBef>
                  <a:spcPct val="0"/>
                </a:spcBef>
                <a:buFontTx/>
                <a:buNone/>
              </a:pPr>
              <a:r>
                <a:rPr lang="en-US" sz="1600" b="1" dirty="0">
                  <a:latin typeface="Arial" panose="020B0604020202020204" pitchFamily="34" charset="0"/>
                  <a:ea typeface="+mn-ea"/>
                </a:rPr>
                <a:t>Customer needs</a:t>
              </a:r>
            </a:p>
          </p:txBody>
        </p:sp>
      </p:grpSp>
    </p:spTree>
    <p:extLst>
      <p:ext uri="{BB962C8B-B14F-4D97-AF65-F5344CB8AC3E}">
        <p14:creationId xmlns:p14="http://schemas.microsoft.com/office/powerpoint/2010/main" val="217545877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1091444" y="1232756"/>
            <a:ext cx="10560049" cy="4680000"/>
          </a:xfrm>
        </p:spPr>
        <p:txBody>
          <a:bodyPr/>
          <a:lstStyle/>
          <a:p>
            <a:pPr algn="l"/>
            <a:r>
              <a:rPr lang="en-US" dirty="0" smtClean="0">
                <a:latin typeface="Arial" panose="020B0604020202020204" pitchFamily="34" charset="0"/>
              </a:rPr>
              <a:t>At this point you should understand how </a:t>
            </a:r>
            <a:r>
              <a:rPr lang="en-US" dirty="0">
                <a:latin typeface="Arial" panose="020B0604020202020204" pitchFamily="34" charset="0"/>
              </a:rPr>
              <a:t>data is written </a:t>
            </a:r>
            <a:r>
              <a:rPr lang="en-US" dirty="0" smtClean="0">
                <a:latin typeface="Arial" panose="020B0604020202020204" pitchFamily="34" charset="0"/>
              </a:rPr>
              <a:t>to </a:t>
            </a:r>
            <a:r>
              <a:rPr lang="en-US" dirty="0">
                <a:latin typeface="Arial" panose="020B0604020202020204" pitchFamily="34" charset="0"/>
              </a:rPr>
              <a:t>storage devices in virtualization scenarios.</a:t>
            </a:r>
          </a:p>
        </p:txBody>
      </p:sp>
    </p:spTree>
    <p:extLst>
      <p:ext uri="{BB962C8B-B14F-4D97-AF65-F5344CB8AC3E}">
        <p14:creationId xmlns:p14="http://schemas.microsoft.com/office/powerpoint/2010/main" val="159897761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731404" y="1233487"/>
            <a:ext cx="10873208" cy="4680000"/>
          </a:xfrm>
        </p:spPr>
        <p:txBody>
          <a:bodyPr/>
          <a:lstStyle/>
          <a:p>
            <a:r>
              <a:rPr lang="en-US" dirty="0">
                <a:latin typeface="Arial" panose="020B0604020202020204" pitchFamily="34" charset="0"/>
              </a:rPr>
              <a:t>Which of the following disk </a:t>
            </a:r>
            <a:r>
              <a:rPr lang="en-US" dirty="0" smtClean="0">
                <a:latin typeface="Arial" panose="020B0604020202020204" pitchFamily="34" charset="0"/>
              </a:rPr>
              <a:t>types </a:t>
            </a:r>
            <a:r>
              <a:rPr lang="en-US" dirty="0">
                <a:latin typeface="Arial" panose="020B0604020202020204" pitchFamily="34" charset="0"/>
              </a:rPr>
              <a:t>is recommended for an archive room that needs to store large amounts of data that will be accessed </a:t>
            </a:r>
            <a:r>
              <a:rPr lang="en-US" dirty="0" smtClean="0">
                <a:latin typeface="Arial" panose="020B0604020202020204" pitchFamily="34" charset="0"/>
              </a:rPr>
              <a:t>infrequently over </a:t>
            </a:r>
            <a:r>
              <a:rPr lang="en-US" dirty="0">
                <a:latin typeface="Arial" panose="020B0604020202020204" pitchFamily="34" charset="0"/>
              </a:rPr>
              <a:t>long periods of time? (   )</a:t>
            </a:r>
          </a:p>
          <a:p>
            <a:pPr lvl="1"/>
            <a:r>
              <a:rPr lang="en-US" dirty="0">
                <a:latin typeface="Arial" panose="020B0604020202020204" pitchFamily="34" charset="0"/>
              </a:rPr>
              <a:t>A. SSD</a:t>
            </a:r>
          </a:p>
          <a:p>
            <a:pPr lvl="1"/>
            <a:r>
              <a:rPr lang="en-US" dirty="0">
                <a:latin typeface="Arial" panose="020B0604020202020204" pitchFamily="34" charset="0"/>
              </a:rPr>
              <a:t>B. SAS disk</a:t>
            </a:r>
          </a:p>
          <a:p>
            <a:pPr lvl="1"/>
            <a:r>
              <a:rPr lang="en-US" dirty="0">
                <a:latin typeface="Arial" panose="020B0604020202020204" pitchFamily="34" charset="0"/>
              </a:rPr>
              <a:t>C. SATA disk</a:t>
            </a:r>
          </a:p>
          <a:p>
            <a:pPr lvl="1"/>
            <a:r>
              <a:rPr lang="en-US" dirty="0">
                <a:latin typeface="Arial" panose="020B0604020202020204" pitchFamily="34" charset="0"/>
              </a:rPr>
              <a:t>D. NL-SAS disk</a:t>
            </a:r>
          </a:p>
          <a:p>
            <a:r>
              <a:rPr lang="en-US" dirty="0">
                <a:latin typeface="Arial" panose="020B0604020202020204" pitchFamily="34" charset="0"/>
              </a:rPr>
              <a:t>SATA disks use a parallel interface while SAS disks use a serial interface.</a:t>
            </a:r>
          </a:p>
          <a:p>
            <a:pPr lvl="1"/>
            <a:r>
              <a:rPr lang="en-US" dirty="0">
                <a:latin typeface="Arial" panose="020B0604020202020204" pitchFamily="34" charset="0"/>
              </a:rPr>
              <a:t>A. TRUE</a:t>
            </a:r>
          </a:p>
          <a:p>
            <a:pPr lvl="1"/>
            <a:r>
              <a:rPr lang="en-US" dirty="0">
                <a:latin typeface="Arial" panose="020B0604020202020204" pitchFamily="34" charset="0"/>
              </a:rPr>
              <a:t>B. FALSE</a:t>
            </a:r>
          </a:p>
          <a:p>
            <a:pPr marL="0" indent="0">
              <a:buNone/>
            </a:pPr>
            <a:r>
              <a:rPr lang="en-US" dirty="0">
                <a:latin typeface="Arial" panose="020B0604020202020204" pitchFamily="34" charset="0"/>
              </a:rPr>
              <a:t/>
            </a:r>
            <a:br>
              <a:rPr lang="en-US" dirty="0">
                <a:latin typeface="Arial" panose="020B0604020202020204" pitchFamily="34" charset="0"/>
              </a:rPr>
            </a:br>
            <a:endParaRPr lang="en-US" dirty="0">
              <a:latin typeface="Arial" panose="020B0604020202020204" pitchFamily="34" charset="0"/>
            </a:endParaRPr>
          </a:p>
          <a:p>
            <a:pPr lvl="1"/>
            <a:endParaRPr lang="en-US" altLang="zh-CN" dirty="0" smtClean="0">
              <a:latin typeface="Arial" panose="020B0604020202020204" pitchFamily="34" charset="0"/>
            </a:endParaRPr>
          </a:p>
          <a:p>
            <a:pPr lvl="1"/>
            <a:endParaRPr lang="zh-CN" altLang="en-US" dirty="0">
              <a:latin typeface="Arial" panose="020B0604020202020204" pitchFamily="34" charset="0"/>
            </a:endParaRPr>
          </a:p>
        </p:txBody>
      </p:sp>
    </p:spTree>
    <p:extLst>
      <p:ext uri="{BB962C8B-B14F-4D97-AF65-F5344CB8AC3E}">
        <p14:creationId xmlns:p14="http://schemas.microsoft.com/office/powerpoint/2010/main" val="29933091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latin typeface="Arial" panose="020B0604020202020204" pitchFamily="34" charset="0"/>
              </a:rPr>
              <a:t>Huawei e-Learning website</a:t>
            </a:r>
          </a:p>
          <a:p>
            <a:pPr lvl="1"/>
            <a:r>
              <a:rPr lang="en-US" dirty="0">
                <a:latin typeface="Arial" panose="020B0604020202020204" pitchFamily="34" charset="0"/>
              </a:rPr>
              <a:t>http://support.huawei.com/learning/Index!toTrainIndex</a:t>
            </a:r>
          </a:p>
          <a:p>
            <a:r>
              <a:rPr lang="en-US" dirty="0">
                <a:latin typeface="Arial" panose="020B0604020202020204" pitchFamily="34" charset="0"/>
              </a:rPr>
              <a:t>Huawei Support case library</a:t>
            </a:r>
          </a:p>
          <a:p>
            <a:pPr lvl="1"/>
            <a:r>
              <a:rPr lang="en-US" dirty="0">
                <a:latin typeface="Arial" panose="020B0604020202020204" pitchFamily="34" charset="0"/>
              </a:rPr>
              <a:t>http://</a:t>
            </a:r>
            <a:r>
              <a:rPr lang="en-US" dirty="0" smtClean="0">
                <a:latin typeface="Arial" panose="020B0604020202020204" pitchFamily="34" charset="0"/>
              </a:rPr>
              <a:t>support.huawei.com/enterprise/servicecenter?lang=en</a:t>
            </a:r>
            <a:endParaRPr lang="en-US" dirty="0">
              <a:latin typeface="Arial" panose="020B0604020202020204" pitchFamily="34" charset="0"/>
            </a:endParaRPr>
          </a:p>
          <a:p>
            <a:r>
              <a:rPr lang="en-US" dirty="0">
                <a:latin typeface="Arial" panose="020B0604020202020204" pitchFamily="34" charset="0"/>
              </a:rPr>
              <a:t>HCIA-Cloud Computing v4.0 online forum</a:t>
            </a:r>
          </a:p>
          <a:p>
            <a:pPr lvl="1"/>
            <a:r>
              <a:rPr lang="en-US" altLang="zh-CN" dirty="0">
                <a:latin typeface="Arial" panose="020B0604020202020204" pitchFamily="34" charset="0"/>
                <a:cs typeface="Arial" panose="020B0604020202020204" pitchFamily="34" charset="0"/>
              </a:rPr>
              <a:t>https://forum.huawei.com/enterprise/en/Huawei-Official-Communication-Channel-HCNA-Cloud-Certification-Course/thread/456287-911</a:t>
            </a:r>
          </a:p>
          <a:p>
            <a:pPr marL="401637" lvl="1" indent="0">
              <a:buNone/>
            </a:pPr>
            <a:endParaRPr lang="zh-CN" altLang="en-US" dirty="0">
              <a:latin typeface="Arial" panose="020B0604020202020204" pitchFamily="34" charset="0"/>
            </a:endParaRPr>
          </a:p>
        </p:txBody>
      </p:sp>
    </p:spTree>
    <p:extLst>
      <p:ext uri="{BB962C8B-B14F-4D97-AF65-F5344CB8AC3E}">
        <p14:creationId xmlns:p14="http://schemas.microsoft.com/office/powerpoint/2010/main" val="182920970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人才生态发展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V3.0胶片模板字体">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lgn="ctr">
          <a:noFill/>
          <a:miter lim="800000"/>
          <a:headEnd/>
          <a:tailEnd/>
        </a:ln>
      </a:spPr>
      <a:bodyPr vert="horz" wrap="square" lIns="87802" tIns="43901" rIns="87802" bIns="43901" numCol="1" anchor="ctr" anchorCtr="0" compatLnSpc="1">
        <a:prstTxWarp prst="textNoShape">
          <a:avLst/>
        </a:prstTxWarp>
      </a:bodyPr>
      <a:lstStyle>
        <a:defPPr>
          <a:defRPr dirty="0" smtClean="0"/>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3">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7333E8A2F07A74D848136A2C03778F8" ma:contentTypeVersion="0" ma:contentTypeDescription="Create a new document." ma:contentTypeScope="" ma:versionID="23803ba2584bac4d8dcab8923b6ec39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62365D-631D-4EA9-ADE8-114BA4FDEA51}"/>
</file>

<file path=customXml/itemProps2.xml><?xml version="1.0" encoding="utf-8"?>
<ds:datastoreItem xmlns:ds="http://schemas.openxmlformats.org/officeDocument/2006/customXml" ds:itemID="{EAE3093B-232B-4C15-AB25-7F1FBE134870}"/>
</file>

<file path=customXml/itemProps3.xml><?xml version="1.0" encoding="utf-8"?>
<ds:datastoreItem xmlns:ds="http://schemas.openxmlformats.org/officeDocument/2006/customXml" ds:itemID="{723E6701-3943-4A44-84F3-F772B5088830}"/>
</file>

<file path=docProps/app.xml><?xml version="1.0" encoding="utf-8"?>
<Properties xmlns="http://schemas.openxmlformats.org/officeDocument/2006/extended-properties" xmlns:vt="http://schemas.openxmlformats.org/officeDocument/2006/docPropsVTypes">
  <Template/>
  <TotalTime>67152</TotalTime>
  <Words>2137</Words>
  <Application>Microsoft Office PowerPoint</Application>
  <PresentationFormat>宽屏</PresentationFormat>
  <Paragraphs>497</Paragraphs>
  <Slides>48</Slides>
  <Notes>31</Notes>
  <HiddenSlides>8</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48</vt:i4>
      </vt:variant>
    </vt:vector>
  </HeadingPairs>
  <TitlesOfParts>
    <vt:vector size="59" baseType="lpstr">
      <vt:lpstr>Arial Unicode MS</vt:lpstr>
      <vt:lpstr>黑体</vt:lpstr>
      <vt:lpstr>宋体</vt:lpstr>
      <vt:lpstr>微软雅黑</vt:lpstr>
      <vt:lpstr>Arial</vt:lpstr>
      <vt:lpstr>FrutigerNext LT Light</vt:lpstr>
      <vt:lpstr>FrutigerNext LT Medium</vt:lpstr>
      <vt:lpstr>FrutigerNext LT Regular</vt:lpstr>
      <vt:lpstr>Wingdings</vt:lpstr>
      <vt:lpstr>人才生态发展部-母版</vt:lpstr>
      <vt:lpstr>培训与认证部-母版</vt:lpstr>
      <vt:lpstr>PowerPoint 演示文稿</vt:lpstr>
      <vt:lpstr>Storage Virtualization Basics</vt:lpstr>
      <vt:lpstr>PowerPoint 演示文稿</vt:lpstr>
      <vt:lpstr>PowerPoint 演示文稿</vt:lpstr>
      <vt:lpstr>PowerPoint 演示文稿</vt:lpstr>
      <vt:lpstr>Where Do the Storage Resources Used by VMs Come From?</vt:lpstr>
      <vt:lpstr>Storage Architecture for Virtualization</vt:lpstr>
      <vt:lpstr>Virtualized Storage Conversion Path in Cloud Computing</vt:lpstr>
      <vt:lpstr>Non-Virtualized Storage Conversion Path in Cloud Computing</vt:lpstr>
      <vt:lpstr>PowerPoint 演示文稿</vt:lpstr>
      <vt:lpstr>Physical Disk Type - SATA</vt:lpstr>
      <vt:lpstr>Physical Disk Type - SAS</vt:lpstr>
      <vt:lpstr>Physical Disk Type - NL-SAS</vt:lpstr>
      <vt:lpstr>Physical Disk Type - SSD</vt:lpstr>
      <vt:lpstr>Comparing Different Types of Physical Disks</vt:lpstr>
      <vt:lpstr>PowerPoint 演示文稿</vt:lpstr>
      <vt:lpstr>Centralized Storage</vt:lpstr>
      <vt:lpstr>RAID Technology</vt:lpstr>
      <vt:lpstr>Common RAID Types</vt:lpstr>
      <vt:lpstr>Centralized Storage Types</vt:lpstr>
      <vt:lpstr>IP SAN &amp; FC SAN</vt:lpstr>
      <vt:lpstr>IP SAN vs FC SAN</vt:lpstr>
      <vt:lpstr>NAS Architecture</vt:lpstr>
      <vt:lpstr>CIFS</vt:lpstr>
      <vt:lpstr>NFS</vt:lpstr>
      <vt:lpstr>CIFS vs NFS</vt:lpstr>
      <vt:lpstr>Distributed Storage</vt:lpstr>
      <vt:lpstr>Replication</vt:lpstr>
      <vt:lpstr>Replication</vt:lpstr>
      <vt:lpstr>Popular Distributed Storage Products</vt:lpstr>
      <vt:lpstr>PowerPoint 演示文稿</vt:lpstr>
      <vt:lpstr>Virtualized Storage Conversion Path in Cloud Computing</vt:lpstr>
      <vt:lpstr>Non-Virtualized Storage Conversion Path in Cloud Computing</vt:lpstr>
      <vt:lpstr>Relationship Between RAIDs and LUNs</vt:lpstr>
      <vt:lpstr>Process of Creating a LUN</vt:lpstr>
      <vt:lpstr>Pool &amp; Volume &amp; LUN</vt:lpstr>
      <vt:lpstr>Common File Systems</vt:lpstr>
      <vt:lpstr>Mapping a File to a Disk</vt:lpstr>
      <vt:lpstr>PowerPoint 演示文稿</vt:lpstr>
      <vt:lpstr>VM Disks</vt:lpstr>
      <vt:lpstr>Common VM Disk Formats</vt:lpstr>
      <vt:lpstr>PowerPoint 演示文稿</vt:lpstr>
      <vt:lpstr>Storage Architecture for Huawei Virtualization Product</vt:lpstr>
      <vt:lpstr>Huawei Virtual Disk Features</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yanglei (AE)</cp:lastModifiedBy>
  <cp:revision>2627</cp:revision>
  <dcterms:created xsi:type="dcterms:W3CDTF">2003-08-21T06:48:56Z</dcterms:created>
  <dcterms:modified xsi:type="dcterms:W3CDTF">2019-04-24T12:06:40Z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(4)jNL0gM28At52Ieaf1valQ0LhCJhckLvJxApn9P4IOGXs2CxMSeBUEQOsYE7UL6xHmrDTkB0U
8XrwX0U2eGOvdKAbibq/OwBogqOvwFaAolHRNqNy2szIx/vIxGV3RldByVnAXNghwAf/C+Ny
nC0kXXrwMXgmyFvH5Z6NNWCVsONiwda3mR+L5JpGhOxLoPqs7SuuHSITb197MVyCXsGsK2ms
+l0YVy49NdVVuXoIAG</vt:lpwstr>
  </property>
  <property fmtid="{D5CDD505-2E9C-101B-9397-08002B2CF9AE}" pid="14" name="_new_ms_pID_725431">
    <vt:lpwstr>WNXmtkOaoMvO+RtN+AF98axcECtcDzeutF/RA/MuVrkTeP8na2B2yy
m1HCyY09R6IPysdOkoFKaGF95jn8IPRP7dOExBbQlWgSPqEZNo21+gLMWeFfBt+6pUhKdwFx
7ZPjMNuUrMypYPEZngI1VIdsJf4NZKyTLKZJ0nK7WxKub3aP/MoU61sfNyyw1Icb4IGb7OFn
9w8sA6NUyvf/2CAmXCRdXcc6p9josuAb8E0f</vt:lpwstr>
  </property>
  <property fmtid="{D5CDD505-2E9C-101B-9397-08002B2CF9AE}" pid="15" name="_new_ms_pID_725432">
    <vt:lpwstr>VPOcRqDszuG9Ea/DM6UvbMLgh7KalquPd6s3
kDXgkxV66sccXBRFRpUSm24+++OZrzrFJlZ9+cTKshms+WpKgjZh/IhT4aCGlcWjlqWZhRut
yeE31Jc/cvQKXkucHQJfR38BDLb6HDqUWvPBQ8sa4eIzSeLgq189G0a1RIIGyCiIJjSWXf10
g2H9RhGj00eoqTF/R7ak+JOb3Uld8rKRh6p8+RZSbt3zCH/cPW7Uhk</vt:lpwstr>
  </property>
  <property fmtid="{D5CDD505-2E9C-101B-9397-08002B2CF9AE}" pid="16" name="_new_ms_pID_725433">
    <vt:lpwstr>w4/CdPx+g5NrTVBBFR
HKTc81zHE57lJ6Sfop/J3Md4zKo=</vt:lpwstr>
  </property>
  <property fmtid="{D5CDD505-2E9C-101B-9397-08002B2CF9AE}" pid="17" name="_2015_ms_pID_725343">
    <vt:lpwstr>(3)GN+mi0Mpv1h0xqI84Jhl2CFhJxu6GHpmckbTkaJmS1H2Wg7yBCXXPHUpLHUc+W2F3/KlBms3
aEj9pZ026yBpYGOvAwShPzh7oe9HoJQt+soBUsMiKzDhyVGbp9G8DhgsrE07Ypa+LgR08QFW
lPyQoozMTRY3aeksuogteUH82/BrSs/IUYfRTVlSMTa4ciFOK1Pxfz2zfe2nYiL1Ndi0PI0P
XNQ4mg+ghmzJjw2vet</vt:lpwstr>
  </property>
  <property fmtid="{D5CDD505-2E9C-101B-9397-08002B2CF9AE}" pid="18" name="_2015_ms_pID_7253431">
    <vt:lpwstr>xhzNUz6yPq4IhL5uvWQd7tZ0c/Ku0Wqj+q1KQ/++Fzb/+u29DJ4JMR
vgxMWdiAPJL1u/OJzKawcWsMNnorneoQ9ZUD91AUJEagCciV2Kf9PMId4MXXFlJuajzaDi1h
aeg5VmGb3VRayZAd3x925iBOENV9s29yjZZvNJMNklFeQ9sZonIHbqBXm8SWknc16MmM5I6X
Vr3AkTWFfO7WsRyx/eXVt4zpgyuypD5lGwrn</vt:lpwstr>
  </property>
  <property fmtid="{D5CDD505-2E9C-101B-9397-08002B2CF9AE}" pid="19" name="_2015_ms_pID_7253432">
    <vt:lpwstr>jQvRvLawyXcNutqFh7vITRaKU1EuKeGLmvR+
orwTnu4agYr0MU8btfkzHmv3iHlMeQ==</vt:lpwstr>
  </property>
  <property fmtid="{D5CDD505-2E9C-101B-9397-08002B2CF9AE}" pid="20" name="ContentTypeId">
    <vt:lpwstr>0x01010077333E8A2F07A74D848136A2C03778F8</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1556085921</vt:lpwstr>
  </property>
</Properties>
</file>